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9"/>
  </p:notesMasterIdLst>
  <p:sldIdLst>
    <p:sldId id="256" r:id="rId2"/>
    <p:sldId id="257" r:id="rId3"/>
    <p:sldId id="294" r:id="rId4"/>
    <p:sldId id="258" r:id="rId5"/>
    <p:sldId id="259" r:id="rId6"/>
    <p:sldId id="31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303" r:id="rId16"/>
    <p:sldId id="269" r:id="rId17"/>
    <p:sldId id="295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9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97" r:id="rId34"/>
    <p:sldId id="284" r:id="rId35"/>
    <p:sldId id="285" r:id="rId36"/>
    <p:sldId id="286" r:id="rId37"/>
    <p:sldId id="298" r:id="rId38"/>
    <p:sldId id="301" r:id="rId39"/>
    <p:sldId id="300" r:id="rId40"/>
    <p:sldId id="299" r:id="rId41"/>
    <p:sldId id="288" r:id="rId42"/>
    <p:sldId id="289" r:id="rId43"/>
    <p:sldId id="302" r:id="rId44"/>
    <p:sldId id="290" r:id="rId45"/>
    <p:sldId id="305" r:id="rId46"/>
    <p:sldId id="308" r:id="rId47"/>
    <p:sldId id="309" r:id="rId48"/>
    <p:sldId id="312" r:id="rId49"/>
    <p:sldId id="318" r:id="rId50"/>
    <p:sldId id="313" r:id="rId51"/>
    <p:sldId id="316" r:id="rId52"/>
    <p:sldId id="315" r:id="rId53"/>
    <p:sldId id="314" r:id="rId54"/>
    <p:sldId id="317" r:id="rId55"/>
    <p:sldId id="320" r:id="rId56"/>
    <p:sldId id="321" r:id="rId57"/>
    <p:sldId id="322" r:id="rId58"/>
  </p:sldIdLst>
  <p:sldSz cx="9144000" cy="6858000" type="screen4x3"/>
  <p:notesSz cx="7099300" cy="10234613"/>
  <p:custShowLst>
    <p:custShow name="Live" id="0">
      <p:sldLst>
        <p:sld r:id="rId2"/>
        <p:sld r:id="rId3"/>
        <p:sld r:id="rId46"/>
        <p:sld r:id="rId47"/>
        <p:sld r:id="rId4"/>
        <p:sld r:id="rId5"/>
        <p:sld r:id="rId6"/>
        <p:sld r:id="rId7"/>
        <p:sld r:id="rId8"/>
        <p:sld r:id="rId9"/>
        <p:sld r:id="rId10"/>
        <p:sld r:id="rId48"/>
        <p:sld r:id="rId11"/>
        <p:sld r:id="rId12"/>
        <p:sld r:id="rId13"/>
        <p:sld r:id="rId49"/>
        <p:sld r:id="rId14"/>
        <p:sld r:id="rId15"/>
        <p:sld r:id="rId16"/>
        <p:sld r:id="rId17"/>
        <p:sld r:id="rId18"/>
        <p:sld r:id="rId19"/>
        <p:sld r:id="rId50"/>
        <p:sld r:id="rId20"/>
        <p:sld r:id="rId21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31"/>
        <p:sld r:id="rId51"/>
        <p:sld r:id="rId32"/>
        <p:sld r:id="rId33"/>
        <p:sld r:id="rId34"/>
        <p:sld r:id="rId35"/>
        <p:sld r:id="rId36"/>
        <p:sld r:id="rId37"/>
        <p:sld r:id="rId38"/>
        <p:sld r:id="rId52"/>
        <p:sld r:id="rId39"/>
        <p:sld r:id="rId53"/>
        <p:sld r:id="rId54"/>
        <p:sld r:id="rId40"/>
        <p:sld r:id="rId41"/>
        <p:sld r:id="rId42"/>
        <p:sld r:id="rId43"/>
        <p:sld r:id="rId44"/>
        <p:sld r:id="rId45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660066"/>
    <a:srgbClr val="0033CC"/>
    <a:srgbClr val="695749"/>
    <a:srgbClr val="000000"/>
    <a:srgbClr val="003300"/>
    <a:srgbClr val="FFFFCC"/>
    <a:srgbClr val="00CCFF"/>
    <a:srgbClr val="FF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32" autoAdjust="0"/>
    <p:restoredTop sz="91520" autoAdjust="0"/>
  </p:normalViewPr>
  <p:slideViewPr>
    <p:cSldViewPr>
      <p:cViewPr varScale="1">
        <p:scale>
          <a:sx n="82" d="100"/>
          <a:sy n="82" d="100"/>
        </p:scale>
        <p:origin x="1221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0463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861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no longer fixed in FAT32. Root can be understood as just a normal data block in a special 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1741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Size</a:t>
            </a:r>
            <a:r>
              <a:rPr lang="en-US" baseline="0" dirty="0"/>
              <a:t> of FAT</a:t>
            </a:r>
          </a:p>
          <a:p>
            <a:r>
              <a:rPr lang="en-US" baseline="0" dirty="0"/>
              <a:t>Size of partition</a:t>
            </a:r>
          </a:p>
          <a:p>
            <a:r>
              <a:rPr lang="en-US" baseline="0" dirty="0"/>
              <a:t>16-bit 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5474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477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Directory</a:t>
            </a:r>
            <a:r>
              <a:rPr lang="en-US" baseline="0" dirty="0"/>
              <a:t> has a special attribute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161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5/</a:t>
            </a:r>
          </a:p>
          <a:p>
            <a:r>
              <a:rPr lang="en-US" dirty="0"/>
              <a:t>What if the lab 5 has</a:t>
            </a:r>
            <a:r>
              <a:rPr lang="en-US" baseline="0" dirty="0"/>
              <a:t> many files/</a:t>
            </a:r>
            <a:r>
              <a:rPr lang="en-US" baseline="0" dirty="0" err="1"/>
              <a:t>subdir</a:t>
            </a:r>
            <a:r>
              <a:rPr lang="en-US" baseline="0" dirty="0"/>
              <a:t> and span across data blocks?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44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steps = Dir Entry, FAT, Disk Block</a:t>
            </a:r>
          </a:p>
          <a:p>
            <a:r>
              <a:rPr lang="en-US" dirty="0"/>
              <a:t>E5</a:t>
            </a:r>
            <a:r>
              <a:rPr lang="en-US" baseline="0" dirty="0"/>
              <a:t> = roman char of "A" with ring </a:t>
            </a:r>
          </a:p>
          <a:p>
            <a:r>
              <a:rPr lang="en-US" baseline="0" dirty="0"/>
              <a:t>05 = actually E5</a:t>
            </a:r>
          </a:p>
          <a:p>
            <a:r>
              <a:rPr lang="en-US" baseline="0" dirty="0"/>
              <a:t>Power failure?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6644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6551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C56BFC-2A9F-42FC-9813-1A60BC626950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8100" cy="3838575"/>
          </a:xfrm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536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</a:t>
            </a:r>
            <a:r>
              <a:rPr lang="en-US" baseline="0" dirty="0"/>
              <a:t> = sequence number</a:t>
            </a:r>
          </a:p>
          <a:p>
            <a:r>
              <a:rPr lang="en-US" baseline="0" dirty="0"/>
              <a:t>SP = special invalid attribute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6882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Redundancy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1284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16GB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55408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Linked list like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61763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similar to the example</a:t>
            </a:r>
            <a:r>
              <a:rPr lang="en-US" baseline="0" dirty="0"/>
              <a:t> in FAT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28108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</a:t>
            </a:r>
            <a:r>
              <a:rPr lang="en-US" baseline="0" dirty="0"/>
              <a:t> Can Undelete? System crashes?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26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</a:t>
            </a:r>
            <a:r>
              <a:rPr lang="en-US" baseline="0" dirty="0"/>
              <a:t> Can Undelete? System crashes?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1799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860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L12 - AY1819S1 ]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2800" dirty="0">
                <a:solidFill>
                  <a:prstClr val="black"/>
                </a:solidFill>
              </a:rPr>
              <a:t>File System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File System Case Studies</a:t>
            </a:r>
            <a:br>
              <a:rPr lang="en-US" altLang="en-US" b="1" dirty="0">
                <a:solidFill>
                  <a:srgbClr val="C00000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(NOT EXAMINABLE)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12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C00000"/>
                </a:solidFill>
              </a:rPr>
              <a:t>Microsoft FAT File System</a:t>
            </a:r>
          </a:p>
          <a:p>
            <a:pPr lvl="1"/>
            <a:r>
              <a:rPr lang="en-US" altLang="en-US" dirty="0"/>
              <a:t>Layout</a:t>
            </a:r>
          </a:p>
          <a:p>
            <a:pPr lvl="1"/>
            <a:r>
              <a:rPr lang="en-US" altLang="en-US" dirty="0"/>
              <a:t>Partition Information</a:t>
            </a:r>
          </a:p>
          <a:p>
            <a:pPr lvl="1"/>
            <a:r>
              <a:rPr lang="en-US" altLang="en-US" dirty="0"/>
              <a:t>Directory Structure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Linux Ext2 File System</a:t>
            </a:r>
          </a:p>
          <a:p>
            <a:pPr lvl="1"/>
            <a:r>
              <a:rPr lang="en-US" altLang="en-US" dirty="0"/>
              <a:t>Layout</a:t>
            </a:r>
          </a:p>
          <a:p>
            <a:pPr lvl="1"/>
            <a:r>
              <a:rPr lang="en-US" altLang="en-US" dirty="0"/>
              <a:t>Partition Information</a:t>
            </a:r>
          </a:p>
          <a:p>
            <a:pPr lvl="1"/>
            <a:r>
              <a:rPr lang="en-US" altLang="en-US" dirty="0"/>
              <a:t>I-Node</a:t>
            </a:r>
          </a:p>
          <a:p>
            <a:pPr lvl="1"/>
            <a:r>
              <a:rPr lang="en-US" altLang="en-US" dirty="0"/>
              <a:t>Directory Structure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Extra topics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45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dirty="0"/>
              <a:t>Microsoft</a:t>
            </a:r>
            <a:r>
              <a:rPr lang="en-US" altLang="en-US" sz="4400" dirty="0"/>
              <a:t> </a:t>
            </a:r>
            <a:r>
              <a:rPr lang="en-US" altLang="en-US" sz="4400" b="1" dirty="0">
                <a:solidFill>
                  <a:srgbClr val="C00000"/>
                </a:solidFill>
              </a:rPr>
              <a:t>FAT File System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Brief history:</a:t>
            </a:r>
          </a:p>
          <a:p>
            <a:pPr lvl="1"/>
            <a:r>
              <a:rPr lang="en-US" dirty="0"/>
              <a:t>Used in MS-DOS starting in 1980s</a:t>
            </a:r>
          </a:p>
          <a:p>
            <a:pPr lvl="1"/>
            <a:r>
              <a:rPr lang="en-US" dirty="0"/>
              <a:t>Shipped as default file system until Windows XP (2001)</a:t>
            </a:r>
          </a:p>
          <a:p>
            <a:pPr lvl="1"/>
            <a:r>
              <a:rPr lang="en-US" dirty="0"/>
              <a:t>Several major versions:</a:t>
            </a:r>
          </a:p>
          <a:p>
            <a:pPr lvl="2"/>
            <a:r>
              <a:rPr lang="en-US" b="1" dirty="0">
                <a:solidFill>
                  <a:srgbClr val="C00000"/>
                </a:solidFill>
              </a:rPr>
              <a:t>FAT12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rgbClr val="006600"/>
                </a:solidFill>
                <a:sym typeface="Wingdings" panose="05000000000000000000" pitchFamily="2" charset="2"/>
              </a:rPr>
              <a:t>FAT16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rgbClr val="660066"/>
                </a:solidFill>
                <a:sym typeface="Wingdings" panose="05000000000000000000" pitchFamily="2" charset="2"/>
              </a:rPr>
              <a:t>FAT32 </a:t>
            </a:r>
          </a:p>
          <a:p>
            <a:pPr lvl="1"/>
            <a:r>
              <a:rPr lang="en-US" b="1" dirty="0">
                <a:solidFill>
                  <a:srgbClr val="660066"/>
                </a:solidFill>
              </a:rPr>
              <a:t>FAT32</a:t>
            </a:r>
            <a:r>
              <a:rPr lang="en-US" dirty="0"/>
              <a:t> still very popular:</a:t>
            </a:r>
          </a:p>
          <a:p>
            <a:pPr lvl="2"/>
            <a:r>
              <a:rPr lang="en-US" dirty="0"/>
              <a:t>Supported across all major OSes</a:t>
            </a:r>
          </a:p>
          <a:p>
            <a:pPr lvl="2"/>
            <a:r>
              <a:rPr lang="en-US" dirty="0"/>
              <a:t>Portable drives, gaming console, digital camera, </a:t>
            </a:r>
            <a:r>
              <a:rPr lang="en-US" dirty="0" err="1"/>
              <a:t>etc</a:t>
            </a:r>
            <a:endParaRPr lang="en-US" dirty="0"/>
          </a:p>
          <a:p>
            <a:pPr marL="671512" lvl="2" indent="0">
              <a:buNone/>
            </a:pPr>
            <a:endParaRPr lang="en-US" dirty="0"/>
          </a:p>
          <a:p>
            <a:r>
              <a:rPr lang="en-US" dirty="0"/>
              <a:t>Simple and serves as a good introduction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849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Microsoft FAT </a:t>
            </a:r>
            <a:r>
              <a:rPr lang="en-US" altLang="en-US" sz="3800" b="1" dirty="0">
                <a:solidFill>
                  <a:srgbClr val="C00000"/>
                </a:solidFill>
              </a:rPr>
              <a:t>File System Layout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1129492" name="Rectangle 20" descr="Sphere"/>
          <p:cNvSpPr>
            <a:spLocks noChangeArrowheads="1"/>
          </p:cNvSpPr>
          <p:nvPr/>
        </p:nvSpPr>
        <p:spPr bwMode="auto">
          <a:xfrm>
            <a:off x="3959225" y="3838575"/>
            <a:ext cx="457200" cy="838200"/>
          </a:xfrm>
          <a:prstGeom prst="rect">
            <a:avLst/>
          </a:prstGeom>
          <a:pattFill prst="sphere">
            <a:fgClr>
              <a:srgbClr val="E8FFD1"/>
            </a:fgClr>
            <a:bgClr>
              <a:srgbClr val="FFFFFF"/>
            </a:bgClr>
          </a:patt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493" name="Rectangle 21" descr="Sphere"/>
          <p:cNvSpPr>
            <a:spLocks noChangeArrowheads="1"/>
          </p:cNvSpPr>
          <p:nvPr/>
        </p:nvSpPr>
        <p:spPr bwMode="auto">
          <a:xfrm>
            <a:off x="4416425" y="3838575"/>
            <a:ext cx="457200" cy="838200"/>
          </a:xfrm>
          <a:prstGeom prst="rect">
            <a:avLst/>
          </a:prstGeom>
          <a:pattFill prst="sphere">
            <a:fgClr>
              <a:srgbClr val="E8FFD1"/>
            </a:fgClr>
            <a:bgClr>
              <a:srgbClr val="FFFFFF"/>
            </a:bgClr>
          </a:patt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494" name="AutoShape 22"/>
          <p:cNvSpPr>
            <a:spLocks/>
          </p:cNvSpPr>
          <p:nvPr/>
        </p:nvSpPr>
        <p:spPr bwMode="auto">
          <a:xfrm rot="5400000">
            <a:off x="6106318" y="2529682"/>
            <a:ext cx="430213" cy="4724400"/>
          </a:xfrm>
          <a:prstGeom prst="rightBrace">
            <a:avLst>
              <a:gd name="adj1" fmla="val 91513"/>
              <a:gd name="adj2" fmla="val 48282"/>
            </a:avLst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495" name="Text Box 23"/>
          <p:cNvSpPr txBox="1">
            <a:spLocks noChangeArrowheads="1"/>
          </p:cNvSpPr>
          <p:nvPr/>
        </p:nvSpPr>
        <p:spPr bwMode="auto">
          <a:xfrm>
            <a:off x="5461294" y="5133975"/>
            <a:ext cx="1877425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data blocks</a:t>
            </a:r>
          </a:p>
        </p:txBody>
      </p:sp>
      <p:sp>
        <p:nvSpPr>
          <p:cNvPr id="1129496" name="Rectangle 24" descr="Sphere"/>
          <p:cNvSpPr>
            <a:spLocks noChangeArrowheads="1"/>
          </p:cNvSpPr>
          <p:nvPr/>
        </p:nvSpPr>
        <p:spPr bwMode="auto">
          <a:xfrm>
            <a:off x="4873625" y="3838575"/>
            <a:ext cx="3810000" cy="838200"/>
          </a:xfrm>
          <a:prstGeom prst="rect">
            <a:avLst/>
          </a:prstGeom>
          <a:pattFill prst="sphere">
            <a:fgClr>
              <a:srgbClr val="E8FFD1"/>
            </a:fgClr>
            <a:bgClr>
              <a:srgbClr val="FFFFFF"/>
            </a:bgClr>
          </a:patt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497" name="Rectangle 25"/>
          <p:cNvSpPr>
            <a:spLocks noChangeArrowheads="1"/>
          </p:cNvSpPr>
          <p:nvPr/>
        </p:nvSpPr>
        <p:spPr bwMode="auto">
          <a:xfrm>
            <a:off x="1597025" y="2009775"/>
            <a:ext cx="16002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1</a:t>
            </a:r>
          </a:p>
        </p:txBody>
      </p:sp>
      <p:sp>
        <p:nvSpPr>
          <p:cNvPr id="1129498" name="Rectangle 26"/>
          <p:cNvSpPr>
            <a:spLocks noChangeArrowheads="1"/>
          </p:cNvSpPr>
          <p:nvPr/>
        </p:nvSpPr>
        <p:spPr bwMode="auto">
          <a:xfrm>
            <a:off x="6397625" y="2009775"/>
            <a:ext cx="1600200" cy="838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accent4">
                <a:lumMod val="50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4</a:t>
            </a:r>
          </a:p>
        </p:txBody>
      </p:sp>
      <p:sp>
        <p:nvSpPr>
          <p:cNvPr id="1129499" name="Rectangle 27"/>
          <p:cNvSpPr>
            <a:spLocks noChangeArrowheads="1"/>
          </p:cNvSpPr>
          <p:nvPr/>
        </p:nvSpPr>
        <p:spPr bwMode="auto">
          <a:xfrm>
            <a:off x="4797425" y="2009775"/>
            <a:ext cx="1600200" cy="838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accent4">
                <a:lumMod val="50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3</a:t>
            </a:r>
          </a:p>
        </p:txBody>
      </p:sp>
      <p:sp>
        <p:nvSpPr>
          <p:cNvPr id="1129500" name="Rectangle 28"/>
          <p:cNvSpPr>
            <a:spLocks noChangeArrowheads="1"/>
          </p:cNvSpPr>
          <p:nvPr/>
        </p:nvSpPr>
        <p:spPr bwMode="auto">
          <a:xfrm>
            <a:off x="3197225" y="2009775"/>
            <a:ext cx="1600200" cy="838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accent4">
                <a:lumMod val="50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2</a:t>
            </a:r>
          </a:p>
        </p:txBody>
      </p:sp>
      <p:sp>
        <p:nvSpPr>
          <p:cNvPr id="1129501" name="Rectangle 29"/>
          <p:cNvSpPr>
            <a:spLocks noChangeArrowheads="1"/>
          </p:cNvSpPr>
          <p:nvPr/>
        </p:nvSpPr>
        <p:spPr bwMode="auto">
          <a:xfrm>
            <a:off x="1063625" y="2009775"/>
            <a:ext cx="533400" cy="838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accent4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9502" name="Text Box 30"/>
          <p:cNvSpPr txBox="1">
            <a:spLocks noChangeArrowheads="1"/>
          </p:cNvSpPr>
          <p:nvPr/>
        </p:nvSpPr>
        <p:spPr bwMode="auto">
          <a:xfrm>
            <a:off x="1211263" y="2085975"/>
            <a:ext cx="309562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 b="1" dirty="0">
                <a:latin typeface="Courier New" panose="02070309020205020404" pitchFamily="49" charset="0"/>
              </a:rPr>
              <a:t>M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r>
              <a:rPr lang="en-US" altLang="en-US" sz="1400" b="1" dirty="0">
                <a:latin typeface="Courier New" panose="02070309020205020404" pitchFamily="49" charset="0"/>
              </a:rPr>
              <a:t>B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r>
              <a:rPr lang="en-US" altLang="en-US" sz="1400" b="1" dirty="0">
                <a:latin typeface="Courier New" panose="02070309020205020404" pitchFamily="49" charset="0"/>
              </a:rPr>
              <a:t>R</a:t>
            </a:r>
          </a:p>
        </p:txBody>
      </p:sp>
      <p:sp>
        <p:nvSpPr>
          <p:cNvPr id="1129503" name="Rectangle 31"/>
          <p:cNvSpPr>
            <a:spLocks noChangeArrowheads="1"/>
          </p:cNvSpPr>
          <p:nvPr/>
        </p:nvSpPr>
        <p:spPr bwMode="auto">
          <a:xfrm>
            <a:off x="530225" y="3838575"/>
            <a:ext cx="8153400" cy="838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9504" name="Line 32"/>
          <p:cNvSpPr>
            <a:spLocks noChangeShapeType="1"/>
          </p:cNvSpPr>
          <p:nvPr/>
        </p:nvSpPr>
        <p:spPr bwMode="auto">
          <a:xfrm flipH="1">
            <a:off x="530225" y="2847975"/>
            <a:ext cx="1066800" cy="9906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ysDot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505" name="Line 33"/>
          <p:cNvSpPr>
            <a:spLocks noChangeShapeType="1"/>
          </p:cNvSpPr>
          <p:nvPr/>
        </p:nvSpPr>
        <p:spPr bwMode="auto">
          <a:xfrm>
            <a:off x="3197225" y="2847975"/>
            <a:ext cx="5486400" cy="9906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ysDot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506" name="Rectangle 34" descr="Large checker board"/>
          <p:cNvSpPr>
            <a:spLocks noChangeArrowheads="1"/>
          </p:cNvSpPr>
          <p:nvPr/>
        </p:nvSpPr>
        <p:spPr bwMode="auto">
          <a:xfrm>
            <a:off x="987425" y="3838575"/>
            <a:ext cx="990600" cy="838200"/>
          </a:xfrm>
          <a:prstGeom prst="rect">
            <a:avLst/>
          </a:prstGeo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FAT</a:t>
            </a:r>
          </a:p>
        </p:txBody>
      </p:sp>
      <p:sp>
        <p:nvSpPr>
          <p:cNvPr id="1129507" name="Rectangle 35" descr="Outlined diamond"/>
          <p:cNvSpPr>
            <a:spLocks noChangeArrowheads="1"/>
          </p:cNvSpPr>
          <p:nvPr/>
        </p:nvSpPr>
        <p:spPr bwMode="auto">
          <a:xfrm>
            <a:off x="1978025" y="3838575"/>
            <a:ext cx="990600" cy="838200"/>
          </a:xfrm>
          <a:prstGeom prst="rect">
            <a:avLst/>
          </a:prstGeom>
          <a:pattFill prst="openDmnd">
            <a:fgClr>
              <a:schemeClr val="accent2">
                <a:lumMod val="20000"/>
                <a:lumOff val="80000"/>
              </a:schemeClr>
            </a:fgClr>
            <a:bgClr>
              <a:srgbClr val="FFFFFF"/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FAT</a:t>
            </a:r>
          </a:p>
          <a:p>
            <a:pPr algn="ctr"/>
            <a:r>
              <a:rPr lang="en-US" altLang="en-US" sz="1200" b="1" dirty="0">
                <a:latin typeface="Courier New" panose="02070309020205020404" pitchFamily="49" charset="0"/>
              </a:rPr>
              <a:t>Duplicate</a:t>
            </a:r>
          </a:p>
        </p:txBody>
      </p:sp>
      <p:sp>
        <p:nvSpPr>
          <p:cNvPr id="1129508" name="Rectangle 36" descr="Dashed upward diagonal"/>
          <p:cNvSpPr>
            <a:spLocks noChangeArrowheads="1"/>
          </p:cNvSpPr>
          <p:nvPr/>
        </p:nvSpPr>
        <p:spPr bwMode="auto">
          <a:xfrm>
            <a:off x="2968625" y="3838575"/>
            <a:ext cx="990600" cy="838200"/>
          </a:xfrm>
          <a:prstGeom prst="rect">
            <a:avLst/>
          </a:prstGeom>
          <a:pattFill prst="dashUpDiag">
            <a:fgClr>
              <a:schemeClr val="accent2">
                <a:lumMod val="75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9509" name="Rectangle 37"/>
          <p:cNvSpPr>
            <a:spLocks noChangeArrowheads="1"/>
          </p:cNvSpPr>
          <p:nvPr/>
        </p:nvSpPr>
        <p:spPr bwMode="auto">
          <a:xfrm>
            <a:off x="530225" y="3838575"/>
            <a:ext cx="4572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9510" name="Text Box 38"/>
          <p:cNvSpPr txBox="1">
            <a:spLocks noChangeArrowheads="1"/>
          </p:cNvSpPr>
          <p:nvPr/>
        </p:nvSpPr>
        <p:spPr bwMode="auto">
          <a:xfrm>
            <a:off x="363484" y="5133975"/>
            <a:ext cx="800207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Boot</a:t>
            </a:r>
          </a:p>
        </p:txBody>
      </p:sp>
      <p:sp>
        <p:nvSpPr>
          <p:cNvPr id="1129511" name="Line 39"/>
          <p:cNvSpPr>
            <a:spLocks noChangeShapeType="1"/>
          </p:cNvSpPr>
          <p:nvPr/>
        </p:nvSpPr>
        <p:spPr bwMode="auto">
          <a:xfrm flipV="1">
            <a:off x="758825" y="4371975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512" name="Text Box 40"/>
          <p:cNvSpPr txBox="1">
            <a:spLocks noChangeArrowheads="1"/>
          </p:cNvSpPr>
          <p:nvPr/>
        </p:nvSpPr>
        <p:spPr bwMode="auto">
          <a:xfrm>
            <a:off x="2673545" y="5133975"/>
            <a:ext cx="1569649" cy="707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root</a:t>
            </a:r>
          </a:p>
          <a:p>
            <a:pPr algn="ctr"/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directory</a:t>
            </a:r>
          </a:p>
        </p:txBody>
      </p:sp>
      <p:sp>
        <p:nvSpPr>
          <p:cNvPr id="1129513" name="Line 41"/>
          <p:cNvSpPr>
            <a:spLocks noChangeShapeType="1"/>
          </p:cNvSpPr>
          <p:nvPr/>
        </p:nvSpPr>
        <p:spPr bwMode="auto">
          <a:xfrm flipV="1">
            <a:off x="3425825" y="4448175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855788" y="4448175"/>
            <a:ext cx="1162050" cy="746125"/>
            <a:chOff x="1855788" y="4448175"/>
            <a:chExt cx="1162050" cy="746125"/>
          </a:xfrm>
        </p:grpSpPr>
        <p:sp>
          <p:nvSpPr>
            <p:cNvPr id="1129514" name="Text Box 42"/>
            <p:cNvSpPr txBox="1">
              <a:spLocks noChangeArrowheads="1"/>
            </p:cNvSpPr>
            <p:nvPr/>
          </p:nvSpPr>
          <p:spPr bwMode="auto">
            <a:xfrm>
              <a:off x="1855788" y="4857750"/>
              <a:ext cx="11620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 i="1" dirty="0">
                  <a:latin typeface="Courier New" panose="02070309020205020404" pitchFamily="49" charset="0"/>
                </a:rPr>
                <a:t>optional</a:t>
              </a:r>
            </a:p>
          </p:txBody>
        </p:sp>
        <p:sp>
          <p:nvSpPr>
            <p:cNvPr id="1129515" name="Line 43"/>
            <p:cNvSpPr>
              <a:spLocks noChangeShapeType="1"/>
            </p:cNvSpPr>
            <p:nvPr/>
          </p:nvSpPr>
          <p:spPr bwMode="auto">
            <a:xfrm>
              <a:off x="2435225" y="4448175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956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9492" grpId="0" animBg="1"/>
      <p:bldP spid="1129493" grpId="0" animBg="1"/>
      <p:bldP spid="1129494" grpId="0" animBg="1"/>
      <p:bldP spid="1129495" grpId="0"/>
      <p:bldP spid="1129496" grpId="0" animBg="1"/>
      <p:bldP spid="1129497" grpId="0" animBg="1"/>
      <p:bldP spid="1129498" grpId="0" animBg="1"/>
      <p:bldP spid="1129499" grpId="0" animBg="1"/>
      <p:bldP spid="1129500" grpId="0" animBg="1"/>
      <p:bldP spid="1129501" grpId="0" animBg="1"/>
      <p:bldP spid="1129502" grpId="0"/>
      <p:bldP spid="1129503" grpId="0" animBg="1"/>
      <p:bldP spid="1129504" grpId="0" animBg="1"/>
      <p:bldP spid="1129505" grpId="0" animBg="1"/>
      <p:bldP spid="1129506" grpId="0" animBg="1"/>
      <p:bldP spid="1129507" grpId="0" animBg="1"/>
      <p:bldP spid="1129508" grpId="0" animBg="1"/>
      <p:bldP spid="1129509" grpId="0" animBg="1"/>
      <p:bldP spid="1129510" grpId="0"/>
      <p:bldP spid="1129511" grpId="0" animBg="1"/>
      <p:bldP spid="1129512" grpId="0"/>
      <p:bldP spid="11295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006600"/>
                </a:solidFill>
              </a:rPr>
              <a:t>File Data </a:t>
            </a:r>
            <a:r>
              <a:rPr lang="en-US" altLang="en-US" sz="3800" dirty="0"/>
              <a:t>and </a:t>
            </a:r>
            <a:r>
              <a:rPr lang="en-US" altLang="en-US" sz="3800" b="1" dirty="0">
                <a:solidFill>
                  <a:srgbClr val="660066"/>
                </a:solidFill>
              </a:rPr>
              <a:t>File Allocation Table</a:t>
            </a:r>
          </a:p>
        </p:txBody>
      </p:sp>
      <p:sp>
        <p:nvSpPr>
          <p:cNvPr id="113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300" dirty="0"/>
              <a:t>File data are allocated to:</a:t>
            </a:r>
          </a:p>
          <a:p>
            <a:pPr lvl="1">
              <a:lnSpc>
                <a:spcPct val="90000"/>
              </a:lnSpc>
            </a:pPr>
            <a:r>
              <a:rPr lang="en-US" altLang="en-US" sz="2900" dirty="0"/>
              <a:t>A number of data blocks / data block clusters</a:t>
            </a:r>
          </a:p>
          <a:p>
            <a:pPr lvl="1">
              <a:lnSpc>
                <a:spcPct val="90000"/>
              </a:lnSpc>
            </a:pPr>
            <a:r>
              <a:rPr lang="en-US" altLang="en-US" sz="2900" dirty="0"/>
              <a:t>Allocation info is kept as a </a:t>
            </a:r>
            <a:r>
              <a:rPr lang="en-US" altLang="en-US" sz="2900" b="1" dirty="0">
                <a:solidFill>
                  <a:srgbClr val="C00000"/>
                </a:solidFill>
              </a:rPr>
              <a:t>linked list</a:t>
            </a:r>
          </a:p>
          <a:p>
            <a:pPr lvl="2">
              <a:lnSpc>
                <a:spcPct val="90000"/>
              </a:lnSpc>
            </a:pPr>
            <a:r>
              <a:rPr lang="en-US" altLang="en-US" sz="2500" dirty="0"/>
              <a:t>All data block pointers kept separately in the </a:t>
            </a:r>
            <a:r>
              <a:rPr lang="en-US" altLang="en-US" sz="2500" b="1" dirty="0">
                <a:solidFill>
                  <a:srgbClr val="C00000"/>
                </a:solidFill>
              </a:rPr>
              <a:t>F</a:t>
            </a:r>
            <a:r>
              <a:rPr lang="en-US" altLang="en-US" sz="2500" b="1" dirty="0"/>
              <a:t>ile </a:t>
            </a:r>
            <a:r>
              <a:rPr lang="en-US" altLang="en-US" sz="2500" b="1" dirty="0">
                <a:solidFill>
                  <a:srgbClr val="C00000"/>
                </a:solidFill>
              </a:rPr>
              <a:t>A</a:t>
            </a:r>
            <a:r>
              <a:rPr lang="en-US" altLang="en-US" sz="2500" b="1" dirty="0"/>
              <a:t>llocation </a:t>
            </a:r>
            <a:r>
              <a:rPr lang="en-US" altLang="en-US" sz="2500" b="1" dirty="0">
                <a:solidFill>
                  <a:srgbClr val="C00000"/>
                </a:solidFill>
              </a:rPr>
              <a:t>T</a:t>
            </a:r>
            <a:r>
              <a:rPr lang="en-US" altLang="en-US" sz="2500" b="1" dirty="0"/>
              <a:t>able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sz="2500" dirty="0"/>
          </a:p>
          <a:p>
            <a:pPr>
              <a:lnSpc>
                <a:spcPct val="90000"/>
              </a:lnSpc>
            </a:pPr>
            <a:r>
              <a:rPr lang="en-US" altLang="en-US" sz="3300" b="1" dirty="0">
                <a:solidFill>
                  <a:srgbClr val="C00000"/>
                </a:solidFill>
              </a:rPr>
              <a:t>F</a:t>
            </a:r>
            <a:r>
              <a:rPr lang="en-US" altLang="en-US" sz="3300" b="1" dirty="0"/>
              <a:t>ile </a:t>
            </a:r>
            <a:r>
              <a:rPr lang="en-US" altLang="en-US" sz="3300" b="1" dirty="0">
                <a:solidFill>
                  <a:srgbClr val="C00000"/>
                </a:solidFill>
              </a:rPr>
              <a:t>A</a:t>
            </a:r>
            <a:r>
              <a:rPr lang="en-US" altLang="en-US" sz="3300" b="1" dirty="0"/>
              <a:t>llocation </a:t>
            </a:r>
            <a:r>
              <a:rPr lang="en-US" altLang="en-US" sz="3300" b="1" dirty="0">
                <a:solidFill>
                  <a:srgbClr val="C00000"/>
                </a:solidFill>
              </a:rPr>
              <a:t>T</a:t>
            </a:r>
            <a:r>
              <a:rPr lang="en-US" altLang="en-US" sz="3300" b="1" dirty="0"/>
              <a:t>able </a:t>
            </a:r>
            <a:r>
              <a:rPr lang="en-US" altLang="en-US" sz="3300" dirty="0"/>
              <a:t>(</a:t>
            </a:r>
            <a:r>
              <a:rPr lang="en-US" altLang="en-US" sz="3300" b="1" dirty="0">
                <a:solidFill>
                  <a:srgbClr val="C00000"/>
                </a:solidFill>
              </a:rPr>
              <a:t>FAT</a:t>
            </a:r>
            <a:r>
              <a:rPr lang="en-US" altLang="en-US" sz="3300" dirty="0"/>
              <a:t>):</a:t>
            </a:r>
          </a:p>
          <a:p>
            <a:pPr lvl="1">
              <a:lnSpc>
                <a:spcPct val="90000"/>
              </a:lnSpc>
            </a:pPr>
            <a:r>
              <a:rPr lang="en-US" altLang="en-US" sz="2900" dirty="0"/>
              <a:t>One entry per data block/cluster</a:t>
            </a:r>
          </a:p>
          <a:p>
            <a:pPr lvl="1">
              <a:lnSpc>
                <a:spcPct val="90000"/>
              </a:lnSpc>
            </a:pPr>
            <a:r>
              <a:rPr lang="en-US" altLang="en-US" sz="2900" dirty="0"/>
              <a:t>Store disk block information</a:t>
            </a:r>
          </a:p>
          <a:p>
            <a:pPr lvl="2">
              <a:lnSpc>
                <a:spcPct val="90000"/>
              </a:lnSpc>
            </a:pPr>
            <a:r>
              <a:rPr lang="en-US" altLang="en-US" sz="2500" dirty="0"/>
              <a:t>Free? Next block (if occupied)? Damaged?</a:t>
            </a:r>
          </a:p>
          <a:p>
            <a:pPr lvl="1">
              <a:lnSpc>
                <a:spcPct val="90000"/>
              </a:lnSpc>
            </a:pPr>
            <a:r>
              <a:rPr lang="en-US" altLang="en-US" sz="2900" dirty="0"/>
              <a:t>OS will cache in RAM to facilitate linked list traversal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244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/>
        </p:nvGrpSpPr>
        <p:grpSpPr>
          <a:xfrm>
            <a:off x="6477000" y="1377865"/>
            <a:ext cx="1697287" cy="5251535"/>
            <a:chOff x="6681538" y="1225465"/>
            <a:chExt cx="1697287" cy="5251535"/>
          </a:xfrm>
        </p:grpSpPr>
        <p:grpSp>
          <p:nvGrpSpPr>
            <p:cNvPr id="5" name="Group 4"/>
            <p:cNvGrpSpPr/>
            <p:nvPr/>
          </p:nvGrpSpPr>
          <p:grpSpPr>
            <a:xfrm>
              <a:off x="6681538" y="1225465"/>
              <a:ext cx="1692302" cy="4800600"/>
              <a:chOff x="6681538" y="1225465"/>
              <a:chExt cx="1692302" cy="4800600"/>
            </a:xfrm>
          </p:grpSpPr>
          <p:sp>
            <p:nvSpPr>
              <p:cNvPr id="18" name="Text Box 19"/>
              <p:cNvSpPr txBox="1">
                <a:spLocks noChangeArrowheads="1"/>
              </p:cNvSpPr>
              <p:nvPr/>
            </p:nvSpPr>
            <p:spPr bwMode="auto">
              <a:xfrm>
                <a:off x="6695157" y="1225465"/>
                <a:ext cx="322512" cy="369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19" name="Text Box 20"/>
              <p:cNvSpPr txBox="1">
                <a:spLocks noChangeArrowheads="1"/>
              </p:cNvSpPr>
              <p:nvPr/>
            </p:nvSpPr>
            <p:spPr bwMode="auto">
              <a:xfrm>
                <a:off x="6695157" y="1606465"/>
                <a:ext cx="322512" cy="369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20" name="Text Box 21"/>
              <p:cNvSpPr txBox="1">
                <a:spLocks noChangeArrowheads="1"/>
              </p:cNvSpPr>
              <p:nvPr/>
            </p:nvSpPr>
            <p:spPr bwMode="auto">
              <a:xfrm>
                <a:off x="6695157" y="1987465"/>
                <a:ext cx="322512" cy="369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21" name="Text Box 22"/>
              <p:cNvSpPr txBox="1">
                <a:spLocks noChangeArrowheads="1"/>
              </p:cNvSpPr>
              <p:nvPr/>
            </p:nvSpPr>
            <p:spPr bwMode="auto">
              <a:xfrm>
                <a:off x="6695157" y="2368465"/>
                <a:ext cx="322512" cy="369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22" name="Text Box 23"/>
              <p:cNvSpPr txBox="1">
                <a:spLocks noChangeArrowheads="1"/>
              </p:cNvSpPr>
              <p:nvPr/>
            </p:nvSpPr>
            <p:spPr bwMode="auto">
              <a:xfrm>
                <a:off x="6695157" y="2749465"/>
                <a:ext cx="322512" cy="369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23" name="Text Box 24"/>
              <p:cNvSpPr txBox="1">
                <a:spLocks noChangeArrowheads="1"/>
              </p:cNvSpPr>
              <p:nvPr/>
            </p:nvSpPr>
            <p:spPr bwMode="auto">
              <a:xfrm>
                <a:off x="6695157" y="3130465"/>
                <a:ext cx="322512" cy="369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24" name="Text Box 25"/>
              <p:cNvSpPr txBox="1">
                <a:spLocks noChangeArrowheads="1"/>
              </p:cNvSpPr>
              <p:nvPr/>
            </p:nvSpPr>
            <p:spPr bwMode="auto">
              <a:xfrm>
                <a:off x="6695157" y="3511465"/>
                <a:ext cx="322512" cy="369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6</a:t>
                </a:r>
              </a:p>
            </p:txBody>
          </p:sp>
          <p:sp>
            <p:nvSpPr>
              <p:cNvPr id="25" name="Text Box 26"/>
              <p:cNvSpPr txBox="1">
                <a:spLocks noChangeArrowheads="1"/>
              </p:cNvSpPr>
              <p:nvPr/>
            </p:nvSpPr>
            <p:spPr bwMode="auto">
              <a:xfrm>
                <a:off x="6695157" y="3892465"/>
                <a:ext cx="322512" cy="369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26" name="Text Box 27"/>
              <p:cNvSpPr txBox="1">
                <a:spLocks noChangeArrowheads="1"/>
              </p:cNvSpPr>
              <p:nvPr/>
            </p:nvSpPr>
            <p:spPr bwMode="auto">
              <a:xfrm>
                <a:off x="6695157" y="4273465"/>
                <a:ext cx="322512" cy="369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8</a:t>
                </a:r>
              </a:p>
            </p:txBody>
          </p:sp>
          <p:sp>
            <p:nvSpPr>
              <p:cNvPr id="31" name="Text Box 27"/>
              <p:cNvSpPr txBox="1">
                <a:spLocks noChangeArrowheads="1"/>
              </p:cNvSpPr>
              <p:nvPr/>
            </p:nvSpPr>
            <p:spPr bwMode="auto">
              <a:xfrm>
                <a:off x="6681538" y="4653076"/>
                <a:ext cx="322512" cy="369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b="1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9</a:t>
                </a:r>
              </a:p>
            </p:txBody>
          </p:sp>
          <p:grpSp>
            <p:nvGrpSpPr>
              <p:cNvPr id="3" name="Group 2"/>
              <p:cNvGrpSpPr/>
              <p:nvPr/>
            </p:nvGrpSpPr>
            <p:grpSpPr>
              <a:xfrm>
                <a:off x="6999065" y="1225465"/>
                <a:ext cx="1374775" cy="4800600"/>
                <a:chOff x="4038600" y="1295400"/>
                <a:chExt cx="1374775" cy="4800600"/>
              </a:xfrm>
            </p:grpSpPr>
            <p:sp>
              <p:nvSpPr>
                <p:cNvPr id="32" name="Rectangle 4"/>
                <p:cNvSpPr>
                  <a:spLocks noChangeArrowheads="1"/>
                </p:cNvSpPr>
                <p:nvPr/>
              </p:nvSpPr>
              <p:spPr bwMode="auto">
                <a:xfrm>
                  <a:off x="4038600" y="1295400"/>
                  <a:ext cx="1371600" cy="48006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Rectangle 7"/>
                <p:cNvSpPr>
                  <a:spLocks noChangeArrowheads="1"/>
                </p:cNvSpPr>
                <p:nvPr/>
              </p:nvSpPr>
              <p:spPr bwMode="auto">
                <a:xfrm>
                  <a:off x="4040188" y="1295400"/>
                  <a:ext cx="1373187" cy="381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Rectangle 11"/>
                <p:cNvSpPr>
                  <a:spLocks noChangeArrowheads="1"/>
                </p:cNvSpPr>
                <p:nvPr/>
              </p:nvSpPr>
              <p:spPr bwMode="auto">
                <a:xfrm>
                  <a:off x="4038600" y="1676400"/>
                  <a:ext cx="1371600" cy="381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lIns="80815" tIns="40407" rIns="80815" bIns="40407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404813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808038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2128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1616075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07327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53047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98767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44487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endParaRPr lang="en-US" altLang="en-US" b="1" dirty="0">
                    <a:solidFill>
                      <a:srgbClr val="800000"/>
                    </a:solidFill>
                  </a:endParaRPr>
                </a:p>
              </p:txBody>
            </p:sp>
            <p:sp>
              <p:nvSpPr>
                <p:cNvPr id="36" name="Rectangle 12"/>
                <p:cNvSpPr>
                  <a:spLocks noChangeArrowheads="1"/>
                </p:cNvSpPr>
                <p:nvPr/>
              </p:nvSpPr>
              <p:spPr bwMode="auto">
                <a:xfrm>
                  <a:off x="4038600" y="2057400"/>
                  <a:ext cx="1371600" cy="381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anchor="ctr"/>
                <a:lstStyle/>
                <a:p>
                  <a:pPr algn="ctr"/>
                  <a:endParaRPr lang="en-US" altLang="en-US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37" name="Rectangle 13"/>
                <p:cNvSpPr>
                  <a:spLocks noChangeArrowheads="1"/>
                </p:cNvSpPr>
                <p:nvPr/>
              </p:nvSpPr>
              <p:spPr bwMode="auto">
                <a:xfrm>
                  <a:off x="4038600" y="2438400"/>
                  <a:ext cx="1371600" cy="381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lIns="91434" tIns="45717" rIns="91434" bIns="45717" anchor="ctr"/>
                <a:lstStyle/>
                <a:p>
                  <a:pPr algn="ctr"/>
                  <a:endParaRPr lang="en-US" altLang="en-US" sz="2400" b="1" dirty="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8" name="Rectangle 14"/>
                <p:cNvSpPr>
                  <a:spLocks noChangeArrowheads="1"/>
                </p:cNvSpPr>
                <p:nvPr/>
              </p:nvSpPr>
              <p:spPr bwMode="auto">
                <a:xfrm>
                  <a:off x="4038600" y="2819400"/>
                  <a:ext cx="1371600" cy="381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lIns="91434" tIns="45717" rIns="91434" bIns="45717" anchor="ctr"/>
                <a:lstStyle/>
                <a:p>
                  <a:pPr algn="ctr"/>
                  <a:endParaRPr lang="en-US" altLang="en-US" b="1" dirty="0">
                    <a:solidFill>
                      <a:srgbClr val="008000"/>
                    </a:solidFill>
                  </a:endParaRPr>
                </a:p>
              </p:txBody>
            </p:sp>
            <p:sp>
              <p:nvSpPr>
                <p:cNvPr id="39" name="Rectangle 15"/>
                <p:cNvSpPr>
                  <a:spLocks noChangeArrowheads="1"/>
                </p:cNvSpPr>
                <p:nvPr/>
              </p:nvSpPr>
              <p:spPr bwMode="auto">
                <a:xfrm>
                  <a:off x="4038600" y="3200400"/>
                  <a:ext cx="1371600" cy="381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lIns="91434" tIns="45717" rIns="91434" bIns="45717" anchor="ctr"/>
                <a:lstStyle/>
                <a:p>
                  <a:pPr algn="ctr"/>
                  <a:endParaRPr lang="en-US" altLang="en-US" sz="2400" b="1" dirty="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40" name="Rectangle 16"/>
                <p:cNvSpPr>
                  <a:spLocks noChangeArrowheads="1"/>
                </p:cNvSpPr>
                <p:nvPr/>
              </p:nvSpPr>
              <p:spPr bwMode="auto">
                <a:xfrm>
                  <a:off x="4038600" y="3581400"/>
                  <a:ext cx="1371600" cy="381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lIns="91434" tIns="45717" rIns="91434" bIns="45717" anchor="ctr"/>
                <a:lstStyle/>
                <a:p>
                  <a:pPr algn="ctr"/>
                  <a:endParaRPr lang="en-US" altLang="en-US" sz="2400" b="1" dirty="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41" name="Rectangle 17"/>
                <p:cNvSpPr>
                  <a:spLocks noChangeArrowheads="1"/>
                </p:cNvSpPr>
                <p:nvPr/>
              </p:nvSpPr>
              <p:spPr bwMode="auto">
                <a:xfrm>
                  <a:off x="4038600" y="3962400"/>
                  <a:ext cx="1371600" cy="381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lIns="91434" tIns="45717" rIns="91434" bIns="45717" anchor="ctr"/>
                <a:lstStyle/>
                <a:p>
                  <a:pPr algn="ctr"/>
                  <a:endParaRPr lang="en-US" altLang="en-US" sz="20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42" name="Rectangle 18"/>
                <p:cNvSpPr>
                  <a:spLocks noChangeArrowheads="1"/>
                </p:cNvSpPr>
                <p:nvPr/>
              </p:nvSpPr>
              <p:spPr bwMode="auto">
                <a:xfrm>
                  <a:off x="4038600" y="4343400"/>
                  <a:ext cx="1371600" cy="381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lIns="91434" tIns="45717" rIns="91434" bIns="45717" anchor="ctr"/>
                <a:lstStyle/>
                <a:p>
                  <a:pPr algn="ctr"/>
                  <a:endParaRPr lang="en-US" altLang="en-US" sz="20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43" name="Rectangle 28"/>
                <p:cNvSpPr>
                  <a:spLocks noChangeArrowheads="1"/>
                </p:cNvSpPr>
                <p:nvPr/>
              </p:nvSpPr>
              <p:spPr bwMode="auto">
                <a:xfrm>
                  <a:off x="4038600" y="4724400"/>
                  <a:ext cx="1371600" cy="381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lIns="91434" tIns="45717" rIns="91434" bIns="45717" anchor="ctr"/>
                <a:lstStyle/>
                <a:p>
                  <a:pPr algn="ctr"/>
                  <a:endParaRPr lang="en-US" altLang="en-US" b="1" dirty="0">
                    <a:solidFill>
                      <a:srgbClr val="008000"/>
                    </a:solidFill>
                  </a:endParaRPr>
                </a:p>
              </p:txBody>
            </p:sp>
            <p:sp>
              <p:nvSpPr>
                <p:cNvPr id="44" name="Rectangle 29"/>
                <p:cNvSpPr>
                  <a:spLocks noChangeArrowheads="1"/>
                </p:cNvSpPr>
                <p:nvPr/>
              </p:nvSpPr>
              <p:spPr bwMode="auto">
                <a:xfrm>
                  <a:off x="4038600" y="5105400"/>
                  <a:ext cx="1371600" cy="9906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en-US"/>
                    <a:t>…</a:t>
                  </a:r>
                </a:p>
                <a:p>
                  <a:pPr algn="ctr"/>
                  <a:r>
                    <a:rPr lang="en-US" altLang="en-US"/>
                    <a:t>…</a:t>
                  </a:r>
                </a:p>
                <a:p>
                  <a:pPr algn="ctr"/>
                  <a:r>
                    <a:rPr lang="en-US" altLang="en-US"/>
                    <a:t>…</a:t>
                  </a:r>
                </a:p>
              </p:txBody>
            </p:sp>
          </p:grpSp>
        </p:grp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7004050" y="6026065"/>
              <a:ext cx="1374775" cy="450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0815" tIns="40407" rIns="80815" bIns="40407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b="1" dirty="0">
                  <a:solidFill>
                    <a:srgbClr val="C00000"/>
                  </a:solidFill>
                </a:rPr>
                <a:t>FAT</a:t>
              </a:r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6999065" y="5029200"/>
              <a:ext cx="1371600" cy="990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dirty="0"/>
                <a:t>…</a:t>
              </a:r>
            </a:p>
            <a:p>
              <a:pPr algn="ctr"/>
              <a:r>
                <a:rPr lang="en-US" altLang="en-US" dirty="0"/>
                <a:t>…</a:t>
              </a:r>
            </a:p>
            <a:p>
              <a:pPr algn="ctr"/>
              <a:r>
                <a:rPr lang="en-US" altLang="en-US" dirty="0"/>
                <a:t>…</a:t>
              </a:r>
            </a:p>
          </p:txBody>
        </p:sp>
      </p:grpSp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</a:t>
            </a:r>
            <a:r>
              <a:rPr lang="en-US" b="1" dirty="0"/>
              <a:t>ile </a:t>
            </a:r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b="1" dirty="0"/>
              <a:t>llocation </a:t>
            </a:r>
            <a:r>
              <a:rPr lang="en-US" b="1" dirty="0">
                <a:solidFill>
                  <a:srgbClr val="C00000"/>
                </a:solidFill>
              </a:rPr>
              <a:t>T</a:t>
            </a:r>
            <a:r>
              <a:rPr lang="en-US" b="1" dirty="0"/>
              <a:t>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6799218" y="1758865"/>
            <a:ext cx="1371600" cy="381000"/>
          </a:xfrm>
          <a:prstGeom prst="rect">
            <a:avLst/>
          </a:prstGeom>
          <a:solidFill>
            <a:srgbClr val="C0C0C0">
              <a:alpha val="50000"/>
            </a:srgbClr>
          </a:solid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815" tIns="40407" rIns="80815" bIns="40407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b="1" dirty="0">
                <a:solidFill>
                  <a:srgbClr val="C00000"/>
                </a:solidFill>
              </a:rPr>
              <a:t>BAD</a:t>
            </a: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6799218" y="2139865"/>
            <a:ext cx="1371600" cy="381000"/>
          </a:xfrm>
          <a:prstGeom prst="rect">
            <a:avLst/>
          </a:prstGeom>
          <a:solidFill>
            <a:srgbClr val="FFFF99"/>
          </a:solidFill>
          <a:ln w="19050" algn="ctr">
            <a:solidFill>
              <a:srgbClr val="CC99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EOF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6799218" y="2520865"/>
            <a:ext cx="1371600" cy="381000"/>
          </a:xfrm>
          <a:prstGeom prst="rect">
            <a:avLst/>
          </a:prstGeom>
          <a:solidFill>
            <a:srgbClr val="CCFFCC"/>
          </a:solid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6799218" y="2901865"/>
            <a:ext cx="1371600" cy="381000"/>
          </a:xfrm>
          <a:prstGeom prst="rect">
            <a:avLst/>
          </a:prstGeom>
          <a:solidFill>
            <a:srgbClr val="FFFFFF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b="1">
                <a:solidFill>
                  <a:srgbClr val="008000"/>
                </a:solidFill>
              </a:rPr>
              <a:t>FREE</a:t>
            </a:r>
          </a:p>
        </p:txBody>
      </p: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6799218" y="3282865"/>
            <a:ext cx="1371600" cy="381000"/>
          </a:xfrm>
          <a:prstGeom prst="rect">
            <a:avLst/>
          </a:prstGeom>
          <a:solidFill>
            <a:srgbClr val="CCFFCC"/>
          </a:solid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6799218" y="3663865"/>
            <a:ext cx="1371600" cy="381000"/>
          </a:xfrm>
          <a:prstGeom prst="rect">
            <a:avLst/>
          </a:prstGeom>
          <a:solidFill>
            <a:srgbClr val="CCFFFF"/>
          </a:solidFill>
          <a:ln w="19050" algn="ctr">
            <a:solidFill>
              <a:schemeClr val="accent3">
                <a:lumMod val="50000"/>
              </a:schemeClr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6799218" y="4044865"/>
            <a:ext cx="1371600" cy="381000"/>
          </a:xfrm>
          <a:prstGeom prst="rect">
            <a:avLst/>
          </a:prstGeom>
          <a:solidFill>
            <a:srgbClr val="CCFFFF"/>
          </a:solidFill>
          <a:ln w="19050" algn="ctr">
            <a:solidFill>
              <a:schemeClr val="accent3">
                <a:lumMod val="50000"/>
              </a:schemeClr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 dirty="0">
                <a:solidFill>
                  <a:srgbClr val="660066"/>
                </a:solidFill>
              </a:rPr>
              <a:t>EOF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6799218" y="4425865"/>
            <a:ext cx="1371600" cy="381000"/>
          </a:xfrm>
          <a:prstGeom prst="rect">
            <a:avLst/>
          </a:prstGeom>
          <a:solidFill>
            <a:srgbClr val="CCFFCC"/>
          </a:solid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 dirty="0">
                <a:solidFill>
                  <a:srgbClr val="660066"/>
                </a:solidFill>
              </a:rPr>
              <a:t>EOF</a:t>
            </a:r>
          </a:p>
        </p:txBody>
      </p:sp>
      <p:sp>
        <p:nvSpPr>
          <p:cNvPr id="27" name="Rectangle 28"/>
          <p:cNvSpPr>
            <a:spLocks noChangeArrowheads="1"/>
          </p:cNvSpPr>
          <p:nvPr/>
        </p:nvSpPr>
        <p:spPr bwMode="auto">
          <a:xfrm>
            <a:off x="6799218" y="4806865"/>
            <a:ext cx="1371600" cy="381000"/>
          </a:xfrm>
          <a:prstGeom prst="rect">
            <a:avLst/>
          </a:prstGeom>
          <a:solidFill>
            <a:srgbClr val="FFFFFF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b="1">
                <a:solidFill>
                  <a:srgbClr val="008000"/>
                </a:solidFill>
              </a:rPr>
              <a:t>FREE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513133" y="309140"/>
            <a:ext cx="5869781" cy="822410"/>
            <a:chOff x="530225" y="1415965"/>
            <a:chExt cx="5869781" cy="822410"/>
          </a:xfrm>
        </p:grpSpPr>
        <p:grpSp>
          <p:nvGrpSpPr>
            <p:cNvPr id="63" name="Group 62"/>
            <p:cNvGrpSpPr/>
            <p:nvPr/>
          </p:nvGrpSpPr>
          <p:grpSpPr>
            <a:xfrm>
              <a:off x="530225" y="1415965"/>
              <a:ext cx="5869781" cy="822410"/>
              <a:chOff x="530225" y="1415965"/>
              <a:chExt cx="5869781" cy="822410"/>
            </a:xfrm>
          </p:grpSpPr>
          <p:sp>
            <p:nvSpPr>
              <p:cNvPr id="49" name="Rectangle 24" descr="Sphere"/>
              <p:cNvSpPr>
                <a:spLocks noChangeArrowheads="1"/>
              </p:cNvSpPr>
              <p:nvPr/>
            </p:nvSpPr>
            <p:spPr bwMode="auto">
              <a:xfrm>
                <a:off x="2968625" y="1415965"/>
                <a:ext cx="3431381" cy="822410"/>
              </a:xfrm>
              <a:prstGeom prst="rect">
                <a:avLst/>
              </a:prstGeom>
              <a:pattFill prst="sphere">
                <a:fgClr>
                  <a:srgbClr val="E8FFD1"/>
                </a:fgClr>
                <a:bgClr>
                  <a:srgbClr val="FFFFFF"/>
                </a:bgClr>
              </a:patt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Rectangle 34" descr="Large checker board"/>
              <p:cNvSpPr>
                <a:spLocks noChangeArrowheads="1"/>
              </p:cNvSpPr>
              <p:nvPr/>
            </p:nvSpPr>
            <p:spPr bwMode="auto">
              <a:xfrm>
                <a:off x="987425" y="1415965"/>
                <a:ext cx="990600" cy="822410"/>
              </a:xfrm>
              <a:prstGeom prst="rect">
                <a:avLst/>
              </a:prstGeom>
              <a:pattFill prst="lgCheck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9050" algn="ctr">
                <a:solidFill>
                  <a:schemeClr val="accent2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800" b="1" dirty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FAT</a:t>
                </a:r>
              </a:p>
            </p:txBody>
          </p:sp>
          <p:sp>
            <p:nvSpPr>
              <p:cNvPr id="52" name="Rectangle 35" descr="Outlined diamond"/>
              <p:cNvSpPr>
                <a:spLocks noChangeArrowheads="1"/>
              </p:cNvSpPr>
              <p:nvPr/>
            </p:nvSpPr>
            <p:spPr bwMode="auto">
              <a:xfrm>
                <a:off x="1978025" y="1415965"/>
                <a:ext cx="990600" cy="8224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algn="ctr">
                <a:solidFill>
                  <a:schemeClr val="tx2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FAT</a:t>
                </a:r>
              </a:p>
              <a:p>
                <a:pPr algn="ctr"/>
                <a:r>
                  <a:rPr lang="en-US" altLang="en-US" sz="1200" b="1" dirty="0">
                    <a:latin typeface="Courier New" panose="02070309020205020404" pitchFamily="49" charset="0"/>
                  </a:rPr>
                  <a:t>Duplicate</a:t>
                </a:r>
              </a:p>
            </p:txBody>
          </p:sp>
          <p:sp>
            <p:nvSpPr>
              <p:cNvPr id="54" name="Rectangle 37"/>
              <p:cNvSpPr>
                <a:spLocks noChangeArrowheads="1"/>
              </p:cNvSpPr>
              <p:nvPr/>
            </p:nvSpPr>
            <p:spPr bwMode="auto">
              <a:xfrm>
                <a:off x="530225" y="1415965"/>
                <a:ext cx="457200" cy="8224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algn="ctr">
                <a:solidFill>
                  <a:schemeClr val="tx2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vert="vert270" wrap="none" anchor="ctr"/>
              <a:lstStyle/>
              <a:p>
                <a:pPr algn="ctr"/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Boot</a:t>
                </a:r>
              </a:p>
            </p:txBody>
          </p:sp>
        </p:grpSp>
        <p:sp>
          <p:nvSpPr>
            <p:cNvPr id="48" name="Text Box 23"/>
            <p:cNvSpPr txBox="1">
              <a:spLocks noChangeArrowheads="1"/>
            </p:cNvSpPr>
            <p:nvPr/>
          </p:nvSpPr>
          <p:spPr bwMode="auto">
            <a:xfrm>
              <a:off x="4870052" y="1667279"/>
              <a:ext cx="1528763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data blocks</a:t>
              </a:r>
            </a:p>
          </p:txBody>
        </p:sp>
      </p:grpSp>
      <p:sp>
        <p:nvSpPr>
          <p:cNvPr id="55" name="Content Placeholder 29"/>
          <p:cNvSpPr txBox="1">
            <a:spLocks/>
          </p:cNvSpPr>
          <p:nvPr/>
        </p:nvSpPr>
        <p:spPr>
          <a:xfrm>
            <a:off x="457200" y="2514600"/>
            <a:ext cx="5638800" cy="39624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3300" kern="0" dirty="0"/>
              <a:t>FAT entry contains either: </a:t>
            </a:r>
          </a:p>
          <a:p>
            <a:pPr lvl="1">
              <a:lnSpc>
                <a:spcPct val="90000"/>
              </a:lnSpc>
            </a:pPr>
            <a:r>
              <a:rPr lang="en-US" altLang="en-US" sz="2900" b="1" kern="0" dirty="0">
                <a:solidFill>
                  <a:srgbClr val="008000"/>
                </a:solidFill>
              </a:rPr>
              <a:t>FREE</a:t>
            </a:r>
            <a:r>
              <a:rPr lang="en-US" altLang="en-US" sz="2900" kern="0" dirty="0"/>
              <a:t> code </a:t>
            </a:r>
          </a:p>
          <a:p>
            <a:pPr lvl="1">
              <a:lnSpc>
                <a:spcPct val="90000"/>
              </a:lnSpc>
            </a:pPr>
            <a:r>
              <a:rPr lang="en-US" altLang="en-US" sz="2900" b="1" kern="0" dirty="0">
                <a:solidFill>
                  <a:srgbClr val="0033CC"/>
                </a:solidFill>
              </a:rPr>
              <a:t>Block number</a:t>
            </a:r>
            <a:r>
              <a:rPr lang="en-US" altLang="en-US" sz="2900" kern="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sz="2900" b="1" kern="0" dirty="0">
                <a:solidFill>
                  <a:srgbClr val="660066"/>
                </a:solidFill>
              </a:rPr>
              <a:t>EOF</a:t>
            </a:r>
            <a:r>
              <a:rPr lang="en-US" altLang="en-US" sz="2900" kern="0" dirty="0"/>
              <a:t> code </a:t>
            </a:r>
          </a:p>
          <a:p>
            <a:pPr lvl="1">
              <a:lnSpc>
                <a:spcPct val="90000"/>
              </a:lnSpc>
            </a:pPr>
            <a:r>
              <a:rPr lang="en-US" altLang="en-US" sz="2900" b="1" kern="0" dirty="0">
                <a:solidFill>
                  <a:srgbClr val="C00000"/>
                </a:solidFill>
              </a:rPr>
              <a:t>BAD</a:t>
            </a:r>
            <a:r>
              <a:rPr lang="en-US" altLang="en-US" sz="2900" kern="0" dirty="0"/>
              <a:t> code</a:t>
            </a:r>
          </a:p>
          <a:p>
            <a:endParaRPr lang="en-US" kern="0" dirty="0"/>
          </a:p>
        </p:txBody>
      </p:sp>
      <p:sp>
        <p:nvSpPr>
          <p:cNvPr id="7" name="Isosceles Triangle 6"/>
          <p:cNvSpPr/>
          <p:nvPr/>
        </p:nvSpPr>
        <p:spPr>
          <a:xfrm>
            <a:off x="8496300" y="6619240"/>
            <a:ext cx="2286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2951533" y="309140"/>
            <a:ext cx="1828800" cy="822843"/>
            <a:chOff x="2951533" y="309140"/>
            <a:chExt cx="1828800" cy="822843"/>
          </a:xfrm>
        </p:grpSpPr>
        <p:grpSp>
          <p:nvGrpSpPr>
            <p:cNvPr id="6" name="Group 5"/>
            <p:cNvGrpSpPr/>
            <p:nvPr/>
          </p:nvGrpSpPr>
          <p:grpSpPr>
            <a:xfrm>
              <a:off x="3865933" y="309573"/>
              <a:ext cx="914400" cy="822410"/>
              <a:chOff x="3959225" y="1415965"/>
              <a:chExt cx="914400" cy="822410"/>
            </a:xfrm>
          </p:grpSpPr>
          <p:sp>
            <p:nvSpPr>
              <p:cNvPr id="45" name="Rectangle 20" descr="Sphere"/>
              <p:cNvSpPr>
                <a:spLocks noChangeArrowheads="1"/>
              </p:cNvSpPr>
              <p:nvPr/>
            </p:nvSpPr>
            <p:spPr bwMode="auto">
              <a:xfrm>
                <a:off x="3959225" y="1415965"/>
                <a:ext cx="228600" cy="822410"/>
              </a:xfrm>
              <a:prstGeom prst="rect">
                <a:avLst/>
              </a:prstGeom>
              <a:pattFill prst="sphere">
                <a:fgClr>
                  <a:srgbClr val="E8FFD1"/>
                </a:fgClr>
                <a:bgClr>
                  <a:srgbClr val="FFFFFF"/>
                </a:bgClr>
              </a:patt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Rectangle 21" descr="Sphere"/>
              <p:cNvSpPr>
                <a:spLocks noChangeArrowheads="1"/>
              </p:cNvSpPr>
              <p:nvPr/>
            </p:nvSpPr>
            <p:spPr bwMode="auto">
              <a:xfrm>
                <a:off x="4187825" y="1415965"/>
                <a:ext cx="228600" cy="822410"/>
              </a:xfrm>
              <a:prstGeom prst="rect">
                <a:avLst/>
              </a:prstGeom>
              <a:pattFill prst="sphere">
                <a:fgClr>
                  <a:srgbClr val="E8FFD1"/>
                </a:fgClr>
                <a:bgClr>
                  <a:srgbClr val="FFFFFF"/>
                </a:bgClr>
              </a:patt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" name="Rectangle 20" descr="Sphere"/>
              <p:cNvSpPr>
                <a:spLocks noChangeArrowheads="1"/>
              </p:cNvSpPr>
              <p:nvPr/>
            </p:nvSpPr>
            <p:spPr bwMode="auto">
              <a:xfrm>
                <a:off x="4416425" y="1415965"/>
                <a:ext cx="228600" cy="822410"/>
              </a:xfrm>
              <a:prstGeom prst="rect">
                <a:avLst/>
              </a:prstGeom>
              <a:pattFill prst="sphere">
                <a:fgClr>
                  <a:srgbClr val="E8FFD1"/>
                </a:fgClr>
                <a:bgClr>
                  <a:srgbClr val="FFFFFF"/>
                </a:bgClr>
              </a:patt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Rectangle 21" descr="Sphere"/>
              <p:cNvSpPr>
                <a:spLocks noChangeArrowheads="1"/>
              </p:cNvSpPr>
              <p:nvPr/>
            </p:nvSpPr>
            <p:spPr bwMode="auto">
              <a:xfrm>
                <a:off x="4645025" y="1415965"/>
                <a:ext cx="228600" cy="822410"/>
              </a:xfrm>
              <a:prstGeom prst="rect">
                <a:avLst/>
              </a:prstGeom>
              <a:pattFill prst="sphere">
                <a:fgClr>
                  <a:srgbClr val="E8FFD1"/>
                </a:fgClr>
                <a:bgClr>
                  <a:srgbClr val="FFFFFF"/>
                </a:bgClr>
              </a:patt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2951533" y="309140"/>
              <a:ext cx="914400" cy="822410"/>
              <a:chOff x="3959225" y="1415965"/>
              <a:chExt cx="914400" cy="822410"/>
            </a:xfrm>
          </p:grpSpPr>
          <p:sp>
            <p:nvSpPr>
              <p:cNvPr id="57" name="Rectangle 20" descr="Sphere"/>
              <p:cNvSpPr>
                <a:spLocks noChangeArrowheads="1"/>
              </p:cNvSpPr>
              <p:nvPr/>
            </p:nvSpPr>
            <p:spPr bwMode="auto">
              <a:xfrm>
                <a:off x="3959225" y="1415965"/>
                <a:ext cx="228600" cy="822410"/>
              </a:xfrm>
              <a:prstGeom prst="rect">
                <a:avLst/>
              </a:prstGeom>
              <a:pattFill prst="sphere">
                <a:fgClr>
                  <a:srgbClr val="E8FFD1"/>
                </a:fgClr>
                <a:bgClr>
                  <a:srgbClr val="FFFFFF"/>
                </a:bgClr>
              </a:patt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Rectangle 21" descr="Sphere"/>
              <p:cNvSpPr>
                <a:spLocks noChangeArrowheads="1"/>
              </p:cNvSpPr>
              <p:nvPr/>
            </p:nvSpPr>
            <p:spPr bwMode="auto">
              <a:xfrm>
                <a:off x="4187825" y="1415965"/>
                <a:ext cx="228600" cy="822410"/>
              </a:xfrm>
              <a:prstGeom prst="rect">
                <a:avLst/>
              </a:prstGeom>
              <a:pattFill prst="sphere">
                <a:fgClr>
                  <a:srgbClr val="E8FFD1"/>
                </a:fgClr>
                <a:bgClr>
                  <a:srgbClr val="FFFFFF"/>
                </a:bgClr>
              </a:patt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" name="Rectangle 20" descr="Sphere"/>
              <p:cNvSpPr>
                <a:spLocks noChangeArrowheads="1"/>
              </p:cNvSpPr>
              <p:nvPr/>
            </p:nvSpPr>
            <p:spPr bwMode="auto">
              <a:xfrm>
                <a:off x="4416425" y="1415965"/>
                <a:ext cx="228600" cy="822410"/>
              </a:xfrm>
              <a:prstGeom prst="rect">
                <a:avLst/>
              </a:prstGeom>
              <a:pattFill prst="sphere">
                <a:fgClr>
                  <a:srgbClr val="E8FFD1"/>
                </a:fgClr>
                <a:bgClr>
                  <a:srgbClr val="FFFFFF"/>
                </a:bgClr>
              </a:patt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Rectangle 21" descr="Sphere"/>
              <p:cNvSpPr>
                <a:spLocks noChangeArrowheads="1"/>
              </p:cNvSpPr>
              <p:nvPr/>
            </p:nvSpPr>
            <p:spPr bwMode="auto">
              <a:xfrm>
                <a:off x="4645025" y="1415965"/>
                <a:ext cx="228600" cy="822410"/>
              </a:xfrm>
              <a:prstGeom prst="rect">
                <a:avLst/>
              </a:prstGeom>
              <a:pattFill prst="sphere">
                <a:fgClr>
                  <a:srgbClr val="E8FFD1"/>
                </a:fgClr>
                <a:bgClr>
                  <a:srgbClr val="FFFFFF"/>
                </a:bgClr>
              </a:patt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2955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7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rgbClr val="660066"/>
                </a:solidFill>
              </a:rPr>
              <a:t>Directory Structure </a:t>
            </a:r>
            <a:r>
              <a:rPr lang="en-US" altLang="en-US" sz="3600" dirty="0"/>
              <a:t>and </a:t>
            </a:r>
            <a:r>
              <a:rPr lang="en-US" altLang="en-US" sz="3600" b="1" dirty="0">
                <a:solidFill>
                  <a:srgbClr val="C00000"/>
                </a:solidFill>
              </a:rPr>
              <a:t>File Information</a:t>
            </a:r>
          </a:p>
        </p:txBody>
      </p:sp>
      <p:sp>
        <p:nvSpPr>
          <p:cNvPr id="1130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Directory (Folder) is represented as: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Special type of file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Root directory is stored in a special location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Other directories are stored in the data blocks</a:t>
            </a:r>
          </a:p>
          <a:p>
            <a:pPr lvl="2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Each file/subdirectory within the folder: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Represented as </a:t>
            </a:r>
            <a:r>
              <a:rPr lang="en-US" altLang="en-US" b="1" dirty="0">
                <a:solidFill>
                  <a:srgbClr val="C00000"/>
                </a:solidFill>
              </a:rPr>
              <a:t>directory entry</a:t>
            </a:r>
            <a:endParaRPr lang="en-US" alt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6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4"/>
          <p:cNvSpPr>
            <a:spLocks noChangeArrowheads="1"/>
          </p:cNvSpPr>
          <p:nvPr/>
        </p:nvSpPr>
        <p:spPr bwMode="auto">
          <a:xfrm>
            <a:off x="541020" y="3200400"/>
            <a:ext cx="8145780" cy="838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 dirty="0"/>
              <a:t>Directory Entry</a:t>
            </a:r>
          </a:p>
        </p:txBody>
      </p:sp>
      <p:sp>
        <p:nvSpPr>
          <p:cNvPr id="31" name="Rectangle 29"/>
          <p:cNvSpPr>
            <a:spLocks noChangeArrowheads="1"/>
          </p:cNvSpPr>
          <p:nvPr/>
        </p:nvSpPr>
        <p:spPr bwMode="auto">
          <a:xfrm>
            <a:off x="1828800" y="1060451"/>
            <a:ext cx="1371600" cy="1339850"/>
          </a:xfrm>
          <a:prstGeom prst="rect">
            <a:avLst/>
          </a:prstGeom>
          <a:solidFill>
            <a:schemeClr val="bg2"/>
          </a:solidFill>
          <a:ln w="19050" algn="ctr">
            <a:solidFill>
              <a:schemeClr val="accent6">
                <a:lumMod val="50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…</a:t>
            </a:r>
          </a:p>
          <a:p>
            <a:pPr algn="ctr"/>
            <a:r>
              <a:rPr lang="en-US" altLang="en-US" dirty="0"/>
              <a:t>…</a:t>
            </a:r>
          </a:p>
          <a:p>
            <a:pPr algn="ctr"/>
            <a:r>
              <a:rPr lang="en-US" altLang="en-US" dirty="0"/>
              <a:t>…</a:t>
            </a:r>
          </a:p>
          <a:p>
            <a:pPr algn="ctr"/>
            <a:r>
              <a:rPr lang="en-US" altLang="en-US" dirty="0"/>
              <a:t>…</a:t>
            </a:r>
          </a:p>
        </p:txBody>
      </p:sp>
      <p:sp>
        <p:nvSpPr>
          <p:cNvPr id="113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Directory Entry </a:t>
            </a:r>
            <a:r>
              <a:rPr lang="en-US" altLang="en-US" sz="3800" dirty="0"/>
              <a:t>Illustration</a:t>
            </a:r>
          </a:p>
        </p:txBody>
      </p:sp>
      <p:sp>
        <p:nvSpPr>
          <p:cNvPr id="1134596" name="Rectangle 4"/>
          <p:cNvSpPr>
            <a:spLocks noChangeArrowheads="1"/>
          </p:cNvSpPr>
          <p:nvPr/>
        </p:nvSpPr>
        <p:spPr bwMode="auto">
          <a:xfrm>
            <a:off x="533400" y="3200400"/>
            <a:ext cx="1676400" cy="838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/>
              <a:t>File Name</a:t>
            </a:r>
          </a:p>
        </p:txBody>
      </p:sp>
      <p:sp>
        <p:nvSpPr>
          <p:cNvPr id="1134597" name="Rectangle 5"/>
          <p:cNvSpPr>
            <a:spLocks noChangeArrowheads="1"/>
          </p:cNvSpPr>
          <p:nvPr/>
        </p:nvSpPr>
        <p:spPr bwMode="auto">
          <a:xfrm>
            <a:off x="2209800" y="3200400"/>
            <a:ext cx="838200" cy="838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1"/>
          </a:p>
        </p:txBody>
      </p:sp>
      <p:sp>
        <p:nvSpPr>
          <p:cNvPr id="1134598" name="Rectangle 6"/>
          <p:cNvSpPr>
            <a:spLocks noChangeArrowheads="1"/>
          </p:cNvSpPr>
          <p:nvPr/>
        </p:nvSpPr>
        <p:spPr bwMode="auto">
          <a:xfrm>
            <a:off x="3048000" y="3200400"/>
            <a:ext cx="304800" cy="838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1"/>
          </a:p>
        </p:txBody>
      </p:sp>
      <p:sp>
        <p:nvSpPr>
          <p:cNvPr id="1134599" name="Rectangle 7"/>
          <p:cNvSpPr>
            <a:spLocks noChangeArrowheads="1"/>
          </p:cNvSpPr>
          <p:nvPr/>
        </p:nvSpPr>
        <p:spPr bwMode="auto">
          <a:xfrm>
            <a:off x="3352800" y="3200400"/>
            <a:ext cx="2819400" cy="8382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/>
              <a:t>Reserved</a:t>
            </a:r>
          </a:p>
        </p:txBody>
      </p:sp>
      <p:sp>
        <p:nvSpPr>
          <p:cNvPr id="1134601" name="Rectangle 9"/>
          <p:cNvSpPr>
            <a:spLocks noChangeArrowheads="1"/>
          </p:cNvSpPr>
          <p:nvPr/>
        </p:nvSpPr>
        <p:spPr bwMode="auto">
          <a:xfrm>
            <a:off x="6172200" y="3200400"/>
            <a:ext cx="533400" cy="838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1"/>
          </a:p>
        </p:txBody>
      </p:sp>
      <p:sp>
        <p:nvSpPr>
          <p:cNvPr id="1134602" name="Rectangle 10"/>
          <p:cNvSpPr>
            <a:spLocks noChangeArrowheads="1"/>
          </p:cNvSpPr>
          <p:nvPr/>
        </p:nvSpPr>
        <p:spPr bwMode="auto">
          <a:xfrm>
            <a:off x="6705600" y="3200400"/>
            <a:ext cx="533400" cy="838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1"/>
          </a:p>
        </p:txBody>
      </p:sp>
      <p:sp>
        <p:nvSpPr>
          <p:cNvPr id="1134603" name="Rectangle 11"/>
          <p:cNvSpPr>
            <a:spLocks noChangeArrowheads="1"/>
          </p:cNvSpPr>
          <p:nvPr/>
        </p:nvSpPr>
        <p:spPr bwMode="auto">
          <a:xfrm>
            <a:off x="7239000" y="3200400"/>
            <a:ext cx="533400" cy="8382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1"/>
          </a:p>
        </p:txBody>
      </p:sp>
      <p:sp>
        <p:nvSpPr>
          <p:cNvPr id="1134604" name="Rectangle 12"/>
          <p:cNvSpPr>
            <a:spLocks noChangeArrowheads="1"/>
          </p:cNvSpPr>
          <p:nvPr/>
        </p:nvSpPr>
        <p:spPr bwMode="auto">
          <a:xfrm>
            <a:off x="7772400" y="3200400"/>
            <a:ext cx="914400" cy="8382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1"/>
          </a:p>
        </p:txBody>
      </p:sp>
      <p:sp>
        <p:nvSpPr>
          <p:cNvPr id="1134605" name="AutoShape 13"/>
          <p:cNvSpPr>
            <a:spLocks/>
          </p:cNvSpPr>
          <p:nvPr/>
        </p:nvSpPr>
        <p:spPr bwMode="auto">
          <a:xfrm>
            <a:off x="685800" y="4381500"/>
            <a:ext cx="1371600" cy="609600"/>
          </a:xfrm>
          <a:prstGeom prst="accentCallout2">
            <a:avLst>
              <a:gd name="adj1" fmla="val 18750"/>
              <a:gd name="adj2" fmla="val 105556"/>
              <a:gd name="adj3" fmla="val 18750"/>
              <a:gd name="adj4" fmla="val 119213"/>
              <a:gd name="adj5" fmla="val -93750"/>
              <a:gd name="adj6" fmla="val 1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/>
              <a:t>File Extension</a:t>
            </a:r>
          </a:p>
        </p:txBody>
      </p:sp>
      <p:sp>
        <p:nvSpPr>
          <p:cNvPr id="1134606" name="AutoShape 14"/>
          <p:cNvSpPr>
            <a:spLocks/>
          </p:cNvSpPr>
          <p:nvPr/>
        </p:nvSpPr>
        <p:spPr bwMode="auto">
          <a:xfrm>
            <a:off x="1219200" y="5410200"/>
            <a:ext cx="1371600" cy="381000"/>
          </a:xfrm>
          <a:prstGeom prst="accentCallout2">
            <a:avLst>
              <a:gd name="adj1" fmla="val 30000"/>
              <a:gd name="adj2" fmla="val 105556"/>
              <a:gd name="adj3" fmla="val 30000"/>
              <a:gd name="adj4" fmla="val 124306"/>
              <a:gd name="adj5" fmla="val -380000"/>
              <a:gd name="adj6" fmla="val 1437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/>
              <a:t>Attributes</a:t>
            </a:r>
          </a:p>
        </p:txBody>
      </p:sp>
      <p:sp>
        <p:nvSpPr>
          <p:cNvPr id="1134607" name="AutoShape 15"/>
          <p:cNvSpPr>
            <a:spLocks/>
          </p:cNvSpPr>
          <p:nvPr/>
        </p:nvSpPr>
        <p:spPr bwMode="auto">
          <a:xfrm>
            <a:off x="4343400" y="4554583"/>
            <a:ext cx="1676400" cy="685800"/>
          </a:xfrm>
          <a:prstGeom prst="accentCallout2">
            <a:avLst>
              <a:gd name="adj1" fmla="val 16667"/>
              <a:gd name="adj2" fmla="val 104347"/>
              <a:gd name="adj3" fmla="val 16667"/>
              <a:gd name="adj4" fmla="val 121468"/>
              <a:gd name="adj5" fmla="val -26852"/>
              <a:gd name="adj6" fmla="val 13931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/>
              <a:t>Creation Date + Time</a:t>
            </a:r>
          </a:p>
        </p:txBody>
      </p:sp>
      <p:sp>
        <p:nvSpPr>
          <p:cNvPr id="1134608" name="AutoShape 16"/>
          <p:cNvSpPr>
            <a:spLocks/>
          </p:cNvSpPr>
          <p:nvPr/>
        </p:nvSpPr>
        <p:spPr bwMode="auto">
          <a:xfrm rot="5400000">
            <a:off x="6610350" y="3687536"/>
            <a:ext cx="228600" cy="1028700"/>
          </a:xfrm>
          <a:prstGeom prst="rightBrace">
            <a:avLst>
              <a:gd name="adj1" fmla="val 229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4609" name="AutoShape 17"/>
          <p:cNvSpPr>
            <a:spLocks/>
          </p:cNvSpPr>
          <p:nvPr/>
        </p:nvSpPr>
        <p:spPr bwMode="auto">
          <a:xfrm>
            <a:off x="5181600" y="5381897"/>
            <a:ext cx="1752600" cy="685800"/>
          </a:xfrm>
          <a:prstGeom prst="accentCallout2">
            <a:avLst>
              <a:gd name="adj1" fmla="val 16667"/>
              <a:gd name="adj2" fmla="val 104347"/>
              <a:gd name="adj3" fmla="val 16667"/>
              <a:gd name="adj4" fmla="val 117120"/>
              <a:gd name="adj5" fmla="val -237963"/>
              <a:gd name="adj6" fmla="val 13061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/>
              <a:t>First Disk Block</a:t>
            </a:r>
          </a:p>
        </p:txBody>
      </p:sp>
      <p:sp>
        <p:nvSpPr>
          <p:cNvPr id="1134610" name="AutoShape 18"/>
          <p:cNvSpPr>
            <a:spLocks/>
          </p:cNvSpPr>
          <p:nvPr/>
        </p:nvSpPr>
        <p:spPr bwMode="auto">
          <a:xfrm>
            <a:off x="5715000" y="6209211"/>
            <a:ext cx="2212975" cy="304800"/>
          </a:xfrm>
          <a:prstGeom prst="accentCallout2">
            <a:avLst>
              <a:gd name="adj1" fmla="val 37500"/>
              <a:gd name="adj2" fmla="val 103444"/>
              <a:gd name="adj3" fmla="val 37500"/>
              <a:gd name="adj4" fmla="val 109829"/>
              <a:gd name="adj5" fmla="val -791072"/>
              <a:gd name="adj6" fmla="val 12100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/>
              <a:t>File Size in Bytes</a:t>
            </a:r>
          </a:p>
        </p:txBody>
      </p:sp>
      <p:sp>
        <p:nvSpPr>
          <p:cNvPr id="1134611" name="Text Box 19"/>
          <p:cNvSpPr txBox="1">
            <a:spLocks noChangeArrowheads="1"/>
          </p:cNvSpPr>
          <p:nvPr/>
        </p:nvSpPr>
        <p:spPr bwMode="auto">
          <a:xfrm>
            <a:off x="2286000" y="28194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3</a:t>
            </a:r>
          </a:p>
        </p:txBody>
      </p:sp>
      <p:sp>
        <p:nvSpPr>
          <p:cNvPr id="1134612" name="Text Box 20"/>
          <p:cNvSpPr txBox="1">
            <a:spLocks noChangeArrowheads="1"/>
          </p:cNvSpPr>
          <p:nvPr/>
        </p:nvSpPr>
        <p:spPr bwMode="auto">
          <a:xfrm>
            <a:off x="685800" y="28194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8 bytes</a:t>
            </a:r>
          </a:p>
        </p:txBody>
      </p:sp>
      <p:sp>
        <p:nvSpPr>
          <p:cNvPr id="1134613" name="Text Box 21"/>
          <p:cNvSpPr txBox="1">
            <a:spLocks noChangeArrowheads="1"/>
          </p:cNvSpPr>
          <p:nvPr/>
        </p:nvSpPr>
        <p:spPr bwMode="auto">
          <a:xfrm>
            <a:off x="3048000" y="2819400"/>
            <a:ext cx="22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1</a:t>
            </a:r>
          </a:p>
        </p:txBody>
      </p:sp>
      <p:sp>
        <p:nvSpPr>
          <p:cNvPr id="1134614" name="Text Box 22"/>
          <p:cNvSpPr txBox="1">
            <a:spLocks noChangeArrowheads="1"/>
          </p:cNvSpPr>
          <p:nvPr/>
        </p:nvSpPr>
        <p:spPr bwMode="auto">
          <a:xfrm>
            <a:off x="3352800" y="2819400"/>
            <a:ext cx="2819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10</a:t>
            </a:r>
          </a:p>
        </p:txBody>
      </p:sp>
      <p:sp>
        <p:nvSpPr>
          <p:cNvPr id="1134615" name="Text Box 23"/>
          <p:cNvSpPr txBox="1">
            <a:spLocks noChangeArrowheads="1"/>
          </p:cNvSpPr>
          <p:nvPr/>
        </p:nvSpPr>
        <p:spPr bwMode="auto">
          <a:xfrm>
            <a:off x="6172200" y="28194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2</a:t>
            </a:r>
          </a:p>
        </p:txBody>
      </p:sp>
      <p:sp>
        <p:nvSpPr>
          <p:cNvPr id="1134616" name="Text Box 24"/>
          <p:cNvSpPr txBox="1">
            <a:spLocks noChangeArrowheads="1"/>
          </p:cNvSpPr>
          <p:nvPr/>
        </p:nvSpPr>
        <p:spPr bwMode="auto">
          <a:xfrm>
            <a:off x="6705600" y="28194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2</a:t>
            </a:r>
          </a:p>
        </p:txBody>
      </p:sp>
      <p:sp>
        <p:nvSpPr>
          <p:cNvPr id="1134617" name="Text Box 25"/>
          <p:cNvSpPr txBox="1">
            <a:spLocks noChangeArrowheads="1"/>
          </p:cNvSpPr>
          <p:nvPr/>
        </p:nvSpPr>
        <p:spPr bwMode="auto">
          <a:xfrm>
            <a:off x="7239000" y="28194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2</a:t>
            </a:r>
          </a:p>
        </p:txBody>
      </p:sp>
      <p:sp>
        <p:nvSpPr>
          <p:cNvPr id="1134618" name="Text Box 26"/>
          <p:cNvSpPr txBox="1">
            <a:spLocks noChangeArrowheads="1"/>
          </p:cNvSpPr>
          <p:nvPr/>
        </p:nvSpPr>
        <p:spPr bwMode="auto">
          <a:xfrm>
            <a:off x="7772400" y="2819400"/>
            <a:ext cx="91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1828800" y="1349376"/>
            <a:ext cx="13716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2400" b="1" dirty="0">
              <a:latin typeface="Courier New" panose="02070309020205020404" pitchFamily="49" charset="0"/>
            </a:endParaRPr>
          </a:p>
        </p:txBody>
      </p:sp>
      <p:sp>
        <p:nvSpPr>
          <p:cNvPr id="32" name="Text Box 23"/>
          <p:cNvSpPr txBox="1">
            <a:spLocks noChangeArrowheads="1"/>
          </p:cNvSpPr>
          <p:nvPr/>
        </p:nvSpPr>
        <p:spPr bwMode="auto">
          <a:xfrm>
            <a:off x="340722" y="1223234"/>
            <a:ext cx="1409701" cy="830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4" tIns="45717" rIns="91434" bIns="45717">
            <a:spAutoFit/>
          </a:bodyPr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data block</a:t>
            </a:r>
          </a:p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of a </a:t>
            </a:r>
            <a:r>
              <a:rPr lang="en-US" altLang="en-US" sz="1600" b="1" dirty="0">
                <a:solidFill>
                  <a:srgbClr val="C00000"/>
                </a:solidFill>
                <a:latin typeface="Courier New" panose="02070309020205020404" pitchFamily="49" charset="0"/>
              </a:rPr>
              <a:t>directory</a:t>
            </a:r>
          </a:p>
        </p:txBody>
      </p:sp>
      <p:cxnSp>
        <p:nvCxnSpPr>
          <p:cNvPr id="5" name="Elbow Connector 4"/>
          <p:cNvCxnSpPr>
            <a:stCxn id="29" idx="3"/>
            <a:endCxn id="37" idx="1"/>
          </p:cNvCxnSpPr>
          <p:nvPr/>
        </p:nvCxnSpPr>
        <p:spPr>
          <a:xfrm>
            <a:off x="3200400" y="1539876"/>
            <a:ext cx="1435825" cy="1050924"/>
          </a:xfrm>
          <a:prstGeom prst="bentConnector4">
            <a:avLst>
              <a:gd name="adj1" fmla="val 45611"/>
              <a:gd name="adj2" fmla="val -61"/>
            </a:avLst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16"/>
          <p:cNvSpPr>
            <a:spLocks/>
          </p:cNvSpPr>
          <p:nvPr/>
        </p:nvSpPr>
        <p:spPr bwMode="auto">
          <a:xfrm rot="5400000" flipH="1">
            <a:off x="4510179" y="-1333729"/>
            <a:ext cx="252093" cy="8101151"/>
          </a:xfrm>
          <a:prstGeom prst="rightBrace">
            <a:avLst>
              <a:gd name="adj1" fmla="val 22917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Rounded Rectangle 43"/>
          <p:cNvSpPr/>
          <p:nvPr/>
        </p:nvSpPr>
        <p:spPr>
          <a:xfrm>
            <a:off x="533400" y="3194106"/>
            <a:ext cx="8153400" cy="84449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65509" y="112454"/>
            <a:ext cx="5869781" cy="822843"/>
            <a:chOff x="513133" y="309140"/>
            <a:chExt cx="5869781" cy="822843"/>
          </a:xfrm>
        </p:grpSpPr>
        <p:grpSp>
          <p:nvGrpSpPr>
            <p:cNvPr id="49" name="Group 48"/>
            <p:cNvGrpSpPr/>
            <p:nvPr/>
          </p:nvGrpSpPr>
          <p:grpSpPr>
            <a:xfrm>
              <a:off x="513133" y="309140"/>
              <a:ext cx="5869781" cy="822410"/>
              <a:chOff x="530225" y="1415965"/>
              <a:chExt cx="5869781" cy="822410"/>
            </a:xfrm>
          </p:grpSpPr>
          <p:grpSp>
            <p:nvGrpSpPr>
              <p:cNvPr id="50" name="Group 49"/>
              <p:cNvGrpSpPr/>
              <p:nvPr/>
            </p:nvGrpSpPr>
            <p:grpSpPr>
              <a:xfrm>
                <a:off x="530225" y="1415965"/>
                <a:ext cx="5869781" cy="822410"/>
                <a:chOff x="530225" y="1415965"/>
                <a:chExt cx="5869781" cy="822410"/>
              </a:xfrm>
            </p:grpSpPr>
            <p:sp>
              <p:nvSpPr>
                <p:cNvPr id="52" name="Rectangle 24" descr="Sphere"/>
                <p:cNvSpPr>
                  <a:spLocks noChangeArrowheads="1"/>
                </p:cNvSpPr>
                <p:nvPr/>
              </p:nvSpPr>
              <p:spPr bwMode="auto">
                <a:xfrm>
                  <a:off x="2968625" y="1415965"/>
                  <a:ext cx="3431381" cy="822410"/>
                </a:xfrm>
                <a:prstGeom prst="rect">
                  <a:avLst/>
                </a:prstGeom>
                <a:pattFill prst="sphere">
                  <a:fgClr>
                    <a:srgbClr val="E8FFD1"/>
                  </a:fgClr>
                  <a:bgClr>
                    <a:srgbClr val="FFFFFF"/>
                  </a:bgClr>
                </a:pattFill>
                <a:ln w="19050" algn="ctr">
                  <a:solidFill>
                    <a:srgbClr val="0080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Rectangle 34" descr="Large checker board"/>
                <p:cNvSpPr>
                  <a:spLocks noChangeArrowheads="1"/>
                </p:cNvSpPr>
                <p:nvPr/>
              </p:nvSpPr>
              <p:spPr bwMode="auto">
                <a:xfrm>
                  <a:off x="987425" y="1415965"/>
                  <a:ext cx="990600" cy="822410"/>
                </a:xfrm>
                <a:prstGeom prst="rect">
                  <a:avLst/>
                </a:prstGeom>
                <a:pattFill prst="lgCheck">
                  <a:fgClr>
                    <a:schemeClr val="accent2">
                      <a:lumMod val="20000"/>
                      <a:lumOff val="80000"/>
                    </a:schemeClr>
                  </a:fgClr>
                  <a:bgClr>
                    <a:schemeClr val="bg1"/>
                  </a:bgClr>
                </a:pattFill>
                <a:ln w="19050" algn="ctr">
                  <a:solidFill>
                    <a:schemeClr val="accent2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lIns="91434" tIns="45717" rIns="91434" bIns="45717" anchor="ctr"/>
                <a:lstStyle/>
                <a:p>
                  <a:pPr algn="ctr"/>
                  <a:r>
                    <a:rPr lang="en-US" altLang="en-US" sz="2800" b="1" dirty="0">
                      <a:solidFill>
                        <a:srgbClr val="C00000"/>
                      </a:solidFill>
                      <a:latin typeface="Courier New" panose="02070309020205020404" pitchFamily="49" charset="0"/>
                    </a:rPr>
                    <a:t>FAT</a:t>
                  </a:r>
                </a:p>
              </p:txBody>
            </p:sp>
            <p:sp>
              <p:nvSpPr>
                <p:cNvPr id="54" name="Rectangle 35" descr="Outlined diamond"/>
                <p:cNvSpPr>
                  <a:spLocks noChangeArrowheads="1"/>
                </p:cNvSpPr>
                <p:nvPr/>
              </p:nvSpPr>
              <p:spPr bwMode="auto">
                <a:xfrm>
                  <a:off x="1978025" y="1415965"/>
                  <a:ext cx="990600" cy="82241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algn="ctr">
                  <a:solidFill>
                    <a:schemeClr val="tx2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wrap="none" lIns="91434" tIns="45717" rIns="91434" bIns="45717"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FAT</a:t>
                  </a:r>
                </a:p>
                <a:p>
                  <a:pPr algn="ctr"/>
                  <a:r>
                    <a:rPr lang="en-US" altLang="en-US" sz="1200" b="1" dirty="0">
                      <a:latin typeface="Courier New" panose="02070309020205020404" pitchFamily="49" charset="0"/>
                    </a:rPr>
                    <a:t>Duplicate</a:t>
                  </a:r>
                </a:p>
              </p:txBody>
            </p:sp>
            <p:sp>
              <p:nvSpPr>
                <p:cNvPr id="55" name="Rectangle 37"/>
                <p:cNvSpPr>
                  <a:spLocks noChangeArrowheads="1"/>
                </p:cNvSpPr>
                <p:nvPr/>
              </p:nvSpPr>
              <p:spPr bwMode="auto">
                <a:xfrm>
                  <a:off x="530225" y="1415965"/>
                  <a:ext cx="457200" cy="82241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algn="ctr">
                  <a:solidFill>
                    <a:schemeClr val="tx2"/>
                  </a:solidFill>
                  <a:miter lim="800000"/>
                  <a:headEnd/>
                  <a:tailEnd type="none" w="lg" len="lg"/>
                </a:ln>
                <a:effectLst/>
              </p:spPr>
              <p:txBody>
                <a:bodyPr vert="vert270" wrap="none" anchor="ctr"/>
                <a:lstStyle/>
                <a:p>
                  <a:pPr algn="ctr"/>
                  <a:r>
                    <a:rPr lang="en-US" b="1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Boot</a:t>
                  </a:r>
                </a:p>
              </p:txBody>
            </p:sp>
          </p:grpSp>
          <p:sp>
            <p:nvSpPr>
              <p:cNvPr id="51" name="Text Box 23"/>
              <p:cNvSpPr txBox="1">
                <a:spLocks noChangeArrowheads="1"/>
              </p:cNvSpPr>
              <p:nvPr/>
            </p:nvSpPr>
            <p:spPr bwMode="auto">
              <a:xfrm>
                <a:off x="4870052" y="1667279"/>
                <a:ext cx="1528763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data blocks</a:t>
                </a:r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2951533" y="309140"/>
              <a:ext cx="1828800" cy="822843"/>
              <a:chOff x="2951533" y="309140"/>
              <a:chExt cx="1828800" cy="822843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3865933" y="309573"/>
                <a:ext cx="914400" cy="822410"/>
                <a:chOff x="3959225" y="1415965"/>
                <a:chExt cx="914400" cy="822410"/>
              </a:xfrm>
            </p:grpSpPr>
            <p:sp>
              <p:nvSpPr>
                <p:cNvPr id="63" name="Rectangle 20" descr="Sphere"/>
                <p:cNvSpPr>
                  <a:spLocks noChangeArrowheads="1"/>
                </p:cNvSpPr>
                <p:nvPr/>
              </p:nvSpPr>
              <p:spPr bwMode="auto">
                <a:xfrm>
                  <a:off x="3959225" y="1415965"/>
                  <a:ext cx="228600" cy="822410"/>
                </a:xfrm>
                <a:prstGeom prst="rect">
                  <a:avLst/>
                </a:prstGeom>
                <a:pattFill prst="sphere">
                  <a:fgClr>
                    <a:srgbClr val="E8FFD1"/>
                  </a:fgClr>
                  <a:bgClr>
                    <a:srgbClr val="FFFFFF"/>
                  </a:bgClr>
                </a:pattFill>
                <a:ln w="19050" algn="ctr">
                  <a:solidFill>
                    <a:srgbClr val="0080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Rectangle 21" descr="Sphere"/>
                <p:cNvSpPr>
                  <a:spLocks noChangeArrowheads="1"/>
                </p:cNvSpPr>
                <p:nvPr/>
              </p:nvSpPr>
              <p:spPr bwMode="auto">
                <a:xfrm>
                  <a:off x="4187825" y="1415965"/>
                  <a:ext cx="228600" cy="822410"/>
                </a:xfrm>
                <a:prstGeom prst="rect">
                  <a:avLst/>
                </a:prstGeom>
                <a:pattFill prst="sphere">
                  <a:fgClr>
                    <a:srgbClr val="E8FFD1"/>
                  </a:fgClr>
                  <a:bgClr>
                    <a:srgbClr val="FFFFFF"/>
                  </a:bgClr>
                </a:pattFill>
                <a:ln w="19050" algn="ctr">
                  <a:solidFill>
                    <a:srgbClr val="0080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Rectangle 20" descr="Sphere"/>
                <p:cNvSpPr>
                  <a:spLocks noChangeArrowheads="1"/>
                </p:cNvSpPr>
                <p:nvPr/>
              </p:nvSpPr>
              <p:spPr bwMode="auto">
                <a:xfrm>
                  <a:off x="4416425" y="1415965"/>
                  <a:ext cx="228600" cy="822410"/>
                </a:xfrm>
                <a:prstGeom prst="rect">
                  <a:avLst/>
                </a:prstGeom>
                <a:pattFill prst="sphere">
                  <a:fgClr>
                    <a:srgbClr val="E8FFD1"/>
                  </a:fgClr>
                  <a:bgClr>
                    <a:srgbClr val="FFFFFF"/>
                  </a:bgClr>
                </a:pattFill>
                <a:ln w="19050" algn="ctr">
                  <a:solidFill>
                    <a:srgbClr val="0080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Rectangle 21" descr="Sphere"/>
                <p:cNvSpPr>
                  <a:spLocks noChangeArrowheads="1"/>
                </p:cNvSpPr>
                <p:nvPr/>
              </p:nvSpPr>
              <p:spPr bwMode="auto">
                <a:xfrm>
                  <a:off x="4645025" y="1415965"/>
                  <a:ext cx="228600" cy="822410"/>
                </a:xfrm>
                <a:prstGeom prst="rect">
                  <a:avLst/>
                </a:prstGeom>
                <a:pattFill prst="sphere">
                  <a:fgClr>
                    <a:srgbClr val="E8FFD1"/>
                  </a:fgClr>
                  <a:bgClr>
                    <a:srgbClr val="FFFFFF"/>
                  </a:bgClr>
                </a:pattFill>
                <a:ln w="19050" algn="ctr">
                  <a:solidFill>
                    <a:srgbClr val="0080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8" name="Group 57"/>
              <p:cNvGrpSpPr/>
              <p:nvPr/>
            </p:nvGrpSpPr>
            <p:grpSpPr>
              <a:xfrm>
                <a:off x="2951533" y="309140"/>
                <a:ext cx="914400" cy="822410"/>
                <a:chOff x="3959225" y="1415965"/>
                <a:chExt cx="914400" cy="822410"/>
              </a:xfrm>
            </p:grpSpPr>
            <p:sp>
              <p:nvSpPr>
                <p:cNvPr id="59" name="Rectangle 20" descr="Sphere"/>
                <p:cNvSpPr>
                  <a:spLocks noChangeArrowheads="1"/>
                </p:cNvSpPr>
                <p:nvPr/>
              </p:nvSpPr>
              <p:spPr bwMode="auto">
                <a:xfrm>
                  <a:off x="3959225" y="1415965"/>
                  <a:ext cx="228600" cy="822410"/>
                </a:xfrm>
                <a:prstGeom prst="rect">
                  <a:avLst/>
                </a:prstGeom>
                <a:pattFill prst="sphere">
                  <a:fgClr>
                    <a:srgbClr val="E8FFD1"/>
                  </a:fgClr>
                  <a:bgClr>
                    <a:srgbClr val="FFFFFF"/>
                  </a:bgClr>
                </a:pattFill>
                <a:ln w="19050" algn="ctr">
                  <a:solidFill>
                    <a:srgbClr val="0080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Rectangle 21" descr="Sphere"/>
                <p:cNvSpPr>
                  <a:spLocks noChangeArrowheads="1"/>
                </p:cNvSpPr>
                <p:nvPr/>
              </p:nvSpPr>
              <p:spPr bwMode="auto">
                <a:xfrm>
                  <a:off x="4187825" y="1415965"/>
                  <a:ext cx="228600" cy="822410"/>
                </a:xfrm>
                <a:prstGeom prst="rect">
                  <a:avLst/>
                </a:prstGeom>
                <a:pattFill prst="sphere">
                  <a:fgClr>
                    <a:srgbClr val="E8FFD1"/>
                  </a:fgClr>
                  <a:bgClr>
                    <a:srgbClr val="FFFFFF"/>
                  </a:bgClr>
                </a:pattFill>
                <a:ln w="19050" algn="ctr">
                  <a:solidFill>
                    <a:srgbClr val="0080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Rectangle 20" descr="Sphere"/>
                <p:cNvSpPr>
                  <a:spLocks noChangeArrowheads="1"/>
                </p:cNvSpPr>
                <p:nvPr/>
              </p:nvSpPr>
              <p:spPr bwMode="auto">
                <a:xfrm>
                  <a:off x="4416425" y="1415965"/>
                  <a:ext cx="228600" cy="822410"/>
                </a:xfrm>
                <a:prstGeom prst="rect">
                  <a:avLst/>
                </a:prstGeom>
                <a:pattFill prst="sphere">
                  <a:fgClr>
                    <a:srgbClr val="E8FFD1"/>
                  </a:fgClr>
                  <a:bgClr>
                    <a:srgbClr val="FFFFFF"/>
                  </a:bgClr>
                </a:pattFill>
                <a:ln w="19050" algn="ctr">
                  <a:solidFill>
                    <a:srgbClr val="0080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Rectangle 21" descr="Sphere"/>
                <p:cNvSpPr>
                  <a:spLocks noChangeArrowheads="1"/>
                </p:cNvSpPr>
                <p:nvPr/>
              </p:nvSpPr>
              <p:spPr bwMode="auto">
                <a:xfrm>
                  <a:off x="4645025" y="1415965"/>
                  <a:ext cx="228600" cy="822410"/>
                </a:xfrm>
                <a:prstGeom prst="rect">
                  <a:avLst/>
                </a:prstGeom>
                <a:pattFill prst="sphere">
                  <a:fgClr>
                    <a:srgbClr val="E8FFD1"/>
                  </a:fgClr>
                  <a:bgClr>
                    <a:srgbClr val="FFFFFF"/>
                  </a:bgClr>
                </a:pattFill>
                <a:ln w="19050" algn="ctr">
                  <a:solidFill>
                    <a:srgbClr val="0080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446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1" grpId="0" animBg="1"/>
      <p:bldP spid="1134596" grpId="0" animBg="1"/>
      <p:bldP spid="1134597" grpId="0" animBg="1"/>
      <p:bldP spid="1134598" grpId="0" animBg="1"/>
      <p:bldP spid="1134599" grpId="0" animBg="1"/>
      <p:bldP spid="1134601" grpId="0" animBg="1"/>
      <p:bldP spid="1134602" grpId="0" animBg="1"/>
      <p:bldP spid="1134603" grpId="0" animBg="1"/>
      <p:bldP spid="1134604" grpId="0" animBg="1"/>
      <p:bldP spid="1134605" grpId="0" animBg="1"/>
      <p:bldP spid="1134606" grpId="0" animBg="1"/>
      <p:bldP spid="1134607" grpId="0" animBg="1"/>
      <p:bldP spid="1134608" grpId="0" animBg="1"/>
      <p:bldP spid="1134609" grpId="0" animBg="1"/>
      <p:bldP spid="1134610" grpId="0" animBg="1"/>
      <p:bldP spid="1134611" grpId="0"/>
      <p:bldP spid="1134612" grpId="0"/>
      <p:bldP spid="1134613" grpId="0"/>
      <p:bldP spid="1134614" grpId="0"/>
      <p:bldP spid="1134615" grpId="0"/>
      <p:bldP spid="1134616" grpId="0"/>
      <p:bldP spid="1134617" grpId="0"/>
      <p:bldP spid="1134618" grpId="0"/>
      <p:bldP spid="29" grpId="0" animBg="1"/>
      <p:bldP spid="32" grpId="0"/>
      <p:bldP spid="37" grpId="0" animBg="1"/>
      <p:bldP spid="4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Entry Fields</a:t>
            </a:r>
          </a:p>
        </p:txBody>
      </p:sp>
      <p:sp>
        <p:nvSpPr>
          <p:cNvPr id="1135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File Name + Extension</a:t>
            </a:r>
          </a:p>
          <a:p>
            <a:pPr lvl="1"/>
            <a:r>
              <a:rPr lang="en-US" altLang="en-US" dirty="0"/>
              <a:t>Limited to 8+3 characters</a:t>
            </a:r>
          </a:p>
          <a:p>
            <a:pPr lvl="1"/>
            <a:r>
              <a:rPr lang="en-US" altLang="en-US" dirty="0"/>
              <a:t>The first byte of file name may have special meaning:</a:t>
            </a:r>
          </a:p>
          <a:p>
            <a:pPr lvl="2"/>
            <a:r>
              <a:rPr lang="en-US" altLang="en-US" dirty="0"/>
              <a:t> Deleted, End of directory entries, Parent directory, etc.</a:t>
            </a:r>
          </a:p>
          <a:p>
            <a:r>
              <a:rPr lang="en-US" altLang="en-US" dirty="0"/>
              <a:t>File Creation Time and Date:</a:t>
            </a:r>
          </a:p>
          <a:p>
            <a:pPr lvl="1"/>
            <a:r>
              <a:rPr lang="en-US" altLang="en-US" dirty="0"/>
              <a:t>Year is limited to 1980 to 2107</a:t>
            </a:r>
          </a:p>
          <a:p>
            <a:pPr lvl="1"/>
            <a:r>
              <a:rPr lang="en-US" altLang="en-US" dirty="0"/>
              <a:t>Accuracy of second is </a:t>
            </a:r>
            <a:r>
              <a:rPr lang="en-US" altLang="en-US" dirty="0">
                <a:cs typeface="Arial" panose="020B0604020202020204" pitchFamily="34" charset="0"/>
              </a:rPr>
              <a:t>±2 seconds</a:t>
            </a:r>
          </a:p>
          <a:p>
            <a:r>
              <a:rPr lang="en-US" altLang="en-US" dirty="0"/>
              <a:t>First Disk Block Index:</a:t>
            </a:r>
          </a:p>
          <a:p>
            <a:pPr lvl="1"/>
            <a:r>
              <a:rPr lang="en-US" altLang="en-US" dirty="0"/>
              <a:t>Different variants uses different number of bits:</a:t>
            </a:r>
          </a:p>
          <a:p>
            <a:pPr lvl="2"/>
            <a:r>
              <a:rPr lang="en-US" altLang="en-US" dirty="0"/>
              <a:t>12, 16 and 32 bits for FAT12, FAT16 and FAT32 respectively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067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7162800" y="1066800"/>
            <a:ext cx="1676400" cy="5588601"/>
            <a:chOff x="7162800" y="1066800"/>
            <a:chExt cx="1676400" cy="5588601"/>
          </a:xfrm>
        </p:grpSpPr>
        <p:sp>
          <p:nvSpPr>
            <p:cNvPr id="1132602" name="Rectangle 58"/>
            <p:cNvSpPr>
              <a:spLocks noChangeArrowheads="1"/>
            </p:cNvSpPr>
            <p:nvPr/>
          </p:nvSpPr>
          <p:spPr bwMode="auto">
            <a:xfrm>
              <a:off x="7700963" y="1066800"/>
              <a:ext cx="457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03" name="Text Box 59"/>
            <p:cNvSpPr txBox="1">
              <a:spLocks noChangeArrowheads="1"/>
            </p:cNvSpPr>
            <p:nvPr/>
          </p:nvSpPr>
          <p:spPr bwMode="auto">
            <a:xfrm>
              <a:off x="7391400" y="1066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1132604" name="Rectangle 60"/>
            <p:cNvSpPr>
              <a:spLocks noChangeArrowheads="1"/>
            </p:cNvSpPr>
            <p:nvPr/>
          </p:nvSpPr>
          <p:spPr bwMode="auto">
            <a:xfrm>
              <a:off x="7700963" y="1447800"/>
              <a:ext cx="4572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05" name="Text Box 61"/>
            <p:cNvSpPr txBox="1">
              <a:spLocks noChangeArrowheads="1"/>
            </p:cNvSpPr>
            <p:nvPr/>
          </p:nvSpPr>
          <p:spPr bwMode="auto">
            <a:xfrm>
              <a:off x="7391400" y="1447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1132606" name="Rectangle 62"/>
            <p:cNvSpPr>
              <a:spLocks noChangeArrowheads="1"/>
            </p:cNvSpPr>
            <p:nvPr/>
          </p:nvSpPr>
          <p:spPr bwMode="auto">
            <a:xfrm>
              <a:off x="7700963" y="1828800"/>
              <a:ext cx="457200" cy="381000"/>
            </a:xfrm>
            <a:prstGeom prst="rect">
              <a:avLst/>
            </a:prstGeom>
            <a:solidFill>
              <a:srgbClr val="FFFF99"/>
            </a:solidFill>
            <a:ln w="19050" algn="ctr">
              <a:solidFill>
                <a:srgbClr val="CC99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07" name="Text Box 63"/>
            <p:cNvSpPr txBox="1">
              <a:spLocks noChangeArrowheads="1"/>
            </p:cNvSpPr>
            <p:nvPr/>
          </p:nvSpPr>
          <p:spPr bwMode="auto">
            <a:xfrm>
              <a:off x="7391400" y="1828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1132608" name="Rectangle 64"/>
            <p:cNvSpPr>
              <a:spLocks noChangeArrowheads="1"/>
            </p:cNvSpPr>
            <p:nvPr/>
          </p:nvSpPr>
          <p:spPr bwMode="auto">
            <a:xfrm>
              <a:off x="7700963" y="2209800"/>
              <a:ext cx="457200" cy="381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rgbClr val="00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09" name="Text Box 65"/>
            <p:cNvSpPr txBox="1">
              <a:spLocks noChangeArrowheads="1"/>
            </p:cNvSpPr>
            <p:nvPr/>
          </p:nvSpPr>
          <p:spPr bwMode="auto">
            <a:xfrm>
              <a:off x="7391400" y="2209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1132610" name="Rectangle 66"/>
            <p:cNvSpPr>
              <a:spLocks noChangeArrowheads="1"/>
            </p:cNvSpPr>
            <p:nvPr/>
          </p:nvSpPr>
          <p:spPr bwMode="auto">
            <a:xfrm>
              <a:off x="7700963" y="2590800"/>
              <a:ext cx="457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11" name="Text Box 67"/>
            <p:cNvSpPr txBox="1">
              <a:spLocks noChangeArrowheads="1"/>
            </p:cNvSpPr>
            <p:nvPr/>
          </p:nvSpPr>
          <p:spPr bwMode="auto">
            <a:xfrm>
              <a:off x="7391400" y="2590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1132612" name="Rectangle 68"/>
            <p:cNvSpPr>
              <a:spLocks noChangeArrowheads="1"/>
            </p:cNvSpPr>
            <p:nvPr/>
          </p:nvSpPr>
          <p:spPr bwMode="auto">
            <a:xfrm>
              <a:off x="7700963" y="2971800"/>
              <a:ext cx="457200" cy="381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rgbClr val="00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13" name="Text Box 69"/>
            <p:cNvSpPr txBox="1">
              <a:spLocks noChangeArrowheads="1"/>
            </p:cNvSpPr>
            <p:nvPr/>
          </p:nvSpPr>
          <p:spPr bwMode="auto">
            <a:xfrm>
              <a:off x="7391400" y="2971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5</a:t>
              </a:r>
            </a:p>
          </p:txBody>
        </p:sp>
        <p:sp>
          <p:nvSpPr>
            <p:cNvPr id="1132614" name="Rectangle 70"/>
            <p:cNvSpPr>
              <a:spLocks noChangeArrowheads="1"/>
            </p:cNvSpPr>
            <p:nvPr/>
          </p:nvSpPr>
          <p:spPr bwMode="auto">
            <a:xfrm>
              <a:off x="7700963" y="3352800"/>
              <a:ext cx="457200" cy="381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rgbClr val="0033CC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15" name="Text Box 71"/>
            <p:cNvSpPr txBox="1">
              <a:spLocks noChangeArrowheads="1"/>
            </p:cNvSpPr>
            <p:nvPr/>
          </p:nvSpPr>
          <p:spPr bwMode="auto">
            <a:xfrm>
              <a:off x="7391400" y="3352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6</a:t>
              </a:r>
            </a:p>
          </p:txBody>
        </p:sp>
        <p:sp>
          <p:nvSpPr>
            <p:cNvPr id="1132616" name="Rectangle 72"/>
            <p:cNvSpPr>
              <a:spLocks noChangeArrowheads="1"/>
            </p:cNvSpPr>
            <p:nvPr/>
          </p:nvSpPr>
          <p:spPr bwMode="auto">
            <a:xfrm>
              <a:off x="7700963" y="3733800"/>
              <a:ext cx="457200" cy="381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rgbClr val="0033CC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17" name="Text Box 73"/>
            <p:cNvSpPr txBox="1">
              <a:spLocks noChangeArrowheads="1"/>
            </p:cNvSpPr>
            <p:nvPr/>
          </p:nvSpPr>
          <p:spPr bwMode="auto">
            <a:xfrm>
              <a:off x="7391400" y="3733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7</a:t>
              </a:r>
            </a:p>
          </p:txBody>
        </p:sp>
        <p:sp>
          <p:nvSpPr>
            <p:cNvPr id="1132634" name="Rectangle 90"/>
            <p:cNvSpPr>
              <a:spLocks noChangeArrowheads="1"/>
            </p:cNvSpPr>
            <p:nvPr/>
          </p:nvSpPr>
          <p:spPr bwMode="auto">
            <a:xfrm>
              <a:off x="7700963" y="4114800"/>
              <a:ext cx="457200" cy="381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rgbClr val="00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35" name="Text Box 91"/>
            <p:cNvSpPr txBox="1">
              <a:spLocks noChangeArrowheads="1"/>
            </p:cNvSpPr>
            <p:nvPr/>
          </p:nvSpPr>
          <p:spPr bwMode="auto">
            <a:xfrm>
              <a:off x="7391400" y="4114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8</a:t>
              </a:r>
            </a:p>
          </p:txBody>
        </p:sp>
        <p:sp>
          <p:nvSpPr>
            <p:cNvPr id="1132636" name="Rectangle 92"/>
            <p:cNvSpPr>
              <a:spLocks noChangeArrowheads="1"/>
            </p:cNvSpPr>
            <p:nvPr/>
          </p:nvSpPr>
          <p:spPr bwMode="auto">
            <a:xfrm>
              <a:off x="7700963" y="4495800"/>
              <a:ext cx="457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37" name="Text Box 93"/>
            <p:cNvSpPr txBox="1">
              <a:spLocks noChangeArrowheads="1"/>
            </p:cNvSpPr>
            <p:nvPr/>
          </p:nvSpPr>
          <p:spPr bwMode="auto">
            <a:xfrm>
              <a:off x="7391400" y="4495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9</a:t>
              </a:r>
            </a:p>
          </p:txBody>
        </p:sp>
        <p:sp>
          <p:nvSpPr>
            <p:cNvPr id="1132638" name="Rectangle 94"/>
            <p:cNvSpPr>
              <a:spLocks noChangeArrowheads="1"/>
            </p:cNvSpPr>
            <p:nvPr/>
          </p:nvSpPr>
          <p:spPr bwMode="auto">
            <a:xfrm>
              <a:off x="7700963" y="4876800"/>
              <a:ext cx="457200" cy="1066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40" name="Text Box 96"/>
            <p:cNvSpPr txBox="1">
              <a:spLocks noChangeArrowheads="1"/>
            </p:cNvSpPr>
            <p:nvPr/>
          </p:nvSpPr>
          <p:spPr bwMode="auto">
            <a:xfrm>
              <a:off x="7162800" y="6019800"/>
              <a:ext cx="1676400" cy="63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0815" tIns="40407" rIns="80815" bIns="40407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b="1" dirty="0">
                  <a:solidFill>
                    <a:srgbClr val="C00000"/>
                  </a:solidFill>
                </a:rPr>
                <a:t>Data Blocks</a:t>
              </a:r>
            </a:p>
            <a:p>
              <a:pPr algn="ctr"/>
              <a:r>
                <a:rPr lang="en-US" altLang="en-US" b="1" dirty="0"/>
                <a:t>(in Disk)</a:t>
              </a:r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FAT FS</a:t>
            </a:r>
            <a:r>
              <a:rPr lang="en-US" dirty="0"/>
              <a:t>: Putting the parts together…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  <p:grpSp>
        <p:nvGrpSpPr>
          <p:cNvPr id="69" name="Group 68"/>
          <p:cNvGrpSpPr/>
          <p:nvPr/>
        </p:nvGrpSpPr>
        <p:grpSpPr>
          <a:xfrm>
            <a:off x="565419" y="304800"/>
            <a:ext cx="5869781" cy="822410"/>
            <a:chOff x="530225" y="1415965"/>
            <a:chExt cx="5869781" cy="822410"/>
          </a:xfrm>
        </p:grpSpPr>
        <p:grpSp>
          <p:nvGrpSpPr>
            <p:cNvPr id="70" name="Group 69"/>
            <p:cNvGrpSpPr/>
            <p:nvPr/>
          </p:nvGrpSpPr>
          <p:grpSpPr>
            <a:xfrm>
              <a:off x="530225" y="1415965"/>
              <a:ext cx="5869781" cy="822410"/>
              <a:chOff x="530225" y="1415965"/>
              <a:chExt cx="5869781" cy="822410"/>
            </a:xfrm>
          </p:grpSpPr>
          <p:sp>
            <p:nvSpPr>
              <p:cNvPr id="72" name="Rectangle 24" descr="Sphere"/>
              <p:cNvSpPr>
                <a:spLocks noChangeArrowheads="1"/>
              </p:cNvSpPr>
              <p:nvPr/>
            </p:nvSpPr>
            <p:spPr bwMode="auto">
              <a:xfrm>
                <a:off x="3959225" y="1415965"/>
                <a:ext cx="2440781" cy="822410"/>
              </a:xfrm>
              <a:prstGeom prst="rect">
                <a:avLst/>
              </a:prstGeom>
              <a:pattFill prst="sphere">
                <a:fgClr>
                  <a:srgbClr val="E8FFD1"/>
                </a:fgClr>
                <a:bgClr>
                  <a:srgbClr val="FFFFFF"/>
                </a:bgClr>
              </a:patt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Rectangle 34" descr="Large checker board"/>
              <p:cNvSpPr>
                <a:spLocks noChangeArrowheads="1"/>
              </p:cNvSpPr>
              <p:nvPr/>
            </p:nvSpPr>
            <p:spPr bwMode="auto">
              <a:xfrm>
                <a:off x="987425" y="1415965"/>
                <a:ext cx="990600" cy="822410"/>
              </a:xfrm>
              <a:prstGeom prst="rect">
                <a:avLst/>
              </a:prstGeom>
              <a:pattFill prst="lgCheck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9050" algn="ctr">
                <a:solidFill>
                  <a:schemeClr val="accent2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800" b="1" dirty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FAT</a:t>
                </a:r>
              </a:p>
            </p:txBody>
          </p:sp>
          <p:sp>
            <p:nvSpPr>
              <p:cNvPr id="74" name="Rectangle 35" descr="Outlined diamond"/>
              <p:cNvSpPr>
                <a:spLocks noChangeArrowheads="1"/>
              </p:cNvSpPr>
              <p:nvPr/>
            </p:nvSpPr>
            <p:spPr bwMode="auto">
              <a:xfrm>
                <a:off x="1978025" y="1415965"/>
                <a:ext cx="990600" cy="8224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algn="ctr">
                <a:solidFill>
                  <a:schemeClr val="tx2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FAT</a:t>
                </a:r>
              </a:p>
              <a:p>
                <a:pPr algn="ctr"/>
                <a:r>
                  <a:rPr lang="en-US" altLang="en-US" sz="1200" b="1" dirty="0">
                    <a:latin typeface="Courier New" panose="02070309020205020404" pitchFamily="49" charset="0"/>
                  </a:rPr>
                  <a:t>Duplicate</a:t>
                </a:r>
              </a:p>
            </p:txBody>
          </p:sp>
          <p:sp>
            <p:nvSpPr>
              <p:cNvPr id="75" name="Rectangle 36" descr="Dashed upward diagonal"/>
              <p:cNvSpPr>
                <a:spLocks noChangeArrowheads="1"/>
              </p:cNvSpPr>
              <p:nvPr/>
            </p:nvSpPr>
            <p:spPr bwMode="auto">
              <a:xfrm>
                <a:off x="2968625" y="1415965"/>
                <a:ext cx="990600" cy="8224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algn="ctr">
                <a:solidFill>
                  <a:schemeClr val="tx2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root</a:t>
                </a:r>
              </a:p>
              <a:p>
                <a:pPr algn="ctr"/>
                <a:r>
                  <a:rPr lang="en-US" sz="14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directory</a:t>
                </a:r>
              </a:p>
            </p:txBody>
          </p:sp>
          <p:sp>
            <p:nvSpPr>
              <p:cNvPr id="76" name="Rectangle 37"/>
              <p:cNvSpPr>
                <a:spLocks noChangeArrowheads="1"/>
              </p:cNvSpPr>
              <p:nvPr/>
            </p:nvSpPr>
            <p:spPr bwMode="auto">
              <a:xfrm>
                <a:off x="530225" y="1415965"/>
                <a:ext cx="457200" cy="8224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algn="ctr">
                <a:solidFill>
                  <a:schemeClr val="tx2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vert="vert270" wrap="none" anchor="ctr"/>
              <a:lstStyle/>
              <a:p>
                <a:pPr algn="ctr"/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Boot</a:t>
                </a:r>
              </a:p>
            </p:txBody>
          </p:sp>
        </p:grpSp>
        <p:sp>
          <p:nvSpPr>
            <p:cNvPr id="71" name="Text Box 23"/>
            <p:cNvSpPr txBox="1">
              <a:spLocks noChangeArrowheads="1"/>
            </p:cNvSpPr>
            <p:nvPr/>
          </p:nvSpPr>
          <p:spPr bwMode="auto">
            <a:xfrm>
              <a:off x="4518193" y="1658895"/>
              <a:ext cx="1528763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data blocks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416370" y="1219200"/>
            <a:ext cx="1682805" cy="5436201"/>
            <a:chOff x="4416370" y="1219200"/>
            <a:chExt cx="1682805" cy="5436201"/>
          </a:xfrm>
        </p:grpSpPr>
        <p:grpSp>
          <p:nvGrpSpPr>
            <p:cNvPr id="5" name="Group 4"/>
            <p:cNvGrpSpPr/>
            <p:nvPr/>
          </p:nvGrpSpPr>
          <p:grpSpPr>
            <a:xfrm>
              <a:off x="4425950" y="1219200"/>
              <a:ext cx="1673225" cy="5436201"/>
              <a:chOff x="4425950" y="1219200"/>
              <a:chExt cx="1673225" cy="5436201"/>
            </a:xfrm>
          </p:grpSpPr>
          <p:sp>
            <p:nvSpPr>
              <p:cNvPr id="1132548" name="Rectangle 4"/>
              <p:cNvSpPr>
                <a:spLocks noChangeArrowheads="1"/>
              </p:cNvSpPr>
              <p:nvPr/>
            </p:nvSpPr>
            <p:spPr bwMode="auto">
              <a:xfrm>
                <a:off x="4724400" y="1219200"/>
                <a:ext cx="1371600" cy="4800600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550" name="Text Box 6"/>
              <p:cNvSpPr txBox="1">
                <a:spLocks noChangeArrowheads="1"/>
              </p:cNvSpPr>
              <p:nvPr/>
            </p:nvSpPr>
            <p:spPr bwMode="auto">
              <a:xfrm>
                <a:off x="4795370" y="6019800"/>
                <a:ext cx="1112186" cy="6356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404813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808038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2128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16160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0732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5304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9876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44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b="1" dirty="0">
                    <a:solidFill>
                      <a:srgbClr val="C00000"/>
                    </a:solidFill>
                  </a:rPr>
                  <a:t>FAT</a:t>
                </a:r>
              </a:p>
              <a:p>
                <a:pPr algn="ctr"/>
                <a:r>
                  <a:rPr lang="en-US" altLang="en-US" b="1" dirty="0"/>
                  <a:t>(in RAM)</a:t>
                </a:r>
              </a:p>
            </p:txBody>
          </p:sp>
          <p:sp>
            <p:nvSpPr>
              <p:cNvPr id="1132551" name="Rectangle 7"/>
              <p:cNvSpPr>
                <a:spLocks noChangeArrowheads="1"/>
              </p:cNvSpPr>
              <p:nvPr/>
            </p:nvSpPr>
            <p:spPr bwMode="auto">
              <a:xfrm>
                <a:off x="4725988" y="1219200"/>
                <a:ext cx="1373187" cy="381000"/>
              </a:xfrm>
              <a:prstGeom prst="rect">
                <a:avLst/>
              </a:prstGeom>
              <a:solidFill>
                <a:srgbClr val="FFEB97"/>
              </a:solidFill>
              <a:ln w="19050" algn="ctr">
                <a:solidFill>
                  <a:srgbClr val="CC99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555" name="Rectangle 11"/>
              <p:cNvSpPr>
                <a:spLocks noChangeArrowheads="1"/>
              </p:cNvSpPr>
              <p:nvPr/>
            </p:nvSpPr>
            <p:spPr bwMode="auto">
              <a:xfrm>
                <a:off x="4724400" y="1600200"/>
                <a:ext cx="1371600" cy="381000"/>
              </a:xfrm>
              <a:prstGeom prst="rect">
                <a:avLst/>
              </a:prstGeom>
              <a:solidFill>
                <a:srgbClr val="C0C0C0">
                  <a:alpha val="50000"/>
                </a:srgbClr>
              </a:solidFill>
              <a:ln w="19050" algn="ctr">
                <a:solidFill>
                  <a:srgbClr val="CC99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404813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808038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2128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16160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0732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5304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9876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44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b="1">
                    <a:solidFill>
                      <a:srgbClr val="800000"/>
                    </a:solidFill>
                  </a:rPr>
                  <a:t>BAD</a:t>
                </a:r>
              </a:p>
            </p:txBody>
          </p:sp>
          <p:sp>
            <p:nvSpPr>
              <p:cNvPr id="1132556" name="Rectangle 12"/>
              <p:cNvSpPr>
                <a:spLocks noChangeArrowheads="1"/>
              </p:cNvSpPr>
              <p:nvPr/>
            </p:nvSpPr>
            <p:spPr bwMode="auto">
              <a:xfrm>
                <a:off x="4724400" y="1981200"/>
                <a:ext cx="1371600" cy="381000"/>
              </a:xfrm>
              <a:prstGeom prst="rect">
                <a:avLst/>
              </a:prstGeom>
              <a:solidFill>
                <a:srgbClr val="FFFF99"/>
              </a:solidFill>
              <a:ln w="19050" algn="ctr">
                <a:solidFill>
                  <a:srgbClr val="CC99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solidFill>
                      <a:schemeClr val="tx2"/>
                    </a:solidFill>
                  </a:rPr>
                  <a:t>EOF</a:t>
                </a:r>
              </a:p>
            </p:txBody>
          </p:sp>
          <p:sp>
            <p:nvSpPr>
              <p:cNvPr id="1132557" name="Rectangle 13"/>
              <p:cNvSpPr>
                <a:spLocks noChangeArrowheads="1"/>
              </p:cNvSpPr>
              <p:nvPr/>
            </p:nvSpPr>
            <p:spPr bwMode="auto">
              <a:xfrm>
                <a:off x="4724400" y="2362200"/>
                <a:ext cx="1371600" cy="381000"/>
              </a:xfrm>
              <a:prstGeom prst="rect">
                <a:avLst/>
              </a:prstGeom>
              <a:solidFill>
                <a:srgbClr val="CCFFCC"/>
              </a:solid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400" b="1" dirty="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1132558" name="Rectangle 14"/>
              <p:cNvSpPr>
                <a:spLocks noChangeArrowheads="1"/>
              </p:cNvSpPr>
              <p:nvPr/>
            </p:nvSpPr>
            <p:spPr bwMode="auto">
              <a:xfrm>
                <a:off x="4724400" y="2743200"/>
                <a:ext cx="1371600" cy="381000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b="1">
                    <a:solidFill>
                      <a:srgbClr val="008000"/>
                    </a:solidFill>
                  </a:rPr>
                  <a:t>FREE</a:t>
                </a:r>
              </a:p>
            </p:txBody>
          </p:sp>
          <p:sp>
            <p:nvSpPr>
              <p:cNvPr id="1132559" name="Rectangle 15"/>
              <p:cNvSpPr>
                <a:spLocks noChangeArrowheads="1"/>
              </p:cNvSpPr>
              <p:nvPr/>
            </p:nvSpPr>
            <p:spPr bwMode="auto">
              <a:xfrm>
                <a:off x="4724400" y="3124200"/>
                <a:ext cx="1371600" cy="381000"/>
              </a:xfrm>
              <a:prstGeom prst="rect">
                <a:avLst/>
              </a:prstGeom>
              <a:solidFill>
                <a:srgbClr val="CCFFCC"/>
              </a:solid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400" b="1">
                    <a:latin typeface="Courier New" panose="02070309020205020404" pitchFamily="49" charset="0"/>
                  </a:rPr>
                  <a:t>8</a:t>
                </a:r>
              </a:p>
            </p:txBody>
          </p:sp>
          <p:sp>
            <p:nvSpPr>
              <p:cNvPr id="1132560" name="Rectangle 16"/>
              <p:cNvSpPr>
                <a:spLocks noChangeArrowheads="1"/>
              </p:cNvSpPr>
              <p:nvPr/>
            </p:nvSpPr>
            <p:spPr bwMode="auto">
              <a:xfrm>
                <a:off x="4724400" y="3505200"/>
                <a:ext cx="13716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rgbClr val="0033CC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400" b="1">
                    <a:latin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1132561" name="Rectangle 17"/>
              <p:cNvSpPr>
                <a:spLocks noChangeArrowheads="1"/>
              </p:cNvSpPr>
              <p:nvPr/>
            </p:nvSpPr>
            <p:spPr bwMode="auto">
              <a:xfrm>
                <a:off x="4724400" y="3886200"/>
                <a:ext cx="13716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rgbClr val="0033CC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solidFill>
                      <a:schemeClr val="tx2"/>
                    </a:solidFill>
                  </a:rPr>
                  <a:t>EOF</a:t>
                </a:r>
              </a:p>
            </p:txBody>
          </p:sp>
          <p:sp>
            <p:nvSpPr>
              <p:cNvPr id="1132562" name="Rectangle 18"/>
              <p:cNvSpPr>
                <a:spLocks noChangeArrowheads="1"/>
              </p:cNvSpPr>
              <p:nvPr/>
            </p:nvSpPr>
            <p:spPr bwMode="auto">
              <a:xfrm>
                <a:off x="4724400" y="4267200"/>
                <a:ext cx="1371600" cy="381000"/>
              </a:xfrm>
              <a:prstGeom prst="rect">
                <a:avLst/>
              </a:prstGeom>
              <a:solidFill>
                <a:srgbClr val="CCFFCC"/>
              </a:solid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solidFill>
                      <a:schemeClr val="tx2"/>
                    </a:solidFill>
                  </a:rPr>
                  <a:t>EOF</a:t>
                </a:r>
              </a:p>
            </p:txBody>
          </p:sp>
          <p:sp>
            <p:nvSpPr>
              <p:cNvPr id="1132563" name="Text Box 19"/>
              <p:cNvSpPr txBox="1">
                <a:spLocks noChangeArrowheads="1"/>
              </p:cNvSpPr>
              <p:nvPr/>
            </p:nvSpPr>
            <p:spPr bwMode="auto">
              <a:xfrm>
                <a:off x="4425950" y="1219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1132564" name="Text Box 20"/>
              <p:cNvSpPr txBox="1">
                <a:spLocks noChangeArrowheads="1"/>
              </p:cNvSpPr>
              <p:nvPr/>
            </p:nvSpPr>
            <p:spPr bwMode="auto">
              <a:xfrm>
                <a:off x="4425950" y="1600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1132565" name="Text Box 21"/>
              <p:cNvSpPr txBox="1">
                <a:spLocks noChangeArrowheads="1"/>
              </p:cNvSpPr>
              <p:nvPr/>
            </p:nvSpPr>
            <p:spPr bwMode="auto">
              <a:xfrm>
                <a:off x="4425950" y="1981200"/>
                <a:ext cx="295275" cy="346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1132566" name="Text Box 22"/>
              <p:cNvSpPr txBox="1">
                <a:spLocks noChangeArrowheads="1"/>
              </p:cNvSpPr>
              <p:nvPr/>
            </p:nvSpPr>
            <p:spPr bwMode="auto">
              <a:xfrm>
                <a:off x="4425950" y="2362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1132567" name="Text Box 23"/>
              <p:cNvSpPr txBox="1">
                <a:spLocks noChangeArrowheads="1"/>
              </p:cNvSpPr>
              <p:nvPr/>
            </p:nvSpPr>
            <p:spPr bwMode="auto">
              <a:xfrm>
                <a:off x="4425950" y="2743200"/>
                <a:ext cx="295275" cy="346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1132568" name="Text Box 24"/>
              <p:cNvSpPr txBox="1">
                <a:spLocks noChangeArrowheads="1"/>
              </p:cNvSpPr>
              <p:nvPr/>
            </p:nvSpPr>
            <p:spPr bwMode="auto">
              <a:xfrm>
                <a:off x="4425950" y="3124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1132569" name="Text Box 25"/>
              <p:cNvSpPr txBox="1">
                <a:spLocks noChangeArrowheads="1"/>
              </p:cNvSpPr>
              <p:nvPr/>
            </p:nvSpPr>
            <p:spPr bwMode="auto">
              <a:xfrm>
                <a:off x="4425950" y="3505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6</a:t>
                </a:r>
              </a:p>
            </p:txBody>
          </p:sp>
          <p:sp>
            <p:nvSpPr>
              <p:cNvPr id="1132570" name="Text Box 26"/>
              <p:cNvSpPr txBox="1">
                <a:spLocks noChangeArrowheads="1"/>
              </p:cNvSpPr>
              <p:nvPr/>
            </p:nvSpPr>
            <p:spPr bwMode="auto">
              <a:xfrm>
                <a:off x="4425950" y="3886200"/>
                <a:ext cx="295275" cy="346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1132571" name="Text Box 27"/>
              <p:cNvSpPr txBox="1">
                <a:spLocks noChangeArrowheads="1"/>
              </p:cNvSpPr>
              <p:nvPr/>
            </p:nvSpPr>
            <p:spPr bwMode="auto">
              <a:xfrm>
                <a:off x="4425950" y="4267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8</a:t>
                </a:r>
              </a:p>
            </p:txBody>
          </p:sp>
          <p:sp>
            <p:nvSpPr>
              <p:cNvPr id="1132572" name="Rectangle 28"/>
              <p:cNvSpPr>
                <a:spLocks noChangeArrowheads="1"/>
              </p:cNvSpPr>
              <p:nvPr/>
            </p:nvSpPr>
            <p:spPr bwMode="auto">
              <a:xfrm>
                <a:off x="4724400" y="4648200"/>
                <a:ext cx="1371600" cy="381000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b="1">
                    <a:solidFill>
                      <a:srgbClr val="008000"/>
                    </a:solidFill>
                  </a:rPr>
                  <a:t>FREE</a:t>
                </a:r>
              </a:p>
            </p:txBody>
          </p:sp>
          <p:sp>
            <p:nvSpPr>
              <p:cNvPr id="1132573" name="Rectangle 29"/>
              <p:cNvSpPr>
                <a:spLocks noChangeArrowheads="1"/>
              </p:cNvSpPr>
              <p:nvPr/>
            </p:nvSpPr>
            <p:spPr bwMode="auto">
              <a:xfrm>
                <a:off x="4724400" y="5029200"/>
                <a:ext cx="1371600" cy="990600"/>
              </a:xfrm>
              <a:prstGeom prst="rect">
                <a:avLst/>
              </a:prstGeom>
              <a:solidFill>
                <a:srgbClr val="FFEB97"/>
              </a:solidFill>
              <a:ln w="19050" algn="ctr">
                <a:solidFill>
                  <a:srgbClr val="CC99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/>
                  <a:t>…</a:t>
                </a:r>
              </a:p>
              <a:p>
                <a:pPr algn="ctr"/>
                <a:r>
                  <a:rPr lang="en-US" altLang="en-US"/>
                  <a:t>…</a:t>
                </a:r>
              </a:p>
              <a:p>
                <a:pPr algn="ctr"/>
                <a:r>
                  <a:rPr lang="en-US" altLang="en-US"/>
                  <a:t>…</a:t>
                </a:r>
              </a:p>
            </p:txBody>
          </p:sp>
        </p:grpSp>
        <p:sp>
          <p:nvSpPr>
            <p:cNvPr id="79" name="Text Box 27"/>
            <p:cNvSpPr txBox="1">
              <a:spLocks noChangeArrowheads="1"/>
            </p:cNvSpPr>
            <p:nvPr/>
          </p:nvSpPr>
          <p:spPr bwMode="auto">
            <a:xfrm>
              <a:off x="4416370" y="4664868"/>
              <a:ext cx="308086" cy="338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dirty="0">
                  <a:latin typeface="Courier New" panose="02070309020205020404" pitchFamily="49" charset="0"/>
                </a:rPr>
                <a:t>9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06425" y="2132012"/>
            <a:ext cx="2895600" cy="3390722"/>
            <a:chOff x="606425" y="2132012"/>
            <a:chExt cx="2895600" cy="3390722"/>
          </a:xfrm>
        </p:grpSpPr>
        <p:grpSp>
          <p:nvGrpSpPr>
            <p:cNvPr id="7" name="Group 6"/>
            <p:cNvGrpSpPr/>
            <p:nvPr/>
          </p:nvGrpSpPr>
          <p:grpSpPr>
            <a:xfrm>
              <a:off x="606425" y="2133600"/>
              <a:ext cx="2895600" cy="3389134"/>
              <a:chOff x="606425" y="2133600"/>
              <a:chExt cx="2895600" cy="3389134"/>
            </a:xfrm>
          </p:grpSpPr>
          <p:grpSp>
            <p:nvGrpSpPr>
              <p:cNvPr id="1132595" name="Group 51"/>
              <p:cNvGrpSpPr>
                <a:grpSpLocks/>
              </p:cNvGrpSpPr>
              <p:nvPr/>
            </p:nvGrpSpPr>
            <p:grpSpPr bwMode="auto">
              <a:xfrm>
                <a:off x="609600" y="2133600"/>
                <a:ext cx="2741613" cy="455613"/>
                <a:chOff x="528" y="1392"/>
                <a:chExt cx="1727" cy="383"/>
              </a:xfrm>
            </p:grpSpPr>
            <p:sp>
              <p:nvSpPr>
                <p:cNvPr id="1132577" name="Rectangle 33"/>
                <p:cNvSpPr>
                  <a:spLocks noChangeArrowheads="1"/>
                </p:cNvSpPr>
                <p:nvPr/>
              </p:nvSpPr>
              <p:spPr bwMode="auto">
                <a:xfrm>
                  <a:off x="528" y="1392"/>
                  <a:ext cx="1727" cy="383"/>
                </a:xfrm>
                <a:prstGeom prst="rect">
                  <a:avLst/>
                </a:prstGeom>
                <a:solidFill>
                  <a:srgbClr val="FFFFFF"/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2578" name="Rectangle 34"/>
                <p:cNvSpPr>
                  <a:spLocks noChangeArrowheads="1"/>
                </p:cNvSpPr>
                <p:nvPr/>
              </p:nvSpPr>
              <p:spPr bwMode="auto">
                <a:xfrm>
                  <a:off x="528" y="1392"/>
                  <a:ext cx="816" cy="38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 algn="ctr">
                  <a:solidFill>
                    <a:srgbClr val="3366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1434" tIns="45717" rIns="91434" bIns="45717" anchor="ctr"/>
                <a:lstStyle/>
                <a:p>
                  <a:pPr algn="ctr"/>
                  <a:r>
                    <a:rPr lang="en-US" altLang="en-US" sz="2400" b="1" dirty="0">
                      <a:solidFill>
                        <a:srgbClr val="0066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ourier New" panose="02070309020205020404" pitchFamily="49" charset="0"/>
                    </a:rPr>
                    <a:t>ex1.c</a:t>
                  </a:r>
                </a:p>
              </p:txBody>
            </p:sp>
            <p:sp>
              <p:nvSpPr>
                <p:cNvPr id="1132580" name="Rectangle 36"/>
                <p:cNvSpPr>
                  <a:spLocks noChangeArrowheads="1"/>
                </p:cNvSpPr>
                <p:nvPr/>
              </p:nvSpPr>
              <p:spPr bwMode="auto">
                <a:xfrm>
                  <a:off x="1776" y="1392"/>
                  <a:ext cx="240" cy="383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9050" algn="ctr">
                  <a:solidFill>
                    <a:srgbClr val="3366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1434" tIns="45717" rIns="91434" bIns="45717" anchor="ctr"/>
                <a:lstStyle/>
                <a:p>
                  <a:pPr algn="ctr"/>
                  <a:r>
                    <a:rPr lang="en-US" altLang="en-US" sz="20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ourier New" panose="02070309020205020404" pitchFamily="49" charset="0"/>
                    </a:rPr>
                    <a:t>3</a:t>
                  </a:r>
                </a:p>
              </p:txBody>
            </p:sp>
          </p:grpSp>
          <p:sp>
            <p:nvSpPr>
              <p:cNvPr id="1132587" name="Text Box 43"/>
              <p:cNvSpPr txBox="1">
                <a:spLocks noChangeArrowheads="1"/>
              </p:cNvSpPr>
              <p:nvPr/>
            </p:nvSpPr>
            <p:spPr bwMode="auto">
              <a:xfrm>
                <a:off x="606425" y="4876409"/>
                <a:ext cx="2895600" cy="6463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1434" tIns="45717" rIns="91434" bIns="45717">
                <a:spAutoFit/>
              </a:bodyPr>
              <a:lstStyle/>
              <a:p>
                <a:pPr algn="ctr"/>
                <a:r>
                  <a:rPr lang="en-US" altLang="en-US" b="1" dirty="0">
                    <a:solidFill>
                      <a:srgbClr val="C00000"/>
                    </a:solidFill>
                  </a:rPr>
                  <a:t>Directory Entries</a:t>
                </a:r>
              </a:p>
              <a:p>
                <a:pPr algn="ctr"/>
                <a:r>
                  <a:rPr lang="en-US" altLang="en-US" b="1" dirty="0"/>
                  <a:t>(in a Disk Data Block)</a:t>
                </a:r>
              </a:p>
            </p:txBody>
          </p:sp>
          <p:grpSp>
            <p:nvGrpSpPr>
              <p:cNvPr id="1132600" name="Group 56"/>
              <p:cNvGrpSpPr>
                <a:grpSpLocks/>
              </p:cNvGrpSpPr>
              <p:nvPr/>
            </p:nvGrpSpPr>
            <p:grpSpPr bwMode="auto">
              <a:xfrm>
                <a:off x="609600" y="2589213"/>
                <a:ext cx="2741613" cy="457200"/>
                <a:chOff x="528" y="1776"/>
                <a:chExt cx="1727" cy="383"/>
              </a:xfrm>
            </p:grpSpPr>
            <p:sp>
              <p:nvSpPr>
                <p:cNvPr id="1132589" name="Rectangle 45"/>
                <p:cNvSpPr>
                  <a:spLocks noChangeArrowheads="1"/>
                </p:cNvSpPr>
                <p:nvPr/>
              </p:nvSpPr>
              <p:spPr bwMode="auto">
                <a:xfrm>
                  <a:off x="528" y="1776"/>
                  <a:ext cx="1727" cy="383"/>
                </a:xfrm>
                <a:prstGeom prst="rect">
                  <a:avLst/>
                </a:prstGeom>
                <a:solidFill>
                  <a:srgbClr val="FFFFFF"/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2590" name="Rectangle 46"/>
                <p:cNvSpPr>
                  <a:spLocks noChangeArrowheads="1"/>
                </p:cNvSpPr>
                <p:nvPr/>
              </p:nvSpPr>
              <p:spPr bwMode="auto">
                <a:xfrm>
                  <a:off x="528" y="1776"/>
                  <a:ext cx="816" cy="38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 algn="ctr">
                  <a:solidFill>
                    <a:srgbClr val="3366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1434" tIns="45717" rIns="91434" bIns="45717" anchor="ctr"/>
                <a:lstStyle/>
                <a:p>
                  <a:pPr algn="ctr"/>
                  <a:r>
                    <a:rPr lang="en-US" altLang="en-US" sz="2400" b="1" dirty="0">
                      <a:solidFill>
                        <a:srgbClr val="0066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ourier New" panose="02070309020205020404" pitchFamily="49" charset="0"/>
                    </a:rPr>
                    <a:t>ex2.c</a:t>
                  </a:r>
                </a:p>
              </p:txBody>
            </p:sp>
            <p:sp>
              <p:nvSpPr>
                <p:cNvPr id="1132591" name="Rectangle 47"/>
                <p:cNvSpPr>
                  <a:spLocks noChangeArrowheads="1"/>
                </p:cNvSpPr>
                <p:nvPr/>
              </p:nvSpPr>
              <p:spPr bwMode="auto">
                <a:xfrm>
                  <a:off x="1776" y="1776"/>
                  <a:ext cx="240" cy="383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9050" algn="ctr">
                  <a:solidFill>
                    <a:srgbClr val="3366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1434" tIns="45717" rIns="91434" bIns="45717" anchor="ctr"/>
                <a:lstStyle/>
                <a:p>
                  <a:pPr algn="ctr"/>
                  <a:r>
                    <a:rPr lang="en-US" altLang="en-US" sz="2000" b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ourier New" panose="02070309020205020404" pitchFamily="49" charset="0"/>
                    </a:rPr>
                    <a:t>6</a:t>
                  </a:r>
                </a:p>
              </p:txBody>
            </p:sp>
          </p:grpSp>
          <p:grpSp>
            <p:nvGrpSpPr>
              <p:cNvPr id="1132601" name="Group 57"/>
              <p:cNvGrpSpPr>
                <a:grpSpLocks/>
              </p:cNvGrpSpPr>
              <p:nvPr/>
            </p:nvGrpSpPr>
            <p:grpSpPr bwMode="auto">
              <a:xfrm>
                <a:off x="609600" y="3046413"/>
                <a:ext cx="2741613" cy="457200"/>
                <a:chOff x="528" y="2160"/>
                <a:chExt cx="1727" cy="383"/>
              </a:xfrm>
            </p:grpSpPr>
            <p:sp>
              <p:nvSpPr>
                <p:cNvPr id="1132592" name="Rectangle 48"/>
                <p:cNvSpPr>
                  <a:spLocks noChangeArrowheads="1"/>
                </p:cNvSpPr>
                <p:nvPr/>
              </p:nvSpPr>
              <p:spPr bwMode="auto">
                <a:xfrm>
                  <a:off x="528" y="2160"/>
                  <a:ext cx="1727" cy="383"/>
                </a:xfrm>
                <a:prstGeom prst="rect">
                  <a:avLst/>
                </a:prstGeom>
                <a:solidFill>
                  <a:srgbClr val="FFFFFF"/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dirty="0"/>
                    <a:t>z</a:t>
                  </a:r>
                </a:p>
              </p:txBody>
            </p:sp>
            <p:sp>
              <p:nvSpPr>
                <p:cNvPr id="1132593" name="Rectangle 49"/>
                <p:cNvSpPr>
                  <a:spLocks noChangeArrowheads="1"/>
                </p:cNvSpPr>
                <p:nvPr/>
              </p:nvSpPr>
              <p:spPr bwMode="auto">
                <a:xfrm>
                  <a:off x="528" y="2160"/>
                  <a:ext cx="816" cy="38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 algn="ctr">
                  <a:solidFill>
                    <a:srgbClr val="3366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1434" tIns="45717" rIns="91434" bIns="45717" anchor="ctr"/>
                <a:lstStyle/>
                <a:p>
                  <a:pPr algn="ctr"/>
                  <a:r>
                    <a:rPr lang="en-US" altLang="en-US" sz="2400" b="1" dirty="0">
                      <a:solidFill>
                        <a:srgbClr val="660066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ourier New" panose="02070309020205020404" pitchFamily="49" charset="0"/>
                    </a:rPr>
                    <a:t>test/</a:t>
                  </a:r>
                </a:p>
              </p:txBody>
            </p:sp>
            <p:sp>
              <p:nvSpPr>
                <p:cNvPr id="1132594" name="Rectangle 50"/>
                <p:cNvSpPr>
                  <a:spLocks noChangeArrowheads="1"/>
                </p:cNvSpPr>
                <p:nvPr/>
              </p:nvSpPr>
              <p:spPr bwMode="auto">
                <a:xfrm>
                  <a:off x="1776" y="2160"/>
                  <a:ext cx="240" cy="383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9050" algn="ctr">
                  <a:solidFill>
                    <a:srgbClr val="3366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1434" tIns="45717" rIns="91434" bIns="45717" anchor="ctr"/>
                <a:lstStyle/>
                <a:p>
                  <a:pPr algn="ctr"/>
                  <a:r>
                    <a:rPr lang="en-US" altLang="en-US" sz="2000" b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</p:grpSp>
          <p:grpSp>
            <p:nvGrpSpPr>
              <p:cNvPr id="1132599" name="Group 55"/>
              <p:cNvGrpSpPr>
                <a:grpSpLocks/>
              </p:cNvGrpSpPr>
              <p:nvPr/>
            </p:nvGrpSpPr>
            <p:grpSpPr bwMode="auto">
              <a:xfrm>
                <a:off x="609600" y="3503615"/>
                <a:ext cx="2741613" cy="1372794"/>
                <a:chOff x="528" y="2544"/>
                <a:chExt cx="1727" cy="300"/>
              </a:xfrm>
            </p:grpSpPr>
            <p:sp>
              <p:nvSpPr>
                <p:cNvPr id="1132596" name="Rectangle 52"/>
                <p:cNvSpPr>
                  <a:spLocks noChangeArrowheads="1"/>
                </p:cNvSpPr>
                <p:nvPr/>
              </p:nvSpPr>
              <p:spPr bwMode="auto">
                <a:xfrm>
                  <a:off x="528" y="2544"/>
                  <a:ext cx="1727" cy="300"/>
                </a:xfrm>
                <a:prstGeom prst="rect">
                  <a:avLst/>
                </a:prstGeom>
                <a:solidFill>
                  <a:srgbClr val="FFFFFF"/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2597" name="Rectangle 53"/>
                <p:cNvSpPr>
                  <a:spLocks noChangeArrowheads="1"/>
                </p:cNvSpPr>
                <p:nvPr/>
              </p:nvSpPr>
              <p:spPr bwMode="auto">
                <a:xfrm>
                  <a:off x="528" y="2544"/>
                  <a:ext cx="816" cy="3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 algn="ctr">
                  <a:solidFill>
                    <a:srgbClr val="3366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1434" tIns="45717" rIns="91434" bIns="45717" anchor="ctr"/>
                <a:lstStyle/>
                <a:p>
                  <a:pPr algn="ctr"/>
                  <a:r>
                    <a:rPr lang="en-US" altLang="en-US" sz="2000" b="1">
                      <a:latin typeface="Courier New" panose="02070309020205020404" pitchFamily="49" charset="0"/>
                    </a:rPr>
                    <a:t>...</a:t>
                  </a:r>
                </a:p>
              </p:txBody>
            </p:sp>
            <p:sp>
              <p:nvSpPr>
                <p:cNvPr id="1132598" name="Rectangle 54"/>
                <p:cNvSpPr>
                  <a:spLocks noChangeArrowheads="1"/>
                </p:cNvSpPr>
                <p:nvPr/>
              </p:nvSpPr>
              <p:spPr bwMode="auto">
                <a:xfrm>
                  <a:off x="1776" y="2544"/>
                  <a:ext cx="240" cy="300"/>
                </a:xfrm>
                <a:prstGeom prst="rect">
                  <a:avLst/>
                </a:prstGeom>
                <a:solidFill>
                  <a:srgbClr val="99CCFF"/>
                </a:solidFill>
                <a:ln w="19050" algn="ctr">
                  <a:solidFill>
                    <a:srgbClr val="336600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1434" tIns="45717" rIns="91434" bIns="45717" anchor="ctr"/>
                <a:lstStyle/>
                <a:p>
                  <a:pPr algn="ctr"/>
                  <a:endParaRPr lang="en-US" altLang="en-US" b="1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80" name="Rounded Rectangle 43"/>
            <p:cNvSpPr/>
            <p:nvPr/>
          </p:nvSpPr>
          <p:spPr>
            <a:xfrm>
              <a:off x="609600" y="2132012"/>
              <a:ext cx="2727916" cy="455613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ounded Rectangle 43"/>
            <p:cNvSpPr/>
            <p:nvPr/>
          </p:nvSpPr>
          <p:spPr>
            <a:xfrm>
              <a:off x="608982" y="2587625"/>
              <a:ext cx="2727916" cy="459522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ounded Rectangle 43"/>
            <p:cNvSpPr/>
            <p:nvPr/>
          </p:nvSpPr>
          <p:spPr>
            <a:xfrm>
              <a:off x="609600" y="3046413"/>
              <a:ext cx="2727916" cy="458787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17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FAT FS: Putting the parts together…</a:t>
            </a:r>
          </a:p>
        </p:txBody>
      </p:sp>
      <p:sp>
        <p:nvSpPr>
          <p:cNvPr id="113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 first disk block number stored in directory entry to find the starting point of the linked disk blocks</a:t>
            </a:r>
          </a:p>
          <a:p>
            <a:r>
              <a:rPr lang="en-US" altLang="en-US"/>
              <a:t>Use FAT to find out the subsequent disk blocks number</a:t>
            </a:r>
          </a:p>
          <a:p>
            <a:pPr lvl="1"/>
            <a:r>
              <a:rPr lang="en-US" altLang="en-US"/>
              <a:t>Terminated by special value (</a:t>
            </a:r>
            <a:r>
              <a:rPr lang="en-US" altLang="en-US" b="1">
                <a:solidFill>
                  <a:schemeClr val="tx2"/>
                </a:solidFill>
              </a:rPr>
              <a:t>EOF</a:t>
            </a:r>
            <a:r>
              <a:rPr lang="en-US" altLang="en-US"/>
              <a:t>)</a:t>
            </a:r>
          </a:p>
          <a:p>
            <a:r>
              <a:rPr lang="en-US" altLang="en-US"/>
              <a:t>Use disk block number to perform actual disk access on the data blocks</a:t>
            </a:r>
          </a:p>
          <a:p>
            <a:r>
              <a:rPr lang="en-US" altLang="en-US"/>
              <a:t>For a directory, the disk blocks contain:</a:t>
            </a:r>
          </a:p>
          <a:p>
            <a:pPr lvl="1"/>
            <a:r>
              <a:rPr lang="en-US" altLang="en-US"/>
              <a:t>Directory entries for the files/subfolders within that directory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9277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Example of Common Tasks: </a:t>
            </a:r>
            <a:r>
              <a:rPr lang="en-US" altLang="en-US" sz="3800" b="1" dirty="0">
                <a:solidFill>
                  <a:srgbClr val="C00000"/>
                </a:solidFill>
              </a:rPr>
              <a:t>File Delete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12</a:t>
            </a:fld>
            <a:endParaRPr lang="en-US" altLang="en-US"/>
          </a:p>
        </p:txBody>
      </p:sp>
      <p:grpSp>
        <p:nvGrpSpPr>
          <p:cNvPr id="30" name="Group 29"/>
          <p:cNvGrpSpPr/>
          <p:nvPr/>
        </p:nvGrpSpPr>
        <p:grpSpPr>
          <a:xfrm>
            <a:off x="609600" y="2133600"/>
            <a:ext cx="2895600" cy="3770525"/>
            <a:chOff x="609600" y="2133600"/>
            <a:chExt cx="2895600" cy="3770525"/>
          </a:xfrm>
        </p:grpSpPr>
        <p:grpSp>
          <p:nvGrpSpPr>
            <p:cNvPr id="31" name="Group 51"/>
            <p:cNvGrpSpPr>
              <a:grpSpLocks/>
            </p:cNvGrpSpPr>
            <p:nvPr/>
          </p:nvGrpSpPr>
          <p:grpSpPr bwMode="auto">
            <a:xfrm>
              <a:off x="609600" y="2133600"/>
              <a:ext cx="2741613" cy="455613"/>
              <a:chOff x="528" y="1392"/>
              <a:chExt cx="1727" cy="383"/>
            </a:xfrm>
          </p:grpSpPr>
          <p:sp>
            <p:nvSpPr>
              <p:cNvPr id="45" name="Rectangle 33"/>
              <p:cNvSpPr>
                <a:spLocks noChangeArrowheads="1"/>
              </p:cNvSpPr>
              <p:nvPr/>
            </p:nvSpPr>
            <p:spPr bwMode="auto">
              <a:xfrm>
                <a:off x="528" y="1392"/>
                <a:ext cx="1727" cy="383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Rectangle 34"/>
              <p:cNvSpPr>
                <a:spLocks noChangeArrowheads="1"/>
              </p:cNvSpPr>
              <p:nvPr/>
            </p:nvSpPr>
            <p:spPr bwMode="auto">
              <a:xfrm>
                <a:off x="528" y="1392"/>
                <a:ext cx="816" cy="3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latin typeface="Courier New" panose="02070309020205020404" pitchFamily="49" charset="0"/>
                  </a:rPr>
                  <a:t>ex1.c</a:t>
                </a:r>
              </a:p>
            </p:txBody>
          </p:sp>
          <p:sp>
            <p:nvSpPr>
              <p:cNvPr id="47" name="Rectangle 36"/>
              <p:cNvSpPr>
                <a:spLocks noChangeArrowheads="1"/>
              </p:cNvSpPr>
              <p:nvPr/>
            </p:nvSpPr>
            <p:spPr bwMode="auto">
              <a:xfrm>
                <a:off x="1776" y="1392"/>
                <a:ext cx="240" cy="38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latin typeface="Courier New" panose="02070309020205020404" pitchFamily="49" charset="0"/>
                  </a:rPr>
                  <a:t>3</a:t>
                </a:r>
              </a:p>
            </p:txBody>
          </p:sp>
        </p:grpSp>
        <p:sp>
          <p:nvSpPr>
            <p:cNvPr id="32" name="Text Box 43"/>
            <p:cNvSpPr txBox="1">
              <a:spLocks noChangeArrowheads="1"/>
            </p:cNvSpPr>
            <p:nvPr/>
          </p:nvSpPr>
          <p:spPr bwMode="auto">
            <a:xfrm>
              <a:off x="609600" y="5257800"/>
              <a:ext cx="2895600" cy="646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1434" tIns="45717" rIns="91434" bIns="45717">
              <a:spAutoFit/>
            </a:bodyPr>
            <a:lstStyle/>
            <a:p>
              <a:pPr algn="ctr"/>
              <a:r>
                <a:rPr lang="en-US" altLang="en-US" b="1" dirty="0">
                  <a:solidFill>
                    <a:srgbClr val="C00000"/>
                  </a:solidFill>
                </a:rPr>
                <a:t>Directory Entries</a:t>
              </a:r>
            </a:p>
            <a:p>
              <a:pPr algn="ctr"/>
              <a:r>
                <a:rPr lang="en-US" altLang="en-US" b="1" dirty="0"/>
                <a:t>(in a Disk Data Block)</a:t>
              </a:r>
            </a:p>
          </p:txBody>
        </p:sp>
        <p:grpSp>
          <p:nvGrpSpPr>
            <p:cNvPr id="33" name="Group 56"/>
            <p:cNvGrpSpPr>
              <a:grpSpLocks/>
            </p:cNvGrpSpPr>
            <p:nvPr/>
          </p:nvGrpSpPr>
          <p:grpSpPr bwMode="auto">
            <a:xfrm>
              <a:off x="609600" y="2589213"/>
              <a:ext cx="2741613" cy="457200"/>
              <a:chOff x="528" y="1776"/>
              <a:chExt cx="1727" cy="383"/>
            </a:xfrm>
          </p:grpSpPr>
          <p:sp>
            <p:nvSpPr>
              <p:cNvPr id="42" name="Rectangle 45"/>
              <p:cNvSpPr>
                <a:spLocks noChangeArrowheads="1"/>
              </p:cNvSpPr>
              <p:nvPr/>
            </p:nvSpPr>
            <p:spPr bwMode="auto">
              <a:xfrm>
                <a:off x="528" y="1776"/>
                <a:ext cx="1727" cy="383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Rectangle 46"/>
              <p:cNvSpPr>
                <a:spLocks noChangeArrowheads="1"/>
              </p:cNvSpPr>
              <p:nvPr/>
            </p:nvSpPr>
            <p:spPr bwMode="auto">
              <a:xfrm>
                <a:off x="528" y="1776"/>
                <a:ext cx="816" cy="3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latin typeface="Courier New" panose="02070309020205020404" pitchFamily="49" charset="0"/>
                  </a:rPr>
                  <a:t>ex2.c</a:t>
                </a:r>
              </a:p>
            </p:txBody>
          </p:sp>
          <p:sp>
            <p:nvSpPr>
              <p:cNvPr id="44" name="Rectangle 47"/>
              <p:cNvSpPr>
                <a:spLocks noChangeArrowheads="1"/>
              </p:cNvSpPr>
              <p:nvPr/>
            </p:nvSpPr>
            <p:spPr bwMode="auto">
              <a:xfrm>
                <a:off x="1776" y="1776"/>
                <a:ext cx="240" cy="38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latin typeface="Courier New" panose="02070309020205020404" pitchFamily="49" charset="0"/>
                  </a:rPr>
                  <a:t>6</a:t>
                </a:r>
              </a:p>
            </p:txBody>
          </p:sp>
        </p:grpSp>
        <p:grpSp>
          <p:nvGrpSpPr>
            <p:cNvPr id="34" name="Group 57"/>
            <p:cNvGrpSpPr>
              <a:grpSpLocks/>
            </p:cNvGrpSpPr>
            <p:nvPr/>
          </p:nvGrpSpPr>
          <p:grpSpPr bwMode="auto">
            <a:xfrm>
              <a:off x="609600" y="3046413"/>
              <a:ext cx="2741613" cy="457200"/>
              <a:chOff x="528" y="2160"/>
              <a:chExt cx="1727" cy="383"/>
            </a:xfrm>
          </p:grpSpPr>
          <p:sp>
            <p:nvSpPr>
              <p:cNvPr id="39" name="Rectangle 48"/>
              <p:cNvSpPr>
                <a:spLocks noChangeArrowheads="1"/>
              </p:cNvSpPr>
              <p:nvPr/>
            </p:nvSpPr>
            <p:spPr bwMode="auto">
              <a:xfrm>
                <a:off x="528" y="2160"/>
                <a:ext cx="1727" cy="383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Rectangle 49"/>
              <p:cNvSpPr>
                <a:spLocks noChangeArrowheads="1"/>
              </p:cNvSpPr>
              <p:nvPr/>
            </p:nvSpPr>
            <p:spPr bwMode="auto">
              <a:xfrm>
                <a:off x="528" y="2160"/>
                <a:ext cx="816" cy="3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latin typeface="Courier New" panose="02070309020205020404" pitchFamily="49" charset="0"/>
                  </a:rPr>
                  <a:t>test/</a:t>
                </a:r>
              </a:p>
            </p:txBody>
          </p:sp>
          <p:sp>
            <p:nvSpPr>
              <p:cNvPr id="41" name="Rectangle 50"/>
              <p:cNvSpPr>
                <a:spLocks noChangeArrowheads="1"/>
              </p:cNvSpPr>
              <p:nvPr/>
            </p:nvSpPr>
            <p:spPr bwMode="auto">
              <a:xfrm>
                <a:off x="1776" y="2160"/>
                <a:ext cx="240" cy="38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latin typeface="Courier New" panose="02070309020205020404" pitchFamily="49" charset="0"/>
                  </a:rPr>
                  <a:t>2</a:t>
                </a:r>
              </a:p>
            </p:txBody>
          </p:sp>
        </p:grpSp>
        <p:grpSp>
          <p:nvGrpSpPr>
            <p:cNvPr id="35" name="Group 55"/>
            <p:cNvGrpSpPr>
              <a:grpSpLocks/>
            </p:cNvGrpSpPr>
            <p:nvPr/>
          </p:nvGrpSpPr>
          <p:grpSpPr bwMode="auto">
            <a:xfrm>
              <a:off x="609600" y="3503613"/>
              <a:ext cx="2741613" cy="1752600"/>
              <a:chOff x="528" y="2544"/>
              <a:chExt cx="1727" cy="383"/>
            </a:xfrm>
          </p:grpSpPr>
          <p:sp>
            <p:nvSpPr>
              <p:cNvPr id="36" name="Rectangle 52"/>
              <p:cNvSpPr>
                <a:spLocks noChangeArrowheads="1"/>
              </p:cNvSpPr>
              <p:nvPr/>
            </p:nvSpPr>
            <p:spPr bwMode="auto">
              <a:xfrm>
                <a:off x="528" y="2544"/>
                <a:ext cx="1727" cy="383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Rectangle 53"/>
              <p:cNvSpPr>
                <a:spLocks noChangeArrowheads="1"/>
              </p:cNvSpPr>
              <p:nvPr/>
            </p:nvSpPr>
            <p:spPr bwMode="auto">
              <a:xfrm>
                <a:off x="528" y="2544"/>
                <a:ext cx="816" cy="3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latin typeface="Courier New" panose="02070309020205020404" pitchFamily="49" charset="0"/>
                  </a:rPr>
                  <a:t>...</a:t>
                </a:r>
              </a:p>
            </p:txBody>
          </p:sp>
          <p:sp>
            <p:nvSpPr>
              <p:cNvPr id="38" name="Rectangle 54"/>
              <p:cNvSpPr>
                <a:spLocks noChangeArrowheads="1"/>
              </p:cNvSpPr>
              <p:nvPr/>
            </p:nvSpPr>
            <p:spPr bwMode="auto">
              <a:xfrm>
                <a:off x="1776" y="2544"/>
                <a:ext cx="240" cy="383"/>
              </a:xfrm>
              <a:prstGeom prst="rect">
                <a:avLst/>
              </a:prstGeom>
              <a:solidFill>
                <a:srgbClr val="99CCFF"/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b="1">
                  <a:latin typeface="Courier New" panose="02070309020205020404" pitchFamily="49" charset="0"/>
                </a:endParaRPr>
              </a:p>
            </p:txBody>
          </p:sp>
        </p:grpSp>
      </p:grpSp>
      <p:grpSp>
        <p:nvGrpSpPr>
          <p:cNvPr id="48" name="Group 47"/>
          <p:cNvGrpSpPr/>
          <p:nvPr/>
        </p:nvGrpSpPr>
        <p:grpSpPr>
          <a:xfrm>
            <a:off x="7162800" y="1066800"/>
            <a:ext cx="1676400" cy="5588601"/>
            <a:chOff x="7162800" y="1066800"/>
            <a:chExt cx="1676400" cy="5588601"/>
          </a:xfrm>
        </p:grpSpPr>
        <p:sp>
          <p:nvSpPr>
            <p:cNvPr id="49" name="Rectangle 58"/>
            <p:cNvSpPr>
              <a:spLocks noChangeArrowheads="1"/>
            </p:cNvSpPr>
            <p:nvPr/>
          </p:nvSpPr>
          <p:spPr bwMode="auto">
            <a:xfrm>
              <a:off x="7700963" y="1066800"/>
              <a:ext cx="457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Text Box 59"/>
            <p:cNvSpPr txBox="1">
              <a:spLocks noChangeArrowheads="1"/>
            </p:cNvSpPr>
            <p:nvPr/>
          </p:nvSpPr>
          <p:spPr bwMode="auto">
            <a:xfrm>
              <a:off x="7391400" y="1066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51" name="Rectangle 60"/>
            <p:cNvSpPr>
              <a:spLocks noChangeArrowheads="1"/>
            </p:cNvSpPr>
            <p:nvPr/>
          </p:nvSpPr>
          <p:spPr bwMode="auto">
            <a:xfrm>
              <a:off x="7700963" y="1447800"/>
              <a:ext cx="457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Text Box 61"/>
            <p:cNvSpPr txBox="1">
              <a:spLocks noChangeArrowheads="1"/>
            </p:cNvSpPr>
            <p:nvPr/>
          </p:nvSpPr>
          <p:spPr bwMode="auto">
            <a:xfrm>
              <a:off x="7391400" y="1447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53" name="Rectangle 62"/>
            <p:cNvSpPr>
              <a:spLocks noChangeArrowheads="1"/>
            </p:cNvSpPr>
            <p:nvPr/>
          </p:nvSpPr>
          <p:spPr bwMode="auto">
            <a:xfrm>
              <a:off x="7700963" y="1828800"/>
              <a:ext cx="457200" cy="381000"/>
            </a:xfrm>
            <a:prstGeom prst="rect">
              <a:avLst/>
            </a:prstGeom>
            <a:solidFill>
              <a:srgbClr val="FFFF99"/>
            </a:solidFill>
            <a:ln w="19050" algn="ctr">
              <a:solidFill>
                <a:srgbClr val="CC99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Text Box 63"/>
            <p:cNvSpPr txBox="1">
              <a:spLocks noChangeArrowheads="1"/>
            </p:cNvSpPr>
            <p:nvPr/>
          </p:nvSpPr>
          <p:spPr bwMode="auto">
            <a:xfrm>
              <a:off x="7391400" y="1828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55" name="Rectangle 64"/>
            <p:cNvSpPr>
              <a:spLocks noChangeArrowheads="1"/>
            </p:cNvSpPr>
            <p:nvPr/>
          </p:nvSpPr>
          <p:spPr bwMode="auto">
            <a:xfrm>
              <a:off x="7700963" y="2209800"/>
              <a:ext cx="457200" cy="381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rgbClr val="00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Text Box 65"/>
            <p:cNvSpPr txBox="1">
              <a:spLocks noChangeArrowheads="1"/>
            </p:cNvSpPr>
            <p:nvPr/>
          </p:nvSpPr>
          <p:spPr bwMode="auto">
            <a:xfrm>
              <a:off x="7391400" y="2209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57" name="Rectangle 66"/>
            <p:cNvSpPr>
              <a:spLocks noChangeArrowheads="1"/>
            </p:cNvSpPr>
            <p:nvPr/>
          </p:nvSpPr>
          <p:spPr bwMode="auto">
            <a:xfrm>
              <a:off x="7700963" y="2590800"/>
              <a:ext cx="457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Text Box 67"/>
            <p:cNvSpPr txBox="1">
              <a:spLocks noChangeArrowheads="1"/>
            </p:cNvSpPr>
            <p:nvPr/>
          </p:nvSpPr>
          <p:spPr bwMode="auto">
            <a:xfrm>
              <a:off x="7391400" y="2590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59" name="Rectangle 68"/>
            <p:cNvSpPr>
              <a:spLocks noChangeArrowheads="1"/>
            </p:cNvSpPr>
            <p:nvPr/>
          </p:nvSpPr>
          <p:spPr bwMode="auto">
            <a:xfrm>
              <a:off x="7700963" y="2971800"/>
              <a:ext cx="457200" cy="381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rgbClr val="00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Text Box 69"/>
            <p:cNvSpPr txBox="1">
              <a:spLocks noChangeArrowheads="1"/>
            </p:cNvSpPr>
            <p:nvPr/>
          </p:nvSpPr>
          <p:spPr bwMode="auto">
            <a:xfrm>
              <a:off x="7391400" y="2971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5</a:t>
              </a:r>
            </a:p>
          </p:txBody>
        </p:sp>
        <p:sp>
          <p:nvSpPr>
            <p:cNvPr id="61" name="Rectangle 70"/>
            <p:cNvSpPr>
              <a:spLocks noChangeArrowheads="1"/>
            </p:cNvSpPr>
            <p:nvPr/>
          </p:nvSpPr>
          <p:spPr bwMode="auto">
            <a:xfrm>
              <a:off x="7700963" y="3352800"/>
              <a:ext cx="457200" cy="381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rgbClr val="0033CC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Text Box 71"/>
            <p:cNvSpPr txBox="1">
              <a:spLocks noChangeArrowheads="1"/>
            </p:cNvSpPr>
            <p:nvPr/>
          </p:nvSpPr>
          <p:spPr bwMode="auto">
            <a:xfrm>
              <a:off x="7391400" y="3352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6</a:t>
              </a:r>
            </a:p>
          </p:txBody>
        </p:sp>
        <p:sp>
          <p:nvSpPr>
            <p:cNvPr id="63" name="Rectangle 72"/>
            <p:cNvSpPr>
              <a:spLocks noChangeArrowheads="1"/>
            </p:cNvSpPr>
            <p:nvPr/>
          </p:nvSpPr>
          <p:spPr bwMode="auto">
            <a:xfrm>
              <a:off x="7700963" y="3733800"/>
              <a:ext cx="457200" cy="381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rgbClr val="0033CC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Text Box 73"/>
            <p:cNvSpPr txBox="1">
              <a:spLocks noChangeArrowheads="1"/>
            </p:cNvSpPr>
            <p:nvPr/>
          </p:nvSpPr>
          <p:spPr bwMode="auto">
            <a:xfrm>
              <a:off x="7391400" y="3733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7</a:t>
              </a:r>
            </a:p>
          </p:txBody>
        </p:sp>
        <p:sp>
          <p:nvSpPr>
            <p:cNvPr id="65" name="Rectangle 90"/>
            <p:cNvSpPr>
              <a:spLocks noChangeArrowheads="1"/>
            </p:cNvSpPr>
            <p:nvPr/>
          </p:nvSpPr>
          <p:spPr bwMode="auto">
            <a:xfrm>
              <a:off x="7700963" y="4114800"/>
              <a:ext cx="457200" cy="381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rgbClr val="00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Text Box 91"/>
            <p:cNvSpPr txBox="1">
              <a:spLocks noChangeArrowheads="1"/>
            </p:cNvSpPr>
            <p:nvPr/>
          </p:nvSpPr>
          <p:spPr bwMode="auto">
            <a:xfrm>
              <a:off x="7391400" y="4114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8</a:t>
              </a:r>
            </a:p>
          </p:txBody>
        </p:sp>
        <p:sp>
          <p:nvSpPr>
            <p:cNvPr id="67" name="Rectangle 92"/>
            <p:cNvSpPr>
              <a:spLocks noChangeArrowheads="1"/>
            </p:cNvSpPr>
            <p:nvPr/>
          </p:nvSpPr>
          <p:spPr bwMode="auto">
            <a:xfrm>
              <a:off x="7700963" y="4495800"/>
              <a:ext cx="457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Text Box 93"/>
            <p:cNvSpPr txBox="1">
              <a:spLocks noChangeArrowheads="1"/>
            </p:cNvSpPr>
            <p:nvPr/>
          </p:nvSpPr>
          <p:spPr bwMode="auto">
            <a:xfrm>
              <a:off x="7391400" y="4495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9</a:t>
              </a:r>
            </a:p>
          </p:txBody>
        </p:sp>
        <p:sp>
          <p:nvSpPr>
            <p:cNvPr id="69" name="Rectangle 94"/>
            <p:cNvSpPr>
              <a:spLocks noChangeArrowheads="1"/>
            </p:cNvSpPr>
            <p:nvPr/>
          </p:nvSpPr>
          <p:spPr bwMode="auto">
            <a:xfrm>
              <a:off x="7700963" y="4876800"/>
              <a:ext cx="457200" cy="1066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Text Box 96"/>
            <p:cNvSpPr txBox="1">
              <a:spLocks noChangeArrowheads="1"/>
            </p:cNvSpPr>
            <p:nvPr/>
          </p:nvSpPr>
          <p:spPr bwMode="auto">
            <a:xfrm>
              <a:off x="7162800" y="6019800"/>
              <a:ext cx="1676400" cy="63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0815" tIns="40407" rIns="80815" bIns="40407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b="1" dirty="0">
                  <a:solidFill>
                    <a:srgbClr val="C00000"/>
                  </a:solidFill>
                </a:rPr>
                <a:t>Data Blocks</a:t>
              </a:r>
            </a:p>
            <a:p>
              <a:pPr algn="ctr"/>
              <a:r>
                <a:rPr lang="en-US" altLang="en-US" b="1" dirty="0"/>
                <a:t>(in Disk)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416370" y="1219200"/>
            <a:ext cx="1682805" cy="5436201"/>
            <a:chOff x="4416370" y="1219200"/>
            <a:chExt cx="1682805" cy="5436201"/>
          </a:xfrm>
        </p:grpSpPr>
        <p:grpSp>
          <p:nvGrpSpPr>
            <p:cNvPr id="7" name="Group 6"/>
            <p:cNvGrpSpPr/>
            <p:nvPr/>
          </p:nvGrpSpPr>
          <p:grpSpPr>
            <a:xfrm>
              <a:off x="4425950" y="1219200"/>
              <a:ext cx="1673225" cy="5436201"/>
              <a:chOff x="4425950" y="1219200"/>
              <a:chExt cx="1673225" cy="5436201"/>
            </a:xfrm>
          </p:grpSpPr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4724400" y="1219200"/>
                <a:ext cx="1371600" cy="4800600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Text Box 6"/>
              <p:cNvSpPr txBox="1">
                <a:spLocks noChangeArrowheads="1"/>
              </p:cNvSpPr>
              <p:nvPr/>
            </p:nvSpPr>
            <p:spPr bwMode="auto">
              <a:xfrm>
                <a:off x="4795370" y="6019800"/>
                <a:ext cx="1112186" cy="6356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404813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808038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2128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16160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0732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5304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9876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44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b="1" dirty="0">
                    <a:solidFill>
                      <a:srgbClr val="C00000"/>
                    </a:solidFill>
                  </a:rPr>
                  <a:t>FAT</a:t>
                </a:r>
              </a:p>
              <a:p>
                <a:pPr algn="ctr"/>
                <a:r>
                  <a:rPr lang="en-US" altLang="en-US" b="1" dirty="0"/>
                  <a:t>(in RAM)</a:t>
                </a:r>
              </a:p>
            </p:txBody>
          </p:sp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4725988" y="1219200"/>
                <a:ext cx="1373187" cy="381000"/>
              </a:xfrm>
              <a:prstGeom prst="rect">
                <a:avLst/>
              </a:prstGeom>
              <a:solidFill>
                <a:srgbClr val="FFEB97"/>
              </a:solidFill>
              <a:ln w="19050" algn="ctr">
                <a:solidFill>
                  <a:srgbClr val="CC99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11"/>
              <p:cNvSpPr>
                <a:spLocks noChangeArrowheads="1"/>
              </p:cNvSpPr>
              <p:nvPr/>
            </p:nvSpPr>
            <p:spPr bwMode="auto">
              <a:xfrm>
                <a:off x="4724400" y="1600200"/>
                <a:ext cx="1371600" cy="381000"/>
              </a:xfrm>
              <a:prstGeom prst="rect">
                <a:avLst/>
              </a:prstGeom>
              <a:solidFill>
                <a:srgbClr val="C0C0C0">
                  <a:alpha val="50000"/>
                </a:srgbClr>
              </a:solidFill>
              <a:ln w="19050" algn="ctr">
                <a:solidFill>
                  <a:srgbClr val="CC99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404813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808038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2128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16160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0732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5304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9876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44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b="1">
                    <a:solidFill>
                      <a:srgbClr val="800000"/>
                    </a:solidFill>
                  </a:rPr>
                  <a:t>BAD</a:t>
                </a:r>
              </a:p>
            </p:txBody>
          </p:sp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4724400" y="1981200"/>
                <a:ext cx="1371600" cy="381000"/>
              </a:xfrm>
              <a:prstGeom prst="rect">
                <a:avLst/>
              </a:prstGeom>
              <a:solidFill>
                <a:srgbClr val="FFFF99"/>
              </a:solidFill>
              <a:ln w="19050" algn="ctr">
                <a:solidFill>
                  <a:srgbClr val="CC99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solidFill>
                      <a:schemeClr val="tx2"/>
                    </a:solidFill>
                  </a:rPr>
                  <a:t>EOF</a:t>
                </a:r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4724400" y="2362200"/>
                <a:ext cx="1371600" cy="381000"/>
              </a:xfrm>
              <a:prstGeom prst="rect">
                <a:avLst/>
              </a:prstGeom>
              <a:solidFill>
                <a:srgbClr val="CCFFCC"/>
              </a:solid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400" b="1" dirty="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14" name="Rectangle 14"/>
              <p:cNvSpPr>
                <a:spLocks noChangeArrowheads="1"/>
              </p:cNvSpPr>
              <p:nvPr/>
            </p:nvSpPr>
            <p:spPr bwMode="auto">
              <a:xfrm>
                <a:off x="4724400" y="2743200"/>
                <a:ext cx="1371600" cy="381000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rgbClr val="9900CC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b="1">
                    <a:solidFill>
                      <a:srgbClr val="008000"/>
                    </a:solidFill>
                  </a:rPr>
                  <a:t>FREE</a:t>
                </a:r>
              </a:p>
            </p:txBody>
          </p:sp>
          <p:sp>
            <p:nvSpPr>
              <p:cNvPr id="15" name="Rectangle 15"/>
              <p:cNvSpPr>
                <a:spLocks noChangeArrowheads="1"/>
              </p:cNvSpPr>
              <p:nvPr/>
            </p:nvSpPr>
            <p:spPr bwMode="auto">
              <a:xfrm>
                <a:off x="4724400" y="3124200"/>
                <a:ext cx="1371600" cy="381000"/>
              </a:xfrm>
              <a:prstGeom prst="rect">
                <a:avLst/>
              </a:prstGeom>
              <a:solidFill>
                <a:srgbClr val="CCFFCC"/>
              </a:solid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400" b="1">
                    <a:latin typeface="Courier New" panose="02070309020205020404" pitchFamily="49" charset="0"/>
                  </a:rPr>
                  <a:t>8</a:t>
                </a:r>
              </a:p>
            </p:txBody>
          </p:sp>
          <p:sp>
            <p:nvSpPr>
              <p:cNvPr id="16" name="Rectangle 16"/>
              <p:cNvSpPr>
                <a:spLocks noChangeArrowheads="1"/>
              </p:cNvSpPr>
              <p:nvPr/>
            </p:nvSpPr>
            <p:spPr bwMode="auto">
              <a:xfrm>
                <a:off x="4724400" y="3505200"/>
                <a:ext cx="13716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rgbClr val="99663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400" b="1">
                    <a:latin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17" name="Rectangle 17"/>
              <p:cNvSpPr>
                <a:spLocks noChangeArrowheads="1"/>
              </p:cNvSpPr>
              <p:nvPr/>
            </p:nvSpPr>
            <p:spPr bwMode="auto">
              <a:xfrm>
                <a:off x="4724400" y="3886200"/>
                <a:ext cx="13716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rgbClr val="99663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solidFill>
                      <a:schemeClr val="tx2"/>
                    </a:solidFill>
                  </a:rPr>
                  <a:t>EOF</a:t>
                </a:r>
              </a:p>
            </p:txBody>
          </p:sp>
          <p:sp>
            <p:nvSpPr>
              <p:cNvPr id="18" name="Rectangle 18"/>
              <p:cNvSpPr>
                <a:spLocks noChangeArrowheads="1"/>
              </p:cNvSpPr>
              <p:nvPr/>
            </p:nvSpPr>
            <p:spPr bwMode="auto">
              <a:xfrm>
                <a:off x="4724400" y="4267200"/>
                <a:ext cx="1371600" cy="381000"/>
              </a:xfrm>
              <a:prstGeom prst="rect">
                <a:avLst/>
              </a:prstGeom>
              <a:solidFill>
                <a:srgbClr val="CCFFCC"/>
              </a:solid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solidFill>
                      <a:schemeClr val="tx2"/>
                    </a:solidFill>
                  </a:rPr>
                  <a:t>EOF</a:t>
                </a:r>
              </a:p>
            </p:txBody>
          </p:sp>
          <p:sp>
            <p:nvSpPr>
              <p:cNvPr id="19" name="Text Box 19"/>
              <p:cNvSpPr txBox="1">
                <a:spLocks noChangeArrowheads="1"/>
              </p:cNvSpPr>
              <p:nvPr/>
            </p:nvSpPr>
            <p:spPr bwMode="auto">
              <a:xfrm>
                <a:off x="4425950" y="1219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20" name="Text Box 20"/>
              <p:cNvSpPr txBox="1">
                <a:spLocks noChangeArrowheads="1"/>
              </p:cNvSpPr>
              <p:nvPr/>
            </p:nvSpPr>
            <p:spPr bwMode="auto">
              <a:xfrm>
                <a:off x="4425950" y="1600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21" name="Text Box 21"/>
              <p:cNvSpPr txBox="1">
                <a:spLocks noChangeArrowheads="1"/>
              </p:cNvSpPr>
              <p:nvPr/>
            </p:nvSpPr>
            <p:spPr bwMode="auto">
              <a:xfrm>
                <a:off x="4425950" y="1981200"/>
                <a:ext cx="295275" cy="346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22" name="Text Box 22"/>
              <p:cNvSpPr txBox="1">
                <a:spLocks noChangeArrowheads="1"/>
              </p:cNvSpPr>
              <p:nvPr/>
            </p:nvSpPr>
            <p:spPr bwMode="auto">
              <a:xfrm>
                <a:off x="4425950" y="2362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23" name="Text Box 23"/>
              <p:cNvSpPr txBox="1">
                <a:spLocks noChangeArrowheads="1"/>
              </p:cNvSpPr>
              <p:nvPr/>
            </p:nvSpPr>
            <p:spPr bwMode="auto">
              <a:xfrm>
                <a:off x="4425950" y="2743200"/>
                <a:ext cx="295275" cy="346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24" name="Text Box 24"/>
              <p:cNvSpPr txBox="1">
                <a:spLocks noChangeArrowheads="1"/>
              </p:cNvSpPr>
              <p:nvPr/>
            </p:nvSpPr>
            <p:spPr bwMode="auto">
              <a:xfrm>
                <a:off x="4425950" y="3124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25" name="Text Box 25"/>
              <p:cNvSpPr txBox="1">
                <a:spLocks noChangeArrowheads="1"/>
              </p:cNvSpPr>
              <p:nvPr/>
            </p:nvSpPr>
            <p:spPr bwMode="auto">
              <a:xfrm>
                <a:off x="4425950" y="3505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6</a:t>
                </a:r>
              </a:p>
            </p:txBody>
          </p:sp>
          <p:sp>
            <p:nvSpPr>
              <p:cNvPr id="26" name="Text Box 26"/>
              <p:cNvSpPr txBox="1">
                <a:spLocks noChangeArrowheads="1"/>
              </p:cNvSpPr>
              <p:nvPr/>
            </p:nvSpPr>
            <p:spPr bwMode="auto">
              <a:xfrm>
                <a:off x="4425950" y="3886200"/>
                <a:ext cx="295275" cy="346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27" name="Text Box 27"/>
              <p:cNvSpPr txBox="1">
                <a:spLocks noChangeArrowheads="1"/>
              </p:cNvSpPr>
              <p:nvPr/>
            </p:nvSpPr>
            <p:spPr bwMode="auto">
              <a:xfrm>
                <a:off x="4425950" y="4267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8</a:t>
                </a:r>
              </a:p>
            </p:txBody>
          </p:sp>
          <p:sp>
            <p:nvSpPr>
              <p:cNvPr id="28" name="Rectangle 28"/>
              <p:cNvSpPr>
                <a:spLocks noChangeArrowheads="1"/>
              </p:cNvSpPr>
              <p:nvPr/>
            </p:nvSpPr>
            <p:spPr bwMode="auto">
              <a:xfrm>
                <a:off x="4724400" y="4648200"/>
                <a:ext cx="1371600" cy="381000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rgbClr val="9900CC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b="1">
                    <a:solidFill>
                      <a:srgbClr val="008000"/>
                    </a:solidFill>
                  </a:rPr>
                  <a:t>FREE</a:t>
                </a:r>
              </a:p>
            </p:txBody>
          </p:sp>
          <p:sp>
            <p:nvSpPr>
              <p:cNvPr id="29" name="Rectangle 29"/>
              <p:cNvSpPr>
                <a:spLocks noChangeArrowheads="1"/>
              </p:cNvSpPr>
              <p:nvPr/>
            </p:nvSpPr>
            <p:spPr bwMode="auto">
              <a:xfrm>
                <a:off x="4724400" y="5029200"/>
                <a:ext cx="1371600" cy="990600"/>
              </a:xfrm>
              <a:prstGeom prst="rect">
                <a:avLst/>
              </a:prstGeom>
              <a:solidFill>
                <a:srgbClr val="FFEB97"/>
              </a:solidFill>
              <a:ln w="19050" algn="ctr">
                <a:solidFill>
                  <a:srgbClr val="CC99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/>
                  <a:t>…</a:t>
                </a:r>
              </a:p>
              <a:p>
                <a:pPr algn="ctr"/>
                <a:r>
                  <a:rPr lang="en-US" altLang="en-US"/>
                  <a:t>…</a:t>
                </a:r>
              </a:p>
              <a:p>
                <a:pPr algn="ctr"/>
                <a:r>
                  <a:rPr lang="en-US" altLang="en-US"/>
                  <a:t>…</a:t>
                </a:r>
              </a:p>
            </p:txBody>
          </p:sp>
        </p:grpSp>
        <p:sp>
          <p:nvSpPr>
            <p:cNvPr id="71" name="Text Box 27"/>
            <p:cNvSpPr txBox="1">
              <a:spLocks noChangeArrowheads="1"/>
            </p:cNvSpPr>
            <p:nvPr/>
          </p:nvSpPr>
          <p:spPr bwMode="auto">
            <a:xfrm>
              <a:off x="4416370" y="4664868"/>
              <a:ext cx="308086" cy="338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dirty="0">
                  <a:latin typeface="Courier New" panose="02070309020205020404" pitchFamily="49" charset="0"/>
                </a:rPr>
                <a:t>9</a:t>
              </a:r>
            </a:p>
          </p:txBody>
        </p:sp>
      </p:grpSp>
      <p:sp>
        <p:nvSpPr>
          <p:cNvPr id="72" name="Rectangle 36"/>
          <p:cNvSpPr>
            <a:spLocks noChangeArrowheads="1"/>
          </p:cNvSpPr>
          <p:nvPr/>
        </p:nvSpPr>
        <p:spPr bwMode="auto">
          <a:xfrm>
            <a:off x="606425" y="2132013"/>
            <a:ext cx="412478" cy="4556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algn="ctr">
            <a:solidFill>
              <a:srgbClr val="336600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b="1" dirty="0">
                <a:latin typeface="Courier New" panose="02070309020205020404" pitchFamily="49" charset="0"/>
              </a:rPr>
              <a:t>E5</a:t>
            </a:r>
          </a:p>
        </p:txBody>
      </p:sp>
      <p:sp>
        <p:nvSpPr>
          <p:cNvPr id="73" name="Isosceles Triangle 72"/>
          <p:cNvSpPr/>
          <p:nvPr/>
        </p:nvSpPr>
        <p:spPr>
          <a:xfrm>
            <a:off x="8496300" y="6619240"/>
            <a:ext cx="2286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8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Variants: </a:t>
            </a:r>
            <a:r>
              <a:rPr lang="en-US" altLang="en-US" sz="3800" b="1" dirty="0">
                <a:solidFill>
                  <a:srgbClr val="660066"/>
                </a:solidFill>
              </a:rPr>
              <a:t>FAT12</a:t>
            </a:r>
            <a:r>
              <a:rPr lang="en-US" altLang="en-US" sz="3800" dirty="0"/>
              <a:t>, </a:t>
            </a:r>
            <a:r>
              <a:rPr lang="en-US" altLang="en-US" sz="3800" b="1" dirty="0">
                <a:solidFill>
                  <a:srgbClr val="C00000"/>
                </a:solidFill>
              </a:rPr>
              <a:t>FAT16</a:t>
            </a:r>
            <a:r>
              <a:rPr lang="en-US" altLang="en-US" sz="3800" dirty="0"/>
              <a:t> and </a:t>
            </a:r>
            <a:r>
              <a:rPr lang="en-US" altLang="en-US" sz="3800" b="1" dirty="0">
                <a:solidFill>
                  <a:srgbClr val="006600"/>
                </a:solidFill>
              </a:rPr>
              <a:t>FAT32</a:t>
            </a:r>
          </a:p>
        </p:txBody>
      </p:sp>
      <p:sp>
        <p:nvSpPr>
          <p:cNvPr id="1133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153400" cy="5486400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Main motivation:</a:t>
            </a:r>
          </a:p>
          <a:p>
            <a:pPr lvl="1"/>
            <a:r>
              <a:rPr lang="en-US" altLang="en-US" dirty="0"/>
              <a:t>Support larger hard disk as a single partition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Two major themes: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Disk Cluster:</a:t>
            </a:r>
          </a:p>
          <a:p>
            <a:pPr lvl="2"/>
            <a:r>
              <a:rPr lang="en-US" altLang="en-US" dirty="0"/>
              <a:t>Instead of using a single disk block as the smallest allocation unit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en-US" altLang="en-US" dirty="0"/>
              <a:t>Use a number of contiguous disk blocks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FAT Size:</a:t>
            </a:r>
          </a:p>
          <a:p>
            <a:pPr lvl="2"/>
            <a:r>
              <a:rPr lang="en-US" altLang="en-US" dirty="0"/>
              <a:t>Bigger FAT </a:t>
            </a:r>
            <a:r>
              <a:rPr lang="en-US" altLang="en-US" dirty="0">
                <a:sym typeface="Wingdings" panose="05000000000000000000" pitchFamily="2" charset="2"/>
              </a:rPr>
              <a:t> More disk block/cluster  More bits to represent each disk block/cluster</a:t>
            </a:r>
          </a:p>
          <a:p>
            <a:pPr lvl="2"/>
            <a:r>
              <a:rPr lang="en-US" altLang="en-US" dirty="0">
                <a:sym typeface="Wingdings" panose="05000000000000000000" pitchFamily="2" charset="2"/>
              </a:rPr>
              <a:t>Existing variants:</a:t>
            </a:r>
          </a:p>
          <a:p>
            <a:pPr lvl="3"/>
            <a:r>
              <a:rPr lang="en-US" altLang="en-US" dirty="0"/>
              <a:t>FAT12, FAT16 and FAT32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13</a:t>
            </a:fld>
            <a:endParaRPr lang="en-US" altLang="en-US"/>
          </a:p>
        </p:txBody>
      </p:sp>
      <p:grpSp>
        <p:nvGrpSpPr>
          <p:cNvPr id="30" name="Group 29"/>
          <p:cNvGrpSpPr/>
          <p:nvPr/>
        </p:nvGrpSpPr>
        <p:grpSpPr>
          <a:xfrm>
            <a:off x="3352800" y="1981200"/>
            <a:ext cx="5029200" cy="2514599"/>
            <a:chOff x="3581400" y="976750"/>
            <a:chExt cx="5029200" cy="2514599"/>
          </a:xfrm>
        </p:grpSpPr>
        <p:sp>
          <p:nvSpPr>
            <p:cNvPr id="5" name="Rectangle 4"/>
            <p:cNvSpPr/>
            <p:nvPr/>
          </p:nvSpPr>
          <p:spPr>
            <a:xfrm>
              <a:off x="3581400" y="976750"/>
              <a:ext cx="5029200" cy="251459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23321" y="1170032"/>
              <a:ext cx="4545357" cy="2162637"/>
            </a:xfrm>
            <a:prstGeom prst="rect">
              <a:avLst/>
            </a:prstGeom>
          </p:spPr>
        </p:pic>
      </p:grpSp>
      <p:sp>
        <p:nvSpPr>
          <p:cNvPr id="31" name="Action Button: Help 30">
            <a:hlinkClick r:id="" action="ppaction://noaction" highlightClick="1"/>
          </p:cNvPr>
          <p:cNvSpPr/>
          <p:nvPr/>
        </p:nvSpPr>
        <p:spPr>
          <a:xfrm>
            <a:off x="7076803" y="5813425"/>
            <a:ext cx="1066800" cy="457200"/>
          </a:xfrm>
          <a:prstGeom prst="actionButtonHelp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84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660066"/>
                </a:solidFill>
              </a:rPr>
              <a:t>FAT12</a:t>
            </a:r>
            <a:r>
              <a:rPr lang="en-US" altLang="en-US" sz="3800" dirty="0"/>
              <a:t>, </a:t>
            </a:r>
            <a:r>
              <a:rPr lang="en-US" altLang="en-US" sz="3800" b="1" dirty="0">
                <a:solidFill>
                  <a:srgbClr val="C00000"/>
                </a:solidFill>
              </a:rPr>
              <a:t>FAT16</a:t>
            </a:r>
            <a:r>
              <a:rPr lang="en-US" altLang="en-US" sz="3800" dirty="0"/>
              <a:t> and </a:t>
            </a:r>
            <a:r>
              <a:rPr lang="en-US" altLang="en-US" sz="3800" b="1" dirty="0">
                <a:solidFill>
                  <a:srgbClr val="006600"/>
                </a:solidFill>
              </a:rPr>
              <a:t>FAT32 </a:t>
            </a:r>
            <a:r>
              <a:rPr lang="en-US" altLang="en-US" sz="3800" dirty="0"/>
              <a:t>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113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Generally, cluster size + FAT size determines the largest usable partition</a:t>
            </a:r>
          </a:p>
          <a:p>
            <a:endParaRPr lang="en-US" altLang="en-US" dirty="0"/>
          </a:p>
          <a:p>
            <a:r>
              <a:rPr lang="en-US" altLang="en-US" dirty="0"/>
              <a:t>Example (</a:t>
            </a:r>
            <a:r>
              <a:rPr lang="en-US" altLang="en-US" b="1" dirty="0">
                <a:solidFill>
                  <a:srgbClr val="C00000"/>
                </a:solidFill>
              </a:rPr>
              <a:t>4KiB </a:t>
            </a:r>
            <a:r>
              <a:rPr lang="en-US" altLang="en-US" dirty="0"/>
              <a:t>Cluster):</a:t>
            </a:r>
          </a:p>
          <a:p>
            <a:endParaRPr lang="en-US" altLang="en-US" dirty="0"/>
          </a:p>
          <a:p>
            <a:pPr lvl="2"/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Note that the actual size is a little lesser: </a:t>
            </a:r>
          </a:p>
          <a:p>
            <a:pPr lvl="1"/>
            <a:r>
              <a:rPr lang="en-US" altLang="en-US" dirty="0"/>
              <a:t>Special values (</a:t>
            </a:r>
            <a:r>
              <a:rPr lang="en-US" altLang="en-US" b="1" dirty="0">
                <a:solidFill>
                  <a:schemeClr val="tx2"/>
                </a:solidFill>
              </a:rPr>
              <a:t>EOF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8000"/>
                </a:solidFill>
              </a:rPr>
              <a:t>FREE</a:t>
            </a:r>
            <a:r>
              <a:rPr lang="en-US" altLang="en-US" dirty="0"/>
              <a:t>, </a:t>
            </a:r>
            <a:r>
              <a:rPr lang="en-US" altLang="en-US" dirty="0" err="1"/>
              <a:t>etc</a:t>
            </a:r>
            <a:r>
              <a:rPr lang="en-US" altLang="en-US" dirty="0"/>
              <a:t>) reduces total number of valid data block/cluster indices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14</a:t>
            </a:fld>
            <a:endParaRPr lang="en-US" alt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868971"/>
              </p:ext>
            </p:extLst>
          </p:nvPr>
        </p:nvGraphicFramePr>
        <p:xfrm>
          <a:off x="914400" y="2895600"/>
          <a:ext cx="7467600" cy="1559560"/>
        </p:xfrm>
        <a:graphic>
          <a:graphicData uri="http://schemas.openxmlformats.org/drawingml/2006/table">
            <a:tbl>
              <a:tblPr bandRow="1">
                <a:tableStyleId>{8A107856-5554-42FB-B03E-39F5DBC370BA}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FAT12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FAT16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FAT32</a:t>
                      </a:r>
                      <a:endParaRPr lang="en-SG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12</a:t>
                      </a:r>
                      <a:r>
                        <a:rPr lang="en-US" dirty="0"/>
                        <a:t> Clusters</a:t>
                      </a:r>
                    </a:p>
                    <a:p>
                      <a:pPr algn="l"/>
                      <a:endParaRPr lang="en-US" dirty="0"/>
                    </a:p>
                    <a:p>
                      <a:pPr algn="l"/>
                      <a:r>
                        <a:rPr lang="en-US" dirty="0"/>
                        <a:t>Largest </a:t>
                      </a:r>
                      <a:r>
                        <a:rPr lang="en-US" baseline="0" dirty="0"/>
                        <a:t>partition: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4KiB * 2</a:t>
                      </a:r>
                      <a:r>
                        <a:rPr lang="en-US" altLang="en-US" baseline="30000" dirty="0"/>
                        <a:t>12</a:t>
                      </a:r>
                      <a:r>
                        <a:rPr lang="en-US" altLang="en-US" dirty="0"/>
                        <a:t> = 16MiB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</a:t>
                      </a:r>
                      <a:r>
                        <a:rPr lang="en-US" sz="1800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en-US" dirty="0"/>
                        <a:t> Clusters</a:t>
                      </a:r>
                    </a:p>
                    <a:p>
                      <a:pPr algn="l"/>
                      <a:endParaRPr lang="en-US" dirty="0"/>
                    </a:p>
                    <a:p>
                      <a:pPr algn="l"/>
                      <a:r>
                        <a:rPr lang="en-US" dirty="0"/>
                        <a:t>Largest </a:t>
                      </a:r>
                      <a:r>
                        <a:rPr lang="en-US" baseline="0" dirty="0"/>
                        <a:t>partition:</a:t>
                      </a:r>
                    </a:p>
                    <a:p>
                      <a:pPr algn="l"/>
                      <a:r>
                        <a:rPr lang="en-US" baseline="0" dirty="0"/>
                        <a:t>4KiB * 2</a:t>
                      </a:r>
                      <a:r>
                        <a:rPr lang="en-US" sz="1800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en-US" baseline="0" dirty="0"/>
                        <a:t> = 256MiB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</a:t>
                      </a:r>
                      <a:r>
                        <a:rPr lang="en-US" sz="1800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  <a:r>
                        <a:rPr lang="en-US" dirty="0"/>
                        <a:t> Clusters</a:t>
                      </a:r>
                    </a:p>
                    <a:p>
                      <a:pPr algn="l"/>
                      <a:endParaRPr lang="en-US" dirty="0"/>
                    </a:p>
                    <a:p>
                      <a:pPr algn="l"/>
                      <a:r>
                        <a:rPr lang="en-US" dirty="0"/>
                        <a:t>Largest partition:</a:t>
                      </a:r>
                    </a:p>
                    <a:p>
                      <a:pPr algn="l"/>
                      <a:r>
                        <a:rPr lang="en-US" dirty="0"/>
                        <a:t>4KiB</a:t>
                      </a:r>
                      <a:r>
                        <a:rPr lang="en-US" baseline="0" dirty="0"/>
                        <a:t> * 2</a:t>
                      </a:r>
                      <a:r>
                        <a:rPr lang="en-US" sz="1800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  <a:r>
                        <a:rPr lang="en-US" baseline="0" dirty="0"/>
                        <a:t> = 1TiB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872177" y="3280410"/>
            <a:ext cx="251460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386777" y="3280410"/>
            <a:ext cx="251460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9623" y="3280410"/>
            <a:ext cx="251460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8496300" y="6619240"/>
            <a:ext cx="2286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8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Cluster Size</a:t>
            </a:r>
            <a:endParaRPr lang="en-SG" b="1" dirty="0">
              <a:solidFill>
                <a:srgbClr val="66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6600"/>
                </a:solidFill>
              </a:rPr>
              <a:t>Pros:</a:t>
            </a:r>
          </a:p>
          <a:p>
            <a:pPr lvl="1"/>
            <a:r>
              <a:rPr lang="en-US" dirty="0"/>
              <a:t>Larger cluster size </a:t>
            </a:r>
            <a:r>
              <a:rPr lang="en-US" dirty="0">
                <a:sym typeface="Wingdings" panose="05000000000000000000" pitchFamily="2" charset="2"/>
              </a:rPr>
              <a:t> Larger usable partition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Cons: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Larger cluster size  Larger internal fragmentation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On FAT32, there are further limitations: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32-bit </a:t>
            </a:r>
            <a:r>
              <a:rPr lang="en-US" b="1" dirty="0">
                <a:sym typeface="Wingdings" panose="05000000000000000000" pitchFamily="2" charset="2"/>
              </a:rPr>
              <a:t>sector count </a:t>
            </a:r>
            <a:r>
              <a:rPr lang="en-US" dirty="0">
                <a:sym typeface="Wingdings" panose="05000000000000000000" pitchFamily="2" charset="2"/>
              </a:rPr>
              <a:t> Limited partition size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Only 28-bit is used in the disk block/cluster index</a:t>
            </a:r>
          </a:p>
          <a:p>
            <a:pPr marL="344487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412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Long File Name Support</a:t>
            </a:r>
          </a:p>
        </p:txBody>
      </p:sp>
      <p:sp>
        <p:nvSpPr>
          <p:cNvPr id="104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Virtual FAT (</a:t>
            </a:r>
            <a:r>
              <a:rPr lang="en-US" altLang="en-US" b="1" dirty="0">
                <a:solidFill>
                  <a:srgbClr val="660066"/>
                </a:solidFill>
              </a:rPr>
              <a:t>VFAT</a:t>
            </a:r>
            <a:r>
              <a:rPr lang="en-US" altLang="en-US" dirty="0"/>
              <a:t>):</a:t>
            </a:r>
          </a:p>
          <a:p>
            <a:pPr lvl="1"/>
            <a:r>
              <a:rPr lang="en-US" altLang="en-US" dirty="0"/>
              <a:t>Support long filenames up to 255 characters</a:t>
            </a:r>
          </a:p>
          <a:p>
            <a:pPr lvl="1"/>
            <a:r>
              <a:rPr lang="en-US" altLang="en-US" dirty="0"/>
              <a:t>First used in Win 95 (FAT16)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A work around rather than redesign:</a:t>
            </a:r>
          </a:p>
          <a:p>
            <a:pPr lvl="1"/>
            <a:r>
              <a:rPr lang="en-US" altLang="en-US" dirty="0"/>
              <a:t>Use </a:t>
            </a:r>
            <a:r>
              <a:rPr lang="en-US" altLang="en-US" b="1" dirty="0"/>
              <a:t>multiple directory entries </a:t>
            </a:r>
            <a:r>
              <a:rPr lang="en-US" altLang="en-US" dirty="0"/>
              <a:t>for a file with long file name</a:t>
            </a:r>
          </a:p>
          <a:p>
            <a:pPr lvl="1"/>
            <a:r>
              <a:rPr lang="en-US" altLang="en-US" dirty="0"/>
              <a:t>Need to keep the 8+3 short version for backward compatibility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51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VFAT Entries: Illustration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531" y="1180307"/>
            <a:ext cx="8229600" cy="685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"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long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file name.txt</a:t>
            </a:r>
            <a:r>
              <a:rPr lang="en-US" dirty="0"/>
              <a:t>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17</a:t>
            </a:fld>
            <a:endParaRPr lang="en-US" altLang="en-US"/>
          </a:p>
        </p:txBody>
      </p: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1219200" y="4894710"/>
            <a:ext cx="6248400" cy="640970"/>
            <a:chOff x="-373" y="1392"/>
            <a:chExt cx="2627" cy="383"/>
          </a:xfrm>
        </p:grpSpPr>
        <p:sp>
          <p:nvSpPr>
            <p:cNvPr id="7" name="Rectangle 33"/>
            <p:cNvSpPr>
              <a:spLocks noChangeArrowheads="1"/>
            </p:cNvSpPr>
            <p:nvPr/>
          </p:nvSpPr>
          <p:spPr bwMode="auto">
            <a:xfrm>
              <a:off x="1343" y="1392"/>
              <a:ext cx="911" cy="383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2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8" name="Rectangle 34"/>
            <p:cNvSpPr>
              <a:spLocks noChangeArrowheads="1"/>
            </p:cNvSpPr>
            <p:nvPr/>
          </p:nvSpPr>
          <p:spPr bwMode="auto">
            <a:xfrm>
              <a:off x="-373" y="1392"/>
              <a:ext cx="1717" cy="3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tx2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800" b="1" dirty="0">
                  <a:latin typeface="Courier New" panose="02070309020205020404" pitchFamily="49" charset="0"/>
                </a:rPr>
                <a:t>ALONGL~1.txt</a:t>
              </a:r>
            </a:p>
          </p:txBody>
        </p:sp>
        <p:sp>
          <p:nvSpPr>
            <p:cNvPr id="9" name="Rectangle 36"/>
            <p:cNvSpPr>
              <a:spLocks noChangeArrowheads="1"/>
            </p:cNvSpPr>
            <p:nvPr/>
          </p:nvSpPr>
          <p:spPr bwMode="auto">
            <a:xfrm>
              <a:off x="1776" y="1392"/>
              <a:ext cx="240" cy="383"/>
            </a:xfrm>
            <a:prstGeom prst="rect">
              <a:avLst/>
            </a:prstGeom>
            <a:solidFill>
              <a:srgbClr val="99CCFF"/>
            </a:solidFill>
            <a:ln w="19050" algn="ctr">
              <a:solidFill>
                <a:schemeClr val="tx2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8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219200" y="2971800"/>
            <a:ext cx="6248400" cy="640970"/>
            <a:chOff x="3657600" y="1904206"/>
            <a:chExt cx="3938542" cy="455613"/>
          </a:xfrm>
        </p:grpSpPr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6605840" y="1904206"/>
              <a:ext cx="990302" cy="455613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28" name="Rectangle 36"/>
            <p:cNvSpPr>
              <a:spLocks noChangeArrowheads="1"/>
            </p:cNvSpPr>
            <p:nvPr/>
          </p:nvSpPr>
          <p:spPr bwMode="auto">
            <a:xfrm>
              <a:off x="3657600" y="1904206"/>
              <a:ext cx="359821" cy="4556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800" b="1" dirty="0">
                  <a:latin typeface="Courier New" panose="02070309020205020404" pitchFamily="49" charset="0"/>
                </a:rPr>
                <a:t>SQ</a:t>
              </a:r>
            </a:p>
          </p:txBody>
        </p:sp>
        <p:sp>
          <p:nvSpPr>
            <p:cNvPr id="29" name="Rectangle 36"/>
            <p:cNvSpPr>
              <a:spLocks noChangeArrowheads="1"/>
            </p:cNvSpPr>
            <p:nvPr/>
          </p:nvSpPr>
          <p:spPr bwMode="auto">
            <a:xfrm>
              <a:off x="6230321" y="1904206"/>
              <a:ext cx="375519" cy="4556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800" b="1" dirty="0">
                  <a:latin typeface="Courier New" panose="02070309020205020404" pitchFamily="49" charset="0"/>
                </a:rPr>
                <a:t>SP</a:t>
              </a:r>
            </a:p>
          </p:txBody>
        </p:sp>
        <p:sp>
          <p:nvSpPr>
            <p:cNvPr id="32" name="Rectangle 34"/>
            <p:cNvSpPr>
              <a:spLocks noChangeArrowheads="1"/>
            </p:cNvSpPr>
            <p:nvPr/>
          </p:nvSpPr>
          <p:spPr bwMode="auto">
            <a:xfrm>
              <a:off x="4017421" y="1904206"/>
              <a:ext cx="2212900" cy="4556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r>
                <a:rPr lang="en-US" altLang="en-US" sz="2800" b="1" dirty="0" err="1">
                  <a:latin typeface="Courier New" panose="02070309020205020404" pitchFamily="49" charset="0"/>
                </a:rPr>
                <a:t>ile</a:t>
              </a:r>
              <a:r>
                <a:rPr lang="en-US" altLang="en-US" sz="2800" b="1" dirty="0">
                  <a:latin typeface="Courier New" panose="02070309020205020404" pitchFamily="49" charset="0"/>
                </a:rPr>
                <a:t> name.txt</a:t>
              </a:r>
            </a:p>
          </p:txBody>
        </p:sp>
        <p:sp>
          <p:nvSpPr>
            <p:cNvPr id="33" name="Rectangle 36"/>
            <p:cNvSpPr>
              <a:spLocks noChangeArrowheads="1"/>
            </p:cNvSpPr>
            <p:nvPr/>
          </p:nvSpPr>
          <p:spPr bwMode="auto">
            <a:xfrm>
              <a:off x="6877999" y="1904206"/>
              <a:ext cx="359821" cy="455613"/>
            </a:xfrm>
            <a:prstGeom prst="rect">
              <a:avLst/>
            </a:prstGeom>
            <a:solidFill>
              <a:srgbClr val="99CCFF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endParaRPr lang="en-US" altLang="en-US" sz="28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219200" y="3702430"/>
            <a:ext cx="6248400" cy="640970"/>
            <a:chOff x="3657600" y="1904206"/>
            <a:chExt cx="3938542" cy="455613"/>
          </a:xfrm>
        </p:grpSpPr>
        <p:sp>
          <p:nvSpPr>
            <p:cNvPr id="36" name="Rectangle 33"/>
            <p:cNvSpPr>
              <a:spLocks noChangeArrowheads="1"/>
            </p:cNvSpPr>
            <p:nvPr/>
          </p:nvSpPr>
          <p:spPr bwMode="auto">
            <a:xfrm>
              <a:off x="6605840" y="1904206"/>
              <a:ext cx="990302" cy="455613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3657600" y="1904206"/>
              <a:ext cx="359821" cy="4556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800" b="1" dirty="0">
                  <a:latin typeface="Courier New" panose="02070309020205020404" pitchFamily="49" charset="0"/>
                </a:rPr>
                <a:t>SQ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6230321" y="1904206"/>
              <a:ext cx="375519" cy="4556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800" b="1" dirty="0">
                  <a:latin typeface="Courier New" panose="02070309020205020404" pitchFamily="49" charset="0"/>
                </a:rPr>
                <a:t>SP</a:t>
              </a:r>
            </a:p>
          </p:txBody>
        </p:sp>
        <p:sp>
          <p:nvSpPr>
            <p:cNvPr id="39" name="Rectangle 34"/>
            <p:cNvSpPr>
              <a:spLocks noChangeArrowheads="1"/>
            </p:cNvSpPr>
            <p:nvPr/>
          </p:nvSpPr>
          <p:spPr bwMode="auto">
            <a:xfrm>
              <a:off x="4017421" y="1904206"/>
              <a:ext cx="2212900" cy="4556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r>
                <a:rPr lang="en-US" altLang="en-US" sz="2800" b="1" dirty="0">
                  <a:latin typeface="Courier New" panose="02070309020205020404" pitchFamily="49" charset="0"/>
                </a:rPr>
                <a:t>A long </a:t>
              </a:r>
              <a:r>
                <a:rPr lang="en-US" altLang="en-US" sz="2800" b="1" dirty="0" err="1">
                  <a:latin typeface="Courier New" panose="02070309020205020404" pitchFamily="49" charset="0"/>
                </a:rPr>
                <a:t>long</a:t>
              </a:r>
              <a:r>
                <a:rPr lang="en-US" altLang="en-US" sz="2800" b="1" dirty="0">
                  <a:latin typeface="Courier New" panose="02070309020205020404" pitchFamily="49" charset="0"/>
                </a:rPr>
                <a:t> f</a:t>
              </a:r>
            </a:p>
          </p:txBody>
        </p:sp>
        <p:sp>
          <p:nvSpPr>
            <p:cNvPr id="40" name="Rectangle 36"/>
            <p:cNvSpPr>
              <a:spLocks noChangeArrowheads="1"/>
            </p:cNvSpPr>
            <p:nvPr/>
          </p:nvSpPr>
          <p:spPr bwMode="auto">
            <a:xfrm>
              <a:off x="6877999" y="1904206"/>
              <a:ext cx="359821" cy="455613"/>
            </a:xfrm>
            <a:prstGeom prst="rect">
              <a:avLst/>
            </a:prstGeom>
            <a:solidFill>
              <a:srgbClr val="99CCFF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endParaRPr lang="en-US" altLang="en-US" sz="2800" b="1" dirty="0">
                <a:latin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382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74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Extended-2</a:t>
            </a:r>
            <a:r>
              <a:rPr lang="en-US" altLang="en-US" dirty="0"/>
              <a:t> File System</a:t>
            </a:r>
          </a:p>
        </p:txBody>
      </p:sp>
      <p:sp>
        <p:nvSpPr>
          <p:cNvPr id="1140741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Popular Linux File System</a:t>
            </a:r>
          </a:p>
        </p:txBody>
      </p:sp>
    </p:spTree>
    <p:extLst>
      <p:ext uri="{BB962C8B-B14F-4D97-AF65-F5344CB8AC3E}">
        <p14:creationId xmlns:p14="http://schemas.microsoft.com/office/powerpoint/2010/main" val="2390251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Extended-2 File System (</a:t>
            </a:r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Ext2</a:t>
            </a:r>
            <a:r>
              <a:rPr lang="en-US" altLang="en-US" sz="3800" b="1" dirty="0"/>
              <a:t>)</a:t>
            </a:r>
          </a:p>
        </p:txBody>
      </p:sp>
      <p:sp>
        <p:nvSpPr>
          <p:cNvPr id="114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One of the most popular file systems used in Linux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b="1" dirty="0"/>
              <a:t>A </a:t>
            </a:r>
            <a:r>
              <a:rPr lang="en-US" altLang="en-US" b="1" dirty="0">
                <a:solidFill>
                  <a:srgbClr val="C00000"/>
                </a:solidFill>
              </a:rPr>
              <a:t>nice</a:t>
            </a:r>
            <a:r>
              <a:rPr lang="en-US" altLang="en-US" b="1" dirty="0"/>
              <a:t> case study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Uses many techniques discussed</a:t>
            </a:r>
          </a:p>
          <a:p>
            <a:pPr lvl="1"/>
            <a:r>
              <a:rPr lang="en-US" altLang="en-US" dirty="0"/>
              <a:t>Embedded a few traditional Unix FS ideas</a:t>
            </a:r>
          </a:p>
          <a:p>
            <a:pPr lvl="2"/>
            <a:r>
              <a:rPr lang="en-US" altLang="en-US" dirty="0"/>
              <a:t>Serves as a good starting point to understand other Unix related FS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However, Ext2 is quite intricate:</a:t>
            </a:r>
          </a:p>
          <a:p>
            <a:pPr lvl="1"/>
            <a:r>
              <a:rPr lang="en-US" altLang="en-US" dirty="0"/>
              <a:t>Will concentrate on important/relevant parts only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484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Ext2 FS</a:t>
            </a:r>
            <a:r>
              <a:rPr lang="en-US" altLang="en-US" sz="3800" dirty="0"/>
              <a:t>: Overview</a:t>
            </a:r>
          </a:p>
        </p:txBody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Disk space is split into </a:t>
            </a:r>
            <a:r>
              <a:rPr lang="en-US" altLang="en-US" b="1" dirty="0"/>
              <a:t>Blocks</a:t>
            </a:r>
            <a:endParaRPr lang="en-US" altLang="en-US" dirty="0"/>
          </a:p>
          <a:p>
            <a:pPr lvl="1"/>
            <a:r>
              <a:rPr lang="en-US" altLang="en-US" dirty="0"/>
              <a:t>Correspond to one or more disk sector</a:t>
            </a:r>
          </a:p>
          <a:p>
            <a:pPr lvl="1"/>
            <a:r>
              <a:rPr lang="en-US" altLang="en-US" dirty="0"/>
              <a:t>i.e. Similar to disk cluster in FAT FS</a:t>
            </a:r>
          </a:p>
          <a:p>
            <a:r>
              <a:rPr lang="en-US" altLang="en-US" dirty="0"/>
              <a:t>Blocks are grouped into </a:t>
            </a:r>
            <a:r>
              <a:rPr lang="en-US" altLang="en-US" b="1" dirty="0"/>
              <a:t>Block Groups</a:t>
            </a:r>
            <a:endParaRPr lang="en-US" altLang="en-US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Each file/directory is described by: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b="1" dirty="0"/>
              <a:t>single</a:t>
            </a:r>
            <a:r>
              <a:rPr lang="en-US" altLang="en-US" dirty="0"/>
              <a:t> special structure known as </a:t>
            </a:r>
            <a:r>
              <a:rPr lang="en-US" altLang="en-US" b="1" dirty="0"/>
              <a:t>I-Node </a:t>
            </a:r>
            <a:r>
              <a:rPr lang="en-US" altLang="en-US" dirty="0"/>
              <a:t>(Index Node)</a:t>
            </a:r>
          </a:p>
          <a:p>
            <a:r>
              <a:rPr lang="en-US" altLang="en-US" dirty="0"/>
              <a:t>I-Node contains:</a:t>
            </a:r>
          </a:p>
          <a:p>
            <a:pPr lvl="1"/>
            <a:r>
              <a:rPr lang="en-US" altLang="en-US" dirty="0"/>
              <a:t>File metadata (access right, creation time </a:t>
            </a:r>
            <a:r>
              <a:rPr lang="en-US" altLang="en-US" dirty="0" err="1"/>
              <a:t>etc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Data block addresses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578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1"/>
          <p:cNvSpPr>
            <a:spLocks noChangeArrowheads="1"/>
          </p:cNvSpPr>
          <p:nvPr/>
        </p:nvSpPr>
        <p:spPr bwMode="auto">
          <a:xfrm>
            <a:off x="457200" y="4038600"/>
            <a:ext cx="80010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2000" b="1">
              <a:latin typeface="Courier New" panose="02070309020205020404" pitchFamily="49" charset="0"/>
            </a:endParaRPr>
          </a:p>
        </p:txBody>
      </p:sp>
      <p:sp>
        <p:nvSpPr>
          <p:cNvPr id="1143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Ext2 FS</a:t>
            </a:r>
            <a:r>
              <a:rPr lang="en-US" altLang="en-US" sz="3800" dirty="0"/>
              <a:t>: Layout</a:t>
            </a:r>
          </a:p>
        </p:txBody>
      </p:sp>
      <p:sp>
        <p:nvSpPr>
          <p:cNvPr id="1143817" name="Rectangle 9"/>
          <p:cNvSpPr>
            <a:spLocks noChangeArrowheads="1"/>
          </p:cNvSpPr>
          <p:nvPr/>
        </p:nvSpPr>
        <p:spPr bwMode="auto">
          <a:xfrm>
            <a:off x="1600200" y="990600"/>
            <a:ext cx="16002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1</a:t>
            </a:r>
          </a:p>
        </p:txBody>
      </p:sp>
      <p:sp>
        <p:nvSpPr>
          <p:cNvPr id="1143818" name="Rectangle 10"/>
          <p:cNvSpPr>
            <a:spLocks noChangeArrowheads="1"/>
          </p:cNvSpPr>
          <p:nvPr/>
        </p:nvSpPr>
        <p:spPr bwMode="auto">
          <a:xfrm>
            <a:off x="6400800" y="990600"/>
            <a:ext cx="16002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4</a:t>
            </a:r>
          </a:p>
        </p:txBody>
      </p:sp>
      <p:sp>
        <p:nvSpPr>
          <p:cNvPr id="1143819" name="Rectangle 11"/>
          <p:cNvSpPr>
            <a:spLocks noChangeArrowheads="1"/>
          </p:cNvSpPr>
          <p:nvPr/>
        </p:nvSpPr>
        <p:spPr bwMode="auto">
          <a:xfrm>
            <a:off x="4800600" y="990600"/>
            <a:ext cx="16002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3</a:t>
            </a:r>
          </a:p>
        </p:txBody>
      </p:sp>
      <p:sp>
        <p:nvSpPr>
          <p:cNvPr id="1143820" name="Rectangle 12"/>
          <p:cNvSpPr>
            <a:spLocks noChangeArrowheads="1"/>
          </p:cNvSpPr>
          <p:nvPr/>
        </p:nvSpPr>
        <p:spPr bwMode="auto">
          <a:xfrm>
            <a:off x="3200400" y="990600"/>
            <a:ext cx="16002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2</a:t>
            </a:r>
          </a:p>
        </p:txBody>
      </p:sp>
      <p:sp>
        <p:nvSpPr>
          <p:cNvPr id="1143821" name="Rectangle 13"/>
          <p:cNvSpPr>
            <a:spLocks noChangeArrowheads="1"/>
          </p:cNvSpPr>
          <p:nvPr/>
        </p:nvSpPr>
        <p:spPr bwMode="auto">
          <a:xfrm>
            <a:off x="1066800" y="990600"/>
            <a:ext cx="533400" cy="8382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2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43822" name="Text Box 14"/>
          <p:cNvSpPr txBox="1">
            <a:spLocks noChangeArrowheads="1"/>
          </p:cNvSpPr>
          <p:nvPr/>
        </p:nvSpPr>
        <p:spPr bwMode="auto">
          <a:xfrm>
            <a:off x="1214438" y="1066800"/>
            <a:ext cx="309562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</a:rPr>
              <a:t>M</a:t>
            </a:r>
            <a:br>
              <a:rPr lang="en-US" altLang="en-US" sz="1400" b="1">
                <a:latin typeface="Courier New" panose="02070309020205020404" pitchFamily="49" charset="0"/>
              </a:rPr>
            </a:br>
            <a:r>
              <a:rPr lang="en-US" altLang="en-US" sz="1400" b="1">
                <a:latin typeface="Courier New" panose="02070309020205020404" pitchFamily="49" charset="0"/>
              </a:rPr>
              <a:t>B</a:t>
            </a:r>
            <a:br>
              <a:rPr lang="en-US" altLang="en-US" sz="1400" b="1">
                <a:latin typeface="Courier New" panose="02070309020205020404" pitchFamily="49" charset="0"/>
              </a:rPr>
            </a:br>
            <a:r>
              <a:rPr lang="en-US" altLang="en-US" sz="1400" b="1">
                <a:latin typeface="Courier New" panose="02070309020205020404" pitchFamily="49" charset="0"/>
              </a:rPr>
              <a:t>R</a:t>
            </a:r>
          </a:p>
        </p:txBody>
      </p:sp>
      <p:sp>
        <p:nvSpPr>
          <p:cNvPr id="1143823" name="Rectangle 15"/>
          <p:cNvSpPr>
            <a:spLocks noChangeArrowheads="1"/>
          </p:cNvSpPr>
          <p:nvPr/>
        </p:nvSpPr>
        <p:spPr bwMode="auto">
          <a:xfrm>
            <a:off x="533400" y="2438400"/>
            <a:ext cx="8153400" cy="838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533400" y="1828800"/>
            <a:ext cx="8153400" cy="609600"/>
            <a:chOff x="533400" y="1828800"/>
            <a:chExt cx="8153400" cy="609600"/>
          </a:xfrm>
        </p:grpSpPr>
        <p:sp>
          <p:nvSpPr>
            <p:cNvPr id="1143824" name="Line 16"/>
            <p:cNvSpPr>
              <a:spLocks noChangeShapeType="1"/>
            </p:cNvSpPr>
            <p:nvPr/>
          </p:nvSpPr>
          <p:spPr bwMode="auto">
            <a:xfrm flipH="1">
              <a:off x="533400" y="1828800"/>
              <a:ext cx="1066800" cy="6096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3825" name="Line 17"/>
            <p:cNvSpPr>
              <a:spLocks noChangeShapeType="1"/>
            </p:cNvSpPr>
            <p:nvPr/>
          </p:nvSpPr>
          <p:spPr bwMode="auto">
            <a:xfrm>
              <a:off x="3200400" y="1828800"/>
              <a:ext cx="5486400" cy="6096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43826" name="Rectangle 18" descr="Large checker board"/>
          <p:cNvSpPr>
            <a:spLocks noChangeArrowheads="1"/>
          </p:cNvSpPr>
          <p:nvPr/>
        </p:nvSpPr>
        <p:spPr bwMode="auto">
          <a:xfrm>
            <a:off x="990600" y="2438400"/>
            <a:ext cx="2209800" cy="838200"/>
          </a:xfrm>
          <a:prstGeom prst="rect">
            <a:avLst/>
          </a:prstGeo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Block Group 0</a:t>
            </a:r>
          </a:p>
        </p:txBody>
      </p:sp>
      <p:sp>
        <p:nvSpPr>
          <p:cNvPr id="1143836" name="Rectangle 28" descr="Large checker board"/>
          <p:cNvSpPr>
            <a:spLocks noChangeArrowheads="1"/>
          </p:cNvSpPr>
          <p:nvPr/>
        </p:nvSpPr>
        <p:spPr bwMode="auto">
          <a:xfrm>
            <a:off x="3200400" y="2438400"/>
            <a:ext cx="2209800" cy="8382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Block Group 1</a:t>
            </a:r>
          </a:p>
        </p:txBody>
      </p:sp>
      <p:sp>
        <p:nvSpPr>
          <p:cNvPr id="1143837" name="Rectangle 29" descr="Large checker board"/>
          <p:cNvSpPr>
            <a:spLocks noChangeArrowheads="1"/>
          </p:cNvSpPr>
          <p:nvPr/>
        </p:nvSpPr>
        <p:spPr bwMode="auto">
          <a:xfrm>
            <a:off x="5410200" y="2438400"/>
            <a:ext cx="2209800" cy="8382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Block Group 2</a:t>
            </a:r>
          </a:p>
        </p:txBody>
      </p:sp>
      <p:sp>
        <p:nvSpPr>
          <p:cNvPr id="1143838" name="Rectangle 30" descr="Large checker board"/>
          <p:cNvSpPr>
            <a:spLocks noChangeArrowheads="1"/>
          </p:cNvSpPr>
          <p:nvPr/>
        </p:nvSpPr>
        <p:spPr bwMode="auto">
          <a:xfrm>
            <a:off x="7620000" y="2438400"/>
            <a:ext cx="1066800" cy="838200"/>
          </a:xfrm>
          <a:prstGeom prst="rect">
            <a:avLst/>
          </a:prstGeom>
          <a:pattFill prst="wd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1143827" name="Rectangle 19" descr="Outlined diamond"/>
          <p:cNvSpPr>
            <a:spLocks noChangeArrowheads="1"/>
          </p:cNvSpPr>
          <p:nvPr/>
        </p:nvSpPr>
        <p:spPr bwMode="auto">
          <a:xfrm>
            <a:off x="533400" y="2438400"/>
            <a:ext cx="457200" cy="838200"/>
          </a:xfrm>
          <a:prstGeom prst="rect">
            <a:avLst/>
          </a:prstGeom>
          <a:pattFill prst="openDmnd">
            <a:fgClr>
              <a:schemeClr val="accent2">
                <a:lumMod val="20000"/>
                <a:lumOff val="80000"/>
              </a:schemeClr>
            </a:fgClr>
            <a:bgClr>
              <a:srgbClr val="FFFFFF"/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BOOT</a:t>
            </a:r>
            <a:endParaRPr lang="en-US" altLang="en-US" sz="1200" b="1" dirty="0">
              <a:latin typeface="Courier New" panose="02070309020205020404" pitchFamily="49" charset="0"/>
            </a:endParaRPr>
          </a:p>
        </p:txBody>
      </p:sp>
      <p:sp>
        <p:nvSpPr>
          <p:cNvPr id="1143839" name="Rectangle 31"/>
          <p:cNvSpPr>
            <a:spLocks noChangeArrowheads="1"/>
          </p:cNvSpPr>
          <p:nvPr/>
        </p:nvSpPr>
        <p:spPr bwMode="auto">
          <a:xfrm>
            <a:off x="457200" y="4038600"/>
            <a:ext cx="990600" cy="838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2000" b="1">
              <a:latin typeface="Courier New" panose="02070309020205020404" pitchFamily="49" charset="0"/>
            </a:endParaRPr>
          </a:p>
        </p:txBody>
      </p:sp>
      <p:sp>
        <p:nvSpPr>
          <p:cNvPr id="1143840" name="Rectangle 32"/>
          <p:cNvSpPr>
            <a:spLocks noChangeArrowheads="1"/>
          </p:cNvSpPr>
          <p:nvPr/>
        </p:nvSpPr>
        <p:spPr bwMode="auto">
          <a:xfrm>
            <a:off x="1447800" y="4038600"/>
            <a:ext cx="1676400" cy="838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lIns="91434" tIns="45717" rIns="91434" bIns="45717" anchor="ctr"/>
          <a:lstStyle/>
          <a:p>
            <a:pPr algn="ctr"/>
            <a:r>
              <a:rPr lang="en-US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Group Descriptors</a:t>
            </a:r>
          </a:p>
        </p:txBody>
      </p:sp>
      <p:sp>
        <p:nvSpPr>
          <p:cNvPr id="1143841" name="Rectangle 33" descr="Dotted diamond"/>
          <p:cNvSpPr>
            <a:spLocks noChangeArrowheads="1"/>
          </p:cNvSpPr>
          <p:nvPr/>
        </p:nvSpPr>
        <p:spPr bwMode="auto">
          <a:xfrm>
            <a:off x="3124200" y="4038600"/>
            <a:ext cx="838200" cy="838200"/>
          </a:xfrm>
          <a:prstGeom prst="rect">
            <a:avLst/>
          </a:prstGeom>
          <a:pattFill prst="dotDmnd">
            <a:fgClr>
              <a:srgbClr val="000000"/>
            </a:fgClr>
            <a:bgClr>
              <a:schemeClr val="bg1"/>
            </a:bgClr>
          </a:patt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endParaRPr lang="en-US" altLang="en-US" sz="2000" b="1">
              <a:latin typeface="Courier New" panose="02070309020205020404" pitchFamily="49" charset="0"/>
            </a:endParaRPr>
          </a:p>
        </p:txBody>
      </p:sp>
      <p:sp>
        <p:nvSpPr>
          <p:cNvPr id="1143842" name="Rectangle 34" descr="Dotted diamond"/>
          <p:cNvSpPr>
            <a:spLocks noChangeArrowheads="1"/>
          </p:cNvSpPr>
          <p:nvPr/>
        </p:nvSpPr>
        <p:spPr bwMode="auto">
          <a:xfrm>
            <a:off x="3962400" y="4038600"/>
            <a:ext cx="838200" cy="838200"/>
          </a:xfrm>
          <a:prstGeom prst="rect">
            <a:avLst/>
          </a:prstGeom>
          <a:pattFill prst="dotDmnd">
            <a:fgClr>
              <a:srgbClr val="0033CC"/>
            </a:fgClr>
            <a:bgClr>
              <a:schemeClr val="bg1"/>
            </a:bgClr>
          </a:patt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endParaRPr lang="en-US" altLang="en-US" sz="2000" b="1">
              <a:latin typeface="Courier New" panose="02070309020205020404" pitchFamily="49" charset="0"/>
            </a:endParaRPr>
          </a:p>
        </p:txBody>
      </p:sp>
      <p:sp>
        <p:nvSpPr>
          <p:cNvPr id="1143843" name="Rectangle 35" descr="Light vertical"/>
          <p:cNvSpPr>
            <a:spLocks noChangeArrowheads="1"/>
          </p:cNvSpPr>
          <p:nvPr/>
        </p:nvSpPr>
        <p:spPr bwMode="auto">
          <a:xfrm>
            <a:off x="4800600" y="4038600"/>
            <a:ext cx="1219200" cy="838200"/>
          </a:xfrm>
          <a:prstGeom prst="rect">
            <a:avLst/>
          </a:prstGeom>
          <a:pattFill prst="ltVert">
            <a:fgClr>
              <a:srgbClr val="00CCFF"/>
            </a:fgClr>
            <a:bgClr>
              <a:schemeClr val="bg1"/>
            </a:bgClr>
          </a:patt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endParaRPr lang="en-US" altLang="en-US" sz="2000" b="1">
              <a:latin typeface="Courier New" panose="02070309020205020404" pitchFamily="49" charset="0"/>
            </a:endParaRPr>
          </a:p>
        </p:txBody>
      </p:sp>
      <p:sp>
        <p:nvSpPr>
          <p:cNvPr id="1143844" name="Rectangle 36"/>
          <p:cNvSpPr>
            <a:spLocks noChangeArrowheads="1"/>
          </p:cNvSpPr>
          <p:nvPr/>
        </p:nvSpPr>
        <p:spPr bwMode="auto">
          <a:xfrm>
            <a:off x="6019800" y="4038600"/>
            <a:ext cx="2438400" cy="838200"/>
          </a:xfrm>
          <a:prstGeom prst="rect">
            <a:avLst/>
          </a:prstGeom>
          <a:solidFill>
            <a:srgbClr val="CCFFFF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Data Blocks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57200" y="3276600"/>
            <a:ext cx="7924800" cy="762000"/>
            <a:chOff x="457200" y="3276600"/>
            <a:chExt cx="7924800" cy="762000"/>
          </a:xfrm>
        </p:grpSpPr>
        <p:sp>
          <p:nvSpPr>
            <p:cNvPr id="1143845" name="Line 37"/>
            <p:cNvSpPr>
              <a:spLocks noChangeShapeType="1"/>
            </p:cNvSpPr>
            <p:nvPr/>
          </p:nvSpPr>
          <p:spPr bwMode="auto">
            <a:xfrm flipH="1">
              <a:off x="457200" y="3276600"/>
              <a:ext cx="533400" cy="7620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3846" name="Line 38"/>
            <p:cNvSpPr>
              <a:spLocks noChangeShapeType="1"/>
            </p:cNvSpPr>
            <p:nvPr/>
          </p:nvSpPr>
          <p:spPr bwMode="auto">
            <a:xfrm>
              <a:off x="3200400" y="3276600"/>
              <a:ext cx="5181600" cy="7620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43847" name="AutoShape 39"/>
          <p:cNvSpPr>
            <a:spLocks/>
          </p:cNvSpPr>
          <p:nvPr/>
        </p:nvSpPr>
        <p:spPr bwMode="auto">
          <a:xfrm>
            <a:off x="228600" y="5334000"/>
            <a:ext cx="914400" cy="609600"/>
          </a:xfrm>
          <a:prstGeom prst="accentCallout2">
            <a:avLst>
              <a:gd name="adj1" fmla="val 18750"/>
              <a:gd name="adj2" fmla="val 108333"/>
              <a:gd name="adj3" fmla="val 18750"/>
              <a:gd name="adj4" fmla="val 112500"/>
              <a:gd name="adj5" fmla="val -93750"/>
              <a:gd name="adj6" fmla="val 1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 dirty="0">
                <a:solidFill>
                  <a:srgbClr val="0033CC"/>
                </a:solidFill>
              </a:rPr>
              <a:t>Super-Block</a:t>
            </a:r>
          </a:p>
        </p:txBody>
      </p:sp>
      <p:sp>
        <p:nvSpPr>
          <p:cNvPr id="1143848" name="AutoShape 40"/>
          <p:cNvSpPr>
            <a:spLocks/>
          </p:cNvSpPr>
          <p:nvPr/>
        </p:nvSpPr>
        <p:spPr bwMode="auto">
          <a:xfrm>
            <a:off x="1981200" y="5029200"/>
            <a:ext cx="990600" cy="609600"/>
          </a:xfrm>
          <a:prstGeom prst="accentCallout2">
            <a:avLst>
              <a:gd name="adj1" fmla="val 18750"/>
              <a:gd name="adj2" fmla="val 108333"/>
              <a:gd name="adj3" fmla="val 18750"/>
              <a:gd name="adj4" fmla="val 138194"/>
              <a:gd name="adj5" fmla="val -50368"/>
              <a:gd name="adj6" fmla="val 15461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Block Bitmap</a:t>
            </a:r>
          </a:p>
        </p:txBody>
      </p:sp>
      <p:sp>
        <p:nvSpPr>
          <p:cNvPr id="1143849" name="AutoShape 41"/>
          <p:cNvSpPr>
            <a:spLocks/>
          </p:cNvSpPr>
          <p:nvPr/>
        </p:nvSpPr>
        <p:spPr bwMode="auto">
          <a:xfrm>
            <a:off x="2819400" y="5715000"/>
            <a:ext cx="1112668" cy="609600"/>
          </a:xfrm>
          <a:prstGeom prst="accentCallout2">
            <a:avLst>
              <a:gd name="adj1" fmla="val 18750"/>
              <a:gd name="adj2" fmla="val 108333"/>
              <a:gd name="adj3" fmla="val 17294"/>
              <a:gd name="adj4" fmla="val 128254"/>
              <a:gd name="adj5" fmla="val -159200"/>
              <a:gd name="adj6" fmla="val 15372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sz="2000" b="1" dirty="0">
                <a:solidFill>
                  <a:srgbClr val="660066"/>
                </a:solidFill>
              </a:rPr>
              <a:t>I-node</a:t>
            </a:r>
          </a:p>
          <a:p>
            <a:pPr algn="r"/>
            <a:r>
              <a:rPr lang="en-US" altLang="en-US" sz="2000" b="1" dirty="0">
                <a:solidFill>
                  <a:srgbClr val="660066"/>
                </a:solidFill>
              </a:rPr>
              <a:t>Bitmap</a:t>
            </a:r>
          </a:p>
        </p:txBody>
      </p:sp>
      <p:sp>
        <p:nvSpPr>
          <p:cNvPr id="1143850" name="AutoShape 42"/>
          <p:cNvSpPr>
            <a:spLocks/>
          </p:cNvSpPr>
          <p:nvPr/>
        </p:nvSpPr>
        <p:spPr bwMode="auto">
          <a:xfrm flipH="1">
            <a:off x="5943600" y="5638800"/>
            <a:ext cx="990600" cy="609600"/>
          </a:xfrm>
          <a:prstGeom prst="accentCallout2">
            <a:avLst>
              <a:gd name="adj1" fmla="val 18750"/>
              <a:gd name="adj2" fmla="val 107690"/>
              <a:gd name="adj3" fmla="val 18750"/>
              <a:gd name="adj4" fmla="val 119870"/>
              <a:gd name="adj5" fmla="val -146875"/>
              <a:gd name="adj6" fmla="val 13205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000" b="1" dirty="0">
                <a:solidFill>
                  <a:srgbClr val="660066"/>
                </a:solidFill>
              </a:rPr>
              <a:t>I-node</a:t>
            </a:r>
          </a:p>
          <a:p>
            <a:r>
              <a:rPr lang="en-US" altLang="en-US" sz="2000" b="1" dirty="0">
                <a:solidFill>
                  <a:srgbClr val="660066"/>
                </a:solidFill>
              </a:rPr>
              <a:t>Table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426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1143823" grpId="0" animBg="1"/>
      <p:bldP spid="1143826" grpId="0" animBg="1"/>
      <p:bldP spid="1143836" grpId="0" animBg="1"/>
      <p:bldP spid="1143837" grpId="0" animBg="1"/>
      <p:bldP spid="1143838" grpId="0" animBg="1"/>
      <p:bldP spid="1143827" grpId="0" animBg="1"/>
      <p:bldP spid="1143839" grpId="0" animBg="1"/>
      <p:bldP spid="1143840" grpId="0" animBg="1"/>
      <p:bldP spid="1143841" grpId="0" animBg="1"/>
      <p:bldP spid="1143842" grpId="0" animBg="1"/>
      <p:bldP spid="1143843" grpId="0" animBg="1"/>
      <p:bldP spid="1143844" grpId="0" animBg="1"/>
      <p:bldP spid="1143847" grpId="0" animBg="1"/>
      <p:bldP spid="1143848" grpId="0" animBg="1"/>
      <p:bldP spid="1143849" grpId="0" animBg="1"/>
      <p:bldP spid="114385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Partition Information</a:t>
            </a:r>
          </a:p>
        </p:txBody>
      </p:sp>
      <p:sp>
        <p:nvSpPr>
          <p:cNvPr id="1145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Superblock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Describe the whole file system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Includes: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Total I-Nodes number, I-Nodes per group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Total disk blocks, Disk Blocks per group</a:t>
            </a:r>
          </a:p>
          <a:p>
            <a:pPr lvl="2">
              <a:lnSpc>
                <a:spcPct val="90000"/>
              </a:lnSpc>
            </a:pP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Duplicated in each block group for redundancy</a:t>
            </a:r>
          </a:p>
          <a:p>
            <a:pPr>
              <a:lnSpc>
                <a:spcPct val="90000"/>
              </a:lnSpc>
            </a:pPr>
            <a:r>
              <a:rPr lang="en-US" altLang="en-US" b="1" dirty="0"/>
              <a:t>Group Descriptors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Describe each of the block group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Number of free disk blocks, free I-nodes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Location of the bitmaps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Duplicated in each block group as well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4998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Partition Information 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114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 dirty="0"/>
              <a:t>Block Bitmap</a:t>
            </a:r>
          </a:p>
          <a:p>
            <a:pPr lvl="1"/>
            <a:r>
              <a:rPr lang="en-US" altLang="en-US" dirty="0"/>
              <a:t>Keep track of the usage status of blocks of this block group (1 = Occupied, 0 = Free )</a:t>
            </a:r>
          </a:p>
          <a:p>
            <a:endParaRPr lang="en-US" altLang="en-US" b="1" dirty="0"/>
          </a:p>
          <a:p>
            <a:r>
              <a:rPr lang="en-US" altLang="en-US" b="1" dirty="0"/>
              <a:t>I-Node Bitmap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Keep track of the usage status of I-Nodes of this block group (1 = Occupied, 0 = Free )</a:t>
            </a:r>
          </a:p>
          <a:p>
            <a:endParaRPr lang="en-US" altLang="en-US" b="1" dirty="0"/>
          </a:p>
          <a:p>
            <a:r>
              <a:rPr lang="en-US" altLang="en-US" b="1" dirty="0"/>
              <a:t>I-Node table</a:t>
            </a:r>
          </a:p>
          <a:p>
            <a:pPr lvl="1"/>
            <a:r>
              <a:rPr lang="en-US" altLang="en-US" dirty="0"/>
              <a:t>An array of I-Nodes</a:t>
            </a:r>
          </a:p>
          <a:p>
            <a:pPr lvl="2"/>
            <a:r>
              <a:rPr lang="en-US" altLang="en-US" dirty="0"/>
              <a:t>Each I-Node can be access by an unique index</a:t>
            </a:r>
          </a:p>
          <a:p>
            <a:pPr lvl="1"/>
            <a:r>
              <a:rPr lang="en-US" altLang="en-US" dirty="0"/>
              <a:t>Contains only I-Nodes of this block group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6971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114800"/>
            <a:ext cx="408622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7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Ext2</a:t>
            </a:r>
            <a:r>
              <a:rPr lang="en-US" altLang="en-US" sz="3800" dirty="0"/>
              <a:t>: I-Node Structure (</a:t>
            </a:r>
            <a:r>
              <a:rPr lang="en-US" altLang="en-US" sz="3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128 Bytes</a:t>
            </a:r>
            <a:r>
              <a:rPr lang="en-US" altLang="en-US" sz="3800" dirty="0"/>
              <a:t>)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24</a:t>
            </a:fld>
            <a:endParaRPr lang="en-US" altLang="en-US"/>
          </a:p>
        </p:txBody>
      </p:sp>
      <p:grpSp>
        <p:nvGrpSpPr>
          <p:cNvPr id="6" name="Group 5"/>
          <p:cNvGrpSpPr/>
          <p:nvPr/>
        </p:nvGrpSpPr>
        <p:grpSpPr>
          <a:xfrm>
            <a:off x="452052" y="1289549"/>
            <a:ext cx="1961016" cy="4945790"/>
            <a:chOff x="838200" y="1378810"/>
            <a:chExt cx="1961016" cy="4945790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838200" y="1378810"/>
              <a:ext cx="1961016" cy="49457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839901" y="1378810"/>
              <a:ext cx="1959315" cy="7008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r>
                <a:rPr lang="en-US" b="1" dirty="0">
                  <a:latin typeface="+mn-lt"/>
                </a:rPr>
                <a:t>Mode (2)</a:t>
              </a: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838200" y="2050192"/>
              <a:ext cx="1961016" cy="68591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80815" tIns="40407" rIns="80815" bIns="40407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 dirty="0">
                  <a:latin typeface="+mn-lt"/>
                </a:rPr>
                <a:t>Owner Info (4)</a:t>
              </a: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839788" y="2736106"/>
              <a:ext cx="1959428" cy="68287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r>
                <a:rPr lang="en-US" altLang="en-US" b="1" dirty="0">
                  <a:latin typeface="+mn-lt"/>
                </a:rPr>
                <a:t>File Size (4/8)</a:t>
              </a: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838200" y="3412036"/>
              <a:ext cx="1961016" cy="70081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square" lIns="91434" tIns="45717" rIns="91434" bIns="45717" anchor="ctr"/>
            <a:lstStyle/>
            <a:p>
              <a:r>
                <a:rPr lang="en-US" altLang="en-US" b="1" dirty="0">
                  <a:latin typeface="+mn-lt"/>
                </a:rPr>
                <a:t>Timestamps </a:t>
              </a:r>
              <a:br>
                <a:rPr lang="en-US" altLang="en-US" b="1" dirty="0">
                  <a:latin typeface="+mn-lt"/>
                </a:rPr>
              </a:br>
              <a:r>
                <a:rPr lang="en-US" altLang="en-US" b="1" dirty="0">
                  <a:latin typeface="+mn-lt"/>
                </a:rPr>
                <a:t>(3 x 4)</a:t>
              </a: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838200" y="4795723"/>
              <a:ext cx="1961016" cy="70081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square" lIns="91434" tIns="45717" rIns="91434" bIns="45717" anchor="ctr"/>
            <a:lstStyle/>
            <a:p>
              <a:r>
                <a:rPr lang="en-US" altLang="en-US" b="1" dirty="0">
                  <a:latin typeface="+mn-lt"/>
                </a:rPr>
                <a:t>Reference Count (2)</a:t>
              </a:r>
            </a:p>
          </p:txBody>
        </p: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838200" y="4109730"/>
              <a:ext cx="1961016" cy="7008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square" lIns="91434" tIns="45717" rIns="91434" bIns="45717" anchor="ctr"/>
            <a:lstStyle/>
            <a:p>
              <a:r>
                <a:rPr lang="en-US" altLang="en-US" b="1" dirty="0">
                  <a:latin typeface="+mn-lt"/>
                </a:rPr>
                <a:t>Data Block Pointers (15 x 4)</a:t>
              </a:r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838200" y="5493416"/>
              <a:ext cx="1961016" cy="8311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dirty="0"/>
                <a:t>… </a:t>
              </a:r>
              <a:r>
                <a:rPr lang="en-US" altLang="en-US" i="1" dirty="0"/>
                <a:t>Other …</a:t>
              </a:r>
              <a:endParaRPr lang="en-US" altLang="en-US" dirty="0"/>
            </a:p>
            <a:p>
              <a:pPr algn="ctr"/>
              <a:r>
                <a:rPr lang="en-US" altLang="en-US" dirty="0"/>
                <a:t>… </a:t>
              </a:r>
              <a:r>
                <a:rPr lang="en-US" altLang="en-US" i="1" dirty="0"/>
                <a:t>Fields …</a:t>
              </a:r>
              <a:endParaRPr lang="en-US" altLang="en-US" dirty="0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81000" y="177375"/>
            <a:ext cx="8229600" cy="838200"/>
            <a:chOff x="457200" y="4038600"/>
            <a:chExt cx="8001000" cy="838200"/>
          </a:xfrm>
        </p:grpSpPr>
        <p:sp>
          <p:nvSpPr>
            <p:cNvPr id="19" name="Rectangle 31"/>
            <p:cNvSpPr>
              <a:spLocks noChangeArrowheads="1"/>
            </p:cNvSpPr>
            <p:nvPr/>
          </p:nvSpPr>
          <p:spPr bwMode="auto">
            <a:xfrm>
              <a:off x="457200" y="4038600"/>
              <a:ext cx="80010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20" name="Rectangle 31"/>
            <p:cNvSpPr>
              <a:spLocks noChangeArrowheads="1"/>
            </p:cNvSpPr>
            <p:nvPr/>
          </p:nvSpPr>
          <p:spPr bwMode="auto">
            <a:xfrm>
              <a:off x="457200" y="4038600"/>
              <a:ext cx="9906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21" name="Rectangle 32"/>
            <p:cNvSpPr>
              <a:spLocks noChangeArrowheads="1"/>
            </p:cNvSpPr>
            <p:nvPr/>
          </p:nvSpPr>
          <p:spPr bwMode="auto">
            <a:xfrm>
              <a:off x="1447800" y="4038600"/>
              <a:ext cx="16764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22" name="Rectangle 33" descr="Dotted diamond"/>
            <p:cNvSpPr>
              <a:spLocks noChangeArrowheads="1"/>
            </p:cNvSpPr>
            <p:nvPr/>
          </p:nvSpPr>
          <p:spPr bwMode="auto">
            <a:xfrm>
              <a:off x="3124200" y="4038600"/>
              <a:ext cx="8382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23" name="Rectangle 34" descr="Dotted diamond"/>
            <p:cNvSpPr>
              <a:spLocks noChangeArrowheads="1"/>
            </p:cNvSpPr>
            <p:nvPr/>
          </p:nvSpPr>
          <p:spPr bwMode="auto">
            <a:xfrm>
              <a:off x="3962400" y="4038600"/>
              <a:ext cx="8382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24" name="Rectangle 35" descr="Light vertical"/>
            <p:cNvSpPr>
              <a:spLocks noChangeArrowheads="1"/>
            </p:cNvSpPr>
            <p:nvPr/>
          </p:nvSpPr>
          <p:spPr bwMode="auto">
            <a:xfrm>
              <a:off x="4800600" y="4038600"/>
              <a:ext cx="1219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 dirty="0">
                  <a:latin typeface="Courier New" panose="02070309020205020404" pitchFamily="49" charset="0"/>
                </a:rPr>
                <a:t>I-Node</a:t>
              </a:r>
            </a:p>
            <a:p>
              <a:pPr algn="ctr"/>
              <a:r>
                <a:rPr lang="en-US" altLang="en-US" sz="2000" b="1" dirty="0">
                  <a:latin typeface="Courier New" panose="02070309020205020404" pitchFamily="49" charset="0"/>
                </a:rPr>
                <a:t>Table</a:t>
              </a:r>
            </a:p>
          </p:txBody>
        </p:sp>
        <p:sp>
          <p:nvSpPr>
            <p:cNvPr id="25" name="Rectangle 36"/>
            <p:cNvSpPr>
              <a:spLocks noChangeArrowheads="1"/>
            </p:cNvSpPr>
            <p:nvPr/>
          </p:nvSpPr>
          <p:spPr bwMode="auto">
            <a:xfrm>
              <a:off x="6019800" y="4038600"/>
              <a:ext cx="24384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 dirty="0">
                <a:latin typeface="Courier New" panose="02070309020205020404" pitchFamily="49" charset="0"/>
              </a:endParaRPr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112" y="2296800"/>
            <a:ext cx="1700888" cy="2769395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2885243" y="2881312"/>
            <a:ext cx="4953832" cy="2466975"/>
            <a:chOff x="2885243" y="2881312"/>
            <a:chExt cx="4953832" cy="2466975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7800" y="2881312"/>
              <a:ext cx="2581275" cy="2466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3" name="Straight Arrow Connector 32"/>
            <p:cNvCxnSpPr/>
            <p:nvPr/>
          </p:nvCxnSpPr>
          <p:spPr>
            <a:xfrm>
              <a:off x="2885243" y="4776186"/>
              <a:ext cx="2388093" cy="11541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2876365" y="2350986"/>
            <a:ext cx="3110440" cy="2309792"/>
            <a:chOff x="2876365" y="2350986"/>
            <a:chExt cx="3110440" cy="2309792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6408" y="2350986"/>
              <a:ext cx="1760397" cy="1957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7" name="Straight Arrow Connector 6"/>
            <p:cNvCxnSpPr/>
            <p:nvPr/>
          </p:nvCxnSpPr>
          <p:spPr>
            <a:xfrm flipV="1">
              <a:off x="2876365" y="4114800"/>
              <a:ext cx="1390835" cy="54597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Arrow Connector 37"/>
          <p:cNvCxnSpPr/>
          <p:nvPr/>
        </p:nvCxnSpPr>
        <p:spPr>
          <a:xfrm>
            <a:off x="2894120" y="4891596"/>
            <a:ext cx="2135080" cy="67100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7241516" y="4589756"/>
            <a:ext cx="853440" cy="8352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7244179" y="4998128"/>
            <a:ext cx="878889" cy="4971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88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I-Node Structure: </a:t>
            </a:r>
            <a:r>
              <a:rPr lang="en-US" b="1" dirty="0">
                <a:solidFill>
                  <a:srgbClr val="C00000"/>
                </a:solidFill>
              </a:rPr>
              <a:t>Data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25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340931"/>
            <a:ext cx="7010400" cy="480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08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I-Node Data Blocks</a:t>
            </a:r>
          </a:p>
        </p:txBody>
      </p:sp>
      <p:sp>
        <p:nvSpPr>
          <p:cNvPr id="114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Other than file metadata, I-Node contains</a:t>
            </a:r>
          </a:p>
          <a:p>
            <a:pPr lvl="1"/>
            <a:r>
              <a:rPr lang="en-US" altLang="en-US"/>
              <a:t>15 disk block pointers (disk block number)</a:t>
            </a:r>
          </a:p>
          <a:p>
            <a:pPr lvl="1"/>
            <a:endParaRPr lang="en-US" altLang="en-US"/>
          </a:p>
          <a:p>
            <a:r>
              <a:rPr lang="en-US" altLang="en-US"/>
              <a:t>First 12 pointers:</a:t>
            </a:r>
          </a:p>
          <a:p>
            <a:pPr lvl="1"/>
            <a:r>
              <a:rPr lang="en-US" altLang="en-US"/>
              <a:t>Points to disk blocks that stores actual data</a:t>
            </a:r>
          </a:p>
          <a:p>
            <a:pPr lvl="1"/>
            <a:r>
              <a:rPr lang="en-US" altLang="en-US"/>
              <a:t>Known as the </a:t>
            </a:r>
            <a:r>
              <a:rPr lang="en-US" altLang="en-US" b="1"/>
              <a:t>Direct Blocks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b="1"/>
          </a:p>
          <a:p>
            <a:r>
              <a:rPr lang="en-US" altLang="en-US"/>
              <a:t>13</a:t>
            </a:r>
            <a:r>
              <a:rPr lang="en-US" altLang="en-US" baseline="30000"/>
              <a:t>th</a:t>
            </a:r>
            <a:r>
              <a:rPr lang="en-US" altLang="en-US"/>
              <a:t> Pointer:</a:t>
            </a:r>
          </a:p>
          <a:p>
            <a:pPr lvl="1"/>
            <a:r>
              <a:rPr lang="en-US" altLang="en-US"/>
              <a:t>Points to a disk block that stores direct pointers</a:t>
            </a:r>
          </a:p>
          <a:p>
            <a:pPr lvl="1"/>
            <a:r>
              <a:rPr lang="en-US" altLang="en-US"/>
              <a:t>Known as </a:t>
            </a:r>
            <a:r>
              <a:rPr lang="en-US" altLang="en-US" b="1"/>
              <a:t>Single Indirect Block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3427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I-Node: Data Blocks 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1149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14</a:t>
            </a:r>
            <a:r>
              <a:rPr lang="en-US" altLang="en-US" baseline="30000"/>
              <a:t>th</a:t>
            </a:r>
            <a:r>
              <a:rPr lang="en-US" altLang="en-US"/>
              <a:t> Pointer:</a:t>
            </a:r>
          </a:p>
          <a:p>
            <a:pPr lvl="1"/>
            <a:r>
              <a:rPr lang="en-US" altLang="en-US"/>
              <a:t>Points to a disk block that contains a number of single indirect block</a:t>
            </a:r>
          </a:p>
          <a:p>
            <a:pPr lvl="1"/>
            <a:r>
              <a:rPr lang="en-US" altLang="en-US"/>
              <a:t>Known as </a:t>
            </a:r>
            <a:r>
              <a:rPr lang="en-US" altLang="en-US" b="1"/>
              <a:t>Double Indirect Block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/>
          </a:p>
          <a:p>
            <a:r>
              <a:rPr lang="en-US" altLang="en-US"/>
              <a:t>15</a:t>
            </a:r>
            <a:r>
              <a:rPr lang="en-US" altLang="en-US" baseline="30000"/>
              <a:t>th</a:t>
            </a:r>
            <a:r>
              <a:rPr lang="en-US" altLang="en-US"/>
              <a:t> Pointer:</a:t>
            </a:r>
          </a:p>
          <a:p>
            <a:pPr lvl="1"/>
            <a:r>
              <a:rPr lang="en-US" altLang="en-US"/>
              <a:t>Points to a disk block that contains a number of double indirect block</a:t>
            </a:r>
          </a:p>
          <a:p>
            <a:pPr lvl="1"/>
            <a:r>
              <a:rPr lang="en-US" altLang="en-US"/>
              <a:t>Known as </a:t>
            </a:r>
            <a:r>
              <a:rPr lang="en-US" altLang="en-US" b="1"/>
              <a:t>Triple Indirect Block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7022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I-Node </a:t>
            </a:r>
            <a:r>
              <a:rPr lang="en-US" altLang="en-US" sz="3800" dirty="0">
                <a:sym typeface="Wingdings" panose="05000000000000000000" pitchFamily="2" charset="2"/>
              </a:rPr>
              <a:t>Data Block Example</a:t>
            </a:r>
            <a:endParaRPr lang="en-US" altLang="en-US" sz="3800" dirty="0"/>
          </a:p>
        </p:txBody>
      </p:sp>
      <p:sp>
        <p:nvSpPr>
          <p:cNvPr id="1154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752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design of I-Node allows: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 access to </a:t>
            </a:r>
            <a:r>
              <a:rPr lang="en-US" altLang="en-US" b="1" dirty="0">
                <a:solidFill>
                  <a:srgbClr val="C00000"/>
                </a:solidFill>
              </a:rPr>
              <a:t>small file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Flexibility in handling </a:t>
            </a:r>
            <a:r>
              <a:rPr lang="en-US" altLang="en-US" b="1" dirty="0">
                <a:solidFill>
                  <a:srgbClr val="006600"/>
                </a:solidFill>
              </a:rPr>
              <a:t>huge file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28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592385"/>
            <a:ext cx="7010400" cy="4808415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84367" y="990600"/>
            <a:ext cx="8229600" cy="1530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kern="0" dirty="0"/>
              <a:t>E.g. (4 bytes block address, 1KiB disk block)</a:t>
            </a:r>
          </a:p>
        </p:txBody>
      </p:sp>
    </p:spTree>
    <p:extLst>
      <p:ext uri="{BB962C8B-B14F-4D97-AF65-F5344CB8AC3E}">
        <p14:creationId xmlns:p14="http://schemas.microsoft.com/office/powerpoint/2010/main" val="3996860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405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Directory Structure</a:t>
            </a:r>
          </a:p>
        </p:txBody>
      </p:sp>
      <p:sp>
        <p:nvSpPr>
          <p:cNvPr id="1150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Data blocks of a directory stores:</a:t>
            </a:r>
          </a:p>
          <a:p>
            <a:pPr lvl="1"/>
            <a:r>
              <a:rPr lang="en-US" altLang="en-US" b="1" dirty="0"/>
              <a:t>A linked list of directory entries </a:t>
            </a:r>
            <a:r>
              <a:rPr lang="en-US" altLang="en-US" dirty="0"/>
              <a:t>for file/subdirectories information within this directory</a:t>
            </a:r>
          </a:p>
          <a:p>
            <a:endParaRPr lang="en-US" altLang="en-US" dirty="0"/>
          </a:p>
          <a:p>
            <a:r>
              <a:rPr lang="en-US" altLang="en-US" dirty="0"/>
              <a:t>Each directory entry contains:</a:t>
            </a:r>
          </a:p>
          <a:p>
            <a:pPr lvl="1"/>
            <a:r>
              <a:rPr lang="en-US" altLang="en-US" dirty="0"/>
              <a:t>I-Node number for that file/subdirectory</a:t>
            </a:r>
          </a:p>
          <a:p>
            <a:pPr lvl="1"/>
            <a:r>
              <a:rPr lang="en-US" altLang="en-US" dirty="0"/>
              <a:t>Size of this directory entry</a:t>
            </a:r>
          </a:p>
          <a:p>
            <a:pPr lvl="2"/>
            <a:r>
              <a:rPr lang="en-US" altLang="en-US" dirty="0"/>
              <a:t>For locating the next directory entry </a:t>
            </a:r>
          </a:p>
          <a:p>
            <a:pPr lvl="1"/>
            <a:r>
              <a:rPr lang="en-US" altLang="en-US" dirty="0"/>
              <a:t>Length of the file/subdirectory name</a:t>
            </a:r>
          </a:p>
          <a:p>
            <a:pPr lvl="1"/>
            <a:r>
              <a:rPr lang="en-US" altLang="en-US" dirty="0"/>
              <a:t>Type: File or Subdirectory</a:t>
            </a:r>
          </a:p>
          <a:p>
            <a:pPr lvl="2"/>
            <a:r>
              <a:rPr lang="en-US" altLang="en-US" dirty="0"/>
              <a:t>Other special file type is also possible</a:t>
            </a:r>
          </a:p>
          <a:p>
            <a:pPr lvl="1"/>
            <a:r>
              <a:rPr lang="en-US" altLang="en-US" dirty="0"/>
              <a:t>File/Subdirectory name (up to 255 characters)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516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Directory Structure </a:t>
            </a:r>
            <a:r>
              <a:rPr lang="en-US" altLang="en-US" sz="3800" dirty="0"/>
              <a:t>(Illustration)</a:t>
            </a:r>
          </a:p>
        </p:txBody>
      </p:sp>
      <p:grpSp>
        <p:nvGrpSpPr>
          <p:cNvPr id="1152036" name="Group 36"/>
          <p:cNvGrpSpPr>
            <a:grpSpLocks/>
          </p:cNvGrpSpPr>
          <p:nvPr/>
        </p:nvGrpSpPr>
        <p:grpSpPr bwMode="auto">
          <a:xfrm>
            <a:off x="381000" y="2438400"/>
            <a:ext cx="3352800" cy="609600"/>
            <a:chOff x="240" y="1200"/>
            <a:chExt cx="2112" cy="384"/>
          </a:xfrm>
        </p:grpSpPr>
        <p:sp>
          <p:nvSpPr>
            <p:cNvPr id="1152004" name="Rectangle 4"/>
            <p:cNvSpPr>
              <a:spLocks noChangeArrowheads="1"/>
            </p:cNvSpPr>
            <p:nvPr/>
          </p:nvSpPr>
          <p:spPr bwMode="auto">
            <a:xfrm>
              <a:off x="240" y="1200"/>
              <a:ext cx="2112" cy="38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2005" name="Rectangle 5"/>
            <p:cNvSpPr>
              <a:spLocks noChangeArrowheads="1"/>
            </p:cNvSpPr>
            <p:nvPr/>
          </p:nvSpPr>
          <p:spPr bwMode="auto">
            <a:xfrm>
              <a:off x="240" y="1200"/>
              <a:ext cx="384" cy="3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anose="02070309020205020404" pitchFamily="49" charset="0"/>
                </a:rPr>
                <a:t>91</a:t>
              </a:r>
            </a:p>
          </p:txBody>
        </p:sp>
        <p:sp>
          <p:nvSpPr>
            <p:cNvPr id="1152006" name="Rectangle 6"/>
            <p:cNvSpPr>
              <a:spLocks noChangeArrowheads="1"/>
            </p:cNvSpPr>
            <p:nvPr/>
          </p:nvSpPr>
          <p:spPr bwMode="auto">
            <a:xfrm>
              <a:off x="624" y="1200"/>
              <a:ext cx="192" cy="3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1152008" name="Rectangle 8"/>
            <p:cNvSpPr>
              <a:spLocks noChangeArrowheads="1"/>
            </p:cNvSpPr>
            <p:nvPr/>
          </p:nvSpPr>
          <p:spPr bwMode="auto">
            <a:xfrm>
              <a:off x="816" y="1200"/>
              <a:ext cx="384" cy="3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anose="02070309020205020404" pitchFamily="49" charset="0"/>
                </a:rPr>
                <a:t>F</a:t>
              </a:r>
            </a:p>
          </p:txBody>
        </p:sp>
        <p:sp>
          <p:nvSpPr>
            <p:cNvPr id="1152009" name="Rectangle 9"/>
            <p:cNvSpPr>
              <a:spLocks noChangeArrowheads="1"/>
            </p:cNvSpPr>
            <p:nvPr/>
          </p:nvSpPr>
          <p:spPr bwMode="auto">
            <a:xfrm>
              <a:off x="1200" y="1200"/>
              <a:ext cx="384" cy="3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1152010" name="Rectangle 10"/>
            <p:cNvSpPr>
              <a:spLocks noChangeArrowheads="1"/>
            </p:cNvSpPr>
            <p:nvPr/>
          </p:nvSpPr>
          <p:spPr bwMode="auto">
            <a:xfrm>
              <a:off x="1584" y="1200"/>
              <a:ext cx="768" cy="3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anose="02070309020205020404" pitchFamily="49" charset="0"/>
                </a:rPr>
                <a:t>Hi.c</a:t>
              </a:r>
            </a:p>
          </p:txBody>
        </p:sp>
      </p:grpSp>
      <p:sp>
        <p:nvSpPr>
          <p:cNvPr id="1152030" name="Rectangle 30"/>
          <p:cNvSpPr>
            <a:spLocks noChangeArrowheads="1"/>
          </p:cNvSpPr>
          <p:nvPr/>
        </p:nvSpPr>
        <p:spPr bwMode="auto">
          <a:xfrm>
            <a:off x="4151811" y="4038600"/>
            <a:ext cx="3352800" cy="6096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2031" name="Rectangle 31"/>
          <p:cNvSpPr>
            <a:spLocks noChangeArrowheads="1"/>
          </p:cNvSpPr>
          <p:nvPr/>
        </p:nvSpPr>
        <p:spPr bwMode="auto">
          <a:xfrm>
            <a:off x="4151811" y="40386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lg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152038" name="Freeform 38"/>
          <p:cNvSpPr>
            <a:spLocks/>
          </p:cNvSpPr>
          <p:nvPr/>
        </p:nvSpPr>
        <p:spPr bwMode="auto">
          <a:xfrm>
            <a:off x="1143000" y="2152650"/>
            <a:ext cx="2590800" cy="590550"/>
          </a:xfrm>
          <a:custGeom>
            <a:avLst/>
            <a:gdLst>
              <a:gd name="T0" fmla="*/ 0 w 1632"/>
              <a:gd name="T1" fmla="*/ 372 h 372"/>
              <a:gd name="T2" fmla="*/ 45 w 1632"/>
              <a:gd name="T3" fmla="*/ 0 h 372"/>
              <a:gd name="T4" fmla="*/ 1490 w 1632"/>
              <a:gd name="T5" fmla="*/ 0 h 372"/>
              <a:gd name="T6" fmla="*/ 1632 w 1632"/>
              <a:gd name="T7" fmla="*/ 18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372">
                <a:moveTo>
                  <a:pt x="0" y="372"/>
                </a:moveTo>
                <a:lnTo>
                  <a:pt x="45" y="0"/>
                </a:lnTo>
                <a:lnTo>
                  <a:pt x="1490" y="0"/>
                </a:lnTo>
                <a:lnTo>
                  <a:pt x="1632" y="18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733800" y="2133600"/>
            <a:ext cx="4572000" cy="914400"/>
            <a:chOff x="3733800" y="1371600"/>
            <a:chExt cx="4572000" cy="914400"/>
          </a:xfrm>
        </p:grpSpPr>
        <p:grpSp>
          <p:nvGrpSpPr>
            <p:cNvPr id="2" name="Group 1"/>
            <p:cNvGrpSpPr/>
            <p:nvPr/>
          </p:nvGrpSpPr>
          <p:grpSpPr>
            <a:xfrm>
              <a:off x="3733800" y="1676400"/>
              <a:ext cx="4572000" cy="609600"/>
              <a:chOff x="3733800" y="1676400"/>
              <a:chExt cx="4572000" cy="609600"/>
            </a:xfrm>
          </p:grpSpPr>
          <p:grpSp>
            <p:nvGrpSpPr>
              <p:cNvPr id="1152037" name="Group 37"/>
              <p:cNvGrpSpPr>
                <a:grpSpLocks/>
              </p:cNvGrpSpPr>
              <p:nvPr/>
            </p:nvGrpSpPr>
            <p:grpSpPr bwMode="auto">
              <a:xfrm>
                <a:off x="3733800" y="1676400"/>
                <a:ext cx="4191000" cy="609600"/>
                <a:chOff x="2352" y="1200"/>
                <a:chExt cx="2640" cy="384"/>
              </a:xfrm>
            </p:grpSpPr>
            <p:sp>
              <p:nvSpPr>
                <p:cNvPr id="1152011" name="Rectangle 11"/>
                <p:cNvSpPr>
                  <a:spLocks noChangeArrowheads="1"/>
                </p:cNvSpPr>
                <p:nvPr/>
              </p:nvSpPr>
              <p:spPr bwMode="auto">
                <a:xfrm>
                  <a:off x="2352" y="1200"/>
                  <a:ext cx="2640" cy="384"/>
                </a:xfrm>
                <a:prstGeom prst="rect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2012" name="Rectangle 12"/>
                <p:cNvSpPr>
                  <a:spLocks noChangeArrowheads="1"/>
                </p:cNvSpPr>
                <p:nvPr/>
              </p:nvSpPr>
              <p:spPr bwMode="auto">
                <a:xfrm>
                  <a:off x="2352" y="1200"/>
                  <a:ext cx="384" cy="38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sz="2400" b="1" dirty="0">
                      <a:latin typeface="Courier New" panose="02070309020205020404" pitchFamily="49" charset="0"/>
                    </a:rPr>
                    <a:t>39</a:t>
                  </a:r>
                </a:p>
              </p:txBody>
            </p:sp>
            <p:sp>
              <p:nvSpPr>
                <p:cNvPr id="1152013" name="Rectangle 13"/>
                <p:cNvSpPr>
                  <a:spLocks noChangeArrowheads="1"/>
                </p:cNvSpPr>
                <p:nvPr/>
              </p:nvSpPr>
              <p:spPr bwMode="auto">
                <a:xfrm>
                  <a:off x="2736" y="1200"/>
                  <a:ext cx="192" cy="38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1152014" name="Rectangle 14"/>
                <p:cNvSpPr>
                  <a:spLocks noChangeArrowheads="1"/>
                </p:cNvSpPr>
                <p:nvPr/>
              </p:nvSpPr>
              <p:spPr bwMode="auto">
                <a:xfrm>
                  <a:off x="2928" y="1200"/>
                  <a:ext cx="384" cy="38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sz="2400" b="1">
                      <a:latin typeface="Courier New" panose="02070309020205020404" pitchFamily="49" charset="0"/>
                    </a:rPr>
                    <a:t>F</a:t>
                  </a:r>
                </a:p>
              </p:txBody>
            </p:sp>
            <p:sp>
              <p:nvSpPr>
                <p:cNvPr id="1152015" name="Rectangle 15"/>
                <p:cNvSpPr>
                  <a:spLocks noChangeArrowheads="1"/>
                </p:cNvSpPr>
                <p:nvPr/>
              </p:nvSpPr>
              <p:spPr bwMode="auto">
                <a:xfrm>
                  <a:off x="3312" y="1200"/>
                  <a:ext cx="384" cy="38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sz="2400" b="1">
                      <a:latin typeface="Courier New" panose="02070309020205020404" pitchFamily="49" charset="0"/>
                    </a:rPr>
                    <a:t>8</a:t>
                  </a:r>
                </a:p>
              </p:txBody>
            </p:sp>
            <p:sp>
              <p:nvSpPr>
                <p:cNvPr id="1152016" name="Rectangle 16"/>
                <p:cNvSpPr>
                  <a:spLocks noChangeArrowheads="1"/>
                </p:cNvSpPr>
                <p:nvPr/>
              </p:nvSpPr>
              <p:spPr bwMode="auto">
                <a:xfrm>
                  <a:off x="3696" y="1200"/>
                  <a:ext cx="1296" cy="38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sz="2400" b="1">
                      <a:latin typeface="Courier New" panose="02070309020205020404" pitchFamily="49" charset="0"/>
                    </a:rPr>
                    <a:t>lab5.pdf</a:t>
                  </a:r>
                </a:p>
              </p:txBody>
            </p:sp>
          </p:grpSp>
          <p:sp>
            <p:nvSpPr>
              <p:cNvPr id="1152018" name="Line 18"/>
              <p:cNvSpPr>
                <a:spLocks noChangeShapeType="1"/>
              </p:cNvSpPr>
              <p:nvPr/>
            </p:nvSpPr>
            <p:spPr bwMode="auto">
              <a:xfrm>
                <a:off x="7086600" y="1676400"/>
                <a:ext cx="1219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019" name="Line 19"/>
              <p:cNvSpPr>
                <a:spLocks noChangeShapeType="1"/>
              </p:cNvSpPr>
              <p:nvPr/>
            </p:nvSpPr>
            <p:spPr bwMode="auto">
              <a:xfrm>
                <a:off x="7086600" y="2286000"/>
                <a:ext cx="1219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2039" name="Freeform 39"/>
            <p:cNvSpPr>
              <a:spLocks/>
            </p:cNvSpPr>
            <p:nvPr/>
          </p:nvSpPr>
          <p:spPr bwMode="auto">
            <a:xfrm>
              <a:off x="4495800" y="1371600"/>
              <a:ext cx="3429000" cy="590550"/>
            </a:xfrm>
            <a:custGeom>
              <a:avLst/>
              <a:gdLst>
                <a:gd name="T0" fmla="*/ 0 w 1632"/>
                <a:gd name="T1" fmla="*/ 372 h 372"/>
                <a:gd name="T2" fmla="*/ 45 w 1632"/>
                <a:gd name="T3" fmla="*/ 0 h 372"/>
                <a:gd name="T4" fmla="*/ 1490 w 1632"/>
                <a:gd name="T5" fmla="*/ 0 h 372"/>
                <a:gd name="T6" fmla="*/ 1632 w 1632"/>
                <a:gd name="T7" fmla="*/ 18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372">
                  <a:moveTo>
                    <a:pt x="0" y="372"/>
                  </a:moveTo>
                  <a:lnTo>
                    <a:pt x="45" y="0"/>
                  </a:lnTo>
                  <a:lnTo>
                    <a:pt x="1490" y="0"/>
                  </a:lnTo>
                  <a:lnTo>
                    <a:pt x="1632" y="18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570411" y="3733800"/>
            <a:ext cx="3581400" cy="914400"/>
            <a:chOff x="570411" y="3317875"/>
            <a:chExt cx="3581400" cy="914400"/>
          </a:xfrm>
        </p:grpSpPr>
        <p:grpSp>
          <p:nvGrpSpPr>
            <p:cNvPr id="1152040" name="Group 40"/>
            <p:cNvGrpSpPr>
              <a:grpSpLocks/>
            </p:cNvGrpSpPr>
            <p:nvPr/>
          </p:nvGrpSpPr>
          <p:grpSpPr bwMode="auto">
            <a:xfrm>
              <a:off x="570411" y="3622675"/>
              <a:ext cx="533400" cy="609600"/>
              <a:chOff x="288" y="2064"/>
              <a:chExt cx="768" cy="384"/>
            </a:xfrm>
          </p:grpSpPr>
          <p:sp>
            <p:nvSpPr>
              <p:cNvPr id="1152020" name="Line 20"/>
              <p:cNvSpPr>
                <a:spLocks noChangeShapeType="1"/>
              </p:cNvSpPr>
              <p:nvPr/>
            </p:nvSpPr>
            <p:spPr bwMode="auto">
              <a:xfrm>
                <a:off x="288" y="2064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021" name="Line 21"/>
              <p:cNvSpPr>
                <a:spLocks noChangeShapeType="1"/>
              </p:cNvSpPr>
              <p:nvPr/>
            </p:nvSpPr>
            <p:spPr bwMode="auto">
              <a:xfrm>
                <a:off x="288" y="2448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52022" name="Group 22"/>
            <p:cNvGrpSpPr>
              <a:grpSpLocks/>
            </p:cNvGrpSpPr>
            <p:nvPr/>
          </p:nvGrpSpPr>
          <p:grpSpPr bwMode="auto">
            <a:xfrm>
              <a:off x="951411" y="3622675"/>
              <a:ext cx="3200400" cy="609600"/>
              <a:chOff x="2688" y="1680"/>
              <a:chExt cx="2112" cy="384"/>
            </a:xfrm>
          </p:grpSpPr>
          <p:sp>
            <p:nvSpPr>
              <p:cNvPr id="1152023" name="Rectangle 23"/>
              <p:cNvSpPr>
                <a:spLocks noChangeArrowheads="1"/>
              </p:cNvSpPr>
              <p:nvPr/>
            </p:nvSpPr>
            <p:spPr bwMode="auto">
              <a:xfrm>
                <a:off x="2688" y="1680"/>
                <a:ext cx="2112" cy="38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2024" name="Rectangle 24"/>
              <p:cNvSpPr>
                <a:spLocks noChangeArrowheads="1"/>
              </p:cNvSpPr>
              <p:nvPr/>
            </p:nvSpPr>
            <p:spPr bwMode="auto">
              <a:xfrm>
                <a:off x="2688" y="1680"/>
                <a:ext cx="384" cy="38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 b="1" dirty="0">
                    <a:latin typeface="Courier New" panose="02070309020205020404" pitchFamily="49" charset="0"/>
                  </a:rPr>
                  <a:t>74</a:t>
                </a:r>
              </a:p>
            </p:txBody>
          </p:sp>
          <p:sp>
            <p:nvSpPr>
              <p:cNvPr id="1152025" name="Rectangle 25"/>
              <p:cNvSpPr>
                <a:spLocks noChangeArrowheads="1"/>
              </p:cNvSpPr>
              <p:nvPr/>
            </p:nvSpPr>
            <p:spPr bwMode="auto">
              <a:xfrm>
                <a:off x="3072" y="1680"/>
                <a:ext cx="192" cy="38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152026" name="Rectangle 26"/>
              <p:cNvSpPr>
                <a:spLocks noChangeArrowheads="1"/>
              </p:cNvSpPr>
              <p:nvPr/>
            </p:nvSpPr>
            <p:spPr bwMode="auto">
              <a:xfrm>
                <a:off x="3264" y="1680"/>
                <a:ext cx="384" cy="38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 b="1">
                    <a:latin typeface="Courier New" panose="02070309020205020404" pitchFamily="49" charset="0"/>
                  </a:rPr>
                  <a:t>D</a:t>
                </a:r>
              </a:p>
            </p:txBody>
          </p:sp>
          <p:sp>
            <p:nvSpPr>
              <p:cNvPr id="1152027" name="Rectangle 27"/>
              <p:cNvSpPr>
                <a:spLocks noChangeArrowheads="1"/>
              </p:cNvSpPr>
              <p:nvPr/>
            </p:nvSpPr>
            <p:spPr bwMode="auto">
              <a:xfrm>
                <a:off x="3648" y="1680"/>
                <a:ext cx="384" cy="38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 b="1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1152028" name="Rectangle 28"/>
              <p:cNvSpPr>
                <a:spLocks noChangeArrowheads="1"/>
              </p:cNvSpPr>
              <p:nvPr/>
            </p:nvSpPr>
            <p:spPr bwMode="auto">
              <a:xfrm>
                <a:off x="4032" y="1680"/>
                <a:ext cx="768" cy="38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 b="1" dirty="0">
                    <a:latin typeface="Courier New" panose="02070309020205020404" pitchFamily="49" charset="0"/>
                  </a:rPr>
                  <a:t>sub</a:t>
                </a:r>
              </a:p>
            </p:txBody>
          </p:sp>
        </p:grpSp>
        <p:sp>
          <p:nvSpPr>
            <p:cNvPr id="1152041" name="Freeform 41"/>
            <p:cNvSpPr>
              <a:spLocks/>
            </p:cNvSpPr>
            <p:nvPr/>
          </p:nvSpPr>
          <p:spPr bwMode="auto">
            <a:xfrm>
              <a:off x="1713411" y="3317875"/>
              <a:ext cx="2438400" cy="590550"/>
            </a:xfrm>
            <a:custGeom>
              <a:avLst/>
              <a:gdLst>
                <a:gd name="T0" fmla="*/ 0 w 1632"/>
                <a:gd name="T1" fmla="*/ 372 h 372"/>
                <a:gd name="T2" fmla="*/ 45 w 1632"/>
                <a:gd name="T3" fmla="*/ 0 h 372"/>
                <a:gd name="T4" fmla="*/ 1490 w 1632"/>
                <a:gd name="T5" fmla="*/ 0 h 372"/>
                <a:gd name="T6" fmla="*/ 1632 w 1632"/>
                <a:gd name="T7" fmla="*/ 18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372">
                  <a:moveTo>
                    <a:pt x="0" y="372"/>
                  </a:moveTo>
                  <a:lnTo>
                    <a:pt x="45" y="0"/>
                  </a:lnTo>
                  <a:lnTo>
                    <a:pt x="1490" y="0"/>
                  </a:lnTo>
                  <a:lnTo>
                    <a:pt x="1632" y="18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30</a:t>
            </a:fld>
            <a:endParaRPr lang="en-US" altLang="en-US"/>
          </a:p>
        </p:txBody>
      </p:sp>
      <p:grpSp>
        <p:nvGrpSpPr>
          <p:cNvPr id="42" name="Group 41"/>
          <p:cNvGrpSpPr/>
          <p:nvPr/>
        </p:nvGrpSpPr>
        <p:grpSpPr>
          <a:xfrm>
            <a:off x="456111" y="304800"/>
            <a:ext cx="8001000" cy="838200"/>
            <a:chOff x="457200" y="4038600"/>
            <a:chExt cx="8001000" cy="838200"/>
          </a:xfrm>
        </p:grpSpPr>
        <p:sp>
          <p:nvSpPr>
            <p:cNvPr id="43" name="Rectangle 31"/>
            <p:cNvSpPr>
              <a:spLocks noChangeArrowheads="1"/>
            </p:cNvSpPr>
            <p:nvPr/>
          </p:nvSpPr>
          <p:spPr bwMode="auto">
            <a:xfrm>
              <a:off x="457200" y="4038600"/>
              <a:ext cx="80010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44" name="Rectangle 31"/>
            <p:cNvSpPr>
              <a:spLocks noChangeArrowheads="1"/>
            </p:cNvSpPr>
            <p:nvPr/>
          </p:nvSpPr>
          <p:spPr bwMode="auto">
            <a:xfrm>
              <a:off x="457200" y="4038600"/>
              <a:ext cx="9906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45" name="Rectangle 32"/>
            <p:cNvSpPr>
              <a:spLocks noChangeArrowheads="1"/>
            </p:cNvSpPr>
            <p:nvPr/>
          </p:nvSpPr>
          <p:spPr bwMode="auto">
            <a:xfrm>
              <a:off x="1447800" y="4038600"/>
              <a:ext cx="16764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46" name="Rectangle 33" descr="Dotted diamond"/>
            <p:cNvSpPr>
              <a:spLocks noChangeArrowheads="1"/>
            </p:cNvSpPr>
            <p:nvPr/>
          </p:nvSpPr>
          <p:spPr bwMode="auto">
            <a:xfrm>
              <a:off x="3124200" y="4038600"/>
              <a:ext cx="8382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47" name="Rectangle 34" descr="Dotted diamond"/>
            <p:cNvSpPr>
              <a:spLocks noChangeArrowheads="1"/>
            </p:cNvSpPr>
            <p:nvPr/>
          </p:nvSpPr>
          <p:spPr bwMode="auto">
            <a:xfrm>
              <a:off x="3962400" y="4038600"/>
              <a:ext cx="8382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48" name="Rectangle 35" descr="Light vertical"/>
            <p:cNvSpPr>
              <a:spLocks noChangeArrowheads="1"/>
            </p:cNvSpPr>
            <p:nvPr/>
          </p:nvSpPr>
          <p:spPr bwMode="auto">
            <a:xfrm>
              <a:off x="4800600" y="4038600"/>
              <a:ext cx="1219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 dirty="0">
                  <a:latin typeface="Courier New" panose="02070309020205020404" pitchFamily="49" charset="0"/>
                </a:rPr>
                <a:t>I-Node</a:t>
              </a:r>
            </a:p>
            <a:p>
              <a:pPr algn="ctr"/>
              <a:r>
                <a:rPr lang="en-US" altLang="en-US" sz="2000" b="1" dirty="0">
                  <a:latin typeface="Courier New" panose="02070309020205020404" pitchFamily="49" charset="0"/>
                </a:rPr>
                <a:t>Table</a:t>
              </a:r>
            </a:p>
          </p:txBody>
        </p:sp>
        <p:sp>
          <p:nvSpPr>
            <p:cNvPr id="49" name="Rectangle 36"/>
            <p:cNvSpPr>
              <a:spLocks noChangeArrowheads="1"/>
            </p:cNvSpPr>
            <p:nvPr/>
          </p:nvSpPr>
          <p:spPr bwMode="auto">
            <a:xfrm>
              <a:off x="6019800" y="4038600"/>
              <a:ext cx="24384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>
                  <a:latin typeface="Courier New" panose="02070309020205020404" pitchFamily="49" charset="0"/>
                </a:rPr>
                <a:t>Data Blocks</a:t>
              </a:r>
            </a:p>
          </p:txBody>
        </p:sp>
      </p:grpSp>
      <p:sp>
        <p:nvSpPr>
          <p:cNvPr id="50" name="Rounded Rectangle 49"/>
          <p:cNvSpPr/>
          <p:nvPr/>
        </p:nvSpPr>
        <p:spPr>
          <a:xfrm>
            <a:off x="390302" y="2443163"/>
            <a:ext cx="3352800" cy="609600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3743102" y="2443163"/>
            <a:ext cx="4191000" cy="609600"/>
          </a:xfrm>
          <a:prstGeom prst="roundRect">
            <a:avLst/>
          </a:prstGeom>
          <a:noFill/>
          <a:ln w="2857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951411" y="4033838"/>
            <a:ext cx="3200400" cy="60960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9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2030" grpId="0" animBg="1"/>
      <p:bldP spid="1152031" grpId="0" animBg="1"/>
      <p:bldP spid="1152038" grpId="0" animBg="1"/>
      <p:bldP spid="50" grpId="0" animBg="1"/>
      <p:bldP spid="51" grpId="0" animBg="1"/>
      <p:bldP spid="5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6400800" y="2940050"/>
            <a:ext cx="2362200" cy="1555750"/>
            <a:chOff x="6400800" y="3200400"/>
            <a:chExt cx="2362200" cy="1555750"/>
          </a:xfrm>
        </p:grpSpPr>
        <p:sp>
          <p:nvSpPr>
            <p:cNvPr id="1153094" name="Rectangle 70"/>
            <p:cNvSpPr>
              <a:spLocks noChangeArrowheads="1"/>
            </p:cNvSpPr>
            <p:nvPr/>
          </p:nvSpPr>
          <p:spPr bwMode="auto">
            <a:xfrm>
              <a:off x="6400800" y="3200400"/>
              <a:ext cx="2362200" cy="1219200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accent4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b="1">
                <a:solidFill>
                  <a:srgbClr val="008000"/>
                </a:solidFill>
              </a:endParaRPr>
            </a:p>
          </p:txBody>
        </p:sp>
        <p:sp>
          <p:nvSpPr>
            <p:cNvPr id="1153131" name="Text Box 107"/>
            <p:cNvSpPr txBox="1">
              <a:spLocks noChangeArrowheads="1"/>
            </p:cNvSpPr>
            <p:nvPr/>
          </p:nvSpPr>
          <p:spPr bwMode="auto">
            <a:xfrm>
              <a:off x="6400800" y="4419600"/>
              <a:ext cx="236001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dirty="0"/>
                <a:t>Disk Block </a:t>
              </a:r>
              <a:r>
                <a:rPr lang="en-US" altLang="en-US" sz="1600" b="1" dirty="0">
                  <a:solidFill>
                    <a:srgbClr val="006600"/>
                  </a:solidFill>
                </a:rPr>
                <a:t>20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400798" y="1098550"/>
            <a:ext cx="2362201" cy="1555750"/>
            <a:chOff x="6400799" y="1371600"/>
            <a:chExt cx="2362201" cy="1555750"/>
          </a:xfrm>
        </p:grpSpPr>
        <p:sp>
          <p:nvSpPr>
            <p:cNvPr id="1153046" name="Rectangle 22"/>
            <p:cNvSpPr>
              <a:spLocks noChangeArrowheads="1"/>
            </p:cNvSpPr>
            <p:nvPr/>
          </p:nvSpPr>
          <p:spPr bwMode="auto">
            <a:xfrm>
              <a:off x="6400800" y="1371600"/>
              <a:ext cx="2362200" cy="1219200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b="1">
                <a:solidFill>
                  <a:srgbClr val="008000"/>
                </a:solidFill>
              </a:endParaRPr>
            </a:p>
          </p:txBody>
        </p:sp>
        <p:sp>
          <p:nvSpPr>
            <p:cNvPr id="1153084" name="Text Box 60"/>
            <p:cNvSpPr txBox="1">
              <a:spLocks noChangeArrowheads="1"/>
            </p:cNvSpPr>
            <p:nvPr/>
          </p:nvSpPr>
          <p:spPr bwMode="auto">
            <a:xfrm>
              <a:off x="6400799" y="2590800"/>
              <a:ext cx="2360019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dirty="0"/>
                <a:t>Disk Block </a:t>
              </a:r>
              <a:r>
                <a:rPr lang="en-US" altLang="en-US" sz="1600" b="1" dirty="0">
                  <a:solidFill>
                    <a:srgbClr val="C00000"/>
                  </a:solidFill>
                </a:rPr>
                <a:t>15</a:t>
              </a:r>
            </a:p>
          </p:txBody>
        </p:sp>
      </p:grpSp>
      <p:sp>
        <p:nvSpPr>
          <p:cNvPr id="115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Ext2</a:t>
            </a:r>
            <a:r>
              <a:rPr lang="en-US" altLang="en-US" sz="3800" dirty="0"/>
              <a:t>: Putting The Parts Together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505200" y="1066800"/>
            <a:ext cx="1295400" cy="1784350"/>
            <a:chOff x="3505200" y="1066800"/>
            <a:chExt cx="1295400" cy="1784350"/>
          </a:xfrm>
        </p:grpSpPr>
        <p:sp>
          <p:nvSpPr>
            <p:cNvPr id="1153028" name="Rectangle 4"/>
            <p:cNvSpPr>
              <a:spLocks noChangeArrowheads="1"/>
            </p:cNvSpPr>
            <p:nvPr/>
          </p:nvSpPr>
          <p:spPr bwMode="auto">
            <a:xfrm>
              <a:off x="3505200" y="1066800"/>
              <a:ext cx="1295400" cy="14795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File Metadata</a:t>
              </a:r>
            </a:p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  <p:sp>
          <p:nvSpPr>
            <p:cNvPr id="1153071" name="Text Box 47"/>
            <p:cNvSpPr txBox="1">
              <a:spLocks noChangeArrowheads="1"/>
            </p:cNvSpPr>
            <p:nvPr/>
          </p:nvSpPr>
          <p:spPr bwMode="auto">
            <a:xfrm>
              <a:off x="3657600" y="2514600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dirty="0"/>
                <a:t>I-Node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398618" y="1098550"/>
            <a:ext cx="2362200" cy="914400"/>
            <a:chOff x="6477000" y="1371600"/>
            <a:chExt cx="2362200" cy="914400"/>
          </a:xfrm>
        </p:grpSpPr>
        <p:grpSp>
          <p:nvGrpSpPr>
            <p:cNvPr id="1153079" name="Group 55"/>
            <p:cNvGrpSpPr>
              <a:grpSpLocks/>
            </p:cNvGrpSpPr>
            <p:nvPr/>
          </p:nvGrpSpPr>
          <p:grpSpPr bwMode="auto">
            <a:xfrm>
              <a:off x="6477000" y="1371600"/>
              <a:ext cx="2209800" cy="304800"/>
              <a:chOff x="2688" y="3264"/>
              <a:chExt cx="1392" cy="240"/>
            </a:xfrm>
          </p:grpSpPr>
          <p:sp>
            <p:nvSpPr>
              <p:cNvPr id="1153073" name="Rectangle 49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1392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3074" name="Rectangle 50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279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anose="02070309020205020404" pitchFamily="49" charset="0"/>
                  </a:rPr>
                  <a:t>8</a:t>
                </a:r>
              </a:p>
            </p:txBody>
          </p:sp>
          <p:sp>
            <p:nvSpPr>
              <p:cNvPr id="1153075" name="Rectangle 51"/>
              <p:cNvSpPr>
                <a:spLocks noChangeArrowheads="1"/>
              </p:cNvSpPr>
              <p:nvPr/>
            </p:nvSpPr>
            <p:spPr bwMode="auto">
              <a:xfrm>
                <a:off x="2967" y="3264"/>
                <a:ext cx="14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153076" name="Rectangle 52"/>
              <p:cNvSpPr>
                <a:spLocks noChangeArrowheads="1"/>
              </p:cNvSpPr>
              <p:nvPr/>
            </p:nvSpPr>
            <p:spPr bwMode="auto">
              <a:xfrm>
                <a:off x="3107" y="3264"/>
                <a:ext cx="279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D</a:t>
                </a:r>
              </a:p>
            </p:txBody>
          </p:sp>
          <p:sp>
            <p:nvSpPr>
              <p:cNvPr id="1153077" name="Rectangle 53"/>
              <p:cNvSpPr>
                <a:spLocks noChangeArrowheads="1"/>
              </p:cNvSpPr>
              <p:nvPr/>
            </p:nvSpPr>
            <p:spPr bwMode="auto">
              <a:xfrm>
                <a:off x="3386" y="3264"/>
                <a:ext cx="279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1153078" name="Rectangle 54"/>
              <p:cNvSpPr>
                <a:spLocks noChangeArrowheads="1"/>
              </p:cNvSpPr>
              <p:nvPr/>
            </p:nvSpPr>
            <p:spPr bwMode="auto">
              <a:xfrm>
                <a:off x="3665" y="3264"/>
                <a:ext cx="415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sub</a:t>
                </a:r>
              </a:p>
            </p:txBody>
          </p:sp>
        </p:grpSp>
        <p:sp>
          <p:nvSpPr>
            <p:cNvPr id="1153080" name="Line 56"/>
            <p:cNvSpPr>
              <a:spLocks noChangeShapeType="1"/>
            </p:cNvSpPr>
            <p:nvPr/>
          </p:nvSpPr>
          <p:spPr bwMode="auto">
            <a:xfrm>
              <a:off x="8686800" y="1676400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081" name="Line 57"/>
            <p:cNvSpPr>
              <a:spLocks noChangeShapeType="1"/>
            </p:cNvSpPr>
            <p:nvPr/>
          </p:nvSpPr>
          <p:spPr bwMode="auto">
            <a:xfrm>
              <a:off x="6477000" y="1981200"/>
              <a:ext cx="2362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082" name="Line 58"/>
            <p:cNvSpPr>
              <a:spLocks noChangeShapeType="1"/>
            </p:cNvSpPr>
            <p:nvPr/>
          </p:nvSpPr>
          <p:spPr bwMode="auto">
            <a:xfrm>
              <a:off x="6477000" y="2286000"/>
              <a:ext cx="2362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400800" y="2940050"/>
            <a:ext cx="2362200" cy="914400"/>
            <a:chOff x="6400800" y="3200400"/>
            <a:chExt cx="2362200" cy="914400"/>
          </a:xfrm>
        </p:grpSpPr>
        <p:grpSp>
          <p:nvGrpSpPr>
            <p:cNvPr id="1153095" name="Group 71"/>
            <p:cNvGrpSpPr>
              <a:grpSpLocks/>
            </p:cNvGrpSpPr>
            <p:nvPr/>
          </p:nvGrpSpPr>
          <p:grpSpPr bwMode="auto">
            <a:xfrm>
              <a:off x="6400800" y="3810000"/>
              <a:ext cx="2362200" cy="304800"/>
              <a:chOff x="2688" y="3264"/>
              <a:chExt cx="1392" cy="240"/>
            </a:xfrm>
          </p:grpSpPr>
          <p:sp>
            <p:nvSpPr>
              <p:cNvPr id="1153096" name="Rectangle 72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1392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3097" name="Rectangle 73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279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6</a:t>
                </a:r>
              </a:p>
            </p:txBody>
          </p:sp>
          <p:sp>
            <p:nvSpPr>
              <p:cNvPr id="1153098" name="Rectangle 74"/>
              <p:cNvSpPr>
                <a:spLocks noChangeArrowheads="1"/>
              </p:cNvSpPr>
              <p:nvPr/>
            </p:nvSpPr>
            <p:spPr bwMode="auto">
              <a:xfrm>
                <a:off x="2967" y="3264"/>
                <a:ext cx="14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153099" name="Rectangle 75"/>
              <p:cNvSpPr>
                <a:spLocks noChangeArrowheads="1"/>
              </p:cNvSpPr>
              <p:nvPr/>
            </p:nvSpPr>
            <p:spPr bwMode="auto">
              <a:xfrm>
                <a:off x="3107" y="3264"/>
                <a:ext cx="279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1153100" name="Rectangle 76"/>
              <p:cNvSpPr>
                <a:spLocks noChangeArrowheads="1"/>
              </p:cNvSpPr>
              <p:nvPr/>
            </p:nvSpPr>
            <p:spPr bwMode="auto">
              <a:xfrm>
                <a:off x="3386" y="3264"/>
                <a:ext cx="279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1153101" name="Rectangle 77"/>
              <p:cNvSpPr>
                <a:spLocks noChangeArrowheads="1"/>
              </p:cNvSpPr>
              <p:nvPr/>
            </p:nvSpPr>
            <p:spPr bwMode="auto">
              <a:xfrm>
                <a:off x="3665" y="3264"/>
                <a:ext cx="415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file</a:t>
                </a:r>
              </a:p>
            </p:txBody>
          </p:sp>
        </p:grpSp>
        <p:sp>
          <p:nvSpPr>
            <p:cNvPr id="1153102" name="Line 78"/>
            <p:cNvSpPr>
              <a:spLocks noChangeShapeType="1"/>
            </p:cNvSpPr>
            <p:nvPr/>
          </p:nvSpPr>
          <p:spPr bwMode="auto">
            <a:xfrm>
              <a:off x="6400800" y="3505200"/>
              <a:ext cx="2362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103" name="Line 79"/>
            <p:cNvSpPr>
              <a:spLocks noChangeShapeType="1"/>
            </p:cNvSpPr>
            <p:nvPr/>
          </p:nvSpPr>
          <p:spPr bwMode="auto">
            <a:xfrm>
              <a:off x="6400800" y="3810000"/>
              <a:ext cx="2362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106" name="Rectangle 82"/>
            <p:cNvSpPr>
              <a:spLocks noChangeArrowheads="1"/>
            </p:cNvSpPr>
            <p:nvPr/>
          </p:nvSpPr>
          <p:spPr bwMode="auto">
            <a:xfrm>
              <a:off x="6400800" y="3200400"/>
              <a:ext cx="11430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3112" name="Rectangle 88"/>
            <p:cNvSpPr>
              <a:spLocks noChangeArrowheads="1"/>
            </p:cNvSpPr>
            <p:nvPr/>
          </p:nvSpPr>
          <p:spPr bwMode="auto">
            <a:xfrm>
              <a:off x="7543800" y="3200400"/>
              <a:ext cx="9906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3113" name="Rectangle 89"/>
            <p:cNvSpPr>
              <a:spLocks noChangeArrowheads="1"/>
            </p:cNvSpPr>
            <p:nvPr/>
          </p:nvSpPr>
          <p:spPr bwMode="auto">
            <a:xfrm>
              <a:off x="6400800" y="3505200"/>
              <a:ext cx="1429352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3114" name="Rectangle 90"/>
            <p:cNvSpPr>
              <a:spLocks noChangeArrowheads="1"/>
            </p:cNvSpPr>
            <p:nvPr/>
          </p:nvSpPr>
          <p:spPr bwMode="auto">
            <a:xfrm>
              <a:off x="7830152" y="3505200"/>
              <a:ext cx="932848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3115" name="Rectangle 91"/>
            <p:cNvSpPr>
              <a:spLocks noChangeArrowheads="1"/>
            </p:cNvSpPr>
            <p:nvPr/>
          </p:nvSpPr>
          <p:spPr bwMode="auto">
            <a:xfrm>
              <a:off x="8077200" y="3200400"/>
              <a:ext cx="6858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400800" y="4876800"/>
            <a:ext cx="2362200" cy="1555750"/>
            <a:chOff x="6400800" y="4876800"/>
            <a:chExt cx="2362200" cy="1555750"/>
          </a:xfrm>
        </p:grpSpPr>
        <p:sp>
          <p:nvSpPr>
            <p:cNvPr id="1153116" name="Rectangle 92"/>
            <p:cNvSpPr>
              <a:spLocks noChangeArrowheads="1"/>
            </p:cNvSpPr>
            <p:nvPr/>
          </p:nvSpPr>
          <p:spPr bwMode="auto">
            <a:xfrm>
              <a:off x="6400800" y="4876800"/>
              <a:ext cx="2362200" cy="1219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 algn="ctr">
              <a:solidFill>
                <a:srgbClr val="660066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b="1">
                  <a:solidFill>
                    <a:schemeClr val="tx2"/>
                  </a:solidFill>
                </a:rPr>
                <a:t>Actual Data</a:t>
              </a:r>
            </a:p>
          </p:txBody>
        </p:sp>
        <p:sp>
          <p:nvSpPr>
            <p:cNvPr id="1153132" name="Text Box 108"/>
            <p:cNvSpPr txBox="1">
              <a:spLocks noChangeArrowheads="1"/>
            </p:cNvSpPr>
            <p:nvPr/>
          </p:nvSpPr>
          <p:spPr bwMode="auto">
            <a:xfrm>
              <a:off x="6400800" y="6096000"/>
              <a:ext cx="236001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dirty="0"/>
                <a:t>Disk Block </a:t>
              </a:r>
              <a:r>
                <a:rPr lang="en-US" altLang="en-US" sz="1600" b="1" dirty="0">
                  <a:solidFill>
                    <a:srgbClr val="660066"/>
                  </a:solidFill>
                </a:rPr>
                <a:t>23</a:t>
              </a:r>
            </a:p>
          </p:txBody>
        </p:sp>
      </p:grpSp>
      <p:sp>
        <p:nvSpPr>
          <p:cNvPr id="1153134" name="AutoShape 110"/>
          <p:cNvSpPr>
            <a:spLocks noChangeArrowheads="1"/>
          </p:cNvSpPr>
          <p:nvPr/>
        </p:nvSpPr>
        <p:spPr bwMode="auto">
          <a:xfrm>
            <a:off x="1737405" y="1690251"/>
            <a:ext cx="1524000" cy="228600"/>
          </a:xfrm>
          <a:prstGeom prst="rightArrow">
            <a:avLst>
              <a:gd name="adj1" fmla="val 50000"/>
              <a:gd name="adj2" fmla="val 16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153135" name="AutoShape 111"/>
          <p:cNvSpPr>
            <a:spLocks noChangeArrowheads="1"/>
          </p:cNvSpPr>
          <p:nvPr/>
        </p:nvSpPr>
        <p:spPr bwMode="auto">
          <a:xfrm rot="567240">
            <a:off x="1820375" y="3354915"/>
            <a:ext cx="1524000" cy="228600"/>
          </a:xfrm>
          <a:prstGeom prst="rightArrow">
            <a:avLst>
              <a:gd name="adj1" fmla="val 50000"/>
              <a:gd name="adj2" fmla="val 16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153136" name="AutoShape 112"/>
          <p:cNvSpPr>
            <a:spLocks noChangeArrowheads="1"/>
          </p:cNvSpPr>
          <p:nvPr/>
        </p:nvSpPr>
        <p:spPr bwMode="auto">
          <a:xfrm rot="2377985">
            <a:off x="1609622" y="4652689"/>
            <a:ext cx="1947863" cy="257175"/>
          </a:xfrm>
          <a:prstGeom prst="rightArrow">
            <a:avLst>
              <a:gd name="adj1" fmla="val 50000"/>
              <a:gd name="adj2" fmla="val 18935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609600" y="1219200"/>
            <a:ext cx="1447800" cy="3994150"/>
            <a:chOff x="457200" y="1066800"/>
            <a:chExt cx="1447800" cy="3994150"/>
          </a:xfrm>
        </p:grpSpPr>
        <p:sp>
          <p:nvSpPr>
            <p:cNvPr id="1153049" name="Rectangle 25"/>
            <p:cNvSpPr>
              <a:spLocks noChangeArrowheads="1"/>
            </p:cNvSpPr>
            <p:nvPr/>
          </p:nvSpPr>
          <p:spPr bwMode="auto">
            <a:xfrm>
              <a:off x="990600" y="1066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3050" name="Text Box 26"/>
            <p:cNvSpPr txBox="1">
              <a:spLocks noChangeArrowheads="1"/>
            </p:cNvSpPr>
            <p:nvPr/>
          </p:nvSpPr>
          <p:spPr bwMode="auto">
            <a:xfrm>
              <a:off x="681038" y="1066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1153051" name="Rectangle 27"/>
            <p:cNvSpPr>
              <a:spLocks noChangeArrowheads="1"/>
            </p:cNvSpPr>
            <p:nvPr/>
          </p:nvSpPr>
          <p:spPr bwMode="auto">
            <a:xfrm>
              <a:off x="990600" y="1447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3052" name="Text Box 28"/>
            <p:cNvSpPr txBox="1">
              <a:spLocks noChangeArrowheads="1"/>
            </p:cNvSpPr>
            <p:nvPr/>
          </p:nvSpPr>
          <p:spPr bwMode="auto">
            <a:xfrm>
              <a:off x="681038" y="1447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1153053" name="Rectangle 29"/>
            <p:cNvSpPr>
              <a:spLocks noChangeArrowheads="1"/>
            </p:cNvSpPr>
            <p:nvPr/>
          </p:nvSpPr>
          <p:spPr bwMode="auto">
            <a:xfrm>
              <a:off x="990600" y="1828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3054" name="Text Box 30"/>
            <p:cNvSpPr txBox="1">
              <a:spLocks noChangeArrowheads="1"/>
            </p:cNvSpPr>
            <p:nvPr/>
          </p:nvSpPr>
          <p:spPr bwMode="auto">
            <a:xfrm>
              <a:off x="681038" y="1828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1153055" name="Rectangle 31"/>
            <p:cNvSpPr>
              <a:spLocks noChangeArrowheads="1"/>
            </p:cNvSpPr>
            <p:nvPr/>
          </p:nvSpPr>
          <p:spPr bwMode="auto">
            <a:xfrm>
              <a:off x="990600" y="2209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3056" name="Text Box 32"/>
            <p:cNvSpPr txBox="1">
              <a:spLocks noChangeArrowheads="1"/>
            </p:cNvSpPr>
            <p:nvPr/>
          </p:nvSpPr>
          <p:spPr bwMode="auto">
            <a:xfrm>
              <a:off x="681038" y="2209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1153057" name="Rectangle 33"/>
            <p:cNvSpPr>
              <a:spLocks noChangeArrowheads="1"/>
            </p:cNvSpPr>
            <p:nvPr/>
          </p:nvSpPr>
          <p:spPr bwMode="auto">
            <a:xfrm>
              <a:off x="990600" y="2590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3058" name="Text Box 34"/>
            <p:cNvSpPr txBox="1">
              <a:spLocks noChangeArrowheads="1"/>
            </p:cNvSpPr>
            <p:nvPr/>
          </p:nvSpPr>
          <p:spPr bwMode="auto">
            <a:xfrm>
              <a:off x="681038" y="2590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5</a:t>
              </a:r>
            </a:p>
          </p:txBody>
        </p:sp>
        <p:sp>
          <p:nvSpPr>
            <p:cNvPr id="1153059" name="Rectangle 35"/>
            <p:cNvSpPr>
              <a:spLocks noChangeArrowheads="1"/>
            </p:cNvSpPr>
            <p:nvPr/>
          </p:nvSpPr>
          <p:spPr bwMode="auto">
            <a:xfrm>
              <a:off x="990600" y="2971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3060" name="Text Box 36"/>
            <p:cNvSpPr txBox="1">
              <a:spLocks noChangeArrowheads="1"/>
            </p:cNvSpPr>
            <p:nvPr/>
          </p:nvSpPr>
          <p:spPr bwMode="auto">
            <a:xfrm>
              <a:off x="681038" y="2971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6</a:t>
              </a:r>
            </a:p>
          </p:txBody>
        </p:sp>
        <p:sp>
          <p:nvSpPr>
            <p:cNvPr id="1153061" name="Rectangle 37"/>
            <p:cNvSpPr>
              <a:spLocks noChangeArrowheads="1"/>
            </p:cNvSpPr>
            <p:nvPr/>
          </p:nvSpPr>
          <p:spPr bwMode="auto">
            <a:xfrm>
              <a:off x="990600" y="3352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3062" name="Text Box 38"/>
            <p:cNvSpPr txBox="1">
              <a:spLocks noChangeArrowheads="1"/>
            </p:cNvSpPr>
            <p:nvPr/>
          </p:nvSpPr>
          <p:spPr bwMode="auto">
            <a:xfrm>
              <a:off x="681038" y="3352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7</a:t>
              </a:r>
            </a:p>
          </p:txBody>
        </p:sp>
        <p:sp>
          <p:nvSpPr>
            <p:cNvPr id="1153063" name="Rectangle 39"/>
            <p:cNvSpPr>
              <a:spLocks noChangeArrowheads="1"/>
            </p:cNvSpPr>
            <p:nvPr/>
          </p:nvSpPr>
          <p:spPr bwMode="auto">
            <a:xfrm>
              <a:off x="990600" y="3733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3064" name="Text Box 40"/>
            <p:cNvSpPr txBox="1">
              <a:spLocks noChangeArrowheads="1"/>
            </p:cNvSpPr>
            <p:nvPr/>
          </p:nvSpPr>
          <p:spPr bwMode="auto">
            <a:xfrm>
              <a:off x="681038" y="3733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8</a:t>
              </a:r>
            </a:p>
          </p:txBody>
        </p:sp>
        <p:sp>
          <p:nvSpPr>
            <p:cNvPr id="1153065" name="Rectangle 41"/>
            <p:cNvSpPr>
              <a:spLocks noChangeArrowheads="1"/>
            </p:cNvSpPr>
            <p:nvPr/>
          </p:nvSpPr>
          <p:spPr bwMode="auto">
            <a:xfrm>
              <a:off x="990600" y="4114800"/>
              <a:ext cx="457200" cy="6096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…</a:t>
              </a:r>
            </a:p>
            <a:p>
              <a:pPr algn="ctr"/>
              <a:r>
                <a:rPr lang="en-US" altLang="en-US"/>
                <a:t>…</a:t>
              </a:r>
            </a:p>
            <a:p>
              <a:pPr algn="ctr"/>
              <a:endParaRPr lang="en-US" altLang="en-US"/>
            </a:p>
          </p:txBody>
        </p:sp>
        <p:sp>
          <p:nvSpPr>
            <p:cNvPr id="1153138" name="Text Box 114"/>
            <p:cNvSpPr txBox="1">
              <a:spLocks noChangeArrowheads="1"/>
            </p:cNvSpPr>
            <p:nvPr/>
          </p:nvSpPr>
          <p:spPr bwMode="auto">
            <a:xfrm>
              <a:off x="457200" y="4724400"/>
              <a:ext cx="1447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/>
                <a:t>I-Node Table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31</a:t>
            </a:fld>
            <a:endParaRPr lang="en-US" altLang="en-US"/>
          </a:p>
        </p:txBody>
      </p:sp>
      <p:grpSp>
        <p:nvGrpSpPr>
          <p:cNvPr id="11" name="Group 10"/>
          <p:cNvGrpSpPr/>
          <p:nvPr/>
        </p:nvGrpSpPr>
        <p:grpSpPr>
          <a:xfrm>
            <a:off x="3505200" y="2971800"/>
            <a:ext cx="1295400" cy="1769110"/>
            <a:chOff x="3505200" y="2971800"/>
            <a:chExt cx="1295400" cy="1769110"/>
          </a:xfrm>
        </p:grpSpPr>
        <p:grpSp>
          <p:nvGrpSpPr>
            <p:cNvPr id="1153086" name="Group 62"/>
            <p:cNvGrpSpPr>
              <a:grpSpLocks/>
            </p:cNvGrpSpPr>
            <p:nvPr/>
          </p:nvGrpSpPr>
          <p:grpSpPr bwMode="auto">
            <a:xfrm>
              <a:off x="3505200" y="2971800"/>
              <a:ext cx="1295400" cy="1447800"/>
              <a:chOff x="1728" y="672"/>
              <a:chExt cx="816" cy="912"/>
            </a:xfrm>
          </p:grpSpPr>
          <p:sp>
            <p:nvSpPr>
              <p:cNvPr id="1153087" name="Rectangle 63"/>
              <p:cNvSpPr>
                <a:spLocks noChangeArrowheads="1"/>
              </p:cNvSpPr>
              <p:nvPr/>
            </p:nvSpPr>
            <p:spPr bwMode="auto">
              <a:xfrm>
                <a:off x="1728" y="672"/>
                <a:ext cx="816" cy="4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 algn="ctr">
                <a:solidFill>
                  <a:schemeClr val="accent5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File Metadata</a:t>
                </a:r>
              </a:p>
            </p:txBody>
          </p:sp>
          <p:sp>
            <p:nvSpPr>
              <p:cNvPr id="1153088" name="Rectangle 64"/>
              <p:cNvSpPr>
                <a:spLocks noChangeArrowheads="1"/>
              </p:cNvSpPr>
              <p:nvPr/>
            </p:nvSpPr>
            <p:spPr bwMode="auto">
              <a:xfrm>
                <a:off x="1728" y="1104"/>
                <a:ext cx="816" cy="19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 algn="ctr">
                <a:solidFill>
                  <a:schemeClr val="accent5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23</a:t>
                </a:r>
              </a:p>
            </p:txBody>
          </p:sp>
          <p:sp>
            <p:nvSpPr>
              <p:cNvPr id="1153089" name="Rectangle 65"/>
              <p:cNvSpPr>
                <a:spLocks noChangeArrowheads="1"/>
              </p:cNvSpPr>
              <p:nvPr/>
            </p:nvSpPr>
            <p:spPr bwMode="auto">
              <a:xfrm>
                <a:off x="1728" y="1296"/>
                <a:ext cx="816" cy="28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 algn="ctr">
                <a:solidFill>
                  <a:schemeClr val="accent5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b="1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73" name="Text Box 47"/>
            <p:cNvSpPr txBox="1">
              <a:spLocks noChangeArrowheads="1"/>
            </p:cNvSpPr>
            <p:nvPr/>
          </p:nvSpPr>
          <p:spPr bwMode="auto">
            <a:xfrm>
              <a:off x="3684311" y="4404360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dirty="0"/>
                <a:t>I-Node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505200" y="4800600"/>
            <a:ext cx="1295400" cy="1752600"/>
            <a:chOff x="3505200" y="4800600"/>
            <a:chExt cx="1295400" cy="1752600"/>
          </a:xfrm>
        </p:grpSpPr>
        <p:grpSp>
          <p:nvGrpSpPr>
            <p:cNvPr id="1153090" name="Group 66"/>
            <p:cNvGrpSpPr>
              <a:grpSpLocks/>
            </p:cNvGrpSpPr>
            <p:nvPr/>
          </p:nvGrpSpPr>
          <p:grpSpPr bwMode="auto">
            <a:xfrm>
              <a:off x="3505200" y="4800600"/>
              <a:ext cx="1295400" cy="1447800"/>
              <a:chOff x="1728" y="672"/>
              <a:chExt cx="816" cy="912"/>
            </a:xfrm>
          </p:grpSpPr>
          <p:sp>
            <p:nvSpPr>
              <p:cNvPr id="1153091" name="Rectangle 67"/>
              <p:cNvSpPr>
                <a:spLocks noChangeArrowheads="1"/>
              </p:cNvSpPr>
              <p:nvPr/>
            </p:nvSpPr>
            <p:spPr bwMode="auto">
              <a:xfrm>
                <a:off x="1728" y="672"/>
                <a:ext cx="816" cy="4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accent4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b="1" dirty="0">
                    <a:latin typeface="Courier New" panose="02070309020205020404" pitchFamily="49" charset="0"/>
                  </a:rPr>
                  <a:t>File Metadata</a:t>
                </a:r>
              </a:p>
            </p:txBody>
          </p:sp>
          <p:sp>
            <p:nvSpPr>
              <p:cNvPr id="1153092" name="Rectangle 68"/>
              <p:cNvSpPr>
                <a:spLocks noChangeArrowheads="1"/>
              </p:cNvSpPr>
              <p:nvPr/>
            </p:nvSpPr>
            <p:spPr bwMode="auto">
              <a:xfrm>
                <a:off x="1728" y="1104"/>
                <a:ext cx="816" cy="19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9050" algn="ctr">
                <a:solidFill>
                  <a:schemeClr val="accent4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20</a:t>
                </a:r>
              </a:p>
            </p:txBody>
          </p:sp>
          <p:sp>
            <p:nvSpPr>
              <p:cNvPr id="1153093" name="Rectangle 69"/>
              <p:cNvSpPr>
                <a:spLocks noChangeArrowheads="1"/>
              </p:cNvSpPr>
              <p:nvPr/>
            </p:nvSpPr>
            <p:spPr bwMode="auto">
              <a:xfrm>
                <a:off x="1728" y="1296"/>
                <a:ext cx="816" cy="28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accent4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b="1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74" name="Text Box 47"/>
            <p:cNvSpPr txBox="1">
              <a:spLocks noChangeArrowheads="1"/>
            </p:cNvSpPr>
            <p:nvPr/>
          </p:nvSpPr>
          <p:spPr bwMode="auto">
            <a:xfrm>
              <a:off x="3700640" y="6216650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dirty="0"/>
                <a:t>I-Node</a:t>
              </a:r>
            </a:p>
          </p:txBody>
        </p:sp>
      </p:grpSp>
      <p:sp>
        <p:nvSpPr>
          <p:cNvPr id="75" name="Rectangle 2"/>
          <p:cNvSpPr txBox="1">
            <a:spLocks noChangeArrowheads="1"/>
          </p:cNvSpPr>
          <p:nvPr/>
        </p:nvSpPr>
        <p:spPr bwMode="auto">
          <a:xfrm>
            <a:off x="457200" y="299140"/>
            <a:ext cx="8229600" cy="7127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r>
              <a:rPr lang="en-US" altLang="en-US" sz="3800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3800" b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sub/</a:t>
            </a:r>
            <a:r>
              <a:rPr lang="en-US" altLang="en-US" sz="3800" b="1" kern="0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altLang="en-US" sz="3800" b="1" kern="0" dirty="0"/>
              <a:t>          </a:t>
            </a:r>
            <a:r>
              <a:rPr lang="en-US" altLang="en-US" sz="3800" kern="0" dirty="0"/>
              <a:t>(I-Node for '</a:t>
            </a:r>
            <a:r>
              <a:rPr lang="en-US" altLang="en-US" sz="3800" b="1" kern="0" dirty="0">
                <a:solidFill>
                  <a:srgbClr val="C00000"/>
                </a:solidFill>
              </a:rPr>
              <a:t>/</a:t>
            </a:r>
            <a:r>
              <a:rPr lang="en-US" altLang="en-US" sz="3800" kern="0" dirty="0"/>
              <a:t>' == 2)</a:t>
            </a:r>
          </a:p>
        </p:txBody>
      </p:sp>
      <p:sp>
        <p:nvSpPr>
          <p:cNvPr id="76" name="Rectangle 39"/>
          <p:cNvSpPr>
            <a:spLocks noChangeArrowheads="1"/>
          </p:cNvSpPr>
          <p:nvPr/>
        </p:nvSpPr>
        <p:spPr bwMode="auto">
          <a:xfrm>
            <a:off x="1143000" y="3886200"/>
            <a:ext cx="457200" cy="381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9050" algn="ctr">
            <a:solidFill>
              <a:schemeClr val="accent4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Rectangle 35"/>
          <p:cNvSpPr>
            <a:spLocks noChangeArrowheads="1"/>
          </p:cNvSpPr>
          <p:nvPr/>
        </p:nvSpPr>
        <p:spPr bwMode="auto">
          <a:xfrm>
            <a:off x="1143000" y="3124200"/>
            <a:ext cx="457200" cy="381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algn="ctr">
            <a:solidFill>
              <a:srgbClr val="660066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" name="Rectangle 27"/>
          <p:cNvSpPr>
            <a:spLocks noChangeArrowheads="1"/>
          </p:cNvSpPr>
          <p:nvPr/>
        </p:nvSpPr>
        <p:spPr bwMode="auto">
          <a:xfrm>
            <a:off x="1143000" y="1600200"/>
            <a:ext cx="457200" cy="381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" name="Rectangle 43"/>
          <p:cNvSpPr>
            <a:spLocks noChangeArrowheads="1"/>
          </p:cNvSpPr>
          <p:nvPr/>
        </p:nvSpPr>
        <p:spPr bwMode="auto">
          <a:xfrm>
            <a:off x="3498669" y="1784350"/>
            <a:ext cx="1295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15</a:t>
            </a:r>
          </a:p>
        </p:txBody>
      </p:sp>
      <p:sp>
        <p:nvSpPr>
          <p:cNvPr id="82" name="Rounded Rectangle 43"/>
          <p:cNvSpPr/>
          <p:nvPr/>
        </p:nvSpPr>
        <p:spPr>
          <a:xfrm>
            <a:off x="6404511" y="1106862"/>
            <a:ext cx="2209799" cy="29648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ounded Rectangle 43"/>
          <p:cNvSpPr/>
          <p:nvPr/>
        </p:nvSpPr>
        <p:spPr>
          <a:xfrm>
            <a:off x="6401708" y="3566588"/>
            <a:ext cx="2359109" cy="28786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6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5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5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5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3134" grpId="0" animBg="1"/>
      <p:bldP spid="1153135" grpId="0" animBg="1"/>
      <p:bldP spid="1153136" grpId="0" animBg="1"/>
      <p:bldP spid="75" grpId="0" animBg="1"/>
      <p:bldP spid="76" grpId="0" animBg="1"/>
      <p:bldP spid="77" grpId="0" animBg="1"/>
      <p:bldP spid="78" grpId="0" animBg="1"/>
      <p:bldP spid="81" grpId="0" animBg="1"/>
      <p:bldP spid="82" grpId="0" animBg="1"/>
      <p:bldP spid="8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Ext2 FS: Putting the parts together…..</a:t>
            </a:r>
          </a:p>
        </p:txBody>
      </p:sp>
      <p:sp>
        <p:nvSpPr>
          <p:cNvPr id="116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 sz="2600" dirty="0"/>
              <a:t>Give a pathname, e.g. "/sub/file"</a:t>
            </a:r>
          </a:p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Let </a:t>
            </a:r>
            <a:r>
              <a:rPr lang="en-US" altLang="en-US" sz="2600" b="1" dirty="0" err="1">
                <a:solidFill>
                  <a:srgbClr val="000000"/>
                </a:solidFill>
              </a:rPr>
              <a:t>CurDir</a:t>
            </a:r>
            <a:r>
              <a:rPr lang="en-US" altLang="en-US" sz="2600" dirty="0"/>
              <a:t> = "/"</a:t>
            </a:r>
          </a:p>
          <a:p>
            <a:pPr marL="898525" lvl="1" indent="-571500"/>
            <a:r>
              <a:rPr lang="en-US" altLang="en-US" sz="2200" dirty="0"/>
              <a:t>Root directory usually has a fixed I-Node number (e.g. 2)</a:t>
            </a:r>
          </a:p>
          <a:p>
            <a:pPr marL="898525" lvl="1" indent="-571500"/>
            <a:r>
              <a:rPr lang="en-US" altLang="en-US" sz="2200" dirty="0"/>
              <a:t>Read the actual I-Node</a:t>
            </a:r>
          </a:p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Look at the next part in pathname:</a:t>
            </a:r>
          </a:p>
          <a:p>
            <a:pPr marL="839788" lvl="1" indent="-495300"/>
            <a:r>
              <a:rPr lang="en-US" altLang="en-US" sz="2200" dirty="0"/>
              <a:t>If it is a directory, e.g. "sub/"</a:t>
            </a:r>
          </a:p>
          <a:p>
            <a:pPr marL="1090613" lvl="2" indent="-419100"/>
            <a:r>
              <a:rPr lang="en-US" altLang="en-US" sz="2000" dirty="0"/>
              <a:t>Locate the directory entry in </a:t>
            </a:r>
            <a:r>
              <a:rPr lang="en-US" altLang="en-US" sz="2000" b="1" dirty="0" err="1">
                <a:solidFill>
                  <a:srgbClr val="000000"/>
                </a:solidFill>
              </a:rPr>
              <a:t>CurDir</a:t>
            </a:r>
            <a:endParaRPr lang="en-US" altLang="en-US" sz="2000" b="1" dirty="0">
              <a:solidFill>
                <a:srgbClr val="000000"/>
              </a:solidFill>
            </a:endParaRPr>
          </a:p>
          <a:p>
            <a:pPr marL="1090613" lvl="2" indent="-419100"/>
            <a:r>
              <a:rPr lang="en-US" altLang="en-US" sz="2000" dirty="0"/>
              <a:t>Retrieve I-Node number, then read the actual I-Node</a:t>
            </a:r>
          </a:p>
          <a:p>
            <a:pPr marL="1090613" lvl="2" indent="-419100"/>
            <a:r>
              <a:rPr lang="en-US" altLang="en-US" sz="2000" b="1" dirty="0" err="1">
                <a:solidFill>
                  <a:srgbClr val="000000"/>
                </a:solidFill>
              </a:rPr>
              <a:t>CurDir</a:t>
            </a:r>
            <a:r>
              <a:rPr lang="en-US" altLang="en-US" sz="2000" dirty="0"/>
              <a:t> = next part in pathname</a:t>
            </a:r>
          </a:p>
          <a:p>
            <a:pPr marL="1090613" lvl="2" indent="-419100"/>
            <a:r>
              <a:rPr lang="en-US" altLang="en-US" sz="2000" dirty="0" err="1"/>
              <a:t>Goto</a:t>
            </a:r>
            <a:r>
              <a:rPr lang="en-US" altLang="en-US" sz="2000" dirty="0"/>
              <a:t> Step 2.</a:t>
            </a:r>
          </a:p>
          <a:p>
            <a:pPr marL="839788" lvl="1" indent="-495300"/>
            <a:r>
              <a:rPr lang="en-US" altLang="en-US" sz="2200" dirty="0"/>
              <a:t>Else  //it is a file</a:t>
            </a:r>
          </a:p>
          <a:p>
            <a:pPr marL="1090613" lvl="2" indent="-419100"/>
            <a:r>
              <a:rPr lang="en-US" altLang="en-US" sz="2000" dirty="0"/>
              <a:t>Locate the directory entry in </a:t>
            </a:r>
            <a:r>
              <a:rPr lang="en-US" altLang="en-US" sz="2000" dirty="0" err="1"/>
              <a:t>CurDir</a:t>
            </a:r>
            <a:endParaRPr lang="en-US" altLang="en-US" sz="2000" dirty="0"/>
          </a:p>
          <a:p>
            <a:pPr marL="1090613" lvl="2" indent="-419100"/>
            <a:r>
              <a:rPr lang="en-US" altLang="en-US" sz="2000" dirty="0"/>
              <a:t>Retrieve I-Node number, then read the actual I-Node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17162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Task in Ext2: </a:t>
            </a:r>
            <a:r>
              <a:rPr lang="en-US" b="1" dirty="0">
                <a:solidFill>
                  <a:srgbClr val="C00000"/>
                </a:solidFill>
              </a:rPr>
              <a:t>File Delete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33</a:t>
            </a:fld>
            <a:endParaRPr lang="en-US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527959" y="105389"/>
            <a:ext cx="8001000" cy="838200"/>
            <a:chOff x="457200" y="2743201"/>
            <a:chExt cx="8001000" cy="838200"/>
          </a:xfrm>
        </p:grpSpPr>
        <p:sp>
          <p:nvSpPr>
            <p:cNvPr id="8" name="Rectangle 31"/>
            <p:cNvSpPr>
              <a:spLocks noChangeArrowheads="1"/>
            </p:cNvSpPr>
            <p:nvPr/>
          </p:nvSpPr>
          <p:spPr bwMode="auto">
            <a:xfrm>
              <a:off x="457200" y="2743201"/>
              <a:ext cx="80010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9" name="Rectangle 31"/>
            <p:cNvSpPr>
              <a:spLocks noChangeArrowheads="1"/>
            </p:cNvSpPr>
            <p:nvPr/>
          </p:nvSpPr>
          <p:spPr bwMode="auto">
            <a:xfrm>
              <a:off x="457200" y="2743201"/>
              <a:ext cx="990600" cy="838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 dirty="0">
                  <a:latin typeface="Courier New" panose="02070309020205020404" pitchFamily="49" charset="0"/>
                </a:rPr>
                <a:t>Super</a:t>
              </a:r>
            </a:p>
            <a:p>
              <a:pPr algn="ctr"/>
              <a:r>
                <a:rPr lang="en-US" altLang="en-US" sz="2000" b="1" dirty="0">
                  <a:latin typeface="Courier New" panose="02070309020205020404" pitchFamily="49" charset="0"/>
                </a:rPr>
                <a:t>Block</a:t>
              </a:r>
            </a:p>
          </p:txBody>
        </p:sp>
        <p:sp>
          <p:nvSpPr>
            <p:cNvPr id="10" name="Rectangle 32"/>
            <p:cNvSpPr>
              <a:spLocks noChangeArrowheads="1"/>
            </p:cNvSpPr>
            <p:nvPr/>
          </p:nvSpPr>
          <p:spPr bwMode="auto">
            <a:xfrm>
              <a:off x="1447800" y="2743201"/>
              <a:ext cx="1676400" cy="8382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lIns="91434" tIns="45717" rIns="91434" bIns="45717"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Group Descriptors</a:t>
              </a:r>
            </a:p>
          </p:txBody>
        </p:sp>
        <p:sp>
          <p:nvSpPr>
            <p:cNvPr id="11" name="Rectangle 33" descr="Dotted diamond"/>
            <p:cNvSpPr>
              <a:spLocks noChangeArrowheads="1"/>
            </p:cNvSpPr>
            <p:nvPr/>
          </p:nvSpPr>
          <p:spPr bwMode="auto">
            <a:xfrm>
              <a:off x="3124200" y="2743201"/>
              <a:ext cx="838200" cy="838200"/>
            </a:xfrm>
            <a:prstGeom prst="rect">
              <a:avLst/>
            </a:prstGeom>
            <a:pattFill prst="dotDmnd">
              <a:fgClr>
                <a:srgbClr val="000000"/>
              </a:fgClr>
              <a:bgClr>
                <a:schemeClr val="bg1"/>
              </a:bgClr>
            </a:patt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Block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Bitmap</a:t>
              </a:r>
            </a:p>
          </p:txBody>
        </p:sp>
        <p:sp>
          <p:nvSpPr>
            <p:cNvPr id="12" name="Rectangle 34" descr="Dotted diamond"/>
            <p:cNvSpPr>
              <a:spLocks noChangeArrowheads="1"/>
            </p:cNvSpPr>
            <p:nvPr/>
          </p:nvSpPr>
          <p:spPr bwMode="auto">
            <a:xfrm>
              <a:off x="3962400" y="2743201"/>
              <a:ext cx="838200" cy="838200"/>
            </a:xfrm>
            <a:prstGeom prst="rect">
              <a:avLst/>
            </a:prstGeom>
            <a:pattFill prst="dotDmnd">
              <a:fgClr>
                <a:srgbClr val="0033CC"/>
              </a:fgClr>
              <a:bgClr>
                <a:schemeClr val="bg1"/>
              </a:bgClr>
            </a:patt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 err="1">
                  <a:latin typeface="Courier New" panose="02070309020205020404" pitchFamily="49" charset="0"/>
                </a:rPr>
                <a:t>Inode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Bitmap</a:t>
              </a:r>
            </a:p>
          </p:txBody>
        </p:sp>
        <p:sp>
          <p:nvSpPr>
            <p:cNvPr id="13" name="Rectangle 35" descr="Light vertical"/>
            <p:cNvSpPr>
              <a:spLocks noChangeArrowheads="1"/>
            </p:cNvSpPr>
            <p:nvPr/>
          </p:nvSpPr>
          <p:spPr bwMode="auto">
            <a:xfrm>
              <a:off x="4800600" y="2743201"/>
              <a:ext cx="1219200" cy="838200"/>
            </a:xfrm>
            <a:prstGeom prst="rect">
              <a:avLst/>
            </a:prstGeom>
            <a:pattFill prst="ltVert">
              <a:fgClr>
                <a:srgbClr val="00CCFF"/>
              </a:fgClr>
              <a:bgClr>
                <a:schemeClr val="bg1"/>
              </a:bgClr>
            </a:patt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 dirty="0">
                  <a:latin typeface="Courier New" panose="02070309020205020404" pitchFamily="49" charset="0"/>
                </a:rPr>
                <a:t>I-node</a:t>
              </a:r>
            </a:p>
            <a:p>
              <a:pPr algn="ctr"/>
              <a:r>
                <a:rPr lang="en-US" altLang="en-US" sz="2000" b="1" dirty="0">
                  <a:latin typeface="Courier New" panose="02070309020205020404" pitchFamily="49" charset="0"/>
                </a:rPr>
                <a:t>Table</a:t>
              </a:r>
            </a:p>
          </p:txBody>
        </p:sp>
        <p:sp>
          <p:nvSpPr>
            <p:cNvPr id="14" name="Rectangle 36"/>
            <p:cNvSpPr>
              <a:spLocks noChangeArrowheads="1"/>
            </p:cNvSpPr>
            <p:nvPr/>
          </p:nvSpPr>
          <p:spPr bwMode="auto">
            <a:xfrm>
              <a:off x="6019800" y="2743201"/>
              <a:ext cx="2438400" cy="8382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 dirty="0">
                  <a:latin typeface="Courier New" panose="02070309020205020404" pitchFamily="49" charset="0"/>
                </a:rPr>
                <a:t>Data Blocks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71500" y="1116013"/>
            <a:ext cx="8156664" cy="5486400"/>
            <a:chOff x="571500" y="1116013"/>
            <a:chExt cx="8156664" cy="5486400"/>
          </a:xfrm>
        </p:grpSpPr>
        <p:grpSp>
          <p:nvGrpSpPr>
            <p:cNvPr id="16" name="Group 15"/>
            <p:cNvGrpSpPr/>
            <p:nvPr/>
          </p:nvGrpSpPr>
          <p:grpSpPr>
            <a:xfrm>
              <a:off x="6362700" y="3249613"/>
              <a:ext cx="2362200" cy="1555750"/>
              <a:chOff x="6400800" y="3200400"/>
              <a:chExt cx="2362200" cy="1555750"/>
            </a:xfrm>
          </p:grpSpPr>
          <p:sp>
            <p:nvSpPr>
              <p:cNvPr id="90" name="Rectangle 70"/>
              <p:cNvSpPr>
                <a:spLocks noChangeArrowheads="1"/>
              </p:cNvSpPr>
              <p:nvPr/>
            </p:nvSpPr>
            <p:spPr bwMode="auto">
              <a:xfrm>
                <a:off x="6400800" y="3200400"/>
                <a:ext cx="2362200" cy="1219200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accent4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b="1">
                  <a:solidFill>
                    <a:srgbClr val="008000"/>
                  </a:solidFill>
                </a:endParaRPr>
              </a:p>
            </p:txBody>
          </p:sp>
          <p:sp>
            <p:nvSpPr>
              <p:cNvPr id="91" name="Text Box 107"/>
              <p:cNvSpPr txBox="1">
                <a:spLocks noChangeArrowheads="1"/>
              </p:cNvSpPr>
              <p:nvPr/>
            </p:nvSpPr>
            <p:spPr bwMode="auto">
              <a:xfrm>
                <a:off x="6781800" y="4419600"/>
                <a:ext cx="1828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 dirty="0"/>
                  <a:t>Disk Block </a:t>
                </a:r>
                <a:r>
                  <a:rPr lang="en-US" altLang="en-US" sz="1600" b="1" dirty="0"/>
                  <a:t>20</a:t>
                </a: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6362700" y="1420813"/>
              <a:ext cx="2362200" cy="1555750"/>
              <a:chOff x="6400800" y="1371600"/>
              <a:chExt cx="2362200" cy="1555750"/>
            </a:xfrm>
          </p:grpSpPr>
          <p:sp>
            <p:nvSpPr>
              <p:cNvPr id="88" name="Rectangle 22"/>
              <p:cNvSpPr>
                <a:spLocks noChangeArrowheads="1"/>
              </p:cNvSpPr>
              <p:nvPr/>
            </p:nvSpPr>
            <p:spPr bwMode="auto">
              <a:xfrm>
                <a:off x="6400800" y="1371600"/>
                <a:ext cx="2362200" cy="1219200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accent2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b="1">
                  <a:solidFill>
                    <a:srgbClr val="008000"/>
                  </a:solidFill>
                </a:endParaRPr>
              </a:p>
            </p:txBody>
          </p:sp>
          <p:sp>
            <p:nvSpPr>
              <p:cNvPr id="89" name="Text Box 60"/>
              <p:cNvSpPr txBox="1">
                <a:spLocks noChangeArrowheads="1"/>
              </p:cNvSpPr>
              <p:nvPr/>
            </p:nvSpPr>
            <p:spPr bwMode="auto">
              <a:xfrm>
                <a:off x="6781800" y="2590800"/>
                <a:ext cx="1828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 dirty="0"/>
                  <a:t>Disk Block </a:t>
                </a:r>
                <a:r>
                  <a:rPr lang="en-US" altLang="en-US" sz="1600" b="1" dirty="0">
                    <a:solidFill>
                      <a:srgbClr val="C00000"/>
                    </a:solidFill>
                  </a:rPr>
                  <a:t>15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3467100" y="1116013"/>
              <a:ext cx="1295400" cy="1784350"/>
              <a:chOff x="3505200" y="1066800"/>
              <a:chExt cx="1295400" cy="1784350"/>
            </a:xfrm>
          </p:grpSpPr>
          <p:sp>
            <p:nvSpPr>
              <p:cNvPr id="86" name="Rectangle 4"/>
              <p:cNvSpPr>
                <a:spLocks noChangeArrowheads="1"/>
              </p:cNvSpPr>
              <p:nvPr/>
            </p:nvSpPr>
            <p:spPr bwMode="auto">
              <a:xfrm>
                <a:off x="3505200" y="1066800"/>
                <a:ext cx="1295400" cy="14795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 algn="ctr">
                <a:solidFill>
                  <a:schemeClr val="accent2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b="1" dirty="0">
                    <a:latin typeface="Courier New" panose="02070309020205020404" pitchFamily="49" charset="0"/>
                  </a:rPr>
                  <a:t>File Metadata</a:t>
                </a:r>
              </a:p>
              <a:p>
                <a:pPr algn="ctr"/>
                <a:endParaRPr lang="en-US" altLang="en-US" b="1" dirty="0">
                  <a:latin typeface="Courier New" panose="02070309020205020404" pitchFamily="49" charset="0"/>
                </a:endParaRPr>
              </a:p>
              <a:p>
                <a:pPr algn="ctr"/>
                <a:endParaRPr lang="en-US" altLang="en-US" b="1" dirty="0">
                  <a:latin typeface="Courier New" panose="02070309020205020404" pitchFamily="49" charset="0"/>
                </a:endParaRPr>
              </a:p>
              <a:p>
                <a:pPr algn="ctr"/>
                <a:endParaRPr lang="en-US" altLang="en-US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7" name="Text Box 47"/>
              <p:cNvSpPr txBox="1">
                <a:spLocks noChangeArrowheads="1"/>
              </p:cNvSpPr>
              <p:nvPr/>
            </p:nvSpPr>
            <p:spPr bwMode="auto">
              <a:xfrm>
                <a:off x="3657600" y="2514600"/>
                <a:ext cx="914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 dirty="0"/>
                  <a:t>I-Node</a:t>
                </a: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6365964" y="1420813"/>
              <a:ext cx="2362200" cy="914400"/>
              <a:chOff x="6477000" y="1371600"/>
              <a:chExt cx="2362200" cy="914400"/>
            </a:xfrm>
          </p:grpSpPr>
          <p:grpSp>
            <p:nvGrpSpPr>
              <p:cNvPr id="76" name="Group 55"/>
              <p:cNvGrpSpPr>
                <a:grpSpLocks/>
              </p:cNvGrpSpPr>
              <p:nvPr/>
            </p:nvGrpSpPr>
            <p:grpSpPr bwMode="auto">
              <a:xfrm>
                <a:off x="6477000" y="1371600"/>
                <a:ext cx="2209800" cy="304800"/>
                <a:chOff x="2688" y="3264"/>
                <a:chExt cx="1392" cy="240"/>
              </a:xfrm>
            </p:grpSpPr>
            <p:sp>
              <p:nvSpPr>
                <p:cNvPr id="80" name="Rectangle 49"/>
                <p:cNvSpPr>
                  <a:spLocks noChangeArrowheads="1"/>
                </p:cNvSpPr>
                <p:nvPr/>
              </p:nvSpPr>
              <p:spPr bwMode="auto">
                <a:xfrm>
                  <a:off x="2688" y="3264"/>
                  <a:ext cx="1392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Rectangle 50"/>
                <p:cNvSpPr>
                  <a:spLocks noChangeArrowheads="1"/>
                </p:cNvSpPr>
                <p:nvPr/>
              </p:nvSpPr>
              <p:spPr bwMode="auto">
                <a:xfrm>
                  <a:off x="2688" y="3264"/>
                  <a:ext cx="279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8</a:t>
                  </a:r>
                </a:p>
              </p:txBody>
            </p:sp>
            <p:sp>
              <p:nvSpPr>
                <p:cNvPr id="82" name="Rectangle 51"/>
                <p:cNvSpPr>
                  <a:spLocks noChangeArrowheads="1"/>
                </p:cNvSpPr>
                <p:nvPr/>
              </p:nvSpPr>
              <p:spPr bwMode="auto">
                <a:xfrm>
                  <a:off x="2967" y="3264"/>
                  <a:ext cx="14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83" name="Rectangle 52"/>
                <p:cNvSpPr>
                  <a:spLocks noChangeArrowheads="1"/>
                </p:cNvSpPr>
                <p:nvPr/>
              </p:nvSpPr>
              <p:spPr bwMode="auto">
                <a:xfrm>
                  <a:off x="3107" y="3264"/>
                  <a:ext cx="279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D</a:t>
                  </a:r>
                </a:p>
              </p:txBody>
            </p:sp>
            <p:sp>
              <p:nvSpPr>
                <p:cNvPr id="84" name="Rectangle 53"/>
                <p:cNvSpPr>
                  <a:spLocks noChangeArrowheads="1"/>
                </p:cNvSpPr>
                <p:nvPr/>
              </p:nvSpPr>
              <p:spPr bwMode="auto">
                <a:xfrm>
                  <a:off x="3386" y="3264"/>
                  <a:ext cx="279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3</a:t>
                  </a:r>
                </a:p>
              </p:txBody>
            </p:sp>
            <p:sp>
              <p:nvSpPr>
                <p:cNvPr id="85" name="Rectangle 54"/>
                <p:cNvSpPr>
                  <a:spLocks noChangeArrowheads="1"/>
                </p:cNvSpPr>
                <p:nvPr/>
              </p:nvSpPr>
              <p:spPr bwMode="auto">
                <a:xfrm>
                  <a:off x="3665" y="3264"/>
                  <a:ext cx="415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sub</a:t>
                  </a:r>
                </a:p>
              </p:txBody>
            </p:sp>
          </p:grpSp>
          <p:sp>
            <p:nvSpPr>
              <p:cNvPr id="77" name="Line 56"/>
              <p:cNvSpPr>
                <a:spLocks noChangeShapeType="1"/>
              </p:cNvSpPr>
              <p:nvPr/>
            </p:nvSpPr>
            <p:spPr bwMode="auto">
              <a:xfrm>
                <a:off x="8686800" y="1676400"/>
                <a:ext cx="15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Line 57"/>
              <p:cNvSpPr>
                <a:spLocks noChangeShapeType="1"/>
              </p:cNvSpPr>
              <p:nvPr/>
            </p:nvSpPr>
            <p:spPr bwMode="auto">
              <a:xfrm>
                <a:off x="6477000" y="1981200"/>
                <a:ext cx="2362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Line 58"/>
              <p:cNvSpPr>
                <a:spLocks noChangeShapeType="1"/>
              </p:cNvSpPr>
              <p:nvPr/>
            </p:nvSpPr>
            <p:spPr bwMode="auto">
              <a:xfrm>
                <a:off x="6477000" y="2286000"/>
                <a:ext cx="2362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6362700" y="3249613"/>
              <a:ext cx="2362200" cy="914400"/>
              <a:chOff x="6400800" y="3200400"/>
              <a:chExt cx="2362200" cy="914400"/>
            </a:xfrm>
          </p:grpSpPr>
          <p:grpSp>
            <p:nvGrpSpPr>
              <p:cNvPr id="62" name="Group 71"/>
              <p:cNvGrpSpPr>
                <a:grpSpLocks/>
              </p:cNvGrpSpPr>
              <p:nvPr/>
            </p:nvGrpSpPr>
            <p:grpSpPr bwMode="auto">
              <a:xfrm>
                <a:off x="6400800" y="3810000"/>
                <a:ext cx="2362200" cy="304800"/>
                <a:chOff x="2688" y="3264"/>
                <a:chExt cx="1392" cy="240"/>
              </a:xfrm>
            </p:grpSpPr>
            <p:sp>
              <p:nvSpPr>
                <p:cNvPr id="70" name="Rectangle 72"/>
                <p:cNvSpPr>
                  <a:spLocks noChangeArrowheads="1"/>
                </p:cNvSpPr>
                <p:nvPr/>
              </p:nvSpPr>
              <p:spPr bwMode="auto">
                <a:xfrm>
                  <a:off x="2688" y="3264"/>
                  <a:ext cx="1392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Rectangle 73"/>
                <p:cNvSpPr>
                  <a:spLocks noChangeArrowheads="1"/>
                </p:cNvSpPr>
                <p:nvPr/>
              </p:nvSpPr>
              <p:spPr bwMode="auto">
                <a:xfrm>
                  <a:off x="2688" y="3264"/>
                  <a:ext cx="279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6</a:t>
                  </a:r>
                </a:p>
              </p:txBody>
            </p:sp>
            <p:sp>
              <p:nvSpPr>
                <p:cNvPr id="72" name="Rectangle 74"/>
                <p:cNvSpPr>
                  <a:spLocks noChangeArrowheads="1"/>
                </p:cNvSpPr>
                <p:nvPr/>
              </p:nvSpPr>
              <p:spPr bwMode="auto">
                <a:xfrm>
                  <a:off x="2967" y="3264"/>
                  <a:ext cx="14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73" name="Rectangle 75"/>
                <p:cNvSpPr>
                  <a:spLocks noChangeArrowheads="1"/>
                </p:cNvSpPr>
                <p:nvPr/>
              </p:nvSpPr>
              <p:spPr bwMode="auto">
                <a:xfrm>
                  <a:off x="3107" y="3264"/>
                  <a:ext cx="279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F</a:t>
                  </a:r>
                </a:p>
              </p:txBody>
            </p:sp>
            <p:sp>
              <p:nvSpPr>
                <p:cNvPr id="74" name="Rectangle 76"/>
                <p:cNvSpPr>
                  <a:spLocks noChangeArrowheads="1"/>
                </p:cNvSpPr>
                <p:nvPr/>
              </p:nvSpPr>
              <p:spPr bwMode="auto">
                <a:xfrm>
                  <a:off x="3386" y="3264"/>
                  <a:ext cx="279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4</a:t>
                  </a:r>
                </a:p>
              </p:txBody>
            </p:sp>
            <p:sp>
              <p:nvSpPr>
                <p:cNvPr id="75" name="Rectangle 77"/>
                <p:cNvSpPr>
                  <a:spLocks noChangeArrowheads="1"/>
                </p:cNvSpPr>
                <p:nvPr/>
              </p:nvSpPr>
              <p:spPr bwMode="auto">
                <a:xfrm>
                  <a:off x="3665" y="3264"/>
                  <a:ext cx="415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file</a:t>
                  </a:r>
                </a:p>
              </p:txBody>
            </p:sp>
          </p:grpSp>
          <p:sp>
            <p:nvSpPr>
              <p:cNvPr id="63" name="Line 78"/>
              <p:cNvSpPr>
                <a:spLocks noChangeShapeType="1"/>
              </p:cNvSpPr>
              <p:nvPr/>
            </p:nvSpPr>
            <p:spPr bwMode="auto">
              <a:xfrm>
                <a:off x="6400800" y="3505200"/>
                <a:ext cx="2362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Line 79"/>
              <p:cNvSpPr>
                <a:spLocks noChangeShapeType="1"/>
              </p:cNvSpPr>
              <p:nvPr/>
            </p:nvSpPr>
            <p:spPr bwMode="auto">
              <a:xfrm>
                <a:off x="6400800" y="3810000"/>
                <a:ext cx="2362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Rectangle 82"/>
              <p:cNvSpPr>
                <a:spLocks noChangeArrowheads="1"/>
              </p:cNvSpPr>
              <p:nvPr/>
            </p:nvSpPr>
            <p:spPr bwMode="auto">
              <a:xfrm>
                <a:off x="6400800" y="3200400"/>
                <a:ext cx="1143000" cy="304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" name="Rectangle 88"/>
              <p:cNvSpPr>
                <a:spLocks noChangeArrowheads="1"/>
              </p:cNvSpPr>
              <p:nvPr/>
            </p:nvSpPr>
            <p:spPr bwMode="auto">
              <a:xfrm>
                <a:off x="7543800" y="3200400"/>
                <a:ext cx="990600" cy="304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" name="Rectangle 89"/>
              <p:cNvSpPr>
                <a:spLocks noChangeArrowheads="1"/>
              </p:cNvSpPr>
              <p:nvPr/>
            </p:nvSpPr>
            <p:spPr bwMode="auto">
              <a:xfrm>
                <a:off x="6400800" y="3505200"/>
                <a:ext cx="1447800" cy="304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" name="Rectangle 90"/>
              <p:cNvSpPr>
                <a:spLocks noChangeArrowheads="1"/>
              </p:cNvSpPr>
              <p:nvPr/>
            </p:nvSpPr>
            <p:spPr bwMode="auto">
              <a:xfrm>
                <a:off x="7848600" y="3505200"/>
                <a:ext cx="914400" cy="304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Rectangle 91"/>
              <p:cNvSpPr>
                <a:spLocks noChangeArrowheads="1"/>
              </p:cNvSpPr>
              <p:nvPr/>
            </p:nvSpPr>
            <p:spPr bwMode="auto">
              <a:xfrm>
                <a:off x="8077200" y="3200400"/>
                <a:ext cx="685800" cy="304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6362700" y="4926013"/>
              <a:ext cx="2362200" cy="1555750"/>
              <a:chOff x="6400800" y="4876800"/>
              <a:chExt cx="2362200" cy="1555750"/>
            </a:xfrm>
          </p:grpSpPr>
          <p:sp>
            <p:nvSpPr>
              <p:cNvPr id="60" name="Rectangle 92"/>
              <p:cNvSpPr>
                <a:spLocks noChangeArrowheads="1"/>
              </p:cNvSpPr>
              <p:nvPr/>
            </p:nvSpPr>
            <p:spPr bwMode="auto">
              <a:xfrm>
                <a:off x="6400800" y="4876800"/>
                <a:ext cx="2362200" cy="12192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 algn="ctr">
                <a:solidFill>
                  <a:srgbClr val="660066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b="1">
                    <a:solidFill>
                      <a:schemeClr val="tx2"/>
                    </a:solidFill>
                  </a:rPr>
                  <a:t>Actual Data</a:t>
                </a:r>
              </a:p>
            </p:txBody>
          </p:sp>
          <p:sp>
            <p:nvSpPr>
              <p:cNvPr id="61" name="Text Box 108"/>
              <p:cNvSpPr txBox="1">
                <a:spLocks noChangeArrowheads="1"/>
              </p:cNvSpPr>
              <p:nvPr/>
            </p:nvSpPr>
            <p:spPr bwMode="auto">
              <a:xfrm>
                <a:off x="6705600" y="6096000"/>
                <a:ext cx="1828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 dirty="0"/>
                  <a:t>Disk Block </a:t>
                </a:r>
                <a:r>
                  <a:rPr lang="en-US" altLang="en-US" sz="1600" b="1" dirty="0"/>
                  <a:t>23</a:t>
                </a:r>
              </a:p>
            </p:txBody>
          </p:sp>
        </p:grpSp>
        <p:sp>
          <p:nvSpPr>
            <p:cNvPr id="22" name="AutoShape 110"/>
            <p:cNvSpPr>
              <a:spLocks noChangeArrowheads="1"/>
            </p:cNvSpPr>
            <p:nvPr/>
          </p:nvSpPr>
          <p:spPr bwMode="auto">
            <a:xfrm>
              <a:off x="1699305" y="1739464"/>
              <a:ext cx="1524000" cy="228600"/>
            </a:xfrm>
            <a:prstGeom prst="rightArrow">
              <a:avLst>
                <a:gd name="adj1" fmla="val 50000"/>
                <a:gd name="adj2" fmla="val 166667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AutoShape 111"/>
            <p:cNvSpPr>
              <a:spLocks noChangeArrowheads="1"/>
            </p:cNvSpPr>
            <p:nvPr/>
          </p:nvSpPr>
          <p:spPr bwMode="auto">
            <a:xfrm rot="567240">
              <a:off x="1782275" y="3404128"/>
              <a:ext cx="1524000" cy="228600"/>
            </a:xfrm>
            <a:prstGeom prst="rightArrow">
              <a:avLst>
                <a:gd name="adj1" fmla="val 50000"/>
                <a:gd name="adj2" fmla="val 16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AutoShape 112"/>
            <p:cNvSpPr>
              <a:spLocks noChangeArrowheads="1"/>
            </p:cNvSpPr>
            <p:nvPr/>
          </p:nvSpPr>
          <p:spPr bwMode="auto">
            <a:xfrm rot="2377985">
              <a:off x="1571522" y="4701902"/>
              <a:ext cx="1947863" cy="257175"/>
            </a:xfrm>
            <a:prstGeom prst="rightArrow">
              <a:avLst>
                <a:gd name="adj1" fmla="val 50000"/>
                <a:gd name="adj2" fmla="val 189352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571500" y="1268413"/>
              <a:ext cx="1447800" cy="3994150"/>
              <a:chOff x="457200" y="1066800"/>
              <a:chExt cx="1447800" cy="3994150"/>
            </a:xfrm>
          </p:grpSpPr>
          <p:sp>
            <p:nvSpPr>
              <p:cNvPr id="42" name="Rectangle 25"/>
              <p:cNvSpPr>
                <a:spLocks noChangeArrowheads="1"/>
              </p:cNvSpPr>
              <p:nvPr/>
            </p:nvSpPr>
            <p:spPr bwMode="auto">
              <a:xfrm>
                <a:off x="990600" y="1066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Text Box 26"/>
              <p:cNvSpPr txBox="1">
                <a:spLocks noChangeArrowheads="1"/>
              </p:cNvSpPr>
              <p:nvPr/>
            </p:nvSpPr>
            <p:spPr bwMode="auto">
              <a:xfrm>
                <a:off x="681038" y="1066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44" name="Rectangle 27"/>
              <p:cNvSpPr>
                <a:spLocks noChangeArrowheads="1"/>
              </p:cNvSpPr>
              <p:nvPr/>
            </p:nvSpPr>
            <p:spPr bwMode="auto">
              <a:xfrm>
                <a:off x="990600" y="1447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Text Box 28"/>
              <p:cNvSpPr txBox="1">
                <a:spLocks noChangeArrowheads="1"/>
              </p:cNvSpPr>
              <p:nvPr/>
            </p:nvSpPr>
            <p:spPr bwMode="auto">
              <a:xfrm>
                <a:off x="681038" y="1447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46" name="Rectangle 29"/>
              <p:cNvSpPr>
                <a:spLocks noChangeArrowheads="1"/>
              </p:cNvSpPr>
              <p:nvPr/>
            </p:nvSpPr>
            <p:spPr bwMode="auto">
              <a:xfrm>
                <a:off x="990600" y="1828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" name="Text Box 30"/>
              <p:cNvSpPr txBox="1">
                <a:spLocks noChangeArrowheads="1"/>
              </p:cNvSpPr>
              <p:nvPr/>
            </p:nvSpPr>
            <p:spPr bwMode="auto">
              <a:xfrm>
                <a:off x="681038" y="1828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48" name="Rectangle 31"/>
              <p:cNvSpPr>
                <a:spLocks noChangeArrowheads="1"/>
              </p:cNvSpPr>
              <p:nvPr/>
            </p:nvSpPr>
            <p:spPr bwMode="auto">
              <a:xfrm>
                <a:off x="990600" y="2209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Text Box 32"/>
              <p:cNvSpPr txBox="1">
                <a:spLocks noChangeArrowheads="1"/>
              </p:cNvSpPr>
              <p:nvPr/>
            </p:nvSpPr>
            <p:spPr bwMode="auto">
              <a:xfrm>
                <a:off x="681038" y="2209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50" name="Rectangle 33"/>
              <p:cNvSpPr>
                <a:spLocks noChangeArrowheads="1"/>
              </p:cNvSpPr>
              <p:nvPr/>
            </p:nvSpPr>
            <p:spPr bwMode="auto">
              <a:xfrm>
                <a:off x="990600" y="2590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Text Box 34"/>
              <p:cNvSpPr txBox="1">
                <a:spLocks noChangeArrowheads="1"/>
              </p:cNvSpPr>
              <p:nvPr/>
            </p:nvSpPr>
            <p:spPr bwMode="auto">
              <a:xfrm>
                <a:off x="681038" y="2590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52" name="Rectangle 35"/>
              <p:cNvSpPr>
                <a:spLocks noChangeArrowheads="1"/>
              </p:cNvSpPr>
              <p:nvPr/>
            </p:nvSpPr>
            <p:spPr bwMode="auto">
              <a:xfrm>
                <a:off x="990600" y="2971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Text Box 36"/>
              <p:cNvSpPr txBox="1">
                <a:spLocks noChangeArrowheads="1"/>
              </p:cNvSpPr>
              <p:nvPr/>
            </p:nvSpPr>
            <p:spPr bwMode="auto">
              <a:xfrm>
                <a:off x="681038" y="2971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6</a:t>
                </a:r>
              </a:p>
            </p:txBody>
          </p:sp>
          <p:sp>
            <p:nvSpPr>
              <p:cNvPr id="54" name="Rectangle 37"/>
              <p:cNvSpPr>
                <a:spLocks noChangeArrowheads="1"/>
              </p:cNvSpPr>
              <p:nvPr/>
            </p:nvSpPr>
            <p:spPr bwMode="auto">
              <a:xfrm>
                <a:off x="990600" y="3352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Text Box 38"/>
              <p:cNvSpPr txBox="1">
                <a:spLocks noChangeArrowheads="1"/>
              </p:cNvSpPr>
              <p:nvPr/>
            </p:nvSpPr>
            <p:spPr bwMode="auto">
              <a:xfrm>
                <a:off x="681038" y="3352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56" name="Rectangle 39"/>
              <p:cNvSpPr>
                <a:spLocks noChangeArrowheads="1"/>
              </p:cNvSpPr>
              <p:nvPr/>
            </p:nvSpPr>
            <p:spPr bwMode="auto">
              <a:xfrm>
                <a:off x="990600" y="3733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Text Box 40"/>
              <p:cNvSpPr txBox="1">
                <a:spLocks noChangeArrowheads="1"/>
              </p:cNvSpPr>
              <p:nvPr/>
            </p:nvSpPr>
            <p:spPr bwMode="auto">
              <a:xfrm>
                <a:off x="681038" y="3733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8</a:t>
                </a:r>
              </a:p>
            </p:txBody>
          </p:sp>
          <p:sp>
            <p:nvSpPr>
              <p:cNvPr id="58" name="Rectangle 41"/>
              <p:cNvSpPr>
                <a:spLocks noChangeArrowheads="1"/>
              </p:cNvSpPr>
              <p:nvPr/>
            </p:nvSpPr>
            <p:spPr bwMode="auto">
              <a:xfrm>
                <a:off x="990600" y="4114800"/>
                <a:ext cx="457200" cy="6096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/>
                  <a:t>…</a:t>
                </a:r>
              </a:p>
              <a:p>
                <a:pPr algn="ctr"/>
                <a:r>
                  <a:rPr lang="en-US" altLang="en-US"/>
                  <a:t>…</a:t>
                </a:r>
              </a:p>
              <a:p>
                <a:pPr algn="ctr"/>
                <a:endParaRPr lang="en-US" altLang="en-US"/>
              </a:p>
            </p:txBody>
          </p:sp>
          <p:sp>
            <p:nvSpPr>
              <p:cNvPr id="59" name="Text Box 114"/>
              <p:cNvSpPr txBox="1">
                <a:spLocks noChangeArrowheads="1"/>
              </p:cNvSpPr>
              <p:nvPr/>
            </p:nvSpPr>
            <p:spPr bwMode="auto">
              <a:xfrm>
                <a:off x="457200" y="4724400"/>
                <a:ext cx="1447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/>
                  <a:t>I-Node Table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3467100" y="3021013"/>
              <a:ext cx="1295400" cy="1769110"/>
              <a:chOff x="3505200" y="2971800"/>
              <a:chExt cx="1295400" cy="1769110"/>
            </a:xfrm>
          </p:grpSpPr>
          <p:grpSp>
            <p:nvGrpSpPr>
              <p:cNvPr id="37" name="Group 62"/>
              <p:cNvGrpSpPr>
                <a:grpSpLocks/>
              </p:cNvGrpSpPr>
              <p:nvPr/>
            </p:nvGrpSpPr>
            <p:grpSpPr bwMode="auto">
              <a:xfrm>
                <a:off x="3505200" y="2971800"/>
                <a:ext cx="1295400" cy="1447800"/>
                <a:chOff x="1728" y="672"/>
                <a:chExt cx="816" cy="912"/>
              </a:xfrm>
            </p:grpSpPr>
            <p:sp>
              <p:nvSpPr>
                <p:cNvPr id="39" name="Rectangle 63"/>
                <p:cNvSpPr>
                  <a:spLocks noChangeArrowheads="1"/>
                </p:cNvSpPr>
                <p:nvPr/>
              </p:nvSpPr>
              <p:spPr bwMode="auto">
                <a:xfrm>
                  <a:off x="1728" y="672"/>
                  <a:ext cx="816" cy="43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 algn="ctr">
                  <a:solidFill>
                    <a:schemeClr val="accent5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File Metadata</a:t>
                  </a:r>
                </a:p>
              </p:txBody>
            </p:sp>
            <p:sp>
              <p:nvSpPr>
                <p:cNvPr id="40" name="Rectangle 64"/>
                <p:cNvSpPr>
                  <a:spLocks noChangeArrowheads="1"/>
                </p:cNvSpPr>
                <p:nvPr/>
              </p:nvSpPr>
              <p:spPr bwMode="auto">
                <a:xfrm>
                  <a:off x="1728" y="1104"/>
                  <a:ext cx="816" cy="192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9050" algn="ctr">
                  <a:solidFill>
                    <a:schemeClr val="accent5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23</a:t>
                  </a:r>
                </a:p>
              </p:txBody>
            </p:sp>
            <p:sp>
              <p:nvSpPr>
                <p:cNvPr id="41" name="Rectangle 65"/>
                <p:cNvSpPr>
                  <a:spLocks noChangeArrowheads="1"/>
                </p:cNvSpPr>
                <p:nvPr/>
              </p:nvSpPr>
              <p:spPr bwMode="auto">
                <a:xfrm>
                  <a:off x="1728" y="1296"/>
                  <a:ext cx="816" cy="28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 algn="ctr">
                  <a:solidFill>
                    <a:schemeClr val="accent5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b="1">
                    <a:latin typeface="Courier New" panose="02070309020205020404" pitchFamily="49" charset="0"/>
                  </a:endParaRPr>
                </a:p>
              </p:txBody>
            </p:sp>
          </p:grpSp>
          <p:sp>
            <p:nvSpPr>
              <p:cNvPr id="38" name="Text Box 47"/>
              <p:cNvSpPr txBox="1">
                <a:spLocks noChangeArrowheads="1"/>
              </p:cNvSpPr>
              <p:nvPr/>
            </p:nvSpPr>
            <p:spPr bwMode="auto">
              <a:xfrm>
                <a:off x="3684311" y="4404360"/>
                <a:ext cx="914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 dirty="0"/>
                  <a:t>I-Node</a:t>
                </a: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3467100" y="4849813"/>
              <a:ext cx="1295400" cy="1752600"/>
              <a:chOff x="3505200" y="4800600"/>
              <a:chExt cx="1295400" cy="1752600"/>
            </a:xfrm>
          </p:grpSpPr>
          <p:grpSp>
            <p:nvGrpSpPr>
              <p:cNvPr id="32" name="Group 66"/>
              <p:cNvGrpSpPr>
                <a:grpSpLocks/>
              </p:cNvGrpSpPr>
              <p:nvPr/>
            </p:nvGrpSpPr>
            <p:grpSpPr bwMode="auto">
              <a:xfrm>
                <a:off x="3505200" y="4800600"/>
                <a:ext cx="1295400" cy="1447800"/>
                <a:chOff x="1728" y="672"/>
                <a:chExt cx="816" cy="912"/>
              </a:xfrm>
            </p:grpSpPr>
            <p:sp>
              <p:nvSpPr>
                <p:cNvPr id="34" name="Rectangle 67"/>
                <p:cNvSpPr>
                  <a:spLocks noChangeArrowheads="1"/>
                </p:cNvSpPr>
                <p:nvPr/>
              </p:nvSpPr>
              <p:spPr bwMode="auto">
                <a:xfrm>
                  <a:off x="1728" y="672"/>
                  <a:ext cx="816" cy="4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 algn="ctr">
                  <a:solidFill>
                    <a:schemeClr val="accent4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b="1" dirty="0">
                      <a:latin typeface="Courier New" panose="02070309020205020404" pitchFamily="49" charset="0"/>
                    </a:rPr>
                    <a:t>File Metadata</a:t>
                  </a:r>
                </a:p>
              </p:txBody>
            </p:sp>
            <p:sp>
              <p:nvSpPr>
                <p:cNvPr id="35" name="Rectangle 68"/>
                <p:cNvSpPr>
                  <a:spLocks noChangeArrowheads="1"/>
                </p:cNvSpPr>
                <p:nvPr/>
              </p:nvSpPr>
              <p:spPr bwMode="auto">
                <a:xfrm>
                  <a:off x="1728" y="1104"/>
                  <a:ext cx="816" cy="19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19050" algn="ctr">
                  <a:solidFill>
                    <a:schemeClr val="accent4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20</a:t>
                  </a:r>
                </a:p>
              </p:txBody>
            </p:sp>
            <p:sp>
              <p:nvSpPr>
                <p:cNvPr id="36" name="Rectangle 69"/>
                <p:cNvSpPr>
                  <a:spLocks noChangeArrowheads="1"/>
                </p:cNvSpPr>
                <p:nvPr/>
              </p:nvSpPr>
              <p:spPr bwMode="auto">
                <a:xfrm>
                  <a:off x="1728" y="1296"/>
                  <a:ext cx="816" cy="28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 algn="ctr">
                  <a:solidFill>
                    <a:schemeClr val="accent4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b="1">
                    <a:latin typeface="Courier New" panose="02070309020205020404" pitchFamily="49" charset="0"/>
                  </a:endParaRPr>
                </a:p>
              </p:txBody>
            </p:sp>
          </p:grpSp>
          <p:sp>
            <p:nvSpPr>
              <p:cNvPr id="33" name="Text Box 47"/>
              <p:cNvSpPr txBox="1">
                <a:spLocks noChangeArrowheads="1"/>
              </p:cNvSpPr>
              <p:nvPr/>
            </p:nvSpPr>
            <p:spPr bwMode="auto">
              <a:xfrm>
                <a:off x="3700640" y="6216650"/>
                <a:ext cx="914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 dirty="0"/>
                  <a:t>I-Node</a:t>
                </a:r>
              </a:p>
            </p:txBody>
          </p:sp>
        </p:grpSp>
        <p:sp>
          <p:nvSpPr>
            <p:cNvPr id="28" name="Rectangle 39"/>
            <p:cNvSpPr>
              <a:spLocks noChangeArrowheads="1"/>
            </p:cNvSpPr>
            <p:nvPr/>
          </p:nvSpPr>
          <p:spPr bwMode="auto">
            <a:xfrm>
              <a:off x="1104900" y="3935413"/>
              <a:ext cx="457200" cy="381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9050" algn="ctr">
              <a:solidFill>
                <a:schemeClr val="accent4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Rectangle 35"/>
            <p:cNvSpPr>
              <a:spLocks noChangeArrowheads="1"/>
            </p:cNvSpPr>
            <p:nvPr/>
          </p:nvSpPr>
          <p:spPr bwMode="auto">
            <a:xfrm>
              <a:off x="1104900" y="3173413"/>
              <a:ext cx="457200" cy="381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9050" algn="ctr">
              <a:solidFill>
                <a:srgbClr val="660066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27"/>
            <p:cNvSpPr>
              <a:spLocks noChangeArrowheads="1"/>
            </p:cNvSpPr>
            <p:nvPr/>
          </p:nvSpPr>
          <p:spPr bwMode="auto">
            <a:xfrm>
              <a:off x="1104900" y="1649413"/>
              <a:ext cx="457200" cy="381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Rectangle 43"/>
            <p:cNvSpPr>
              <a:spLocks noChangeArrowheads="1"/>
            </p:cNvSpPr>
            <p:nvPr/>
          </p:nvSpPr>
          <p:spPr bwMode="auto">
            <a:xfrm>
              <a:off x="3460569" y="1833563"/>
              <a:ext cx="1295400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15</a:t>
              </a:r>
            </a:p>
          </p:txBody>
        </p:sp>
      </p:grpSp>
      <p:sp>
        <p:nvSpPr>
          <p:cNvPr id="92" name="Rectangle 64"/>
          <p:cNvSpPr>
            <a:spLocks noChangeArrowheads="1"/>
          </p:cNvSpPr>
          <p:nvPr/>
        </p:nvSpPr>
        <p:spPr bwMode="auto">
          <a:xfrm>
            <a:off x="3467100" y="3996373"/>
            <a:ext cx="1295400" cy="30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 algn="ctr">
            <a:solidFill>
              <a:schemeClr val="accent5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 dirty="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93" name="Rectangle 2"/>
          <p:cNvSpPr txBox="1">
            <a:spLocks noChangeArrowheads="1"/>
          </p:cNvSpPr>
          <p:nvPr/>
        </p:nvSpPr>
        <p:spPr bwMode="auto">
          <a:xfrm>
            <a:off x="533401" y="5643563"/>
            <a:ext cx="2247900" cy="5111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r>
              <a:rPr lang="en-US" altLang="en-US" sz="2800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800" b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sub/</a:t>
            </a:r>
            <a:r>
              <a:rPr lang="en-US" altLang="en-US" sz="2800" b="1" kern="0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endParaRPr lang="en-US" altLang="en-US" sz="2800" kern="0" dirty="0"/>
          </a:p>
        </p:txBody>
      </p:sp>
      <p:sp>
        <p:nvSpPr>
          <p:cNvPr id="94" name="Isosceles Triangle 93"/>
          <p:cNvSpPr/>
          <p:nvPr/>
        </p:nvSpPr>
        <p:spPr>
          <a:xfrm>
            <a:off x="8496300" y="6619240"/>
            <a:ext cx="2286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ounded Rectangle 43"/>
          <p:cNvSpPr/>
          <p:nvPr/>
        </p:nvSpPr>
        <p:spPr>
          <a:xfrm>
            <a:off x="6367158" y="1443412"/>
            <a:ext cx="2209799" cy="29648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ounded Rectangle 43"/>
          <p:cNvSpPr/>
          <p:nvPr/>
        </p:nvSpPr>
        <p:spPr>
          <a:xfrm>
            <a:off x="6364355" y="3859212"/>
            <a:ext cx="2359109" cy="31588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137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3" grpId="0" animBg="1"/>
      <p:bldP spid="94" grpId="0" animBg="1"/>
      <p:bldP spid="95" grpId="0" animBg="1"/>
      <p:bldP spid="9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Hard</a:t>
            </a:r>
            <a:r>
              <a:rPr lang="en-US" altLang="en-US" sz="3800" b="1" dirty="0"/>
              <a:t> / </a:t>
            </a:r>
            <a:r>
              <a:rPr lang="en-US" altLang="en-US" sz="3800" b="1" dirty="0">
                <a:solidFill>
                  <a:srgbClr val="006600"/>
                </a:solidFill>
              </a:rPr>
              <a:t>Symbolic</a:t>
            </a:r>
            <a:r>
              <a:rPr lang="en-US" altLang="en-US" sz="3800" b="1" dirty="0"/>
              <a:t> Link </a:t>
            </a:r>
            <a:r>
              <a:rPr lang="en-US" altLang="en-US" sz="3800" dirty="0"/>
              <a:t>with I-Node</a:t>
            </a:r>
          </a:p>
        </p:txBody>
      </p:sp>
      <p:sp>
        <p:nvSpPr>
          <p:cNvPr id="1155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Scenario:</a:t>
            </a:r>
          </a:p>
          <a:p>
            <a:pPr lvl="1"/>
            <a:r>
              <a:rPr lang="en-US" altLang="en-US" dirty="0"/>
              <a:t>Directory </a:t>
            </a:r>
            <a:r>
              <a:rPr lang="en-US" alt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A</a:t>
            </a:r>
            <a:r>
              <a:rPr lang="en-US" altLang="en-US" dirty="0"/>
              <a:t> contains file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X</a:t>
            </a:r>
            <a:r>
              <a:rPr lang="en-US" altLang="en-US" dirty="0"/>
              <a:t>, with I-Node#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XN</a:t>
            </a:r>
          </a:p>
          <a:p>
            <a:pPr lvl="1"/>
            <a:r>
              <a:rPr lang="en-US" altLang="en-US" dirty="0"/>
              <a:t>Directory </a:t>
            </a:r>
            <a:r>
              <a:rPr lang="en-US" alt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B</a:t>
            </a:r>
            <a:r>
              <a:rPr lang="en-US" altLang="en-US" dirty="0"/>
              <a:t> wants to share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X</a:t>
            </a:r>
          </a:p>
          <a:p>
            <a:pPr marL="344487" lvl="1" indent="0">
              <a:buNone/>
            </a:pPr>
            <a:endParaRPr lang="en-US" altLang="en-US" b="1" dirty="0">
              <a:solidFill>
                <a:srgbClr val="0033CC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207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Hard</a:t>
            </a:r>
            <a:r>
              <a:rPr lang="en-US" altLang="en-US" sz="3800" b="1" dirty="0"/>
              <a:t> / </a:t>
            </a:r>
            <a:r>
              <a:rPr lang="en-US" altLang="en-US" sz="3800" b="1" dirty="0">
                <a:solidFill>
                  <a:srgbClr val="006600"/>
                </a:solidFill>
              </a:rPr>
              <a:t>Symbolic</a:t>
            </a:r>
            <a:r>
              <a:rPr lang="en-US" altLang="en-US" sz="3800" b="1" dirty="0"/>
              <a:t> Link</a:t>
            </a:r>
            <a:endParaRPr lang="en-US" altLang="en-US" sz="3800" dirty="0"/>
          </a:p>
        </p:txBody>
      </p:sp>
      <p:grpSp>
        <p:nvGrpSpPr>
          <p:cNvPr id="2" name="Group 1"/>
          <p:cNvGrpSpPr/>
          <p:nvPr/>
        </p:nvGrpSpPr>
        <p:grpSpPr>
          <a:xfrm>
            <a:off x="685800" y="1066800"/>
            <a:ext cx="5105400" cy="1744931"/>
            <a:chOff x="685800" y="1066800"/>
            <a:chExt cx="5105400" cy="1744931"/>
          </a:xfrm>
        </p:grpSpPr>
        <p:grpSp>
          <p:nvGrpSpPr>
            <p:cNvPr id="1156100" name="Group 4"/>
            <p:cNvGrpSpPr>
              <a:grpSpLocks/>
            </p:cNvGrpSpPr>
            <p:nvPr/>
          </p:nvGrpSpPr>
          <p:grpSpPr bwMode="auto">
            <a:xfrm>
              <a:off x="685800" y="1143000"/>
              <a:ext cx="2209800" cy="304800"/>
              <a:chOff x="2688" y="3264"/>
              <a:chExt cx="1392" cy="240"/>
            </a:xfrm>
          </p:grpSpPr>
          <p:sp>
            <p:nvSpPr>
              <p:cNvPr id="1156101" name="Rectangle 5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1392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6102" name="Rectangle 6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279" cy="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8</a:t>
                </a:r>
              </a:p>
            </p:txBody>
          </p:sp>
          <p:sp>
            <p:nvSpPr>
              <p:cNvPr id="1156103" name="Rectangle 7"/>
              <p:cNvSpPr>
                <a:spLocks noChangeArrowheads="1"/>
              </p:cNvSpPr>
              <p:nvPr/>
            </p:nvSpPr>
            <p:spPr bwMode="auto">
              <a:xfrm>
                <a:off x="2967" y="3264"/>
                <a:ext cx="14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156104" name="Rectangle 8"/>
              <p:cNvSpPr>
                <a:spLocks noChangeArrowheads="1"/>
              </p:cNvSpPr>
              <p:nvPr/>
            </p:nvSpPr>
            <p:spPr bwMode="auto">
              <a:xfrm>
                <a:off x="3107" y="3264"/>
                <a:ext cx="279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1156105" name="Rectangle 9"/>
              <p:cNvSpPr>
                <a:spLocks noChangeArrowheads="1"/>
              </p:cNvSpPr>
              <p:nvPr/>
            </p:nvSpPr>
            <p:spPr bwMode="auto">
              <a:xfrm>
                <a:off x="3386" y="3264"/>
                <a:ext cx="279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1156106" name="Rectangle 10"/>
              <p:cNvSpPr>
                <a:spLocks noChangeArrowheads="1"/>
              </p:cNvSpPr>
              <p:nvPr/>
            </p:nvSpPr>
            <p:spPr bwMode="auto">
              <a:xfrm>
                <a:off x="3665" y="3264"/>
                <a:ext cx="415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X</a:t>
                </a:r>
              </a:p>
            </p:txBody>
          </p:sp>
        </p:grpSp>
        <p:sp>
          <p:nvSpPr>
            <p:cNvPr id="1156107" name="Text Box 11"/>
            <p:cNvSpPr txBox="1">
              <a:spLocks noChangeArrowheads="1"/>
            </p:cNvSpPr>
            <p:nvPr/>
          </p:nvSpPr>
          <p:spPr bwMode="auto">
            <a:xfrm>
              <a:off x="838200" y="1447800"/>
              <a:ext cx="1828800" cy="581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/>
                <a:t>Directory Entries for directory </a:t>
              </a:r>
              <a:r>
                <a:rPr lang="en-US" altLang="en-US" sz="1600" b="1"/>
                <a:t>A/</a:t>
              </a:r>
            </a:p>
          </p:txBody>
        </p:sp>
        <p:sp>
          <p:nvSpPr>
            <p:cNvPr id="1156117" name="Rectangle 21"/>
            <p:cNvSpPr>
              <a:spLocks noChangeArrowheads="1"/>
            </p:cNvSpPr>
            <p:nvPr/>
          </p:nvSpPr>
          <p:spPr bwMode="auto">
            <a:xfrm>
              <a:off x="4343400" y="1066800"/>
              <a:ext cx="1295400" cy="13716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rgbClr val="0033CC"/>
              </a:solidFill>
              <a:miter lim="800000"/>
              <a:headEnd/>
              <a:tailEnd type="none" w="lg" len="lg"/>
            </a:ln>
            <a:effectLst/>
          </p:spPr>
          <p:txBody>
            <a:bodyPr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...</a:t>
              </a:r>
            </a:p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1156120" name="Text Box 24"/>
            <p:cNvSpPr txBox="1">
              <a:spLocks noChangeArrowheads="1"/>
            </p:cNvSpPr>
            <p:nvPr/>
          </p:nvSpPr>
          <p:spPr bwMode="auto">
            <a:xfrm>
              <a:off x="4191000" y="2442399"/>
              <a:ext cx="16002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I-Node No. </a:t>
              </a:r>
              <a:r>
                <a:rPr lang="en-US" altLang="en-US" b="1" dirty="0">
                  <a:solidFill>
                    <a:srgbClr val="C00000"/>
                  </a:solidFill>
                </a:rPr>
                <a:t>8</a:t>
              </a:r>
            </a:p>
          </p:txBody>
        </p:sp>
        <p:sp>
          <p:nvSpPr>
            <p:cNvPr id="1156124" name="Line 28"/>
            <p:cNvSpPr>
              <a:spLocks noChangeShapeType="1"/>
            </p:cNvSpPr>
            <p:nvPr/>
          </p:nvSpPr>
          <p:spPr bwMode="auto">
            <a:xfrm>
              <a:off x="2895600" y="1219200"/>
              <a:ext cx="1447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85800" y="1781175"/>
            <a:ext cx="3657600" cy="1847850"/>
            <a:chOff x="685800" y="1781175"/>
            <a:chExt cx="3657600" cy="1847850"/>
          </a:xfrm>
        </p:grpSpPr>
        <p:grpSp>
          <p:nvGrpSpPr>
            <p:cNvPr id="1156108" name="Group 12"/>
            <p:cNvGrpSpPr>
              <a:grpSpLocks/>
            </p:cNvGrpSpPr>
            <p:nvPr/>
          </p:nvGrpSpPr>
          <p:grpSpPr bwMode="auto">
            <a:xfrm>
              <a:off x="685800" y="2743200"/>
              <a:ext cx="2209800" cy="304800"/>
              <a:chOff x="2688" y="3264"/>
              <a:chExt cx="1392" cy="240"/>
            </a:xfrm>
          </p:grpSpPr>
          <p:sp>
            <p:nvSpPr>
              <p:cNvPr id="1156109" name="Rectangle 13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1392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6110" name="Rectangle 14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279" cy="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8</a:t>
                </a:r>
              </a:p>
            </p:txBody>
          </p:sp>
          <p:sp>
            <p:nvSpPr>
              <p:cNvPr id="1156111" name="Rectangle 15"/>
              <p:cNvSpPr>
                <a:spLocks noChangeArrowheads="1"/>
              </p:cNvSpPr>
              <p:nvPr/>
            </p:nvSpPr>
            <p:spPr bwMode="auto">
              <a:xfrm>
                <a:off x="2967" y="3264"/>
                <a:ext cx="14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156112" name="Rectangle 16"/>
              <p:cNvSpPr>
                <a:spLocks noChangeArrowheads="1"/>
              </p:cNvSpPr>
              <p:nvPr/>
            </p:nvSpPr>
            <p:spPr bwMode="auto">
              <a:xfrm>
                <a:off x="3107" y="3264"/>
                <a:ext cx="279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1156113" name="Rectangle 17"/>
              <p:cNvSpPr>
                <a:spLocks noChangeArrowheads="1"/>
              </p:cNvSpPr>
              <p:nvPr/>
            </p:nvSpPr>
            <p:spPr bwMode="auto">
              <a:xfrm>
                <a:off x="3386" y="3264"/>
                <a:ext cx="279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1156114" name="Rectangle 18"/>
              <p:cNvSpPr>
                <a:spLocks noChangeArrowheads="1"/>
              </p:cNvSpPr>
              <p:nvPr/>
            </p:nvSpPr>
            <p:spPr bwMode="auto">
              <a:xfrm>
                <a:off x="3665" y="3264"/>
                <a:ext cx="415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anose="02070309020205020404" pitchFamily="49" charset="0"/>
                  </a:rPr>
                  <a:t>Z</a:t>
                </a:r>
              </a:p>
            </p:txBody>
          </p:sp>
        </p:grpSp>
        <p:sp>
          <p:nvSpPr>
            <p:cNvPr id="1156115" name="Text Box 19"/>
            <p:cNvSpPr txBox="1">
              <a:spLocks noChangeArrowheads="1"/>
            </p:cNvSpPr>
            <p:nvPr/>
          </p:nvSpPr>
          <p:spPr bwMode="auto">
            <a:xfrm>
              <a:off x="838200" y="3048000"/>
              <a:ext cx="1828800" cy="581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/>
                <a:t>Directory Entries for directory </a:t>
              </a:r>
              <a:r>
                <a:rPr lang="en-US" altLang="en-US" sz="1600" b="1"/>
                <a:t>B/</a:t>
              </a:r>
            </a:p>
          </p:txBody>
        </p:sp>
        <p:sp>
          <p:nvSpPr>
            <p:cNvPr id="1156125" name="Line 29"/>
            <p:cNvSpPr>
              <a:spLocks noChangeShapeType="1"/>
            </p:cNvSpPr>
            <p:nvPr/>
          </p:nvSpPr>
          <p:spPr bwMode="auto">
            <a:xfrm flipV="1">
              <a:off x="2895600" y="1781175"/>
              <a:ext cx="1447800" cy="1114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56126" name="Line 30"/>
          <p:cNvSpPr>
            <a:spLocks noChangeShapeType="1"/>
          </p:cNvSpPr>
          <p:nvPr/>
        </p:nvSpPr>
        <p:spPr bwMode="auto">
          <a:xfrm>
            <a:off x="533400" y="38100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6127" name="Text Box 31"/>
          <p:cNvSpPr txBox="1">
            <a:spLocks noChangeArrowheads="1"/>
          </p:cNvSpPr>
          <p:nvPr/>
        </p:nvSpPr>
        <p:spPr bwMode="auto">
          <a:xfrm>
            <a:off x="5791200" y="3429000"/>
            <a:ext cx="2819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>
                <a:solidFill>
                  <a:srgbClr val="C00000"/>
                </a:solidFill>
              </a:rPr>
              <a:t>Hard Link </a:t>
            </a:r>
            <a:r>
              <a:rPr lang="en-US" altLang="en-US" dirty="0"/>
              <a:t>created for </a:t>
            </a:r>
            <a:r>
              <a:rPr lang="en-US" altLang="en-US" b="1" dirty="0"/>
              <a:t>B/</a:t>
            </a:r>
          </a:p>
        </p:txBody>
      </p:sp>
      <p:sp>
        <p:nvSpPr>
          <p:cNvPr id="1156128" name="Text Box 32"/>
          <p:cNvSpPr txBox="1">
            <a:spLocks noChangeArrowheads="1"/>
          </p:cNvSpPr>
          <p:nvPr/>
        </p:nvSpPr>
        <p:spPr bwMode="auto">
          <a:xfrm>
            <a:off x="5562600" y="6219825"/>
            <a:ext cx="3276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>
                <a:solidFill>
                  <a:srgbClr val="C00000"/>
                </a:solidFill>
              </a:rPr>
              <a:t>Symbolic Link </a:t>
            </a:r>
            <a:r>
              <a:rPr lang="en-US" altLang="en-US" dirty="0"/>
              <a:t>created for </a:t>
            </a:r>
            <a:r>
              <a:rPr lang="en-US" altLang="en-US" b="1" dirty="0"/>
              <a:t>B/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990600" y="5257800"/>
            <a:ext cx="2209800" cy="962025"/>
            <a:chOff x="990600" y="5257800"/>
            <a:chExt cx="2209800" cy="962025"/>
          </a:xfrm>
        </p:grpSpPr>
        <p:grpSp>
          <p:nvGrpSpPr>
            <p:cNvPr id="1156129" name="Group 33"/>
            <p:cNvGrpSpPr>
              <a:grpSpLocks/>
            </p:cNvGrpSpPr>
            <p:nvPr/>
          </p:nvGrpSpPr>
          <p:grpSpPr bwMode="auto">
            <a:xfrm>
              <a:off x="990600" y="5257800"/>
              <a:ext cx="2209800" cy="304800"/>
              <a:chOff x="2688" y="3264"/>
              <a:chExt cx="1392" cy="240"/>
            </a:xfrm>
          </p:grpSpPr>
          <p:sp>
            <p:nvSpPr>
              <p:cNvPr id="1156130" name="Rectangle 34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1392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6131" name="Rectangle 35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279" cy="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anose="02070309020205020404" pitchFamily="49" charset="0"/>
                  </a:rPr>
                  <a:t>13</a:t>
                </a:r>
              </a:p>
            </p:txBody>
          </p:sp>
          <p:sp>
            <p:nvSpPr>
              <p:cNvPr id="1156132" name="Rectangle 36"/>
              <p:cNvSpPr>
                <a:spLocks noChangeArrowheads="1"/>
              </p:cNvSpPr>
              <p:nvPr/>
            </p:nvSpPr>
            <p:spPr bwMode="auto">
              <a:xfrm>
                <a:off x="2967" y="3264"/>
                <a:ext cx="14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156133" name="Rectangle 37"/>
              <p:cNvSpPr>
                <a:spLocks noChangeArrowheads="1"/>
              </p:cNvSpPr>
              <p:nvPr/>
            </p:nvSpPr>
            <p:spPr bwMode="auto">
              <a:xfrm>
                <a:off x="3107" y="3264"/>
                <a:ext cx="279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1156134" name="Rectangle 38"/>
              <p:cNvSpPr>
                <a:spLocks noChangeArrowheads="1"/>
              </p:cNvSpPr>
              <p:nvPr/>
            </p:nvSpPr>
            <p:spPr bwMode="auto">
              <a:xfrm>
                <a:off x="3386" y="3264"/>
                <a:ext cx="279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1156135" name="Rectangle 39"/>
              <p:cNvSpPr>
                <a:spLocks noChangeArrowheads="1"/>
              </p:cNvSpPr>
              <p:nvPr/>
            </p:nvSpPr>
            <p:spPr bwMode="auto">
              <a:xfrm>
                <a:off x="3665" y="3264"/>
                <a:ext cx="415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Y</a:t>
                </a:r>
              </a:p>
            </p:txBody>
          </p:sp>
        </p:grpSp>
        <p:sp>
          <p:nvSpPr>
            <p:cNvPr id="1156136" name="Text Box 40"/>
            <p:cNvSpPr txBox="1">
              <a:spLocks noChangeArrowheads="1"/>
            </p:cNvSpPr>
            <p:nvPr/>
          </p:nvSpPr>
          <p:spPr bwMode="auto">
            <a:xfrm>
              <a:off x="1219200" y="5638800"/>
              <a:ext cx="1828800" cy="581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/>
                <a:t>Directory Entries for directory </a:t>
              </a:r>
              <a:r>
                <a:rPr lang="en-US" altLang="en-US" sz="1600" b="1"/>
                <a:t>B/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200400" y="4191000"/>
            <a:ext cx="2438400" cy="1860550"/>
            <a:chOff x="3200400" y="4191000"/>
            <a:chExt cx="2438400" cy="1860550"/>
          </a:xfrm>
        </p:grpSpPr>
        <p:grpSp>
          <p:nvGrpSpPr>
            <p:cNvPr id="7" name="Group 6"/>
            <p:cNvGrpSpPr/>
            <p:nvPr/>
          </p:nvGrpSpPr>
          <p:grpSpPr>
            <a:xfrm>
              <a:off x="3886200" y="4191000"/>
              <a:ext cx="1752600" cy="1860550"/>
              <a:chOff x="3886200" y="4191000"/>
              <a:chExt cx="1752600" cy="1860550"/>
            </a:xfrm>
          </p:grpSpPr>
          <p:sp>
            <p:nvSpPr>
              <p:cNvPr id="1156138" name="Text Box 42"/>
              <p:cNvSpPr txBox="1">
                <a:spLocks noChangeArrowheads="1"/>
              </p:cNvSpPr>
              <p:nvPr/>
            </p:nvSpPr>
            <p:spPr bwMode="auto">
              <a:xfrm>
                <a:off x="3886200" y="5715000"/>
                <a:ext cx="17526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 dirty="0"/>
                  <a:t>I-Node No. </a:t>
                </a:r>
                <a:r>
                  <a:rPr lang="en-US" altLang="en-US" sz="1600" b="1" dirty="0">
                    <a:solidFill>
                      <a:srgbClr val="C00000"/>
                    </a:solidFill>
                  </a:rPr>
                  <a:t>13</a:t>
                </a:r>
              </a:p>
            </p:txBody>
          </p:sp>
          <p:grpSp>
            <p:nvGrpSpPr>
              <p:cNvPr id="1156139" name="Group 43"/>
              <p:cNvGrpSpPr>
                <a:grpSpLocks/>
              </p:cNvGrpSpPr>
              <p:nvPr/>
            </p:nvGrpSpPr>
            <p:grpSpPr bwMode="auto">
              <a:xfrm>
                <a:off x="4114800" y="4191000"/>
                <a:ext cx="1295400" cy="1447800"/>
                <a:chOff x="1728" y="672"/>
                <a:chExt cx="816" cy="912"/>
              </a:xfrm>
            </p:grpSpPr>
            <p:sp>
              <p:nvSpPr>
                <p:cNvPr id="1156140" name="Rectangle 44"/>
                <p:cNvSpPr>
                  <a:spLocks noChangeArrowheads="1"/>
                </p:cNvSpPr>
                <p:nvPr/>
              </p:nvSpPr>
              <p:spPr bwMode="auto">
                <a:xfrm>
                  <a:off x="1728" y="672"/>
                  <a:ext cx="816" cy="432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9050" algn="ctr">
                  <a:solidFill>
                    <a:srgbClr val="0033CC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File Metadata</a:t>
                  </a:r>
                </a:p>
              </p:txBody>
            </p:sp>
            <p:sp>
              <p:nvSpPr>
                <p:cNvPr id="1156141" name="Rectangle 45"/>
                <p:cNvSpPr>
                  <a:spLocks noChangeArrowheads="1"/>
                </p:cNvSpPr>
                <p:nvPr/>
              </p:nvSpPr>
              <p:spPr bwMode="auto">
                <a:xfrm>
                  <a:off x="1728" y="1104"/>
                  <a:ext cx="816" cy="192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19050" algn="ctr">
                  <a:solidFill>
                    <a:srgbClr val="0033CC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123</a:t>
                  </a:r>
                </a:p>
              </p:txBody>
            </p:sp>
            <p:sp>
              <p:nvSpPr>
                <p:cNvPr id="1156142" name="Rectangle 46"/>
                <p:cNvSpPr>
                  <a:spLocks noChangeArrowheads="1"/>
                </p:cNvSpPr>
                <p:nvPr/>
              </p:nvSpPr>
              <p:spPr bwMode="auto">
                <a:xfrm>
                  <a:off x="1728" y="1296"/>
                  <a:ext cx="816" cy="288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9050" algn="ctr">
                  <a:solidFill>
                    <a:srgbClr val="0033CC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b="1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1156144" name="Line 48"/>
            <p:cNvSpPr>
              <a:spLocks noChangeShapeType="1"/>
            </p:cNvSpPr>
            <p:nvPr/>
          </p:nvSpPr>
          <p:spPr bwMode="auto">
            <a:xfrm flipV="1">
              <a:off x="3200400" y="4953000"/>
              <a:ext cx="838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410200" y="4267200"/>
            <a:ext cx="2971800" cy="1403350"/>
            <a:chOff x="5410200" y="4267200"/>
            <a:chExt cx="2971800" cy="1403350"/>
          </a:xfrm>
        </p:grpSpPr>
        <p:sp>
          <p:nvSpPr>
            <p:cNvPr id="1156145" name="Line 49"/>
            <p:cNvSpPr>
              <a:spLocks noChangeShapeType="1"/>
            </p:cNvSpPr>
            <p:nvPr/>
          </p:nvSpPr>
          <p:spPr bwMode="auto">
            <a:xfrm flipV="1">
              <a:off x="5410200" y="4343400"/>
              <a:ext cx="1143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6553200" y="4267200"/>
              <a:ext cx="1828800" cy="1403350"/>
              <a:chOff x="6553200" y="4267200"/>
              <a:chExt cx="1828800" cy="1403350"/>
            </a:xfrm>
          </p:grpSpPr>
          <p:sp>
            <p:nvSpPr>
              <p:cNvPr id="1156143" name="Rectangle 47"/>
              <p:cNvSpPr>
                <a:spLocks noChangeArrowheads="1"/>
              </p:cNvSpPr>
              <p:nvPr/>
            </p:nvSpPr>
            <p:spPr bwMode="auto">
              <a:xfrm>
                <a:off x="6553200" y="4267200"/>
                <a:ext cx="1828800" cy="990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dirty="0"/>
                  <a:t>Go to </a:t>
                </a:r>
                <a:r>
                  <a:rPr lang="en-US" altLang="en-US" b="1" dirty="0">
                    <a:solidFill>
                      <a:schemeClr val="tx2"/>
                    </a:solidFill>
                    <a:latin typeface="Courier New" panose="02070309020205020404" pitchFamily="49" charset="0"/>
                  </a:rPr>
                  <a:t>/A/X</a:t>
                </a:r>
              </a:p>
            </p:txBody>
          </p:sp>
          <p:sp>
            <p:nvSpPr>
              <p:cNvPr id="1156146" name="Text Box 50"/>
              <p:cNvSpPr txBox="1">
                <a:spLocks noChangeArrowheads="1"/>
              </p:cNvSpPr>
              <p:nvPr/>
            </p:nvSpPr>
            <p:spPr bwMode="auto">
              <a:xfrm>
                <a:off x="6629400" y="5334000"/>
                <a:ext cx="17526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/>
                  <a:t>Content of file </a:t>
                </a:r>
                <a:r>
                  <a:rPr lang="en-US" altLang="en-US" sz="1600" b="1"/>
                  <a:t>Y</a:t>
                </a: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35</a:t>
            </a:fld>
            <a:endParaRPr lang="en-US" altLang="en-US"/>
          </a:p>
        </p:txBody>
      </p:sp>
      <p:sp>
        <p:nvSpPr>
          <p:cNvPr id="63" name="Rectangle 14"/>
          <p:cNvSpPr>
            <a:spLocks noChangeArrowheads="1"/>
          </p:cNvSpPr>
          <p:nvPr/>
        </p:nvSpPr>
        <p:spPr bwMode="auto">
          <a:xfrm>
            <a:off x="4348796" y="1941774"/>
            <a:ext cx="1290004" cy="4482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square" lIns="91434" tIns="45717" rIns="91434" bIns="45717" anchor="ctr"/>
          <a:lstStyle/>
          <a:p>
            <a:pPr algn="ctr"/>
            <a:r>
              <a:rPr lang="en-US" altLang="en-US" sz="1400" b="1" dirty="0">
                <a:latin typeface="+mn-lt"/>
              </a:rPr>
              <a:t>Reference Count</a:t>
            </a:r>
          </a:p>
        </p:txBody>
      </p:sp>
    </p:spTree>
    <p:extLst>
      <p:ext uri="{BB962C8B-B14F-4D97-AF65-F5344CB8AC3E}">
        <p14:creationId xmlns:p14="http://schemas.microsoft.com/office/powerpoint/2010/main" val="359650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6126" grpId="0" animBg="1"/>
      <p:bldP spid="1156127" grpId="0"/>
      <p:bldP spid="1156128" grpId="0"/>
      <p:bldP spid="6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Ext2 FS</a:t>
            </a:r>
            <a:r>
              <a:rPr lang="en-US" altLang="en-US" sz="3800" dirty="0"/>
              <a:t>: Hard Link and Symbolic Link</a:t>
            </a:r>
          </a:p>
        </p:txBody>
      </p:sp>
      <p:sp>
        <p:nvSpPr>
          <p:cNvPr id="115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Hard Link problems:</a:t>
            </a:r>
          </a:p>
          <a:p>
            <a:pPr lvl="1"/>
            <a:r>
              <a:rPr lang="en-US" altLang="en-US" dirty="0"/>
              <a:t>With multiple references of a I-Node, it is hard to determine when to delete an I-Node</a:t>
            </a:r>
          </a:p>
          <a:p>
            <a:pPr lvl="2"/>
            <a:r>
              <a:rPr lang="en-US" altLang="en-US" dirty="0"/>
              <a:t>Maintain a I-Node reference count</a:t>
            </a:r>
          </a:p>
          <a:p>
            <a:pPr lvl="2"/>
            <a:r>
              <a:rPr lang="en-US" altLang="en-US" dirty="0"/>
              <a:t>Decremented for every deletion</a:t>
            </a:r>
          </a:p>
          <a:p>
            <a:r>
              <a:rPr lang="en-US" altLang="en-US" dirty="0"/>
              <a:t>Symbolic Link problems:</a:t>
            </a:r>
          </a:p>
          <a:p>
            <a:pPr lvl="1"/>
            <a:r>
              <a:rPr lang="en-US" altLang="en-US" dirty="0"/>
              <a:t>As </a:t>
            </a:r>
            <a:r>
              <a:rPr lang="en-US" altLang="en-US" b="1" dirty="0"/>
              <a:t>only the pathname is stored</a:t>
            </a:r>
            <a:r>
              <a:rPr lang="en-US" altLang="en-US" dirty="0"/>
              <a:t>, the link can be easily invalidated:</a:t>
            </a:r>
          </a:p>
          <a:p>
            <a:pPr lvl="2"/>
            <a:r>
              <a:rPr lang="en-US" altLang="en-US" dirty="0"/>
              <a:t>File name changes, file deletion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r>
              <a:rPr lang="en-US" altLang="en-US" dirty="0"/>
              <a:t>Involve a search to locate actual I-Node number of target file</a:t>
            </a:r>
          </a:p>
          <a:p>
            <a:pPr lvl="2"/>
            <a:r>
              <a:rPr lang="en-US" altLang="en-US" dirty="0"/>
              <a:t>Just like a normal file opening operation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37787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EXTRA TOPICS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Value!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352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File System </a:t>
            </a:r>
            <a:r>
              <a:rPr lang="en-US" b="1" dirty="0">
                <a:solidFill>
                  <a:srgbClr val="C00000"/>
                </a:solidFill>
              </a:rPr>
              <a:t>Consistency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Power loss / system crash can render the file system in an inconsistent state</a:t>
            </a:r>
          </a:p>
          <a:p>
            <a:endParaRPr lang="en-US" dirty="0"/>
          </a:p>
          <a:p>
            <a:r>
              <a:rPr lang="en-US" dirty="0"/>
              <a:t>Tools for checking consistency:</a:t>
            </a:r>
          </a:p>
          <a:p>
            <a:pPr lvl="1"/>
            <a:r>
              <a:rPr lang="en-US" dirty="0"/>
              <a:t>Windows: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CHKDSK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Linux: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fsck</a:t>
            </a:r>
            <a:endParaRPr lang="en-US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endParaRPr lang="en-US" dirty="0"/>
          </a:p>
          <a:p>
            <a:r>
              <a:rPr lang="en-US" dirty="0"/>
              <a:t>What are the issues can be found / fixed by such tools?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486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Fragmentation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File data can be scattered across many disjoint blocks on storage media</a:t>
            </a:r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Windows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Official and 3</a:t>
            </a:r>
            <a:r>
              <a:rPr lang="en-US" baseline="30000" dirty="0"/>
              <a:t>rd</a:t>
            </a:r>
            <a:r>
              <a:rPr lang="en-US" dirty="0"/>
              <a:t> party software to alleviate the problem</a:t>
            </a:r>
          </a:p>
          <a:p>
            <a:pPr marL="344487" lvl="1" indent="0">
              <a:buNone/>
            </a:pPr>
            <a:endParaRPr lang="en-US" dirty="0"/>
          </a:p>
          <a:p>
            <a:r>
              <a:rPr lang="en-US" dirty="0"/>
              <a:t>In </a:t>
            </a:r>
            <a:r>
              <a:rPr 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Linux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File allocation algorithm is more intelligent:</a:t>
            </a:r>
          </a:p>
          <a:p>
            <a:pPr lvl="2"/>
            <a:r>
              <a:rPr lang="en-US" dirty="0"/>
              <a:t>Files are allocated further apart</a:t>
            </a:r>
          </a:p>
          <a:p>
            <a:pPr lvl="2"/>
            <a:r>
              <a:rPr lang="en-US" dirty="0"/>
              <a:t>Free blocks near to existing data block are use if possible</a:t>
            </a:r>
          </a:p>
          <a:p>
            <a:pPr lvl="1"/>
            <a:r>
              <a:rPr lang="en-US" dirty="0"/>
              <a:t>Fragmentation is very low when the drive occupancy is &lt; ~90%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39</a:t>
            </a:fld>
            <a:endParaRPr lang="en-US" altLang="en-US"/>
          </a:p>
        </p:txBody>
      </p:sp>
      <p:pic>
        <p:nvPicPr>
          <p:cNvPr id="7" name="Picture 2" descr="https://screenshots.en.sftcdn.net/en/scrn/75000/75146/auslogics-disk-defrag-portable-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70" y="222637"/>
            <a:ext cx="8517615" cy="625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03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Journaling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Keep additional information to recover from system crash</a:t>
            </a:r>
          </a:p>
          <a:p>
            <a:endParaRPr lang="en-US" dirty="0"/>
          </a:p>
          <a:p>
            <a:r>
              <a:rPr lang="en-US" b="1" dirty="0"/>
              <a:t>Basic Idea</a:t>
            </a:r>
            <a:r>
              <a:rPr lang="en-US" dirty="0"/>
              <a:t>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Write the information and / or the actual data into a separate log file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Perform the actual file operation</a:t>
            </a:r>
          </a:p>
          <a:p>
            <a:endParaRPr lang="en-US" dirty="0"/>
          </a:p>
          <a:p>
            <a:r>
              <a:rPr lang="en-US" dirty="0"/>
              <a:t>Depending on the information logged:</a:t>
            </a:r>
          </a:p>
          <a:p>
            <a:pPr lvl="1"/>
            <a:r>
              <a:rPr lang="en-US" dirty="0"/>
              <a:t>Can recover to an earlier stable state or re-perform the interrupted file operation</a:t>
            </a:r>
          </a:p>
          <a:p>
            <a:pPr marL="344487" lvl="1" indent="0">
              <a:buNone/>
            </a:pPr>
            <a:endParaRPr lang="en-US" dirty="0"/>
          </a:p>
          <a:p>
            <a:r>
              <a:rPr lang="en-US" dirty="0"/>
              <a:t>Most current file systems support journaling in some fashion</a:t>
            </a:r>
          </a:p>
          <a:p>
            <a:pPr marL="344487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919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Interesting/Important File Systems (1/3) </a:t>
            </a:r>
          </a:p>
        </p:txBody>
      </p:sp>
      <p:sp>
        <p:nvSpPr>
          <p:cNvPr id="116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Virtual File System (</a:t>
            </a:r>
            <a:r>
              <a:rPr lang="en-US" altLang="en-US" b="1" dirty="0">
                <a:solidFill>
                  <a:srgbClr val="C00000"/>
                </a:solidFill>
              </a:rPr>
              <a:t>VFS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Provides another layer of abstraction on top of existing file systems</a:t>
            </a:r>
          </a:p>
          <a:p>
            <a:pPr lvl="2"/>
            <a:r>
              <a:rPr lang="en-US" altLang="en-US" dirty="0"/>
              <a:t>Allow application to access file on </a:t>
            </a:r>
            <a:r>
              <a:rPr lang="en-US" altLang="en-US" b="1" dirty="0"/>
              <a:t>different file systems</a:t>
            </a:r>
          </a:p>
          <a:p>
            <a:pPr lvl="2"/>
            <a:r>
              <a:rPr lang="en-US" altLang="en-US" dirty="0"/>
              <a:t>File operations are translated by VFS automatically to the corresponding native file system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Network File System (</a:t>
            </a:r>
            <a:r>
              <a:rPr lang="en-US" altLang="en-US" b="1" dirty="0">
                <a:solidFill>
                  <a:srgbClr val="660066"/>
                </a:solidFill>
              </a:rPr>
              <a:t>NFS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Allows files to reside on different physical machine</a:t>
            </a:r>
          </a:p>
          <a:p>
            <a:pPr lvl="1"/>
            <a:r>
              <a:rPr lang="en-US" altLang="en-US" dirty="0"/>
              <a:t>File operations are translated into network operations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319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Interesting/Important File Systems (2/3)</a:t>
            </a:r>
          </a:p>
        </p:txBody>
      </p:sp>
      <p:sp>
        <p:nvSpPr>
          <p:cNvPr id="1164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N</a:t>
            </a:r>
            <a:r>
              <a:rPr lang="en-US" altLang="en-US" b="1" dirty="0"/>
              <a:t>ew </a:t>
            </a:r>
            <a:r>
              <a:rPr lang="en-US" altLang="en-US" b="1" dirty="0">
                <a:solidFill>
                  <a:srgbClr val="C00000"/>
                </a:solidFill>
              </a:rPr>
              <a:t>T</a:t>
            </a:r>
            <a:r>
              <a:rPr lang="en-US" altLang="en-US" b="1" dirty="0"/>
              <a:t>echnology </a:t>
            </a:r>
            <a:r>
              <a:rPr lang="en-US" altLang="en-US" b="1" dirty="0">
                <a:solidFill>
                  <a:srgbClr val="C00000"/>
                </a:solidFill>
              </a:rPr>
              <a:t>F</a:t>
            </a:r>
            <a:r>
              <a:rPr lang="en-US" altLang="en-US" b="1" dirty="0"/>
              <a:t>ile </a:t>
            </a:r>
            <a:r>
              <a:rPr lang="en-US" altLang="en-US" b="1" dirty="0">
                <a:solidFill>
                  <a:srgbClr val="C00000"/>
                </a:solidFill>
              </a:rPr>
              <a:t>S</a:t>
            </a:r>
            <a:r>
              <a:rPr lang="en-US" altLang="en-US" b="1" dirty="0"/>
              <a:t>ystem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C00000"/>
                </a:solidFill>
              </a:rPr>
              <a:t>NTFS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Used in </a:t>
            </a:r>
            <a:r>
              <a:rPr lang="en-US" altLang="en-US" dirty="0" err="1"/>
              <a:t>WinXP</a:t>
            </a:r>
            <a:r>
              <a:rPr lang="en-US" altLang="en-US" dirty="0"/>
              <a:t> onwards</a:t>
            </a:r>
          </a:p>
          <a:p>
            <a:pPr lvl="1"/>
            <a:r>
              <a:rPr lang="en-US" altLang="en-US" dirty="0"/>
              <a:t>Some features:</a:t>
            </a:r>
          </a:p>
          <a:p>
            <a:pPr lvl="2"/>
            <a:r>
              <a:rPr lang="en-US" altLang="en-US" dirty="0"/>
              <a:t>File Encryption, File Compression</a:t>
            </a:r>
          </a:p>
          <a:p>
            <a:pPr lvl="2"/>
            <a:r>
              <a:rPr lang="en-US" altLang="en-US" dirty="0"/>
              <a:t>Versioning (different versions of a file is kept)</a:t>
            </a:r>
          </a:p>
          <a:p>
            <a:pPr lvl="2"/>
            <a:r>
              <a:rPr lang="en-US" altLang="en-US" dirty="0"/>
              <a:t>Hard/Symbolic Link 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Ext</a:t>
            </a:r>
            <a:r>
              <a:rPr lang="en-US" altLang="en-US" b="1" dirty="0"/>
              <a:t>ended-</a:t>
            </a:r>
            <a:r>
              <a:rPr lang="en-US" altLang="en-US" b="1" dirty="0">
                <a:solidFill>
                  <a:srgbClr val="660066"/>
                </a:solidFill>
              </a:rPr>
              <a:t>3</a:t>
            </a:r>
            <a:r>
              <a:rPr lang="en-US" altLang="en-US" b="1" dirty="0"/>
              <a:t> / </a:t>
            </a:r>
            <a:r>
              <a:rPr lang="en-US" altLang="en-US" b="1" dirty="0">
                <a:solidFill>
                  <a:srgbClr val="006600"/>
                </a:solidFill>
              </a:rPr>
              <a:t>4</a:t>
            </a:r>
            <a:r>
              <a:rPr lang="en-US" altLang="en-US" b="1" dirty="0"/>
              <a:t> File System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660066"/>
                </a:solidFill>
              </a:rPr>
              <a:t>Ext3</a:t>
            </a:r>
            <a:r>
              <a:rPr lang="en-US" altLang="en-US" b="1" dirty="0"/>
              <a:t> / </a:t>
            </a:r>
            <a:r>
              <a:rPr lang="en-US" altLang="en-US" b="1" dirty="0">
                <a:solidFill>
                  <a:srgbClr val="006600"/>
                </a:solidFill>
              </a:rPr>
              <a:t>Ext4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Variant on the </a:t>
            </a:r>
            <a:r>
              <a:rPr lang="en-US" altLang="en-US" b="1" dirty="0"/>
              <a:t>Ext2</a:t>
            </a:r>
            <a:r>
              <a:rPr lang="en-US" altLang="en-US" dirty="0"/>
              <a:t> FS</a:t>
            </a:r>
          </a:p>
          <a:p>
            <a:pPr lvl="1"/>
            <a:r>
              <a:rPr lang="en-US" altLang="en-US" dirty="0"/>
              <a:t>Support:</a:t>
            </a:r>
          </a:p>
          <a:p>
            <a:pPr lvl="2"/>
            <a:r>
              <a:rPr lang="en-US" altLang="en-US" dirty="0"/>
              <a:t>Journaling (Keep track of changes to file)</a:t>
            </a:r>
          </a:p>
          <a:p>
            <a:pPr lvl="2"/>
            <a:r>
              <a:rPr lang="en-US" altLang="en-US" dirty="0"/>
              <a:t>In-place upgrade from Ext2</a:t>
            </a:r>
          </a:p>
          <a:p>
            <a:pPr lvl="2"/>
            <a:r>
              <a:rPr lang="en-US" altLang="en-US" dirty="0"/>
              <a:t>Expanded maximum file and file system size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01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382000" cy="712787"/>
          </a:xfrm>
        </p:spPr>
        <p:txBody>
          <a:bodyPr>
            <a:normAutofit fontScale="90000"/>
          </a:bodyPr>
          <a:lstStyle/>
          <a:p>
            <a:r>
              <a:rPr lang="en-US" altLang="en-US" sz="4400" dirty="0"/>
              <a:t>Interesting/Important File Systems (3/3)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530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H</a:t>
            </a:r>
            <a:r>
              <a:rPr lang="en-US" b="1" dirty="0"/>
              <a:t>ierarchical </a:t>
            </a:r>
            <a:r>
              <a:rPr lang="en-US" b="1" dirty="0">
                <a:solidFill>
                  <a:srgbClr val="C00000"/>
                </a:solidFill>
              </a:rPr>
              <a:t>F</a:t>
            </a:r>
            <a:r>
              <a:rPr lang="en-US" b="1" dirty="0"/>
              <a:t>ile </a:t>
            </a:r>
            <a:r>
              <a:rPr lang="en-US" b="1" dirty="0">
                <a:solidFill>
                  <a:srgbClr val="C00000"/>
                </a:solidFill>
              </a:rPr>
              <a:t>S</a:t>
            </a:r>
            <a:r>
              <a:rPr lang="en-US" b="1" dirty="0"/>
              <a:t>ystem </a:t>
            </a:r>
            <a:r>
              <a:rPr lang="en-US" b="1" dirty="0">
                <a:solidFill>
                  <a:srgbClr val="C00000"/>
                </a:solidFill>
              </a:rPr>
              <a:t>Plus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rgbClr val="C00000"/>
                </a:solidFill>
              </a:rPr>
              <a:t>HFS+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Used in Mac OS X</a:t>
            </a:r>
          </a:p>
          <a:p>
            <a:pPr lvl="1"/>
            <a:r>
              <a:rPr lang="en-US" dirty="0"/>
              <a:t>Some features:</a:t>
            </a:r>
          </a:p>
          <a:p>
            <a:pPr lvl="2"/>
            <a:r>
              <a:rPr lang="en-US" dirty="0"/>
              <a:t>Compression, encryption support</a:t>
            </a:r>
          </a:p>
          <a:p>
            <a:pPr lvl="2"/>
            <a:r>
              <a:rPr lang="en-US" dirty="0"/>
              <a:t>Large file system, file and number of file/folder support</a:t>
            </a:r>
          </a:p>
          <a:p>
            <a:pPr lvl="2"/>
            <a:r>
              <a:rPr lang="en-US" dirty="0"/>
              <a:t>Metadata journaling 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057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Covered the FAT file system</a:t>
            </a:r>
          </a:p>
          <a:p>
            <a:pPr lvl="1"/>
            <a:r>
              <a:rPr lang="en-US" altLang="en-US" dirty="0"/>
              <a:t>Implementation and Limitation</a:t>
            </a:r>
          </a:p>
          <a:p>
            <a:pPr lvl="1"/>
            <a:r>
              <a:rPr lang="en-US" altLang="en-US" dirty="0"/>
              <a:t>Variants FAT12, FAT16 and FAT32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Covered the Ext2 file system</a:t>
            </a:r>
          </a:p>
          <a:p>
            <a:pPr lvl="1"/>
            <a:r>
              <a:rPr lang="en-US" altLang="en-US" dirty="0"/>
              <a:t>Design and Limitation</a:t>
            </a:r>
          </a:p>
          <a:p>
            <a:pPr lvl="1"/>
            <a:r>
              <a:rPr lang="en-US" altLang="en-US" dirty="0"/>
              <a:t>I-Node structure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Discussed a number of related topics / ideas</a:t>
            </a:r>
          </a:p>
          <a:p>
            <a:pPr lvl="1"/>
            <a:r>
              <a:rPr lang="en-US" altLang="en-US" dirty="0"/>
              <a:t>More current file systems</a:t>
            </a:r>
          </a:p>
          <a:p>
            <a:pPr lvl="1"/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28735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8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Generic Layout </a:t>
            </a:r>
            <a:r>
              <a:rPr lang="en-US" altLang="en-US" dirty="0"/>
              <a:t>(Lecture 11)</a:t>
            </a:r>
          </a:p>
        </p:txBody>
      </p:sp>
      <p:grpSp>
        <p:nvGrpSpPr>
          <p:cNvPr id="1100806" name="Group 6"/>
          <p:cNvGrpSpPr>
            <a:grpSpLocks/>
          </p:cNvGrpSpPr>
          <p:nvPr/>
        </p:nvGrpSpPr>
        <p:grpSpPr bwMode="auto">
          <a:xfrm>
            <a:off x="762000" y="1295400"/>
            <a:ext cx="7315200" cy="838200"/>
            <a:chOff x="384" y="2736"/>
            <a:chExt cx="4608" cy="528"/>
          </a:xfrm>
        </p:grpSpPr>
        <p:sp>
          <p:nvSpPr>
            <p:cNvPr id="1100807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OS Boot Block</a:t>
              </a:r>
            </a:p>
          </p:txBody>
        </p:sp>
        <p:sp>
          <p:nvSpPr>
            <p:cNvPr id="1100808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1100809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Directory Structure</a:t>
              </a:r>
            </a:p>
          </p:txBody>
        </p:sp>
        <p:sp>
          <p:nvSpPr>
            <p:cNvPr id="1100810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1100811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45</a:t>
            </a:fld>
            <a:endParaRPr lang="en-US" altLang="en-US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21733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08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98F0D-0FE7-4C75-9059-B855A6A130B7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16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Microsoft</a:t>
            </a:r>
            <a:r>
              <a:rPr lang="en-US" altLang="en-US" sz="4000" dirty="0"/>
              <a:t> </a:t>
            </a:r>
            <a:r>
              <a:rPr lang="en-US" altLang="en-US" sz="4000" b="1" dirty="0">
                <a:solidFill>
                  <a:srgbClr val="C00000"/>
                </a:solidFill>
              </a:rPr>
              <a:t>FAT File System</a:t>
            </a:r>
            <a:endParaRPr lang="en-US" altLang="en-US" sz="3800" dirty="0"/>
          </a:p>
        </p:txBody>
      </p:sp>
      <p:pic>
        <p:nvPicPr>
          <p:cNvPr id="116736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81878"/>
            <a:ext cx="6896100" cy="551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67366" name="AutoShape 6"/>
          <p:cNvSpPr>
            <a:spLocks noChangeArrowheads="1"/>
          </p:cNvSpPr>
          <p:nvPr/>
        </p:nvSpPr>
        <p:spPr bwMode="auto">
          <a:xfrm>
            <a:off x="6324600" y="685800"/>
            <a:ext cx="2667000" cy="1295400"/>
          </a:xfrm>
          <a:prstGeom prst="wedgeRoundRectCallout">
            <a:avLst>
              <a:gd name="adj1" fmla="val -45246"/>
              <a:gd name="adj2" fmla="val 78472"/>
              <a:gd name="adj3" fmla="val 16667"/>
            </a:avLst>
          </a:prstGeom>
          <a:solidFill>
            <a:schemeClr val="bg1">
              <a:alpha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2400" dirty="0"/>
              <a:t>I wrote </a:t>
            </a:r>
            <a:r>
              <a:rPr lang="en-US" altLang="en-US" sz="2400" b="1" dirty="0">
                <a:solidFill>
                  <a:srgbClr val="C00000"/>
                </a:solidFill>
              </a:rPr>
              <a:t>FAT12</a:t>
            </a:r>
            <a:r>
              <a:rPr lang="en-US" altLang="en-US" sz="2400" dirty="0"/>
              <a:t> in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Five days </a:t>
            </a:r>
            <a:r>
              <a:rPr lang="en-US" altLang="en-US" sz="2400" dirty="0"/>
              <a:t>back in 1976….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51009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116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6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6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Stop &amp; Check : </a:t>
            </a:r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47</a:t>
            </a:fld>
            <a:endParaRPr lang="en-US" altLang="en-US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63484" y="1236373"/>
            <a:ext cx="8320141" cy="1546080"/>
            <a:chOff x="363484" y="692295"/>
            <a:chExt cx="8320141" cy="1546080"/>
          </a:xfrm>
        </p:grpSpPr>
        <p:sp>
          <p:nvSpPr>
            <p:cNvPr id="37" name="Rectangle 20" descr="Sphere"/>
            <p:cNvSpPr>
              <a:spLocks noChangeArrowheads="1"/>
            </p:cNvSpPr>
            <p:nvPr/>
          </p:nvSpPr>
          <p:spPr bwMode="auto">
            <a:xfrm>
              <a:off x="3959225" y="1400175"/>
              <a:ext cx="457200" cy="838200"/>
            </a:xfrm>
            <a:prstGeom prst="rect">
              <a:avLst/>
            </a:prstGeom>
            <a:pattFill prst="sphere">
              <a:fgClr>
                <a:srgbClr val="E8FFD1"/>
              </a:fgClr>
              <a:bgClr>
                <a:srgbClr val="FFFFFF"/>
              </a:bgClr>
            </a:pattFill>
            <a:ln w="19050" algn="ctr">
              <a:solidFill>
                <a:srgbClr val="0080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Rectangle 21" descr="Sphere"/>
            <p:cNvSpPr>
              <a:spLocks noChangeArrowheads="1"/>
            </p:cNvSpPr>
            <p:nvPr/>
          </p:nvSpPr>
          <p:spPr bwMode="auto">
            <a:xfrm>
              <a:off x="4416425" y="1400175"/>
              <a:ext cx="457200" cy="838200"/>
            </a:xfrm>
            <a:prstGeom prst="rect">
              <a:avLst/>
            </a:prstGeom>
            <a:pattFill prst="sphere">
              <a:fgClr>
                <a:srgbClr val="E8FFD1"/>
              </a:fgClr>
              <a:bgClr>
                <a:srgbClr val="FFFFFF"/>
              </a:bgClr>
            </a:pattFill>
            <a:ln w="19050" algn="ctr">
              <a:solidFill>
                <a:srgbClr val="0080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Text Box 23"/>
            <p:cNvSpPr txBox="1">
              <a:spLocks noChangeArrowheads="1"/>
            </p:cNvSpPr>
            <p:nvPr/>
          </p:nvSpPr>
          <p:spPr bwMode="auto">
            <a:xfrm>
              <a:off x="5486400" y="914400"/>
              <a:ext cx="1877425" cy="400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data blocks</a:t>
              </a:r>
            </a:p>
          </p:txBody>
        </p:sp>
        <p:sp>
          <p:nvSpPr>
            <p:cNvPr id="40" name="Rectangle 24" descr="Sphere"/>
            <p:cNvSpPr>
              <a:spLocks noChangeArrowheads="1"/>
            </p:cNvSpPr>
            <p:nvPr/>
          </p:nvSpPr>
          <p:spPr bwMode="auto">
            <a:xfrm>
              <a:off x="4873625" y="1400175"/>
              <a:ext cx="3810000" cy="838200"/>
            </a:xfrm>
            <a:prstGeom prst="rect">
              <a:avLst/>
            </a:prstGeom>
            <a:pattFill prst="sphere">
              <a:fgClr>
                <a:srgbClr val="E8FFD1"/>
              </a:fgClr>
              <a:bgClr>
                <a:srgbClr val="FFFFFF"/>
              </a:bgClr>
            </a:pattFill>
            <a:ln w="19050" algn="ctr">
              <a:solidFill>
                <a:srgbClr val="0080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Rectangle 31"/>
            <p:cNvSpPr>
              <a:spLocks noChangeArrowheads="1"/>
            </p:cNvSpPr>
            <p:nvPr/>
          </p:nvSpPr>
          <p:spPr bwMode="auto">
            <a:xfrm>
              <a:off x="530225" y="1400175"/>
              <a:ext cx="8153400" cy="838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Rectangle 34" descr="Large checker board"/>
            <p:cNvSpPr>
              <a:spLocks noChangeArrowheads="1"/>
            </p:cNvSpPr>
            <p:nvPr/>
          </p:nvSpPr>
          <p:spPr bwMode="auto">
            <a:xfrm>
              <a:off x="987425" y="1400175"/>
              <a:ext cx="990600" cy="838200"/>
            </a:xfrm>
            <a:prstGeom prst="rect">
              <a:avLst/>
            </a:prstGeom>
            <a:pattFill prst="lgCheck">
              <a:fgClr>
                <a:schemeClr val="accent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FAT</a:t>
              </a:r>
            </a:p>
          </p:txBody>
        </p:sp>
        <p:sp>
          <p:nvSpPr>
            <p:cNvPr id="43" name="Rectangle 35" descr="Outlined diamond"/>
            <p:cNvSpPr>
              <a:spLocks noChangeArrowheads="1"/>
            </p:cNvSpPr>
            <p:nvPr/>
          </p:nvSpPr>
          <p:spPr bwMode="auto">
            <a:xfrm>
              <a:off x="1978025" y="1400175"/>
              <a:ext cx="990600" cy="838200"/>
            </a:xfrm>
            <a:prstGeom prst="rect">
              <a:avLst/>
            </a:prstGeom>
            <a:pattFill prst="openDmnd">
              <a:fgClr>
                <a:schemeClr val="accent2">
                  <a:lumMod val="20000"/>
                  <a:lumOff val="80000"/>
                </a:schemeClr>
              </a:fgClr>
              <a:bgClr>
                <a:srgbClr val="FFFFFF"/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FAT</a:t>
              </a:r>
            </a:p>
            <a:p>
              <a:pPr algn="ctr"/>
              <a:r>
                <a:rPr lang="en-US" altLang="en-US" sz="1200" b="1" dirty="0">
                  <a:latin typeface="Courier New" panose="02070309020205020404" pitchFamily="49" charset="0"/>
                </a:rPr>
                <a:t>Duplicate</a:t>
              </a:r>
            </a:p>
          </p:txBody>
        </p:sp>
        <p:sp>
          <p:nvSpPr>
            <p:cNvPr id="44" name="Rectangle 36" descr="Dashed upward diagonal"/>
            <p:cNvSpPr>
              <a:spLocks noChangeArrowheads="1"/>
            </p:cNvSpPr>
            <p:nvPr/>
          </p:nvSpPr>
          <p:spPr bwMode="auto">
            <a:xfrm>
              <a:off x="2968625" y="1400175"/>
              <a:ext cx="990600" cy="838200"/>
            </a:xfrm>
            <a:prstGeom prst="rect">
              <a:avLst/>
            </a:prstGeom>
            <a:pattFill prst="dashUpDiag">
              <a:fgClr>
                <a:schemeClr val="accent2">
                  <a:lumMod val="75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Rectangle 37"/>
            <p:cNvSpPr>
              <a:spLocks noChangeArrowheads="1"/>
            </p:cNvSpPr>
            <p:nvPr/>
          </p:nvSpPr>
          <p:spPr bwMode="auto">
            <a:xfrm>
              <a:off x="530225" y="1400175"/>
              <a:ext cx="457200" cy="838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Text Box 38"/>
            <p:cNvSpPr txBox="1">
              <a:spLocks noChangeArrowheads="1"/>
            </p:cNvSpPr>
            <p:nvPr/>
          </p:nvSpPr>
          <p:spPr bwMode="auto">
            <a:xfrm>
              <a:off x="363484" y="1000072"/>
              <a:ext cx="800207" cy="400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Boot</a:t>
              </a:r>
            </a:p>
          </p:txBody>
        </p:sp>
        <p:sp>
          <p:nvSpPr>
            <p:cNvPr id="47" name="Text Box 40"/>
            <p:cNvSpPr txBox="1">
              <a:spLocks noChangeArrowheads="1"/>
            </p:cNvSpPr>
            <p:nvPr/>
          </p:nvSpPr>
          <p:spPr bwMode="auto">
            <a:xfrm>
              <a:off x="2673545" y="692295"/>
              <a:ext cx="1569649" cy="7078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root</a:t>
              </a:r>
            </a:p>
            <a:p>
              <a:pPr algn="ctr"/>
              <a:r>
                <a:rPr lang="en-US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directory</a:t>
              </a:r>
            </a:p>
          </p:txBody>
        </p:sp>
      </p:grpSp>
      <p:grpSp>
        <p:nvGrpSpPr>
          <p:cNvPr id="48" name="Group 6"/>
          <p:cNvGrpSpPr>
            <a:grpSpLocks/>
          </p:cNvGrpSpPr>
          <p:nvPr/>
        </p:nvGrpSpPr>
        <p:grpSpPr bwMode="auto">
          <a:xfrm>
            <a:off x="763587" y="4495800"/>
            <a:ext cx="7315200" cy="838200"/>
            <a:chOff x="384" y="2736"/>
            <a:chExt cx="4608" cy="528"/>
          </a:xfrm>
        </p:grpSpPr>
        <p:sp>
          <p:nvSpPr>
            <p:cNvPr id="49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OS Boot Block</a:t>
              </a:r>
            </a:p>
          </p:txBody>
        </p:sp>
        <p:sp>
          <p:nvSpPr>
            <p:cNvPr id="50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51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 dirty="0"/>
                <a:t>Directory Structure</a:t>
              </a:r>
            </a:p>
          </p:txBody>
        </p:sp>
        <p:sp>
          <p:nvSpPr>
            <p:cNvPr id="52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53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584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Example of Common Tasks: </a:t>
            </a:r>
            <a:r>
              <a:rPr lang="en-US" altLang="en-US" sz="3800" b="1" dirty="0">
                <a:solidFill>
                  <a:srgbClr val="C00000"/>
                </a:solidFill>
              </a:rPr>
              <a:t>Free Space</a:t>
            </a:r>
            <a:endParaRPr lang="en-US" altLang="en-US" sz="3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48</a:t>
            </a:fld>
            <a:endParaRPr lang="en-US" altLang="en-US"/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09600" y="2133600"/>
            <a:ext cx="2895600" cy="3770525"/>
            <a:chOff x="609600" y="2133600"/>
            <a:chExt cx="2895600" cy="3770525"/>
          </a:xfrm>
        </p:grpSpPr>
        <p:grpSp>
          <p:nvGrpSpPr>
            <p:cNvPr id="8" name="Group 51"/>
            <p:cNvGrpSpPr>
              <a:grpSpLocks/>
            </p:cNvGrpSpPr>
            <p:nvPr/>
          </p:nvGrpSpPr>
          <p:grpSpPr bwMode="auto">
            <a:xfrm>
              <a:off x="609600" y="2133600"/>
              <a:ext cx="2741613" cy="455613"/>
              <a:chOff x="528" y="1392"/>
              <a:chExt cx="1727" cy="383"/>
            </a:xfrm>
          </p:grpSpPr>
          <p:sp>
            <p:nvSpPr>
              <p:cNvPr id="22" name="Rectangle 33"/>
              <p:cNvSpPr>
                <a:spLocks noChangeArrowheads="1"/>
              </p:cNvSpPr>
              <p:nvPr/>
            </p:nvSpPr>
            <p:spPr bwMode="auto">
              <a:xfrm>
                <a:off x="528" y="1392"/>
                <a:ext cx="1727" cy="383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Rectangle 34"/>
              <p:cNvSpPr>
                <a:spLocks noChangeArrowheads="1"/>
              </p:cNvSpPr>
              <p:nvPr/>
            </p:nvSpPr>
            <p:spPr bwMode="auto">
              <a:xfrm>
                <a:off x="528" y="1392"/>
                <a:ext cx="816" cy="383"/>
              </a:xfrm>
              <a:prstGeom prst="rect">
                <a:avLst/>
              </a:prstGeom>
              <a:solidFill>
                <a:srgbClr val="FFCC99"/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latin typeface="Courier New" panose="02070309020205020404" pitchFamily="49" charset="0"/>
                  </a:rPr>
                  <a:t>ex1.c</a:t>
                </a:r>
              </a:p>
            </p:txBody>
          </p:sp>
          <p:sp>
            <p:nvSpPr>
              <p:cNvPr id="24" name="Rectangle 36"/>
              <p:cNvSpPr>
                <a:spLocks noChangeArrowheads="1"/>
              </p:cNvSpPr>
              <p:nvPr/>
            </p:nvSpPr>
            <p:spPr bwMode="auto">
              <a:xfrm>
                <a:off x="1776" y="1392"/>
                <a:ext cx="240" cy="383"/>
              </a:xfrm>
              <a:prstGeom prst="rect">
                <a:avLst/>
              </a:prstGeom>
              <a:solidFill>
                <a:srgbClr val="99CCFF"/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3</a:t>
                </a:r>
              </a:p>
            </p:txBody>
          </p:sp>
        </p:grpSp>
        <p:sp>
          <p:nvSpPr>
            <p:cNvPr id="9" name="Text Box 43"/>
            <p:cNvSpPr txBox="1">
              <a:spLocks noChangeArrowheads="1"/>
            </p:cNvSpPr>
            <p:nvPr/>
          </p:nvSpPr>
          <p:spPr bwMode="auto">
            <a:xfrm>
              <a:off x="609600" y="5257800"/>
              <a:ext cx="2895600" cy="646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1434" tIns="45717" rIns="91434" bIns="45717">
              <a:spAutoFit/>
            </a:bodyPr>
            <a:lstStyle/>
            <a:p>
              <a:pPr algn="ctr"/>
              <a:r>
                <a:rPr lang="en-US" altLang="en-US" b="1" dirty="0">
                  <a:solidFill>
                    <a:srgbClr val="C00000"/>
                  </a:solidFill>
                </a:rPr>
                <a:t>Directory Entries</a:t>
              </a:r>
            </a:p>
            <a:p>
              <a:pPr algn="ctr"/>
              <a:r>
                <a:rPr lang="en-US" altLang="en-US" b="1" dirty="0"/>
                <a:t>(in a Disk Data Block)</a:t>
              </a:r>
            </a:p>
          </p:txBody>
        </p:sp>
        <p:grpSp>
          <p:nvGrpSpPr>
            <p:cNvPr id="10" name="Group 56"/>
            <p:cNvGrpSpPr>
              <a:grpSpLocks/>
            </p:cNvGrpSpPr>
            <p:nvPr/>
          </p:nvGrpSpPr>
          <p:grpSpPr bwMode="auto">
            <a:xfrm>
              <a:off x="609600" y="2589213"/>
              <a:ext cx="2741613" cy="457200"/>
              <a:chOff x="528" y="1776"/>
              <a:chExt cx="1727" cy="383"/>
            </a:xfrm>
          </p:grpSpPr>
          <p:sp>
            <p:nvSpPr>
              <p:cNvPr id="19" name="Rectangle 45"/>
              <p:cNvSpPr>
                <a:spLocks noChangeArrowheads="1"/>
              </p:cNvSpPr>
              <p:nvPr/>
            </p:nvSpPr>
            <p:spPr bwMode="auto">
              <a:xfrm>
                <a:off x="528" y="1776"/>
                <a:ext cx="1727" cy="383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Rectangle 46"/>
              <p:cNvSpPr>
                <a:spLocks noChangeArrowheads="1"/>
              </p:cNvSpPr>
              <p:nvPr/>
            </p:nvSpPr>
            <p:spPr bwMode="auto">
              <a:xfrm>
                <a:off x="528" y="1776"/>
                <a:ext cx="816" cy="383"/>
              </a:xfrm>
              <a:prstGeom prst="rect">
                <a:avLst/>
              </a:prstGeom>
              <a:solidFill>
                <a:srgbClr val="FFCC99"/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latin typeface="Courier New" panose="02070309020205020404" pitchFamily="49" charset="0"/>
                  </a:rPr>
                  <a:t>ex2.c</a:t>
                </a:r>
              </a:p>
            </p:txBody>
          </p:sp>
          <p:sp>
            <p:nvSpPr>
              <p:cNvPr id="21" name="Rectangle 47"/>
              <p:cNvSpPr>
                <a:spLocks noChangeArrowheads="1"/>
              </p:cNvSpPr>
              <p:nvPr/>
            </p:nvSpPr>
            <p:spPr bwMode="auto">
              <a:xfrm>
                <a:off x="1776" y="1776"/>
                <a:ext cx="240" cy="383"/>
              </a:xfrm>
              <a:prstGeom prst="rect">
                <a:avLst/>
              </a:prstGeom>
              <a:solidFill>
                <a:srgbClr val="99CCFF"/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6</a:t>
                </a:r>
              </a:p>
            </p:txBody>
          </p:sp>
        </p:grpSp>
        <p:grpSp>
          <p:nvGrpSpPr>
            <p:cNvPr id="11" name="Group 57"/>
            <p:cNvGrpSpPr>
              <a:grpSpLocks/>
            </p:cNvGrpSpPr>
            <p:nvPr/>
          </p:nvGrpSpPr>
          <p:grpSpPr bwMode="auto">
            <a:xfrm>
              <a:off x="609600" y="3046413"/>
              <a:ext cx="2741613" cy="457200"/>
              <a:chOff x="528" y="2160"/>
              <a:chExt cx="1727" cy="383"/>
            </a:xfrm>
          </p:grpSpPr>
          <p:sp>
            <p:nvSpPr>
              <p:cNvPr id="16" name="Rectangle 48"/>
              <p:cNvSpPr>
                <a:spLocks noChangeArrowheads="1"/>
              </p:cNvSpPr>
              <p:nvPr/>
            </p:nvSpPr>
            <p:spPr bwMode="auto">
              <a:xfrm>
                <a:off x="528" y="2160"/>
                <a:ext cx="1727" cy="383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Rectangle 49"/>
              <p:cNvSpPr>
                <a:spLocks noChangeArrowheads="1"/>
              </p:cNvSpPr>
              <p:nvPr/>
            </p:nvSpPr>
            <p:spPr bwMode="auto">
              <a:xfrm>
                <a:off x="528" y="2160"/>
                <a:ext cx="816" cy="383"/>
              </a:xfrm>
              <a:prstGeom prst="rect">
                <a:avLst/>
              </a:prstGeom>
              <a:solidFill>
                <a:srgbClr val="FFCC99"/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latin typeface="Courier New" panose="02070309020205020404" pitchFamily="49" charset="0"/>
                  </a:rPr>
                  <a:t>test/</a:t>
                </a:r>
              </a:p>
            </p:txBody>
          </p:sp>
          <p:sp>
            <p:nvSpPr>
              <p:cNvPr id="18" name="Rectangle 50"/>
              <p:cNvSpPr>
                <a:spLocks noChangeArrowheads="1"/>
              </p:cNvSpPr>
              <p:nvPr/>
            </p:nvSpPr>
            <p:spPr bwMode="auto">
              <a:xfrm>
                <a:off x="1776" y="2160"/>
                <a:ext cx="240" cy="383"/>
              </a:xfrm>
              <a:prstGeom prst="rect">
                <a:avLst/>
              </a:prstGeom>
              <a:solidFill>
                <a:srgbClr val="99CCFF"/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2</a:t>
                </a:r>
              </a:p>
            </p:txBody>
          </p:sp>
        </p:grpSp>
        <p:grpSp>
          <p:nvGrpSpPr>
            <p:cNvPr id="12" name="Group 55"/>
            <p:cNvGrpSpPr>
              <a:grpSpLocks/>
            </p:cNvGrpSpPr>
            <p:nvPr/>
          </p:nvGrpSpPr>
          <p:grpSpPr bwMode="auto">
            <a:xfrm>
              <a:off x="609600" y="3503613"/>
              <a:ext cx="2741613" cy="1752600"/>
              <a:chOff x="528" y="2544"/>
              <a:chExt cx="1727" cy="383"/>
            </a:xfrm>
          </p:grpSpPr>
          <p:sp>
            <p:nvSpPr>
              <p:cNvPr id="13" name="Rectangle 52"/>
              <p:cNvSpPr>
                <a:spLocks noChangeArrowheads="1"/>
              </p:cNvSpPr>
              <p:nvPr/>
            </p:nvSpPr>
            <p:spPr bwMode="auto">
              <a:xfrm>
                <a:off x="528" y="2544"/>
                <a:ext cx="1727" cy="383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53"/>
              <p:cNvSpPr>
                <a:spLocks noChangeArrowheads="1"/>
              </p:cNvSpPr>
              <p:nvPr/>
            </p:nvSpPr>
            <p:spPr bwMode="auto">
              <a:xfrm>
                <a:off x="528" y="2544"/>
                <a:ext cx="816" cy="383"/>
              </a:xfrm>
              <a:prstGeom prst="rect">
                <a:avLst/>
              </a:prstGeom>
              <a:solidFill>
                <a:srgbClr val="FFCC99"/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latin typeface="Courier New" panose="02070309020205020404" pitchFamily="49" charset="0"/>
                  </a:rPr>
                  <a:t>...</a:t>
                </a:r>
              </a:p>
            </p:txBody>
          </p:sp>
          <p:sp>
            <p:nvSpPr>
              <p:cNvPr id="15" name="Rectangle 54"/>
              <p:cNvSpPr>
                <a:spLocks noChangeArrowheads="1"/>
              </p:cNvSpPr>
              <p:nvPr/>
            </p:nvSpPr>
            <p:spPr bwMode="auto">
              <a:xfrm>
                <a:off x="1776" y="2544"/>
                <a:ext cx="240" cy="383"/>
              </a:xfrm>
              <a:prstGeom prst="rect">
                <a:avLst/>
              </a:prstGeom>
              <a:solidFill>
                <a:srgbClr val="99CCFF"/>
              </a:solidFill>
              <a:ln w="19050" algn="ctr">
                <a:solidFill>
                  <a:srgbClr val="3366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b="1">
                  <a:latin typeface="Courier New" panose="02070309020205020404" pitchFamily="49" charset="0"/>
                </a:endParaRPr>
              </a:p>
            </p:txBody>
          </p:sp>
        </p:grpSp>
      </p:grpSp>
      <p:grpSp>
        <p:nvGrpSpPr>
          <p:cNvPr id="25" name="Group 24"/>
          <p:cNvGrpSpPr/>
          <p:nvPr/>
        </p:nvGrpSpPr>
        <p:grpSpPr>
          <a:xfrm>
            <a:off x="7162800" y="1066800"/>
            <a:ext cx="1676400" cy="5588601"/>
            <a:chOff x="7162800" y="1066800"/>
            <a:chExt cx="1676400" cy="5588601"/>
          </a:xfrm>
        </p:grpSpPr>
        <p:sp>
          <p:nvSpPr>
            <p:cNvPr id="26" name="Rectangle 58"/>
            <p:cNvSpPr>
              <a:spLocks noChangeArrowheads="1"/>
            </p:cNvSpPr>
            <p:nvPr/>
          </p:nvSpPr>
          <p:spPr bwMode="auto">
            <a:xfrm>
              <a:off x="7700963" y="1066800"/>
              <a:ext cx="457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Text Box 59"/>
            <p:cNvSpPr txBox="1">
              <a:spLocks noChangeArrowheads="1"/>
            </p:cNvSpPr>
            <p:nvPr/>
          </p:nvSpPr>
          <p:spPr bwMode="auto">
            <a:xfrm>
              <a:off x="7391400" y="1066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28" name="Rectangle 60"/>
            <p:cNvSpPr>
              <a:spLocks noChangeArrowheads="1"/>
            </p:cNvSpPr>
            <p:nvPr/>
          </p:nvSpPr>
          <p:spPr bwMode="auto">
            <a:xfrm>
              <a:off x="7700963" y="1447800"/>
              <a:ext cx="457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Text Box 61"/>
            <p:cNvSpPr txBox="1">
              <a:spLocks noChangeArrowheads="1"/>
            </p:cNvSpPr>
            <p:nvPr/>
          </p:nvSpPr>
          <p:spPr bwMode="auto">
            <a:xfrm>
              <a:off x="7391400" y="1447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30" name="Rectangle 62"/>
            <p:cNvSpPr>
              <a:spLocks noChangeArrowheads="1"/>
            </p:cNvSpPr>
            <p:nvPr/>
          </p:nvSpPr>
          <p:spPr bwMode="auto">
            <a:xfrm>
              <a:off x="7700963" y="1828800"/>
              <a:ext cx="457200" cy="381000"/>
            </a:xfrm>
            <a:prstGeom prst="rect">
              <a:avLst/>
            </a:prstGeom>
            <a:solidFill>
              <a:srgbClr val="FFFF99"/>
            </a:solidFill>
            <a:ln w="19050" algn="ctr">
              <a:solidFill>
                <a:srgbClr val="CC99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Text Box 63"/>
            <p:cNvSpPr txBox="1">
              <a:spLocks noChangeArrowheads="1"/>
            </p:cNvSpPr>
            <p:nvPr/>
          </p:nvSpPr>
          <p:spPr bwMode="auto">
            <a:xfrm>
              <a:off x="7391400" y="1828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32" name="Rectangle 64"/>
            <p:cNvSpPr>
              <a:spLocks noChangeArrowheads="1"/>
            </p:cNvSpPr>
            <p:nvPr/>
          </p:nvSpPr>
          <p:spPr bwMode="auto">
            <a:xfrm>
              <a:off x="7700963" y="2209800"/>
              <a:ext cx="457200" cy="381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rgbClr val="00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Text Box 65"/>
            <p:cNvSpPr txBox="1">
              <a:spLocks noChangeArrowheads="1"/>
            </p:cNvSpPr>
            <p:nvPr/>
          </p:nvSpPr>
          <p:spPr bwMode="auto">
            <a:xfrm>
              <a:off x="7391400" y="2209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34" name="Rectangle 66"/>
            <p:cNvSpPr>
              <a:spLocks noChangeArrowheads="1"/>
            </p:cNvSpPr>
            <p:nvPr/>
          </p:nvSpPr>
          <p:spPr bwMode="auto">
            <a:xfrm>
              <a:off x="7700963" y="2590800"/>
              <a:ext cx="457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Text Box 67"/>
            <p:cNvSpPr txBox="1">
              <a:spLocks noChangeArrowheads="1"/>
            </p:cNvSpPr>
            <p:nvPr/>
          </p:nvSpPr>
          <p:spPr bwMode="auto">
            <a:xfrm>
              <a:off x="7391400" y="2590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36" name="Rectangle 68"/>
            <p:cNvSpPr>
              <a:spLocks noChangeArrowheads="1"/>
            </p:cNvSpPr>
            <p:nvPr/>
          </p:nvSpPr>
          <p:spPr bwMode="auto">
            <a:xfrm>
              <a:off x="7700963" y="2971800"/>
              <a:ext cx="457200" cy="381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rgbClr val="00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Text Box 69"/>
            <p:cNvSpPr txBox="1">
              <a:spLocks noChangeArrowheads="1"/>
            </p:cNvSpPr>
            <p:nvPr/>
          </p:nvSpPr>
          <p:spPr bwMode="auto">
            <a:xfrm>
              <a:off x="7391400" y="2971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5</a:t>
              </a:r>
            </a:p>
          </p:txBody>
        </p:sp>
        <p:sp>
          <p:nvSpPr>
            <p:cNvPr id="38" name="Rectangle 70"/>
            <p:cNvSpPr>
              <a:spLocks noChangeArrowheads="1"/>
            </p:cNvSpPr>
            <p:nvPr/>
          </p:nvSpPr>
          <p:spPr bwMode="auto">
            <a:xfrm>
              <a:off x="7700963" y="3352800"/>
              <a:ext cx="457200" cy="381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rgbClr val="0033CC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Text Box 71"/>
            <p:cNvSpPr txBox="1">
              <a:spLocks noChangeArrowheads="1"/>
            </p:cNvSpPr>
            <p:nvPr/>
          </p:nvSpPr>
          <p:spPr bwMode="auto">
            <a:xfrm>
              <a:off x="7391400" y="3352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6</a:t>
              </a:r>
            </a:p>
          </p:txBody>
        </p:sp>
        <p:sp>
          <p:nvSpPr>
            <p:cNvPr id="40" name="Rectangle 72"/>
            <p:cNvSpPr>
              <a:spLocks noChangeArrowheads="1"/>
            </p:cNvSpPr>
            <p:nvPr/>
          </p:nvSpPr>
          <p:spPr bwMode="auto">
            <a:xfrm>
              <a:off x="7700963" y="3733800"/>
              <a:ext cx="457200" cy="381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rgbClr val="0033CC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Text Box 73"/>
            <p:cNvSpPr txBox="1">
              <a:spLocks noChangeArrowheads="1"/>
            </p:cNvSpPr>
            <p:nvPr/>
          </p:nvSpPr>
          <p:spPr bwMode="auto">
            <a:xfrm>
              <a:off x="7391400" y="3733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7</a:t>
              </a:r>
            </a:p>
          </p:txBody>
        </p:sp>
        <p:sp>
          <p:nvSpPr>
            <p:cNvPr id="42" name="Rectangle 90"/>
            <p:cNvSpPr>
              <a:spLocks noChangeArrowheads="1"/>
            </p:cNvSpPr>
            <p:nvPr/>
          </p:nvSpPr>
          <p:spPr bwMode="auto">
            <a:xfrm>
              <a:off x="7700963" y="4114800"/>
              <a:ext cx="457200" cy="381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rgbClr val="00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Text Box 91"/>
            <p:cNvSpPr txBox="1">
              <a:spLocks noChangeArrowheads="1"/>
            </p:cNvSpPr>
            <p:nvPr/>
          </p:nvSpPr>
          <p:spPr bwMode="auto">
            <a:xfrm>
              <a:off x="7391400" y="4114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8</a:t>
              </a:r>
            </a:p>
          </p:txBody>
        </p:sp>
        <p:sp>
          <p:nvSpPr>
            <p:cNvPr id="44" name="Rectangle 92"/>
            <p:cNvSpPr>
              <a:spLocks noChangeArrowheads="1"/>
            </p:cNvSpPr>
            <p:nvPr/>
          </p:nvSpPr>
          <p:spPr bwMode="auto">
            <a:xfrm>
              <a:off x="7700963" y="4495800"/>
              <a:ext cx="457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Text Box 93"/>
            <p:cNvSpPr txBox="1">
              <a:spLocks noChangeArrowheads="1"/>
            </p:cNvSpPr>
            <p:nvPr/>
          </p:nvSpPr>
          <p:spPr bwMode="auto">
            <a:xfrm>
              <a:off x="7391400" y="4495800"/>
              <a:ext cx="3063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>
                  <a:latin typeface="Courier New" panose="02070309020205020404" pitchFamily="49" charset="0"/>
                </a:rPr>
                <a:t>9</a:t>
              </a:r>
            </a:p>
          </p:txBody>
        </p:sp>
        <p:sp>
          <p:nvSpPr>
            <p:cNvPr id="46" name="Rectangle 94"/>
            <p:cNvSpPr>
              <a:spLocks noChangeArrowheads="1"/>
            </p:cNvSpPr>
            <p:nvPr/>
          </p:nvSpPr>
          <p:spPr bwMode="auto">
            <a:xfrm>
              <a:off x="7700963" y="4876800"/>
              <a:ext cx="457200" cy="1066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Text Box 96"/>
            <p:cNvSpPr txBox="1">
              <a:spLocks noChangeArrowheads="1"/>
            </p:cNvSpPr>
            <p:nvPr/>
          </p:nvSpPr>
          <p:spPr bwMode="auto">
            <a:xfrm>
              <a:off x="7162800" y="6019800"/>
              <a:ext cx="1676400" cy="63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0815" tIns="40407" rIns="80815" bIns="40407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b="1" dirty="0">
                  <a:solidFill>
                    <a:srgbClr val="C00000"/>
                  </a:solidFill>
                </a:rPr>
                <a:t>Data Blocks</a:t>
              </a:r>
            </a:p>
            <a:p>
              <a:pPr algn="ctr"/>
              <a:r>
                <a:rPr lang="en-US" altLang="en-US" b="1" dirty="0"/>
                <a:t>(in Disk)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4416370" y="1219200"/>
            <a:ext cx="1682805" cy="5436201"/>
            <a:chOff x="4416370" y="1219200"/>
            <a:chExt cx="1682805" cy="5436201"/>
          </a:xfrm>
        </p:grpSpPr>
        <p:grpSp>
          <p:nvGrpSpPr>
            <p:cNvPr id="49" name="Group 48"/>
            <p:cNvGrpSpPr/>
            <p:nvPr/>
          </p:nvGrpSpPr>
          <p:grpSpPr>
            <a:xfrm>
              <a:off x="4425950" y="1219200"/>
              <a:ext cx="1673225" cy="5436201"/>
              <a:chOff x="4425950" y="1219200"/>
              <a:chExt cx="1673225" cy="5436201"/>
            </a:xfrm>
          </p:grpSpPr>
          <p:sp>
            <p:nvSpPr>
              <p:cNvPr id="51" name="Rectangle 4"/>
              <p:cNvSpPr>
                <a:spLocks noChangeArrowheads="1"/>
              </p:cNvSpPr>
              <p:nvPr/>
            </p:nvSpPr>
            <p:spPr bwMode="auto">
              <a:xfrm>
                <a:off x="4724400" y="1219200"/>
                <a:ext cx="1371600" cy="4800600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Text Box 6"/>
              <p:cNvSpPr txBox="1">
                <a:spLocks noChangeArrowheads="1"/>
              </p:cNvSpPr>
              <p:nvPr/>
            </p:nvSpPr>
            <p:spPr bwMode="auto">
              <a:xfrm>
                <a:off x="4795370" y="6019800"/>
                <a:ext cx="1112186" cy="6356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404813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808038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2128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16160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0732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5304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9876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44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b="1" dirty="0">
                    <a:solidFill>
                      <a:srgbClr val="C00000"/>
                    </a:solidFill>
                  </a:rPr>
                  <a:t>FAT</a:t>
                </a:r>
              </a:p>
              <a:p>
                <a:pPr algn="ctr"/>
                <a:r>
                  <a:rPr lang="en-US" altLang="en-US" b="1" dirty="0"/>
                  <a:t>(in RAM)</a:t>
                </a:r>
              </a:p>
            </p:txBody>
          </p:sp>
          <p:sp>
            <p:nvSpPr>
              <p:cNvPr id="53" name="Rectangle 7"/>
              <p:cNvSpPr>
                <a:spLocks noChangeArrowheads="1"/>
              </p:cNvSpPr>
              <p:nvPr/>
            </p:nvSpPr>
            <p:spPr bwMode="auto">
              <a:xfrm>
                <a:off x="4725988" y="1219200"/>
                <a:ext cx="1373187" cy="381000"/>
              </a:xfrm>
              <a:prstGeom prst="rect">
                <a:avLst/>
              </a:prstGeom>
              <a:solidFill>
                <a:srgbClr val="FFEB97"/>
              </a:solidFill>
              <a:ln w="19050" algn="ctr">
                <a:solidFill>
                  <a:srgbClr val="CC99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Rectangle 11"/>
              <p:cNvSpPr>
                <a:spLocks noChangeArrowheads="1"/>
              </p:cNvSpPr>
              <p:nvPr/>
            </p:nvSpPr>
            <p:spPr bwMode="auto">
              <a:xfrm>
                <a:off x="4724400" y="1600200"/>
                <a:ext cx="1371600" cy="381000"/>
              </a:xfrm>
              <a:prstGeom prst="rect">
                <a:avLst/>
              </a:prstGeom>
              <a:solidFill>
                <a:srgbClr val="C0C0C0">
                  <a:alpha val="50000"/>
                </a:srgbClr>
              </a:solidFill>
              <a:ln w="19050" algn="ctr">
                <a:solidFill>
                  <a:srgbClr val="CC99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404813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808038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2128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16160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0732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5304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9876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44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b="1">
                    <a:solidFill>
                      <a:srgbClr val="800000"/>
                    </a:solidFill>
                  </a:rPr>
                  <a:t>BAD</a:t>
                </a:r>
              </a:p>
            </p:txBody>
          </p:sp>
          <p:sp>
            <p:nvSpPr>
              <p:cNvPr id="55" name="Rectangle 12"/>
              <p:cNvSpPr>
                <a:spLocks noChangeArrowheads="1"/>
              </p:cNvSpPr>
              <p:nvPr/>
            </p:nvSpPr>
            <p:spPr bwMode="auto">
              <a:xfrm>
                <a:off x="4724400" y="1981200"/>
                <a:ext cx="1371600" cy="381000"/>
              </a:xfrm>
              <a:prstGeom prst="rect">
                <a:avLst/>
              </a:prstGeom>
              <a:solidFill>
                <a:srgbClr val="FFFF99"/>
              </a:solidFill>
              <a:ln w="19050" algn="ctr">
                <a:solidFill>
                  <a:srgbClr val="CC99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>
                    <a:solidFill>
                      <a:schemeClr val="tx2"/>
                    </a:solidFill>
                  </a:rPr>
                  <a:t>EOF</a:t>
                </a:r>
              </a:p>
            </p:txBody>
          </p:sp>
          <p:sp>
            <p:nvSpPr>
              <p:cNvPr id="56" name="Rectangle 13"/>
              <p:cNvSpPr>
                <a:spLocks noChangeArrowheads="1"/>
              </p:cNvSpPr>
              <p:nvPr/>
            </p:nvSpPr>
            <p:spPr bwMode="auto">
              <a:xfrm>
                <a:off x="4724400" y="2362200"/>
                <a:ext cx="1371600" cy="381000"/>
              </a:xfrm>
              <a:prstGeom prst="rect">
                <a:avLst/>
              </a:prstGeom>
              <a:solidFill>
                <a:srgbClr val="CCFFCC"/>
              </a:solid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400" b="1" dirty="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57" name="Rectangle 14"/>
              <p:cNvSpPr>
                <a:spLocks noChangeArrowheads="1"/>
              </p:cNvSpPr>
              <p:nvPr/>
            </p:nvSpPr>
            <p:spPr bwMode="auto">
              <a:xfrm>
                <a:off x="4724400" y="2743200"/>
                <a:ext cx="1371600" cy="381000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rgbClr val="9900CC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b="1">
                    <a:solidFill>
                      <a:srgbClr val="008000"/>
                    </a:solidFill>
                  </a:rPr>
                  <a:t>FREE</a:t>
                </a:r>
              </a:p>
            </p:txBody>
          </p:sp>
          <p:sp>
            <p:nvSpPr>
              <p:cNvPr id="58" name="Rectangle 15"/>
              <p:cNvSpPr>
                <a:spLocks noChangeArrowheads="1"/>
              </p:cNvSpPr>
              <p:nvPr/>
            </p:nvSpPr>
            <p:spPr bwMode="auto">
              <a:xfrm>
                <a:off x="4724400" y="3124200"/>
                <a:ext cx="1371600" cy="381000"/>
              </a:xfrm>
              <a:prstGeom prst="rect">
                <a:avLst/>
              </a:prstGeom>
              <a:solidFill>
                <a:srgbClr val="CCFFCC"/>
              </a:solid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400" b="1">
                    <a:latin typeface="Courier New" panose="02070309020205020404" pitchFamily="49" charset="0"/>
                  </a:rPr>
                  <a:t>8</a:t>
                </a:r>
              </a:p>
            </p:txBody>
          </p:sp>
          <p:sp>
            <p:nvSpPr>
              <p:cNvPr id="59" name="Rectangle 16"/>
              <p:cNvSpPr>
                <a:spLocks noChangeArrowheads="1"/>
              </p:cNvSpPr>
              <p:nvPr/>
            </p:nvSpPr>
            <p:spPr bwMode="auto">
              <a:xfrm>
                <a:off x="4724400" y="3505200"/>
                <a:ext cx="13716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rgbClr val="99663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400" b="1">
                    <a:latin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60" name="Rectangle 17"/>
              <p:cNvSpPr>
                <a:spLocks noChangeArrowheads="1"/>
              </p:cNvSpPr>
              <p:nvPr/>
            </p:nvSpPr>
            <p:spPr bwMode="auto">
              <a:xfrm>
                <a:off x="4724400" y="3886200"/>
                <a:ext cx="13716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rgbClr val="99663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solidFill>
                      <a:schemeClr val="tx2"/>
                    </a:solidFill>
                  </a:rPr>
                  <a:t>EOF</a:t>
                </a:r>
              </a:p>
            </p:txBody>
          </p:sp>
          <p:sp>
            <p:nvSpPr>
              <p:cNvPr id="61" name="Rectangle 18"/>
              <p:cNvSpPr>
                <a:spLocks noChangeArrowheads="1"/>
              </p:cNvSpPr>
              <p:nvPr/>
            </p:nvSpPr>
            <p:spPr bwMode="auto">
              <a:xfrm>
                <a:off x="4724400" y="4267200"/>
                <a:ext cx="1371600" cy="381000"/>
              </a:xfrm>
              <a:prstGeom prst="rect">
                <a:avLst/>
              </a:prstGeom>
              <a:solidFill>
                <a:srgbClr val="CCFFCC"/>
              </a:solidFill>
              <a:ln w="19050" algn="ctr">
                <a:solidFill>
                  <a:srgbClr val="0080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solidFill>
                      <a:schemeClr val="tx2"/>
                    </a:solidFill>
                  </a:rPr>
                  <a:t>EOF</a:t>
                </a:r>
              </a:p>
            </p:txBody>
          </p:sp>
          <p:sp>
            <p:nvSpPr>
              <p:cNvPr id="62" name="Text Box 19"/>
              <p:cNvSpPr txBox="1">
                <a:spLocks noChangeArrowheads="1"/>
              </p:cNvSpPr>
              <p:nvPr/>
            </p:nvSpPr>
            <p:spPr bwMode="auto">
              <a:xfrm>
                <a:off x="4425950" y="1219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63" name="Text Box 20"/>
              <p:cNvSpPr txBox="1">
                <a:spLocks noChangeArrowheads="1"/>
              </p:cNvSpPr>
              <p:nvPr/>
            </p:nvSpPr>
            <p:spPr bwMode="auto">
              <a:xfrm>
                <a:off x="4425950" y="1600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64" name="Text Box 21"/>
              <p:cNvSpPr txBox="1">
                <a:spLocks noChangeArrowheads="1"/>
              </p:cNvSpPr>
              <p:nvPr/>
            </p:nvSpPr>
            <p:spPr bwMode="auto">
              <a:xfrm>
                <a:off x="4425950" y="1981200"/>
                <a:ext cx="295275" cy="346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65" name="Text Box 22"/>
              <p:cNvSpPr txBox="1">
                <a:spLocks noChangeArrowheads="1"/>
              </p:cNvSpPr>
              <p:nvPr/>
            </p:nvSpPr>
            <p:spPr bwMode="auto">
              <a:xfrm>
                <a:off x="4425950" y="2362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66" name="Text Box 23"/>
              <p:cNvSpPr txBox="1">
                <a:spLocks noChangeArrowheads="1"/>
              </p:cNvSpPr>
              <p:nvPr/>
            </p:nvSpPr>
            <p:spPr bwMode="auto">
              <a:xfrm>
                <a:off x="4425950" y="2743200"/>
                <a:ext cx="295275" cy="346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67" name="Text Box 24"/>
              <p:cNvSpPr txBox="1">
                <a:spLocks noChangeArrowheads="1"/>
              </p:cNvSpPr>
              <p:nvPr/>
            </p:nvSpPr>
            <p:spPr bwMode="auto">
              <a:xfrm>
                <a:off x="4425950" y="3124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68" name="Text Box 25"/>
              <p:cNvSpPr txBox="1">
                <a:spLocks noChangeArrowheads="1"/>
              </p:cNvSpPr>
              <p:nvPr/>
            </p:nvSpPr>
            <p:spPr bwMode="auto">
              <a:xfrm>
                <a:off x="4425950" y="3505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6</a:t>
                </a:r>
              </a:p>
            </p:txBody>
          </p:sp>
          <p:sp>
            <p:nvSpPr>
              <p:cNvPr id="69" name="Text Box 26"/>
              <p:cNvSpPr txBox="1">
                <a:spLocks noChangeArrowheads="1"/>
              </p:cNvSpPr>
              <p:nvPr/>
            </p:nvSpPr>
            <p:spPr bwMode="auto">
              <a:xfrm>
                <a:off x="4425950" y="3886200"/>
                <a:ext cx="295275" cy="346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70" name="Text Box 27"/>
              <p:cNvSpPr txBox="1">
                <a:spLocks noChangeArrowheads="1"/>
              </p:cNvSpPr>
              <p:nvPr/>
            </p:nvSpPr>
            <p:spPr bwMode="auto">
              <a:xfrm>
                <a:off x="4425950" y="4267200"/>
                <a:ext cx="295275" cy="347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>
                    <a:latin typeface="Courier New" panose="02070309020205020404" pitchFamily="49" charset="0"/>
                  </a:rPr>
                  <a:t>8</a:t>
                </a:r>
              </a:p>
            </p:txBody>
          </p:sp>
          <p:sp>
            <p:nvSpPr>
              <p:cNvPr id="71" name="Rectangle 28"/>
              <p:cNvSpPr>
                <a:spLocks noChangeArrowheads="1"/>
              </p:cNvSpPr>
              <p:nvPr/>
            </p:nvSpPr>
            <p:spPr bwMode="auto">
              <a:xfrm>
                <a:off x="4724400" y="4648200"/>
                <a:ext cx="1371600" cy="381000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rgbClr val="9900CC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b="1">
                    <a:solidFill>
                      <a:srgbClr val="008000"/>
                    </a:solidFill>
                  </a:rPr>
                  <a:t>FREE</a:t>
                </a:r>
              </a:p>
            </p:txBody>
          </p:sp>
          <p:sp>
            <p:nvSpPr>
              <p:cNvPr id="72" name="Rectangle 29"/>
              <p:cNvSpPr>
                <a:spLocks noChangeArrowheads="1"/>
              </p:cNvSpPr>
              <p:nvPr/>
            </p:nvSpPr>
            <p:spPr bwMode="auto">
              <a:xfrm>
                <a:off x="4724400" y="5029200"/>
                <a:ext cx="1371600" cy="990600"/>
              </a:xfrm>
              <a:prstGeom prst="rect">
                <a:avLst/>
              </a:prstGeom>
              <a:solidFill>
                <a:srgbClr val="FFEB97"/>
              </a:solidFill>
              <a:ln w="19050" algn="ctr">
                <a:solidFill>
                  <a:srgbClr val="CC9900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/>
                  <a:t>…</a:t>
                </a:r>
              </a:p>
              <a:p>
                <a:pPr algn="ctr"/>
                <a:r>
                  <a:rPr lang="en-US" altLang="en-US"/>
                  <a:t>…</a:t>
                </a:r>
              </a:p>
              <a:p>
                <a:pPr algn="ctr"/>
                <a:r>
                  <a:rPr lang="en-US" altLang="en-US"/>
                  <a:t>…</a:t>
                </a:r>
              </a:p>
            </p:txBody>
          </p:sp>
        </p:grpSp>
        <p:sp>
          <p:nvSpPr>
            <p:cNvPr id="50" name="Text Box 27"/>
            <p:cNvSpPr txBox="1">
              <a:spLocks noChangeArrowheads="1"/>
            </p:cNvSpPr>
            <p:nvPr/>
          </p:nvSpPr>
          <p:spPr bwMode="auto">
            <a:xfrm>
              <a:off x="4416370" y="4664868"/>
              <a:ext cx="308086" cy="338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dirty="0">
                  <a:latin typeface="Courier New" panose="02070309020205020404" pitchFamily="49" charset="0"/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396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7ED83-99C7-47BF-BDAB-1CD1070903BD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11683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Extended-2 File System </a:t>
            </a:r>
            <a:r>
              <a:rPr lang="en-US" altLang="en-US" sz="3800" dirty="0"/>
              <a:t>(</a:t>
            </a:r>
            <a:r>
              <a:rPr lang="en-US" altLang="en-US" sz="3800" b="1" dirty="0">
                <a:solidFill>
                  <a:srgbClr val="C00000"/>
                </a:solidFill>
              </a:rPr>
              <a:t>Ext2</a:t>
            </a:r>
            <a:r>
              <a:rPr lang="en-US" altLang="en-US" sz="3800" dirty="0"/>
              <a:t>)</a:t>
            </a:r>
          </a:p>
        </p:txBody>
      </p:sp>
      <p:pic>
        <p:nvPicPr>
          <p:cNvPr id="11683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66799"/>
            <a:ext cx="3200400" cy="5404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68390" name="AutoShape 6"/>
          <p:cNvSpPr>
            <a:spLocks noChangeArrowheads="1"/>
          </p:cNvSpPr>
          <p:nvPr/>
        </p:nvSpPr>
        <p:spPr bwMode="auto">
          <a:xfrm>
            <a:off x="3733800" y="1057542"/>
            <a:ext cx="2971800" cy="999858"/>
          </a:xfrm>
          <a:prstGeom prst="wedgeRoundRectCallout">
            <a:avLst>
              <a:gd name="adj1" fmla="val -75639"/>
              <a:gd name="adj2" fmla="val 56528"/>
              <a:gd name="adj3" fmla="val 16667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 w="1905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altLang="en-US" sz="2400"/>
              <a:t>Hi, my name is </a:t>
            </a:r>
            <a:r>
              <a:rPr lang="en-US" altLang="en-US" sz="2400" b="1">
                <a:solidFill>
                  <a:schemeClr val="tx2"/>
                </a:solidFill>
              </a:rPr>
              <a:t>Rémy Card</a:t>
            </a:r>
            <a:r>
              <a:rPr lang="en-US" altLang="en-US" sz="2400"/>
              <a:t>  </a:t>
            </a:r>
          </a:p>
        </p:txBody>
      </p:sp>
      <p:sp>
        <p:nvSpPr>
          <p:cNvPr id="1168393" name="AutoShape 9"/>
          <p:cNvSpPr>
            <a:spLocks noChangeArrowheads="1"/>
          </p:cNvSpPr>
          <p:nvPr/>
        </p:nvSpPr>
        <p:spPr bwMode="auto">
          <a:xfrm>
            <a:off x="3751604" y="2514600"/>
            <a:ext cx="3176913" cy="990600"/>
          </a:xfrm>
          <a:prstGeom prst="wedgeRoundRectCallout">
            <a:avLst>
              <a:gd name="adj1" fmla="val -71497"/>
              <a:gd name="adj2" fmla="val -33442"/>
              <a:gd name="adj3" fmla="val 16667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 w="1905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altLang="en-US" sz="2400" dirty="0" err="1"/>
              <a:t>Ya</a:t>
            </a:r>
            <a:r>
              <a:rPr lang="en-US" altLang="en-US" sz="2400" dirty="0"/>
              <a:t>, I know. Not as sexy….</a:t>
            </a:r>
            <a:r>
              <a:rPr lang="en-US" altLang="en-US" sz="2400" dirty="0">
                <a:sym typeface="Wingdings" pitchFamily="2" charset="2"/>
              </a:rPr>
              <a:t></a:t>
            </a:r>
            <a:endParaRPr lang="en-US" altLang="en-US" sz="2400" dirty="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890" y="3967967"/>
            <a:ext cx="5962650" cy="24328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34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8390" grpId="0" animBg="1"/>
      <p:bldP spid="116839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Stop &amp; Check: </a:t>
            </a:r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50</a:t>
            </a:fld>
            <a:endParaRPr lang="en-US" altLang="en-US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grpSp>
        <p:nvGrpSpPr>
          <p:cNvPr id="56" name="Group 6"/>
          <p:cNvGrpSpPr>
            <a:grpSpLocks/>
          </p:cNvGrpSpPr>
          <p:nvPr/>
        </p:nvGrpSpPr>
        <p:grpSpPr bwMode="auto">
          <a:xfrm>
            <a:off x="756557" y="5257800"/>
            <a:ext cx="7315200" cy="838200"/>
            <a:chOff x="384" y="2736"/>
            <a:chExt cx="4608" cy="528"/>
          </a:xfrm>
        </p:grpSpPr>
        <p:sp>
          <p:nvSpPr>
            <p:cNvPr id="57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OS Boot Block</a:t>
              </a:r>
            </a:p>
          </p:txBody>
        </p:sp>
        <p:sp>
          <p:nvSpPr>
            <p:cNvPr id="58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59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 dirty="0"/>
                <a:t>Directory Structure</a:t>
              </a:r>
            </a:p>
          </p:txBody>
        </p:sp>
        <p:sp>
          <p:nvSpPr>
            <p:cNvPr id="60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61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46600" y="1143001"/>
            <a:ext cx="8240200" cy="2438400"/>
            <a:chOff x="446600" y="1143001"/>
            <a:chExt cx="8240200" cy="2438400"/>
          </a:xfrm>
        </p:grpSpPr>
        <p:grpSp>
          <p:nvGrpSpPr>
            <p:cNvPr id="62" name="Group 61"/>
            <p:cNvGrpSpPr/>
            <p:nvPr/>
          </p:nvGrpSpPr>
          <p:grpSpPr>
            <a:xfrm>
              <a:off x="457200" y="1143001"/>
              <a:ext cx="8229600" cy="2438400"/>
              <a:chOff x="457200" y="2438400"/>
              <a:chExt cx="8229600" cy="2438400"/>
            </a:xfrm>
          </p:grpSpPr>
          <p:sp>
            <p:nvSpPr>
              <p:cNvPr id="63" name="Rectangle 31"/>
              <p:cNvSpPr>
                <a:spLocks noChangeArrowheads="1"/>
              </p:cNvSpPr>
              <p:nvPr/>
            </p:nvSpPr>
            <p:spPr bwMode="auto">
              <a:xfrm>
                <a:off x="457200" y="4038600"/>
                <a:ext cx="8001000" cy="838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20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64" name="Rectangle 15"/>
              <p:cNvSpPr>
                <a:spLocks noChangeArrowheads="1"/>
              </p:cNvSpPr>
              <p:nvPr/>
            </p:nvSpPr>
            <p:spPr bwMode="auto">
              <a:xfrm>
                <a:off x="533400" y="2438400"/>
                <a:ext cx="8153400" cy="838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 algn="ctr">
                <a:solidFill>
                  <a:schemeClr val="accent2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Rectangle 18" descr="Large checker board"/>
              <p:cNvSpPr>
                <a:spLocks noChangeArrowheads="1"/>
              </p:cNvSpPr>
              <p:nvPr/>
            </p:nvSpPr>
            <p:spPr bwMode="auto">
              <a:xfrm>
                <a:off x="990600" y="2438400"/>
                <a:ext cx="2209800" cy="838200"/>
              </a:xfrm>
              <a:prstGeom prst="rect">
                <a:avLst/>
              </a:prstGeom>
              <a:pattFill prst="lgCheck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accent2">
                    <a:lumMod val="40000"/>
                    <a:lumOff val="60000"/>
                  </a:schemeClr>
                </a:bgClr>
              </a:pattFill>
              <a:ln w="19050" algn="ctr">
                <a:solidFill>
                  <a:schemeClr val="accent2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latin typeface="Courier New" panose="02070309020205020404" pitchFamily="49" charset="0"/>
                  </a:rPr>
                  <a:t>Block Group 0</a:t>
                </a:r>
              </a:p>
            </p:txBody>
          </p:sp>
          <p:sp>
            <p:nvSpPr>
              <p:cNvPr id="66" name="Rectangle 28" descr="Large checker board"/>
              <p:cNvSpPr>
                <a:spLocks noChangeArrowheads="1"/>
              </p:cNvSpPr>
              <p:nvPr/>
            </p:nvSpPr>
            <p:spPr bwMode="auto">
              <a:xfrm>
                <a:off x="3200400" y="2438400"/>
                <a:ext cx="2209800" cy="838200"/>
              </a:xfrm>
              <a:prstGeom prst="rect">
                <a:avLst/>
              </a:prstGeom>
              <a:pattFill prst="wdUpDiag">
                <a:fgClr>
                  <a:schemeClr val="bg1">
                    <a:lumMod val="95000"/>
                  </a:schemeClr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 w="19050" algn="ctr">
                <a:solidFill>
                  <a:schemeClr val="accent2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 dirty="0">
                    <a:latin typeface="Courier New" panose="02070309020205020404" pitchFamily="49" charset="0"/>
                  </a:rPr>
                  <a:t>Block Group 1</a:t>
                </a:r>
              </a:p>
            </p:txBody>
          </p:sp>
          <p:sp>
            <p:nvSpPr>
              <p:cNvPr id="67" name="Rectangle 29" descr="Large checker board"/>
              <p:cNvSpPr>
                <a:spLocks noChangeArrowheads="1"/>
              </p:cNvSpPr>
              <p:nvPr/>
            </p:nvSpPr>
            <p:spPr bwMode="auto">
              <a:xfrm>
                <a:off x="5410200" y="2438400"/>
                <a:ext cx="2209800" cy="838200"/>
              </a:xfrm>
              <a:prstGeom prst="rect">
                <a:avLst/>
              </a:prstGeom>
              <a:pattFill prst="wdUpDiag">
                <a:fgClr>
                  <a:schemeClr val="bg1">
                    <a:lumMod val="95000"/>
                  </a:schemeClr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 w="19050" algn="ctr">
                <a:solidFill>
                  <a:schemeClr val="accent2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latin typeface="Courier New" panose="02070309020205020404" pitchFamily="49" charset="0"/>
                  </a:rPr>
                  <a:t>Block Group 2</a:t>
                </a:r>
              </a:p>
            </p:txBody>
          </p:sp>
          <p:sp>
            <p:nvSpPr>
              <p:cNvPr id="68" name="Rectangle 30" descr="Large checker board"/>
              <p:cNvSpPr>
                <a:spLocks noChangeArrowheads="1"/>
              </p:cNvSpPr>
              <p:nvPr/>
            </p:nvSpPr>
            <p:spPr bwMode="auto">
              <a:xfrm>
                <a:off x="7620000" y="2438400"/>
                <a:ext cx="1066800" cy="838200"/>
              </a:xfrm>
              <a:prstGeom prst="rect">
                <a:avLst/>
              </a:prstGeom>
              <a:pattFill prst="wdUpDiag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9050" algn="ctr">
                <a:solidFill>
                  <a:schemeClr val="accent2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latin typeface="Courier New" panose="02070309020205020404" pitchFamily="49" charset="0"/>
                  </a:rPr>
                  <a:t>...</a:t>
                </a:r>
              </a:p>
            </p:txBody>
          </p:sp>
          <p:sp>
            <p:nvSpPr>
              <p:cNvPr id="69" name="Rectangle 19" descr="Outlined diamond"/>
              <p:cNvSpPr>
                <a:spLocks noChangeArrowheads="1"/>
              </p:cNvSpPr>
              <p:nvPr/>
            </p:nvSpPr>
            <p:spPr bwMode="auto">
              <a:xfrm>
                <a:off x="533400" y="2438400"/>
                <a:ext cx="457200" cy="838200"/>
              </a:xfrm>
              <a:prstGeom prst="rect">
                <a:avLst/>
              </a:prstGeom>
              <a:pattFill prst="openDmnd">
                <a:fgClr>
                  <a:schemeClr val="accent2">
                    <a:lumMod val="20000"/>
                    <a:lumOff val="80000"/>
                  </a:schemeClr>
                </a:fgClr>
                <a:bgClr>
                  <a:srgbClr val="FFFFFF"/>
                </a:bgClr>
              </a:pattFill>
              <a:ln w="19050" algn="ctr">
                <a:solidFill>
                  <a:schemeClr val="accent2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BOOT</a:t>
                </a:r>
                <a:endParaRPr lang="en-US" altLang="en-US" sz="12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70" name="Rectangle 31"/>
              <p:cNvSpPr>
                <a:spLocks noChangeArrowheads="1"/>
              </p:cNvSpPr>
              <p:nvPr/>
            </p:nvSpPr>
            <p:spPr bwMode="auto">
              <a:xfrm>
                <a:off x="457200" y="4038600"/>
                <a:ext cx="990600" cy="8382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20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" name="Rectangle 32"/>
              <p:cNvSpPr>
                <a:spLocks noChangeArrowheads="1"/>
              </p:cNvSpPr>
              <p:nvPr/>
            </p:nvSpPr>
            <p:spPr bwMode="auto">
              <a:xfrm>
                <a:off x="1447800" y="4038600"/>
                <a:ext cx="1676400" cy="8382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lIns="91434" tIns="45717" rIns="91434" bIns="45717" anchor="ctr"/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Group Descriptors</a:t>
                </a:r>
              </a:p>
            </p:txBody>
          </p:sp>
          <p:sp>
            <p:nvSpPr>
              <p:cNvPr id="72" name="Rectangle 33" descr="Dotted diamond"/>
              <p:cNvSpPr>
                <a:spLocks noChangeArrowheads="1"/>
              </p:cNvSpPr>
              <p:nvPr/>
            </p:nvSpPr>
            <p:spPr bwMode="auto">
              <a:xfrm>
                <a:off x="3124200" y="4038600"/>
                <a:ext cx="838200" cy="838200"/>
              </a:xfrm>
              <a:prstGeom prst="rect">
                <a:avLst/>
              </a:prstGeom>
              <a:pattFill prst="dotDmnd">
                <a:fgClr>
                  <a:srgbClr val="000000"/>
                </a:fgClr>
                <a:bgClr>
                  <a:schemeClr val="bg1"/>
                </a:bgClr>
              </a:patt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20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3" name="Rectangle 34" descr="Dotted diamond"/>
              <p:cNvSpPr>
                <a:spLocks noChangeArrowheads="1"/>
              </p:cNvSpPr>
              <p:nvPr/>
            </p:nvSpPr>
            <p:spPr bwMode="auto">
              <a:xfrm>
                <a:off x="3962400" y="4038600"/>
                <a:ext cx="838200" cy="838200"/>
              </a:xfrm>
              <a:prstGeom prst="rect">
                <a:avLst/>
              </a:prstGeom>
              <a:pattFill prst="dotDmnd">
                <a:fgClr>
                  <a:srgbClr val="0033CC"/>
                </a:fgClr>
                <a:bgClr>
                  <a:schemeClr val="bg1"/>
                </a:bgClr>
              </a:patt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20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4" name="Rectangle 35" descr="Light vertical"/>
              <p:cNvSpPr>
                <a:spLocks noChangeArrowheads="1"/>
              </p:cNvSpPr>
              <p:nvPr/>
            </p:nvSpPr>
            <p:spPr bwMode="auto">
              <a:xfrm>
                <a:off x="4800600" y="4038600"/>
                <a:ext cx="1219200" cy="838200"/>
              </a:xfrm>
              <a:prstGeom prst="rect">
                <a:avLst/>
              </a:prstGeom>
              <a:pattFill prst="ltVert">
                <a:fgClr>
                  <a:srgbClr val="00CCFF"/>
                </a:fgClr>
                <a:bgClr>
                  <a:schemeClr val="bg1"/>
                </a:bgClr>
              </a:patt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20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5" name="Rectangle 36"/>
              <p:cNvSpPr>
                <a:spLocks noChangeArrowheads="1"/>
              </p:cNvSpPr>
              <p:nvPr/>
            </p:nvSpPr>
            <p:spPr bwMode="auto">
              <a:xfrm>
                <a:off x="6019800" y="4038600"/>
                <a:ext cx="2438400" cy="8382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>
                    <a:latin typeface="Courier New" panose="02070309020205020404" pitchFamily="49" charset="0"/>
                  </a:rPr>
                  <a:t>Data Blocks</a:t>
                </a:r>
              </a:p>
            </p:txBody>
          </p:sp>
          <p:grpSp>
            <p:nvGrpSpPr>
              <p:cNvPr id="76" name="Group 75"/>
              <p:cNvGrpSpPr/>
              <p:nvPr/>
            </p:nvGrpSpPr>
            <p:grpSpPr>
              <a:xfrm>
                <a:off x="457200" y="3276600"/>
                <a:ext cx="7924800" cy="762000"/>
                <a:chOff x="457200" y="3276600"/>
                <a:chExt cx="7924800" cy="762000"/>
              </a:xfrm>
            </p:grpSpPr>
            <p:sp>
              <p:nvSpPr>
                <p:cNvPr id="77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457200" y="3276600"/>
                  <a:ext cx="533400" cy="76200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prstDash val="sysDot"/>
                  <a:round/>
                  <a:headEnd/>
                  <a:tailEnd type="non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Line 38"/>
                <p:cNvSpPr>
                  <a:spLocks noChangeShapeType="1"/>
                </p:cNvSpPr>
                <p:nvPr/>
              </p:nvSpPr>
              <p:spPr bwMode="auto">
                <a:xfrm>
                  <a:off x="3200400" y="3276600"/>
                  <a:ext cx="5181600" cy="76200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prstDash val="sysDot"/>
                  <a:round/>
                  <a:headEnd/>
                  <a:tailEnd type="non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79" name="Text Box 40"/>
            <p:cNvSpPr txBox="1">
              <a:spLocks noChangeArrowheads="1"/>
            </p:cNvSpPr>
            <p:nvPr/>
          </p:nvSpPr>
          <p:spPr bwMode="auto">
            <a:xfrm>
              <a:off x="4856208" y="2808361"/>
              <a:ext cx="1107984" cy="7078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I-node</a:t>
              </a:r>
              <a:br>
                <a:rPr lang="en-US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</a:br>
              <a:r>
                <a:rPr lang="en-US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Table</a:t>
              </a:r>
            </a:p>
          </p:txBody>
        </p:sp>
        <p:sp>
          <p:nvSpPr>
            <p:cNvPr id="80" name="Text Box 40"/>
            <p:cNvSpPr txBox="1">
              <a:spLocks noChangeArrowheads="1"/>
            </p:cNvSpPr>
            <p:nvPr/>
          </p:nvSpPr>
          <p:spPr bwMode="auto">
            <a:xfrm>
              <a:off x="3866720" y="2817239"/>
              <a:ext cx="1011803" cy="646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I-node</a:t>
              </a:r>
              <a:br>
                <a:rPr lang="en-US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</a:br>
              <a:r>
                <a:rPr lang="en-US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BM</a:t>
              </a:r>
            </a:p>
          </p:txBody>
        </p:sp>
        <p:sp>
          <p:nvSpPr>
            <p:cNvPr id="81" name="Text Box 40"/>
            <p:cNvSpPr txBox="1">
              <a:spLocks noChangeArrowheads="1"/>
            </p:cNvSpPr>
            <p:nvPr/>
          </p:nvSpPr>
          <p:spPr bwMode="auto">
            <a:xfrm>
              <a:off x="3102513" y="2843281"/>
              <a:ext cx="873945" cy="646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Block</a:t>
              </a:r>
              <a:br>
                <a:rPr lang="en-US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</a:br>
              <a:r>
                <a:rPr lang="en-US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BM</a:t>
              </a:r>
            </a:p>
          </p:txBody>
        </p:sp>
        <p:sp>
          <p:nvSpPr>
            <p:cNvPr id="82" name="Text Box 40"/>
            <p:cNvSpPr txBox="1">
              <a:spLocks noChangeArrowheads="1"/>
            </p:cNvSpPr>
            <p:nvPr/>
          </p:nvSpPr>
          <p:spPr bwMode="auto">
            <a:xfrm>
              <a:off x="446600" y="2869916"/>
              <a:ext cx="1011803" cy="646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Super-</a:t>
              </a:r>
              <a:br>
                <a:rPr lang="en-US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</a:br>
              <a:r>
                <a:rPr lang="en-US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Block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897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48000">
              <a:schemeClr val="accent6">
                <a:lumMod val="50000"/>
              </a:schemeClr>
            </a:gs>
            <a:gs pos="100000">
              <a:srgbClr val="695749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51</a:t>
            </a:fld>
            <a:endParaRPr lang="en-US" altLang="en-US"/>
          </a:p>
        </p:txBody>
      </p:sp>
      <p:pic>
        <p:nvPicPr>
          <p:cNvPr id="1026" name="Picture 2" descr="http://img.wonderhowto.com/img/49/60/63538288552022/0/hack-like-pro-digital-forensics-using-kali-part-2-acquiring-hard-drive-image-for-analysis.1280x6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5400"/>
            <a:ext cx="9144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7903613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FAT File System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52</a:t>
            </a:fld>
            <a:endParaRPr lang="en-US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503773" y="2466975"/>
            <a:ext cx="8259227" cy="1876425"/>
            <a:chOff x="424398" y="1400175"/>
            <a:chExt cx="8259227" cy="1876425"/>
          </a:xfrm>
        </p:grpSpPr>
        <p:sp>
          <p:nvSpPr>
            <p:cNvPr id="1129492" name="Rectangle 20" descr="Sphere"/>
            <p:cNvSpPr>
              <a:spLocks noChangeArrowheads="1"/>
            </p:cNvSpPr>
            <p:nvPr/>
          </p:nvSpPr>
          <p:spPr bwMode="auto">
            <a:xfrm>
              <a:off x="3959225" y="1400175"/>
              <a:ext cx="457200" cy="838200"/>
            </a:xfrm>
            <a:prstGeom prst="rect">
              <a:avLst/>
            </a:prstGeom>
            <a:pattFill prst="sphere">
              <a:fgClr>
                <a:srgbClr val="E8FFD1"/>
              </a:fgClr>
              <a:bgClr>
                <a:srgbClr val="FFFFFF"/>
              </a:bgClr>
            </a:pattFill>
            <a:ln w="19050" algn="ctr">
              <a:solidFill>
                <a:srgbClr val="0080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493" name="Rectangle 21" descr="Sphere"/>
            <p:cNvSpPr>
              <a:spLocks noChangeArrowheads="1"/>
            </p:cNvSpPr>
            <p:nvPr/>
          </p:nvSpPr>
          <p:spPr bwMode="auto">
            <a:xfrm>
              <a:off x="4416425" y="1400175"/>
              <a:ext cx="457200" cy="838200"/>
            </a:xfrm>
            <a:prstGeom prst="rect">
              <a:avLst/>
            </a:prstGeom>
            <a:pattFill prst="sphere">
              <a:fgClr>
                <a:srgbClr val="E8FFD1"/>
              </a:fgClr>
              <a:bgClr>
                <a:srgbClr val="FFFFFF"/>
              </a:bgClr>
            </a:pattFill>
            <a:ln w="19050" algn="ctr">
              <a:solidFill>
                <a:srgbClr val="0080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494" name="AutoShape 22"/>
            <p:cNvSpPr>
              <a:spLocks/>
            </p:cNvSpPr>
            <p:nvPr/>
          </p:nvSpPr>
          <p:spPr bwMode="auto">
            <a:xfrm rot="5400000">
              <a:off x="6106318" y="91282"/>
              <a:ext cx="430213" cy="4724400"/>
            </a:xfrm>
            <a:prstGeom prst="rightBrace">
              <a:avLst>
                <a:gd name="adj1" fmla="val 91513"/>
                <a:gd name="adj2" fmla="val 48282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495" name="Text Box 23"/>
            <p:cNvSpPr txBox="1">
              <a:spLocks noChangeArrowheads="1"/>
            </p:cNvSpPr>
            <p:nvPr/>
          </p:nvSpPr>
          <p:spPr bwMode="auto">
            <a:xfrm>
              <a:off x="5635625" y="2695575"/>
              <a:ext cx="1528763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data blocks</a:t>
              </a:r>
            </a:p>
          </p:txBody>
        </p:sp>
        <p:sp>
          <p:nvSpPr>
            <p:cNvPr id="1129496" name="Rectangle 24" descr="Sphere"/>
            <p:cNvSpPr>
              <a:spLocks noChangeArrowheads="1"/>
            </p:cNvSpPr>
            <p:nvPr/>
          </p:nvSpPr>
          <p:spPr bwMode="auto">
            <a:xfrm>
              <a:off x="4873625" y="1400175"/>
              <a:ext cx="3810000" cy="838200"/>
            </a:xfrm>
            <a:prstGeom prst="rect">
              <a:avLst/>
            </a:prstGeom>
            <a:pattFill prst="sphere">
              <a:fgClr>
                <a:srgbClr val="E8FFD1"/>
              </a:fgClr>
              <a:bgClr>
                <a:srgbClr val="FFFFFF"/>
              </a:bgClr>
            </a:pattFill>
            <a:ln w="19050" algn="ctr">
              <a:solidFill>
                <a:srgbClr val="0080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503" name="Rectangle 31"/>
            <p:cNvSpPr>
              <a:spLocks noChangeArrowheads="1"/>
            </p:cNvSpPr>
            <p:nvPr/>
          </p:nvSpPr>
          <p:spPr bwMode="auto">
            <a:xfrm>
              <a:off x="530225" y="1400175"/>
              <a:ext cx="8153400" cy="838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506" name="Rectangle 34" descr="Large checker board"/>
            <p:cNvSpPr>
              <a:spLocks noChangeArrowheads="1"/>
            </p:cNvSpPr>
            <p:nvPr/>
          </p:nvSpPr>
          <p:spPr bwMode="auto">
            <a:xfrm>
              <a:off x="987425" y="1400175"/>
              <a:ext cx="990600" cy="838200"/>
            </a:xfrm>
            <a:prstGeom prst="rect">
              <a:avLst/>
            </a:prstGeom>
            <a:pattFill prst="lgCheck">
              <a:fgClr>
                <a:schemeClr val="accent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FAT</a:t>
              </a:r>
            </a:p>
          </p:txBody>
        </p:sp>
        <p:sp>
          <p:nvSpPr>
            <p:cNvPr id="1129507" name="Rectangle 35" descr="Outlined diamond"/>
            <p:cNvSpPr>
              <a:spLocks noChangeArrowheads="1"/>
            </p:cNvSpPr>
            <p:nvPr/>
          </p:nvSpPr>
          <p:spPr bwMode="auto">
            <a:xfrm>
              <a:off x="1978025" y="1400175"/>
              <a:ext cx="990600" cy="838200"/>
            </a:xfrm>
            <a:prstGeom prst="rect">
              <a:avLst/>
            </a:prstGeom>
            <a:pattFill prst="openDmnd">
              <a:fgClr>
                <a:schemeClr val="accent2">
                  <a:lumMod val="20000"/>
                  <a:lumOff val="80000"/>
                </a:schemeClr>
              </a:fgClr>
              <a:bgClr>
                <a:srgbClr val="FFFFFF"/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FAT</a:t>
              </a:r>
            </a:p>
            <a:p>
              <a:pPr algn="ctr"/>
              <a:r>
                <a:rPr lang="en-US" altLang="en-US" sz="1200" b="1" dirty="0">
                  <a:latin typeface="Courier New" panose="02070309020205020404" pitchFamily="49" charset="0"/>
                </a:rPr>
                <a:t>Duplicate</a:t>
              </a:r>
            </a:p>
          </p:txBody>
        </p:sp>
        <p:sp>
          <p:nvSpPr>
            <p:cNvPr id="1129508" name="Rectangle 36" descr="Dashed upward diagonal"/>
            <p:cNvSpPr>
              <a:spLocks noChangeArrowheads="1"/>
            </p:cNvSpPr>
            <p:nvPr/>
          </p:nvSpPr>
          <p:spPr bwMode="auto">
            <a:xfrm>
              <a:off x="2968625" y="1400175"/>
              <a:ext cx="990600" cy="838200"/>
            </a:xfrm>
            <a:prstGeom prst="rect">
              <a:avLst/>
            </a:prstGeom>
            <a:pattFill prst="dashUpDiag">
              <a:fgClr>
                <a:schemeClr val="accent2">
                  <a:lumMod val="75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509" name="Rectangle 37"/>
            <p:cNvSpPr>
              <a:spLocks noChangeArrowheads="1"/>
            </p:cNvSpPr>
            <p:nvPr/>
          </p:nvSpPr>
          <p:spPr bwMode="auto">
            <a:xfrm>
              <a:off x="530225" y="1400175"/>
              <a:ext cx="457200" cy="838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510" name="Text Box 38"/>
            <p:cNvSpPr txBox="1">
              <a:spLocks noChangeArrowheads="1"/>
            </p:cNvSpPr>
            <p:nvPr/>
          </p:nvSpPr>
          <p:spPr bwMode="auto">
            <a:xfrm>
              <a:off x="424398" y="2695575"/>
              <a:ext cx="678379" cy="338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Boot</a:t>
              </a:r>
            </a:p>
          </p:txBody>
        </p:sp>
        <p:sp>
          <p:nvSpPr>
            <p:cNvPr id="1129511" name="Line 39"/>
            <p:cNvSpPr>
              <a:spLocks noChangeShapeType="1"/>
            </p:cNvSpPr>
            <p:nvPr/>
          </p:nvSpPr>
          <p:spPr bwMode="auto">
            <a:xfrm flipV="1">
              <a:off x="758825" y="1933575"/>
              <a:ext cx="0" cy="838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512" name="Text Box 40"/>
            <p:cNvSpPr txBox="1">
              <a:spLocks noChangeArrowheads="1"/>
            </p:cNvSpPr>
            <p:nvPr/>
          </p:nvSpPr>
          <p:spPr bwMode="auto">
            <a:xfrm>
              <a:off x="2816225" y="2695575"/>
              <a:ext cx="1284288" cy="581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root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directory</a:t>
              </a:r>
            </a:p>
          </p:txBody>
        </p:sp>
        <p:sp>
          <p:nvSpPr>
            <p:cNvPr id="1129513" name="Line 41"/>
            <p:cNvSpPr>
              <a:spLocks noChangeShapeType="1"/>
            </p:cNvSpPr>
            <p:nvPr/>
          </p:nvSpPr>
          <p:spPr bwMode="auto">
            <a:xfrm flipV="1">
              <a:off x="3425825" y="2009775"/>
              <a:ext cx="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514" name="Text Box 42"/>
            <p:cNvSpPr txBox="1">
              <a:spLocks noChangeArrowheads="1"/>
            </p:cNvSpPr>
            <p:nvPr/>
          </p:nvSpPr>
          <p:spPr bwMode="auto">
            <a:xfrm>
              <a:off x="1855788" y="2419350"/>
              <a:ext cx="11620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optional</a:t>
              </a:r>
            </a:p>
          </p:txBody>
        </p:sp>
        <p:sp>
          <p:nvSpPr>
            <p:cNvPr id="1129515" name="Line 43"/>
            <p:cNvSpPr>
              <a:spLocks noChangeShapeType="1"/>
            </p:cNvSpPr>
            <p:nvPr/>
          </p:nvSpPr>
          <p:spPr bwMode="auto">
            <a:xfrm>
              <a:off x="2435225" y="2009775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4725540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Extended-2 File System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53</a:t>
            </a:fld>
            <a:endParaRPr lang="en-US" altLang="en-US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04800" y="1905000"/>
            <a:ext cx="8458200" cy="3810000"/>
            <a:chOff x="228600" y="2438400"/>
            <a:chExt cx="8458200" cy="3810000"/>
          </a:xfrm>
        </p:grpSpPr>
        <p:sp>
          <p:nvSpPr>
            <p:cNvPr id="36" name="Rectangle 31"/>
            <p:cNvSpPr>
              <a:spLocks noChangeArrowheads="1"/>
            </p:cNvSpPr>
            <p:nvPr/>
          </p:nvSpPr>
          <p:spPr bwMode="auto">
            <a:xfrm>
              <a:off x="457200" y="4038600"/>
              <a:ext cx="80010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15"/>
            <p:cNvSpPr>
              <a:spLocks noChangeArrowheads="1"/>
            </p:cNvSpPr>
            <p:nvPr/>
          </p:nvSpPr>
          <p:spPr bwMode="auto">
            <a:xfrm>
              <a:off x="533400" y="2438400"/>
              <a:ext cx="81534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Rectangle 18" descr="Large checker board"/>
            <p:cNvSpPr>
              <a:spLocks noChangeArrowheads="1"/>
            </p:cNvSpPr>
            <p:nvPr/>
          </p:nvSpPr>
          <p:spPr bwMode="auto">
            <a:xfrm>
              <a:off x="990600" y="2438400"/>
              <a:ext cx="2209800" cy="838200"/>
            </a:xfrm>
            <a:prstGeom prst="rect">
              <a:avLst/>
            </a:prstGeom>
            <a:pattFill prst="lgCheck">
              <a:fgClr>
                <a:schemeClr val="accent2">
                  <a:lumMod val="20000"/>
                  <a:lumOff val="80000"/>
                </a:schemeClr>
              </a:fgClr>
              <a:bgClr>
                <a:schemeClr val="accent2">
                  <a:lumMod val="40000"/>
                  <a:lumOff val="60000"/>
                </a:schemeClr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>
                  <a:latin typeface="Courier New" panose="02070309020205020404" pitchFamily="49" charset="0"/>
                </a:rPr>
                <a:t>Block Group 0</a:t>
              </a:r>
            </a:p>
          </p:txBody>
        </p:sp>
        <p:sp>
          <p:nvSpPr>
            <p:cNvPr id="39" name="Rectangle 28" descr="Large checker board"/>
            <p:cNvSpPr>
              <a:spLocks noChangeArrowheads="1"/>
            </p:cNvSpPr>
            <p:nvPr/>
          </p:nvSpPr>
          <p:spPr bwMode="auto">
            <a:xfrm>
              <a:off x="3200400" y="2438400"/>
              <a:ext cx="2209800" cy="838200"/>
            </a:xfrm>
            <a:prstGeom prst="rect">
              <a:avLst/>
            </a:prstGeom>
            <a:pattFill prst="wdUpDiag">
              <a:fgClr>
                <a:schemeClr val="bg1">
                  <a:lumMod val="95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 dirty="0">
                  <a:latin typeface="Courier New" panose="02070309020205020404" pitchFamily="49" charset="0"/>
                </a:rPr>
                <a:t>Block Group 1</a:t>
              </a:r>
            </a:p>
          </p:txBody>
        </p:sp>
        <p:sp>
          <p:nvSpPr>
            <p:cNvPr id="40" name="Rectangle 29" descr="Large checker board"/>
            <p:cNvSpPr>
              <a:spLocks noChangeArrowheads="1"/>
            </p:cNvSpPr>
            <p:nvPr/>
          </p:nvSpPr>
          <p:spPr bwMode="auto">
            <a:xfrm>
              <a:off x="5410200" y="2438400"/>
              <a:ext cx="2209800" cy="838200"/>
            </a:xfrm>
            <a:prstGeom prst="rect">
              <a:avLst/>
            </a:prstGeom>
            <a:pattFill prst="wdUpDiag">
              <a:fgClr>
                <a:schemeClr val="bg1">
                  <a:lumMod val="95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>
                  <a:latin typeface="Courier New" panose="02070309020205020404" pitchFamily="49" charset="0"/>
                </a:rPr>
                <a:t>Block Group 2</a:t>
              </a:r>
            </a:p>
          </p:txBody>
        </p:sp>
        <p:sp>
          <p:nvSpPr>
            <p:cNvPr id="41" name="Rectangle 30" descr="Large checker board"/>
            <p:cNvSpPr>
              <a:spLocks noChangeArrowheads="1"/>
            </p:cNvSpPr>
            <p:nvPr/>
          </p:nvSpPr>
          <p:spPr bwMode="auto">
            <a:xfrm>
              <a:off x="7620000" y="2438400"/>
              <a:ext cx="1066800" cy="838200"/>
            </a:xfrm>
            <a:prstGeom prst="rect">
              <a:avLst/>
            </a:prstGeom>
            <a:pattFill prst="wdUpDiag">
              <a:fgClr>
                <a:schemeClr val="accent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42" name="Rectangle 19" descr="Outlined diamond"/>
            <p:cNvSpPr>
              <a:spLocks noChangeArrowheads="1"/>
            </p:cNvSpPr>
            <p:nvPr/>
          </p:nvSpPr>
          <p:spPr bwMode="auto">
            <a:xfrm>
              <a:off x="533400" y="2438400"/>
              <a:ext cx="457200" cy="838200"/>
            </a:xfrm>
            <a:prstGeom prst="rect">
              <a:avLst/>
            </a:prstGeom>
            <a:pattFill prst="openDmnd">
              <a:fgClr>
                <a:schemeClr val="accent2">
                  <a:lumMod val="20000"/>
                  <a:lumOff val="80000"/>
                </a:schemeClr>
              </a:fgClr>
              <a:bgClr>
                <a:srgbClr val="FFFFFF"/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BOOT</a:t>
              </a:r>
              <a:endParaRPr lang="en-US" altLang="en-US" sz="1200" b="1" dirty="0">
                <a:latin typeface="Courier New" panose="02070309020205020404" pitchFamily="49" charset="0"/>
              </a:endParaRPr>
            </a:p>
          </p:txBody>
        </p:sp>
        <p:sp>
          <p:nvSpPr>
            <p:cNvPr id="43" name="Rectangle 31"/>
            <p:cNvSpPr>
              <a:spLocks noChangeArrowheads="1"/>
            </p:cNvSpPr>
            <p:nvPr/>
          </p:nvSpPr>
          <p:spPr bwMode="auto">
            <a:xfrm>
              <a:off x="457200" y="4038600"/>
              <a:ext cx="990600" cy="838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44" name="Rectangle 32"/>
            <p:cNvSpPr>
              <a:spLocks noChangeArrowheads="1"/>
            </p:cNvSpPr>
            <p:nvPr/>
          </p:nvSpPr>
          <p:spPr bwMode="auto">
            <a:xfrm>
              <a:off x="1447800" y="4038600"/>
              <a:ext cx="1676400" cy="8382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lIns="91434" tIns="45717" rIns="91434" bIns="45717"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Group Descriptors</a:t>
              </a:r>
            </a:p>
          </p:txBody>
        </p:sp>
        <p:sp>
          <p:nvSpPr>
            <p:cNvPr id="45" name="Rectangle 33" descr="Dotted diamond"/>
            <p:cNvSpPr>
              <a:spLocks noChangeArrowheads="1"/>
            </p:cNvSpPr>
            <p:nvPr/>
          </p:nvSpPr>
          <p:spPr bwMode="auto">
            <a:xfrm>
              <a:off x="3124200" y="4038600"/>
              <a:ext cx="838200" cy="838200"/>
            </a:xfrm>
            <a:prstGeom prst="rect">
              <a:avLst/>
            </a:prstGeom>
            <a:pattFill prst="dotDmnd">
              <a:fgClr>
                <a:srgbClr val="000000"/>
              </a:fgClr>
              <a:bgClr>
                <a:schemeClr val="bg1"/>
              </a:bgClr>
            </a:patt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46" name="Rectangle 34" descr="Dotted diamond"/>
            <p:cNvSpPr>
              <a:spLocks noChangeArrowheads="1"/>
            </p:cNvSpPr>
            <p:nvPr/>
          </p:nvSpPr>
          <p:spPr bwMode="auto">
            <a:xfrm>
              <a:off x="3962400" y="4038600"/>
              <a:ext cx="838200" cy="838200"/>
            </a:xfrm>
            <a:prstGeom prst="rect">
              <a:avLst/>
            </a:prstGeom>
            <a:pattFill prst="dotDmnd">
              <a:fgClr>
                <a:srgbClr val="0033CC"/>
              </a:fgClr>
              <a:bgClr>
                <a:schemeClr val="bg1"/>
              </a:bgClr>
            </a:patt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47" name="Rectangle 35" descr="Light vertical"/>
            <p:cNvSpPr>
              <a:spLocks noChangeArrowheads="1"/>
            </p:cNvSpPr>
            <p:nvPr/>
          </p:nvSpPr>
          <p:spPr bwMode="auto">
            <a:xfrm>
              <a:off x="4800600" y="4038600"/>
              <a:ext cx="1219200" cy="838200"/>
            </a:xfrm>
            <a:prstGeom prst="rect">
              <a:avLst/>
            </a:prstGeom>
            <a:pattFill prst="ltVert">
              <a:fgClr>
                <a:srgbClr val="00CCFF"/>
              </a:fgClr>
              <a:bgClr>
                <a:schemeClr val="bg1"/>
              </a:bgClr>
            </a:patt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48" name="Rectangle 36"/>
            <p:cNvSpPr>
              <a:spLocks noChangeArrowheads="1"/>
            </p:cNvSpPr>
            <p:nvPr/>
          </p:nvSpPr>
          <p:spPr bwMode="auto">
            <a:xfrm>
              <a:off x="6019800" y="4038600"/>
              <a:ext cx="2438400" cy="8382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>
                  <a:latin typeface="Courier New" panose="02070309020205020404" pitchFamily="49" charset="0"/>
                </a:rPr>
                <a:t>Data Blocks</a:t>
              </a:r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457200" y="3276600"/>
              <a:ext cx="7924800" cy="762000"/>
              <a:chOff x="457200" y="3276600"/>
              <a:chExt cx="7924800" cy="762000"/>
            </a:xfrm>
          </p:grpSpPr>
          <p:sp>
            <p:nvSpPr>
              <p:cNvPr id="50" name="Line 37"/>
              <p:cNvSpPr>
                <a:spLocks noChangeShapeType="1"/>
              </p:cNvSpPr>
              <p:nvPr/>
            </p:nvSpPr>
            <p:spPr bwMode="auto">
              <a:xfrm flipH="1">
                <a:off x="457200" y="3276600"/>
                <a:ext cx="533400" cy="76200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sysDot"/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Line 38"/>
              <p:cNvSpPr>
                <a:spLocks noChangeShapeType="1"/>
              </p:cNvSpPr>
              <p:nvPr/>
            </p:nvSpPr>
            <p:spPr bwMode="auto">
              <a:xfrm>
                <a:off x="3200400" y="3276600"/>
                <a:ext cx="5181600" cy="76200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sysDot"/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2" name="AutoShape 39"/>
            <p:cNvSpPr>
              <a:spLocks/>
            </p:cNvSpPr>
            <p:nvPr/>
          </p:nvSpPr>
          <p:spPr bwMode="auto">
            <a:xfrm>
              <a:off x="228600" y="5334000"/>
              <a:ext cx="914400" cy="609600"/>
            </a:xfrm>
            <a:prstGeom prst="accentCallout2">
              <a:avLst>
                <a:gd name="adj1" fmla="val 18750"/>
                <a:gd name="adj2" fmla="val 108333"/>
                <a:gd name="adj3" fmla="val 18750"/>
                <a:gd name="adj4" fmla="val 112500"/>
                <a:gd name="adj5" fmla="val -93750"/>
                <a:gd name="adj6" fmla="val 1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/>
              <a:r>
                <a:rPr lang="en-US" altLang="en-US"/>
                <a:t>Super-Block</a:t>
              </a:r>
            </a:p>
          </p:txBody>
        </p:sp>
        <p:sp>
          <p:nvSpPr>
            <p:cNvPr id="53" name="AutoShape 40"/>
            <p:cNvSpPr>
              <a:spLocks/>
            </p:cNvSpPr>
            <p:nvPr/>
          </p:nvSpPr>
          <p:spPr bwMode="auto">
            <a:xfrm>
              <a:off x="2057400" y="5029200"/>
              <a:ext cx="914400" cy="609600"/>
            </a:xfrm>
            <a:prstGeom prst="accentCallout2">
              <a:avLst>
                <a:gd name="adj1" fmla="val 18750"/>
                <a:gd name="adj2" fmla="val 108333"/>
                <a:gd name="adj3" fmla="val 18750"/>
                <a:gd name="adj4" fmla="val 138194"/>
                <a:gd name="adj5" fmla="val -51824"/>
                <a:gd name="adj6" fmla="val 16805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/>
              <a:r>
                <a:rPr lang="en-US" altLang="en-US"/>
                <a:t>Block Bitmap</a:t>
              </a:r>
            </a:p>
          </p:txBody>
        </p:sp>
        <p:sp>
          <p:nvSpPr>
            <p:cNvPr id="54" name="AutoShape 41"/>
            <p:cNvSpPr>
              <a:spLocks/>
            </p:cNvSpPr>
            <p:nvPr/>
          </p:nvSpPr>
          <p:spPr bwMode="auto">
            <a:xfrm>
              <a:off x="3048000" y="5638800"/>
              <a:ext cx="914400" cy="609600"/>
            </a:xfrm>
            <a:prstGeom prst="accentCallout2">
              <a:avLst>
                <a:gd name="adj1" fmla="val 18750"/>
                <a:gd name="adj2" fmla="val 108333"/>
                <a:gd name="adj3" fmla="val 18750"/>
                <a:gd name="adj4" fmla="val 140801"/>
                <a:gd name="adj5" fmla="val -146093"/>
                <a:gd name="adj6" fmla="val 17344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/>
              <a:r>
                <a:rPr lang="en-US" altLang="en-US" dirty="0"/>
                <a:t>I-node</a:t>
              </a:r>
            </a:p>
            <a:p>
              <a:pPr algn="r"/>
              <a:r>
                <a:rPr lang="en-US" altLang="en-US" dirty="0"/>
                <a:t>Bitmap</a:t>
              </a:r>
            </a:p>
          </p:txBody>
        </p:sp>
        <p:sp>
          <p:nvSpPr>
            <p:cNvPr id="55" name="AutoShape 42"/>
            <p:cNvSpPr>
              <a:spLocks/>
            </p:cNvSpPr>
            <p:nvPr/>
          </p:nvSpPr>
          <p:spPr bwMode="auto">
            <a:xfrm flipH="1">
              <a:off x="5943600" y="5638800"/>
              <a:ext cx="990600" cy="609600"/>
            </a:xfrm>
            <a:prstGeom prst="accentCallout2">
              <a:avLst>
                <a:gd name="adj1" fmla="val 18750"/>
                <a:gd name="adj2" fmla="val 107690"/>
                <a:gd name="adj3" fmla="val 18750"/>
                <a:gd name="adj4" fmla="val 119870"/>
                <a:gd name="adj5" fmla="val -146875"/>
                <a:gd name="adj6" fmla="val 132051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en-US"/>
                <a:t>I-node</a:t>
              </a:r>
            </a:p>
            <a:p>
              <a:r>
                <a:rPr lang="en-US" altLang="en-US"/>
                <a:t>Table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183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Task in Ext2: </a:t>
            </a:r>
            <a:r>
              <a:rPr lang="en-US" b="1" dirty="0">
                <a:solidFill>
                  <a:srgbClr val="C00000"/>
                </a:solidFill>
              </a:rPr>
              <a:t>File Delete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54</a:t>
            </a:fld>
            <a:endParaRPr lang="en-US" altLang="en-US"/>
          </a:p>
        </p:txBody>
      </p:sp>
      <p:grpSp>
        <p:nvGrpSpPr>
          <p:cNvPr id="15" name="Group 14"/>
          <p:cNvGrpSpPr/>
          <p:nvPr/>
        </p:nvGrpSpPr>
        <p:grpSpPr>
          <a:xfrm>
            <a:off x="571500" y="1116013"/>
            <a:ext cx="8156664" cy="5486400"/>
            <a:chOff x="571500" y="1116013"/>
            <a:chExt cx="8156664" cy="5486400"/>
          </a:xfrm>
        </p:grpSpPr>
        <p:grpSp>
          <p:nvGrpSpPr>
            <p:cNvPr id="16" name="Group 15"/>
            <p:cNvGrpSpPr/>
            <p:nvPr/>
          </p:nvGrpSpPr>
          <p:grpSpPr>
            <a:xfrm>
              <a:off x="6362700" y="3249613"/>
              <a:ext cx="2362200" cy="1555750"/>
              <a:chOff x="6400800" y="3200400"/>
              <a:chExt cx="2362200" cy="1555750"/>
            </a:xfrm>
          </p:grpSpPr>
          <p:sp>
            <p:nvSpPr>
              <p:cNvPr id="90" name="Rectangle 70"/>
              <p:cNvSpPr>
                <a:spLocks noChangeArrowheads="1"/>
              </p:cNvSpPr>
              <p:nvPr/>
            </p:nvSpPr>
            <p:spPr bwMode="auto">
              <a:xfrm>
                <a:off x="6400800" y="3200400"/>
                <a:ext cx="2362200" cy="1219200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accent4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b="1">
                  <a:solidFill>
                    <a:srgbClr val="008000"/>
                  </a:solidFill>
                </a:endParaRPr>
              </a:p>
            </p:txBody>
          </p:sp>
          <p:sp>
            <p:nvSpPr>
              <p:cNvPr id="91" name="Text Box 107"/>
              <p:cNvSpPr txBox="1">
                <a:spLocks noChangeArrowheads="1"/>
              </p:cNvSpPr>
              <p:nvPr/>
            </p:nvSpPr>
            <p:spPr bwMode="auto">
              <a:xfrm>
                <a:off x="6781800" y="4419600"/>
                <a:ext cx="1828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 dirty="0"/>
                  <a:t>Disk Block </a:t>
                </a:r>
                <a:r>
                  <a:rPr lang="en-US" altLang="en-US" sz="1600" b="1" dirty="0"/>
                  <a:t>20</a:t>
                </a: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6362700" y="1420813"/>
              <a:ext cx="2362200" cy="1555750"/>
              <a:chOff x="6400800" y="1371600"/>
              <a:chExt cx="2362200" cy="1555750"/>
            </a:xfrm>
          </p:grpSpPr>
          <p:sp>
            <p:nvSpPr>
              <p:cNvPr id="88" name="Rectangle 22"/>
              <p:cNvSpPr>
                <a:spLocks noChangeArrowheads="1"/>
              </p:cNvSpPr>
              <p:nvPr/>
            </p:nvSpPr>
            <p:spPr bwMode="auto">
              <a:xfrm>
                <a:off x="6400800" y="1371600"/>
                <a:ext cx="2362200" cy="1219200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accent2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b="1">
                  <a:solidFill>
                    <a:srgbClr val="008000"/>
                  </a:solidFill>
                </a:endParaRPr>
              </a:p>
            </p:txBody>
          </p:sp>
          <p:sp>
            <p:nvSpPr>
              <p:cNvPr id="89" name="Text Box 60"/>
              <p:cNvSpPr txBox="1">
                <a:spLocks noChangeArrowheads="1"/>
              </p:cNvSpPr>
              <p:nvPr/>
            </p:nvSpPr>
            <p:spPr bwMode="auto">
              <a:xfrm>
                <a:off x="6781800" y="2590800"/>
                <a:ext cx="1828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 dirty="0"/>
                  <a:t>Disk Block </a:t>
                </a:r>
                <a:r>
                  <a:rPr lang="en-US" altLang="en-US" sz="1600" b="1" dirty="0">
                    <a:solidFill>
                      <a:srgbClr val="C00000"/>
                    </a:solidFill>
                  </a:rPr>
                  <a:t>15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3467100" y="1116013"/>
              <a:ext cx="1295400" cy="1784350"/>
              <a:chOff x="3505200" y="1066800"/>
              <a:chExt cx="1295400" cy="1784350"/>
            </a:xfrm>
          </p:grpSpPr>
          <p:sp>
            <p:nvSpPr>
              <p:cNvPr id="86" name="Rectangle 4"/>
              <p:cNvSpPr>
                <a:spLocks noChangeArrowheads="1"/>
              </p:cNvSpPr>
              <p:nvPr/>
            </p:nvSpPr>
            <p:spPr bwMode="auto">
              <a:xfrm>
                <a:off x="3505200" y="1066800"/>
                <a:ext cx="1295400" cy="14795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 algn="ctr">
                <a:solidFill>
                  <a:schemeClr val="accent2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b="1" dirty="0">
                    <a:latin typeface="Courier New" panose="02070309020205020404" pitchFamily="49" charset="0"/>
                  </a:rPr>
                  <a:t>File Metadata</a:t>
                </a:r>
              </a:p>
              <a:p>
                <a:pPr algn="ctr"/>
                <a:endParaRPr lang="en-US" altLang="en-US" b="1" dirty="0">
                  <a:latin typeface="Courier New" panose="02070309020205020404" pitchFamily="49" charset="0"/>
                </a:endParaRPr>
              </a:p>
              <a:p>
                <a:pPr algn="ctr"/>
                <a:endParaRPr lang="en-US" altLang="en-US" b="1" dirty="0">
                  <a:latin typeface="Courier New" panose="02070309020205020404" pitchFamily="49" charset="0"/>
                </a:endParaRPr>
              </a:p>
              <a:p>
                <a:pPr algn="ctr"/>
                <a:endParaRPr lang="en-US" altLang="en-US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7" name="Text Box 47"/>
              <p:cNvSpPr txBox="1">
                <a:spLocks noChangeArrowheads="1"/>
              </p:cNvSpPr>
              <p:nvPr/>
            </p:nvSpPr>
            <p:spPr bwMode="auto">
              <a:xfrm>
                <a:off x="3657600" y="2514600"/>
                <a:ext cx="914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 dirty="0"/>
                  <a:t>I-Node</a:t>
                </a: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6365964" y="1420813"/>
              <a:ext cx="2362200" cy="914400"/>
              <a:chOff x="6477000" y="1371600"/>
              <a:chExt cx="2362200" cy="914400"/>
            </a:xfrm>
          </p:grpSpPr>
          <p:grpSp>
            <p:nvGrpSpPr>
              <p:cNvPr id="76" name="Group 55"/>
              <p:cNvGrpSpPr>
                <a:grpSpLocks/>
              </p:cNvGrpSpPr>
              <p:nvPr/>
            </p:nvGrpSpPr>
            <p:grpSpPr bwMode="auto">
              <a:xfrm>
                <a:off x="6477000" y="1371600"/>
                <a:ext cx="2209800" cy="304800"/>
                <a:chOff x="2688" y="3264"/>
                <a:chExt cx="1392" cy="240"/>
              </a:xfrm>
            </p:grpSpPr>
            <p:sp>
              <p:nvSpPr>
                <p:cNvPr id="80" name="Rectangle 49"/>
                <p:cNvSpPr>
                  <a:spLocks noChangeArrowheads="1"/>
                </p:cNvSpPr>
                <p:nvPr/>
              </p:nvSpPr>
              <p:spPr bwMode="auto">
                <a:xfrm>
                  <a:off x="2688" y="3264"/>
                  <a:ext cx="1392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Rectangle 50"/>
                <p:cNvSpPr>
                  <a:spLocks noChangeArrowheads="1"/>
                </p:cNvSpPr>
                <p:nvPr/>
              </p:nvSpPr>
              <p:spPr bwMode="auto">
                <a:xfrm>
                  <a:off x="2688" y="3264"/>
                  <a:ext cx="279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8</a:t>
                  </a:r>
                </a:p>
              </p:txBody>
            </p:sp>
            <p:sp>
              <p:nvSpPr>
                <p:cNvPr id="82" name="Rectangle 51"/>
                <p:cNvSpPr>
                  <a:spLocks noChangeArrowheads="1"/>
                </p:cNvSpPr>
                <p:nvPr/>
              </p:nvSpPr>
              <p:spPr bwMode="auto">
                <a:xfrm>
                  <a:off x="2967" y="3264"/>
                  <a:ext cx="14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83" name="Rectangle 52"/>
                <p:cNvSpPr>
                  <a:spLocks noChangeArrowheads="1"/>
                </p:cNvSpPr>
                <p:nvPr/>
              </p:nvSpPr>
              <p:spPr bwMode="auto">
                <a:xfrm>
                  <a:off x="3107" y="3264"/>
                  <a:ext cx="279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D</a:t>
                  </a:r>
                </a:p>
              </p:txBody>
            </p:sp>
            <p:sp>
              <p:nvSpPr>
                <p:cNvPr id="84" name="Rectangle 53"/>
                <p:cNvSpPr>
                  <a:spLocks noChangeArrowheads="1"/>
                </p:cNvSpPr>
                <p:nvPr/>
              </p:nvSpPr>
              <p:spPr bwMode="auto">
                <a:xfrm>
                  <a:off x="3386" y="3264"/>
                  <a:ext cx="279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3</a:t>
                  </a:r>
                </a:p>
              </p:txBody>
            </p:sp>
            <p:sp>
              <p:nvSpPr>
                <p:cNvPr id="85" name="Rectangle 54"/>
                <p:cNvSpPr>
                  <a:spLocks noChangeArrowheads="1"/>
                </p:cNvSpPr>
                <p:nvPr/>
              </p:nvSpPr>
              <p:spPr bwMode="auto">
                <a:xfrm>
                  <a:off x="3665" y="3264"/>
                  <a:ext cx="415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sub</a:t>
                  </a:r>
                </a:p>
              </p:txBody>
            </p:sp>
          </p:grpSp>
          <p:sp>
            <p:nvSpPr>
              <p:cNvPr id="77" name="Line 56"/>
              <p:cNvSpPr>
                <a:spLocks noChangeShapeType="1"/>
              </p:cNvSpPr>
              <p:nvPr/>
            </p:nvSpPr>
            <p:spPr bwMode="auto">
              <a:xfrm>
                <a:off x="8686800" y="1676400"/>
                <a:ext cx="15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Line 57"/>
              <p:cNvSpPr>
                <a:spLocks noChangeShapeType="1"/>
              </p:cNvSpPr>
              <p:nvPr/>
            </p:nvSpPr>
            <p:spPr bwMode="auto">
              <a:xfrm>
                <a:off x="6477000" y="1981200"/>
                <a:ext cx="2362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Line 58"/>
              <p:cNvSpPr>
                <a:spLocks noChangeShapeType="1"/>
              </p:cNvSpPr>
              <p:nvPr/>
            </p:nvSpPr>
            <p:spPr bwMode="auto">
              <a:xfrm>
                <a:off x="6477000" y="2286000"/>
                <a:ext cx="2362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6362700" y="3249613"/>
              <a:ext cx="2362200" cy="914400"/>
              <a:chOff x="6400800" y="3200400"/>
              <a:chExt cx="2362200" cy="914400"/>
            </a:xfrm>
          </p:grpSpPr>
          <p:grpSp>
            <p:nvGrpSpPr>
              <p:cNvPr id="62" name="Group 71"/>
              <p:cNvGrpSpPr>
                <a:grpSpLocks/>
              </p:cNvGrpSpPr>
              <p:nvPr/>
            </p:nvGrpSpPr>
            <p:grpSpPr bwMode="auto">
              <a:xfrm>
                <a:off x="6400800" y="3810000"/>
                <a:ext cx="2362200" cy="304800"/>
                <a:chOff x="2688" y="3264"/>
                <a:chExt cx="1392" cy="240"/>
              </a:xfrm>
            </p:grpSpPr>
            <p:sp>
              <p:nvSpPr>
                <p:cNvPr id="70" name="Rectangle 72"/>
                <p:cNvSpPr>
                  <a:spLocks noChangeArrowheads="1"/>
                </p:cNvSpPr>
                <p:nvPr/>
              </p:nvSpPr>
              <p:spPr bwMode="auto">
                <a:xfrm>
                  <a:off x="2688" y="3264"/>
                  <a:ext cx="1392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Rectangle 73"/>
                <p:cNvSpPr>
                  <a:spLocks noChangeArrowheads="1"/>
                </p:cNvSpPr>
                <p:nvPr/>
              </p:nvSpPr>
              <p:spPr bwMode="auto">
                <a:xfrm>
                  <a:off x="2688" y="3264"/>
                  <a:ext cx="279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6</a:t>
                  </a:r>
                </a:p>
              </p:txBody>
            </p:sp>
            <p:sp>
              <p:nvSpPr>
                <p:cNvPr id="72" name="Rectangle 74"/>
                <p:cNvSpPr>
                  <a:spLocks noChangeArrowheads="1"/>
                </p:cNvSpPr>
                <p:nvPr/>
              </p:nvSpPr>
              <p:spPr bwMode="auto">
                <a:xfrm>
                  <a:off x="2967" y="3264"/>
                  <a:ext cx="14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73" name="Rectangle 75"/>
                <p:cNvSpPr>
                  <a:spLocks noChangeArrowheads="1"/>
                </p:cNvSpPr>
                <p:nvPr/>
              </p:nvSpPr>
              <p:spPr bwMode="auto">
                <a:xfrm>
                  <a:off x="3107" y="3264"/>
                  <a:ext cx="279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F</a:t>
                  </a:r>
                </a:p>
              </p:txBody>
            </p:sp>
            <p:sp>
              <p:nvSpPr>
                <p:cNvPr id="74" name="Rectangle 76"/>
                <p:cNvSpPr>
                  <a:spLocks noChangeArrowheads="1"/>
                </p:cNvSpPr>
                <p:nvPr/>
              </p:nvSpPr>
              <p:spPr bwMode="auto">
                <a:xfrm>
                  <a:off x="3386" y="3264"/>
                  <a:ext cx="279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4</a:t>
                  </a:r>
                </a:p>
              </p:txBody>
            </p:sp>
            <p:sp>
              <p:nvSpPr>
                <p:cNvPr id="75" name="Rectangle 77"/>
                <p:cNvSpPr>
                  <a:spLocks noChangeArrowheads="1"/>
                </p:cNvSpPr>
                <p:nvPr/>
              </p:nvSpPr>
              <p:spPr bwMode="auto">
                <a:xfrm>
                  <a:off x="3665" y="3264"/>
                  <a:ext cx="415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file</a:t>
                  </a:r>
                </a:p>
              </p:txBody>
            </p:sp>
          </p:grpSp>
          <p:sp>
            <p:nvSpPr>
              <p:cNvPr id="63" name="Line 78"/>
              <p:cNvSpPr>
                <a:spLocks noChangeShapeType="1"/>
              </p:cNvSpPr>
              <p:nvPr/>
            </p:nvSpPr>
            <p:spPr bwMode="auto">
              <a:xfrm>
                <a:off x="6400800" y="3505200"/>
                <a:ext cx="2362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Line 79"/>
              <p:cNvSpPr>
                <a:spLocks noChangeShapeType="1"/>
              </p:cNvSpPr>
              <p:nvPr/>
            </p:nvSpPr>
            <p:spPr bwMode="auto">
              <a:xfrm>
                <a:off x="6400800" y="3810000"/>
                <a:ext cx="2362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Rectangle 82"/>
              <p:cNvSpPr>
                <a:spLocks noChangeArrowheads="1"/>
              </p:cNvSpPr>
              <p:nvPr/>
            </p:nvSpPr>
            <p:spPr bwMode="auto">
              <a:xfrm>
                <a:off x="6400800" y="3200400"/>
                <a:ext cx="1143000" cy="3048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" name="Rectangle 88"/>
              <p:cNvSpPr>
                <a:spLocks noChangeArrowheads="1"/>
              </p:cNvSpPr>
              <p:nvPr/>
            </p:nvSpPr>
            <p:spPr bwMode="auto">
              <a:xfrm>
                <a:off x="7543800" y="3200400"/>
                <a:ext cx="990600" cy="3048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" name="Rectangle 89"/>
              <p:cNvSpPr>
                <a:spLocks noChangeArrowheads="1"/>
              </p:cNvSpPr>
              <p:nvPr/>
            </p:nvSpPr>
            <p:spPr bwMode="auto">
              <a:xfrm>
                <a:off x="6400800" y="3505200"/>
                <a:ext cx="1981200" cy="3048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" name="Rectangle 90"/>
              <p:cNvSpPr>
                <a:spLocks noChangeArrowheads="1"/>
              </p:cNvSpPr>
              <p:nvPr/>
            </p:nvSpPr>
            <p:spPr bwMode="auto">
              <a:xfrm>
                <a:off x="8382000" y="3505200"/>
                <a:ext cx="381000" cy="3048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Rectangle 91"/>
              <p:cNvSpPr>
                <a:spLocks noChangeArrowheads="1"/>
              </p:cNvSpPr>
              <p:nvPr/>
            </p:nvSpPr>
            <p:spPr bwMode="auto">
              <a:xfrm>
                <a:off x="8077200" y="3200400"/>
                <a:ext cx="685800" cy="3048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6362700" y="4926013"/>
              <a:ext cx="2362200" cy="1555750"/>
              <a:chOff x="6400800" y="4876800"/>
              <a:chExt cx="2362200" cy="1555750"/>
            </a:xfrm>
          </p:grpSpPr>
          <p:sp>
            <p:nvSpPr>
              <p:cNvPr id="60" name="Rectangle 92"/>
              <p:cNvSpPr>
                <a:spLocks noChangeArrowheads="1"/>
              </p:cNvSpPr>
              <p:nvPr/>
            </p:nvSpPr>
            <p:spPr bwMode="auto">
              <a:xfrm>
                <a:off x="6400800" y="4876800"/>
                <a:ext cx="2362200" cy="12192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 algn="ctr">
                <a:solidFill>
                  <a:srgbClr val="660066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b="1">
                    <a:solidFill>
                      <a:schemeClr val="tx2"/>
                    </a:solidFill>
                  </a:rPr>
                  <a:t>Actual Data</a:t>
                </a:r>
              </a:p>
            </p:txBody>
          </p:sp>
          <p:sp>
            <p:nvSpPr>
              <p:cNvPr id="61" name="Text Box 108"/>
              <p:cNvSpPr txBox="1">
                <a:spLocks noChangeArrowheads="1"/>
              </p:cNvSpPr>
              <p:nvPr/>
            </p:nvSpPr>
            <p:spPr bwMode="auto">
              <a:xfrm>
                <a:off x="6705600" y="6096000"/>
                <a:ext cx="1828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 dirty="0"/>
                  <a:t>Disk Block </a:t>
                </a:r>
                <a:r>
                  <a:rPr lang="en-US" altLang="en-US" sz="1600" b="1" dirty="0"/>
                  <a:t>23</a:t>
                </a:r>
              </a:p>
            </p:txBody>
          </p:sp>
        </p:grpSp>
        <p:sp>
          <p:nvSpPr>
            <p:cNvPr id="22" name="AutoShape 110"/>
            <p:cNvSpPr>
              <a:spLocks noChangeArrowheads="1"/>
            </p:cNvSpPr>
            <p:nvPr/>
          </p:nvSpPr>
          <p:spPr bwMode="auto">
            <a:xfrm>
              <a:off x="1699305" y="1739464"/>
              <a:ext cx="1524000" cy="228600"/>
            </a:xfrm>
            <a:prstGeom prst="rightArrow">
              <a:avLst>
                <a:gd name="adj1" fmla="val 50000"/>
                <a:gd name="adj2" fmla="val 166667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AutoShape 111"/>
            <p:cNvSpPr>
              <a:spLocks noChangeArrowheads="1"/>
            </p:cNvSpPr>
            <p:nvPr/>
          </p:nvSpPr>
          <p:spPr bwMode="auto">
            <a:xfrm rot="567240">
              <a:off x="1782275" y="3404128"/>
              <a:ext cx="1524000" cy="228600"/>
            </a:xfrm>
            <a:prstGeom prst="rightArrow">
              <a:avLst>
                <a:gd name="adj1" fmla="val 50000"/>
                <a:gd name="adj2" fmla="val 16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AutoShape 112"/>
            <p:cNvSpPr>
              <a:spLocks noChangeArrowheads="1"/>
            </p:cNvSpPr>
            <p:nvPr/>
          </p:nvSpPr>
          <p:spPr bwMode="auto">
            <a:xfrm rot="2377985">
              <a:off x="1571522" y="4701902"/>
              <a:ext cx="1947863" cy="257175"/>
            </a:xfrm>
            <a:prstGeom prst="rightArrow">
              <a:avLst>
                <a:gd name="adj1" fmla="val 50000"/>
                <a:gd name="adj2" fmla="val 189352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571500" y="1268413"/>
              <a:ext cx="1447800" cy="3994150"/>
              <a:chOff x="457200" y="1066800"/>
              <a:chExt cx="1447800" cy="3994150"/>
            </a:xfrm>
          </p:grpSpPr>
          <p:sp>
            <p:nvSpPr>
              <p:cNvPr id="42" name="Rectangle 25"/>
              <p:cNvSpPr>
                <a:spLocks noChangeArrowheads="1"/>
              </p:cNvSpPr>
              <p:nvPr/>
            </p:nvSpPr>
            <p:spPr bwMode="auto">
              <a:xfrm>
                <a:off x="990600" y="1066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Text Box 26"/>
              <p:cNvSpPr txBox="1">
                <a:spLocks noChangeArrowheads="1"/>
              </p:cNvSpPr>
              <p:nvPr/>
            </p:nvSpPr>
            <p:spPr bwMode="auto">
              <a:xfrm>
                <a:off x="681038" y="1066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44" name="Rectangle 27"/>
              <p:cNvSpPr>
                <a:spLocks noChangeArrowheads="1"/>
              </p:cNvSpPr>
              <p:nvPr/>
            </p:nvSpPr>
            <p:spPr bwMode="auto">
              <a:xfrm>
                <a:off x="990600" y="1447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Text Box 28"/>
              <p:cNvSpPr txBox="1">
                <a:spLocks noChangeArrowheads="1"/>
              </p:cNvSpPr>
              <p:nvPr/>
            </p:nvSpPr>
            <p:spPr bwMode="auto">
              <a:xfrm>
                <a:off x="681038" y="1447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46" name="Rectangle 29"/>
              <p:cNvSpPr>
                <a:spLocks noChangeArrowheads="1"/>
              </p:cNvSpPr>
              <p:nvPr/>
            </p:nvSpPr>
            <p:spPr bwMode="auto">
              <a:xfrm>
                <a:off x="990600" y="1828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" name="Text Box 30"/>
              <p:cNvSpPr txBox="1">
                <a:spLocks noChangeArrowheads="1"/>
              </p:cNvSpPr>
              <p:nvPr/>
            </p:nvSpPr>
            <p:spPr bwMode="auto">
              <a:xfrm>
                <a:off x="681038" y="1828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48" name="Rectangle 31"/>
              <p:cNvSpPr>
                <a:spLocks noChangeArrowheads="1"/>
              </p:cNvSpPr>
              <p:nvPr/>
            </p:nvSpPr>
            <p:spPr bwMode="auto">
              <a:xfrm>
                <a:off x="990600" y="2209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Text Box 32"/>
              <p:cNvSpPr txBox="1">
                <a:spLocks noChangeArrowheads="1"/>
              </p:cNvSpPr>
              <p:nvPr/>
            </p:nvSpPr>
            <p:spPr bwMode="auto">
              <a:xfrm>
                <a:off x="681038" y="2209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50" name="Rectangle 33"/>
              <p:cNvSpPr>
                <a:spLocks noChangeArrowheads="1"/>
              </p:cNvSpPr>
              <p:nvPr/>
            </p:nvSpPr>
            <p:spPr bwMode="auto">
              <a:xfrm>
                <a:off x="990600" y="2590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Text Box 34"/>
              <p:cNvSpPr txBox="1">
                <a:spLocks noChangeArrowheads="1"/>
              </p:cNvSpPr>
              <p:nvPr/>
            </p:nvSpPr>
            <p:spPr bwMode="auto">
              <a:xfrm>
                <a:off x="681038" y="2590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52" name="Rectangle 35"/>
              <p:cNvSpPr>
                <a:spLocks noChangeArrowheads="1"/>
              </p:cNvSpPr>
              <p:nvPr/>
            </p:nvSpPr>
            <p:spPr bwMode="auto">
              <a:xfrm>
                <a:off x="990600" y="2971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Text Box 36"/>
              <p:cNvSpPr txBox="1">
                <a:spLocks noChangeArrowheads="1"/>
              </p:cNvSpPr>
              <p:nvPr/>
            </p:nvSpPr>
            <p:spPr bwMode="auto">
              <a:xfrm>
                <a:off x="681038" y="2971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6</a:t>
                </a:r>
              </a:p>
            </p:txBody>
          </p:sp>
          <p:sp>
            <p:nvSpPr>
              <p:cNvPr id="54" name="Rectangle 37"/>
              <p:cNvSpPr>
                <a:spLocks noChangeArrowheads="1"/>
              </p:cNvSpPr>
              <p:nvPr/>
            </p:nvSpPr>
            <p:spPr bwMode="auto">
              <a:xfrm>
                <a:off x="990600" y="3352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Text Box 38"/>
              <p:cNvSpPr txBox="1">
                <a:spLocks noChangeArrowheads="1"/>
              </p:cNvSpPr>
              <p:nvPr/>
            </p:nvSpPr>
            <p:spPr bwMode="auto">
              <a:xfrm>
                <a:off x="681038" y="3352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56" name="Rectangle 39"/>
              <p:cNvSpPr>
                <a:spLocks noChangeArrowheads="1"/>
              </p:cNvSpPr>
              <p:nvPr/>
            </p:nvSpPr>
            <p:spPr bwMode="auto">
              <a:xfrm>
                <a:off x="990600" y="3733800"/>
                <a:ext cx="457200" cy="3810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Text Box 40"/>
              <p:cNvSpPr txBox="1">
                <a:spLocks noChangeArrowheads="1"/>
              </p:cNvSpPr>
              <p:nvPr/>
            </p:nvSpPr>
            <p:spPr bwMode="auto">
              <a:xfrm>
                <a:off x="681038" y="3733800"/>
                <a:ext cx="306387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8</a:t>
                </a:r>
              </a:p>
            </p:txBody>
          </p:sp>
          <p:sp>
            <p:nvSpPr>
              <p:cNvPr id="58" name="Rectangle 41"/>
              <p:cNvSpPr>
                <a:spLocks noChangeArrowheads="1"/>
              </p:cNvSpPr>
              <p:nvPr/>
            </p:nvSpPr>
            <p:spPr bwMode="auto">
              <a:xfrm>
                <a:off x="990600" y="4114800"/>
                <a:ext cx="457200" cy="609600"/>
              </a:xfrm>
              <a:prstGeom prst="rect">
                <a:avLst/>
              </a:prstGeom>
              <a:solidFill>
                <a:srgbClr val="CCFFFF"/>
              </a:solidFill>
              <a:ln w="19050" algn="ctr">
                <a:solidFill>
                  <a:schemeClr val="accent3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/>
                  <a:t>…</a:t>
                </a:r>
              </a:p>
              <a:p>
                <a:pPr algn="ctr"/>
                <a:r>
                  <a:rPr lang="en-US" altLang="en-US"/>
                  <a:t>…</a:t>
                </a:r>
              </a:p>
              <a:p>
                <a:pPr algn="ctr"/>
                <a:endParaRPr lang="en-US" altLang="en-US"/>
              </a:p>
            </p:txBody>
          </p:sp>
          <p:sp>
            <p:nvSpPr>
              <p:cNvPr id="59" name="Text Box 114"/>
              <p:cNvSpPr txBox="1">
                <a:spLocks noChangeArrowheads="1"/>
              </p:cNvSpPr>
              <p:nvPr/>
            </p:nvSpPr>
            <p:spPr bwMode="auto">
              <a:xfrm>
                <a:off x="457200" y="4724400"/>
                <a:ext cx="1447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/>
                  <a:t>I-Node Table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3467100" y="3021013"/>
              <a:ext cx="1295400" cy="1769110"/>
              <a:chOff x="3505200" y="2971800"/>
              <a:chExt cx="1295400" cy="1769110"/>
            </a:xfrm>
          </p:grpSpPr>
          <p:grpSp>
            <p:nvGrpSpPr>
              <p:cNvPr id="37" name="Group 62"/>
              <p:cNvGrpSpPr>
                <a:grpSpLocks/>
              </p:cNvGrpSpPr>
              <p:nvPr/>
            </p:nvGrpSpPr>
            <p:grpSpPr bwMode="auto">
              <a:xfrm>
                <a:off x="3505200" y="2971800"/>
                <a:ext cx="1295400" cy="1447800"/>
                <a:chOff x="1728" y="672"/>
                <a:chExt cx="816" cy="912"/>
              </a:xfrm>
            </p:grpSpPr>
            <p:sp>
              <p:nvSpPr>
                <p:cNvPr id="39" name="Rectangle 63"/>
                <p:cNvSpPr>
                  <a:spLocks noChangeArrowheads="1"/>
                </p:cNvSpPr>
                <p:nvPr/>
              </p:nvSpPr>
              <p:spPr bwMode="auto">
                <a:xfrm>
                  <a:off x="1728" y="672"/>
                  <a:ext cx="816" cy="43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 algn="ctr">
                  <a:solidFill>
                    <a:schemeClr val="accent5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File Metadata</a:t>
                  </a:r>
                </a:p>
              </p:txBody>
            </p:sp>
            <p:sp>
              <p:nvSpPr>
                <p:cNvPr id="40" name="Rectangle 64"/>
                <p:cNvSpPr>
                  <a:spLocks noChangeArrowheads="1"/>
                </p:cNvSpPr>
                <p:nvPr/>
              </p:nvSpPr>
              <p:spPr bwMode="auto">
                <a:xfrm>
                  <a:off x="1728" y="1104"/>
                  <a:ext cx="816" cy="192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9050" algn="ctr">
                  <a:solidFill>
                    <a:schemeClr val="accent5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23</a:t>
                  </a:r>
                </a:p>
              </p:txBody>
            </p:sp>
            <p:sp>
              <p:nvSpPr>
                <p:cNvPr id="41" name="Rectangle 65"/>
                <p:cNvSpPr>
                  <a:spLocks noChangeArrowheads="1"/>
                </p:cNvSpPr>
                <p:nvPr/>
              </p:nvSpPr>
              <p:spPr bwMode="auto">
                <a:xfrm>
                  <a:off x="1728" y="1296"/>
                  <a:ext cx="816" cy="28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 algn="ctr">
                  <a:solidFill>
                    <a:schemeClr val="accent5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b="1">
                    <a:latin typeface="Courier New" panose="02070309020205020404" pitchFamily="49" charset="0"/>
                  </a:endParaRPr>
                </a:p>
              </p:txBody>
            </p:sp>
          </p:grpSp>
          <p:sp>
            <p:nvSpPr>
              <p:cNvPr id="38" name="Text Box 47"/>
              <p:cNvSpPr txBox="1">
                <a:spLocks noChangeArrowheads="1"/>
              </p:cNvSpPr>
              <p:nvPr/>
            </p:nvSpPr>
            <p:spPr bwMode="auto">
              <a:xfrm>
                <a:off x="3684311" y="4404360"/>
                <a:ext cx="914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 dirty="0"/>
                  <a:t>I-Node</a:t>
                </a: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3467100" y="4849813"/>
              <a:ext cx="1295400" cy="1752600"/>
              <a:chOff x="3505200" y="4800600"/>
              <a:chExt cx="1295400" cy="1752600"/>
            </a:xfrm>
          </p:grpSpPr>
          <p:grpSp>
            <p:nvGrpSpPr>
              <p:cNvPr id="32" name="Group 66"/>
              <p:cNvGrpSpPr>
                <a:grpSpLocks/>
              </p:cNvGrpSpPr>
              <p:nvPr/>
            </p:nvGrpSpPr>
            <p:grpSpPr bwMode="auto">
              <a:xfrm>
                <a:off x="3505200" y="4800600"/>
                <a:ext cx="1295400" cy="1447800"/>
                <a:chOff x="1728" y="672"/>
                <a:chExt cx="816" cy="912"/>
              </a:xfrm>
            </p:grpSpPr>
            <p:sp>
              <p:nvSpPr>
                <p:cNvPr id="34" name="Rectangle 67"/>
                <p:cNvSpPr>
                  <a:spLocks noChangeArrowheads="1"/>
                </p:cNvSpPr>
                <p:nvPr/>
              </p:nvSpPr>
              <p:spPr bwMode="auto">
                <a:xfrm>
                  <a:off x="1728" y="672"/>
                  <a:ext cx="816" cy="4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 algn="ctr">
                  <a:solidFill>
                    <a:schemeClr val="accent4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b="1" dirty="0">
                      <a:latin typeface="Courier New" panose="02070309020205020404" pitchFamily="49" charset="0"/>
                    </a:rPr>
                    <a:t>File Metadata</a:t>
                  </a:r>
                </a:p>
              </p:txBody>
            </p:sp>
            <p:sp>
              <p:nvSpPr>
                <p:cNvPr id="35" name="Rectangle 68"/>
                <p:cNvSpPr>
                  <a:spLocks noChangeArrowheads="1"/>
                </p:cNvSpPr>
                <p:nvPr/>
              </p:nvSpPr>
              <p:spPr bwMode="auto">
                <a:xfrm>
                  <a:off x="1728" y="1104"/>
                  <a:ext cx="816" cy="19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19050" algn="ctr">
                  <a:solidFill>
                    <a:schemeClr val="accent4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b="1">
                      <a:latin typeface="Courier New" panose="02070309020205020404" pitchFamily="49" charset="0"/>
                    </a:rPr>
                    <a:t>20</a:t>
                  </a:r>
                </a:p>
              </p:txBody>
            </p:sp>
            <p:sp>
              <p:nvSpPr>
                <p:cNvPr id="36" name="Rectangle 69"/>
                <p:cNvSpPr>
                  <a:spLocks noChangeArrowheads="1"/>
                </p:cNvSpPr>
                <p:nvPr/>
              </p:nvSpPr>
              <p:spPr bwMode="auto">
                <a:xfrm>
                  <a:off x="1728" y="1296"/>
                  <a:ext cx="816" cy="28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 algn="ctr">
                  <a:solidFill>
                    <a:schemeClr val="accent4"/>
                  </a:solidFill>
                  <a:miter lim="800000"/>
                  <a:headEnd/>
                  <a:tailEnd type="none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b="1">
                    <a:latin typeface="Courier New" panose="02070309020205020404" pitchFamily="49" charset="0"/>
                  </a:endParaRPr>
                </a:p>
              </p:txBody>
            </p:sp>
          </p:grpSp>
          <p:sp>
            <p:nvSpPr>
              <p:cNvPr id="33" name="Text Box 47"/>
              <p:cNvSpPr txBox="1">
                <a:spLocks noChangeArrowheads="1"/>
              </p:cNvSpPr>
              <p:nvPr/>
            </p:nvSpPr>
            <p:spPr bwMode="auto">
              <a:xfrm>
                <a:off x="3700640" y="6216650"/>
                <a:ext cx="914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 dirty="0"/>
                  <a:t>I-Node</a:t>
                </a:r>
              </a:p>
            </p:txBody>
          </p:sp>
        </p:grpSp>
        <p:sp>
          <p:nvSpPr>
            <p:cNvPr id="28" name="Rectangle 39"/>
            <p:cNvSpPr>
              <a:spLocks noChangeArrowheads="1"/>
            </p:cNvSpPr>
            <p:nvPr/>
          </p:nvSpPr>
          <p:spPr bwMode="auto">
            <a:xfrm>
              <a:off x="1104900" y="3935413"/>
              <a:ext cx="457200" cy="381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9050" algn="ctr">
              <a:solidFill>
                <a:schemeClr val="accent4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Rectangle 35"/>
            <p:cNvSpPr>
              <a:spLocks noChangeArrowheads="1"/>
            </p:cNvSpPr>
            <p:nvPr/>
          </p:nvSpPr>
          <p:spPr bwMode="auto">
            <a:xfrm>
              <a:off x="1104900" y="3173413"/>
              <a:ext cx="457200" cy="381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9050" algn="ctr">
              <a:solidFill>
                <a:srgbClr val="660066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27"/>
            <p:cNvSpPr>
              <a:spLocks noChangeArrowheads="1"/>
            </p:cNvSpPr>
            <p:nvPr/>
          </p:nvSpPr>
          <p:spPr bwMode="auto">
            <a:xfrm>
              <a:off x="1104900" y="1649413"/>
              <a:ext cx="457200" cy="381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Rectangle 43"/>
            <p:cNvSpPr>
              <a:spLocks noChangeArrowheads="1"/>
            </p:cNvSpPr>
            <p:nvPr/>
          </p:nvSpPr>
          <p:spPr bwMode="auto">
            <a:xfrm>
              <a:off x="3460569" y="1833563"/>
              <a:ext cx="1295400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15</a:t>
              </a:r>
            </a:p>
          </p:txBody>
        </p:sp>
      </p:grpSp>
      <p:sp>
        <p:nvSpPr>
          <p:cNvPr id="92" name="Rectangle 64"/>
          <p:cNvSpPr>
            <a:spLocks noChangeArrowheads="1"/>
          </p:cNvSpPr>
          <p:nvPr/>
        </p:nvSpPr>
        <p:spPr bwMode="auto">
          <a:xfrm>
            <a:off x="3467100" y="3996373"/>
            <a:ext cx="1295400" cy="30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 algn="ctr">
            <a:solidFill>
              <a:schemeClr val="accent5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 dirty="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93" name="Rectangle 2"/>
          <p:cNvSpPr txBox="1">
            <a:spLocks noChangeArrowheads="1"/>
          </p:cNvSpPr>
          <p:nvPr/>
        </p:nvSpPr>
        <p:spPr bwMode="auto">
          <a:xfrm>
            <a:off x="533401" y="5643563"/>
            <a:ext cx="2247900" cy="5111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r>
              <a:rPr lang="en-US" altLang="en-US" sz="2800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800" b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sub/</a:t>
            </a:r>
            <a:r>
              <a:rPr lang="en-US" altLang="en-US" sz="2800" b="1" kern="0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endParaRPr lang="en-US" altLang="en-US" sz="2800" kern="0" dirty="0"/>
          </a:p>
        </p:txBody>
      </p:sp>
      <p:sp>
        <p:nvSpPr>
          <p:cNvPr id="94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159945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C99A1-EC1E-46F1-8A80-869AC29E4FFD}" type="slidenum">
              <a:rPr lang="en-US" altLang="en-US" smtClean="0"/>
              <a:pPr/>
              <a:t>55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304800"/>
            <a:ext cx="5572125" cy="38290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19050"/>
            <a:ext cx="1485900" cy="2419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819400"/>
            <a:ext cx="1476375" cy="1457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5412" y="3783013"/>
            <a:ext cx="3000375" cy="24955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975" y="3679825"/>
            <a:ext cx="446722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168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C99A1-EC1E-46F1-8A80-869AC29E4FFD}" type="slidenum">
              <a:rPr lang="en-US" altLang="en-US" smtClean="0"/>
              <a:pPr/>
              <a:t>56</a:t>
            </a:fld>
            <a:endParaRPr lang="en-US" altLang="en-US"/>
          </a:p>
        </p:txBody>
      </p:sp>
      <p:grpSp>
        <p:nvGrpSpPr>
          <p:cNvPr id="4" name="Group 3"/>
          <p:cNvGrpSpPr/>
          <p:nvPr/>
        </p:nvGrpSpPr>
        <p:grpSpPr>
          <a:xfrm>
            <a:off x="363484" y="692295"/>
            <a:ext cx="8320141" cy="1546080"/>
            <a:chOff x="363484" y="692295"/>
            <a:chExt cx="8320141" cy="1546080"/>
          </a:xfrm>
        </p:grpSpPr>
        <p:sp>
          <p:nvSpPr>
            <p:cNvPr id="5" name="Rectangle 20" descr="Sphere"/>
            <p:cNvSpPr>
              <a:spLocks noChangeArrowheads="1"/>
            </p:cNvSpPr>
            <p:nvPr/>
          </p:nvSpPr>
          <p:spPr bwMode="auto">
            <a:xfrm>
              <a:off x="3959225" y="1400175"/>
              <a:ext cx="457200" cy="838200"/>
            </a:xfrm>
            <a:prstGeom prst="rect">
              <a:avLst/>
            </a:prstGeom>
            <a:pattFill prst="sphere">
              <a:fgClr>
                <a:srgbClr val="E8FFD1"/>
              </a:fgClr>
              <a:bgClr>
                <a:srgbClr val="FFFFFF"/>
              </a:bgClr>
            </a:pattFill>
            <a:ln w="19050" algn="ctr">
              <a:solidFill>
                <a:srgbClr val="0080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21" descr="Sphere"/>
            <p:cNvSpPr>
              <a:spLocks noChangeArrowheads="1"/>
            </p:cNvSpPr>
            <p:nvPr/>
          </p:nvSpPr>
          <p:spPr bwMode="auto">
            <a:xfrm>
              <a:off x="4416425" y="1400175"/>
              <a:ext cx="457200" cy="838200"/>
            </a:xfrm>
            <a:prstGeom prst="rect">
              <a:avLst/>
            </a:prstGeom>
            <a:pattFill prst="sphere">
              <a:fgClr>
                <a:srgbClr val="E8FFD1"/>
              </a:fgClr>
              <a:bgClr>
                <a:srgbClr val="FFFFFF"/>
              </a:bgClr>
            </a:pattFill>
            <a:ln w="19050" algn="ctr">
              <a:solidFill>
                <a:srgbClr val="0080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3"/>
            <p:cNvSpPr txBox="1">
              <a:spLocks noChangeArrowheads="1"/>
            </p:cNvSpPr>
            <p:nvPr/>
          </p:nvSpPr>
          <p:spPr bwMode="auto">
            <a:xfrm>
              <a:off x="5486400" y="914400"/>
              <a:ext cx="1877425" cy="400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data blocks</a:t>
              </a:r>
            </a:p>
          </p:txBody>
        </p:sp>
        <p:sp>
          <p:nvSpPr>
            <p:cNvPr id="9" name="Rectangle 24" descr="Sphere"/>
            <p:cNvSpPr>
              <a:spLocks noChangeArrowheads="1"/>
            </p:cNvSpPr>
            <p:nvPr/>
          </p:nvSpPr>
          <p:spPr bwMode="auto">
            <a:xfrm>
              <a:off x="4873625" y="1400175"/>
              <a:ext cx="3810000" cy="838200"/>
            </a:xfrm>
            <a:prstGeom prst="rect">
              <a:avLst/>
            </a:prstGeom>
            <a:pattFill prst="sphere">
              <a:fgClr>
                <a:srgbClr val="E8FFD1"/>
              </a:fgClr>
              <a:bgClr>
                <a:srgbClr val="FFFFFF"/>
              </a:bgClr>
            </a:pattFill>
            <a:ln w="19050" algn="ctr">
              <a:solidFill>
                <a:srgbClr val="0080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31"/>
            <p:cNvSpPr>
              <a:spLocks noChangeArrowheads="1"/>
            </p:cNvSpPr>
            <p:nvPr/>
          </p:nvSpPr>
          <p:spPr bwMode="auto">
            <a:xfrm>
              <a:off x="530225" y="1400175"/>
              <a:ext cx="8153400" cy="838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34" descr="Large checker board"/>
            <p:cNvSpPr>
              <a:spLocks noChangeArrowheads="1"/>
            </p:cNvSpPr>
            <p:nvPr/>
          </p:nvSpPr>
          <p:spPr bwMode="auto">
            <a:xfrm>
              <a:off x="987425" y="1400175"/>
              <a:ext cx="990600" cy="838200"/>
            </a:xfrm>
            <a:prstGeom prst="rect">
              <a:avLst/>
            </a:prstGeom>
            <a:pattFill prst="lgCheck">
              <a:fgClr>
                <a:schemeClr val="accent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FAT</a:t>
              </a:r>
            </a:p>
          </p:txBody>
        </p:sp>
        <p:sp>
          <p:nvSpPr>
            <p:cNvPr id="12" name="Rectangle 35" descr="Outlined diamond"/>
            <p:cNvSpPr>
              <a:spLocks noChangeArrowheads="1"/>
            </p:cNvSpPr>
            <p:nvPr/>
          </p:nvSpPr>
          <p:spPr bwMode="auto">
            <a:xfrm>
              <a:off x="1978025" y="1400175"/>
              <a:ext cx="990600" cy="838200"/>
            </a:xfrm>
            <a:prstGeom prst="rect">
              <a:avLst/>
            </a:prstGeom>
            <a:pattFill prst="openDmnd">
              <a:fgClr>
                <a:schemeClr val="accent2">
                  <a:lumMod val="20000"/>
                  <a:lumOff val="80000"/>
                </a:schemeClr>
              </a:fgClr>
              <a:bgClr>
                <a:srgbClr val="FFFFFF"/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FAT</a:t>
              </a:r>
            </a:p>
            <a:p>
              <a:pPr algn="ctr"/>
              <a:r>
                <a:rPr lang="en-US" altLang="en-US" sz="1200" b="1" dirty="0">
                  <a:latin typeface="Courier New" panose="02070309020205020404" pitchFamily="49" charset="0"/>
                </a:rPr>
                <a:t>Duplicate</a:t>
              </a:r>
            </a:p>
          </p:txBody>
        </p:sp>
        <p:sp>
          <p:nvSpPr>
            <p:cNvPr id="13" name="Rectangle 36" descr="Dashed upward diagonal"/>
            <p:cNvSpPr>
              <a:spLocks noChangeArrowheads="1"/>
            </p:cNvSpPr>
            <p:nvPr/>
          </p:nvSpPr>
          <p:spPr bwMode="auto">
            <a:xfrm>
              <a:off x="2968625" y="1400175"/>
              <a:ext cx="990600" cy="838200"/>
            </a:xfrm>
            <a:prstGeom prst="rect">
              <a:avLst/>
            </a:prstGeom>
            <a:pattFill prst="dashUpDiag">
              <a:fgClr>
                <a:schemeClr val="accent2">
                  <a:lumMod val="75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37"/>
            <p:cNvSpPr>
              <a:spLocks noChangeArrowheads="1"/>
            </p:cNvSpPr>
            <p:nvPr/>
          </p:nvSpPr>
          <p:spPr bwMode="auto">
            <a:xfrm>
              <a:off x="530225" y="1400175"/>
              <a:ext cx="457200" cy="838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38"/>
            <p:cNvSpPr txBox="1">
              <a:spLocks noChangeArrowheads="1"/>
            </p:cNvSpPr>
            <p:nvPr/>
          </p:nvSpPr>
          <p:spPr bwMode="auto">
            <a:xfrm>
              <a:off x="363484" y="1000072"/>
              <a:ext cx="800207" cy="400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Boot</a:t>
              </a:r>
            </a:p>
          </p:txBody>
        </p:sp>
        <p:sp>
          <p:nvSpPr>
            <p:cNvPr id="17" name="Text Box 40"/>
            <p:cNvSpPr txBox="1">
              <a:spLocks noChangeArrowheads="1"/>
            </p:cNvSpPr>
            <p:nvPr/>
          </p:nvSpPr>
          <p:spPr bwMode="auto">
            <a:xfrm>
              <a:off x="2673545" y="692295"/>
              <a:ext cx="1569649" cy="7078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root</a:t>
              </a:r>
            </a:p>
            <a:p>
              <a:pPr algn="ctr"/>
              <a:r>
                <a:rPr lang="en-US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directory</a:t>
              </a:r>
            </a:p>
          </p:txBody>
        </p:sp>
      </p:grpSp>
      <p:grpSp>
        <p:nvGrpSpPr>
          <p:cNvPr id="21" name="Group 6"/>
          <p:cNvGrpSpPr>
            <a:grpSpLocks/>
          </p:cNvGrpSpPr>
          <p:nvPr/>
        </p:nvGrpSpPr>
        <p:grpSpPr bwMode="auto">
          <a:xfrm>
            <a:off x="763587" y="4495800"/>
            <a:ext cx="7315200" cy="838200"/>
            <a:chOff x="384" y="2736"/>
            <a:chExt cx="4608" cy="528"/>
          </a:xfrm>
        </p:grpSpPr>
        <p:sp>
          <p:nvSpPr>
            <p:cNvPr id="22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OS Boot Block</a:t>
              </a:r>
            </a:p>
          </p:txBody>
        </p:sp>
        <p:sp>
          <p:nvSpPr>
            <p:cNvPr id="23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24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 dirty="0"/>
                <a:t>Directory Structure</a:t>
              </a:r>
            </a:p>
          </p:txBody>
        </p:sp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4872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Stop &amp; Check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57</a:t>
            </a:fld>
            <a:endParaRPr lang="en-US" altLang="en-US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grpSp>
        <p:nvGrpSpPr>
          <p:cNvPr id="30" name="Group 6"/>
          <p:cNvGrpSpPr>
            <a:grpSpLocks/>
          </p:cNvGrpSpPr>
          <p:nvPr/>
        </p:nvGrpSpPr>
        <p:grpSpPr bwMode="auto">
          <a:xfrm>
            <a:off x="756557" y="5257800"/>
            <a:ext cx="7315200" cy="838200"/>
            <a:chOff x="384" y="2736"/>
            <a:chExt cx="4608" cy="528"/>
          </a:xfrm>
        </p:grpSpPr>
        <p:sp>
          <p:nvSpPr>
            <p:cNvPr id="31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OS Boot Block</a:t>
              </a:r>
            </a:p>
          </p:txBody>
        </p:sp>
        <p:sp>
          <p:nvSpPr>
            <p:cNvPr id="32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 dirty="0"/>
                <a:t>Directory Structure</a:t>
              </a:r>
            </a:p>
          </p:txBody>
        </p:sp>
        <p:sp>
          <p:nvSpPr>
            <p:cNvPr id="34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57200" y="1143001"/>
            <a:ext cx="8229600" cy="2438400"/>
            <a:chOff x="457200" y="2438400"/>
            <a:chExt cx="8229600" cy="2438400"/>
          </a:xfrm>
        </p:grpSpPr>
        <p:sp>
          <p:nvSpPr>
            <p:cNvPr id="36" name="Rectangle 31"/>
            <p:cNvSpPr>
              <a:spLocks noChangeArrowheads="1"/>
            </p:cNvSpPr>
            <p:nvPr/>
          </p:nvSpPr>
          <p:spPr bwMode="auto">
            <a:xfrm>
              <a:off x="457200" y="4038600"/>
              <a:ext cx="80010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15"/>
            <p:cNvSpPr>
              <a:spLocks noChangeArrowheads="1"/>
            </p:cNvSpPr>
            <p:nvPr/>
          </p:nvSpPr>
          <p:spPr bwMode="auto">
            <a:xfrm>
              <a:off x="533400" y="2438400"/>
              <a:ext cx="81534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Rectangle 18" descr="Large checker board"/>
            <p:cNvSpPr>
              <a:spLocks noChangeArrowheads="1"/>
            </p:cNvSpPr>
            <p:nvPr/>
          </p:nvSpPr>
          <p:spPr bwMode="auto">
            <a:xfrm>
              <a:off x="990600" y="2438400"/>
              <a:ext cx="2209800" cy="838200"/>
            </a:xfrm>
            <a:prstGeom prst="rect">
              <a:avLst/>
            </a:prstGeom>
            <a:pattFill prst="lgCheck">
              <a:fgClr>
                <a:schemeClr val="accent2">
                  <a:lumMod val="20000"/>
                  <a:lumOff val="80000"/>
                </a:schemeClr>
              </a:fgClr>
              <a:bgClr>
                <a:schemeClr val="accent2">
                  <a:lumMod val="40000"/>
                  <a:lumOff val="60000"/>
                </a:schemeClr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>
                  <a:latin typeface="Courier New" panose="02070309020205020404" pitchFamily="49" charset="0"/>
                </a:rPr>
                <a:t>Block Group 0</a:t>
              </a:r>
            </a:p>
          </p:txBody>
        </p:sp>
        <p:sp>
          <p:nvSpPr>
            <p:cNvPr id="39" name="Rectangle 28" descr="Large checker board"/>
            <p:cNvSpPr>
              <a:spLocks noChangeArrowheads="1"/>
            </p:cNvSpPr>
            <p:nvPr/>
          </p:nvSpPr>
          <p:spPr bwMode="auto">
            <a:xfrm>
              <a:off x="3200400" y="2438400"/>
              <a:ext cx="2209800" cy="838200"/>
            </a:xfrm>
            <a:prstGeom prst="rect">
              <a:avLst/>
            </a:prstGeom>
            <a:pattFill prst="wdUpDiag">
              <a:fgClr>
                <a:schemeClr val="bg1">
                  <a:lumMod val="95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 dirty="0">
                  <a:latin typeface="Courier New" panose="02070309020205020404" pitchFamily="49" charset="0"/>
                </a:rPr>
                <a:t>Block Group 1</a:t>
              </a:r>
            </a:p>
          </p:txBody>
        </p:sp>
        <p:sp>
          <p:nvSpPr>
            <p:cNvPr id="40" name="Rectangle 29" descr="Large checker board"/>
            <p:cNvSpPr>
              <a:spLocks noChangeArrowheads="1"/>
            </p:cNvSpPr>
            <p:nvPr/>
          </p:nvSpPr>
          <p:spPr bwMode="auto">
            <a:xfrm>
              <a:off x="5410200" y="2438400"/>
              <a:ext cx="2209800" cy="838200"/>
            </a:xfrm>
            <a:prstGeom prst="rect">
              <a:avLst/>
            </a:prstGeom>
            <a:pattFill prst="wdUpDiag">
              <a:fgClr>
                <a:schemeClr val="bg1">
                  <a:lumMod val="95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>
                  <a:latin typeface="Courier New" panose="02070309020205020404" pitchFamily="49" charset="0"/>
                </a:rPr>
                <a:t>Block Group 2</a:t>
              </a:r>
            </a:p>
          </p:txBody>
        </p:sp>
        <p:sp>
          <p:nvSpPr>
            <p:cNvPr id="41" name="Rectangle 30" descr="Large checker board"/>
            <p:cNvSpPr>
              <a:spLocks noChangeArrowheads="1"/>
            </p:cNvSpPr>
            <p:nvPr/>
          </p:nvSpPr>
          <p:spPr bwMode="auto">
            <a:xfrm>
              <a:off x="7620000" y="2438400"/>
              <a:ext cx="1066800" cy="838200"/>
            </a:xfrm>
            <a:prstGeom prst="rect">
              <a:avLst/>
            </a:prstGeom>
            <a:pattFill prst="wdUpDiag">
              <a:fgClr>
                <a:schemeClr val="accent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42" name="Rectangle 19" descr="Outlined diamond"/>
            <p:cNvSpPr>
              <a:spLocks noChangeArrowheads="1"/>
            </p:cNvSpPr>
            <p:nvPr/>
          </p:nvSpPr>
          <p:spPr bwMode="auto">
            <a:xfrm>
              <a:off x="533400" y="2438400"/>
              <a:ext cx="457200" cy="838200"/>
            </a:xfrm>
            <a:prstGeom prst="rect">
              <a:avLst/>
            </a:prstGeom>
            <a:pattFill prst="openDmnd">
              <a:fgClr>
                <a:schemeClr val="accent2">
                  <a:lumMod val="20000"/>
                  <a:lumOff val="80000"/>
                </a:schemeClr>
              </a:fgClr>
              <a:bgClr>
                <a:srgbClr val="FFFFFF"/>
              </a:bgClr>
            </a:patt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BOOT</a:t>
              </a:r>
              <a:endParaRPr lang="en-US" altLang="en-US" sz="1200" b="1" dirty="0">
                <a:latin typeface="Courier New" panose="02070309020205020404" pitchFamily="49" charset="0"/>
              </a:endParaRPr>
            </a:p>
          </p:txBody>
        </p:sp>
        <p:sp>
          <p:nvSpPr>
            <p:cNvPr id="43" name="Rectangle 31"/>
            <p:cNvSpPr>
              <a:spLocks noChangeArrowheads="1"/>
            </p:cNvSpPr>
            <p:nvPr/>
          </p:nvSpPr>
          <p:spPr bwMode="auto">
            <a:xfrm>
              <a:off x="457200" y="4038600"/>
              <a:ext cx="990600" cy="838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44" name="Rectangle 32"/>
            <p:cNvSpPr>
              <a:spLocks noChangeArrowheads="1"/>
            </p:cNvSpPr>
            <p:nvPr/>
          </p:nvSpPr>
          <p:spPr bwMode="auto">
            <a:xfrm>
              <a:off x="1447800" y="4038600"/>
              <a:ext cx="1676400" cy="8382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lIns="91434" tIns="45717" rIns="91434" bIns="45717"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Group Descriptors</a:t>
              </a:r>
            </a:p>
          </p:txBody>
        </p:sp>
        <p:sp>
          <p:nvSpPr>
            <p:cNvPr id="45" name="Rectangle 33" descr="Dotted diamond"/>
            <p:cNvSpPr>
              <a:spLocks noChangeArrowheads="1"/>
            </p:cNvSpPr>
            <p:nvPr/>
          </p:nvSpPr>
          <p:spPr bwMode="auto">
            <a:xfrm>
              <a:off x="3124200" y="4038600"/>
              <a:ext cx="838200" cy="838200"/>
            </a:xfrm>
            <a:prstGeom prst="rect">
              <a:avLst/>
            </a:prstGeom>
            <a:pattFill prst="dotDmnd">
              <a:fgClr>
                <a:srgbClr val="000000"/>
              </a:fgClr>
              <a:bgClr>
                <a:schemeClr val="bg1"/>
              </a:bgClr>
            </a:patt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46" name="Rectangle 34" descr="Dotted diamond"/>
            <p:cNvSpPr>
              <a:spLocks noChangeArrowheads="1"/>
            </p:cNvSpPr>
            <p:nvPr/>
          </p:nvSpPr>
          <p:spPr bwMode="auto">
            <a:xfrm>
              <a:off x="3962400" y="4038600"/>
              <a:ext cx="838200" cy="838200"/>
            </a:xfrm>
            <a:prstGeom prst="rect">
              <a:avLst/>
            </a:prstGeom>
            <a:pattFill prst="dotDmnd">
              <a:fgClr>
                <a:srgbClr val="0033CC"/>
              </a:fgClr>
              <a:bgClr>
                <a:schemeClr val="bg1"/>
              </a:bgClr>
            </a:patt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47" name="Rectangle 35" descr="Light vertical"/>
            <p:cNvSpPr>
              <a:spLocks noChangeArrowheads="1"/>
            </p:cNvSpPr>
            <p:nvPr/>
          </p:nvSpPr>
          <p:spPr bwMode="auto">
            <a:xfrm>
              <a:off x="4800600" y="4038600"/>
              <a:ext cx="1219200" cy="838200"/>
            </a:xfrm>
            <a:prstGeom prst="rect">
              <a:avLst/>
            </a:prstGeom>
            <a:pattFill prst="ltVert">
              <a:fgClr>
                <a:srgbClr val="00CCFF"/>
              </a:fgClr>
              <a:bgClr>
                <a:schemeClr val="bg1"/>
              </a:bgClr>
            </a:patt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2000" b="1">
                <a:latin typeface="Courier New" panose="02070309020205020404" pitchFamily="49" charset="0"/>
              </a:endParaRPr>
            </a:p>
          </p:txBody>
        </p:sp>
        <p:sp>
          <p:nvSpPr>
            <p:cNvPr id="48" name="Rectangle 36"/>
            <p:cNvSpPr>
              <a:spLocks noChangeArrowheads="1"/>
            </p:cNvSpPr>
            <p:nvPr/>
          </p:nvSpPr>
          <p:spPr bwMode="auto">
            <a:xfrm>
              <a:off x="6019800" y="4038600"/>
              <a:ext cx="2438400" cy="8382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>
                  <a:latin typeface="Courier New" panose="02070309020205020404" pitchFamily="49" charset="0"/>
                </a:rPr>
                <a:t>Data Blocks</a:t>
              </a:r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457200" y="3276600"/>
              <a:ext cx="7924800" cy="762000"/>
              <a:chOff x="457200" y="3276600"/>
              <a:chExt cx="7924800" cy="762000"/>
            </a:xfrm>
          </p:grpSpPr>
          <p:sp>
            <p:nvSpPr>
              <p:cNvPr id="50" name="Line 37"/>
              <p:cNvSpPr>
                <a:spLocks noChangeShapeType="1"/>
              </p:cNvSpPr>
              <p:nvPr/>
            </p:nvSpPr>
            <p:spPr bwMode="auto">
              <a:xfrm flipH="1">
                <a:off x="457200" y="3276600"/>
                <a:ext cx="533400" cy="76200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sysDot"/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Line 38"/>
              <p:cNvSpPr>
                <a:spLocks noChangeShapeType="1"/>
              </p:cNvSpPr>
              <p:nvPr/>
            </p:nvSpPr>
            <p:spPr bwMode="auto">
              <a:xfrm>
                <a:off x="3200400" y="3276600"/>
                <a:ext cx="5181600" cy="76200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sysDot"/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6" name="Text Box 40"/>
          <p:cNvSpPr txBox="1">
            <a:spLocks noChangeArrowheads="1"/>
          </p:cNvSpPr>
          <p:nvPr/>
        </p:nvSpPr>
        <p:spPr bwMode="auto">
          <a:xfrm>
            <a:off x="4779264" y="2808361"/>
            <a:ext cx="1261872" cy="707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I-node </a:t>
            </a:r>
            <a:b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</a:b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Table</a:t>
            </a:r>
          </a:p>
        </p:txBody>
      </p:sp>
      <p:sp>
        <p:nvSpPr>
          <p:cNvPr id="57" name="Text Box 40"/>
          <p:cNvSpPr txBox="1">
            <a:spLocks noChangeArrowheads="1"/>
          </p:cNvSpPr>
          <p:nvPr/>
        </p:nvSpPr>
        <p:spPr bwMode="auto">
          <a:xfrm>
            <a:off x="3859937" y="2808361"/>
            <a:ext cx="1149662" cy="64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I-node </a:t>
            </a:r>
            <a:b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</a:b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BM</a:t>
            </a:r>
          </a:p>
        </p:txBody>
      </p:sp>
      <p:sp>
        <p:nvSpPr>
          <p:cNvPr id="58" name="Text Box 40"/>
          <p:cNvSpPr txBox="1">
            <a:spLocks noChangeArrowheads="1"/>
          </p:cNvSpPr>
          <p:nvPr/>
        </p:nvSpPr>
        <p:spPr bwMode="auto">
          <a:xfrm>
            <a:off x="3102513" y="2843281"/>
            <a:ext cx="873945" cy="64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Block</a:t>
            </a:r>
            <a:b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</a:b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BM</a:t>
            </a:r>
          </a:p>
        </p:txBody>
      </p:sp>
      <p:sp>
        <p:nvSpPr>
          <p:cNvPr id="59" name="Text Box 40"/>
          <p:cNvSpPr txBox="1">
            <a:spLocks noChangeArrowheads="1"/>
          </p:cNvSpPr>
          <p:nvPr/>
        </p:nvSpPr>
        <p:spPr bwMode="auto">
          <a:xfrm>
            <a:off x="446600" y="2869916"/>
            <a:ext cx="1011803" cy="64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Super-</a:t>
            </a:r>
            <a:b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</a:b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Block</a:t>
            </a:r>
          </a:p>
        </p:txBody>
      </p:sp>
    </p:spTree>
    <p:extLst>
      <p:ext uri="{BB962C8B-B14F-4D97-AF65-F5344CB8AC3E}">
        <p14:creationId xmlns:p14="http://schemas.microsoft.com/office/powerpoint/2010/main" val="134084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10892</TotalTime>
  <Words>2896</Words>
  <Application>Microsoft Office PowerPoint</Application>
  <PresentationFormat>On-screen Show (4:3)</PresentationFormat>
  <Paragraphs>927</Paragraphs>
  <Slides>57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  <vt:variant>
        <vt:lpstr>Custom Shows</vt:lpstr>
      </vt:variant>
      <vt:variant>
        <vt:i4>1</vt:i4>
      </vt:variant>
    </vt:vector>
  </HeadingPairs>
  <TitlesOfParts>
    <vt:vector size="63" baseType="lpstr">
      <vt:lpstr>Arial</vt:lpstr>
      <vt:lpstr>Courier New</vt:lpstr>
      <vt:lpstr>Garamond</vt:lpstr>
      <vt:lpstr>Wingdings</vt:lpstr>
      <vt:lpstr>Edge</vt:lpstr>
      <vt:lpstr>File System Management File System Case Studies (NOT EXAMINABLE)</vt:lpstr>
      <vt:lpstr>Overview</vt:lpstr>
      <vt:lpstr>Microsoft FAT File System</vt:lpstr>
      <vt:lpstr>Microsoft FAT File System Layout</vt:lpstr>
      <vt:lpstr>File Data and File Allocation Table</vt:lpstr>
      <vt:lpstr>File Allocation Table</vt:lpstr>
      <vt:lpstr>Directory Structure and File Information</vt:lpstr>
      <vt:lpstr>Directory Entry Illustration</vt:lpstr>
      <vt:lpstr>Directory Entry Fields</vt:lpstr>
      <vt:lpstr>FAT FS: Putting the parts together…</vt:lpstr>
      <vt:lpstr>FAT FS: Putting the parts together…</vt:lpstr>
      <vt:lpstr>Example of Common Tasks: File Delete</vt:lpstr>
      <vt:lpstr>Variants: FAT12, FAT16 and FAT32</vt:lpstr>
      <vt:lpstr>FAT12, FAT16 and FAT32 (cont)</vt:lpstr>
      <vt:lpstr>Cluster Size</vt:lpstr>
      <vt:lpstr>Long File Name Support</vt:lpstr>
      <vt:lpstr>VFAT Entries: Illustration</vt:lpstr>
      <vt:lpstr>Extended-2 File System</vt:lpstr>
      <vt:lpstr>Extended-2 File System (Ext2)</vt:lpstr>
      <vt:lpstr>Ext2 FS: Overview</vt:lpstr>
      <vt:lpstr>Ext2 FS: Layout</vt:lpstr>
      <vt:lpstr>Partition Information</vt:lpstr>
      <vt:lpstr>Partition Information (cont)</vt:lpstr>
      <vt:lpstr>Ext2: I-Node Structure (128 Bytes) </vt:lpstr>
      <vt:lpstr>I-Node Structure: Data Blocks</vt:lpstr>
      <vt:lpstr>I-Node Data Blocks</vt:lpstr>
      <vt:lpstr>I-Node: Data Blocks (Cont)</vt:lpstr>
      <vt:lpstr>I-Node Data Block Example</vt:lpstr>
      <vt:lpstr>Directory Structure</vt:lpstr>
      <vt:lpstr>Directory Structure (Illustration)</vt:lpstr>
      <vt:lpstr>Ext2: Putting The Parts Together</vt:lpstr>
      <vt:lpstr>Ext2 FS: Putting the parts together…..</vt:lpstr>
      <vt:lpstr>Common Task in Ext2: File Delete</vt:lpstr>
      <vt:lpstr>Hard / Symbolic Link with I-Node</vt:lpstr>
      <vt:lpstr>Hard / Symbolic Link</vt:lpstr>
      <vt:lpstr>Ext2 FS: Hard Link and Symbolic Link</vt:lpstr>
      <vt:lpstr>EXTRA TOPICS</vt:lpstr>
      <vt:lpstr>File System Consistency Check</vt:lpstr>
      <vt:lpstr>Defragmentation</vt:lpstr>
      <vt:lpstr>Journaling</vt:lpstr>
      <vt:lpstr>Interesting/Important File Systems (1/3) </vt:lpstr>
      <vt:lpstr>Interesting/Important File Systems (2/3)</vt:lpstr>
      <vt:lpstr>Interesting/Important File Systems (3/3) </vt:lpstr>
      <vt:lpstr>Summary</vt:lpstr>
      <vt:lpstr>Generic Layout (Lecture 11)</vt:lpstr>
      <vt:lpstr>Microsoft FAT File System</vt:lpstr>
      <vt:lpstr>Stop &amp; Check : FAT</vt:lpstr>
      <vt:lpstr>Example of Common Tasks: Free Space</vt:lpstr>
      <vt:lpstr>Extended-2 File System (Ext2)</vt:lpstr>
      <vt:lpstr>Stop &amp; Check: Ext2</vt:lpstr>
      <vt:lpstr>PowerPoint Presentation</vt:lpstr>
      <vt:lpstr>FAT File System</vt:lpstr>
      <vt:lpstr>Extended-2 File System</vt:lpstr>
      <vt:lpstr>Common Task in Ext2: File Delete</vt:lpstr>
      <vt:lpstr>PowerPoint Presentation</vt:lpstr>
      <vt:lpstr>PowerPoint Presentation</vt:lpstr>
      <vt:lpstr>Stop &amp; Check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868</cp:revision>
  <cp:lastPrinted>1601-01-01T00:00:00Z</cp:lastPrinted>
  <dcterms:created xsi:type="dcterms:W3CDTF">1601-01-01T00:00:00Z</dcterms:created>
  <dcterms:modified xsi:type="dcterms:W3CDTF">2025-11-12T00:40:06Z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