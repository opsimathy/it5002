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2" r:id="rId2"/>
  </p:sldMasterIdLst>
  <p:notesMasterIdLst>
    <p:notesMasterId r:id="rId55"/>
  </p:notesMasterIdLst>
  <p:sldIdLst>
    <p:sldId id="256" r:id="rId3"/>
    <p:sldId id="258" r:id="rId4"/>
    <p:sldId id="259" r:id="rId5"/>
    <p:sldId id="323" r:id="rId6"/>
    <p:sldId id="260" r:id="rId7"/>
    <p:sldId id="261" r:id="rId8"/>
    <p:sldId id="305" r:id="rId9"/>
    <p:sldId id="309" r:id="rId10"/>
    <p:sldId id="308" r:id="rId11"/>
    <p:sldId id="263" r:id="rId12"/>
    <p:sldId id="264" r:id="rId13"/>
    <p:sldId id="310" r:id="rId14"/>
    <p:sldId id="267" r:id="rId15"/>
    <p:sldId id="268" r:id="rId16"/>
    <p:sldId id="269" r:id="rId17"/>
    <p:sldId id="270" r:id="rId18"/>
    <p:sldId id="271" r:id="rId19"/>
    <p:sldId id="272" r:id="rId20"/>
    <p:sldId id="312" r:id="rId21"/>
    <p:sldId id="327" r:id="rId22"/>
    <p:sldId id="274" r:id="rId23"/>
    <p:sldId id="275" r:id="rId24"/>
    <p:sldId id="276" r:id="rId25"/>
    <p:sldId id="277" r:id="rId26"/>
    <p:sldId id="320" r:id="rId27"/>
    <p:sldId id="280" r:id="rId28"/>
    <p:sldId id="281" r:id="rId29"/>
    <p:sldId id="326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2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4" r:id="rId53"/>
    <p:sldId id="325" r:id="rId54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33CC"/>
    <a:srgbClr val="006600"/>
    <a:srgbClr val="003300"/>
    <a:srgbClr val="FFFFCC"/>
    <a:srgbClr val="000000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44" autoAdjust="0"/>
    <p:restoredTop sz="94882" autoAdjust="0"/>
  </p:normalViewPr>
  <p:slideViewPr>
    <p:cSldViewPr>
      <p:cViewPr varScale="1">
        <p:scale>
          <a:sx n="85" d="100"/>
          <a:sy n="85" d="100"/>
        </p:scale>
        <p:origin x="1365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>
        <a:xfrm>
          <a:off x="411480" y="2909"/>
          <a:ext cx="5760720" cy="649440"/>
        </a:xfr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Abstraction</a:t>
          </a:r>
          <a:endParaRPr lang="en-SG" i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>
        <a:xfrm>
          <a:off x="0" y="3051120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Delve into a few commonly used file systems</a:t>
          </a:r>
        </a:p>
      </dgm:t>
    </dgm:pt>
    <dgm:pt modelId="{EF4B8792-D5EF-485A-8EE2-1935F7CF0D5E}">
      <dgm:prSet phldrT="[Text]"/>
      <dgm:spPr>
        <a:xfrm>
          <a:off x="411480" y="2726399"/>
          <a:ext cx="5760720" cy="649440"/>
        </a:xfr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Case Studies</a:t>
          </a:r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>
        <a:xfrm>
          <a:off x="0" y="1689374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Common implementation schemes</a:t>
          </a:r>
        </a:p>
      </dgm:t>
    </dgm:pt>
    <dgm:pt modelId="{19DC1100-A47E-4304-88BE-A5CACB459841}">
      <dgm:prSet phldrT="[Text]"/>
      <dgm:spPr>
        <a:xfrm>
          <a:off x="411480" y="1364654"/>
          <a:ext cx="5760720" cy="649440"/>
        </a:xfr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Implementation Approaches</a:t>
          </a:r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>
        <a:xfrm>
          <a:off x="0" y="327629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the logical entities present in file system</a:t>
          </a:r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69A73B21-0952-4FCD-8069-9FFA1F995E70}">
      <dgm:prSet phldrT="[Text]"/>
      <dgm:spPr>
        <a:xfrm>
          <a:off x="0" y="327629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E.g. Files / Directories</a:t>
          </a:r>
        </a:p>
      </dgm:t>
    </dgm:pt>
    <dgm:pt modelId="{2F0F650C-4595-4F2B-8313-1D4F560DE89C}" type="parTrans" cxnId="{6E435D19-92E1-40A3-9A7C-3A640F458EFD}">
      <dgm:prSet/>
      <dgm:spPr/>
      <dgm:t>
        <a:bodyPr/>
        <a:lstStyle/>
        <a:p>
          <a:endParaRPr lang="en-US"/>
        </a:p>
      </dgm:t>
    </dgm:pt>
    <dgm:pt modelId="{328CE3E8-7DE3-4B2F-9324-AF08157EC90C}" type="sibTrans" cxnId="{6E435D19-92E1-40A3-9A7C-3A640F458EFD}">
      <dgm:prSet/>
      <dgm:spPr/>
      <dgm:t>
        <a:bodyPr/>
        <a:lstStyle/>
        <a:p>
          <a:endParaRPr lang="en-US"/>
        </a:p>
      </dgm:t>
    </dgm:pt>
    <dgm:pt modelId="{14D62866-B488-4DA4-9B7E-79FA41843F1C}">
      <dgm:prSet phldrT="[Text]"/>
      <dgm:spPr>
        <a:xfrm>
          <a:off x="0" y="1689374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pros/cons</a:t>
          </a:r>
        </a:p>
      </dgm:t>
    </dgm:pt>
    <dgm:pt modelId="{3D738380-458B-401F-A20B-3C96F58507A6}" type="parTrans" cxnId="{46591E14-FE8E-4BAF-B531-0587D57BB64A}">
      <dgm:prSet/>
      <dgm:spPr/>
      <dgm:t>
        <a:bodyPr/>
        <a:lstStyle/>
        <a:p>
          <a:endParaRPr lang="en-US"/>
        </a:p>
      </dgm:t>
    </dgm:pt>
    <dgm:pt modelId="{5EF04823-791B-4413-A9B3-1D341D2F8E08}" type="sibTrans" cxnId="{46591E14-FE8E-4BAF-B531-0587D57BB64A}">
      <dgm:prSet/>
      <dgm:spPr/>
      <dgm:t>
        <a:bodyPr/>
        <a:lstStyle/>
        <a:p>
          <a:endParaRPr lang="en-US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3"/>
      <dgm:spPr>
        <a:prstGeom prst="roundRect">
          <a:avLst/>
        </a:prstGeom>
      </dgm:spPr>
    </dgm:pt>
    <dgm:pt modelId="{A0F1045D-1404-448F-A99E-5A525546E0A0}" type="pres">
      <dgm:prSet presAssocID="{847970C8-E53C-4B4F-BDE3-D67933E28B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3"/>
      <dgm:spPr>
        <a:prstGeom prst="roundRect">
          <a:avLst/>
        </a:prstGeom>
      </dgm:spPr>
    </dgm:pt>
    <dgm:pt modelId="{5F21E593-7E76-4519-9E50-0F90DEFA97F1}" type="pres">
      <dgm:prSet presAssocID="{19DC1100-A47E-4304-88BE-A5CACB4598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3"/>
      <dgm:spPr>
        <a:prstGeom prst="roundRect">
          <a:avLst/>
        </a:prstGeom>
      </dgm:spPr>
    </dgm:pt>
    <dgm:pt modelId="{9A6DF595-0921-4B96-89D8-7C40037CDB5A}" type="pres">
      <dgm:prSet presAssocID="{EF4B8792-D5EF-485A-8EE2-1935F7CF0D5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3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46591E14-FE8E-4BAF-B531-0587D57BB64A}" srcId="{19DC1100-A47E-4304-88BE-A5CACB459841}" destId="{14D62866-B488-4DA4-9B7E-79FA41843F1C}" srcOrd="1" destOrd="0" parTransId="{3D738380-458B-401F-A20B-3C96F58507A6}" sibTransId="{5EF04823-791B-4413-A9B3-1D341D2F8E08}"/>
    <dgm:cxn modelId="{6E435D19-92E1-40A3-9A7C-3A640F458EFD}" srcId="{847970C8-E53C-4B4F-BDE3-D67933E28B0C}" destId="{69A73B21-0952-4FCD-8069-9FFA1F995E70}" srcOrd="1" destOrd="0" parTransId="{2F0F650C-4595-4F2B-8313-1D4F560DE89C}" sibTransId="{328CE3E8-7DE3-4B2F-9324-AF08157EC90C}"/>
    <dgm:cxn modelId="{9A6D7C2B-D0CE-4FC2-ACC7-22E9122BD0B8}" type="presOf" srcId="{5043C3C8-A7DE-48BE-9BE5-92701A01077B}" destId="{9452430F-0D41-48E6-9EFF-D0BD9AF10AE5}" srcOrd="0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61BA634C-AEDC-416C-9D8B-75D8EB0EA30D}" type="presOf" srcId="{19DC1100-A47E-4304-88BE-A5CACB459841}" destId="{5F21E593-7E76-4519-9E50-0F90DEFA97F1}" srcOrd="1" destOrd="0" presId="urn:microsoft.com/office/officeart/2005/8/layout/list1"/>
    <dgm:cxn modelId="{EDE9FF71-1C23-45E0-A7F1-611F9DBC950F}" type="presOf" srcId="{19DC1100-A47E-4304-88BE-A5CACB459841}" destId="{365DDBCD-6A59-4480-BDDD-74ED4A644E1F}" srcOrd="0" destOrd="0" presId="urn:microsoft.com/office/officeart/2005/8/layout/list1"/>
    <dgm:cxn modelId="{FB4D0155-193D-4E5F-A4BA-23560A8B774F}" type="presOf" srcId="{69A73B21-0952-4FCD-8069-9FFA1F995E70}" destId="{F8862E14-A98C-400C-98A6-DF9C25DE3A1D}" srcOrd="0" destOrd="1" presId="urn:microsoft.com/office/officeart/2005/8/layout/list1"/>
    <dgm:cxn modelId="{476B7D81-5DAF-4D09-93C3-5F7E1FBBA1D7}" type="presOf" srcId="{EF4B8792-D5EF-485A-8EE2-1935F7CF0D5E}" destId="{F9A3B8BB-320B-43A5-8B55-882361E8B62A}" srcOrd="0" destOrd="0" presId="urn:microsoft.com/office/officeart/2005/8/layout/list1"/>
    <dgm:cxn modelId="{40CB1B8A-7D93-4FC0-984C-BA4A17E605D0}" type="presOf" srcId="{847970C8-E53C-4B4F-BDE3-D67933E28B0C}" destId="{A0F1045D-1404-448F-A99E-5A525546E0A0}" srcOrd="1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9D7BB0A1-A52D-4CF9-BCB3-25E570A64DFE}" type="presOf" srcId="{14D62866-B488-4DA4-9B7E-79FA41843F1C}" destId="{9452430F-0D41-48E6-9EFF-D0BD9AF10AE5}" srcOrd="0" destOrd="1" presId="urn:microsoft.com/office/officeart/2005/8/layout/list1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B5AB5FCB-AF23-41DC-BCCB-0120CAC127BE}" type="presOf" srcId="{41F1EDFC-F582-438B-B8E7-28751069B10F}" destId="{F8862E14-A98C-400C-98A6-DF9C25DE3A1D}" srcOrd="0" destOrd="0" presId="urn:microsoft.com/office/officeart/2005/8/layout/list1"/>
    <dgm:cxn modelId="{F81CEDDD-2244-4C58-8A58-305834C79251}" type="presOf" srcId="{EF4B8792-D5EF-485A-8EE2-1935F7CF0D5E}" destId="{9A6DF595-0921-4B96-89D8-7C40037CDB5A}" srcOrd="1" destOrd="0" presId="urn:microsoft.com/office/officeart/2005/8/layout/list1"/>
    <dgm:cxn modelId="{F044EBDE-8865-4297-838A-649B2A3BCACA}" type="presOf" srcId="{847970C8-E53C-4B4F-BDE3-D67933E28B0C}" destId="{F2C4E387-D0C4-4D15-A5DB-6C2950D6552B}" srcOrd="0" destOrd="0" presId="urn:microsoft.com/office/officeart/2005/8/layout/list1"/>
    <dgm:cxn modelId="{8A5B27FA-173D-486F-AB3E-D3F418A9B408}" type="presOf" srcId="{1FC04C6F-8784-40EB-853D-8978CEBD1172}" destId="{8762BDF2-D115-4DEA-80D9-B7EB6FE8ACA3}" srcOrd="0" destOrd="0" presId="urn:microsoft.com/office/officeart/2005/8/layout/list1"/>
    <dgm:cxn modelId="{BE5053FD-E6F0-41F1-A71F-E85D0E88E842}" type="presOf" srcId="{BCF558FE-1165-405B-9AE0-862FCD667211}" destId="{76DFFF08-9C74-4D9A-B9A5-AFC5EBEC37F1}" srcOrd="0" destOrd="0" presId="urn:microsoft.com/office/officeart/2005/8/layout/list1"/>
    <dgm:cxn modelId="{9F06E231-F943-43FD-B8AA-607563684C51}" type="presParOf" srcId="{8762BDF2-D115-4DEA-80D9-B7EB6FE8ACA3}" destId="{36326D2F-11A1-4EDB-BBF9-91F15A675029}" srcOrd="0" destOrd="0" presId="urn:microsoft.com/office/officeart/2005/8/layout/list1"/>
    <dgm:cxn modelId="{72B06E97-E7F5-4F85-ABAC-DBF98F291050}" type="presParOf" srcId="{36326D2F-11A1-4EDB-BBF9-91F15A675029}" destId="{F2C4E387-D0C4-4D15-A5DB-6C2950D6552B}" srcOrd="0" destOrd="0" presId="urn:microsoft.com/office/officeart/2005/8/layout/list1"/>
    <dgm:cxn modelId="{7F4221D5-1CD1-45D5-BAF3-B73B2EED43FE}" type="presParOf" srcId="{36326D2F-11A1-4EDB-BBF9-91F15A675029}" destId="{A0F1045D-1404-448F-A99E-5A525546E0A0}" srcOrd="1" destOrd="0" presId="urn:microsoft.com/office/officeart/2005/8/layout/list1"/>
    <dgm:cxn modelId="{D77A9C1C-A948-4E8C-ABBF-67794A95DE08}" type="presParOf" srcId="{8762BDF2-D115-4DEA-80D9-B7EB6FE8ACA3}" destId="{A46106B0-1DDD-4A32-8A4A-B8BCD6C252D7}" srcOrd="1" destOrd="0" presId="urn:microsoft.com/office/officeart/2005/8/layout/list1"/>
    <dgm:cxn modelId="{993FE06A-4494-440A-83C0-F2F5EF3395A5}" type="presParOf" srcId="{8762BDF2-D115-4DEA-80D9-B7EB6FE8ACA3}" destId="{F8862E14-A98C-400C-98A6-DF9C25DE3A1D}" srcOrd="2" destOrd="0" presId="urn:microsoft.com/office/officeart/2005/8/layout/list1"/>
    <dgm:cxn modelId="{CF7554E3-CE75-4788-831B-7CE93C0D0BB6}" type="presParOf" srcId="{8762BDF2-D115-4DEA-80D9-B7EB6FE8ACA3}" destId="{C1A842E3-2D5C-48B1-9B3A-0CF91061E0E8}" srcOrd="3" destOrd="0" presId="urn:microsoft.com/office/officeart/2005/8/layout/list1"/>
    <dgm:cxn modelId="{15810732-DF27-41A6-8D85-A65A139B8ED7}" type="presParOf" srcId="{8762BDF2-D115-4DEA-80D9-B7EB6FE8ACA3}" destId="{5AC5264A-BD87-4ADA-805A-CAD87053C504}" srcOrd="4" destOrd="0" presId="urn:microsoft.com/office/officeart/2005/8/layout/list1"/>
    <dgm:cxn modelId="{00B78823-C120-49C5-92BD-F12855523F1B}" type="presParOf" srcId="{5AC5264A-BD87-4ADA-805A-CAD87053C504}" destId="{365DDBCD-6A59-4480-BDDD-74ED4A644E1F}" srcOrd="0" destOrd="0" presId="urn:microsoft.com/office/officeart/2005/8/layout/list1"/>
    <dgm:cxn modelId="{7E5C5FFE-506C-4EBF-9346-ECFCFEA34C3E}" type="presParOf" srcId="{5AC5264A-BD87-4ADA-805A-CAD87053C504}" destId="{5F21E593-7E76-4519-9E50-0F90DEFA97F1}" srcOrd="1" destOrd="0" presId="urn:microsoft.com/office/officeart/2005/8/layout/list1"/>
    <dgm:cxn modelId="{6E8CF279-847B-4767-BDAB-D6B944CC38E9}" type="presParOf" srcId="{8762BDF2-D115-4DEA-80D9-B7EB6FE8ACA3}" destId="{C52FA751-86C5-407F-8C80-698997DA5D1E}" srcOrd="5" destOrd="0" presId="urn:microsoft.com/office/officeart/2005/8/layout/list1"/>
    <dgm:cxn modelId="{BE0D54CA-39BA-4DA5-94EF-005008667F46}" type="presParOf" srcId="{8762BDF2-D115-4DEA-80D9-B7EB6FE8ACA3}" destId="{9452430F-0D41-48E6-9EFF-D0BD9AF10AE5}" srcOrd="6" destOrd="0" presId="urn:microsoft.com/office/officeart/2005/8/layout/list1"/>
    <dgm:cxn modelId="{85FB73F4-7814-44B4-8258-2923D999076A}" type="presParOf" srcId="{8762BDF2-D115-4DEA-80D9-B7EB6FE8ACA3}" destId="{3788BD41-D0EE-4029-ADAB-6981B3F2E61A}" srcOrd="7" destOrd="0" presId="urn:microsoft.com/office/officeart/2005/8/layout/list1"/>
    <dgm:cxn modelId="{01D47B00-D391-41F3-8B62-9006ED00FCEF}" type="presParOf" srcId="{8762BDF2-D115-4DEA-80D9-B7EB6FE8ACA3}" destId="{64A41BB2-7EFA-4810-8102-ED601E93EA83}" srcOrd="8" destOrd="0" presId="urn:microsoft.com/office/officeart/2005/8/layout/list1"/>
    <dgm:cxn modelId="{7C1AF74D-D229-410C-A772-907A2362CC80}" type="presParOf" srcId="{64A41BB2-7EFA-4810-8102-ED601E93EA83}" destId="{F9A3B8BB-320B-43A5-8B55-882361E8B62A}" srcOrd="0" destOrd="0" presId="urn:microsoft.com/office/officeart/2005/8/layout/list1"/>
    <dgm:cxn modelId="{072A6CD8-9C24-4839-B49E-7937791C8B72}" type="presParOf" srcId="{64A41BB2-7EFA-4810-8102-ED601E93EA83}" destId="{9A6DF595-0921-4B96-89D8-7C40037CDB5A}" srcOrd="1" destOrd="0" presId="urn:microsoft.com/office/officeart/2005/8/layout/list1"/>
    <dgm:cxn modelId="{AF3DF1C0-B9E9-49B5-AA7C-A92D0356A07B}" type="presParOf" srcId="{8762BDF2-D115-4DEA-80D9-B7EB6FE8ACA3}" destId="{F61EB1A3-3FF9-4005-91D4-E626EBCD91B5}" srcOrd="9" destOrd="0" presId="urn:microsoft.com/office/officeart/2005/8/layout/list1"/>
    <dgm:cxn modelId="{8F14C8D2-E254-4E88-9DC0-C5DD82008B5E}" type="presParOf" srcId="{8762BDF2-D115-4DEA-80D9-B7EB6FE8ACA3}" destId="{76DFFF08-9C74-4D9A-B9A5-AFC5EBEC37F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498630"/>
          <a:ext cx="8229600" cy="1360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the logical entities present in file system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E.g. Files / Directories</a:t>
          </a:r>
        </a:p>
      </dsp:txBody>
      <dsp:txXfrm>
        <a:off x="0" y="498630"/>
        <a:ext cx="8229600" cy="1360800"/>
      </dsp:txXfrm>
    </dsp:sp>
    <dsp:sp modelId="{A0F1045D-1404-448F-A99E-5A525546E0A0}">
      <dsp:nvSpPr>
        <dsp:cNvPr id="0" name=""/>
        <dsp:cNvSpPr/>
      </dsp:nvSpPr>
      <dsp:spPr>
        <a:xfrm>
          <a:off x="411480" y="144390"/>
          <a:ext cx="5760720" cy="70848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Abstraction</a:t>
          </a:r>
          <a:endParaRPr lang="en-SG" sz="2400" i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46065" y="178975"/>
        <a:ext cx="5691550" cy="639310"/>
      </dsp:txXfrm>
    </dsp:sp>
    <dsp:sp modelId="{9452430F-0D41-48E6-9EFF-D0BD9AF10AE5}">
      <dsp:nvSpPr>
        <dsp:cNvPr id="0" name=""/>
        <dsp:cNvSpPr/>
      </dsp:nvSpPr>
      <dsp:spPr>
        <a:xfrm>
          <a:off x="0" y="2343270"/>
          <a:ext cx="8229600" cy="1360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Common implementation schemes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pros/cons</a:t>
          </a:r>
        </a:p>
      </dsp:txBody>
      <dsp:txXfrm>
        <a:off x="0" y="2343270"/>
        <a:ext cx="8229600" cy="1360800"/>
      </dsp:txXfrm>
    </dsp:sp>
    <dsp:sp modelId="{5F21E593-7E76-4519-9E50-0F90DEFA97F1}">
      <dsp:nvSpPr>
        <dsp:cNvPr id="0" name=""/>
        <dsp:cNvSpPr/>
      </dsp:nvSpPr>
      <dsp:spPr>
        <a:xfrm>
          <a:off x="411480" y="1989030"/>
          <a:ext cx="5760720" cy="70848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Implementation Approaches</a:t>
          </a:r>
        </a:p>
      </dsp:txBody>
      <dsp:txXfrm>
        <a:off x="446065" y="2023615"/>
        <a:ext cx="5691550" cy="639310"/>
      </dsp:txXfrm>
    </dsp:sp>
    <dsp:sp modelId="{76DFFF08-9C74-4D9A-B9A5-AFC5EBEC37F1}">
      <dsp:nvSpPr>
        <dsp:cNvPr id="0" name=""/>
        <dsp:cNvSpPr/>
      </dsp:nvSpPr>
      <dsp:spPr>
        <a:xfrm>
          <a:off x="0" y="4187910"/>
          <a:ext cx="8229600" cy="10017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Delve into a few commonly used file systems</a:t>
          </a:r>
        </a:p>
      </dsp:txBody>
      <dsp:txXfrm>
        <a:off x="0" y="4187910"/>
        <a:ext cx="8229600" cy="1001700"/>
      </dsp:txXfrm>
    </dsp:sp>
    <dsp:sp modelId="{9A6DF595-0921-4B96-89D8-7C40037CDB5A}">
      <dsp:nvSpPr>
        <dsp:cNvPr id="0" name=""/>
        <dsp:cNvSpPr/>
      </dsp:nvSpPr>
      <dsp:spPr>
        <a:xfrm>
          <a:off x="411480" y="3833670"/>
          <a:ext cx="5760720" cy="70848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Case Studies</a:t>
          </a:r>
        </a:p>
      </dsp:txBody>
      <dsp:txXfrm>
        <a:off x="446065" y="3868255"/>
        <a:ext cx="569155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60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17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D263FE-30C4-4A01-BC8F-57888242C67C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95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5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83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9AA77B-8A4E-4BC8-A0FC-E355D4E019D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95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5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1053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15D8DD-64C2-453F-B794-5C4CA8722BA4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98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8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670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5E9D5F-6DE3-46DC-8334-29B6EF4B60A9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034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8617C2-BBEC-4BFB-B34E-3F9E6E1D5A5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98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0721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01623F-8747-4F9A-9BF3-57A36392207C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97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7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56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571DD8AE-1A63-43A3-B33F-906D58C02DDA}" type="slidenum">
              <a:rPr lang="en-US" altLang="en-US" sz="1400" b="1" smtClean="0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pPr algn="r"/>
              <a:t>‹#›</a:t>
            </a:fld>
            <a:endParaRPr lang="en-US" altLang="en-US" sz="1400" b="1">
              <a:solidFill>
                <a:srgbClr val="000000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734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AC8FD6-5E18-4FE5-91B6-8DDD4B541DE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134775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27C717-5B67-4909-A850-1EA98D574A2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230436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8678C0C-AFD0-44EE-B946-8772FCA2267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45052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65FEFB-75D7-4844-A235-B49CF053556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706197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169341A-8748-4739-881D-6A5B986C638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36922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84A6DBE-112A-4DFE-8EE2-3B03055BBC0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983669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01EA7A-6687-4920-9CB7-900C29FEEED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107620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90D4CCA-1BB9-44F7-8203-7757F770B54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57875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0448D8-CEBB-41BC-A7FC-03FB771C7F0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16223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97101FE-95F0-43FC-B723-7B9FDDB44F5F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56525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B39E24CF-36A7-443A-8658-6A4E263F16E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54788"/>
            <a:ext cx="3886200" cy="1841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0962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L10 -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 b="1">
                <a:latin typeface="+mj-lt"/>
              </a:defRPr>
            </a:lvl1pPr>
          </a:lstStyle>
          <a:p>
            <a:fld id="{93324115-3174-47FE-877D-F1FF2BACDF9A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/>
              <a:t>‹#›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54788"/>
            <a:ext cx="3886200" cy="1841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65250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Introduction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10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76200" y="1447800"/>
            <a:ext cx="762000" cy="609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File System</a:t>
            </a:r>
          </a:p>
          <a:p>
            <a:pPr lvl="1"/>
            <a:r>
              <a:rPr lang="en-US" altLang="en-US" dirty="0"/>
              <a:t>Definition</a:t>
            </a:r>
          </a:p>
          <a:p>
            <a:pPr lvl="1"/>
            <a:r>
              <a:rPr lang="en-US" altLang="en-US" dirty="0"/>
              <a:t>Vs Memory Management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File</a:t>
            </a:r>
          </a:p>
          <a:p>
            <a:pPr lvl="1"/>
            <a:r>
              <a:rPr lang="en-US" altLang="en-US" dirty="0"/>
              <a:t>Metadata</a:t>
            </a:r>
          </a:p>
          <a:p>
            <a:pPr lvl="1"/>
            <a:r>
              <a:rPr lang="en-US" altLang="en-US" dirty="0"/>
              <a:t>Operations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Directory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216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System: </a:t>
            </a:r>
            <a:r>
              <a:rPr lang="en-US" altLang="en-US" sz="3800" dirty="0"/>
              <a:t>Motivation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Physical memory is </a:t>
            </a:r>
            <a:r>
              <a:rPr lang="en-US" altLang="en-US" b="1" dirty="0">
                <a:solidFill>
                  <a:srgbClr val="660066"/>
                </a:solidFill>
              </a:rPr>
              <a:t>volatile</a:t>
            </a:r>
            <a:endParaRPr lang="en-US" altLang="en-US" dirty="0">
              <a:solidFill>
                <a:srgbClr val="660066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Use external storage to store </a:t>
            </a:r>
            <a:r>
              <a:rPr lang="en-US" altLang="en-US" b="1" dirty="0">
                <a:solidFill>
                  <a:srgbClr val="C00000"/>
                </a:solidFill>
              </a:rPr>
              <a:t>persistent </a:t>
            </a:r>
            <a:r>
              <a:rPr lang="en-US" altLang="en-US" dirty="0"/>
              <a:t>info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Direct access to the storage media is </a:t>
            </a:r>
            <a:r>
              <a:rPr lang="en-US" altLang="en-US" b="1" dirty="0">
                <a:solidFill>
                  <a:schemeClr val="tx2"/>
                </a:solidFill>
              </a:rPr>
              <a:t>not portable: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Dependent on hardware specification and organization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31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>
                <a:solidFill>
                  <a:srgbClr val="C00000"/>
                </a:solidFill>
              </a:rPr>
              <a:t>Hard Disk Layout</a:t>
            </a:r>
            <a:endParaRPr lang="en-SG" b="1" dirty="0">
              <a:solidFill>
                <a:srgbClr val="C00000"/>
              </a:solidFill>
            </a:endParaRPr>
          </a:p>
        </p:txBody>
      </p:sp>
      <p:pic>
        <p:nvPicPr>
          <p:cNvPr id="1030" name="Picture 6" descr="https://upload.wikimedia.org/wikipedia/commons/thumb/3/30/Innansicht_Festplatte_512_MB_von_Quantum.jpg/220px-Innansicht_Festplatte_512_MB_von_Quantu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64" y="1981200"/>
            <a:ext cx="5111240" cy="418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ard disk, including tracks, sectors, and plat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20" y="1024319"/>
            <a:ext cx="3962400" cy="3046418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a/ae/Disk-structure2.svg/290px-Disk-structure2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80" y="914399"/>
            <a:ext cx="4236934" cy="423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ttps://upload.wikimedia.org/wikipedia/commons/thumb/3/30/Innansicht_Festplatte_512_MB_von_Quantum.jpg/220px-Innansicht_Festplatte_512_MB_von_Quantu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90999"/>
            <a:ext cx="3155440" cy="258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867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System: </a:t>
            </a:r>
            <a:r>
              <a:rPr lang="en-US" altLang="en-US" sz="3800" b="1" dirty="0">
                <a:solidFill>
                  <a:srgbClr val="660066"/>
                </a:solidFill>
              </a:rPr>
              <a:t>General Criteria</a:t>
            </a:r>
          </a:p>
        </p:txBody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0772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Self-Contained</a:t>
            </a:r>
            <a:r>
              <a:rPr lang="en-US" altLang="en-US" dirty="0">
                <a:solidFill>
                  <a:srgbClr val="0033CC"/>
                </a:solidFill>
              </a:rPr>
              <a:t>:</a:t>
            </a:r>
          </a:p>
          <a:p>
            <a:pPr lvl="1"/>
            <a:r>
              <a:rPr lang="en-US" altLang="en-US" dirty="0"/>
              <a:t>Information stored on a media is enough to describe the entire organization</a:t>
            </a:r>
          </a:p>
          <a:p>
            <a:pPr lvl="1"/>
            <a:r>
              <a:rPr lang="en-US" altLang="en-US" dirty="0"/>
              <a:t>Should be able to "</a:t>
            </a:r>
            <a:r>
              <a:rPr lang="en-US" alt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plug-and-play</a:t>
            </a:r>
            <a:r>
              <a:rPr lang="en-US" altLang="en-US" dirty="0"/>
              <a:t>"</a:t>
            </a:r>
          </a:p>
          <a:p>
            <a:pPr lvl="1"/>
            <a:endParaRPr lang="en-US" altLang="en-US" sz="1000" dirty="0"/>
          </a:p>
          <a:p>
            <a:r>
              <a:rPr lang="en-US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</a:t>
            </a:r>
            <a:r>
              <a:rPr lang="en-US" altLang="en-US" b="1" dirty="0">
                <a:solidFill>
                  <a:srgbClr val="008000"/>
                </a:solidFill>
              </a:rPr>
              <a:t>:</a:t>
            </a:r>
          </a:p>
          <a:p>
            <a:pPr lvl="1"/>
            <a:r>
              <a:rPr lang="en-US" altLang="en-US" dirty="0"/>
              <a:t>Beyond the lifetime of OS and processes</a:t>
            </a:r>
          </a:p>
          <a:p>
            <a:pPr lvl="1"/>
            <a:endParaRPr lang="en-US" altLang="en-US" sz="1000" dirty="0"/>
          </a:p>
          <a:p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Efficient</a:t>
            </a:r>
            <a:r>
              <a:rPr lang="en-US" altLang="en-US" b="1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altLang="en-US" dirty="0"/>
              <a:t>Provides good management of free and used space</a:t>
            </a:r>
          </a:p>
          <a:p>
            <a:pPr lvl="1"/>
            <a:r>
              <a:rPr lang="en-US" altLang="en-US" dirty="0"/>
              <a:t>Minimum overhead for bookkeeping information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48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0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Management </a:t>
            </a:r>
            <a:r>
              <a:rPr lang="en-US" altLang="en-US" sz="3600" dirty="0"/>
              <a:t>vs </a:t>
            </a:r>
            <a:r>
              <a:rPr lang="en-US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Management</a:t>
            </a:r>
          </a:p>
        </p:txBody>
      </p:sp>
      <p:graphicFrame>
        <p:nvGraphicFramePr>
          <p:cNvPr id="918584" name="Group 5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992166"/>
              </p:ext>
            </p:extLst>
          </p:nvPr>
        </p:nvGraphicFramePr>
        <p:xfrm>
          <a:off x="441960" y="973394"/>
          <a:ext cx="8321040" cy="5521930"/>
        </p:xfrm>
        <a:graphic>
          <a:graphicData uri="http://schemas.openxmlformats.org/drawingml/2006/table">
            <a:tbl>
              <a:tblPr/>
              <a:tblGrid>
                <a:gridCol w="2388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8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Memory Management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System Management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Underlying Storage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RAM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Disk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 Speed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Constant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Variable disk I/O time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Unit of Addressing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Physical memory address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Disk sector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Usage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Address space for process </a:t>
                      </a:r>
                    </a:p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Implicit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when process runs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Non-volatile data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Explicit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Organization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Paging/Segmentation: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determined by HW &amp; OS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Many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different FS: </a:t>
                      </a:r>
                    </a:p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ext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* (Linux), FAT* (Windows), HFS* (Mac OS) etc.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7"/>
          <p:cNvSpPr>
            <a:spLocks noChangeArrowheads="1"/>
          </p:cNvSpPr>
          <p:nvPr/>
        </p:nvSpPr>
        <p:spPr bwMode="auto">
          <a:xfrm>
            <a:off x="2845038" y="1769692"/>
            <a:ext cx="31242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" name="Rectangle 57"/>
          <p:cNvSpPr>
            <a:spLocks noChangeArrowheads="1"/>
          </p:cNvSpPr>
          <p:nvPr/>
        </p:nvSpPr>
        <p:spPr bwMode="auto">
          <a:xfrm>
            <a:off x="6005170" y="1778238"/>
            <a:ext cx="2743587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" name="Rectangle 57"/>
          <p:cNvSpPr>
            <a:spLocks noChangeArrowheads="1"/>
          </p:cNvSpPr>
          <p:nvPr/>
        </p:nvSpPr>
        <p:spPr bwMode="auto">
          <a:xfrm>
            <a:off x="2845038" y="2472584"/>
            <a:ext cx="3124200" cy="5668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9" name="Rectangle 57"/>
          <p:cNvSpPr>
            <a:spLocks noChangeArrowheads="1"/>
          </p:cNvSpPr>
          <p:nvPr/>
        </p:nvSpPr>
        <p:spPr bwMode="auto">
          <a:xfrm>
            <a:off x="6005170" y="2472584"/>
            <a:ext cx="2743587" cy="5754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0" name="Rectangle 57"/>
          <p:cNvSpPr>
            <a:spLocks noChangeArrowheads="1"/>
          </p:cNvSpPr>
          <p:nvPr/>
        </p:nvSpPr>
        <p:spPr bwMode="auto">
          <a:xfrm>
            <a:off x="2845037" y="3065580"/>
            <a:ext cx="3124201" cy="668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1" name="Rectangle 57"/>
          <p:cNvSpPr>
            <a:spLocks noChangeArrowheads="1"/>
          </p:cNvSpPr>
          <p:nvPr/>
        </p:nvSpPr>
        <p:spPr bwMode="auto">
          <a:xfrm>
            <a:off x="6005557" y="3056546"/>
            <a:ext cx="2743200" cy="6772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2" name="Rectangle 57"/>
          <p:cNvSpPr>
            <a:spLocks noChangeArrowheads="1"/>
          </p:cNvSpPr>
          <p:nvPr/>
        </p:nvSpPr>
        <p:spPr bwMode="auto">
          <a:xfrm>
            <a:off x="2845037" y="3759926"/>
            <a:ext cx="3124200" cy="13454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3" name="Rectangle 57"/>
          <p:cNvSpPr>
            <a:spLocks noChangeArrowheads="1"/>
          </p:cNvSpPr>
          <p:nvPr/>
        </p:nvSpPr>
        <p:spPr bwMode="auto">
          <a:xfrm>
            <a:off x="6005557" y="3759926"/>
            <a:ext cx="2743200" cy="13540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4" name="Rectangle 57"/>
          <p:cNvSpPr>
            <a:spLocks noChangeArrowheads="1"/>
          </p:cNvSpPr>
          <p:nvPr/>
        </p:nvSpPr>
        <p:spPr bwMode="auto">
          <a:xfrm>
            <a:off x="2845037" y="5126052"/>
            <a:ext cx="3124200" cy="1350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5" name="Rectangle 57"/>
          <p:cNvSpPr>
            <a:spLocks noChangeArrowheads="1"/>
          </p:cNvSpPr>
          <p:nvPr/>
        </p:nvSpPr>
        <p:spPr bwMode="auto">
          <a:xfrm>
            <a:off x="6005170" y="5134053"/>
            <a:ext cx="2743587" cy="1350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59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Topics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56590799"/>
              </p:ext>
            </p:extLst>
          </p:nvPr>
        </p:nvGraphicFramePr>
        <p:xfrm>
          <a:off x="3810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07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F1045D-1404-448F-A99E-5A525546E0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21E593-7E76-4519-9E50-0F90DEFA9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6DF595-0921-4B96-89D8-7C40037CDB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862E14-A98C-400C-98A6-DF9C25DE3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52430F-0D41-48E6-9EFF-D0BD9AF10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DFFF08-9C74-4D9A-B9A5-AFC5EBEC3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lvlAtOnc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</a:t>
            </a:r>
            <a:r>
              <a:rPr lang="en-US" dirty="0">
                <a:solidFill>
                  <a:srgbClr val="C00000"/>
                </a:solidFill>
              </a:rPr>
              <a:t>abstractions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mean files and folders are not real?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61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File System Abstraction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089900" cy="3352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Isosceles Triangle 5"/>
          <p:cNvSpPr/>
          <p:nvPr/>
        </p:nvSpPr>
        <p:spPr>
          <a:xfrm>
            <a:off x="8547100" y="6629400"/>
            <a:ext cx="1397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1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File</a:t>
            </a:r>
            <a:r>
              <a:rPr lang="en-US" altLang="en-US" dirty="0"/>
              <a:t>: Overview</a:t>
            </a:r>
          </a:p>
        </p:txBody>
      </p:sp>
      <p:sp>
        <p:nvSpPr>
          <p:cNvPr id="92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Basic Definition</a:t>
            </a:r>
          </a:p>
          <a:p>
            <a:endParaRPr lang="en-US" altLang="en-US" dirty="0"/>
          </a:p>
          <a:p>
            <a:r>
              <a:rPr lang="en-US" altLang="en-US" dirty="0"/>
              <a:t>File Metadata</a:t>
            </a:r>
          </a:p>
          <a:p>
            <a:endParaRPr lang="en-US" altLang="en-US" dirty="0"/>
          </a:p>
          <a:p>
            <a:r>
              <a:rPr lang="en-US" altLang="en-US" dirty="0"/>
              <a:t>File Data</a:t>
            </a:r>
          </a:p>
          <a:p>
            <a:pPr lvl="1"/>
            <a:r>
              <a:rPr lang="en-US" altLang="en-US" dirty="0"/>
              <a:t>File structure</a:t>
            </a:r>
          </a:p>
          <a:p>
            <a:pPr lvl="1"/>
            <a:r>
              <a:rPr lang="en-US" altLang="en-US" dirty="0"/>
              <a:t>Access Methods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File Operations</a:t>
            </a:r>
          </a:p>
        </p:txBody>
      </p:sp>
      <p:pic>
        <p:nvPicPr>
          <p:cNvPr id="921604" name="Picture 4" descr="MCj0432605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6482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128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</a:t>
            </a:r>
            <a:r>
              <a:rPr lang="en-US" altLang="en-US" sz="3800" b="1" dirty="0"/>
              <a:t>: Basic Description</a:t>
            </a:r>
          </a:p>
        </p:txBody>
      </p:sp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Represent a logical unit of information created by process</a:t>
            </a:r>
          </a:p>
          <a:p>
            <a:endParaRPr lang="en-US" altLang="en-US" dirty="0"/>
          </a:p>
          <a:p>
            <a:r>
              <a:rPr lang="en-US" altLang="en-US" dirty="0"/>
              <a:t>An </a:t>
            </a:r>
            <a:r>
              <a:rPr lang="en-US" altLang="en-US" b="1" i="1" dirty="0">
                <a:solidFill>
                  <a:srgbClr val="C00000"/>
                </a:solidFill>
              </a:rPr>
              <a:t>abstraction</a:t>
            </a:r>
          </a:p>
          <a:p>
            <a:pPr lvl="1"/>
            <a:r>
              <a:rPr lang="en-US" altLang="en-US" dirty="0"/>
              <a:t>Essentially an </a:t>
            </a:r>
            <a:r>
              <a:rPr lang="en-US" altLang="en-US" b="1" dirty="0">
                <a:solidFill>
                  <a:srgbClr val="660066"/>
                </a:solidFill>
              </a:rPr>
              <a:t>Abstract Data Type:</a:t>
            </a:r>
          </a:p>
          <a:p>
            <a:pPr lvl="1"/>
            <a:r>
              <a:rPr lang="en-US" altLang="en-US" dirty="0"/>
              <a:t>A set of common operations with various possible implementation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Contains: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Data:</a:t>
            </a:r>
            <a:r>
              <a:rPr lang="en-US" altLang="en-US" dirty="0"/>
              <a:t> Information structured in some ways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Metadata</a:t>
            </a:r>
            <a:r>
              <a:rPr lang="en-US" altLang="en-US" b="1" dirty="0">
                <a:solidFill>
                  <a:schemeClr val="tx2"/>
                </a:solidFill>
              </a:rPr>
              <a:t>:</a:t>
            </a:r>
            <a:r>
              <a:rPr lang="en-US" altLang="en-US" dirty="0"/>
              <a:t> Additional information associated with the file</a:t>
            </a:r>
          </a:p>
          <a:p>
            <a:pPr lvl="2"/>
            <a:r>
              <a:rPr lang="en-US" altLang="en-US" dirty="0"/>
              <a:t>Also known as </a:t>
            </a:r>
            <a:r>
              <a:rPr lang="en-US" altLang="en-US" b="1" dirty="0">
                <a:solidFill>
                  <a:srgbClr val="660066"/>
                </a:solidFill>
              </a:rPr>
              <a:t>file attributes</a:t>
            </a:r>
            <a:endParaRPr lang="en-US" altLang="en-US" dirty="0">
              <a:solidFill>
                <a:srgbClr val="660066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31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Metadata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808233"/>
              </p:ext>
            </p:extLst>
          </p:nvPr>
        </p:nvGraphicFramePr>
        <p:xfrm>
          <a:off x="457200" y="1049383"/>
          <a:ext cx="8153400" cy="53514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5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33CC"/>
                          </a:solidFill>
                        </a:rPr>
                        <a:t>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 human readable reference to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5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8000"/>
                          </a:solidFill>
                        </a:rPr>
                        <a:t>Identifier: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 unique id for the file used internally by FS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6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9900CC"/>
                          </a:solidFill>
                        </a:rPr>
                        <a:t>Type: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 different type of files</a:t>
                      </a:r>
                    </a:p>
                    <a:p>
                      <a:r>
                        <a:rPr lang="en-US" dirty="0"/>
                        <a:t>E.g. executable, text file, object file, directory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4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8000"/>
                          </a:solidFill>
                        </a:rPr>
                        <a:t>Size: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Current size of file (in bytes, words or blocks)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0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33CC"/>
                          </a:solidFill>
                        </a:rPr>
                        <a:t>Protection: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Access permissions, can be classified as reading, writing and execution rights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40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chemeClr val="tx2"/>
                          </a:solidFill>
                        </a:rPr>
                        <a:t>Time, date and owner information: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Creation, last modification time, owner id </a:t>
                      </a:r>
                      <a:r>
                        <a:rPr lang="en-US" altLang="en-US" dirty="0" err="1"/>
                        <a:t>etc</a:t>
                      </a:r>
                      <a:endParaRPr lang="en-US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9900CC"/>
                          </a:solidFill>
                        </a:rPr>
                        <a:t>Table of content: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Information for the FS to determine how to access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Name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Different FS has different </a:t>
            </a:r>
            <a:r>
              <a:rPr lang="en-US" altLang="en-US" b="1" dirty="0"/>
              <a:t>naming rule</a:t>
            </a:r>
            <a:endParaRPr lang="en-US" altLang="en-US" dirty="0"/>
          </a:p>
          <a:p>
            <a:pPr lvl="1"/>
            <a:r>
              <a:rPr lang="en-US" altLang="en-US" dirty="0"/>
              <a:t>To determine valid file name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Common naming rule:</a:t>
            </a:r>
          </a:p>
          <a:p>
            <a:pPr lvl="1"/>
            <a:r>
              <a:rPr lang="en-US" altLang="en-US" dirty="0"/>
              <a:t>Length of file name</a:t>
            </a:r>
          </a:p>
          <a:p>
            <a:pPr lvl="1"/>
            <a:r>
              <a:rPr lang="en-US" altLang="en-US" dirty="0"/>
              <a:t>Case sensitivity</a:t>
            </a:r>
          </a:p>
          <a:p>
            <a:pPr lvl="1"/>
            <a:r>
              <a:rPr lang="en-US" altLang="en-US" dirty="0"/>
              <a:t>Allowed special symbols</a:t>
            </a:r>
          </a:p>
          <a:p>
            <a:pPr lvl="1"/>
            <a:r>
              <a:rPr lang="en-US" altLang="en-US" dirty="0"/>
              <a:t>File extension</a:t>
            </a:r>
          </a:p>
          <a:p>
            <a:pPr lvl="2"/>
            <a:r>
              <a:rPr lang="en-US" altLang="en-US" dirty="0"/>
              <a:t>Usual form </a:t>
            </a:r>
            <a:r>
              <a:rPr lang="en-US" altLang="en-US" b="1" dirty="0" err="1">
                <a:solidFill>
                  <a:srgbClr val="9900CC"/>
                </a:solidFill>
                <a:latin typeface="Courier New" panose="02070309020205020404" pitchFamily="49" charset="0"/>
              </a:rPr>
              <a:t>Name</a:t>
            </a:r>
            <a:r>
              <a:rPr lang="en-US" altLang="en-US" b="1" dirty="0" err="1">
                <a:latin typeface="Courier New" panose="02070309020205020404" pitchFamily="49" charset="0"/>
              </a:rPr>
              <a:t>.</a:t>
            </a:r>
            <a:r>
              <a:rPr lang="en-US" altLang="en-US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Extension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altLang="en-US" dirty="0"/>
              <a:t>On </a:t>
            </a:r>
            <a:r>
              <a:rPr lang="en-US" altLang="en-US" b="1" dirty="0"/>
              <a:t>some </a:t>
            </a:r>
            <a:r>
              <a:rPr lang="en-US" altLang="en-US" dirty="0"/>
              <a:t>FS, extension is used to indicate </a:t>
            </a:r>
            <a:r>
              <a:rPr lang="en-US" altLang="en-US" b="1" dirty="0"/>
              <a:t>file type</a:t>
            </a: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97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Type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OS commonly supports a number of </a:t>
            </a:r>
            <a:r>
              <a:rPr lang="en-US" altLang="en-US" b="1" dirty="0">
                <a:solidFill>
                  <a:srgbClr val="C00000"/>
                </a:solidFill>
              </a:rPr>
              <a:t>file types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Each file type has: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 associated set of operations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Possibly a specific program for processing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Common file types: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</a:rPr>
              <a:t>Regular files:</a:t>
            </a:r>
            <a:r>
              <a:rPr lang="en-US" altLang="en-US" dirty="0">
                <a:solidFill>
                  <a:srgbClr val="003300"/>
                </a:solidFill>
              </a:rPr>
              <a:t> </a:t>
            </a:r>
            <a:r>
              <a:rPr lang="en-US" altLang="en-US" dirty="0"/>
              <a:t>contains user information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</a:rPr>
              <a:t>Directories: </a:t>
            </a:r>
            <a:r>
              <a:rPr lang="en-US" altLang="en-US" dirty="0"/>
              <a:t>system files for FS structure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Special files: </a:t>
            </a:r>
            <a:r>
              <a:rPr lang="en-US" altLang="en-US" dirty="0"/>
              <a:t>character/block oriented </a:t>
            </a:r>
            <a:endParaRPr lang="en-US" altLang="en-US" b="1" dirty="0"/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4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Two Major Types of Regular Files</a:t>
            </a:r>
          </a:p>
        </p:txBody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ASCII files: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text file, programming source codes,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Can be displayed or printed </a:t>
            </a:r>
            <a:r>
              <a:rPr lang="en-US" altLang="en-US" b="1" dirty="0"/>
              <a:t>as is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8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</a:rPr>
              <a:t>Binary files: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executable, Java class file, pdf file, mp3/4, </a:t>
            </a:r>
            <a:r>
              <a:rPr lang="en-US" altLang="en-US" dirty="0" err="1"/>
              <a:t>png</a:t>
            </a:r>
            <a:r>
              <a:rPr lang="en-US" altLang="en-US" dirty="0"/>
              <a:t>/jpeg/bmp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Have a predefined internal structure that can be processed by specific program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JVM to execute Java class file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PDF reader for pdf file </a:t>
            </a:r>
            <a:r>
              <a:rPr lang="en-US" altLang="en-US" dirty="0" err="1"/>
              <a:t>etc</a:t>
            </a:r>
            <a:r>
              <a:rPr lang="en-US" alt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79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7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Distinguishing File Type</a:t>
            </a:r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Use file extension</a:t>
            </a:r>
            <a:r>
              <a:rPr lang="en-US" altLang="en-US" dirty="0"/>
              <a:t> as indication: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Used by Windows OS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e.g. </a:t>
            </a:r>
            <a:r>
              <a:rPr lang="en-US" altLang="en-US" b="1" dirty="0">
                <a:latin typeface="Courier New" panose="02070309020205020404" pitchFamily="49" charset="0"/>
              </a:rPr>
              <a:t>XXX.docx</a:t>
            </a:r>
            <a:r>
              <a:rPr lang="en-US" altLang="en-US" dirty="0"/>
              <a:t> </a:t>
            </a:r>
            <a:r>
              <a:rPr lang="en-US" altLang="en-US" dirty="0">
                <a:sym typeface="Wingdings" panose="05000000000000000000" pitchFamily="2" charset="2"/>
              </a:rPr>
              <a:t> Words document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>
                <a:sym typeface="Wingdings" panose="05000000000000000000" pitchFamily="2" charset="2"/>
              </a:rPr>
              <a:t>Change of extension implies a change in file type!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Use embedded information</a:t>
            </a:r>
            <a:r>
              <a:rPr lang="en-US" altLang="en-US" dirty="0"/>
              <a:t> in the file: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Used by Unix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Usually stored at the beginning of the file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Commonly known as </a:t>
            </a:r>
            <a:r>
              <a:rPr lang="en-US" altLang="en-US" b="1" dirty="0">
                <a:solidFill>
                  <a:srgbClr val="9900CC"/>
                </a:solidFill>
              </a:rPr>
              <a:t>magic number</a:t>
            </a:r>
            <a:endParaRPr lang="en-US" altLang="en-US" dirty="0">
              <a:solidFill>
                <a:srgbClr val="9900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82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Protection</a:t>
            </a:r>
          </a:p>
        </p:txBody>
      </p:sp>
      <p:sp>
        <p:nvSpPr>
          <p:cNvPr id="94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Controlled access to the information stored in a file</a:t>
            </a:r>
          </a:p>
          <a:p>
            <a:endParaRPr lang="en-US" altLang="en-US" b="1" dirty="0"/>
          </a:p>
          <a:p>
            <a:r>
              <a:rPr lang="en-US" altLang="en-US" b="1" dirty="0"/>
              <a:t>Type of access: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Read:</a:t>
            </a:r>
            <a:r>
              <a:rPr lang="en-US" altLang="en-US" dirty="0"/>
              <a:t> Retrieve information from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Write:</a:t>
            </a:r>
            <a:r>
              <a:rPr lang="en-US" altLang="en-US" dirty="0"/>
              <a:t> Write/Rewrite the file</a:t>
            </a:r>
          </a:p>
          <a:p>
            <a:pPr lvl="1"/>
            <a:r>
              <a:rPr lang="en-US" altLang="en-US" b="1" dirty="0">
                <a:solidFill>
                  <a:srgbClr val="9900CC"/>
                </a:solidFill>
              </a:rPr>
              <a:t>Execute:</a:t>
            </a:r>
            <a:r>
              <a:rPr lang="en-US" altLang="en-US" dirty="0"/>
              <a:t> Load file into memory and execute it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Append</a:t>
            </a:r>
            <a:r>
              <a:rPr lang="en-US" altLang="en-US" b="1" dirty="0"/>
              <a:t>:</a:t>
            </a:r>
            <a:r>
              <a:rPr lang="en-US" altLang="en-US" dirty="0"/>
              <a:t> Add new information to the end of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Delete</a:t>
            </a:r>
            <a:r>
              <a:rPr lang="en-US" altLang="en-US" b="1" dirty="0"/>
              <a:t>:</a:t>
            </a:r>
            <a:r>
              <a:rPr lang="en-US" altLang="en-US" dirty="0"/>
              <a:t> Remove the file from FS</a:t>
            </a:r>
          </a:p>
          <a:p>
            <a:pPr lvl="1"/>
            <a:r>
              <a:rPr lang="en-US" altLang="en-US" b="1" dirty="0">
                <a:solidFill>
                  <a:srgbClr val="9900CC"/>
                </a:solidFill>
              </a:rPr>
              <a:t>List</a:t>
            </a:r>
            <a:r>
              <a:rPr lang="en-US" altLang="en-US" b="1" dirty="0"/>
              <a:t>:</a:t>
            </a:r>
            <a:r>
              <a:rPr lang="en-US" altLang="en-US" dirty="0"/>
              <a:t> Read metadata of a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81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File Protection: </a:t>
            </a:r>
            <a:r>
              <a:rPr lang="en-US" altLang="en-US" sz="3800" dirty="0"/>
              <a:t>How?</a:t>
            </a:r>
          </a:p>
        </p:txBody>
      </p:sp>
      <p:sp>
        <p:nvSpPr>
          <p:cNvPr id="94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Most common approach: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Restrict access base on the user identity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Most general scheme: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Access Control List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list of user identity and the allowed access types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</a:rPr>
              <a:t>Pros: </a:t>
            </a:r>
            <a:r>
              <a:rPr lang="en-US" altLang="en-US" dirty="0"/>
              <a:t>Very customizable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Cons: </a:t>
            </a:r>
            <a:r>
              <a:rPr lang="en-US" altLang="en-US" dirty="0"/>
              <a:t>Too much information associated with file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common condensed file protection scheme is discussed next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26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chemeClr val="tx1"/>
                </a:solidFill>
              </a:rPr>
              <a:t>File Protection: </a:t>
            </a:r>
            <a:r>
              <a:rPr lang="en-US" altLang="en-US" sz="3800" dirty="0">
                <a:solidFill>
                  <a:schemeClr val="tx1"/>
                </a:solidFill>
              </a:rPr>
              <a:t>How?   (</a:t>
            </a:r>
            <a:r>
              <a:rPr lang="en-US" altLang="en-US" sz="3800" dirty="0" err="1">
                <a:solidFill>
                  <a:schemeClr val="tx1"/>
                </a:solidFill>
              </a:rPr>
              <a:t>cont</a:t>
            </a:r>
            <a:r>
              <a:rPr lang="en-US" altLang="en-US" sz="3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5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Classified the users into three classes: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Owner:</a:t>
            </a:r>
            <a:r>
              <a:rPr lang="en-US" altLang="en-US" dirty="0"/>
              <a:t> The user who created the file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008000"/>
                </a:solidFill>
              </a:rPr>
              <a:t>Group:</a:t>
            </a:r>
            <a:r>
              <a:rPr lang="en-US" altLang="en-US" dirty="0"/>
              <a:t> A set of users who need similar access to a file 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9900CC"/>
                </a:solidFill>
              </a:rPr>
              <a:t>Universe:</a:t>
            </a:r>
            <a:r>
              <a:rPr lang="en-US" altLang="en-US" dirty="0"/>
              <a:t> All other users in the 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 (Unix)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Define permission of three access types (</a:t>
            </a:r>
            <a:r>
              <a:rPr lang="en-US" altLang="en-US" b="1" dirty="0"/>
              <a:t>R</a:t>
            </a:r>
            <a:r>
              <a:rPr lang="en-US" altLang="en-US" dirty="0"/>
              <a:t>ead/</a:t>
            </a:r>
            <a:r>
              <a:rPr lang="en-US" altLang="en-US" b="1" dirty="0"/>
              <a:t>W</a:t>
            </a:r>
            <a:r>
              <a:rPr lang="en-US" altLang="en-US" dirty="0"/>
              <a:t>rite/E</a:t>
            </a:r>
            <a:r>
              <a:rPr lang="en-US" altLang="en-US" b="1" dirty="0"/>
              <a:t>x</a:t>
            </a:r>
            <a:r>
              <a:rPr lang="en-US" altLang="en-US" dirty="0"/>
              <a:t>ecute) for the 3 classes of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"</a:t>
            </a:r>
            <a:r>
              <a:rPr lang="en-US" altLang="en-US" sz="2400" b="1" dirty="0">
                <a:latin typeface="Courier New" panose="02070309020205020404" pitchFamily="49" charset="0"/>
              </a:rPr>
              <a:t>ls –l</a:t>
            </a:r>
            <a:r>
              <a:rPr lang="en-US" altLang="en-US" dirty="0"/>
              <a:t>" to see the permission bits for a file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950276" name="Text Box 4"/>
          <p:cNvSpPr txBox="1">
            <a:spLocks noChangeArrowheads="1"/>
          </p:cNvSpPr>
          <p:nvPr/>
        </p:nvSpPr>
        <p:spPr bwMode="auto">
          <a:xfrm>
            <a:off x="1524000" y="5105400"/>
            <a:ext cx="6248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 err="1">
                <a:solidFill>
                  <a:srgbClr val="CC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rwx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</a:t>
            </a:r>
            <a:r>
              <a:rPr lang="en-US" alt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--</a:t>
            </a:r>
            <a:r>
              <a:rPr lang="en-US" altLang="en-US" sz="2400" b="1" dirty="0">
                <a:solidFill>
                  <a:srgbClr val="9900CC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r--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somefile.eg </a:t>
            </a:r>
          </a:p>
        </p:txBody>
      </p:sp>
      <p:sp>
        <p:nvSpPr>
          <p:cNvPr id="950277" name="AutoShape 5"/>
          <p:cNvSpPr>
            <a:spLocks/>
          </p:cNvSpPr>
          <p:nvPr/>
        </p:nvSpPr>
        <p:spPr bwMode="auto">
          <a:xfrm rot="5400000">
            <a:off x="1790700" y="52959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78" name="AutoShape 6"/>
          <p:cNvSpPr>
            <a:spLocks/>
          </p:cNvSpPr>
          <p:nvPr/>
        </p:nvSpPr>
        <p:spPr bwMode="auto">
          <a:xfrm rot="5400000">
            <a:off x="2324100" y="5372100"/>
            <a:ext cx="228600" cy="4572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79" name="AutoShape 7"/>
          <p:cNvSpPr>
            <a:spLocks/>
          </p:cNvSpPr>
          <p:nvPr/>
        </p:nvSpPr>
        <p:spPr bwMode="auto">
          <a:xfrm rot="5400000">
            <a:off x="2857500" y="5372100"/>
            <a:ext cx="228600" cy="4572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80" name="AutoShape 8"/>
          <p:cNvSpPr>
            <a:spLocks/>
          </p:cNvSpPr>
          <p:nvPr/>
        </p:nvSpPr>
        <p:spPr bwMode="auto">
          <a:xfrm>
            <a:off x="2667000" y="6019800"/>
            <a:ext cx="1066800" cy="419100"/>
          </a:xfrm>
          <a:prstGeom prst="accentCallout2">
            <a:avLst>
              <a:gd name="adj1" fmla="val 27273"/>
              <a:gd name="adj2" fmla="val -7144"/>
              <a:gd name="adj3" fmla="val 27273"/>
              <a:gd name="adj4" fmla="val -14731"/>
              <a:gd name="adj5" fmla="val -75380"/>
              <a:gd name="adj6" fmla="val -2247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</a:p>
        </p:txBody>
      </p:sp>
      <p:sp>
        <p:nvSpPr>
          <p:cNvPr id="950281" name="AutoShape 9"/>
          <p:cNvSpPr>
            <a:spLocks/>
          </p:cNvSpPr>
          <p:nvPr/>
        </p:nvSpPr>
        <p:spPr bwMode="auto">
          <a:xfrm>
            <a:off x="457200" y="5867400"/>
            <a:ext cx="914400" cy="419100"/>
          </a:xfrm>
          <a:prstGeom prst="accentCallout2">
            <a:avLst>
              <a:gd name="adj1" fmla="val 27273"/>
              <a:gd name="adj2" fmla="val 108333"/>
              <a:gd name="adj3" fmla="val 27273"/>
              <a:gd name="adj4" fmla="val 131250"/>
              <a:gd name="adj5" fmla="val -41667"/>
              <a:gd name="adj6" fmla="val 15486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</a:p>
        </p:txBody>
      </p:sp>
      <p:sp>
        <p:nvSpPr>
          <p:cNvPr id="950282" name="AutoShape 10"/>
          <p:cNvSpPr>
            <a:spLocks/>
          </p:cNvSpPr>
          <p:nvPr/>
        </p:nvSpPr>
        <p:spPr bwMode="auto">
          <a:xfrm>
            <a:off x="4114800" y="5943600"/>
            <a:ext cx="1371600" cy="419100"/>
          </a:xfrm>
          <a:prstGeom prst="accentCallout2">
            <a:avLst>
              <a:gd name="adj1" fmla="val 27273"/>
              <a:gd name="adj2" fmla="val -5556"/>
              <a:gd name="adj3" fmla="val 27273"/>
              <a:gd name="adj4" fmla="val -42245"/>
              <a:gd name="adj5" fmla="val -49241"/>
              <a:gd name="adj6" fmla="val -8009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8FD6-5E18-4FE5-91B6-8DDD4B541DE9}" type="slidenum">
              <a:rPr lang="en-US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18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solidFill>
                  <a:schemeClr val="tx1"/>
                </a:solidFill>
              </a:rPr>
              <a:t>File Protection: </a:t>
            </a:r>
            <a:r>
              <a:rPr lang="en-US" altLang="en-US" sz="4000" b="1" dirty="0">
                <a:solidFill>
                  <a:schemeClr val="tx1"/>
                </a:solidFill>
              </a:rPr>
              <a:t>Access Control List</a:t>
            </a:r>
            <a:endParaRPr lang="en-S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676400"/>
          </a:xfrm>
        </p:spPr>
        <p:txBody>
          <a:bodyPr/>
          <a:lstStyle/>
          <a:p>
            <a:r>
              <a:rPr lang="en-US" dirty="0"/>
              <a:t>In Unix, Access Control List (ACL) can be:</a:t>
            </a:r>
          </a:p>
          <a:p>
            <a:pPr lvl="1"/>
            <a:r>
              <a:rPr lang="en-US" dirty="0"/>
              <a:t>Minimal ACL (the same as the permission bits)</a:t>
            </a:r>
          </a:p>
          <a:p>
            <a:pPr lvl="1"/>
            <a:r>
              <a:rPr lang="en-US" dirty="0"/>
              <a:t>Extended ACL (added </a:t>
            </a:r>
            <a:r>
              <a:rPr lang="en-US" b="1" dirty="0"/>
              <a:t>named users / group </a:t>
            </a:r>
            <a:r>
              <a:rPr lang="en-US" dirty="0"/>
              <a:t>)</a:t>
            </a:r>
          </a:p>
          <a:p>
            <a:pPr lvl="1"/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62200" y="2658533"/>
            <a:ext cx="3657600" cy="35814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SG" b="1" dirty="0" err="1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getfacl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exampleDir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exampleDir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owner: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sooyj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group: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compsc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user::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user:aaron:rwx</a:t>
            </a: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group::r-x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group:cohort17:rwx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mask::</a:t>
            </a:r>
            <a:r>
              <a:rPr lang="en-SG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other::---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8FD6-5E18-4FE5-91B6-8DDD4B541DE9}" type="slidenum">
              <a:rPr lang="en-US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129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Operations on File Metadata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Rename: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Change filename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Change attributes: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access permissions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Dates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Ownership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Read attribute: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Get file creation time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177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15240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Array of bytes</a:t>
            </a:r>
            <a:r>
              <a:rPr lang="en-US" altLang="en-US" dirty="0">
                <a:solidFill>
                  <a:srgbClr val="C00000"/>
                </a:solidFill>
              </a:rPr>
              <a:t>: </a:t>
            </a:r>
          </a:p>
          <a:p>
            <a:pPr lvl="1"/>
            <a:r>
              <a:rPr lang="en-US" altLang="en-US" dirty="0"/>
              <a:t>Each byte has an unique </a:t>
            </a:r>
            <a:r>
              <a:rPr lang="en-US" altLang="en-US" b="1" dirty="0">
                <a:solidFill>
                  <a:srgbClr val="008000"/>
                </a:solidFill>
              </a:rPr>
              <a:t>offset</a:t>
            </a:r>
            <a:r>
              <a:rPr lang="en-US" altLang="en-US" b="1" dirty="0"/>
              <a:t> (distance) </a:t>
            </a:r>
            <a:r>
              <a:rPr lang="en-US" altLang="en-US" dirty="0"/>
              <a:t>from the file start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914400"/>
            <a:ext cx="8229600" cy="232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 dirty="0">
                <a:solidFill>
                  <a:srgbClr val="C00000"/>
                </a:solidFill>
              </a:rPr>
              <a:t>Fixed length records:</a:t>
            </a:r>
          </a:p>
          <a:p>
            <a:pPr lvl="1"/>
            <a:r>
              <a:rPr lang="en-US" altLang="en-US" kern="0" dirty="0"/>
              <a:t>Array of records, can grow/shrink</a:t>
            </a:r>
          </a:p>
          <a:p>
            <a:pPr lvl="1"/>
            <a:r>
              <a:rPr lang="en-US" altLang="en-US" kern="0" dirty="0"/>
              <a:t>Can jump to any record easily:</a:t>
            </a:r>
          </a:p>
          <a:p>
            <a:pPr lvl="2"/>
            <a:r>
              <a:rPr lang="en-US" altLang="en-US" kern="0" dirty="0"/>
              <a:t>Offset of the</a:t>
            </a:r>
            <a:r>
              <a:rPr lang="en-US" altLang="en-US" b="1" kern="0" dirty="0">
                <a:solidFill>
                  <a:srgbClr val="0033CC"/>
                </a:solidFill>
              </a:rPr>
              <a:t> N</a:t>
            </a:r>
            <a:r>
              <a:rPr lang="en-US" altLang="en-US" b="1" kern="0" baseline="30000" dirty="0">
                <a:solidFill>
                  <a:srgbClr val="0033CC"/>
                </a:solidFill>
              </a:rPr>
              <a:t>th </a:t>
            </a:r>
            <a:r>
              <a:rPr lang="en-US" altLang="en-US" kern="0" dirty="0"/>
              <a:t>record = size of Record * (N-1)</a:t>
            </a:r>
            <a:r>
              <a:rPr lang="en-US" altLang="en-US" b="1" kern="0" dirty="0">
                <a:solidFill>
                  <a:srgbClr val="0033CC"/>
                </a:solidFill>
              </a:rPr>
              <a:t>  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914400"/>
            <a:ext cx="8229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 dirty="0">
                <a:solidFill>
                  <a:srgbClr val="C00000"/>
                </a:solidFill>
              </a:rPr>
              <a:t>Variable length records:</a:t>
            </a:r>
          </a:p>
          <a:p>
            <a:pPr lvl="1"/>
            <a:r>
              <a:rPr lang="en-US" altLang="en-US" kern="0" dirty="0"/>
              <a:t>Flexible but harder to locate a record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94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3" grpId="0" uiExpand="1" build="p"/>
      <p:bldP spid="952323" grpId="1" build="p"/>
      <p:bldP spid="7" grpId="0" uiExpand="1" build="p"/>
      <p:bldP spid="7" grpId="1" build="allAtOnce"/>
      <p:bldP spid="8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Access Methods</a:t>
            </a:r>
          </a:p>
        </p:txBody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Sequential Access:</a:t>
            </a:r>
          </a:p>
          <a:p>
            <a:pPr lvl="1"/>
            <a:r>
              <a:rPr lang="en-US" altLang="en-US" dirty="0"/>
              <a:t>Data read in order, starting from the beginning</a:t>
            </a:r>
          </a:p>
          <a:p>
            <a:pPr lvl="1"/>
            <a:r>
              <a:rPr lang="en-US" altLang="en-US" dirty="0"/>
              <a:t>Cannot skip but can be rewound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Random Access: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Data can be read in any order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be provided in two ways: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Offset</a:t>
            </a:r>
            <a:r>
              <a:rPr lang="en-US" altLang="en-US" b="1" dirty="0">
                <a:latin typeface="Courier New" panose="02070309020205020404" pitchFamily="49" charset="0"/>
              </a:rPr>
              <a:t> ):</a:t>
            </a:r>
            <a:r>
              <a:rPr lang="en-US" altLang="en-US" dirty="0"/>
              <a:t>  Every read operation explicitly state the position to be accessed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Seek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Offset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):</a:t>
            </a:r>
            <a:r>
              <a:rPr lang="en-US" altLang="en-US" dirty="0"/>
              <a:t> A special operation is provided to move to a new location in file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Unix and Windows uses (2) 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  <p:pic>
        <p:nvPicPr>
          <p:cNvPr id="1026" name="Picture 2" descr="https://pmaconsulting.co.za/sites/default/files/uploads/images/01-computer-magnetic-tape_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7619998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50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Access Methods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 )</a:t>
            </a:r>
          </a:p>
        </p:txBody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Direct Access:</a:t>
            </a:r>
          </a:p>
          <a:p>
            <a:pPr lvl="1"/>
            <a:r>
              <a:rPr lang="en-US" altLang="en-US" dirty="0"/>
              <a:t>Used for file contains </a:t>
            </a:r>
            <a:r>
              <a:rPr lang="en-US" altLang="en-US" b="1" dirty="0">
                <a:solidFill>
                  <a:srgbClr val="006600"/>
                </a:solidFill>
              </a:rPr>
              <a:t>fixed-length records</a:t>
            </a:r>
          </a:p>
          <a:p>
            <a:pPr lvl="1"/>
            <a:r>
              <a:rPr lang="en-US" altLang="en-US" dirty="0"/>
              <a:t>Allow </a:t>
            </a:r>
            <a:r>
              <a:rPr lang="en-US" altLang="en-US" b="1" i="1" dirty="0"/>
              <a:t>random access to any record directly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Very useful where there is a large amount of records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The basic random access method can be view as a special case:</a:t>
            </a:r>
          </a:p>
          <a:p>
            <a:pPr lvl="2"/>
            <a:r>
              <a:rPr lang="en-US" altLang="en-US" dirty="0"/>
              <a:t>Where </a:t>
            </a:r>
            <a:r>
              <a:rPr lang="en-US" altLang="en-US" b="1" dirty="0">
                <a:solidFill>
                  <a:srgbClr val="C00000"/>
                </a:solidFill>
              </a:rPr>
              <a:t>each record == one byte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779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File Data: Generic Operations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161708"/>
              </p:ext>
            </p:extLst>
          </p:nvPr>
        </p:nvGraphicFramePr>
        <p:xfrm>
          <a:off x="457200" y="1142998"/>
          <a:ext cx="8153400" cy="51054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00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008000"/>
                          </a:solidFill>
                        </a:rPr>
                        <a:t>Create: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New file is created with no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41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chemeClr val="tx2"/>
                          </a:solidFill>
                        </a:rPr>
                        <a:t>Open:</a:t>
                      </a:r>
                      <a:endParaRPr lang="en-US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Performed before further operations</a:t>
                      </a:r>
                    </a:p>
                    <a:p>
                      <a:r>
                        <a:rPr lang="en-US" sz="2000" dirty="0"/>
                        <a:t>To prepare the necessary information for file operations later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41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0033CC"/>
                          </a:solidFill>
                        </a:rPr>
                        <a:t>Read:</a:t>
                      </a:r>
                      <a:endParaRPr lang="en-US" altLang="en-US" sz="2000" dirty="0">
                        <a:solidFill>
                          <a:srgbClr val="0033CC"/>
                        </a:solidFill>
                      </a:endParaRPr>
                    </a:p>
                    <a:p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Read data from file, usually starting from current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07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9900CC"/>
                          </a:solidFill>
                        </a:rPr>
                        <a:t>Write: </a:t>
                      </a:r>
                    </a:p>
                    <a:p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Write data to file, usually starting from current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5417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008000"/>
                          </a:solidFill>
                        </a:rPr>
                        <a:t>Repositioning: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Also known as seek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Move the current position to a new location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No actual Read/Write is performed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074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0033CC"/>
                          </a:solidFill>
                        </a:rPr>
                        <a:t>Truncate: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Removes data between specified position to end of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788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File Operations</a:t>
            </a:r>
            <a:r>
              <a:rPr lang="en-US" altLang="en-US" sz="3800" dirty="0"/>
              <a:t> as </a:t>
            </a:r>
            <a:r>
              <a:rPr lang="en-US" altLang="en-US" sz="3800" b="1" dirty="0">
                <a:solidFill>
                  <a:srgbClr val="C00000"/>
                </a:solidFill>
              </a:rPr>
              <a:t>System Calls</a:t>
            </a:r>
          </a:p>
        </p:txBody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OS provides file operations as </a:t>
            </a:r>
            <a:r>
              <a:rPr lang="en-US" altLang="en-US" b="1" dirty="0">
                <a:solidFill>
                  <a:srgbClr val="C00000"/>
                </a:solidFill>
              </a:rPr>
              <a:t>system calls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Provide protection, concurrent and efficient access</a:t>
            </a:r>
          </a:p>
          <a:p>
            <a:pPr lvl="1"/>
            <a:r>
              <a:rPr lang="en-US" altLang="en-US" dirty="0"/>
              <a:t>Maintain information</a:t>
            </a:r>
          </a:p>
          <a:p>
            <a:endParaRPr lang="en-US" altLang="en-US" dirty="0"/>
          </a:p>
          <a:p>
            <a:r>
              <a:rPr lang="en-US" altLang="en-US" dirty="0"/>
              <a:t>Information kept for an opened file:</a:t>
            </a:r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File Pointer:</a:t>
            </a:r>
            <a:r>
              <a:rPr lang="en-US" altLang="en-US" dirty="0"/>
              <a:t> Current location in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Disk Location:</a:t>
            </a:r>
            <a:r>
              <a:rPr lang="en-US" altLang="en-US" dirty="0"/>
              <a:t> Actual file location on disk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Open Count:</a:t>
            </a:r>
            <a:r>
              <a:rPr lang="en-US" altLang="en-US" dirty="0"/>
              <a:t> How many process has this file opened?</a:t>
            </a:r>
          </a:p>
          <a:p>
            <a:pPr lvl="2"/>
            <a:r>
              <a:rPr lang="en-US" altLang="en-US" dirty="0"/>
              <a:t>Useful to determine when to remove the entry in table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81000" y="3124200"/>
            <a:ext cx="8382000" cy="31242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Let's Code!</a:t>
            </a:r>
            <a:endParaRPr lang="en-SG" sz="6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78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07" grpId="0" uiExpand="1" build="p"/>
      <p:bldP spid="2" grpId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File Operations as System Calls (</a:t>
            </a:r>
            <a:r>
              <a:rPr lang="en-US" altLang="en-US" sz="3800" b="1" dirty="0" err="1"/>
              <a:t>cont</a:t>
            </a:r>
            <a:r>
              <a:rPr lang="en-US" altLang="en-US" sz="3800" b="1" dirty="0"/>
              <a:t>)</a:t>
            </a:r>
          </a:p>
        </p:txBody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Consider:</a:t>
            </a:r>
          </a:p>
          <a:p>
            <a:pPr lvl="1"/>
            <a:r>
              <a:rPr lang="en-US" altLang="en-US" dirty="0"/>
              <a:t>Several processes can open the same file</a:t>
            </a:r>
          </a:p>
          <a:p>
            <a:pPr lvl="1"/>
            <a:r>
              <a:rPr lang="en-US" altLang="en-US" dirty="0"/>
              <a:t>Several different files can be opened at any time</a:t>
            </a:r>
          </a:p>
          <a:p>
            <a:pPr lvl="1"/>
            <a:r>
              <a:rPr lang="en-US" altLang="en-US" dirty="0"/>
              <a:t>What is a good way to organize the open-file information?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chemeClr val="tx2"/>
                </a:solidFill>
              </a:rPr>
              <a:t>Common approach: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System-wide open-file table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One entry per unique file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Per-process open-file table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One entry per file used in the process</a:t>
            </a:r>
          </a:p>
          <a:p>
            <a:pPr lvl="2"/>
            <a:r>
              <a:rPr lang="en-US" altLang="en-US" dirty="0"/>
              <a:t>Each entry points to the system-wide table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1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4700179" y="1077102"/>
            <a:ext cx="2164080" cy="5399898"/>
            <a:chOff x="4465320" y="1077102"/>
            <a:chExt cx="2164080" cy="5399898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4963797" y="1077102"/>
              <a:ext cx="1657710" cy="942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4963797" y="2007202"/>
              <a:ext cx="1657710" cy="7490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4971690" y="2752325"/>
              <a:ext cx="1657710" cy="942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4495800" y="1077102"/>
              <a:ext cx="484718" cy="9420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4495800" y="2019190"/>
              <a:ext cx="484718" cy="73447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4495800" y="2749689"/>
              <a:ext cx="484718" cy="9420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4963797" y="3664089"/>
              <a:ext cx="1657710" cy="727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4971690" y="4390242"/>
              <a:ext cx="1657710" cy="942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4495800" y="3664089"/>
              <a:ext cx="484718" cy="7274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34" name="Rectangle 4"/>
            <p:cNvSpPr>
              <a:spLocks noChangeArrowheads="1"/>
            </p:cNvSpPr>
            <p:nvPr/>
          </p:nvSpPr>
          <p:spPr bwMode="auto">
            <a:xfrm>
              <a:off x="4495800" y="4387606"/>
              <a:ext cx="484718" cy="9447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65320" y="6107668"/>
              <a:ext cx="209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Open File Table</a:t>
              </a:r>
            </a:p>
          </p:txBody>
        </p:sp>
        <p:sp>
          <p:nvSpPr>
            <p:cNvPr id="36" name="Rectangle 4"/>
            <p:cNvSpPr>
              <a:spLocks noChangeArrowheads="1"/>
            </p:cNvSpPr>
            <p:nvPr/>
          </p:nvSpPr>
          <p:spPr bwMode="auto">
            <a:xfrm>
              <a:off x="4963797" y="5334966"/>
              <a:ext cx="1657710" cy="727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4495800" y="5334966"/>
              <a:ext cx="484718" cy="7274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File Operations </a:t>
            </a:r>
            <a:r>
              <a:rPr lang="en-US" sz="4000" dirty="0"/>
              <a:t>(Unix)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2182284" y="1256405"/>
            <a:ext cx="1676400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A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grpSp>
        <p:nvGrpSpPr>
          <p:cNvPr id="27" name="Group 26"/>
          <p:cNvGrpSpPr/>
          <p:nvPr/>
        </p:nvGrpSpPr>
        <p:grpSpPr>
          <a:xfrm>
            <a:off x="2580702" y="1762590"/>
            <a:ext cx="1219200" cy="1923507"/>
            <a:chOff x="1974809" y="1803103"/>
            <a:chExt cx="1219200" cy="1923507"/>
          </a:xfrm>
        </p:grpSpPr>
        <p:grpSp>
          <p:nvGrpSpPr>
            <p:cNvPr id="16" name="Group 15"/>
            <p:cNvGrpSpPr/>
            <p:nvPr/>
          </p:nvGrpSpPr>
          <p:grpSpPr>
            <a:xfrm>
              <a:off x="2133740" y="1803103"/>
              <a:ext cx="907869" cy="1426029"/>
              <a:chOff x="3429000" y="1936569"/>
              <a:chExt cx="907869" cy="1426029"/>
            </a:xfrm>
          </p:grpSpPr>
          <p:sp>
            <p:nvSpPr>
              <p:cNvPr id="7" name="Rectangle 4"/>
              <p:cNvSpPr>
                <a:spLocks noChangeArrowheads="1"/>
              </p:cNvSpPr>
              <p:nvPr/>
            </p:nvSpPr>
            <p:spPr bwMode="auto">
              <a:xfrm>
                <a:off x="3879669" y="1936569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9" name="Rectangle 4"/>
              <p:cNvSpPr>
                <a:spLocks noChangeArrowheads="1"/>
              </p:cNvSpPr>
              <p:nvPr/>
            </p:nvSpPr>
            <p:spPr bwMode="auto">
              <a:xfrm>
                <a:off x="3429000" y="1936569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>
                <a:off x="3879669" y="2231571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11" name="Rectangle 4"/>
              <p:cNvSpPr>
                <a:spLocks noChangeArrowheads="1"/>
              </p:cNvSpPr>
              <p:nvPr/>
            </p:nvSpPr>
            <p:spPr bwMode="auto">
              <a:xfrm>
                <a:off x="3429000" y="2231571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3879669" y="2526572"/>
                <a:ext cx="457200" cy="531225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13" name="Rectangle 4"/>
              <p:cNvSpPr>
                <a:spLocks noChangeArrowheads="1"/>
              </p:cNvSpPr>
              <p:nvPr/>
            </p:nvSpPr>
            <p:spPr bwMode="auto">
              <a:xfrm>
                <a:off x="3429000" y="2526573"/>
                <a:ext cx="457200" cy="53122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14" name="Rectangle 4"/>
              <p:cNvSpPr>
                <a:spLocks noChangeArrowheads="1"/>
              </p:cNvSpPr>
              <p:nvPr/>
            </p:nvSpPr>
            <p:spPr bwMode="auto">
              <a:xfrm>
                <a:off x="3881846" y="3057798"/>
                <a:ext cx="455023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15" name="Rectangle 4"/>
              <p:cNvSpPr>
                <a:spLocks noChangeArrowheads="1"/>
              </p:cNvSpPr>
              <p:nvPr/>
            </p:nvSpPr>
            <p:spPr bwMode="auto">
              <a:xfrm>
                <a:off x="3429000" y="3057798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 err="1">
                    <a:latin typeface="Courier New" panose="02070309020205020404" pitchFamily="49" charset="0"/>
                  </a:rPr>
                  <a:t>fd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974809" y="3264945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File Descriptor</a:t>
              </a:r>
            </a:p>
            <a:p>
              <a:pPr algn="ctr"/>
              <a:r>
                <a:rPr lang="en-US" sz="1200" dirty="0"/>
                <a:t>Table</a:t>
              </a:r>
            </a:p>
          </p:txBody>
        </p:sp>
      </p:grp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258239" y="1123052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…</a:t>
            </a:r>
          </a:p>
          <a:p>
            <a:r>
              <a:rPr lang="en-US" altLang="en-US" sz="1400" dirty="0"/>
              <a:t>"File Data":</a:t>
            </a:r>
          </a:p>
        </p:txBody>
      </p:sp>
      <p:cxnSp>
        <p:nvCxnSpPr>
          <p:cNvPr id="39" name="Elbow Connector 38"/>
          <p:cNvCxnSpPr>
            <a:stCxn id="14" idx="3"/>
            <a:endCxn id="34" idx="1"/>
          </p:cNvCxnSpPr>
          <p:nvPr/>
        </p:nvCxnSpPr>
        <p:spPr>
          <a:xfrm>
            <a:off x="3647502" y="3036219"/>
            <a:ext cx="1083157" cy="1823749"/>
          </a:xfrm>
          <a:prstGeom prst="bentConnector3">
            <a:avLst>
              <a:gd name="adj1" fmla="val 32349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2172828" y="3849450"/>
            <a:ext cx="1676400" cy="2438400"/>
            <a:chOff x="1566935" y="3889963"/>
            <a:chExt cx="1676400" cy="2438400"/>
          </a:xfrm>
        </p:grpSpPr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566935" y="3889963"/>
              <a:ext cx="1676400" cy="24384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Proc</a:t>
              </a:r>
              <a:r>
                <a:rPr lang="en-US" altLang="en-US" b="1" dirty="0"/>
                <a:t> B PCB</a:t>
              </a:r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934712" y="585965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File Descriptor</a:t>
              </a:r>
            </a:p>
            <a:p>
              <a:pPr algn="ctr"/>
              <a:r>
                <a:rPr lang="en-US" sz="1200" dirty="0"/>
                <a:t>Table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2093643" y="4397808"/>
              <a:ext cx="907869" cy="1426029"/>
              <a:chOff x="3429000" y="1936569"/>
              <a:chExt cx="907869" cy="1426029"/>
            </a:xfrm>
          </p:grpSpPr>
          <p:sp>
            <p:nvSpPr>
              <p:cNvPr id="45" name="Rectangle 4"/>
              <p:cNvSpPr>
                <a:spLocks noChangeArrowheads="1"/>
              </p:cNvSpPr>
              <p:nvPr/>
            </p:nvSpPr>
            <p:spPr bwMode="auto">
              <a:xfrm>
                <a:off x="3879669" y="1936569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46" name="Rectangle 4"/>
              <p:cNvSpPr>
                <a:spLocks noChangeArrowheads="1"/>
              </p:cNvSpPr>
              <p:nvPr/>
            </p:nvSpPr>
            <p:spPr bwMode="auto">
              <a:xfrm>
                <a:off x="3429000" y="1936569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47" name="Rectangle 4"/>
              <p:cNvSpPr>
                <a:spLocks noChangeArrowheads="1"/>
              </p:cNvSpPr>
              <p:nvPr/>
            </p:nvSpPr>
            <p:spPr bwMode="auto">
              <a:xfrm>
                <a:off x="3879669" y="2231571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4"/>
              <p:cNvSpPr>
                <a:spLocks noChangeArrowheads="1"/>
              </p:cNvSpPr>
              <p:nvPr/>
            </p:nvSpPr>
            <p:spPr bwMode="auto">
              <a:xfrm>
                <a:off x="3429000" y="2231571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9" name="Rectangle 4"/>
              <p:cNvSpPr>
                <a:spLocks noChangeArrowheads="1"/>
              </p:cNvSpPr>
              <p:nvPr/>
            </p:nvSpPr>
            <p:spPr bwMode="auto">
              <a:xfrm>
                <a:off x="3879669" y="2526572"/>
                <a:ext cx="457200" cy="531225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50" name="Rectangle 4"/>
              <p:cNvSpPr>
                <a:spLocks noChangeArrowheads="1"/>
              </p:cNvSpPr>
              <p:nvPr/>
            </p:nvSpPr>
            <p:spPr bwMode="auto">
              <a:xfrm>
                <a:off x="3429000" y="2526573"/>
                <a:ext cx="457200" cy="53122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51" name="Rectangle 4"/>
              <p:cNvSpPr>
                <a:spLocks noChangeArrowheads="1"/>
              </p:cNvSpPr>
              <p:nvPr/>
            </p:nvSpPr>
            <p:spPr bwMode="auto">
              <a:xfrm>
                <a:off x="3881846" y="3057798"/>
                <a:ext cx="455023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4"/>
              <p:cNvSpPr>
                <a:spLocks noChangeArrowheads="1"/>
              </p:cNvSpPr>
              <p:nvPr/>
            </p:nvSpPr>
            <p:spPr bwMode="auto">
              <a:xfrm>
                <a:off x="3429000" y="3057798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 err="1">
                    <a:latin typeface="Courier New" panose="02070309020205020404" pitchFamily="49" charset="0"/>
                  </a:rPr>
                  <a:t>fd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</p:grpSp>
      <p:cxnSp>
        <p:nvCxnSpPr>
          <p:cNvPr id="55" name="Elbow Connector 54"/>
          <p:cNvCxnSpPr>
            <a:stCxn id="51" idx="3"/>
            <a:endCxn id="26" idx="1"/>
          </p:cNvCxnSpPr>
          <p:nvPr/>
        </p:nvCxnSpPr>
        <p:spPr>
          <a:xfrm flipV="1">
            <a:off x="3607405" y="3220733"/>
            <a:ext cx="1123254" cy="241019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7022373" y="991498"/>
            <a:ext cx="2095500" cy="5466785"/>
            <a:chOff x="7022373" y="991498"/>
            <a:chExt cx="2095500" cy="5466785"/>
          </a:xfrm>
        </p:grpSpPr>
        <p:sp>
          <p:nvSpPr>
            <p:cNvPr id="71" name="Rectangle 8"/>
            <p:cNvSpPr>
              <a:spLocks noChangeArrowheads="1"/>
            </p:cNvSpPr>
            <p:nvPr/>
          </p:nvSpPr>
          <p:spPr bwMode="auto">
            <a:xfrm>
              <a:off x="7529648" y="991498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/>
                <a:t>File1.abc</a:t>
              </a: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7529648" y="3610152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/>
                <a:t>File2.def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022373" y="6088951"/>
              <a:ext cx="209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"</a:t>
              </a:r>
              <a:r>
                <a:rPr lang="en-US" b="1" dirty="0"/>
                <a:t>Actual File</a:t>
              </a:r>
              <a:r>
                <a:rPr lang="en-US" dirty="0"/>
                <a:t>"</a:t>
              </a:r>
            </a:p>
          </p:txBody>
        </p:sp>
      </p:grpSp>
      <p:cxnSp>
        <p:nvCxnSpPr>
          <p:cNvPr id="83" name="Straight Connector 82"/>
          <p:cNvCxnSpPr/>
          <p:nvPr/>
        </p:nvCxnSpPr>
        <p:spPr>
          <a:xfrm>
            <a:off x="1981200" y="1051476"/>
            <a:ext cx="0" cy="528587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5249878" y="2667000"/>
            <a:ext cx="2279770" cy="974149"/>
            <a:chOff x="5015019" y="2667000"/>
            <a:chExt cx="2279770" cy="974149"/>
          </a:xfrm>
        </p:grpSpPr>
        <p:sp>
          <p:nvSpPr>
            <p:cNvPr id="29" name="AutoShape 6"/>
            <p:cNvSpPr>
              <a:spLocks noChangeArrowheads="1"/>
            </p:cNvSpPr>
            <p:nvPr/>
          </p:nvSpPr>
          <p:spPr bwMode="auto">
            <a:xfrm>
              <a:off x="5015019" y="2802949"/>
              <a:ext cx="1555265" cy="83820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r>
                <a:rPr lang="en-US" altLang="en-US" sz="1400" dirty="0" err="1"/>
                <a:t>Op.Type</a:t>
              </a:r>
              <a:r>
                <a:rPr lang="en-US" altLang="en-US" sz="1400" dirty="0"/>
                <a:t>: Read</a:t>
              </a:r>
            </a:p>
            <a:p>
              <a:r>
                <a:rPr lang="en-US" altLang="en-US" sz="1400" dirty="0"/>
                <a:t>File offset: 1234</a:t>
              </a:r>
            </a:p>
            <a:p>
              <a:r>
                <a:rPr lang="en-US" altLang="en-US" sz="1400" dirty="0"/>
                <a:t>"File Data":</a:t>
              </a:r>
            </a:p>
          </p:txBody>
        </p:sp>
        <p:cxnSp>
          <p:nvCxnSpPr>
            <p:cNvPr id="86" name="Elbow Connector 85"/>
            <p:cNvCxnSpPr/>
            <p:nvPr/>
          </p:nvCxnSpPr>
          <p:spPr>
            <a:xfrm flipV="1">
              <a:off x="6286641" y="2667000"/>
              <a:ext cx="1008148" cy="779859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5249878" y="4114800"/>
            <a:ext cx="2279770" cy="1164266"/>
            <a:chOff x="5015019" y="4114800"/>
            <a:chExt cx="2279770" cy="1164266"/>
          </a:xfrm>
        </p:grpSpPr>
        <p:sp>
          <p:nvSpPr>
            <p:cNvPr id="33" name="AutoShape 6"/>
            <p:cNvSpPr>
              <a:spLocks noChangeArrowheads="1"/>
            </p:cNvSpPr>
            <p:nvPr/>
          </p:nvSpPr>
          <p:spPr bwMode="auto">
            <a:xfrm>
              <a:off x="5015019" y="4440866"/>
              <a:ext cx="1555265" cy="83820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r>
                <a:rPr lang="en-US" altLang="en-US" sz="1400" dirty="0" err="1"/>
                <a:t>Op.Type</a:t>
              </a:r>
              <a:r>
                <a:rPr lang="en-US" altLang="en-US" sz="1400" dirty="0"/>
                <a:t>: Write</a:t>
              </a:r>
            </a:p>
            <a:p>
              <a:r>
                <a:rPr lang="en-US" altLang="en-US" sz="1400" dirty="0"/>
                <a:t>File offset: 5678</a:t>
              </a:r>
            </a:p>
            <a:p>
              <a:r>
                <a:rPr lang="en-US" altLang="en-US" sz="1400" dirty="0"/>
                <a:t>"File Data":</a:t>
              </a:r>
            </a:p>
          </p:txBody>
        </p:sp>
        <p:cxnSp>
          <p:nvCxnSpPr>
            <p:cNvPr id="89" name="Elbow Connector 88"/>
            <p:cNvCxnSpPr/>
            <p:nvPr/>
          </p:nvCxnSpPr>
          <p:spPr>
            <a:xfrm flipV="1">
              <a:off x="6210440" y="4114800"/>
              <a:ext cx="1084349" cy="1009922"/>
            </a:xfrm>
            <a:prstGeom prst="bentConnector3">
              <a:avLst>
                <a:gd name="adj1" fmla="val 70881"/>
              </a:avLst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lide Number Placeholder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2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83" name="Rectangle 15"/>
          <p:cNvSpPr>
            <a:spLocks noChangeArrowheads="1"/>
          </p:cNvSpPr>
          <p:nvPr/>
        </p:nvSpPr>
        <p:spPr bwMode="auto">
          <a:xfrm>
            <a:off x="1143000" y="414655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B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1005582" name="Rectangle 14"/>
          <p:cNvSpPr>
            <a:spLocks noChangeArrowheads="1"/>
          </p:cNvSpPr>
          <p:nvPr/>
        </p:nvSpPr>
        <p:spPr bwMode="auto">
          <a:xfrm>
            <a:off x="1143000" y="231775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A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100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 Sharing File </a:t>
            </a:r>
            <a:r>
              <a:rPr lang="en-US" altLang="en-US" sz="3800" dirty="0"/>
              <a:t>in Unix: </a:t>
            </a:r>
            <a:r>
              <a:rPr lang="en-US" altLang="en-US" sz="3800" b="1" dirty="0"/>
              <a:t>Case 1</a:t>
            </a:r>
          </a:p>
        </p:txBody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905000"/>
          </a:xfrm>
        </p:spPr>
        <p:txBody>
          <a:bodyPr/>
          <a:lstStyle/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Two processes using different file descriptors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I/O can occurs at independent offsets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247077" y="2667236"/>
            <a:ext cx="1540795" cy="2756931"/>
            <a:chOff x="6247077" y="2667236"/>
            <a:chExt cx="1540795" cy="2756931"/>
          </a:xfrm>
        </p:grpSpPr>
        <p:sp>
          <p:nvSpPr>
            <p:cNvPr id="1005577" name="Text Box 9"/>
            <p:cNvSpPr txBox="1">
              <a:spLocks noChangeArrowheads="1"/>
            </p:cNvSpPr>
            <p:nvPr/>
          </p:nvSpPr>
          <p:spPr bwMode="auto">
            <a:xfrm>
              <a:off x="6247077" y="5085619"/>
              <a:ext cx="1540795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dirty="0"/>
                <a:t>The shared file</a:t>
              </a: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6477000" y="2667236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 err="1"/>
                <a:t>File.abc</a:t>
              </a:r>
              <a:endParaRPr lang="en-US" i="1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815737" y="3111500"/>
            <a:ext cx="1613263" cy="304800"/>
            <a:chOff x="1815737" y="3111500"/>
            <a:chExt cx="1613263" cy="304800"/>
          </a:xfrm>
        </p:grpSpPr>
        <p:sp>
          <p:nvSpPr>
            <p:cNvPr id="1005578" name="Line 10"/>
            <p:cNvSpPr>
              <a:spLocks noChangeShapeType="1"/>
            </p:cNvSpPr>
            <p:nvPr/>
          </p:nvSpPr>
          <p:spPr bwMode="auto">
            <a:xfrm flipV="1">
              <a:off x="2590800" y="3155950"/>
              <a:ext cx="838200" cy="107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2268583" y="311150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1815737" y="311150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fd1</a:t>
              </a:r>
            </a:p>
          </p:txBody>
        </p:sp>
      </p:grp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3413367" y="2736850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5000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1005580" name="Line 12"/>
          <p:cNvSpPr>
            <a:spLocks noChangeShapeType="1"/>
          </p:cNvSpPr>
          <p:nvPr/>
        </p:nvSpPr>
        <p:spPr bwMode="auto">
          <a:xfrm>
            <a:off x="4724400" y="3416300"/>
            <a:ext cx="1752600" cy="1035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auto">
          <a:xfrm>
            <a:off x="3439493" y="419553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2000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1005581" name="Line 13"/>
          <p:cNvSpPr>
            <a:spLocks noChangeShapeType="1"/>
          </p:cNvSpPr>
          <p:nvPr/>
        </p:nvSpPr>
        <p:spPr bwMode="auto">
          <a:xfrm flipV="1">
            <a:off x="4724400" y="3079750"/>
            <a:ext cx="175260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826819" y="4603750"/>
            <a:ext cx="1602181" cy="457200"/>
            <a:chOff x="1826819" y="4603750"/>
            <a:chExt cx="1602181" cy="457200"/>
          </a:xfrm>
        </p:grpSpPr>
        <p:sp>
          <p:nvSpPr>
            <p:cNvPr id="1005579" name="Line 11"/>
            <p:cNvSpPr>
              <a:spLocks noChangeShapeType="1"/>
            </p:cNvSpPr>
            <p:nvPr/>
          </p:nvSpPr>
          <p:spPr bwMode="auto">
            <a:xfrm flipV="1">
              <a:off x="2743200" y="4603750"/>
              <a:ext cx="6858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4"/>
            <p:cNvSpPr>
              <a:spLocks noChangeArrowheads="1"/>
            </p:cNvSpPr>
            <p:nvPr/>
          </p:nvSpPr>
          <p:spPr bwMode="auto">
            <a:xfrm>
              <a:off x="2279665" y="475615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4"/>
            <p:cNvSpPr>
              <a:spLocks noChangeArrowheads="1"/>
            </p:cNvSpPr>
            <p:nvPr/>
          </p:nvSpPr>
          <p:spPr bwMode="auto">
            <a:xfrm>
              <a:off x="1826819" y="475615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fd2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7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0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0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5583" grpId="0" animBg="1"/>
      <p:bldP spid="1005582" grpId="0" animBg="1"/>
      <p:bldP spid="33" grpId="0" animBg="1"/>
      <p:bldP spid="1005580" grpId="0" animBg="1"/>
      <p:bldP spid="34" grpId="0" animBg="1"/>
      <p:bldP spid="100558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 Sharing File </a:t>
            </a:r>
            <a:r>
              <a:rPr lang="en-US" altLang="en-US" sz="3800" dirty="0"/>
              <a:t>in Unix: </a:t>
            </a:r>
            <a:r>
              <a:rPr lang="en-US" altLang="en-US" sz="3800" b="1" dirty="0"/>
              <a:t>Case 2</a:t>
            </a:r>
          </a:p>
        </p:txBody>
      </p:sp>
      <p:sp>
        <p:nvSpPr>
          <p:cNvPr id="10076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599"/>
            <a:ext cx="8229600" cy="1143001"/>
          </a:xfrm>
        </p:spPr>
        <p:txBody>
          <a:bodyPr/>
          <a:lstStyle/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Two processes using the same file descriptor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Only one offset </a:t>
            </a:r>
            <a:r>
              <a:rPr lang="en-US" altLang="en-US" sz="2200" dirty="0">
                <a:sym typeface="Wingdings" panose="05000000000000000000" pitchFamily="2" charset="2"/>
              </a:rPr>
              <a:t> </a:t>
            </a:r>
            <a:r>
              <a:rPr lang="en-US" altLang="en-US" sz="2200" dirty="0"/>
              <a:t>I/O changes the offset for the other process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94677" y="2972036"/>
            <a:ext cx="1540795" cy="2733402"/>
            <a:chOff x="6094677" y="2972036"/>
            <a:chExt cx="1540795" cy="2733402"/>
          </a:xfrm>
        </p:grpSpPr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6094677" y="5366890"/>
              <a:ext cx="1540795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dirty="0"/>
                <a:t>The shared file</a:t>
              </a: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6324600" y="2972036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 err="1"/>
                <a:t>File.abc</a:t>
              </a:r>
              <a:endParaRPr lang="en-US" i="1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001486" y="2275350"/>
            <a:ext cx="2286000" cy="1644650"/>
            <a:chOff x="1001486" y="2275350"/>
            <a:chExt cx="2286000" cy="1644650"/>
          </a:xfrm>
        </p:grpSpPr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1001486" y="2275350"/>
              <a:ext cx="1676400" cy="13716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Parent PCB</a:t>
              </a:r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>
              <a:off x="2449286" y="3221500"/>
              <a:ext cx="838200" cy="698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2127069" y="306910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1674223" y="306910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fd1</a:t>
              </a:r>
            </a:p>
          </p:txBody>
        </p:sp>
      </p:grpSp>
      <p:sp>
        <p:nvSpPr>
          <p:cNvPr id="26" name="AutoShape 6"/>
          <p:cNvSpPr>
            <a:spLocks noChangeArrowheads="1"/>
          </p:cNvSpPr>
          <p:nvPr/>
        </p:nvSpPr>
        <p:spPr bwMode="auto">
          <a:xfrm>
            <a:off x="3354889" y="3565307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3000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 flipV="1">
            <a:off x="4659086" y="3920000"/>
            <a:ext cx="1665514" cy="336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001486" y="4104150"/>
            <a:ext cx="2286000" cy="1371600"/>
            <a:chOff x="1001486" y="4104150"/>
            <a:chExt cx="2286000" cy="1371600"/>
          </a:xfrm>
        </p:grpSpPr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001486" y="4104150"/>
              <a:ext cx="1676400" cy="13716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Child PCB</a:t>
              </a:r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 flipV="1">
              <a:off x="2601686" y="4104150"/>
              <a:ext cx="6858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2138151" y="471375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1685305" y="471375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fd1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1120140" y="2289205"/>
            <a:ext cx="1439092" cy="273050"/>
          </a:xfrm>
          <a:prstGeom prst="rect">
            <a:avLst/>
          </a:prstGeom>
          <a:solidFill>
            <a:srgbClr val="FFFF99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/>
              <a:t>Proc A PCB</a:t>
            </a: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1128893" y="4146549"/>
            <a:ext cx="1439092" cy="273050"/>
          </a:xfrm>
          <a:prstGeom prst="rect">
            <a:avLst/>
          </a:prstGeom>
          <a:solidFill>
            <a:srgbClr val="FFFF99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/>
              <a:t>Proc B PCB</a:t>
            </a:r>
          </a:p>
        </p:txBody>
      </p:sp>
    </p:spTree>
    <p:extLst>
      <p:ext uri="{BB962C8B-B14F-4D97-AF65-F5344CB8AC3E}">
        <p14:creationId xmlns:p14="http://schemas.microsoft.com/office/powerpoint/2010/main" val="1195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3" grpId="0" animBg="1"/>
      <p:bldP spid="33" grpId="1" animBg="1"/>
      <p:bldP spid="34" grpId="0" animBg="1"/>
      <p:bldP spid="3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Directory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i.e. Folder!</a:t>
            </a:r>
          </a:p>
        </p:txBody>
      </p:sp>
      <p:pic>
        <p:nvPicPr>
          <p:cNvPr id="998406" name="Picture 6" descr="MCj042605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724400"/>
            <a:ext cx="1803400" cy="16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268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Directory: Basics</a:t>
            </a: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b="1" dirty="0">
                <a:solidFill>
                  <a:srgbClr val="008000"/>
                </a:solidFill>
              </a:rPr>
              <a:t>Directory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chemeClr val="tx2"/>
                </a:solidFill>
              </a:rPr>
              <a:t> folder </a:t>
            </a:r>
            <a:r>
              <a:rPr lang="en-US" altLang="en-US" dirty="0"/>
              <a:t>) is used to: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Provide a logical grouping of files</a:t>
            </a:r>
          </a:p>
          <a:p>
            <a:pPr marL="1090613" lvl="2" indent="-419100"/>
            <a:r>
              <a:rPr lang="en-US" altLang="en-US" dirty="0"/>
              <a:t>The </a:t>
            </a:r>
            <a:r>
              <a:rPr lang="en-US" altLang="en-US" b="1" i="1" dirty="0"/>
              <a:t>user view </a:t>
            </a:r>
            <a:r>
              <a:rPr lang="en-US" altLang="en-US" dirty="0"/>
              <a:t>of directory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Keep track of files</a:t>
            </a:r>
          </a:p>
          <a:p>
            <a:pPr marL="1090613" lvl="2" indent="-419100"/>
            <a:r>
              <a:rPr lang="en-US" altLang="en-US" dirty="0"/>
              <a:t>The </a:t>
            </a:r>
            <a:r>
              <a:rPr lang="en-US" altLang="en-US" b="1" i="1" dirty="0"/>
              <a:t>actual system usage </a:t>
            </a:r>
            <a:r>
              <a:rPr lang="en-US" altLang="en-US" dirty="0"/>
              <a:t>of directory</a:t>
            </a:r>
          </a:p>
          <a:p>
            <a:pPr marL="1090613" lvl="2" indent="-419100">
              <a:buFont typeface="Wingdings" panose="05000000000000000000" pitchFamily="2" charset="2"/>
              <a:buNone/>
            </a:pPr>
            <a:endParaRPr lang="en-US" altLang="en-US" dirty="0"/>
          </a:p>
          <a:p>
            <a:pPr marL="571500" indent="-571500"/>
            <a:r>
              <a:rPr lang="en-US" altLang="en-US" dirty="0"/>
              <a:t>Several ways to structure directory:</a:t>
            </a:r>
          </a:p>
          <a:p>
            <a:pPr marL="839788" lvl="1" indent="-495300"/>
            <a:r>
              <a:rPr lang="en-US" altLang="en-US" b="1" dirty="0">
                <a:solidFill>
                  <a:srgbClr val="006600"/>
                </a:solidFill>
              </a:rPr>
              <a:t>Single-Level</a:t>
            </a:r>
          </a:p>
          <a:p>
            <a:pPr marL="839788" lvl="1" indent="-495300"/>
            <a:r>
              <a:rPr lang="en-US" altLang="en-US" b="1" dirty="0">
                <a:solidFill>
                  <a:srgbClr val="006600"/>
                </a:solidFill>
              </a:rPr>
              <a:t>Tree-Structure</a:t>
            </a:r>
          </a:p>
          <a:p>
            <a:pPr marL="839788" lvl="1" indent="-495300"/>
            <a:r>
              <a:rPr lang="en-US" altLang="en-US" b="1" dirty="0">
                <a:solidFill>
                  <a:srgbClr val="660066"/>
                </a:solidFill>
              </a:rPr>
              <a:t>D</a:t>
            </a:r>
            <a:r>
              <a:rPr lang="en-US" altLang="en-US" dirty="0"/>
              <a:t>irected </a:t>
            </a:r>
            <a:r>
              <a:rPr lang="en-US" altLang="en-US" b="1" dirty="0">
                <a:solidFill>
                  <a:srgbClr val="660066"/>
                </a:solidFill>
              </a:rPr>
              <a:t>A</a:t>
            </a:r>
            <a:r>
              <a:rPr lang="en-US" altLang="en-US" dirty="0"/>
              <a:t>cyclic </a:t>
            </a:r>
            <a:r>
              <a:rPr lang="en-US" altLang="en-US" b="1" dirty="0">
                <a:solidFill>
                  <a:srgbClr val="660066"/>
                </a:solidFill>
              </a:rPr>
              <a:t>G</a:t>
            </a:r>
            <a:r>
              <a:rPr lang="en-US" altLang="en-US" dirty="0"/>
              <a:t>raph (</a:t>
            </a:r>
            <a:r>
              <a:rPr lang="en-US" altLang="en-US" b="1" dirty="0">
                <a:solidFill>
                  <a:srgbClr val="660066"/>
                </a:solidFill>
              </a:rPr>
              <a:t>DAG</a:t>
            </a:r>
            <a:r>
              <a:rPr lang="en-US" altLang="en-US" dirty="0"/>
              <a:t>)</a:t>
            </a:r>
          </a:p>
          <a:p>
            <a:pPr marL="839788" lvl="1" indent="-495300"/>
            <a:r>
              <a:rPr lang="en-US" altLang="en-US" b="1" dirty="0">
                <a:solidFill>
                  <a:srgbClr val="C00000"/>
                </a:solidFill>
              </a:rPr>
              <a:t>General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96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Directory Structure: </a:t>
            </a:r>
            <a:r>
              <a:rPr lang="en-US" altLang="en-US" b="1" dirty="0">
                <a:solidFill>
                  <a:srgbClr val="C00000"/>
                </a:solidFill>
              </a:rPr>
              <a:t>Single-Level</a:t>
            </a:r>
          </a:p>
        </p:txBody>
      </p:sp>
      <p:grpSp>
        <p:nvGrpSpPr>
          <p:cNvPr id="953364" name="Group 20"/>
          <p:cNvGrpSpPr>
            <a:grpSpLocks/>
          </p:cNvGrpSpPr>
          <p:nvPr/>
        </p:nvGrpSpPr>
        <p:grpSpPr bwMode="auto">
          <a:xfrm>
            <a:off x="1828800" y="1143000"/>
            <a:ext cx="3810000" cy="2552700"/>
            <a:chOff x="1152" y="720"/>
            <a:chExt cx="2400" cy="1608"/>
          </a:xfrm>
        </p:grpSpPr>
        <p:sp>
          <p:nvSpPr>
            <p:cNvPr id="953348" name="Cloud"/>
            <p:cNvSpPr>
              <a:spLocks noChangeAspect="1" noEditPoints="1" noChangeArrowheads="1"/>
            </p:cNvSpPr>
            <p:nvPr/>
          </p:nvSpPr>
          <p:spPr bwMode="auto">
            <a:xfrm>
              <a:off x="1152" y="720"/>
              <a:ext cx="2400" cy="1608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DFF3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3" name="Text Box 9"/>
            <p:cNvSpPr txBox="1">
              <a:spLocks noChangeArrowheads="1"/>
            </p:cNvSpPr>
            <p:nvPr/>
          </p:nvSpPr>
          <p:spPr bwMode="auto">
            <a:xfrm>
              <a:off x="1827" y="1290"/>
              <a:ext cx="12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34" tIns="45717" rIns="91434" bIns="45717">
              <a:spAutoFit/>
            </a:bodyPr>
            <a:lstStyle/>
            <a:p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directory</a:t>
              </a:r>
            </a:p>
          </p:txBody>
        </p:sp>
      </p:grpSp>
      <p:grpSp>
        <p:nvGrpSpPr>
          <p:cNvPr id="953365" name="Group 21"/>
          <p:cNvGrpSpPr>
            <a:grpSpLocks/>
          </p:cNvGrpSpPr>
          <p:nvPr/>
        </p:nvGrpSpPr>
        <p:grpSpPr bwMode="auto">
          <a:xfrm>
            <a:off x="1752600" y="2514600"/>
            <a:ext cx="2057400" cy="3155950"/>
            <a:chOff x="1104" y="1584"/>
            <a:chExt cx="1296" cy="1988"/>
          </a:xfrm>
        </p:grpSpPr>
        <p:sp>
          <p:nvSpPr>
            <p:cNvPr id="953349" name="Document"/>
            <p:cNvSpPr>
              <a:spLocks noEditPoints="1" noChangeArrowheads="1"/>
            </p:cNvSpPr>
            <p:nvPr/>
          </p:nvSpPr>
          <p:spPr bwMode="auto">
            <a:xfrm rot="10800000">
              <a:off x="1104" y="2592"/>
              <a:ext cx="672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4" name="Text Box 10"/>
            <p:cNvSpPr txBox="1">
              <a:spLocks noChangeArrowheads="1"/>
            </p:cNvSpPr>
            <p:nvPr/>
          </p:nvSpPr>
          <p:spPr bwMode="auto">
            <a:xfrm>
              <a:off x="1121" y="3339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file 1</a:t>
              </a:r>
            </a:p>
          </p:txBody>
        </p:sp>
        <p:sp>
          <p:nvSpPr>
            <p:cNvPr id="953358" name="Line 14"/>
            <p:cNvSpPr>
              <a:spLocks noChangeShapeType="1"/>
            </p:cNvSpPr>
            <p:nvPr/>
          </p:nvSpPr>
          <p:spPr bwMode="auto">
            <a:xfrm flipH="1">
              <a:off x="1392" y="1584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3366" name="Group 22"/>
          <p:cNvGrpSpPr>
            <a:grpSpLocks/>
          </p:cNvGrpSpPr>
          <p:nvPr/>
        </p:nvGrpSpPr>
        <p:grpSpPr bwMode="auto">
          <a:xfrm>
            <a:off x="3352800" y="2514600"/>
            <a:ext cx="1066800" cy="3200400"/>
            <a:chOff x="2112" y="1584"/>
            <a:chExt cx="672" cy="2016"/>
          </a:xfrm>
        </p:grpSpPr>
        <p:sp>
          <p:nvSpPr>
            <p:cNvPr id="953352" name="Document"/>
            <p:cNvSpPr>
              <a:spLocks noEditPoints="1" noChangeArrowheads="1"/>
            </p:cNvSpPr>
            <p:nvPr/>
          </p:nvSpPr>
          <p:spPr bwMode="auto">
            <a:xfrm rot="10800000">
              <a:off x="2112" y="2592"/>
              <a:ext cx="672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5" name="Text Box 11"/>
            <p:cNvSpPr txBox="1">
              <a:spLocks noChangeArrowheads="1"/>
            </p:cNvSpPr>
            <p:nvPr/>
          </p:nvSpPr>
          <p:spPr bwMode="auto">
            <a:xfrm>
              <a:off x="2140" y="3367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2</a:t>
              </a:r>
            </a:p>
          </p:txBody>
        </p:sp>
        <p:sp>
          <p:nvSpPr>
            <p:cNvPr id="953359" name="Line 15"/>
            <p:cNvSpPr>
              <a:spLocks noChangeShapeType="1"/>
            </p:cNvSpPr>
            <p:nvPr/>
          </p:nvSpPr>
          <p:spPr bwMode="auto">
            <a:xfrm>
              <a:off x="2400" y="158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3367" name="Group 23"/>
          <p:cNvGrpSpPr>
            <a:grpSpLocks/>
          </p:cNvGrpSpPr>
          <p:nvPr/>
        </p:nvGrpSpPr>
        <p:grpSpPr bwMode="auto">
          <a:xfrm>
            <a:off x="3810000" y="2514600"/>
            <a:ext cx="3667125" cy="3206750"/>
            <a:chOff x="2400" y="1584"/>
            <a:chExt cx="2310" cy="2020"/>
          </a:xfrm>
        </p:grpSpPr>
        <p:sp>
          <p:nvSpPr>
            <p:cNvPr id="953350" name="Document"/>
            <p:cNvSpPr>
              <a:spLocks noEditPoints="1" noChangeArrowheads="1"/>
            </p:cNvSpPr>
            <p:nvPr/>
          </p:nvSpPr>
          <p:spPr bwMode="auto">
            <a:xfrm rot="10800000">
              <a:off x="4080" y="2592"/>
              <a:ext cx="624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1" name="Document"/>
            <p:cNvSpPr>
              <a:spLocks noEditPoints="1" noChangeArrowheads="1"/>
            </p:cNvSpPr>
            <p:nvPr/>
          </p:nvSpPr>
          <p:spPr bwMode="auto">
            <a:xfrm rot="10800000">
              <a:off x="3120" y="2592"/>
              <a:ext cx="624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6" name="Text Box 12"/>
            <p:cNvSpPr txBox="1">
              <a:spLocks noChangeArrowheads="1"/>
            </p:cNvSpPr>
            <p:nvPr/>
          </p:nvSpPr>
          <p:spPr bwMode="auto">
            <a:xfrm>
              <a:off x="3134" y="3371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3</a:t>
              </a:r>
            </a:p>
          </p:txBody>
        </p:sp>
        <p:sp>
          <p:nvSpPr>
            <p:cNvPr id="953357" name="Text Box 13"/>
            <p:cNvSpPr txBox="1">
              <a:spLocks noChangeArrowheads="1"/>
            </p:cNvSpPr>
            <p:nvPr/>
          </p:nvSpPr>
          <p:spPr bwMode="auto">
            <a:xfrm>
              <a:off x="4073" y="3371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4</a:t>
              </a:r>
            </a:p>
          </p:txBody>
        </p:sp>
        <p:sp>
          <p:nvSpPr>
            <p:cNvPr id="953360" name="Line 16"/>
            <p:cNvSpPr>
              <a:spLocks noChangeShapeType="1"/>
            </p:cNvSpPr>
            <p:nvPr/>
          </p:nvSpPr>
          <p:spPr bwMode="auto">
            <a:xfrm>
              <a:off x="2400" y="1584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61" name="Line 17"/>
            <p:cNvSpPr>
              <a:spLocks noChangeShapeType="1"/>
            </p:cNvSpPr>
            <p:nvPr/>
          </p:nvSpPr>
          <p:spPr bwMode="auto">
            <a:xfrm>
              <a:off x="2400" y="1584"/>
              <a:ext cx="196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67632"/>
            <a:ext cx="8467725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00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Directory Structure: </a:t>
            </a:r>
            <a:r>
              <a:rPr lang="en-US" altLang="en-US" b="1" dirty="0">
                <a:solidFill>
                  <a:srgbClr val="C00000"/>
                </a:solidFill>
              </a:rPr>
              <a:t>Tree-Structured</a:t>
            </a:r>
          </a:p>
        </p:txBody>
      </p:sp>
      <p:grpSp>
        <p:nvGrpSpPr>
          <p:cNvPr id="955419" name="Group 27"/>
          <p:cNvGrpSpPr>
            <a:grpSpLocks/>
          </p:cNvGrpSpPr>
          <p:nvPr/>
        </p:nvGrpSpPr>
        <p:grpSpPr bwMode="auto">
          <a:xfrm>
            <a:off x="1955800" y="1219200"/>
            <a:ext cx="4541838" cy="1020763"/>
            <a:chOff x="1232" y="768"/>
            <a:chExt cx="2861" cy="64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55396" name="Cloud"/>
            <p:cNvSpPr>
              <a:spLocks noChangeAspect="1" noEditPoints="1" noChangeArrowheads="1"/>
            </p:cNvSpPr>
            <p:nvPr/>
          </p:nvSpPr>
          <p:spPr bwMode="auto">
            <a:xfrm>
              <a:off x="1232" y="768"/>
              <a:ext cx="2861" cy="643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0" name="Text Box 18"/>
            <p:cNvSpPr txBox="1">
              <a:spLocks noChangeArrowheads="1"/>
            </p:cNvSpPr>
            <p:nvPr/>
          </p:nvSpPr>
          <p:spPr bwMode="auto">
            <a:xfrm>
              <a:off x="2430" y="861"/>
              <a:ext cx="581" cy="29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dir1</a:t>
              </a:r>
            </a:p>
          </p:txBody>
        </p:sp>
      </p:grpSp>
      <p:grpSp>
        <p:nvGrpSpPr>
          <p:cNvPr id="955422" name="Group 30"/>
          <p:cNvGrpSpPr>
            <a:grpSpLocks/>
          </p:cNvGrpSpPr>
          <p:nvPr/>
        </p:nvGrpSpPr>
        <p:grpSpPr bwMode="auto">
          <a:xfrm>
            <a:off x="3797299" y="2092324"/>
            <a:ext cx="1841500" cy="1260475"/>
            <a:chOff x="2392" y="1318"/>
            <a:chExt cx="1160" cy="794"/>
          </a:xfrm>
        </p:grpSpPr>
        <p:sp>
          <p:nvSpPr>
            <p:cNvPr id="955401" name="Cloud"/>
            <p:cNvSpPr>
              <a:spLocks noChangeAspect="1" noEditPoints="1" noChangeArrowheads="1"/>
            </p:cNvSpPr>
            <p:nvPr/>
          </p:nvSpPr>
          <p:spPr bwMode="auto">
            <a:xfrm>
              <a:off x="2392" y="1536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4" name="Line 12"/>
            <p:cNvSpPr>
              <a:spLocks noChangeShapeType="1"/>
            </p:cNvSpPr>
            <p:nvPr/>
          </p:nvSpPr>
          <p:spPr bwMode="auto">
            <a:xfrm>
              <a:off x="2885" y="1318"/>
              <a:ext cx="48" cy="23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1" name="Text Box 19"/>
            <p:cNvSpPr txBox="1">
              <a:spLocks noChangeArrowheads="1"/>
            </p:cNvSpPr>
            <p:nvPr/>
          </p:nvSpPr>
          <p:spPr bwMode="auto">
            <a:xfrm>
              <a:off x="2738" y="1702"/>
              <a:ext cx="46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dir2</a:t>
              </a:r>
            </a:p>
          </p:txBody>
        </p:sp>
      </p:grpSp>
      <p:grpSp>
        <p:nvGrpSpPr>
          <p:cNvPr id="955424" name="Group 32"/>
          <p:cNvGrpSpPr>
            <a:grpSpLocks/>
          </p:cNvGrpSpPr>
          <p:nvPr/>
        </p:nvGrpSpPr>
        <p:grpSpPr bwMode="auto">
          <a:xfrm>
            <a:off x="2324101" y="3230563"/>
            <a:ext cx="1887538" cy="1570038"/>
            <a:chOff x="1464" y="2035"/>
            <a:chExt cx="1189" cy="989"/>
          </a:xfrm>
        </p:grpSpPr>
        <p:sp>
          <p:nvSpPr>
            <p:cNvPr id="955402" name="Cloud"/>
            <p:cNvSpPr>
              <a:spLocks noChangeAspect="1" noEditPoints="1" noChangeArrowheads="1"/>
            </p:cNvSpPr>
            <p:nvPr/>
          </p:nvSpPr>
          <p:spPr bwMode="auto">
            <a:xfrm>
              <a:off x="1464" y="2448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5" name="Line 13"/>
            <p:cNvSpPr>
              <a:spLocks noChangeShapeType="1"/>
            </p:cNvSpPr>
            <p:nvPr/>
          </p:nvSpPr>
          <p:spPr bwMode="auto">
            <a:xfrm flipH="1">
              <a:off x="2237" y="2035"/>
              <a:ext cx="416" cy="4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2" name="Text Box 20"/>
            <p:cNvSpPr txBox="1">
              <a:spLocks noChangeArrowheads="1"/>
            </p:cNvSpPr>
            <p:nvPr/>
          </p:nvSpPr>
          <p:spPr bwMode="auto">
            <a:xfrm>
              <a:off x="1773" y="2598"/>
              <a:ext cx="5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0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dir3</a:t>
              </a:r>
            </a:p>
          </p:txBody>
        </p:sp>
      </p:grpSp>
      <p:grpSp>
        <p:nvGrpSpPr>
          <p:cNvPr id="955421" name="Group 29"/>
          <p:cNvGrpSpPr>
            <a:grpSpLocks/>
          </p:cNvGrpSpPr>
          <p:nvPr/>
        </p:nvGrpSpPr>
        <p:grpSpPr bwMode="auto">
          <a:xfrm>
            <a:off x="1254125" y="1981200"/>
            <a:ext cx="2270126" cy="1365250"/>
            <a:chOff x="790" y="1248"/>
            <a:chExt cx="1430" cy="860"/>
          </a:xfrm>
        </p:grpSpPr>
        <p:sp>
          <p:nvSpPr>
            <p:cNvPr id="955398" name="Document"/>
            <p:cNvSpPr>
              <a:spLocks noEditPoints="1" noChangeArrowheads="1"/>
            </p:cNvSpPr>
            <p:nvPr/>
          </p:nvSpPr>
          <p:spPr bwMode="auto">
            <a:xfrm rot="10800000">
              <a:off x="1696" y="1584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8" name="Line 16"/>
            <p:cNvSpPr>
              <a:spLocks noChangeShapeType="1"/>
            </p:cNvSpPr>
            <p:nvPr/>
          </p:nvSpPr>
          <p:spPr bwMode="auto">
            <a:xfrm flipH="1">
              <a:off x="1928" y="1318"/>
              <a:ext cx="232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5420" name="Group 28"/>
            <p:cNvGrpSpPr>
              <a:grpSpLocks/>
            </p:cNvGrpSpPr>
            <p:nvPr/>
          </p:nvGrpSpPr>
          <p:grpSpPr bwMode="auto">
            <a:xfrm>
              <a:off x="790" y="1248"/>
              <a:ext cx="829" cy="855"/>
              <a:chOff x="790" y="1248"/>
              <a:chExt cx="829" cy="855"/>
            </a:xfrm>
          </p:grpSpPr>
          <p:sp>
            <p:nvSpPr>
              <p:cNvPr id="955397" name="Document"/>
              <p:cNvSpPr>
                <a:spLocks noEditPoints="1" noChangeArrowheads="1"/>
              </p:cNvSpPr>
              <p:nvPr/>
            </p:nvSpPr>
            <p:spPr bwMode="auto">
              <a:xfrm rot="10800000">
                <a:off x="845" y="1584"/>
                <a:ext cx="464" cy="480"/>
              </a:xfrm>
              <a:custGeom>
                <a:avLst/>
                <a:gdLst>
                  <a:gd name="T0" fmla="*/ 10757 w 21600"/>
                  <a:gd name="T1" fmla="*/ 21632 h 21600"/>
                  <a:gd name="T2" fmla="*/ 85 w 21600"/>
                  <a:gd name="T3" fmla="*/ 10849 h 21600"/>
                  <a:gd name="T4" fmla="*/ 10757 w 21600"/>
                  <a:gd name="T5" fmla="*/ 81 h 21600"/>
                  <a:gd name="T6" fmla="*/ 21706 w 21600"/>
                  <a:gd name="T7" fmla="*/ 10652 h 21600"/>
                  <a:gd name="T8" fmla="*/ 10757 w 21600"/>
                  <a:gd name="T9" fmla="*/ 21632 h 21600"/>
                  <a:gd name="T10" fmla="*/ 0 w 21600"/>
                  <a:gd name="T11" fmla="*/ 0 h 21600"/>
                  <a:gd name="T12" fmla="*/ 21600 w 21600"/>
                  <a:gd name="T13" fmla="*/ 0 h 21600"/>
                  <a:gd name="T14" fmla="*/ 21600 w 21600"/>
                  <a:gd name="T15" fmla="*/ 21600 h 21600"/>
                  <a:gd name="T16" fmla="*/ 977 w 21600"/>
                  <a:gd name="T17" fmla="*/ 818 h 21600"/>
                  <a:gd name="T18" fmla="*/ 20622 w 21600"/>
                  <a:gd name="T19" fmla="*/ 1642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0757" y="21632"/>
                    </a:moveTo>
                    <a:lnTo>
                      <a:pt x="5187" y="21632"/>
                    </a:lnTo>
                    <a:lnTo>
                      <a:pt x="85" y="17509"/>
                    </a:lnTo>
                    <a:lnTo>
                      <a:pt x="85" y="10849"/>
                    </a:lnTo>
                    <a:lnTo>
                      <a:pt x="85" y="81"/>
                    </a:lnTo>
                    <a:lnTo>
                      <a:pt x="10757" y="81"/>
                    </a:lnTo>
                    <a:lnTo>
                      <a:pt x="21706" y="81"/>
                    </a:lnTo>
                    <a:lnTo>
                      <a:pt x="21706" y="10652"/>
                    </a:lnTo>
                    <a:lnTo>
                      <a:pt x="21706" y="21632"/>
                    </a:lnTo>
                    <a:lnTo>
                      <a:pt x="10757" y="21632"/>
                    </a:lnTo>
                    <a:close/>
                  </a:path>
                  <a:path w="21600" h="21600">
                    <a:moveTo>
                      <a:pt x="85" y="17509"/>
                    </a:moveTo>
                    <a:lnTo>
                      <a:pt x="5187" y="17509"/>
                    </a:lnTo>
                    <a:lnTo>
                      <a:pt x="5187" y="21632"/>
                    </a:lnTo>
                    <a:lnTo>
                      <a:pt x="85" y="1750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407" name="Line 15"/>
              <p:cNvSpPr>
                <a:spLocks noChangeShapeType="1"/>
              </p:cNvSpPr>
              <p:nvPr/>
            </p:nvSpPr>
            <p:spPr bwMode="auto">
              <a:xfrm flipH="1">
                <a:off x="1000" y="1248"/>
                <a:ext cx="619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413" name="Text Box 21"/>
              <p:cNvSpPr txBox="1">
                <a:spLocks noChangeArrowheads="1"/>
              </p:cNvSpPr>
              <p:nvPr/>
            </p:nvSpPr>
            <p:spPr bwMode="auto">
              <a:xfrm>
                <a:off x="790" y="1891"/>
                <a:ext cx="57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r>
                  <a:rPr lang="en-US" altLang="en-US" sz="1600" b="1">
                    <a:latin typeface="Courier New" panose="02070309020205020404" pitchFamily="49" charset="0"/>
                  </a:rPr>
                  <a:t>file 1</a:t>
                </a:r>
              </a:p>
            </p:txBody>
          </p:sp>
        </p:grpSp>
        <p:sp>
          <p:nvSpPr>
            <p:cNvPr id="955414" name="Text Box 22"/>
            <p:cNvSpPr txBox="1">
              <a:spLocks noChangeArrowheads="1"/>
            </p:cNvSpPr>
            <p:nvPr/>
          </p:nvSpPr>
          <p:spPr bwMode="auto">
            <a:xfrm>
              <a:off x="1642" y="1896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anose="02070309020205020404" pitchFamily="49" charset="0"/>
                </a:rPr>
                <a:t>file 2</a:t>
              </a:r>
            </a:p>
          </p:txBody>
        </p:sp>
      </p:grpSp>
      <p:grpSp>
        <p:nvGrpSpPr>
          <p:cNvPr id="955425" name="Group 33"/>
          <p:cNvGrpSpPr>
            <a:grpSpLocks/>
          </p:cNvGrpSpPr>
          <p:nvPr/>
        </p:nvGrpSpPr>
        <p:grpSpPr bwMode="auto">
          <a:xfrm>
            <a:off x="2724151" y="4762500"/>
            <a:ext cx="917575" cy="1308100"/>
            <a:chOff x="1716" y="3000"/>
            <a:chExt cx="578" cy="824"/>
          </a:xfrm>
        </p:grpSpPr>
        <p:sp>
          <p:nvSpPr>
            <p:cNvPr id="955400" name="Document"/>
            <p:cNvSpPr>
              <a:spLocks noEditPoints="1" noChangeArrowheads="1"/>
            </p:cNvSpPr>
            <p:nvPr/>
          </p:nvSpPr>
          <p:spPr bwMode="auto">
            <a:xfrm rot="10800000">
              <a:off x="1773" y="3312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2B3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6" name="Line 14"/>
            <p:cNvSpPr>
              <a:spLocks noChangeShapeType="1"/>
            </p:cNvSpPr>
            <p:nvPr/>
          </p:nvSpPr>
          <p:spPr bwMode="auto">
            <a:xfrm flipH="1">
              <a:off x="1928" y="3000"/>
              <a:ext cx="88" cy="3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6" name="Text Box 24"/>
            <p:cNvSpPr txBox="1">
              <a:spLocks noChangeArrowheads="1"/>
            </p:cNvSpPr>
            <p:nvPr/>
          </p:nvSpPr>
          <p:spPr bwMode="auto">
            <a:xfrm>
              <a:off x="1716" y="3612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solidFill>
                    <a:schemeClr val="bg1"/>
                  </a:solidFill>
                  <a:latin typeface="Courier New" panose="02070309020205020404" pitchFamily="49" charset="0"/>
                </a:rPr>
                <a:t>file 3</a:t>
              </a:r>
            </a:p>
          </p:txBody>
        </p:sp>
      </p:grpSp>
      <p:grpSp>
        <p:nvGrpSpPr>
          <p:cNvPr id="955423" name="Group 31"/>
          <p:cNvGrpSpPr>
            <a:grpSpLocks/>
          </p:cNvGrpSpPr>
          <p:nvPr/>
        </p:nvGrpSpPr>
        <p:grpSpPr bwMode="auto">
          <a:xfrm>
            <a:off x="4811713" y="3230563"/>
            <a:ext cx="917575" cy="1487488"/>
            <a:chOff x="3031" y="2035"/>
            <a:chExt cx="578" cy="937"/>
          </a:xfrm>
        </p:grpSpPr>
        <p:sp>
          <p:nvSpPr>
            <p:cNvPr id="955399" name="Document"/>
            <p:cNvSpPr>
              <a:spLocks noEditPoints="1" noChangeArrowheads="1"/>
            </p:cNvSpPr>
            <p:nvPr/>
          </p:nvSpPr>
          <p:spPr bwMode="auto">
            <a:xfrm rot="10800000">
              <a:off x="3088" y="2448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5" name="Text Box 23"/>
            <p:cNvSpPr txBox="1">
              <a:spLocks noChangeArrowheads="1"/>
            </p:cNvSpPr>
            <p:nvPr/>
          </p:nvSpPr>
          <p:spPr bwMode="auto">
            <a:xfrm>
              <a:off x="3031" y="2760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anose="02070309020205020404" pitchFamily="49" charset="0"/>
                </a:rPr>
                <a:t>file 3</a:t>
              </a:r>
            </a:p>
          </p:txBody>
        </p:sp>
        <p:sp>
          <p:nvSpPr>
            <p:cNvPr id="955417" name="Line 25"/>
            <p:cNvSpPr>
              <a:spLocks noChangeShapeType="1"/>
            </p:cNvSpPr>
            <p:nvPr/>
          </p:nvSpPr>
          <p:spPr bwMode="auto">
            <a:xfrm>
              <a:off x="3266" y="2035"/>
              <a:ext cx="29" cy="4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5426" name="Group 34"/>
          <p:cNvGrpSpPr>
            <a:grpSpLocks/>
          </p:cNvGrpSpPr>
          <p:nvPr/>
        </p:nvGrpSpPr>
        <p:grpSpPr bwMode="auto">
          <a:xfrm>
            <a:off x="5945187" y="1828800"/>
            <a:ext cx="2317750" cy="1524000"/>
            <a:chOff x="3484" y="1152"/>
            <a:chExt cx="1460" cy="960"/>
          </a:xfrm>
        </p:grpSpPr>
        <p:sp>
          <p:nvSpPr>
            <p:cNvPr id="955403" name="Cloud"/>
            <p:cNvSpPr>
              <a:spLocks noChangeAspect="1" noEditPoints="1" noChangeArrowheads="1"/>
            </p:cNvSpPr>
            <p:nvPr/>
          </p:nvSpPr>
          <p:spPr bwMode="auto">
            <a:xfrm>
              <a:off x="3784" y="1536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9" name="Line 17"/>
            <p:cNvSpPr>
              <a:spLocks noChangeShapeType="1"/>
            </p:cNvSpPr>
            <p:nvPr/>
          </p:nvSpPr>
          <p:spPr bwMode="auto">
            <a:xfrm>
              <a:off x="3484" y="1152"/>
              <a:ext cx="657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11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Tree-Structured</a:t>
            </a:r>
          </a:p>
        </p:txBody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Directories can be recursively embedded in other directories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Naturally forms a tree structure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Two ways to refers to a file: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Absolute Pathname:</a:t>
            </a:r>
            <a:r>
              <a:rPr lang="en-US" altLang="en-US" dirty="0"/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Directory names followed from root of tree + final file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i.e. the Path from root directory to the file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Relative Pathname: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Directory names followed from the </a:t>
            </a:r>
            <a:r>
              <a:rPr lang="en-US" altLang="en-US" b="1" dirty="0"/>
              <a:t>current working directory (CWD)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CWD can be set explicitly or implicitly changed by moving into a new directory under shell prompt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9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87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DAG</a:t>
            </a:r>
          </a:p>
        </p:txBody>
      </p:sp>
      <p:sp>
        <p:nvSpPr>
          <p:cNvPr id="990213" name="Cloud"/>
          <p:cNvSpPr>
            <a:spLocks noChangeAspect="1" noEditPoints="1" noChangeArrowheads="1"/>
          </p:cNvSpPr>
          <p:nvPr/>
        </p:nvSpPr>
        <p:spPr bwMode="auto">
          <a:xfrm>
            <a:off x="3543370" y="1169988"/>
            <a:ext cx="1862138" cy="1090612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4" name="Document"/>
          <p:cNvSpPr>
            <a:spLocks noEditPoints="1" noChangeArrowheads="1"/>
          </p:cNvSpPr>
          <p:nvPr/>
        </p:nvSpPr>
        <p:spPr bwMode="auto">
          <a:xfrm rot="10800000">
            <a:off x="1679645" y="2679700"/>
            <a:ext cx="665163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5" name="Document"/>
          <p:cNvSpPr>
            <a:spLocks noEditPoints="1" noChangeArrowheads="1"/>
          </p:cNvSpPr>
          <p:nvPr/>
        </p:nvSpPr>
        <p:spPr bwMode="auto">
          <a:xfrm rot="10800000">
            <a:off x="3009970" y="2679700"/>
            <a:ext cx="665163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6" name="Document"/>
          <p:cNvSpPr>
            <a:spLocks noEditPoints="1" noChangeArrowheads="1"/>
          </p:cNvSpPr>
          <p:nvPr/>
        </p:nvSpPr>
        <p:spPr bwMode="auto">
          <a:xfrm rot="10800000">
            <a:off x="5938908" y="3959225"/>
            <a:ext cx="665162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7" name="Document"/>
          <p:cNvSpPr>
            <a:spLocks noEditPoints="1" noChangeArrowheads="1"/>
          </p:cNvSpPr>
          <p:nvPr/>
        </p:nvSpPr>
        <p:spPr bwMode="auto">
          <a:xfrm rot="10800000">
            <a:off x="3009970" y="5472113"/>
            <a:ext cx="665163" cy="928687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FFE3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8" name="Cloud"/>
          <p:cNvSpPr>
            <a:spLocks noChangeAspect="1" noEditPoints="1" noChangeArrowheads="1"/>
          </p:cNvSpPr>
          <p:nvPr/>
        </p:nvSpPr>
        <p:spPr bwMode="auto">
          <a:xfrm>
            <a:off x="5007045" y="2679700"/>
            <a:ext cx="1463675" cy="8572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9" name="Cloud"/>
          <p:cNvSpPr>
            <a:spLocks noChangeAspect="1" noEditPoints="1" noChangeArrowheads="1"/>
          </p:cNvSpPr>
          <p:nvPr/>
        </p:nvSpPr>
        <p:spPr bwMode="auto">
          <a:xfrm>
            <a:off x="6956495" y="2717007"/>
            <a:ext cx="1463675" cy="8572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20" name="Cloud"/>
          <p:cNvSpPr>
            <a:spLocks noChangeAspect="1" noEditPoints="1" noChangeArrowheads="1"/>
          </p:cNvSpPr>
          <p:nvPr/>
        </p:nvSpPr>
        <p:spPr bwMode="auto">
          <a:xfrm>
            <a:off x="4075183" y="4076700"/>
            <a:ext cx="1330325" cy="776288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22" name="Freeform 14"/>
          <p:cNvSpPr>
            <a:spLocks/>
          </p:cNvSpPr>
          <p:nvPr/>
        </p:nvSpPr>
        <p:spPr bwMode="auto">
          <a:xfrm>
            <a:off x="5007045" y="4891088"/>
            <a:ext cx="1330325" cy="476250"/>
          </a:xfrm>
          <a:custGeom>
            <a:avLst/>
            <a:gdLst>
              <a:gd name="T0" fmla="*/ 0 w 480"/>
              <a:gd name="T1" fmla="*/ 0 h 197"/>
              <a:gd name="T2" fmla="*/ 41 w 480"/>
              <a:gd name="T3" fmla="*/ 117 h 197"/>
              <a:gd name="T4" fmla="*/ 142 w 480"/>
              <a:gd name="T5" fmla="*/ 185 h 197"/>
              <a:gd name="T6" fmla="*/ 268 w 480"/>
              <a:gd name="T7" fmla="*/ 190 h 197"/>
              <a:gd name="T8" fmla="*/ 375 w 480"/>
              <a:gd name="T9" fmla="*/ 151 h 197"/>
              <a:gd name="T10" fmla="*/ 432 w 480"/>
              <a:gd name="T11" fmla="*/ 96 h 197"/>
              <a:gd name="T12" fmla="*/ 480 w 480"/>
              <a:gd name="T13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97">
                <a:moveTo>
                  <a:pt x="0" y="0"/>
                </a:moveTo>
                <a:cubicBezTo>
                  <a:pt x="7" y="19"/>
                  <a:pt x="17" y="86"/>
                  <a:pt x="41" y="117"/>
                </a:cubicBezTo>
                <a:cubicBezTo>
                  <a:pt x="65" y="148"/>
                  <a:pt x="104" y="173"/>
                  <a:pt x="142" y="185"/>
                </a:cubicBezTo>
                <a:cubicBezTo>
                  <a:pt x="180" y="197"/>
                  <a:pt x="229" y="196"/>
                  <a:pt x="268" y="190"/>
                </a:cubicBezTo>
                <a:cubicBezTo>
                  <a:pt x="307" y="184"/>
                  <a:pt x="348" y="167"/>
                  <a:pt x="375" y="151"/>
                </a:cubicBezTo>
                <a:cubicBezTo>
                  <a:pt x="402" y="135"/>
                  <a:pt x="415" y="121"/>
                  <a:pt x="432" y="96"/>
                </a:cubicBezTo>
                <a:cubicBezTo>
                  <a:pt x="449" y="71"/>
                  <a:pt x="464" y="36"/>
                  <a:pt x="48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3" name="Line 15"/>
          <p:cNvSpPr>
            <a:spLocks noChangeShapeType="1"/>
          </p:cNvSpPr>
          <p:nvPr/>
        </p:nvSpPr>
        <p:spPr bwMode="auto">
          <a:xfrm flipH="1">
            <a:off x="4740345" y="3378200"/>
            <a:ext cx="400050" cy="6985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4" name="Line 16"/>
          <p:cNvSpPr>
            <a:spLocks noChangeShapeType="1"/>
          </p:cNvSpPr>
          <p:nvPr/>
        </p:nvSpPr>
        <p:spPr bwMode="auto">
          <a:xfrm>
            <a:off x="5140395" y="2082853"/>
            <a:ext cx="531813" cy="59684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5" name="Freeform 17"/>
          <p:cNvSpPr>
            <a:spLocks/>
          </p:cNvSpPr>
          <p:nvPr/>
        </p:nvSpPr>
        <p:spPr bwMode="auto">
          <a:xfrm>
            <a:off x="1946345" y="1538288"/>
            <a:ext cx="1604963" cy="1141412"/>
          </a:xfrm>
          <a:custGeom>
            <a:avLst/>
            <a:gdLst>
              <a:gd name="T0" fmla="*/ 531 w 531"/>
              <a:gd name="T1" fmla="*/ 0 h 376"/>
              <a:gd name="T2" fmla="*/ 439 w 531"/>
              <a:gd name="T3" fmla="*/ 15 h 376"/>
              <a:gd name="T4" fmla="*/ 241 w 531"/>
              <a:gd name="T5" fmla="*/ 88 h 376"/>
              <a:gd name="T6" fmla="*/ 96 w 531"/>
              <a:gd name="T7" fmla="*/ 223 h 376"/>
              <a:gd name="T8" fmla="*/ 0 w 531"/>
              <a:gd name="T9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1" h="376">
                <a:moveTo>
                  <a:pt x="531" y="0"/>
                </a:moveTo>
                <a:cubicBezTo>
                  <a:pt x="516" y="2"/>
                  <a:pt x="487" y="0"/>
                  <a:pt x="439" y="15"/>
                </a:cubicBezTo>
                <a:cubicBezTo>
                  <a:pt x="391" y="30"/>
                  <a:pt x="298" y="53"/>
                  <a:pt x="241" y="88"/>
                </a:cubicBezTo>
                <a:cubicBezTo>
                  <a:pt x="184" y="123"/>
                  <a:pt x="136" y="175"/>
                  <a:pt x="96" y="223"/>
                </a:cubicBezTo>
                <a:cubicBezTo>
                  <a:pt x="56" y="271"/>
                  <a:pt x="20" y="344"/>
                  <a:pt x="0" y="37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6" name="Line 18"/>
          <p:cNvSpPr>
            <a:spLocks noChangeShapeType="1"/>
          </p:cNvSpPr>
          <p:nvPr/>
        </p:nvSpPr>
        <p:spPr bwMode="auto">
          <a:xfrm flipH="1">
            <a:off x="3543370" y="2216150"/>
            <a:ext cx="531813" cy="463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7" name="Line 19"/>
          <p:cNvSpPr>
            <a:spLocks noChangeShapeType="1"/>
          </p:cNvSpPr>
          <p:nvPr/>
        </p:nvSpPr>
        <p:spPr bwMode="auto">
          <a:xfrm>
            <a:off x="5405508" y="1735138"/>
            <a:ext cx="1855787" cy="98186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8" name="Line 20"/>
          <p:cNvSpPr>
            <a:spLocks noChangeShapeType="1"/>
          </p:cNvSpPr>
          <p:nvPr/>
        </p:nvSpPr>
        <p:spPr bwMode="auto">
          <a:xfrm flipH="1">
            <a:off x="3551307" y="4773613"/>
            <a:ext cx="657224" cy="6985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9" name="Line 21"/>
          <p:cNvSpPr>
            <a:spLocks noChangeShapeType="1"/>
          </p:cNvSpPr>
          <p:nvPr/>
        </p:nvSpPr>
        <p:spPr bwMode="auto">
          <a:xfrm>
            <a:off x="6070670" y="3495675"/>
            <a:ext cx="133350" cy="463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30" name="Text Box 22"/>
          <p:cNvSpPr txBox="1">
            <a:spLocks noChangeArrowheads="1"/>
          </p:cNvSpPr>
          <p:nvPr/>
        </p:nvSpPr>
        <p:spPr bwMode="auto">
          <a:xfrm>
            <a:off x="4338708" y="1435046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/</a:t>
            </a:r>
          </a:p>
        </p:txBody>
      </p:sp>
      <p:sp>
        <p:nvSpPr>
          <p:cNvPr id="990231" name="Text Box 23"/>
          <p:cNvSpPr txBox="1">
            <a:spLocks noChangeArrowheads="1"/>
          </p:cNvSpPr>
          <p:nvPr/>
        </p:nvSpPr>
        <p:spPr bwMode="auto">
          <a:xfrm>
            <a:off x="5405508" y="2945990"/>
            <a:ext cx="678379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dir2</a:t>
            </a:r>
          </a:p>
        </p:txBody>
      </p:sp>
      <p:sp>
        <p:nvSpPr>
          <p:cNvPr id="990232" name="Text Box 24"/>
          <p:cNvSpPr txBox="1">
            <a:spLocks noChangeArrowheads="1"/>
          </p:cNvSpPr>
          <p:nvPr/>
        </p:nvSpPr>
        <p:spPr bwMode="auto">
          <a:xfrm>
            <a:off x="4400620" y="4275977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dir3</a:t>
            </a:r>
          </a:p>
        </p:txBody>
      </p:sp>
      <p:sp>
        <p:nvSpPr>
          <p:cNvPr id="990233" name="Text Box 25"/>
          <p:cNvSpPr txBox="1">
            <a:spLocks noChangeArrowheads="1"/>
          </p:cNvSpPr>
          <p:nvPr/>
        </p:nvSpPr>
        <p:spPr bwMode="auto">
          <a:xfrm>
            <a:off x="2940753" y="6102214"/>
            <a:ext cx="795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>
                <a:solidFill>
                  <a:srgbClr val="C00000"/>
                </a:solidFill>
                <a:latin typeface="Lucida Console" panose="020B0609040504020204" pitchFamily="49" charset="0"/>
              </a:rPr>
              <a:t>file3</a:t>
            </a:r>
          </a:p>
        </p:txBody>
      </p:sp>
      <p:grpSp>
        <p:nvGrpSpPr>
          <p:cNvPr id="990237" name="Group 29"/>
          <p:cNvGrpSpPr>
            <a:grpSpLocks/>
          </p:cNvGrpSpPr>
          <p:nvPr/>
        </p:nvGrpSpPr>
        <p:grpSpPr bwMode="auto">
          <a:xfrm>
            <a:off x="1459199" y="1735138"/>
            <a:ext cx="2014321" cy="4264025"/>
            <a:chOff x="889" y="1200"/>
            <a:chExt cx="1087" cy="2193"/>
          </a:xfrm>
        </p:grpSpPr>
        <p:sp>
          <p:nvSpPr>
            <p:cNvPr id="990221" name="Freeform 13"/>
            <p:cNvSpPr>
              <a:spLocks/>
            </p:cNvSpPr>
            <p:nvPr/>
          </p:nvSpPr>
          <p:spPr bwMode="auto">
            <a:xfrm>
              <a:off x="1401" y="1200"/>
              <a:ext cx="575" cy="2193"/>
            </a:xfrm>
            <a:custGeom>
              <a:avLst/>
              <a:gdLst>
                <a:gd name="T0" fmla="*/ 384 w 384"/>
                <a:gd name="T1" fmla="*/ 0 h 1760"/>
                <a:gd name="T2" fmla="*/ 99 w 384"/>
                <a:gd name="T3" fmla="*/ 253 h 1760"/>
                <a:gd name="T4" fmla="*/ 7 w 384"/>
                <a:gd name="T5" fmla="*/ 969 h 1760"/>
                <a:gd name="T6" fmla="*/ 56 w 384"/>
                <a:gd name="T7" fmla="*/ 1566 h 1760"/>
                <a:gd name="T8" fmla="*/ 212 w 384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1760">
                  <a:moveTo>
                    <a:pt x="384" y="0"/>
                  </a:moveTo>
                  <a:cubicBezTo>
                    <a:pt x="336" y="42"/>
                    <a:pt x="162" y="92"/>
                    <a:pt x="99" y="253"/>
                  </a:cubicBezTo>
                  <a:cubicBezTo>
                    <a:pt x="36" y="414"/>
                    <a:pt x="14" y="750"/>
                    <a:pt x="7" y="969"/>
                  </a:cubicBezTo>
                  <a:cubicBezTo>
                    <a:pt x="0" y="1188"/>
                    <a:pt x="22" y="1434"/>
                    <a:pt x="56" y="1566"/>
                  </a:cubicBezTo>
                  <a:cubicBezTo>
                    <a:pt x="90" y="1698"/>
                    <a:pt x="180" y="1720"/>
                    <a:pt x="212" y="176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0234" name="Text Box 26"/>
            <p:cNvSpPr txBox="1">
              <a:spLocks noChangeArrowheads="1"/>
            </p:cNvSpPr>
            <p:nvPr/>
          </p:nvSpPr>
          <p:spPr bwMode="auto">
            <a:xfrm>
              <a:off x="889" y="2736"/>
              <a:ext cx="4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r"/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Console" panose="020B0609040504020204" pitchFamily="49" charset="0"/>
                </a:rPr>
                <a:t>alias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4" name="Oval 3"/>
          <p:cNvSpPr/>
          <p:nvPr/>
        </p:nvSpPr>
        <p:spPr>
          <a:xfrm>
            <a:off x="8496370" y="6642100"/>
            <a:ext cx="114230" cy="1079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2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2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DAG</a:t>
            </a:r>
          </a:p>
        </p:txBody>
      </p:sp>
      <p:sp>
        <p:nvSpPr>
          <p:cNvPr id="99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If a </a:t>
            </a:r>
            <a:r>
              <a:rPr lang="en-US" altLang="en-US" b="1" dirty="0"/>
              <a:t>file </a:t>
            </a:r>
            <a:r>
              <a:rPr lang="en-US" altLang="en-US" b="1" i="1" dirty="0">
                <a:solidFill>
                  <a:srgbClr val="0033CC"/>
                </a:solidFill>
              </a:rPr>
              <a:t>can be shared:</a:t>
            </a:r>
          </a:p>
          <a:p>
            <a:pPr lvl="1"/>
            <a:r>
              <a:rPr lang="en-US" altLang="en-US" dirty="0"/>
              <a:t>Only one copy of actual content</a:t>
            </a:r>
          </a:p>
          <a:p>
            <a:pPr lvl="1"/>
            <a:r>
              <a:rPr lang="en-US" altLang="en-US" dirty="0"/>
              <a:t>"Appears" in multiple directories</a:t>
            </a:r>
          </a:p>
          <a:p>
            <a:pPr lvl="2"/>
            <a:r>
              <a:rPr lang="en-US" altLang="en-US" dirty="0"/>
              <a:t>With different path names</a:t>
            </a:r>
          </a:p>
          <a:p>
            <a:r>
              <a:rPr lang="en-US" altLang="en-US" dirty="0"/>
              <a:t>Then tree structure </a:t>
            </a:r>
            <a:r>
              <a:rPr lang="en-US" altLang="en-US" dirty="0">
                <a:sym typeface="Wingdings" panose="05000000000000000000" pitchFamily="2" charset="2"/>
              </a:rPr>
              <a:t> DAG</a:t>
            </a:r>
          </a:p>
          <a:p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>
                <a:sym typeface="Wingdings" panose="05000000000000000000" pitchFamily="2" charset="2"/>
              </a:rPr>
              <a:t>Two implementations in Unix: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Hard Link</a:t>
            </a:r>
          </a:p>
          <a:p>
            <a:pPr lvl="2"/>
            <a:r>
              <a:rPr lang="en-US" altLang="en-US" dirty="0">
                <a:sym typeface="Wingdings" panose="05000000000000000000" pitchFamily="2" charset="2"/>
              </a:rPr>
              <a:t>Limited to </a:t>
            </a:r>
            <a:r>
              <a:rPr lang="en-US" altLang="en-US" b="1" dirty="0">
                <a:sym typeface="Wingdings" panose="05000000000000000000" pitchFamily="2" charset="2"/>
              </a:rPr>
              <a:t>file only</a:t>
            </a:r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 b="1" dirty="0">
                <a:solidFill>
                  <a:srgbClr val="006600"/>
                </a:solidFill>
                <a:sym typeface="Wingdings" panose="05000000000000000000" pitchFamily="2" charset="2"/>
              </a:rPr>
              <a:t>Symbolic Link</a:t>
            </a:r>
          </a:p>
          <a:p>
            <a:pPr lvl="2"/>
            <a:r>
              <a:rPr lang="en-US" altLang="en-US" dirty="0"/>
              <a:t>Can be file or directory</a:t>
            </a:r>
          </a:p>
          <a:p>
            <a:pPr lvl="2"/>
            <a:r>
              <a:rPr lang="en-US" altLang="en-US" dirty="0"/>
              <a:t>This has an "interesting" effect….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56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59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DAG: </a:t>
            </a:r>
            <a:r>
              <a:rPr lang="en-US" altLang="en-US" sz="3800" b="1" dirty="0">
                <a:solidFill>
                  <a:srgbClr val="C00000"/>
                </a:solidFill>
              </a:rPr>
              <a:t>Unix Hard Link</a:t>
            </a:r>
          </a:p>
        </p:txBody>
      </p:sp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Consider: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is the owner of file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wants to share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Hard Link: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has </a:t>
            </a:r>
            <a:r>
              <a:rPr lang="en-US" altLang="en-US" b="1" dirty="0"/>
              <a:t>separate pointers </a:t>
            </a:r>
            <a:r>
              <a:rPr lang="en-US" altLang="en-US" dirty="0"/>
              <a:t>point to the actual file F in disk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Low overhead, only pointers are added in directory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Deletion problems: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e.g. If B deletes F? If A deletes F?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Unix Command: " </a:t>
            </a:r>
            <a:r>
              <a:rPr lang="en-US" altLang="en-US" b="1" dirty="0">
                <a:latin typeface="Courier New" panose="02070309020205020404" pitchFamily="49" charset="0"/>
              </a:rPr>
              <a:t>ln </a:t>
            </a:r>
            <a:r>
              <a:rPr lang="en-US" altLang="en-US" dirty="0"/>
              <a:t>"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144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07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DAG: </a:t>
            </a:r>
            <a:r>
              <a:rPr lang="en-US" altLang="en-US" sz="3800" b="1" dirty="0">
                <a:solidFill>
                  <a:srgbClr val="C00000"/>
                </a:solidFill>
              </a:rPr>
              <a:t>Unix Symbolic Link</a:t>
            </a:r>
          </a:p>
        </p:txBody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Symbolic Link: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creates a </a:t>
            </a:r>
            <a:r>
              <a:rPr lang="en-US" altLang="en-US" b="1" i="1" dirty="0"/>
              <a:t>special link file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contains the </a:t>
            </a:r>
            <a:r>
              <a:rPr lang="en-US" altLang="en-US" b="1" dirty="0"/>
              <a:t>path name </a:t>
            </a:r>
            <a:r>
              <a:rPr lang="en-US" altLang="en-US" dirty="0"/>
              <a:t>of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is accessed: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Find out where is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  <a:r>
              <a:rPr lang="en-US" altLang="en-US" dirty="0"/>
              <a:t>, then access</a:t>
            </a:r>
            <a:r>
              <a:rPr lang="en-US" altLang="en-US" b="1" dirty="0">
                <a:solidFill>
                  <a:srgbClr val="9900CC"/>
                </a:solidFill>
              </a:rPr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Simple deletion: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deletes: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deleted, not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deletes: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  <a:r>
              <a:rPr lang="en-US" altLang="en-US" b="1" dirty="0"/>
              <a:t> </a:t>
            </a:r>
            <a:r>
              <a:rPr lang="en-US" altLang="en-US" dirty="0"/>
              <a:t>is gone,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remains (but not working)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Cons: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Larger overhead: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Special link file take up actual disk space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Unix Command: "</a:t>
            </a:r>
            <a:r>
              <a:rPr lang="en-US" altLang="en-US" b="1" dirty="0">
                <a:latin typeface="Courier New" panose="02070309020205020404" pitchFamily="49" charset="0"/>
              </a:rPr>
              <a:t>ln –s</a:t>
            </a:r>
            <a:r>
              <a:rPr lang="en-US" altLang="en-US" dirty="0"/>
              <a:t>"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60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28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General Graph</a:t>
            </a:r>
          </a:p>
        </p:txBody>
      </p:sp>
      <p:sp>
        <p:nvSpPr>
          <p:cNvPr id="995333" name="Cloud"/>
          <p:cNvSpPr>
            <a:spLocks noChangeAspect="1" noEditPoints="1" noChangeArrowheads="1"/>
          </p:cNvSpPr>
          <p:nvPr/>
        </p:nvSpPr>
        <p:spPr bwMode="auto">
          <a:xfrm>
            <a:off x="2795588" y="1143000"/>
            <a:ext cx="2032000" cy="12414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4" name="Document"/>
          <p:cNvSpPr>
            <a:spLocks noEditPoints="1" noChangeArrowheads="1"/>
          </p:cNvSpPr>
          <p:nvPr/>
        </p:nvSpPr>
        <p:spPr bwMode="auto">
          <a:xfrm rot="10800000">
            <a:off x="762000" y="2862262"/>
            <a:ext cx="725488" cy="1058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5" name="Document"/>
          <p:cNvSpPr>
            <a:spLocks noEditPoints="1" noChangeArrowheads="1"/>
          </p:cNvSpPr>
          <p:nvPr/>
        </p:nvSpPr>
        <p:spPr bwMode="auto">
          <a:xfrm rot="10800000">
            <a:off x="2212975" y="2862262"/>
            <a:ext cx="725488" cy="1058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6" name="Document"/>
          <p:cNvSpPr>
            <a:spLocks noEditPoints="1" noChangeArrowheads="1"/>
          </p:cNvSpPr>
          <p:nvPr/>
        </p:nvSpPr>
        <p:spPr bwMode="auto">
          <a:xfrm rot="10800000">
            <a:off x="5410200" y="4318000"/>
            <a:ext cx="725488" cy="1060450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8" name="Cloud"/>
          <p:cNvSpPr>
            <a:spLocks noChangeAspect="1" noEditPoints="1" noChangeArrowheads="1"/>
          </p:cNvSpPr>
          <p:nvPr/>
        </p:nvSpPr>
        <p:spPr bwMode="auto">
          <a:xfrm>
            <a:off x="4392613" y="2862262"/>
            <a:ext cx="1597025" cy="9747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9" name="Cloud"/>
          <p:cNvSpPr>
            <a:spLocks noChangeAspect="1" noEditPoints="1" noChangeArrowheads="1"/>
          </p:cNvSpPr>
          <p:nvPr/>
        </p:nvSpPr>
        <p:spPr bwMode="auto">
          <a:xfrm>
            <a:off x="6861175" y="2862262"/>
            <a:ext cx="1597025" cy="9747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40" name="Cloud"/>
          <p:cNvSpPr>
            <a:spLocks noChangeAspect="1" noEditPoints="1" noChangeArrowheads="1"/>
          </p:cNvSpPr>
          <p:nvPr/>
        </p:nvSpPr>
        <p:spPr bwMode="auto">
          <a:xfrm>
            <a:off x="3376613" y="4449762"/>
            <a:ext cx="1450975" cy="8858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42" name="Freeform 14"/>
          <p:cNvSpPr>
            <a:spLocks/>
          </p:cNvSpPr>
          <p:nvPr/>
        </p:nvSpPr>
        <p:spPr bwMode="auto">
          <a:xfrm>
            <a:off x="4114800" y="5378450"/>
            <a:ext cx="1728788" cy="541337"/>
          </a:xfrm>
          <a:custGeom>
            <a:avLst/>
            <a:gdLst>
              <a:gd name="T0" fmla="*/ 0 w 480"/>
              <a:gd name="T1" fmla="*/ 0 h 197"/>
              <a:gd name="T2" fmla="*/ 41 w 480"/>
              <a:gd name="T3" fmla="*/ 117 h 197"/>
              <a:gd name="T4" fmla="*/ 142 w 480"/>
              <a:gd name="T5" fmla="*/ 185 h 197"/>
              <a:gd name="T6" fmla="*/ 268 w 480"/>
              <a:gd name="T7" fmla="*/ 190 h 197"/>
              <a:gd name="T8" fmla="*/ 375 w 480"/>
              <a:gd name="T9" fmla="*/ 151 h 197"/>
              <a:gd name="T10" fmla="*/ 432 w 480"/>
              <a:gd name="T11" fmla="*/ 96 h 197"/>
              <a:gd name="T12" fmla="*/ 480 w 480"/>
              <a:gd name="T13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97">
                <a:moveTo>
                  <a:pt x="0" y="0"/>
                </a:moveTo>
                <a:cubicBezTo>
                  <a:pt x="7" y="19"/>
                  <a:pt x="17" y="86"/>
                  <a:pt x="41" y="117"/>
                </a:cubicBezTo>
                <a:cubicBezTo>
                  <a:pt x="65" y="148"/>
                  <a:pt x="104" y="173"/>
                  <a:pt x="142" y="185"/>
                </a:cubicBezTo>
                <a:cubicBezTo>
                  <a:pt x="180" y="197"/>
                  <a:pt x="229" y="196"/>
                  <a:pt x="268" y="190"/>
                </a:cubicBezTo>
                <a:cubicBezTo>
                  <a:pt x="307" y="184"/>
                  <a:pt x="348" y="167"/>
                  <a:pt x="375" y="151"/>
                </a:cubicBezTo>
                <a:cubicBezTo>
                  <a:pt x="402" y="135"/>
                  <a:pt x="415" y="121"/>
                  <a:pt x="432" y="96"/>
                </a:cubicBezTo>
                <a:cubicBezTo>
                  <a:pt x="449" y="71"/>
                  <a:pt x="464" y="36"/>
                  <a:pt x="48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3" name="Line 15"/>
          <p:cNvSpPr>
            <a:spLocks noChangeShapeType="1"/>
          </p:cNvSpPr>
          <p:nvPr/>
        </p:nvSpPr>
        <p:spPr bwMode="auto">
          <a:xfrm flipH="1">
            <a:off x="4102100" y="3656012"/>
            <a:ext cx="436563" cy="79375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4" name="Line 16"/>
          <p:cNvSpPr>
            <a:spLocks noChangeShapeType="1"/>
          </p:cNvSpPr>
          <p:nvPr/>
        </p:nvSpPr>
        <p:spPr bwMode="auto">
          <a:xfrm>
            <a:off x="4538663" y="2200275"/>
            <a:ext cx="579437" cy="6619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5" name="Freeform 17"/>
          <p:cNvSpPr>
            <a:spLocks/>
          </p:cNvSpPr>
          <p:nvPr/>
        </p:nvSpPr>
        <p:spPr bwMode="auto">
          <a:xfrm>
            <a:off x="1052513" y="1560512"/>
            <a:ext cx="1751012" cy="1301750"/>
          </a:xfrm>
          <a:custGeom>
            <a:avLst/>
            <a:gdLst>
              <a:gd name="T0" fmla="*/ 531 w 531"/>
              <a:gd name="T1" fmla="*/ 0 h 376"/>
              <a:gd name="T2" fmla="*/ 439 w 531"/>
              <a:gd name="T3" fmla="*/ 15 h 376"/>
              <a:gd name="T4" fmla="*/ 241 w 531"/>
              <a:gd name="T5" fmla="*/ 88 h 376"/>
              <a:gd name="T6" fmla="*/ 96 w 531"/>
              <a:gd name="T7" fmla="*/ 223 h 376"/>
              <a:gd name="T8" fmla="*/ 0 w 531"/>
              <a:gd name="T9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1" h="376">
                <a:moveTo>
                  <a:pt x="531" y="0"/>
                </a:moveTo>
                <a:cubicBezTo>
                  <a:pt x="516" y="2"/>
                  <a:pt x="487" y="0"/>
                  <a:pt x="439" y="15"/>
                </a:cubicBezTo>
                <a:cubicBezTo>
                  <a:pt x="391" y="30"/>
                  <a:pt x="298" y="53"/>
                  <a:pt x="241" y="88"/>
                </a:cubicBezTo>
                <a:cubicBezTo>
                  <a:pt x="184" y="123"/>
                  <a:pt x="136" y="175"/>
                  <a:pt x="96" y="223"/>
                </a:cubicBezTo>
                <a:cubicBezTo>
                  <a:pt x="56" y="271"/>
                  <a:pt x="20" y="344"/>
                  <a:pt x="0" y="37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6" name="Line 18"/>
          <p:cNvSpPr>
            <a:spLocks noChangeShapeType="1"/>
          </p:cNvSpPr>
          <p:nvPr/>
        </p:nvSpPr>
        <p:spPr bwMode="auto">
          <a:xfrm flipH="1">
            <a:off x="2795588" y="2333625"/>
            <a:ext cx="581025" cy="528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7" name="Line 19"/>
          <p:cNvSpPr>
            <a:spLocks noChangeShapeType="1"/>
          </p:cNvSpPr>
          <p:nvPr/>
        </p:nvSpPr>
        <p:spPr bwMode="auto">
          <a:xfrm>
            <a:off x="4827588" y="1936750"/>
            <a:ext cx="2613025" cy="9255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9" name="Line 21"/>
          <p:cNvSpPr>
            <a:spLocks noChangeShapeType="1"/>
          </p:cNvSpPr>
          <p:nvPr/>
        </p:nvSpPr>
        <p:spPr bwMode="auto">
          <a:xfrm>
            <a:off x="5553075" y="3789362"/>
            <a:ext cx="146050" cy="528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50" name="Text Box 22"/>
          <p:cNvSpPr txBox="1">
            <a:spLocks noChangeArrowheads="1"/>
          </p:cNvSpPr>
          <p:nvPr/>
        </p:nvSpPr>
        <p:spPr bwMode="auto">
          <a:xfrm>
            <a:off x="3646285" y="1536647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/</a:t>
            </a:r>
          </a:p>
        </p:txBody>
      </p:sp>
      <p:sp>
        <p:nvSpPr>
          <p:cNvPr id="995351" name="Text Box 23"/>
          <p:cNvSpPr txBox="1">
            <a:spLocks noChangeArrowheads="1"/>
          </p:cNvSpPr>
          <p:nvPr/>
        </p:nvSpPr>
        <p:spPr bwMode="auto">
          <a:xfrm>
            <a:off x="4824949" y="3158331"/>
            <a:ext cx="678379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dir2</a:t>
            </a:r>
          </a:p>
        </p:txBody>
      </p:sp>
      <p:sp>
        <p:nvSpPr>
          <p:cNvPr id="995352" name="Text Box 24"/>
          <p:cNvSpPr txBox="1">
            <a:spLocks noChangeArrowheads="1"/>
          </p:cNvSpPr>
          <p:nvPr/>
        </p:nvSpPr>
        <p:spPr bwMode="auto">
          <a:xfrm>
            <a:off x="3765550" y="4702174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r"/>
            <a:r>
              <a:rPr lang="en-US" altLang="en-US" sz="1600" b="1">
                <a:solidFill>
                  <a:srgbClr val="C00000"/>
                </a:solidFill>
                <a:latin typeface="Lucida Console" panose="020B0609040504020204" pitchFamily="49" charset="0"/>
              </a:rPr>
              <a:t>dir3</a:t>
            </a:r>
          </a:p>
        </p:txBody>
      </p:sp>
      <p:grpSp>
        <p:nvGrpSpPr>
          <p:cNvPr id="995359" name="Group 31"/>
          <p:cNvGrpSpPr>
            <a:grpSpLocks/>
          </p:cNvGrpSpPr>
          <p:nvPr/>
        </p:nvGrpSpPr>
        <p:grpSpPr bwMode="auto">
          <a:xfrm>
            <a:off x="2097087" y="3325813"/>
            <a:ext cx="2159000" cy="1712913"/>
            <a:chOff x="1273" y="2110"/>
            <a:chExt cx="1360" cy="1079"/>
          </a:xfrm>
        </p:grpSpPr>
        <p:sp>
          <p:nvSpPr>
            <p:cNvPr id="995353" name="Text Box 25"/>
            <p:cNvSpPr txBox="1">
              <a:spLocks noChangeArrowheads="1"/>
            </p:cNvSpPr>
            <p:nvPr/>
          </p:nvSpPr>
          <p:spPr bwMode="auto">
            <a:xfrm>
              <a:off x="1273" y="2831"/>
              <a:ext cx="60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Console" panose="020B0609040504020204" pitchFamily="49" charset="0"/>
                </a:rPr>
                <a:t>cycle</a:t>
              </a:r>
            </a:p>
          </p:txBody>
        </p:sp>
        <p:sp>
          <p:nvSpPr>
            <p:cNvPr id="995356" name="Freeform 28"/>
            <p:cNvSpPr>
              <a:spLocks/>
            </p:cNvSpPr>
            <p:nvPr/>
          </p:nvSpPr>
          <p:spPr bwMode="auto">
            <a:xfrm>
              <a:off x="1573" y="2110"/>
              <a:ext cx="1060" cy="1079"/>
            </a:xfrm>
            <a:custGeom>
              <a:avLst/>
              <a:gdLst>
                <a:gd name="T0" fmla="*/ 448 w 832"/>
                <a:gd name="T1" fmla="*/ 888 h 888"/>
                <a:gd name="T2" fmla="*/ 16 w 832"/>
                <a:gd name="T3" fmla="*/ 744 h 888"/>
                <a:gd name="T4" fmla="*/ 352 w 832"/>
                <a:gd name="T5" fmla="*/ 120 h 888"/>
                <a:gd name="T6" fmla="*/ 832 w 832"/>
                <a:gd name="T7" fmla="*/ 2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888">
                  <a:moveTo>
                    <a:pt x="448" y="888"/>
                  </a:moveTo>
                  <a:cubicBezTo>
                    <a:pt x="240" y="880"/>
                    <a:pt x="32" y="872"/>
                    <a:pt x="16" y="744"/>
                  </a:cubicBezTo>
                  <a:cubicBezTo>
                    <a:pt x="0" y="616"/>
                    <a:pt x="216" y="240"/>
                    <a:pt x="352" y="120"/>
                  </a:cubicBezTo>
                  <a:cubicBezTo>
                    <a:pt x="488" y="0"/>
                    <a:pt x="752" y="40"/>
                    <a:pt x="832" y="24"/>
                  </a:cubicBezTo>
                </a:path>
              </a:pathLst>
            </a:custGeom>
            <a:noFill/>
            <a:ln w="19050" cap="flat">
              <a:solidFill>
                <a:srgbClr val="FF0000"/>
              </a:solidFill>
              <a:prstDash val="dash"/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36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534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/>
              <a:t>General Graph</a:t>
            </a:r>
          </a:p>
        </p:txBody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Graph Directory Structure is </a:t>
            </a:r>
            <a:r>
              <a:rPr lang="en-US" altLang="en-US" b="1" i="1" dirty="0">
                <a:solidFill>
                  <a:srgbClr val="0033CC"/>
                </a:solidFill>
              </a:rPr>
              <a:t>not desirable:</a:t>
            </a:r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Hard to traverse</a:t>
            </a:r>
          </a:p>
          <a:p>
            <a:pPr lvl="2"/>
            <a:r>
              <a:rPr lang="en-US" altLang="en-US" dirty="0"/>
              <a:t>Need to prevent infinite looping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Hard to determine when to remove a file/directory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/>
              <a:t>In Unix:</a:t>
            </a:r>
          </a:p>
          <a:p>
            <a:pPr lvl="1"/>
            <a:r>
              <a:rPr lang="en-US" altLang="en-US" dirty="0"/>
              <a:t>Symbolic link is allowed to link to directory</a:t>
            </a:r>
          </a:p>
          <a:p>
            <a:pPr lvl="2"/>
            <a:r>
              <a:rPr lang="en-US" altLang="en-US" dirty="0"/>
              <a:t>General Graph </a:t>
            </a:r>
            <a:r>
              <a:rPr lang="en-US" altLang="en-US" b="1" dirty="0"/>
              <a:t>can be created</a:t>
            </a:r>
            <a:endParaRPr lang="en-US" altLang="en-US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59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7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basics of file system from a user point of view</a:t>
            </a:r>
          </a:p>
          <a:p>
            <a:endParaRPr lang="en-US" altLang="en-US" dirty="0"/>
          </a:p>
          <a:p>
            <a:r>
              <a:rPr lang="en-US" altLang="en-US" dirty="0"/>
              <a:t>Understand the basic requirements of a FS</a:t>
            </a:r>
          </a:p>
          <a:p>
            <a:endParaRPr lang="en-US" altLang="en-US" dirty="0"/>
          </a:p>
          <a:p>
            <a:r>
              <a:rPr lang="en-US" altLang="en-US" dirty="0"/>
              <a:t>Understand the components of a FS:</a:t>
            </a:r>
          </a:p>
          <a:p>
            <a:pPr lvl="1"/>
            <a:r>
              <a:rPr lang="en-US" altLang="en-US" dirty="0"/>
              <a:t>File and Directory</a:t>
            </a:r>
          </a:p>
          <a:p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982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File Operations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your reference only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055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File Operations Example: Unix System Calls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Header Files: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latin typeface="Courier New" panose="02070309020205020404" pitchFamily="49" charset="0"/>
              </a:rPr>
              <a:t>#include &lt;sys/types.h&gt;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latin typeface="Courier New" panose="02070309020205020404" pitchFamily="49" charset="0"/>
              </a:rPr>
              <a:t>#include &lt;sys/stat.h&gt;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latin typeface="Courier New" panose="02070309020205020404" pitchFamily="49" charset="0"/>
              </a:rPr>
              <a:t>#include &lt;fcntl.h&gt;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/>
              <a:t>File related Unix System Calls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>
                <a:latin typeface="Courier New" panose="02070309020205020404" pitchFamily="49" charset="0"/>
              </a:rPr>
              <a:t>open(), read(), write(), lseek(), close()</a:t>
            </a:r>
          </a:p>
          <a:p>
            <a:pPr>
              <a:lnSpc>
                <a:spcPct val="90000"/>
              </a:lnSpc>
            </a:pPr>
            <a:r>
              <a:rPr lang="en-US" altLang="en-US"/>
              <a:t>General Information: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Opened file has an identifier</a:t>
            </a:r>
          </a:p>
          <a:p>
            <a:pPr lvl="2">
              <a:lnSpc>
                <a:spcPct val="90000"/>
              </a:lnSpc>
            </a:pPr>
            <a:r>
              <a:rPr lang="en-US" altLang="en-US" b="1">
                <a:solidFill>
                  <a:schemeClr val="tx2"/>
                </a:solidFill>
              </a:rPr>
              <a:t>File Descriptor:</a:t>
            </a:r>
            <a:r>
              <a:rPr lang="en-US" altLang="en-US"/>
              <a:t> </a:t>
            </a:r>
            <a:r>
              <a:rPr lang="en-US" altLang="en-US">
                <a:solidFill>
                  <a:srgbClr val="008000"/>
                </a:solidFill>
              </a:rPr>
              <a:t>Integer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Used for other operations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File is access on a byte-by-byte basis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No interpretation of data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41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Opening Files:  </a:t>
            </a:r>
            <a:r>
              <a:rPr lang="en-US" altLang="en-US" sz="3800" b="1">
                <a:latin typeface="Courier New" panose="02070309020205020404" pitchFamily="49" charset="0"/>
              </a:rPr>
              <a:t>open( )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Function Call: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</a:t>
            </a:r>
            <a:r>
              <a:rPr lang="en-US" altLang="en-US" sz="2800" b="1">
                <a:latin typeface="Courier New" panose="02070309020205020404" pitchFamily="49" charset="0"/>
              </a:rPr>
              <a:t>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open</a:t>
            </a:r>
            <a:r>
              <a:rPr lang="en-US" altLang="en-US" sz="2800" b="1">
                <a:latin typeface="Courier New" panose="02070309020205020404" pitchFamily="49" charset="0"/>
              </a:rPr>
              <a:t>( char *path, int flags )</a:t>
            </a:r>
          </a:p>
          <a:p>
            <a:r>
              <a:rPr lang="en-US" altLang="en-US" sz="2600"/>
              <a:t>Return: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-1:</a:t>
            </a:r>
            <a:r>
              <a:rPr lang="en-US" altLang="en-US" sz="2200"/>
              <a:t> Failed to open file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&gt;=0:</a:t>
            </a:r>
            <a:r>
              <a:rPr lang="en-US" altLang="en-US" sz="2200"/>
              <a:t> </a:t>
            </a:r>
            <a:r>
              <a:rPr lang="en-US" altLang="en-US" sz="2200" b="1"/>
              <a:t>file descriptor</a:t>
            </a:r>
            <a:r>
              <a:rPr lang="en-US" altLang="en-US" sz="2200"/>
              <a:t>, a unique index for opened file</a:t>
            </a:r>
          </a:p>
          <a:p>
            <a:r>
              <a:rPr lang="en-US" altLang="en-US" sz="2600"/>
              <a:t>Parameters: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path</a:t>
            </a:r>
            <a:r>
              <a:rPr lang="en-US" altLang="en-US" sz="2200"/>
              <a:t>: File path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flags</a:t>
            </a:r>
            <a:r>
              <a:rPr lang="en-US" altLang="en-US" sz="2200"/>
              <a:t>: Many options can be set using bit-wise-OR</a:t>
            </a:r>
          </a:p>
          <a:p>
            <a:pPr lvl="2"/>
            <a:r>
              <a:rPr lang="en-US" altLang="en-US" sz="2000"/>
              <a:t>Read, Write or Read+Write mode</a:t>
            </a:r>
          </a:p>
          <a:p>
            <a:pPr lvl="2"/>
            <a:r>
              <a:rPr lang="en-US" altLang="en-US" sz="2000"/>
              <a:t>Truncation, Append mode</a:t>
            </a:r>
          </a:p>
          <a:p>
            <a:pPr lvl="2"/>
            <a:r>
              <a:rPr lang="en-US" altLang="en-US" sz="2000"/>
              <a:t>Create file if no exists</a:t>
            </a:r>
          </a:p>
          <a:p>
            <a:pPr lvl="2"/>
            <a:r>
              <a:rPr lang="en-US" altLang="en-US" sz="2000"/>
              <a:t>… Many many more </a:t>
            </a:r>
            <a:r>
              <a:rPr lang="en-US" altLang="en-US" sz="2000">
                <a:sym typeface="Wingdings" panose="05000000000000000000" pitchFamily="2" charset="2"/>
              </a:rPr>
              <a:t></a:t>
            </a:r>
            <a:endParaRPr lang="en-US" alt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007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Opening Files:  </a:t>
            </a:r>
            <a:r>
              <a:rPr lang="en-US" altLang="en-US" sz="3800" b="1">
                <a:latin typeface="Courier New" panose="02070309020205020404" pitchFamily="49" charset="0"/>
              </a:rPr>
              <a:t>open() </a:t>
            </a:r>
            <a:r>
              <a:rPr lang="en-US" altLang="en-US" sz="3800"/>
              <a:t>(cont)</a:t>
            </a:r>
          </a:p>
        </p:txBody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Example: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int fd;</a:t>
            </a:r>
            <a:r>
              <a:rPr lang="en-US" altLang="en-US" sz="2200"/>
              <a:t>     //file descriptor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/>
              <a:t>//Open an existing file for read only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fd = open( "data.txt", O_RDONLY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/>
              <a:t>//Create the file if not found, open for read + write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fd = open("data.txt", O_RDWR | O_CREAT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 b="1">
              <a:latin typeface="Courier New" panose="02070309020205020404" pitchFamily="49" charset="0"/>
            </a:endParaRPr>
          </a:p>
          <a:p>
            <a:r>
              <a:rPr lang="en-US" altLang="en-US" sz="2600"/>
              <a:t>By convention:</a:t>
            </a:r>
          </a:p>
          <a:p>
            <a:pPr lvl="1"/>
            <a:r>
              <a:rPr lang="en-US" altLang="en-US" sz="2200"/>
              <a:t>Default file descriptors: </a:t>
            </a:r>
          </a:p>
          <a:p>
            <a:pPr lvl="2"/>
            <a:r>
              <a:rPr lang="en-US" altLang="en-US" sz="2000" b="1">
                <a:solidFill>
                  <a:srgbClr val="0033CC"/>
                </a:solidFill>
              </a:rPr>
              <a:t>STDIN</a:t>
            </a:r>
            <a:r>
              <a:rPr lang="en-US" altLang="en-US" sz="2000"/>
              <a:t> (0), </a:t>
            </a:r>
            <a:r>
              <a:rPr lang="en-US" altLang="en-US" sz="2000" b="1">
                <a:solidFill>
                  <a:srgbClr val="0033CC"/>
                </a:solidFill>
              </a:rPr>
              <a:t>STDOUT</a:t>
            </a:r>
            <a:r>
              <a:rPr lang="en-US" altLang="en-US" sz="2000"/>
              <a:t> (1), </a:t>
            </a:r>
            <a:r>
              <a:rPr lang="en-US" altLang="en-US" sz="2000" b="1">
                <a:solidFill>
                  <a:srgbClr val="0033CC"/>
                </a:solidFill>
              </a:rPr>
              <a:t>STDERR</a:t>
            </a:r>
            <a:r>
              <a:rPr lang="en-US" altLang="en-US" sz="2000"/>
              <a:t> (2)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435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 Operation: </a:t>
            </a:r>
            <a:r>
              <a:rPr lang="en-US" altLang="en-US" sz="3800" b="1">
                <a:latin typeface="Courier New" panose="02070309020205020404" pitchFamily="49" charset="0"/>
              </a:rPr>
              <a:t>read()</a:t>
            </a:r>
            <a:r>
              <a:rPr lang="en-US" altLang="en-US"/>
              <a:t> 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Function Call: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>
                <a:latin typeface="Lucida Console" panose="020B0609040504020204" pitchFamily="49" charset="0"/>
              </a:rPr>
              <a:t>	</a:t>
            </a:r>
            <a:r>
              <a:rPr lang="en-US" altLang="en-US" sz="2800">
                <a:latin typeface="Courier New" panose="02070309020205020404" pitchFamily="49" charset="0"/>
              </a:rPr>
              <a:t>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800">
                <a:latin typeface="Courier New" panose="02070309020205020404" pitchFamily="49" charset="0"/>
              </a:rPr>
              <a:t>(int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fd</a:t>
            </a:r>
            <a:r>
              <a:rPr lang="en-US" altLang="en-US" sz="2800">
                <a:latin typeface="Courier New" panose="02070309020205020404" pitchFamily="49" charset="0"/>
              </a:rPr>
              <a:t>, void *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buf</a:t>
            </a:r>
            <a:r>
              <a:rPr lang="en-US" altLang="en-US" sz="2800">
                <a:latin typeface="Courier New" panose="02070309020205020404" pitchFamily="49" charset="0"/>
              </a:rPr>
              <a:t>, 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sz="2800"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600"/>
              <a:t>Purpose:</a:t>
            </a:r>
          </a:p>
          <a:p>
            <a:pPr lvl="1"/>
            <a:r>
              <a:rPr lang="en-US" altLang="en-US" sz="2200"/>
              <a:t>reads up to </a:t>
            </a:r>
            <a:r>
              <a:rPr lang="en-US" altLang="en-US" sz="2200" b="1">
                <a:solidFill>
                  <a:srgbClr val="0033CC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200"/>
              <a:t> bytes from current offset into buffer </a:t>
            </a:r>
            <a:r>
              <a:rPr lang="en-US" altLang="en-US" sz="2200" b="1">
                <a:solidFill>
                  <a:srgbClr val="0033CC"/>
                </a:solidFill>
                <a:latin typeface="Lucida Console" panose="020B0609040504020204" pitchFamily="49" charset="0"/>
              </a:rPr>
              <a:t>buf</a:t>
            </a:r>
          </a:p>
          <a:p>
            <a:r>
              <a:rPr lang="en-US" altLang="en-US" sz="2600"/>
              <a:t>Return:</a:t>
            </a:r>
          </a:p>
          <a:p>
            <a:pPr lvl="1"/>
            <a:r>
              <a:rPr lang="en-US" altLang="en-US"/>
              <a:t>number of bytes read, can be</a:t>
            </a:r>
            <a:r>
              <a:rPr lang="en-US" altLang="en-US" sz="2200">
                <a:latin typeface="Lucida Console" panose="020B0609040504020204" pitchFamily="49" charset="0"/>
              </a:rPr>
              <a:t> 0...n</a:t>
            </a:r>
          </a:p>
          <a:p>
            <a:pPr lvl="1"/>
            <a:r>
              <a:rPr lang="en-US" altLang="en-US" sz="2200">
                <a:latin typeface="Lucida Console" panose="020B0609040504020204" pitchFamily="49" charset="0"/>
              </a:rPr>
              <a:t>&lt;n : </a:t>
            </a:r>
            <a:r>
              <a:rPr lang="en-US" altLang="en-US"/>
              <a:t>end of file is reached</a:t>
            </a:r>
          </a:p>
          <a:p>
            <a:r>
              <a:rPr lang="en-US" altLang="en-US" sz="2600"/>
              <a:t>Parameters: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/>
              <a:t>:   file descriptor (must be opened for read)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buf</a:t>
            </a:r>
            <a:r>
              <a:rPr lang="en-US" altLang="en-US" sz="2200"/>
              <a:t>: An array large enough to store </a:t>
            </a:r>
            <a:r>
              <a:rPr lang="en-US" altLang="en-US" sz="2200" b="1">
                <a:solidFill>
                  <a:srgbClr val="0033CC"/>
                </a:solidFill>
              </a:rPr>
              <a:t>n</a:t>
            </a:r>
            <a:r>
              <a:rPr lang="en-US" altLang="en-US" sz="2200"/>
              <a:t> bytes</a:t>
            </a:r>
            <a:endParaRPr lang="en-US" altLang="en-US" sz="2300"/>
          </a:p>
          <a:p>
            <a:r>
              <a:rPr lang="en-US" altLang="en-US" sz="2600" b="1">
                <a:latin typeface="Courier New" panose="02070309020205020404" pitchFamily="49" charset="0"/>
              </a:rPr>
              <a:t>read()</a:t>
            </a:r>
            <a:r>
              <a:rPr lang="en-US" altLang="en-US" sz="2600"/>
              <a:t> is </a:t>
            </a:r>
            <a:r>
              <a:rPr lang="en-US" altLang="en-US" sz="2600" b="1" i="1"/>
              <a:t>sequential read</a:t>
            </a:r>
            <a:r>
              <a:rPr lang="en-US" altLang="en-US" sz="2600"/>
              <a:t>: </a:t>
            </a:r>
          </a:p>
          <a:p>
            <a:pPr lvl="1"/>
            <a:r>
              <a:rPr lang="en-US" altLang="en-US" sz="2200"/>
              <a:t>starts at current offset and increments offset by bytes read</a:t>
            </a:r>
            <a:endParaRPr lang="en-US" altLang="en-US" sz="2200">
              <a:latin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2644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Write Operation: </a:t>
            </a:r>
            <a:r>
              <a:rPr lang="en-US" altLang="en-US" sz="3800" b="1">
                <a:latin typeface="Courier New" panose="02070309020205020404" pitchFamily="49" charset="0"/>
              </a:rPr>
              <a:t>write()</a:t>
            </a:r>
            <a:r>
              <a:rPr lang="en-US" altLang="en-US"/>
              <a:t> </a:t>
            </a:r>
          </a:p>
        </p:txBody>
      </p:sp>
      <p:sp>
        <p:nvSpPr>
          <p:cNvPr id="98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>
                <a:latin typeface="Lucida Console" panose="020B0609040504020204" pitchFamily="49" charset="0"/>
              </a:rPr>
              <a:t>	</a:t>
            </a:r>
            <a:r>
              <a:rPr lang="en-US" altLang="en-US" sz="2800" b="1">
                <a:latin typeface="Courier New" panose="02070309020205020404" pitchFamily="49" charset="0"/>
              </a:rPr>
              <a:t>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800" b="1">
                <a:latin typeface="Courier New" panose="02070309020205020404" pitchFamily="49" charset="0"/>
              </a:rPr>
              <a:t>(int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fd</a:t>
            </a:r>
            <a:r>
              <a:rPr lang="en-US" altLang="en-US" sz="2800" b="1">
                <a:latin typeface="Courier New" panose="02070309020205020404" pitchFamily="49" charset="0"/>
              </a:rPr>
              <a:t>, void *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buf</a:t>
            </a:r>
            <a:r>
              <a:rPr lang="en-US" altLang="en-US" sz="2800" b="1">
                <a:latin typeface="Courier New" panose="02070309020205020404" pitchFamily="49" charset="0"/>
              </a:rPr>
              <a:t>, 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sz="2800" b="1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latin typeface="Lucida Console" panose="020B0609040504020204" pitchFamily="49" charset="0"/>
              </a:rPr>
              <a:t>writes</a:t>
            </a:r>
            <a:r>
              <a:rPr lang="en-US" altLang="en-US" sz="2000"/>
              <a:t> up to </a:t>
            </a:r>
            <a:r>
              <a:rPr lang="en-US" altLang="en-US" sz="2000" b="1">
                <a:solidFill>
                  <a:srgbClr val="0033CC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000"/>
              <a:t> bytes from current offset from buffer </a:t>
            </a:r>
            <a:r>
              <a:rPr lang="en-US" altLang="en-US" sz="2000" b="1">
                <a:solidFill>
                  <a:srgbClr val="0033CC"/>
                </a:solidFill>
                <a:latin typeface="Lucida Console" panose="020B0609040504020204" pitchFamily="49" charset="0"/>
              </a:rPr>
              <a:t>buf</a:t>
            </a:r>
            <a:r>
              <a:rPr lang="en-US" altLang="en-US" sz="200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-1:</a:t>
            </a:r>
            <a:r>
              <a:rPr lang="en-US" altLang="en-US" sz="200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&gt;= 0:</a:t>
            </a:r>
            <a:r>
              <a:rPr lang="en-US" altLang="en-US" sz="2000"/>
              <a:t> Number of bytes written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fd</a:t>
            </a:r>
            <a:r>
              <a:rPr lang="en-US" altLang="en-US" sz="2000"/>
              <a:t>:   file descriptor (must be opened for write)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buf</a:t>
            </a:r>
            <a:r>
              <a:rPr lang="en-US" altLang="en-US" sz="2000"/>
              <a:t>: An array of at least </a:t>
            </a:r>
            <a:r>
              <a:rPr lang="en-US" altLang="en-US" sz="2000" b="1">
                <a:solidFill>
                  <a:srgbClr val="0033CC"/>
                </a:solidFill>
              </a:rPr>
              <a:t>n</a:t>
            </a:r>
            <a:r>
              <a:rPr lang="en-US" altLang="en-US" sz="2000"/>
              <a:t> bytes with values to be written</a:t>
            </a: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100">
                <a:latin typeface="Lucida Console" panose="020B0609040504020204" pitchFamily="49" charset="0"/>
              </a:rPr>
              <a:t>Possible errors: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exceeds file size limit, quota, disk space, etc.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write() is </a:t>
            </a:r>
            <a:r>
              <a:rPr lang="en-US" altLang="en-US" sz="2100" b="1" i="1"/>
              <a:t>sequential write:</a:t>
            </a:r>
            <a:r>
              <a:rPr lang="en-US" altLang="en-US" sz="210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starts at current offset and increments offset by bytes written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can increase file size beyond EOF </a:t>
            </a:r>
            <a:r>
              <a:rPr lang="en-US" altLang="en-US" sz="2000">
                <a:sym typeface="Wingdings" panose="05000000000000000000" pitchFamily="2" charset="2"/>
              </a:rPr>
              <a:t></a:t>
            </a:r>
            <a:r>
              <a:rPr lang="en-US" altLang="en-US" sz="2000"/>
              <a:t> append new data</a:t>
            </a:r>
            <a:endParaRPr lang="en-US" alt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682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Repositioning: </a:t>
            </a:r>
            <a:r>
              <a:rPr lang="en-US" altLang="en-US" sz="3800" b="1">
                <a:latin typeface="Courier New" panose="02070309020205020404" pitchFamily="49" charset="0"/>
              </a:rPr>
              <a:t>lseek()</a:t>
            </a:r>
          </a:p>
        </p:txBody>
      </p:sp>
      <p:sp>
        <p:nvSpPr>
          <p:cNvPr id="98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>
                <a:latin typeface="Lucida Console" panose="020B0609040504020204" pitchFamily="49" charset="0"/>
              </a:rPr>
              <a:t>	</a:t>
            </a:r>
            <a:r>
              <a:rPr lang="en-US" altLang="en-US" sz="2000">
                <a:latin typeface="Courier New" panose="02070309020205020404" pitchFamily="49" charset="0"/>
              </a:rPr>
              <a:t>off_t </a:t>
            </a:r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lseek</a:t>
            </a:r>
            <a:r>
              <a:rPr lang="en-US" altLang="en-US" sz="2000">
                <a:latin typeface="Courier New" panose="02070309020205020404" pitchFamily="49" charset="0"/>
              </a:rPr>
              <a:t>(int </a:t>
            </a:r>
            <a:r>
              <a:rPr lang="en-US" altLang="en-US" sz="2000" b="1">
                <a:latin typeface="Courier New" panose="02070309020205020404" pitchFamily="49" charset="0"/>
              </a:rPr>
              <a:t>fd</a:t>
            </a:r>
            <a:r>
              <a:rPr lang="en-US" altLang="en-US" sz="2000">
                <a:latin typeface="Courier New" panose="02070309020205020404" pitchFamily="49" charset="0"/>
              </a:rPr>
              <a:t>, off_t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000">
                <a:latin typeface="Courier New" panose="02070309020205020404" pitchFamily="49" charset="0"/>
              </a:rPr>
              <a:t>, int </a:t>
            </a:r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whence</a:t>
            </a:r>
            <a:r>
              <a:rPr lang="en-US" altLang="en-US" sz="2000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Move current position in file by </a:t>
            </a:r>
            <a:r>
              <a:rPr lang="en-US" altLang="en-US" sz="2000" b="1"/>
              <a:t>offset 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10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-1:</a:t>
            </a:r>
            <a:r>
              <a:rPr lang="en-US" altLang="en-US" sz="200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&gt;= 0:</a:t>
            </a:r>
            <a:r>
              <a:rPr lang="en-US" altLang="en-US" sz="2000"/>
              <a:t> Current offset in file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fd</a:t>
            </a:r>
            <a:r>
              <a:rPr lang="en-US" altLang="en-US" sz="2000"/>
              <a:t>:   file descriptor (must be opened)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offset</a:t>
            </a:r>
            <a:r>
              <a:rPr lang="en-US" altLang="en-US" sz="2000"/>
              <a:t>: positive = move forward, negative = move backward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whence:</a:t>
            </a:r>
            <a:r>
              <a:rPr lang="en-US" altLang="en-US" sz="1700" b="1">
                <a:solidFill>
                  <a:srgbClr val="0033C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000"/>
              <a:t>Point of reference for interpreting the </a:t>
            </a:r>
            <a:r>
              <a:rPr lang="en-US" altLang="en-US" sz="2000" b="1"/>
              <a:t>offset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>
                <a:latin typeface="Lucida Console" panose="020B0609040504020204" pitchFamily="49" charset="0"/>
              </a:rPr>
              <a:t>SEEK_SET:</a:t>
            </a:r>
            <a:r>
              <a:rPr lang="en-US" altLang="en-US" sz="1500">
                <a:latin typeface="Lucida Console" panose="020B0609040504020204" pitchFamily="49" charset="0"/>
              </a:rPr>
              <a:t> </a:t>
            </a:r>
            <a:r>
              <a:rPr lang="en-US" altLang="en-US" sz="1700"/>
              <a:t>absolute </a:t>
            </a:r>
            <a:r>
              <a:rPr lang="en-US" altLang="en-US" sz="1700" b="1">
                <a:solidFill>
                  <a:srgbClr val="008000"/>
                </a:solidFill>
              </a:rPr>
              <a:t>offset </a:t>
            </a:r>
            <a:r>
              <a:rPr lang="en-US" altLang="en-US" sz="1700" b="1"/>
              <a:t>(</a:t>
            </a:r>
            <a:r>
              <a:rPr lang="en-US" altLang="en-US" sz="1700"/>
              <a:t>count from the file start)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>
                <a:latin typeface="Lucida Console" panose="020B0609040504020204" pitchFamily="49" charset="0"/>
              </a:rPr>
              <a:t>SEEK_CUR</a:t>
            </a:r>
            <a:r>
              <a:rPr lang="en-US" altLang="en-US" sz="1500" b="1">
                <a:latin typeface="Courier New" panose="02070309020205020404" pitchFamily="49" charset="0"/>
              </a:rPr>
              <a:t>:</a:t>
            </a:r>
            <a:r>
              <a:rPr lang="en-US" altLang="en-US" sz="1500">
                <a:latin typeface="Courier New" panose="02070309020205020404" pitchFamily="49" charset="0"/>
              </a:rPr>
              <a:t> </a:t>
            </a:r>
            <a:r>
              <a:rPr lang="en-US" altLang="en-US" sz="1700"/>
              <a:t>relative </a:t>
            </a:r>
            <a:r>
              <a:rPr lang="en-US" altLang="en-US" sz="1700" b="1">
                <a:solidFill>
                  <a:srgbClr val="008000"/>
                </a:solidFill>
              </a:rPr>
              <a:t>offset</a:t>
            </a:r>
            <a:r>
              <a:rPr lang="en-US" altLang="en-US" sz="1700"/>
              <a:t> from current position (+/-)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>
                <a:latin typeface="Lucida Console" panose="020B0609040504020204" pitchFamily="49" charset="0"/>
              </a:rPr>
              <a:t>SEEK_END</a:t>
            </a:r>
            <a:r>
              <a:rPr lang="en-US" altLang="en-US" sz="1500" b="1">
                <a:latin typeface="Courier New" panose="02070309020205020404" pitchFamily="49" charset="0"/>
              </a:rPr>
              <a:t>:</a:t>
            </a:r>
            <a:r>
              <a:rPr lang="en-US" altLang="en-US" sz="1500">
                <a:latin typeface="Courier New" panose="02070309020205020404" pitchFamily="49" charset="0"/>
              </a:rPr>
              <a:t> </a:t>
            </a:r>
            <a:r>
              <a:rPr lang="en-US" altLang="en-US" sz="1700"/>
              <a:t>relative </a:t>
            </a:r>
            <a:r>
              <a:rPr lang="en-US" altLang="en-US" sz="1700" b="1">
                <a:solidFill>
                  <a:srgbClr val="008000"/>
                </a:solidFill>
              </a:rPr>
              <a:t>offset</a:t>
            </a:r>
            <a:r>
              <a:rPr lang="en-US" altLang="en-US" sz="1700"/>
              <a:t> from end of file (+/-)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Can seek anywhere in file, even beyond end of existing data</a:t>
            </a:r>
            <a:endParaRPr lang="en-US" altLang="en-US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8377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Closing Files: </a:t>
            </a:r>
            <a:r>
              <a:rPr lang="en-US" altLang="en-US" sz="3800" b="1">
                <a:latin typeface="Courier New" panose="02070309020205020404" pitchFamily="49" charset="0"/>
              </a:rPr>
              <a:t>close()</a:t>
            </a:r>
          </a:p>
        </p:txBody>
      </p:sp>
      <p:sp>
        <p:nvSpPr>
          <p:cNvPr id="97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>
                <a:latin typeface="Lucida Console" panose="020B0609040504020204" pitchFamily="49" charset="0"/>
              </a:rPr>
              <a:t>	</a:t>
            </a:r>
            <a:r>
              <a:rPr lang="en-US" altLang="en-US" sz="2200">
                <a:latin typeface="Courier New" panose="02070309020205020404" pitchFamily="49" charset="0"/>
              </a:rPr>
              <a:t>int </a:t>
            </a:r>
            <a:r>
              <a:rPr lang="en-US" altLang="en-US" sz="2200" b="1">
                <a:solidFill>
                  <a:srgbClr val="0033CC"/>
                </a:solidFill>
                <a:latin typeface="Courier New" panose="02070309020205020404" pitchFamily="49" charset="0"/>
              </a:rPr>
              <a:t>close</a:t>
            </a:r>
            <a:r>
              <a:rPr lang="en-US" altLang="en-US" sz="2200">
                <a:latin typeface="Courier New" panose="02070309020205020404" pitchFamily="49" charset="0"/>
              </a:rPr>
              <a:t>( int </a:t>
            </a:r>
            <a:r>
              <a:rPr lang="en-US" altLang="en-US" sz="2200" b="1">
                <a:solidFill>
                  <a:srgbClr val="0033CC"/>
                </a:solidFill>
                <a:latin typeface="Courier New" panose="02070309020205020404" pitchFamily="49" charset="0"/>
              </a:rPr>
              <a:t>fd </a:t>
            </a:r>
            <a:r>
              <a:rPr lang="en-US" altLang="en-US" sz="2200">
                <a:latin typeface="Courier New" panose="02070309020205020404" pitchFamily="49" charset="0"/>
              </a:rPr>
              <a:t>)</a:t>
            </a:r>
            <a:endParaRPr lang="en-US" altLang="en-US" sz="25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60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/>
              <a:t>-1:</a:t>
            </a:r>
            <a:r>
              <a:rPr lang="en-US" altLang="en-US" sz="220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/>
              <a:t>0:</a:t>
            </a:r>
            <a:r>
              <a:rPr lang="en-US" altLang="en-US" sz="2200"/>
              <a:t> Successful</a:t>
            </a:r>
          </a:p>
          <a:p>
            <a:pPr>
              <a:lnSpc>
                <a:spcPct val="90000"/>
              </a:lnSpc>
            </a:pPr>
            <a:r>
              <a:rPr lang="en-US" altLang="en-US" sz="260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>
                <a:latin typeface="Courier New" panose="02070309020205020404" pitchFamily="49" charset="0"/>
              </a:rPr>
              <a:t>:</a:t>
            </a:r>
            <a:r>
              <a:rPr lang="en-US" altLang="en-US" sz="2200"/>
              <a:t>   file descriptor (must be opened)</a:t>
            </a:r>
          </a:p>
          <a:p>
            <a:pPr>
              <a:lnSpc>
                <a:spcPct val="90000"/>
              </a:lnSpc>
            </a:pPr>
            <a:r>
              <a:rPr lang="en-US" altLang="en-US" sz="2600"/>
              <a:t>With close():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/>
              <a:t> no longer used anymore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Kernel can remove associated data structures 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The identifier </a:t>
            </a:r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/>
              <a:t> can be reused later</a:t>
            </a:r>
          </a:p>
          <a:p>
            <a:pPr>
              <a:lnSpc>
                <a:spcPct val="90000"/>
              </a:lnSpc>
            </a:pPr>
            <a:r>
              <a:rPr lang="en-US" altLang="en-US" sz="2600"/>
              <a:t>By default: 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Process termination automatically closes all open files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5607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System: Motivation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Physical memory is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volatile</a:t>
            </a: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external storage to store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persistent </a:t>
            </a: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information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Direct access to the storage media is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 portable: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Dependent on hardware specification and organization (see next slide for example)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File System provides: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An abstraction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on top of the physical media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660066"/>
                </a:solidFill>
              </a:rPr>
              <a:t>high level resource management </a:t>
            </a:r>
            <a:r>
              <a:rPr lang="en-US" altLang="en-US" dirty="0"/>
              <a:t>scheme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Protection</a:t>
            </a:r>
            <a:r>
              <a:rPr lang="en-US" altLang="en-US" dirty="0"/>
              <a:t> between processes and users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accent3"/>
                </a:solidFill>
              </a:rPr>
              <a:t>Sharing</a:t>
            </a:r>
            <a:r>
              <a:rPr lang="en-US" altLang="en-US" dirty="0"/>
              <a:t> between processes and users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51</a:t>
            </a:fld>
            <a:endParaRPr lang="en-US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7722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Let's just watch a demo!!!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Slide 13 - 21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52</a:t>
            </a:fld>
            <a:endParaRPr lang="en-US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008687601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9202</TotalTime>
  <Words>2849</Words>
  <Application>Microsoft Office PowerPoint</Application>
  <PresentationFormat>On-screen Show (4:3)</PresentationFormat>
  <Paragraphs>633</Paragraphs>
  <Slides>52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Courier New</vt:lpstr>
      <vt:lpstr>Garamond</vt:lpstr>
      <vt:lpstr>Lucida Console</vt:lpstr>
      <vt:lpstr>Wingdings</vt:lpstr>
      <vt:lpstr>Edge</vt:lpstr>
      <vt:lpstr>1_Edge</vt:lpstr>
      <vt:lpstr>File System Management File System Introduction</vt:lpstr>
      <vt:lpstr>Overview</vt:lpstr>
      <vt:lpstr>File System: Motivation</vt:lpstr>
      <vt:lpstr>Recap: Hard Disk Layout</vt:lpstr>
      <vt:lpstr>File System: General Criteria</vt:lpstr>
      <vt:lpstr>Memory Management vs File Management</vt:lpstr>
      <vt:lpstr>Key Topics</vt:lpstr>
      <vt:lpstr>File System abstractions</vt:lpstr>
      <vt:lpstr>File System Abstraction</vt:lpstr>
      <vt:lpstr>File: Overview</vt:lpstr>
      <vt:lpstr>File: Basic Description</vt:lpstr>
      <vt:lpstr>File Metadata</vt:lpstr>
      <vt:lpstr>File Name</vt:lpstr>
      <vt:lpstr>File Type</vt:lpstr>
      <vt:lpstr>Two Major Types of Regular Files</vt:lpstr>
      <vt:lpstr>Distinguishing File Type</vt:lpstr>
      <vt:lpstr>File Protection</vt:lpstr>
      <vt:lpstr>File Protection: How?</vt:lpstr>
      <vt:lpstr>File Protection: How?   (cont)</vt:lpstr>
      <vt:lpstr>File Protection: Access Control List</vt:lpstr>
      <vt:lpstr>Operations on File Metadata</vt:lpstr>
      <vt:lpstr>File Data: Structure</vt:lpstr>
      <vt:lpstr>File Data: Access Methods</vt:lpstr>
      <vt:lpstr>File Data: Access Methods (cont )</vt:lpstr>
      <vt:lpstr>File Data: Generic Operations</vt:lpstr>
      <vt:lpstr>File Operations as System Calls</vt:lpstr>
      <vt:lpstr>File Operations as System Calls (cont)</vt:lpstr>
      <vt:lpstr>File Operations (Unix)</vt:lpstr>
      <vt:lpstr>Process Sharing File in Unix: Case 1</vt:lpstr>
      <vt:lpstr>Process Sharing File in Unix: Case 2</vt:lpstr>
      <vt:lpstr>Directory</vt:lpstr>
      <vt:lpstr>Directory: Basics</vt:lpstr>
      <vt:lpstr>Directory Structure: Single-Level</vt:lpstr>
      <vt:lpstr>Directory Structure: Tree-Structured</vt:lpstr>
      <vt:lpstr>Directory Structure: Tree-Structured</vt:lpstr>
      <vt:lpstr>Directory Structure: DAG</vt:lpstr>
      <vt:lpstr>Directory Structure: DAG</vt:lpstr>
      <vt:lpstr>DAG: Unix Hard Link</vt:lpstr>
      <vt:lpstr>DAG: Unix Symbolic Link</vt:lpstr>
      <vt:lpstr>Directory Structure: General Graph</vt:lpstr>
      <vt:lpstr>Directory Structure: General Graph</vt:lpstr>
      <vt:lpstr>Summary</vt:lpstr>
      <vt:lpstr>Unix File Operations</vt:lpstr>
      <vt:lpstr>File Operations Example: Unix System Calls</vt:lpstr>
      <vt:lpstr>Opening Files:  open( )</vt:lpstr>
      <vt:lpstr>Opening Files:  open() (cont)</vt:lpstr>
      <vt:lpstr>Read Operation: read() </vt:lpstr>
      <vt:lpstr>Write Operation: write() </vt:lpstr>
      <vt:lpstr>Repositioning: lseek()</vt:lpstr>
      <vt:lpstr>Closing Files: close()</vt:lpstr>
      <vt:lpstr>File System: Motivation</vt:lpstr>
      <vt:lpstr>Let's just watch a demo!!!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757</cp:revision>
  <cp:lastPrinted>1601-01-01T00:00:00Z</cp:lastPrinted>
  <dcterms:created xsi:type="dcterms:W3CDTF">1601-01-01T00:00:00Z</dcterms:created>
  <dcterms:modified xsi:type="dcterms:W3CDTF">2025-10-22T01:01:56Z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