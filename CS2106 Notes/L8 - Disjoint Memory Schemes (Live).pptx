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sldIdLst>
    <p:sldId id="256" r:id="rId2"/>
    <p:sldId id="354" r:id="rId3"/>
    <p:sldId id="355" r:id="rId4"/>
    <p:sldId id="356" r:id="rId5"/>
    <p:sldId id="382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88" r:id="rId15"/>
    <p:sldId id="387" r:id="rId16"/>
    <p:sldId id="366" r:id="rId17"/>
    <p:sldId id="367" r:id="rId18"/>
    <p:sldId id="368" r:id="rId19"/>
    <p:sldId id="391" r:id="rId20"/>
    <p:sldId id="369" r:id="rId21"/>
    <p:sldId id="392" r:id="rId22"/>
    <p:sldId id="370" r:id="rId23"/>
    <p:sldId id="371" r:id="rId24"/>
    <p:sldId id="372" r:id="rId25"/>
    <p:sldId id="375" r:id="rId26"/>
    <p:sldId id="376" r:id="rId27"/>
    <p:sldId id="377" r:id="rId28"/>
    <p:sldId id="378" r:id="rId29"/>
    <p:sldId id="389" r:id="rId30"/>
    <p:sldId id="380" r:id="rId31"/>
    <p:sldId id="383" r:id="rId32"/>
    <p:sldId id="384" r:id="rId33"/>
    <p:sldId id="385" r:id="rId34"/>
    <p:sldId id="393" r:id="rId35"/>
    <p:sldId id="381" r:id="rId36"/>
    <p:sldId id="395" r:id="rId37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1"/>
        <p:sld r:id="rId22"/>
        <p:sld r:id="rId23"/>
        <p:sld r:id="rId37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6600"/>
    <a:srgbClr val="FFFFCC"/>
    <a:srgbClr val="003300"/>
    <a:srgbClr val="000000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5" autoAdjust="0"/>
    <p:restoredTop sz="94660"/>
  </p:normalViewPr>
  <p:slideViewPr>
    <p:cSldViewPr>
      <p:cViewPr>
        <p:scale>
          <a:sx n="125" d="100"/>
          <a:sy n="125" d="100"/>
        </p:scale>
        <p:origin x="64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832041-63F8-411D-B74B-C65EAEDF1BE8}" type="doc">
      <dgm:prSet loTypeId="urn:microsoft.com/office/officeart/2005/8/layout/vList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FB76112F-710B-4179-8C5B-6B1204BF26AA}">
      <dgm:prSet phldrT="[Text]"/>
      <dgm:spPr/>
      <dgm:t>
        <a:bodyPr/>
        <a:lstStyle/>
        <a:p>
          <a:r>
            <a:rPr lang="en-US" altLang="en-US" dirty="0" smtClean="0"/>
            <a:t>1. Each process occupies a </a:t>
          </a:r>
          <a:r>
            <a:rPr lang="en-US" altLang="en-US" b="1" dirty="0" smtClean="0"/>
            <a:t>contiguous memory region</a:t>
          </a:r>
          <a:r>
            <a:rPr lang="en-US" altLang="en-US" dirty="0" smtClean="0"/>
            <a:t> </a:t>
          </a:r>
          <a:endParaRPr lang="en-SG" dirty="0"/>
        </a:p>
      </dgm:t>
    </dgm:pt>
    <dgm:pt modelId="{8EC88F1E-2298-4C47-9278-E24ABD5D0EB8}" type="parTrans" cxnId="{910A4EB7-5CA5-48D8-BCB5-440E613660BE}">
      <dgm:prSet/>
      <dgm:spPr/>
      <dgm:t>
        <a:bodyPr/>
        <a:lstStyle/>
        <a:p>
          <a:endParaRPr lang="en-SG"/>
        </a:p>
      </dgm:t>
    </dgm:pt>
    <dgm:pt modelId="{018E3DE1-56F7-4485-A608-4685C007CD5F}" type="sibTrans" cxnId="{910A4EB7-5CA5-48D8-BCB5-440E613660BE}">
      <dgm:prSet/>
      <dgm:spPr/>
      <dgm:t>
        <a:bodyPr/>
        <a:lstStyle/>
        <a:p>
          <a:endParaRPr lang="en-SG"/>
        </a:p>
      </dgm:t>
    </dgm:pt>
    <dgm:pt modelId="{2D36AEB8-6422-4796-99D9-A3F39CF6CB56}">
      <dgm:prSet/>
      <dgm:spPr/>
      <dgm:t>
        <a:bodyPr/>
        <a:lstStyle/>
        <a:p>
          <a:r>
            <a:rPr lang="en-US" altLang="en-US" dirty="0" smtClean="0"/>
            <a:t>2. The </a:t>
          </a:r>
          <a:r>
            <a:rPr lang="en-US" altLang="en-US" b="1" dirty="0" smtClean="0"/>
            <a:t>physical memory is large enough </a:t>
          </a:r>
          <a:r>
            <a:rPr lang="en-US" altLang="en-US" dirty="0" smtClean="0"/>
            <a:t>to contain one or more processes with </a:t>
          </a:r>
          <a:r>
            <a:rPr lang="en-US" altLang="en-US" b="1" dirty="0" smtClean="0"/>
            <a:t>complete memory space</a:t>
          </a:r>
          <a:endParaRPr lang="en-US" altLang="en-US" b="1" dirty="0"/>
        </a:p>
      </dgm:t>
    </dgm:pt>
    <dgm:pt modelId="{4084CCDF-B6B6-4B51-A1D5-A532837BA324}" type="parTrans" cxnId="{B41F0D4A-F786-4737-8231-BC038ACCBBA4}">
      <dgm:prSet/>
      <dgm:spPr/>
      <dgm:t>
        <a:bodyPr/>
        <a:lstStyle/>
        <a:p>
          <a:endParaRPr lang="en-SG"/>
        </a:p>
      </dgm:t>
    </dgm:pt>
    <dgm:pt modelId="{D6FB8DA2-1C43-454B-ACEE-DCDE7E685B1C}" type="sibTrans" cxnId="{B41F0D4A-F786-4737-8231-BC038ACCBBA4}">
      <dgm:prSet/>
      <dgm:spPr/>
      <dgm:t>
        <a:bodyPr/>
        <a:lstStyle/>
        <a:p>
          <a:endParaRPr lang="en-SG"/>
        </a:p>
      </dgm:t>
    </dgm:pt>
    <dgm:pt modelId="{E7036081-07A5-4AC5-BF8E-3470E9387214}" type="pres">
      <dgm:prSet presAssocID="{D6832041-63F8-411D-B74B-C65EAEDF1BE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7CE488B-B1D5-4E8B-91F0-6E26836D5F9E}" type="pres">
      <dgm:prSet presAssocID="{FB76112F-710B-4179-8C5B-6B1204BF26AA}" presName="parentText" presStyleLbl="node1" presStyleIdx="0" presStyleCnt="2" custLinFactNeighborY="-87804">
        <dgm:presLayoutVars>
          <dgm:chMax val="0"/>
          <dgm:bulletEnabled val="1"/>
        </dgm:presLayoutVars>
      </dgm:prSet>
      <dgm:spPr/>
      <dgm:t>
        <a:bodyPr/>
        <a:lstStyle/>
        <a:p>
          <a:endParaRPr lang="en-SG"/>
        </a:p>
      </dgm:t>
    </dgm:pt>
    <dgm:pt modelId="{D6F8EED8-9D28-42D5-B8EE-E7C7FF0A057F}" type="pres">
      <dgm:prSet presAssocID="{018E3DE1-56F7-4485-A608-4685C007CD5F}" presName="spacer" presStyleCnt="0"/>
      <dgm:spPr/>
    </dgm:pt>
    <dgm:pt modelId="{EE79E5D4-272E-49D3-8468-8B2108B886F5}" type="pres">
      <dgm:prSet presAssocID="{2D36AEB8-6422-4796-99D9-A3F39CF6CB56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10A4EB7-5CA5-48D8-BCB5-440E613660BE}" srcId="{D6832041-63F8-411D-B74B-C65EAEDF1BE8}" destId="{FB76112F-710B-4179-8C5B-6B1204BF26AA}" srcOrd="0" destOrd="0" parTransId="{8EC88F1E-2298-4C47-9278-E24ABD5D0EB8}" sibTransId="{018E3DE1-56F7-4485-A608-4685C007CD5F}"/>
    <dgm:cxn modelId="{B41F0D4A-F786-4737-8231-BC038ACCBBA4}" srcId="{D6832041-63F8-411D-B74B-C65EAEDF1BE8}" destId="{2D36AEB8-6422-4796-99D9-A3F39CF6CB56}" srcOrd="1" destOrd="0" parTransId="{4084CCDF-B6B6-4B51-A1D5-A532837BA324}" sibTransId="{D6FB8DA2-1C43-454B-ACEE-DCDE7E685B1C}"/>
    <dgm:cxn modelId="{3D1F0D9E-B9F2-47D1-9B87-42F174A1CA07}" type="presOf" srcId="{FB76112F-710B-4179-8C5B-6B1204BF26AA}" destId="{A7CE488B-B1D5-4E8B-91F0-6E26836D5F9E}" srcOrd="0" destOrd="0" presId="urn:microsoft.com/office/officeart/2005/8/layout/vList2"/>
    <dgm:cxn modelId="{91FA5474-1578-4E65-B2AB-70C003A6C641}" type="presOf" srcId="{2D36AEB8-6422-4796-99D9-A3F39CF6CB56}" destId="{EE79E5D4-272E-49D3-8468-8B2108B886F5}" srcOrd="0" destOrd="0" presId="urn:microsoft.com/office/officeart/2005/8/layout/vList2"/>
    <dgm:cxn modelId="{C5C9A832-64BF-4B2D-903B-91B202B08A7D}" type="presOf" srcId="{D6832041-63F8-411D-B74B-C65EAEDF1BE8}" destId="{E7036081-07A5-4AC5-BF8E-3470E9387214}" srcOrd="0" destOrd="0" presId="urn:microsoft.com/office/officeart/2005/8/layout/vList2"/>
    <dgm:cxn modelId="{05A1643C-70C4-476B-AEFB-5EE42FA5D689}" type="presParOf" srcId="{E7036081-07A5-4AC5-BF8E-3470E9387214}" destId="{A7CE488B-B1D5-4E8B-91F0-6E26836D5F9E}" srcOrd="0" destOrd="0" presId="urn:microsoft.com/office/officeart/2005/8/layout/vList2"/>
    <dgm:cxn modelId="{DE3626AB-8F2D-4EF8-8E83-A0DE8B4CDCA8}" type="presParOf" srcId="{E7036081-07A5-4AC5-BF8E-3470E9387214}" destId="{D6F8EED8-9D28-42D5-B8EE-E7C7FF0A057F}" srcOrd="1" destOrd="0" presId="urn:microsoft.com/office/officeart/2005/8/layout/vList2"/>
    <dgm:cxn modelId="{10E31E9C-247F-48A2-9D61-0D3EBF37C3A7}" type="presParOf" srcId="{E7036081-07A5-4AC5-BF8E-3470E9387214}" destId="{EE79E5D4-272E-49D3-8468-8B2108B886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E488B-B1D5-4E8B-91F0-6E26836D5F9E}">
      <dsp:nvSpPr>
        <dsp:cNvPr id="0" name=""/>
        <dsp:cNvSpPr/>
      </dsp:nvSpPr>
      <dsp:spPr>
        <a:xfrm>
          <a:off x="0" y="206159"/>
          <a:ext cx="8077200" cy="1698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3200" kern="1200" dirty="0" smtClean="0"/>
            <a:t>1. Each process occupies a </a:t>
          </a:r>
          <a:r>
            <a:rPr lang="en-US" altLang="en-US" sz="3200" b="1" kern="1200" dirty="0" smtClean="0"/>
            <a:t>contiguous memory region</a:t>
          </a:r>
          <a:r>
            <a:rPr lang="en-US" altLang="en-US" sz="3200" kern="1200" dirty="0" smtClean="0"/>
            <a:t> </a:t>
          </a:r>
          <a:endParaRPr lang="en-SG" sz="3200" kern="1200" dirty="0"/>
        </a:p>
      </dsp:txBody>
      <dsp:txXfrm>
        <a:off x="82931" y="289090"/>
        <a:ext cx="7911338" cy="1532978"/>
      </dsp:txXfrm>
    </dsp:sp>
    <dsp:sp modelId="{EE79E5D4-272E-49D3-8468-8B2108B886F5}">
      <dsp:nvSpPr>
        <dsp:cNvPr id="0" name=""/>
        <dsp:cNvSpPr/>
      </dsp:nvSpPr>
      <dsp:spPr>
        <a:xfrm>
          <a:off x="0" y="2078080"/>
          <a:ext cx="8077200" cy="1698840"/>
        </a:xfrm>
        <a:prstGeom prst="roundRect">
          <a:avLst/>
        </a:prstGeom>
        <a:gradFill rotWithShape="0">
          <a:gsLst>
            <a:gs pos="0">
              <a:schemeClr val="accent2">
                <a:hueOff val="-9067203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3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3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US" sz="3200" kern="1200" dirty="0" smtClean="0"/>
            <a:t>2. The </a:t>
          </a:r>
          <a:r>
            <a:rPr lang="en-US" altLang="en-US" sz="3200" b="1" kern="1200" dirty="0" smtClean="0"/>
            <a:t>physical memory is large enough </a:t>
          </a:r>
          <a:r>
            <a:rPr lang="en-US" altLang="en-US" sz="3200" kern="1200" dirty="0" smtClean="0"/>
            <a:t>to contain one or more processes with </a:t>
          </a:r>
          <a:r>
            <a:rPr lang="en-US" altLang="en-US" sz="3200" b="1" kern="1200" dirty="0" smtClean="0"/>
            <a:t>complete memory space</a:t>
          </a:r>
          <a:endParaRPr lang="en-US" altLang="en-US" sz="3200" b="1" kern="1200" dirty="0"/>
        </a:p>
      </dsp:txBody>
      <dsp:txXfrm>
        <a:off x="82931" y="2161011"/>
        <a:ext cx="7911338" cy="15329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2122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537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0102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Page table can allow several processes to share the same physical memory frame</a:t>
            </a:r>
          </a:p>
          <a:p>
            <a:pPr lvl="1"/>
            <a:r>
              <a:rPr lang="en-US" altLang="en-US" dirty="0" smtClean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 smtClean="0"/>
          </a:p>
          <a:p>
            <a:r>
              <a:rPr lang="en-US" altLang="en-US" dirty="0" smtClean="0"/>
              <a:t>Possible usage:</a:t>
            </a:r>
          </a:p>
          <a:p>
            <a:pPr lvl="1"/>
            <a:r>
              <a:rPr lang="en-US" altLang="en-US" dirty="0" smtClean="0"/>
              <a:t>Shared code page:</a:t>
            </a:r>
          </a:p>
          <a:p>
            <a:pPr lvl="2"/>
            <a:r>
              <a:rPr lang="en-US" altLang="en-US" dirty="0" smtClean="0"/>
              <a:t>Some code are being used by many processes, e.g. C standard library, system calls </a:t>
            </a:r>
            <a:r>
              <a:rPr lang="en-US" altLang="en-US" dirty="0" err="1" smtClean="0"/>
              <a:t>etc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Implement Copy-On-Write:</a:t>
            </a:r>
          </a:p>
          <a:p>
            <a:pPr lvl="2"/>
            <a:r>
              <a:rPr lang="en-US" altLang="en-US" dirty="0" smtClean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4049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Page table can allow several processes to share the same physical memory frame</a:t>
            </a:r>
          </a:p>
          <a:p>
            <a:pPr lvl="1"/>
            <a:r>
              <a:rPr lang="en-US" altLang="en-US" dirty="0" smtClean="0"/>
              <a:t>Use the same physical frame number in the page table entries</a:t>
            </a:r>
          </a:p>
          <a:p>
            <a:pPr marL="344487" lvl="1" indent="0">
              <a:buNone/>
            </a:pPr>
            <a:endParaRPr lang="en-US" altLang="en-US" dirty="0" smtClean="0"/>
          </a:p>
          <a:p>
            <a:r>
              <a:rPr lang="en-US" altLang="en-US" dirty="0" smtClean="0"/>
              <a:t>Possible usage:</a:t>
            </a:r>
          </a:p>
          <a:p>
            <a:pPr lvl="1"/>
            <a:r>
              <a:rPr lang="en-US" altLang="en-US" dirty="0" smtClean="0"/>
              <a:t>Shared code page:</a:t>
            </a:r>
          </a:p>
          <a:p>
            <a:pPr lvl="2"/>
            <a:r>
              <a:rPr lang="en-US" altLang="en-US" dirty="0" smtClean="0"/>
              <a:t>Some code are being used by many processes, e.g. C standard library, system calls </a:t>
            </a:r>
            <a:r>
              <a:rPr lang="en-US" altLang="en-US" dirty="0" err="1" smtClean="0"/>
              <a:t>etc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Implement Copy-On-Write:</a:t>
            </a:r>
          </a:p>
          <a:p>
            <a:pPr lvl="2"/>
            <a:r>
              <a:rPr lang="en-US" altLang="en-US" dirty="0" smtClean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420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It is hard to place different regions in a contiguous memory space and still allow them grow/shrink freely</a:t>
            </a:r>
          </a:p>
          <a:p>
            <a:pPr lvl="1"/>
            <a:r>
              <a:rPr lang="en-US" altLang="en-US" dirty="0" smtClean="0"/>
              <a:t>Also hard to check whether a memory access </a:t>
            </a:r>
            <a:r>
              <a:rPr lang="en-US" altLang="en-US" b="1" dirty="0" smtClean="0"/>
              <a:t>in a region</a:t>
            </a:r>
            <a:r>
              <a:rPr lang="en-US" altLang="en-US" dirty="0" smtClean="0"/>
              <a:t> is in-range or not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7131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UPDATE: Reverse</a:t>
            </a:r>
            <a:r>
              <a:rPr lang="en-US" baseline="0" dirty="0" smtClean="0"/>
              <a:t> the memory range?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542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Basic Idea:</a:t>
            </a:r>
          </a:p>
          <a:p>
            <a:pPr lvl="1"/>
            <a:r>
              <a:rPr lang="en-US" dirty="0" smtClean="0"/>
              <a:t>Each segment is now composed of several pages instead of a contiguous memory region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 smtClean="0">
                <a:sym typeface="Wingdings" panose="05000000000000000000" pitchFamily="2" charset="2"/>
              </a:rPr>
              <a:t>Essentially, each segment has a page table</a:t>
            </a:r>
          </a:p>
          <a:p>
            <a:pPr marL="344487" lvl="1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Segment can grows by allocating new page then add to its page table and similarly for shrinking</a:t>
            </a:r>
            <a:endParaRPr lang="en-US" dirty="0" smtClean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21676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4487" lvl="1" indent="0">
              <a:buNone/>
            </a:pPr>
            <a:endParaRPr lang="en-US" altLang="en-US" dirty="0" smtClean="0"/>
          </a:p>
          <a:p>
            <a:r>
              <a:rPr lang="en-US" altLang="en-US" dirty="0" smtClean="0"/>
              <a:t>Possible usage:</a:t>
            </a:r>
          </a:p>
          <a:p>
            <a:pPr lvl="1"/>
            <a:r>
              <a:rPr lang="en-US" altLang="en-US" dirty="0" smtClean="0"/>
              <a:t>Shared code page:</a:t>
            </a:r>
          </a:p>
          <a:p>
            <a:pPr lvl="2"/>
            <a:r>
              <a:rPr lang="en-US" altLang="en-US" dirty="0" smtClean="0"/>
              <a:t>Some code are being used by many processes, e.g. C standard library, system calls </a:t>
            </a:r>
            <a:r>
              <a:rPr lang="en-US" altLang="en-US" dirty="0" err="1" smtClean="0"/>
              <a:t>etc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Implement Copy-On-Write:</a:t>
            </a:r>
          </a:p>
          <a:p>
            <a:pPr lvl="2"/>
            <a:r>
              <a:rPr lang="en-US" altLang="en-US" dirty="0" smtClean="0"/>
              <a:t>As discussed in "Process Abstraction", parent and child process can share a page until one tries to update a value in it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381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dirty="0" smtClean="0">
                <a:solidFill>
                  <a:prstClr val="black"/>
                </a:solidFill>
              </a:rPr>
              <a:t>Memory </a:t>
            </a:r>
            <a:r>
              <a:rPr lang="en-US" altLang="en-US" sz="2800" dirty="0">
                <a:solidFill>
                  <a:prstClr val="black"/>
                </a:solidFill>
              </a:rPr>
              <a:t>Management</a:t>
            </a:r>
            <a:r>
              <a:rPr lang="en-US" altLang="en-US" dirty="0">
                <a:solidFill>
                  <a:prstClr val="black"/>
                </a:solidFill>
              </a:rPr>
              <a:t/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 smtClean="0">
                <a:solidFill>
                  <a:srgbClr val="C00000"/>
                </a:solidFill>
              </a:rPr>
              <a:t>Disjoint Memory Schemes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</a:t>
            </a:r>
            <a:r>
              <a:rPr lang="en-US" altLang="en-US" dirty="0" smtClean="0"/>
              <a:t>8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Paging Scheme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Logical Address Translation</a:t>
            </a:r>
          </a:p>
          <a:p>
            <a:pPr lvl="1"/>
            <a:r>
              <a:rPr lang="en-US" altLang="en-US" dirty="0"/>
              <a:t>Hardware Support</a:t>
            </a:r>
          </a:p>
          <a:p>
            <a:pPr lvl="1"/>
            <a:r>
              <a:rPr lang="en-US" altLang="en-US" dirty="0" smtClean="0"/>
              <a:t>Protection &amp; Page </a:t>
            </a:r>
            <a:r>
              <a:rPr lang="en-US" altLang="en-US" dirty="0"/>
              <a:t>Sharing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Segmentation Scheme</a:t>
            </a:r>
          </a:p>
          <a:p>
            <a:pPr lvl="1"/>
            <a:r>
              <a:rPr lang="en-US" altLang="en-US" dirty="0"/>
              <a:t>Motivation</a:t>
            </a:r>
          </a:p>
          <a:p>
            <a:pPr lvl="1"/>
            <a:r>
              <a:rPr lang="en-US" altLang="en-US" dirty="0"/>
              <a:t>Basic Idea</a:t>
            </a:r>
          </a:p>
          <a:p>
            <a:pPr lvl="1"/>
            <a:r>
              <a:rPr lang="en-US" altLang="en-US" dirty="0"/>
              <a:t>Logical Address Translation</a:t>
            </a:r>
          </a:p>
          <a:p>
            <a:pPr lvl="1"/>
            <a:r>
              <a:rPr lang="en-US" altLang="en-US" dirty="0"/>
              <a:t>Hardware </a:t>
            </a:r>
            <a:r>
              <a:rPr lang="en-US" altLang="en-US" dirty="0" smtClean="0"/>
              <a:t>Support</a:t>
            </a:r>
          </a:p>
          <a:p>
            <a:r>
              <a:rPr lang="en-US" altLang="en-US" b="1" dirty="0" smtClean="0">
                <a:solidFill>
                  <a:srgbClr val="660066"/>
                </a:solidFill>
              </a:rPr>
              <a:t>Segmentation</a:t>
            </a:r>
            <a:r>
              <a:rPr lang="en-US" altLang="en-US" dirty="0" smtClean="0"/>
              <a:t> </a:t>
            </a:r>
            <a:r>
              <a:rPr lang="en-US" altLang="en-US" b="1" dirty="0" smtClean="0"/>
              <a:t>with </a:t>
            </a:r>
            <a:r>
              <a:rPr lang="en-US" altLang="en-US" b="1" dirty="0" smtClean="0">
                <a:solidFill>
                  <a:srgbClr val="C00000"/>
                </a:solidFill>
              </a:rPr>
              <a:t>Paging </a:t>
            </a:r>
            <a:r>
              <a:rPr lang="en-US" altLang="en-US" b="1" dirty="0" smtClean="0"/>
              <a:t>Scheme</a:t>
            </a:r>
            <a:endParaRPr lang="en-US" altLang="en-US" b="1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20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Disjoined Memory Space with </a:t>
            </a:r>
            <a:r>
              <a:rPr lang="en-US" altLang="en-US" sz="3800" b="1" dirty="0">
                <a:solidFill>
                  <a:srgbClr val="C00000"/>
                </a:solidFill>
              </a:rPr>
              <a:t>Paging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143000"/>
          </a:xfrm>
        </p:spPr>
        <p:txBody>
          <a:bodyPr/>
          <a:lstStyle/>
          <a:p>
            <a:r>
              <a:rPr lang="en-US" altLang="en-US" dirty="0"/>
              <a:t>In </a:t>
            </a:r>
            <a:r>
              <a:rPr lang="en-US" altLang="en-US" dirty="0" smtClean="0"/>
              <a:t>lecture 7, </a:t>
            </a:r>
            <a:r>
              <a:rPr lang="en-US" altLang="en-US" dirty="0"/>
              <a:t>memory management </a:t>
            </a:r>
            <a:r>
              <a:rPr lang="en-US" altLang="en-US" dirty="0" smtClean="0"/>
              <a:t>was </a:t>
            </a:r>
            <a:r>
              <a:rPr lang="en-US" altLang="en-US" dirty="0"/>
              <a:t>discussed with two assumptions</a:t>
            </a:r>
            <a:r>
              <a:rPr lang="en-US" altLang="en-US" dirty="0" smtClean="0"/>
              <a:t>: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142117238"/>
              </p:ext>
            </p:extLst>
          </p:nvPr>
        </p:nvGraphicFramePr>
        <p:xfrm>
          <a:off x="499872" y="2295525"/>
          <a:ext cx="8077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16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 Scheme: Basic Idea</a:t>
            </a:r>
          </a:p>
        </p:txBody>
      </p:sp>
      <p:sp>
        <p:nvSpPr>
          <p:cNvPr id="76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The </a:t>
            </a:r>
            <a:r>
              <a:rPr lang="en-US" altLang="en-US" b="1" dirty="0"/>
              <a:t>physical </a:t>
            </a:r>
            <a:r>
              <a:rPr lang="en-US" altLang="en-US" b="1" dirty="0" smtClean="0"/>
              <a:t>memory</a:t>
            </a:r>
            <a:r>
              <a:rPr lang="en-US" altLang="en-US" dirty="0" smtClean="0"/>
              <a:t> </a:t>
            </a:r>
            <a:r>
              <a:rPr lang="en-US" altLang="en-US" dirty="0"/>
              <a:t>is split into regions of fixed size (decided by hardware)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 smtClean="0"/>
              <a:t>physical frame</a:t>
            </a:r>
          </a:p>
          <a:p>
            <a:pPr marL="344487" lvl="1" indent="0">
              <a:buNone/>
            </a:pPr>
            <a:endParaRPr lang="en-US" altLang="en-US" b="1" dirty="0"/>
          </a:p>
          <a:p>
            <a:r>
              <a:rPr lang="en-US" altLang="en-US" dirty="0"/>
              <a:t>The </a:t>
            </a:r>
            <a:r>
              <a:rPr lang="en-US" altLang="en-US" b="1" dirty="0"/>
              <a:t>logical memory</a:t>
            </a:r>
            <a:r>
              <a:rPr lang="en-US" altLang="en-US" dirty="0"/>
              <a:t> </a:t>
            </a:r>
            <a:r>
              <a:rPr lang="en-US" altLang="en-US" dirty="0" smtClean="0"/>
              <a:t>of </a:t>
            </a:r>
            <a:r>
              <a:rPr lang="en-US" altLang="en-US" dirty="0"/>
              <a:t>a process is similarly split into regions of </a:t>
            </a:r>
            <a:r>
              <a:rPr lang="en-US" altLang="en-US" b="1" i="1" dirty="0"/>
              <a:t>same size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dirty="0" smtClean="0"/>
              <a:t>logical page</a:t>
            </a:r>
          </a:p>
          <a:p>
            <a:pPr lvl="1"/>
            <a:endParaRPr lang="en-US" altLang="en-US" b="1" dirty="0"/>
          </a:p>
          <a:p>
            <a:r>
              <a:rPr lang="en-US" altLang="en-US" dirty="0"/>
              <a:t>At execution time, the pages of a process are loaded into </a:t>
            </a:r>
            <a:r>
              <a:rPr lang="en-US" altLang="en-US" b="1" dirty="0"/>
              <a:t>any available </a:t>
            </a:r>
            <a:r>
              <a:rPr lang="en-US" altLang="en-US" dirty="0"/>
              <a:t>memory frame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>
                <a:sym typeface="Wingdings" panose="05000000000000000000" pitchFamily="2" charset="2"/>
              </a:rPr>
              <a:t>Logical memory space remain contiguous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altLang="en-US" dirty="0"/>
              <a:t>Occupied physical memory region can be disjoined!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818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Page Table: </a:t>
            </a:r>
            <a:r>
              <a:rPr lang="en-US" b="1" dirty="0" smtClean="0">
                <a:solidFill>
                  <a:srgbClr val="C00000"/>
                </a:solidFill>
              </a:rPr>
              <a:t>Lookup Mechanism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contiguous memory allocation, it is very simple to keep track of the usage of a process:</a:t>
            </a:r>
          </a:p>
          <a:p>
            <a:pPr lvl="1"/>
            <a:r>
              <a:rPr lang="en-US" dirty="0" smtClean="0"/>
              <a:t>Minimally, </a:t>
            </a:r>
            <a:r>
              <a:rPr lang="en-US" b="1" dirty="0" smtClean="0"/>
              <a:t>starting address </a:t>
            </a:r>
            <a:r>
              <a:rPr lang="en-US" dirty="0" smtClean="0"/>
              <a:t>and </a:t>
            </a:r>
            <a:r>
              <a:rPr lang="en-US" b="1" dirty="0" smtClean="0"/>
              <a:t>size of process</a:t>
            </a:r>
          </a:p>
          <a:p>
            <a:pPr lvl="1"/>
            <a:endParaRPr lang="en-US" b="1" dirty="0"/>
          </a:p>
          <a:p>
            <a:r>
              <a:rPr lang="en-US" dirty="0" smtClean="0"/>
              <a:t>Under paging scheme:</a:t>
            </a:r>
          </a:p>
          <a:p>
            <a:pPr lvl="1"/>
            <a:r>
              <a:rPr lang="en-US" dirty="0" smtClean="0"/>
              <a:t>Logical page </a:t>
            </a:r>
            <a:r>
              <a:rPr lang="en-US" dirty="0" smtClean="0">
                <a:sym typeface="Wingdings" panose="05000000000000000000" pitchFamily="2" charset="2"/>
              </a:rPr>
              <a:t> Physical frame mapping is no longer straightforward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Need a lookup table to provide the translation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This structure is known as a </a:t>
            </a:r>
            <a:r>
              <a:rPr lang="en-US" b="1" dirty="0" smtClean="0">
                <a:sym typeface="Wingdings" panose="05000000000000000000" pitchFamily="2" charset="2"/>
              </a:rPr>
              <a:t>Page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22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7"/>
          <p:cNvSpPr>
            <a:spLocks noChangeArrowheads="1"/>
          </p:cNvSpPr>
          <p:nvPr/>
        </p:nvSpPr>
        <p:spPr bwMode="auto">
          <a:xfrm>
            <a:off x="762000" y="1596753"/>
            <a:ext cx="1143000" cy="2438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51" name="Rectangle 11"/>
          <p:cNvSpPr>
            <a:spLocks noChangeArrowheads="1"/>
          </p:cNvSpPr>
          <p:nvPr/>
        </p:nvSpPr>
        <p:spPr bwMode="auto">
          <a:xfrm>
            <a:off x="7391400" y="911134"/>
            <a:ext cx="1143000" cy="4880066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Paging</a:t>
            </a:r>
            <a:r>
              <a:rPr lang="en-US" altLang="en-US" sz="3800" b="1" dirty="0"/>
              <a:t>: Illustration</a:t>
            </a:r>
          </a:p>
        </p:txBody>
      </p:sp>
      <p:sp>
        <p:nvSpPr>
          <p:cNvPr id="769028" name="Rectangle 4"/>
          <p:cNvSpPr>
            <a:spLocks noChangeArrowheads="1"/>
          </p:cNvSpPr>
          <p:nvPr/>
        </p:nvSpPr>
        <p:spPr bwMode="auto">
          <a:xfrm>
            <a:off x="762000" y="3429000"/>
            <a:ext cx="1143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3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29" name="Rectangle 5"/>
          <p:cNvSpPr>
            <a:spLocks noChangeArrowheads="1"/>
          </p:cNvSpPr>
          <p:nvPr/>
        </p:nvSpPr>
        <p:spPr bwMode="auto">
          <a:xfrm>
            <a:off x="762000" y="2819400"/>
            <a:ext cx="1143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2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0" name="Rectangle 6"/>
          <p:cNvSpPr>
            <a:spLocks noChangeArrowheads="1"/>
          </p:cNvSpPr>
          <p:nvPr/>
        </p:nvSpPr>
        <p:spPr bwMode="auto">
          <a:xfrm>
            <a:off x="762000" y="2209800"/>
            <a:ext cx="1143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1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1" name="Rectangle 7"/>
          <p:cNvSpPr>
            <a:spLocks noChangeArrowheads="1"/>
          </p:cNvSpPr>
          <p:nvPr/>
        </p:nvSpPr>
        <p:spPr bwMode="auto">
          <a:xfrm>
            <a:off x="762000" y="1600200"/>
            <a:ext cx="1143000" cy="6096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0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9" name="Rectangle 15"/>
          <p:cNvSpPr>
            <a:spLocks noChangeArrowheads="1"/>
          </p:cNvSpPr>
          <p:nvPr/>
        </p:nvSpPr>
        <p:spPr bwMode="auto">
          <a:xfrm>
            <a:off x="533400" y="4038600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logical memory</a:t>
            </a:r>
          </a:p>
        </p:txBody>
      </p:sp>
      <p:sp>
        <p:nvSpPr>
          <p:cNvPr id="769035" name="Rectangle 11"/>
          <p:cNvSpPr>
            <a:spLocks noChangeArrowheads="1"/>
          </p:cNvSpPr>
          <p:nvPr/>
        </p:nvSpPr>
        <p:spPr bwMode="auto">
          <a:xfrm>
            <a:off x="7391400" y="9144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6" name="Rectangle 12"/>
          <p:cNvSpPr>
            <a:spLocks noChangeArrowheads="1"/>
          </p:cNvSpPr>
          <p:nvPr/>
        </p:nvSpPr>
        <p:spPr bwMode="auto">
          <a:xfrm>
            <a:off x="7391400" y="45720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8" name="Rectangle 14"/>
          <p:cNvSpPr>
            <a:spLocks noChangeArrowheads="1"/>
          </p:cNvSpPr>
          <p:nvPr/>
        </p:nvSpPr>
        <p:spPr bwMode="auto">
          <a:xfrm>
            <a:off x="7391400" y="27432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769040" name="Rectangle 16"/>
          <p:cNvSpPr>
            <a:spLocks noChangeArrowheads="1"/>
          </p:cNvSpPr>
          <p:nvPr/>
        </p:nvSpPr>
        <p:spPr bwMode="auto">
          <a:xfrm>
            <a:off x="7391400" y="33528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769044" name="Rectangle 20"/>
          <p:cNvSpPr>
            <a:spLocks noChangeArrowheads="1"/>
          </p:cNvSpPr>
          <p:nvPr/>
        </p:nvSpPr>
        <p:spPr bwMode="auto">
          <a:xfrm>
            <a:off x="7239000" y="5791200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769054" name="Group 30"/>
          <p:cNvGrpSpPr>
            <a:grpSpLocks/>
          </p:cNvGrpSpPr>
          <p:nvPr/>
        </p:nvGrpSpPr>
        <p:grpSpPr bwMode="auto">
          <a:xfrm>
            <a:off x="6248400" y="914400"/>
            <a:ext cx="1143000" cy="4876800"/>
            <a:chOff x="3120" y="672"/>
            <a:chExt cx="720" cy="3072"/>
          </a:xfrm>
        </p:grpSpPr>
        <p:sp>
          <p:nvSpPr>
            <p:cNvPr id="769055" name="Rectangle 31"/>
            <p:cNvSpPr>
              <a:spLocks noChangeArrowheads="1"/>
            </p:cNvSpPr>
            <p:nvPr/>
          </p:nvSpPr>
          <p:spPr bwMode="auto">
            <a:xfrm>
              <a:off x="3120" y="3360"/>
              <a:ext cx="720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b="1" dirty="0"/>
                <a:t>frame</a:t>
              </a:r>
              <a:r>
                <a:rPr lang="en-US" altLang="en-US" dirty="0"/>
                <a:t> </a:t>
              </a:r>
              <a:r>
                <a:rPr lang="en-US" altLang="en-US" dirty="0" smtClean="0"/>
                <a:t>7</a:t>
              </a:r>
              <a:endParaRPr lang="en-US" altLang="en-US" dirty="0"/>
            </a:p>
          </p:txBody>
        </p:sp>
        <p:sp>
          <p:nvSpPr>
            <p:cNvPr id="769056" name="Rectangle 32"/>
            <p:cNvSpPr>
              <a:spLocks noChangeArrowheads="1"/>
            </p:cNvSpPr>
            <p:nvPr/>
          </p:nvSpPr>
          <p:spPr bwMode="auto">
            <a:xfrm>
              <a:off x="3216" y="2976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6</a:t>
              </a:r>
              <a:endParaRPr lang="en-US" altLang="en-US" dirty="0"/>
            </a:p>
          </p:txBody>
        </p:sp>
        <p:sp>
          <p:nvSpPr>
            <p:cNvPr id="769057" name="Rectangle 33"/>
            <p:cNvSpPr>
              <a:spLocks noChangeArrowheads="1"/>
            </p:cNvSpPr>
            <p:nvPr/>
          </p:nvSpPr>
          <p:spPr bwMode="auto">
            <a:xfrm>
              <a:off x="3216" y="2592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5</a:t>
              </a:r>
              <a:endParaRPr lang="en-US" altLang="en-US" dirty="0"/>
            </a:p>
          </p:txBody>
        </p:sp>
        <p:sp>
          <p:nvSpPr>
            <p:cNvPr id="769058" name="Rectangle 34"/>
            <p:cNvSpPr>
              <a:spLocks noChangeArrowheads="1"/>
            </p:cNvSpPr>
            <p:nvPr/>
          </p:nvSpPr>
          <p:spPr bwMode="auto">
            <a:xfrm>
              <a:off x="3216" y="2208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4</a:t>
              </a:r>
              <a:endParaRPr lang="en-US" altLang="en-US" dirty="0"/>
            </a:p>
          </p:txBody>
        </p:sp>
        <p:sp>
          <p:nvSpPr>
            <p:cNvPr id="769059" name="Rectangle 35"/>
            <p:cNvSpPr>
              <a:spLocks noChangeArrowheads="1"/>
            </p:cNvSpPr>
            <p:nvPr/>
          </p:nvSpPr>
          <p:spPr bwMode="auto">
            <a:xfrm>
              <a:off x="3216" y="1824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3</a:t>
              </a:r>
              <a:endParaRPr lang="en-US" altLang="en-US" dirty="0"/>
            </a:p>
          </p:txBody>
        </p:sp>
        <p:sp>
          <p:nvSpPr>
            <p:cNvPr id="769060" name="Rectangle 36"/>
            <p:cNvSpPr>
              <a:spLocks noChangeArrowheads="1"/>
            </p:cNvSpPr>
            <p:nvPr/>
          </p:nvSpPr>
          <p:spPr bwMode="auto">
            <a:xfrm>
              <a:off x="3216" y="1440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2</a:t>
              </a:r>
              <a:endParaRPr lang="en-US" altLang="en-US" dirty="0"/>
            </a:p>
          </p:txBody>
        </p:sp>
        <p:sp>
          <p:nvSpPr>
            <p:cNvPr id="769061" name="Rectangle 37"/>
            <p:cNvSpPr>
              <a:spLocks noChangeArrowheads="1"/>
            </p:cNvSpPr>
            <p:nvPr/>
          </p:nvSpPr>
          <p:spPr bwMode="auto">
            <a:xfrm>
              <a:off x="3216" y="1056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1</a:t>
              </a:r>
              <a:endParaRPr lang="en-US" altLang="en-US" dirty="0"/>
            </a:p>
          </p:txBody>
        </p:sp>
        <p:sp>
          <p:nvSpPr>
            <p:cNvPr id="769062" name="Rectangle 38"/>
            <p:cNvSpPr>
              <a:spLocks noChangeArrowheads="1"/>
            </p:cNvSpPr>
            <p:nvPr/>
          </p:nvSpPr>
          <p:spPr bwMode="auto">
            <a:xfrm>
              <a:off x="3168" y="672"/>
              <a:ext cx="672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b="1" dirty="0"/>
                <a:t>frame</a:t>
              </a:r>
              <a:r>
                <a:rPr lang="en-US" altLang="en-US" dirty="0"/>
                <a:t> </a:t>
              </a:r>
              <a:r>
                <a:rPr lang="en-US" altLang="en-US" dirty="0" smtClean="0"/>
                <a:t>0</a:t>
              </a:r>
              <a:endParaRPr lang="en-US" altLang="en-US" dirty="0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581400" y="2133600"/>
            <a:ext cx="1600200" cy="1904999"/>
            <a:chOff x="3429000" y="2514600"/>
            <a:chExt cx="1600200" cy="1904999"/>
          </a:xfrm>
        </p:grpSpPr>
        <p:grpSp>
          <p:nvGrpSpPr>
            <p:cNvPr id="769082" name="Group 58"/>
            <p:cNvGrpSpPr>
              <a:grpSpLocks/>
            </p:cNvGrpSpPr>
            <p:nvPr/>
          </p:nvGrpSpPr>
          <p:grpSpPr bwMode="auto">
            <a:xfrm>
              <a:off x="3581400" y="2514600"/>
              <a:ext cx="990600" cy="1524000"/>
              <a:chOff x="2112" y="2160"/>
              <a:chExt cx="624" cy="960"/>
            </a:xfrm>
          </p:grpSpPr>
          <p:grpSp>
            <p:nvGrpSpPr>
              <p:cNvPr id="769072" name="Group 48"/>
              <p:cNvGrpSpPr>
                <a:grpSpLocks/>
              </p:cNvGrpSpPr>
              <p:nvPr/>
            </p:nvGrpSpPr>
            <p:grpSpPr bwMode="auto">
              <a:xfrm>
                <a:off x="2112" y="2160"/>
                <a:ext cx="624" cy="240"/>
                <a:chOff x="2208" y="3648"/>
                <a:chExt cx="624" cy="240"/>
              </a:xfrm>
            </p:grpSpPr>
            <p:sp>
              <p:nvSpPr>
                <p:cNvPr id="769045" name="Rectangle 21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769071" name="Rectangle 47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69073" name="Group 49"/>
              <p:cNvGrpSpPr>
                <a:grpSpLocks/>
              </p:cNvGrpSpPr>
              <p:nvPr/>
            </p:nvGrpSpPr>
            <p:grpSpPr bwMode="auto">
              <a:xfrm>
                <a:off x="2112" y="2400"/>
                <a:ext cx="624" cy="240"/>
                <a:chOff x="2208" y="3648"/>
                <a:chExt cx="624" cy="240"/>
              </a:xfrm>
            </p:grpSpPr>
            <p:sp>
              <p:nvSpPr>
                <p:cNvPr id="769074" name="Rectangle 50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769075" name="Rectangle 51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69076" name="Group 52"/>
              <p:cNvGrpSpPr>
                <a:grpSpLocks/>
              </p:cNvGrpSpPr>
              <p:nvPr/>
            </p:nvGrpSpPr>
            <p:grpSpPr bwMode="auto">
              <a:xfrm>
                <a:off x="2112" y="2640"/>
                <a:ext cx="624" cy="240"/>
                <a:chOff x="2208" y="3648"/>
                <a:chExt cx="624" cy="240"/>
              </a:xfrm>
            </p:grpSpPr>
            <p:sp>
              <p:nvSpPr>
                <p:cNvPr id="769077" name="Rectangle 53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2</a:t>
                  </a:r>
                  <a:endParaRPr lang="en-US" altLang="en-US" sz="1600" dirty="0"/>
                </a:p>
              </p:txBody>
            </p:sp>
            <p:sp>
              <p:nvSpPr>
                <p:cNvPr id="769078" name="Rectangle 54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69079" name="Group 55"/>
              <p:cNvGrpSpPr>
                <a:grpSpLocks/>
              </p:cNvGrpSpPr>
              <p:nvPr/>
            </p:nvGrpSpPr>
            <p:grpSpPr bwMode="auto">
              <a:xfrm>
                <a:off x="2112" y="2880"/>
                <a:ext cx="624" cy="240"/>
                <a:chOff x="2208" y="3648"/>
                <a:chExt cx="624" cy="240"/>
              </a:xfrm>
            </p:grpSpPr>
            <p:sp>
              <p:nvSpPr>
                <p:cNvPr id="769080" name="Rectangle 56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3</a:t>
                  </a:r>
                  <a:endParaRPr lang="en-US" altLang="en-US" sz="1600" dirty="0"/>
                </a:p>
              </p:txBody>
            </p:sp>
            <p:sp>
              <p:nvSpPr>
                <p:cNvPr id="769081" name="Rectangle 57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769083" name="Rectangle 59"/>
            <p:cNvSpPr>
              <a:spLocks noChangeArrowheads="1"/>
            </p:cNvSpPr>
            <p:nvPr/>
          </p:nvSpPr>
          <p:spPr bwMode="auto">
            <a:xfrm>
              <a:off x="3429000" y="411480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</a:t>
              </a:r>
              <a:r>
                <a:rPr lang="en-US" altLang="en-US" sz="1600" b="1" dirty="0" smtClean="0"/>
                <a:t>table</a:t>
              </a:r>
              <a:endParaRPr lang="en-US" altLang="en-US" sz="1600" b="1" dirty="0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2" name="Rectangle 10"/>
          <p:cNvSpPr>
            <a:spLocks noChangeArrowheads="1"/>
          </p:cNvSpPr>
          <p:nvPr/>
        </p:nvSpPr>
        <p:spPr bwMode="auto">
          <a:xfrm>
            <a:off x="7391400" y="39624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53" name="Rectangle 13"/>
          <p:cNvSpPr>
            <a:spLocks noChangeArrowheads="1"/>
          </p:cNvSpPr>
          <p:nvPr/>
        </p:nvSpPr>
        <p:spPr bwMode="auto">
          <a:xfrm>
            <a:off x="7391400" y="21336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54" name="Rectangle 17"/>
          <p:cNvSpPr>
            <a:spLocks noChangeArrowheads="1"/>
          </p:cNvSpPr>
          <p:nvPr/>
        </p:nvSpPr>
        <p:spPr bwMode="auto">
          <a:xfrm>
            <a:off x="7391400" y="15240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55" name="Rectangle 18"/>
          <p:cNvSpPr>
            <a:spLocks noChangeArrowheads="1"/>
          </p:cNvSpPr>
          <p:nvPr/>
        </p:nvSpPr>
        <p:spPr bwMode="auto">
          <a:xfrm>
            <a:off x="7391400" y="5181600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4" name="Rectangle 10"/>
          <p:cNvSpPr>
            <a:spLocks noChangeArrowheads="1"/>
          </p:cNvSpPr>
          <p:nvPr/>
        </p:nvSpPr>
        <p:spPr bwMode="auto">
          <a:xfrm>
            <a:off x="7391400" y="39624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3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37" name="Rectangle 13"/>
          <p:cNvSpPr>
            <a:spLocks noChangeArrowheads="1"/>
          </p:cNvSpPr>
          <p:nvPr/>
        </p:nvSpPr>
        <p:spPr bwMode="auto">
          <a:xfrm>
            <a:off x="7391400" y="21336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0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41" name="Rectangle 17"/>
          <p:cNvSpPr>
            <a:spLocks noChangeArrowheads="1"/>
          </p:cNvSpPr>
          <p:nvPr/>
        </p:nvSpPr>
        <p:spPr bwMode="auto">
          <a:xfrm>
            <a:off x="7391400" y="15240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2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69042" name="Rectangle 18"/>
          <p:cNvSpPr>
            <a:spLocks noChangeArrowheads="1"/>
          </p:cNvSpPr>
          <p:nvPr/>
        </p:nvSpPr>
        <p:spPr bwMode="auto">
          <a:xfrm>
            <a:off x="7391400" y="5181600"/>
            <a:ext cx="11430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0" name="Text Box 71"/>
          <p:cNvSpPr txBox="1">
            <a:spLocks noChangeArrowheads="1"/>
          </p:cNvSpPr>
          <p:nvPr/>
        </p:nvSpPr>
        <p:spPr bwMode="auto">
          <a:xfrm>
            <a:off x="381000" y="5558079"/>
            <a:ext cx="2133600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 smtClean="0"/>
              <a:t>load 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2357</a:t>
            </a:r>
            <a:endParaRPr lang="en-US" altLang="en-US" sz="3200" b="1" dirty="0">
              <a:solidFill>
                <a:srgbClr val="C00000"/>
              </a:solidFill>
            </a:endParaRPr>
          </a:p>
        </p:txBody>
      </p:sp>
      <p:sp>
        <p:nvSpPr>
          <p:cNvPr id="56" name="Text Box 71"/>
          <p:cNvSpPr txBox="1">
            <a:spLocks noChangeArrowheads="1"/>
          </p:cNvSpPr>
          <p:nvPr/>
        </p:nvSpPr>
        <p:spPr bwMode="auto">
          <a:xfrm>
            <a:off x="396240" y="5364480"/>
            <a:ext cx="2133600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 smtClean="0"/>
              <a:t>Page Size = 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1,000</a:t>
            </a:r>
            <a:endParaRPr lang="en-US" altLang="en-US" sz="3200" b="1" dirty="0">
              <a:solidFill>
                <a:srgbClr val="C00000"/>
              </a:solidFill>
            </a:endParaRPr>
          </a:p>
        </p:txBody>
      </p:sp>
      <p:sp>
        <p:nvSpPr>
          <p:cNvPr id="57" name="Isosceles Triangle 56"/>
          <p:cNvSpPr/>
          <p:nvPr/>
        </p:nvSpPr>
        <p:spPr>
          <a:xfrm>
            <a:off x="8610600" y="663575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8" name="Text Box 71"/>
          <p:cNvSpPr txBox="1">
            <a:spLocks noChangeArrowheads="1"/>
          </p:cNvSpPr>
          <p:nvPr/>
        </p:nvSpPr>
        <p:spPr bwMode="auto">
          <a:xfrm>
            <a:off x="3634740" y="5610701"/>
            <a:ext cx="2133600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smtClean="0"/>
              <a:t>load </a:t>
            </a:r>
            <a:r>
              <a:rPr lang="en-US" altLang="en-US" sz="3200" b="1" smtClean="0">
                <a:solidFill>
                  <a:srgbClr val="C00000"/>
                </a:solidFill>
              </a:rPr>
              <a:t>123</a:t>
            </a:r>
            <a:endParaRPr lang="en-US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19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69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69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69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69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69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69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69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69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69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69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69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69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6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69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69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69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69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69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69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69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69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69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69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69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769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1" grpId="0" animBg="1"/>
      <p:bldP spid="769028" grpId="0" animBg="1"/>
      <p:bldP spid="769029" grpId="0" animBg="1"/>
      <p:bldP spid="769030" grpId="0" animBg="1"/>
      <p:bldP spid="769031" grpId="0" animBg="1"/>
      <p:bldP spid="769039" grpId="0"/>
      <p:bldP spid="769035" grpId="0" animBg="1"/>
      <p:bldP spid="769036" grpId="0" animBg="1"/>
      <p:bldP spid="769038" grpId="0" animBg="1"/>
      <p:bldP spid="769040" grpId="0" animBg="1"/>
      <p:bldP spid="769044" grpId="0"/>
      <p:bldP spid="52" grpId="0" animBg="1"/>
      <p:bldP spid="53" grpId="0" animBg="1"/>
      <p:bldP spid="54" grpId="0" animBg="1"/>
      <p:bldP spid="55" grpId="0" animBg="1"/>
      <p:bldP spid="769034" grpId="0" animBg="1"/>
      <p:bldP spid="769037" grpId="0" animBg="1"/>
      <p:bldP spid="769041" grpId="0" animBg="1"/>
      <p:bldP spid="769042" grpId="0" animBg="1"/>
      <p:bldP spid="5" grpId="0" animBg="1"/>
      <p:bldP spid="50" grpId="0" animBg="1"/>
      <p:bldP spid="56" grpId="0" animBg="1"/>
      <p:bldP spid="57" grpId="0" animBg="1"/>
      <p:bldP spid="5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 smtClean="0">
                <a:solidFill>
                  <a:srgbClr val="C00000"/>
                </a:solidFill>
              </a:rPr>
              <a:t>Logical </a:t>
            </a:r>
            <a:r>
              <a:rPr lang="en-US" altLang="en-US" sz="3800" b="1" dirty="0">
                <a:solidFill>
                  <a:srgbClr val="C00000"/>
                </a:solidFill>
              </a:rPr>
              <a:t>Address Translation</a:t>
            </a:r>
          </a:p>
        </p:txBody>
      </p:sp>
      <p:sp>
        <p:nvSpPr>
          <p:cNvPr id="77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3583" y="5459015"/>
            <a:ext cx="6858000" cy="90566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 smtClean="0">
                <a:sym typeface="Wingdings" panose="05000000000000000000" pitchFamily="2" charset="2"/>
              </a:rPr>
              <a:t>Physical Address </a:t>
            </a:r>
          </a:p>
          <a:p>
            <a:pPr marL="0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 </a:t>
            </a:r>
            <a:r>
              <a:rPr lang="en-US" altLang="en-US" dirty="0" smtClean="0">
                <a:sym typeface="Wingdings" panose="05000000000000000000" pitchFamily="2" charset="2"/>
              </a:rPr>
              <a:t>  = </a:t>
            </a:r>
            <a:r>
              <a:rPr lang="en-US" altLang="en-US" b="1" dirty="0" smtClean="0">
                <a:sym typeface="Wingdings" panose="05000000000000000000" pitchFamily="2" charset="2"/>
              </a:rPr>
              <a:t>F x size of physical frame + Offset</a:t>
            </a:r>
            <a:endParaRPr lang="en-US" altLang="en-US" b="1" dirty="0">
              <a:sym typeface="Wingdings" panose="05000000000000000000" pitchFamily="2" charset="2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533400" y="914195"/>
            <a:ext cx="8305800" cy="5639210"/>
            <a:chOff x="17417" y="1230312"/>
            <a:chExt cx="8305800" cy="5639210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246017" y="3733800"/>
              <a:ext cx="11430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3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246017" y="3124200"/>
              <a:ext cx="11430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2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46017" y="2514600"/>
              <a:ext cx="11430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46017" y="1905000"/>
              <a:ext cx="1143000" cy="6096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17417" y="4343400"/>
              <a:ext cx="160020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logical memory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875417" y="1230722"/>
              <a:ext cx="1143000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6875417" y="4888322"/>
              <a:ext cx="1143000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6875417" y="3059522"/>
              <a:ext cx="1143000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6875417" y="3669122"/>
              <a:ext cx="1143000" cy="6096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7" name="Rectangle 20"/>
            <p:cNvSpPr>
              <a:spLocks noChangeArrowheads="1"/>
            </p:cNvSpPr>
            <p:nvPr/>
          </p:nvSpPr>
          <p:spPr bwMode="auto">
            <a:xfrm>
              <a:off x="6723017" y="6107522"/>
              <a:ext cx="1600200" cy="76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physical memory</a:t>
              </a:r>
            </a:p>
          </p:txBody>
        </p:sp>
        <p:grpSp>
          <p:nvGrpSpPr>
            <p:cNvPr id="18" name="Group 30"/>
            <p:cNvGrpSpPr>
              <a:grpSpLocks/>
            </p:cNvGrpSpPr>
            <p:nvPr/>
          </p:nvGrpSpPr>
          <p:grpSpPr bwMode="auto">
            <a:xfrm>
              <a:off x="5884863" y="1230312"/>
              <a:ext cx="990600" cy="4876800"/>
              <a:chOff x="3323" y="823"/>
              <a:chExt cx="624" cy="3072"/>
            </a:xfrm>
          </p:grpSpPr>
          <p:sp>
            <p:nvSpPr>
              <p:cNvPr id="19" name="Rectangle 31"/>
              <p:cNvSpPr>
                <a:spLocks noChangeArrowheads="1"/>
              </p:cNvSpPr>
              <p:nvPr/>
            </p:nvSpPr>
            <p:spPr bwMode="auto">
              <a:xfrm>
                <a:off x="3323" y="3511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frame </a:t>
                </a:r>
                <a:r>
                  <a:rPr lang="en-US" altLang="en-US" dirty="0" smtClean="0"/>
                  <a:t>7</a:t>
                </a:r>
                <a:endParaRPr lang="en-US" altLang="en-US" dirty="0"/>
              </a:p>
            </p:txBody>
          </p:sp>
          <p:sp>
            <p:nvSpPr>
              <p:cNvPr id="20" name="Rectangle 32"/>
              <p:cNvSpPr>
                <a:spLocks noChangeArrowheads="1"/>
              </p:cNvSpPr>
              <p:nvPr/>
            </p:nvSpPr>
            <p:spPr bwMode="auto">
              <a:xfrm>
                <a:off x="3323" y="3127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 smtClean="0"/>
                  <a:t>6</a:t>
                </a:r>
                <a:endParaRPr lang="en-US" altLang="en-US" dirty="0"/>
              </a:p>
            </p:txBody>
          </p:sp>
          <p:sp>
            <p:nvSpPr>
              <p:cNvPr id="21" name="Rectangle 33"/>
              <p:cNvSpPr>
                <a:spLocks noChangeArrowheads="1"/>
              </p:cNvSpPr>
              <p:nvPr/>
            </p:nvSpPr>
            <p:spPr bwMode="auto">
              <a:xfrm>
                <a:off x="3323" y="2743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 smtClean="0"/>
                  <a:t>5</a:t>
                </a:r>
                <a:endParaRPr lang="en-US" altLang="en-US" dirty="0"/>
              </a:p>
            </p:txBody>
          </p:sp>
          <p:sp>
            <p:nvSpPr>
              <p:cNvPr id="22" name="Rectangle 34"/>
              <p:cNvSpPr>
                <a:spLocks noChangeArrowheads="1"/>
              </p:cNvSpPr>
              <p:nvPr/>
            </p:nvSpPr>
            <p:spPr bwMode="auto">
              <a:xfrm>
                <a:off x="3323" y="2359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 smtClean="0"/>
                  <a:t>4</a:t>
                </a:r>
                <a:endParaRPr lang="en-US" altLang="en-US" dirty="0"/>
              </a:p>
            </p:txBody>
          </p:sp>
          <p:sp>
            <p:nvSpPr>
              <p:cNvPr id="23" name="Rectangle 35"/>
              <p:cNvSpPr>
                <a:spLocks noChangeArrowheads="1"/>
              </p:cNvSpPr>
              <p:nvPr/>
            </p:nvSpPr>
            <p:spPr bwMode="auto">
              <a:xfrm>
                <a:off x="3323" y="1975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 smtClean="0"/>
                  <a:t>3</a:t>
                </a:r>
                <a:endParaRPr lang="en-US" altLang="en-US" dirty="0"/>
              </a:p>
            </p:txBody>
          </p:sp>
          <p:sp>
            <p:nvSpPr>
              <p:cNvPr id="24" name="Rectangle 36"/>
              <p:cNvSpPr>
                <a:spLocks noChangeArrowheads="1"/>
              </p:cNvSpPr>
              <p:nvPr/>
            </p:nvSpPr>
            <p:spPr bwMode="auto">
              <a:xfrm>
                <a:off x="3323" y="1591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 smtClean="0"/>
                  <a:t>2</a:t>
                </a:r>
                <a:endParaRPr lang="en-US" altLang="en-US" dirty="0"/>
              </a:p>
            </p:txBody>
          </p:sp>
          <p:sp>
            <p:nvSpPr>
              <p:cNvPr id="25" name="Rectangle 37"/>
              <p:cNvSpPr>
                <a:spLocks noChangeArrowheads="1"/>
              </p:cNvSpPr>
              <p:nvPr/>
            </p:nvSpPr>
            <p:spPr bwMode="auto">
              <a:xfrm>
                <a:off x="3323" y="1207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 smtClean="0"/>
                  <a:t>1</a:t>
                </a:r>
                <a:endParaRPr lang="en-US" altLang="en-US" dirty="0"/>
              </a:p>
            </p:txBody>
          </p:sp>
          <p:sp>
            <p:nvSpPr>
              <p:cNvPr id="26" name="Rectangle 38"/>
              <p:cNvSpPr>
                <a:spLocks noChangeArrowheads="1"/>
              </p:cNvSpPr>
              <p:nvPr/>
            </p:nvSpPr>
            <p:spPr bwMode="auto">
              <a:xfrm>
                <a:off x="3323" y="823"/>
                <a:ext cx="624" cy="3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dirty="0"/>
                  <a:t>frame </a:t>
                </a:r>
                <a:r>
                  <a:rPr lang="en-US" altLang="en-US" dirty="0" smtClean="0"/>
                  <a:t>0</a:t>
                </a:r>
                <a:endParaRPr lang="en-US" altLang="en-US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3446417" y="2906715"/>
              <a:ext cx="1600200" cy="1905404"/>
              <a:chOff x="3446417" y="2906715"/>
              <a:chExt cx="1600200" cy="1905404"/>
            </a:xfrm>
          </p:grpSpPr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>
                <a:off x="3598862" y="2906715"/>
                <a:ext cx="990600" cy="1524001"/>
                <a:chOff x="2123" y="2407"/>
                <a:chExt cx="624" cy="960"/>
              </a:xfrm>
            </p:grpSpPr>
            <p:grpSp>
              <p:nvGrpSpPr>
                <p:cNvPr id="30" name="Group 48"/>
                <p:cNvGrpSpPr>
                  <a:grpSpLocks/>
                </p:cNvGrpSpPr>
                <p:nvPr/>
              </p:nvGrpSpPr>
              <p:grpSpPr bwMode="auto">
                <a:xfrm>
                  <a:off x="2123" y="2407"/>
                  <a:ext cx="624" cy="240"/>
                  <a:chOff x="2219" y="3895"/>
                  <a:chExt cx="624" cy="240"/>
                </a:xfrm>
              </p:grpSpPr>
              <p:sp>
                <p:nvSpPr>
                  <p:cNvPr id="40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0</a:t>
                    </a:r>
                    <a:endParaRPr lang="en-US" altLang="en-US" sz="1600" dirty="0"/>
                  </a:p>
                </p:txBody>
              </p:sp>
              <p:sp>
                <p:nvSpPr>
                  <p:cNvPr id="41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r>
                      <a:rPr lang="en-US" altLang="en-US" sz="1600" b="1" dirty="0" smtClean="0">
                        <a:latin typeface="Courier New" panose="02070309020205020404" pitchFamily="49" charset="0"/>
                      </a:rPr>
                      <a:t>2</a:t>
                    </a:r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31" name="Group 49"/>
                <p:cNvGrpSpPr>
                  <a:grpSpLocks/>
                </p:cNvGrpSpPr>
                <p:nvPr/>
              </p:nvGrpSpPr>
              <p:grpSpPr bwMode="auto">
                <a:xfrm>
                  <a:off x="2123" y="2647"/>
                  <a:ext cx="624" cy="240"/>
                  <a:chOff x="2219" y="3895"/>
                  <a:chExt cx="624" cy="240"/>
                </a:xfrm>
              </p:grpSpPr>
              <p:sp>
                <p:nvSpPr>
                  <p:cNvPr id="38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1</a:t>
                    </a:r>
                    <a:endParaRPr lang="en-US" altLang="en-US" sz="1600" dirty="0"/>
                  </a:p>
                </p:txBody>
              </p:sp>
              <p:sp>
                <p:nvSpPr>
                  <p:cNvPr id="39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r>
                      <a:rPr lang="en-US" altLang="en-US" sz="1600" b="1" dirty="0" smtClean="0">
                        <a:latin typeface="Courier New" panose="02070309020205020404" pitchFamily="49" charset="0"/>
                      </a:rPr>
                      <a:t>7</a:t>
                    </a:r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32" name="Group 52"/>
                <p:cNvGrpSpPr>
                  <a:grpSpLocks/>
                </p:cNvGrpSpPr>
                <p:nvPr/>
              </p:nvGrpSpPr>
              <p:grpSpPr bwMode="auto">
                <a:xfrm>
                  <a:off x="2123" y="2887"/>
                  <a:ext cx="624" cy="240"/>
                  <a:chOff x="2219" y="3895"/>
                  <a:chExt cx="624" cy="240"/>
                </a:xfrm>
              </p:grpSpPr>
              <p:sp>
                <p:nvSpPr>
                  <p:cNvPr id="36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2</a:t>
                    </a:r>
                    <a:endParaRPr lang="en-US" altLang="en-US" sz="1600" dirty="0"/>
                  </a:p>
                </p:txBody>
              </p:sp>
              <p:sp>
                <p:nvSpPr>
                  <p:cNvPr id="37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r>
                      <a:rPr lang="en-US" altLang="en-US" sz="1600" b="1" dirty="0" smtClean="0">
                        <a:latin typeface="Courier New" panose="02070309020205020404" pitchFamily="49" charset="0"/>
                      </a:rPr>
                      <a:t>1</a:t>
                    </a:r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33" name="Group 55"/>
                <p:cNvGrpSpPr>
                  <a:grpSpLocks/>
                </p:cNvGrpSpPr>
                <p:nvPr/>
              </p:nvGrpSpPr>
              <p:grpSpPr bwMode="auto">
                <a:xfrm>
                  <a:off x="2123" y="3127"/>
                  <a:ext cx="624" cy="240"/>
                  <a:chOff x="2219" y="3895"/>
                  <a:chExt cx="624" cy="240"/>
                </a:xfrm>
              </p:grpSpPr>
              <p:sp>
                <p:nvSpPr>
                  <p:cNvPr id="3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3</a:t>
                    </a:r>
                    <a:endParaRPr lang="en-US" altLang="en-US" sz="1600" dirty="0"/>
                  </a:p>
                </p:txBody>
              </p:sp>
              <p:sp>
                <p:nvSpPr>
                  <p:cNvPr id="35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r>
                      <a:rPr lang="en-US" altLang="en-US" sz="1600" b="1" dirty="0" smtClean="0">
                        <a:latin typeface="Courier New" panose="02070309020205020404" pitchFamily="49" charset="0"/>
                      </a:rPr>
                      <a:t>5</a:t>
                    </a:r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</p:grpSp>
          <p:sp>
            <p:nvSpPr>
              <p:cNvPr id="29" name="Rectangle 59"/>
              <p:cNvSpPr>
                <a:spLocks noChangeArrowheads="1"/>
              </p:cNvSpPr>
              <p:nvPr/>
            </p:nvSpPr>
            <p:spPr bwMode="auto">
              <a:xfrm>
                <a:off x="3446417" y="4507320"/>
                <a:ext cx="1600200" cy="3047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/>
                  <a:t>page </a:t>
                </a:r>
                <a:r>
                  <a:rPr lang="en-US" altLang="en-US" sz="1600" b="1" dirty="0" smtClean="0"/>
                  <a:t>table</a:t>
                </a:r>
                <a:endParaRPr lang="en-US" altLang="en-US" sz="1600" b="1" dirty="0"/>
              </a:p>
            </p:txBody>
          </p:sp>
        </p:grp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6875417" y="42787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3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6875417" y="24499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48" name="Rectangle 17"/>
            <p:cNvSpPr>
              <a:spLocks noChangeArrowheads="1"/>
            </p:cNvSpPr>
            <p:nvPr/>
          </p:nvSpPr>
          <p:spPr bwMode="auto">
            <a:xfrm>
              <a:off x="6875417" y="18403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2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49" name="Rectangle 18"/>
            <p:cNvSpPr>
              <a:spLocks noChangeArrowheads="1"/>
            </p:cNvSpPr>
            <p:nvPr/>
          </p:nvSpPr>
          <p:spPr bwMode="auto">
            <a:xfrm>
              <a:off x="6875417" y="5497922"/>
              <a:ext cx="11430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795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005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 smtClean="0"/>
              <a:t>Logical </a:t>
            </a:r>
            <a:r>
              <a:rPr lang="en-US" altLang="en-US" sz="3800" dirty="0"/>
              <a:t>Address </a:t>
            </a:r>
            <a:r>
              <a:rPr lang="en-US" altLang="en-US" sz="3800" dirty="0" smtClean="0"/>
              <a:t>Translation: </a:t>
            </a:r>
            <a:r>
              <a:rPr lang="en-US" altLang="en-US" sz="3800" b="1" dirty="0" smtClean="0"/>
              <a:t>Essential Tricks</a:t>
            </a:r>
            <a:endParaRPr lang="en-US" altLang="en-US" sz="3800" b="1" dirty="0"/>
          </a:p>
        </p:txBody>
      </p:sp>
      <p:sp>
        <p:nvSpPr>
          <p:cNvPr id="77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7606" y="959644"/>
            <a:ext cx="8229600" cy="2043112"/>
          </a:xfrm>
        </p:spPr>
        <p:txBody>
          <a:bodyPr/>
          <a:lstStyle/>
          <a:p>
            <a:r>
              <a:rPr lang="en-US" altLang="en-US" dirty="0" smtClean="0"/>
              <a:t>Two important design decisions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 smtClean="0"/>
              <a:t>Keep </a:t>
            </a:r>
            <a:r>
              <a:rPr lang="en-US" altLang="en-US" dirty="0"/>
              <a:t>frame size (page size) as a power-of-2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dirty="0" smtClean="0"/>
              <a:t>Physical frame size == Logical page size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>
              <a:sym typeface="Wingdings" panose="05000000000000000000" pitchFamily="2" charset="2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352800" y="4433887"/>
            <a:ext cx="1752600" cy="1890713"/>
            <a:chOff x="3352800" y="4433887"/>
            <a:chExt cx="1752600" cy="1890713"/>
          </a:xfrm>
        </p:grpSpPr>
        <p:sp>
          <p:nvSpPr>
            <p:cNvPr id="771084" name="Line 12"/>
            <p:cNvSpPr>
              <a:spLocks noChangeShapeType="1"/>
            </p:cNvSpPr>
            <p:nvPr/>
          </p:nvSpPr>
          <p:spPr bwMode="auto">
            <a:xfrm>
              <a:off x="4191000" y="4433887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1085" name="Text Box 13"/>
            <p:cNvSpPr txBox="1">
              <a:spLocks noChangeArrowheads="1"/>
            </p:cNvSpPr>
            <p:nvPr/>
          </p:nvSpPr>
          <p:spPr bwMode="auto">
            <a:xfrm>
              <a:off x="3429000" y="4573012"/>
              <a:ext cx="1524000" cy="584775"/>
            </a:xfrm>
            <a:prstGeom prst="rect">
              <a:avLst/>
            </a:prstGeom>
            <a:solidFill>
              <a:schemeClr val="bg1">
                <a:alpha val="85001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C00000"/>
                  </a:solidFill>
                </a:rPr>
                <a:t>Translation mechanism</a:t>
              </a:r>
            </a:p>
          </p:txBody>
        </p:sp>
        <p:sp>
          <p:nvSpPr>
            <p:cNvPr id="771086" name="Rectangle 14"/>
            <p:cNvSpPr>
              <a:spLocks noChangeArrowheads="1"/>
            </p:cNvSpPr>
            <p:nvPr/>
          </p:nvSpPr>
          <p:spPr bwMode="auto">
            <a:xfrm>
              <a:off x="3352800" y="5424487"/>
              <a:ext cx="1752600" cy="5334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i="1"/>
                <a:t>f</a:t>
              </a:r>
            </a:p>
          </p:txBody>
        </p:sp>
        <p:sp>
          <p:nvSpPr>
            <p:cNvPr id="771088" name="Text Box 16"/>
            <p:cNvSpPr txBox="1">
              <a:spLocks noChangeArrowheads="1"/>
            </p:cNvSpPr>
            <p:nvPr/>
          </p:nvSpPr>
          <p:spPr bwMode="auto">
            <a:xfrm>
              <a:off x="3352800" y="59578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Frame Number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517469" y="3138487"/>
            <a:ext cx="5492931" cy="1281113"/>
            <a:chOff x="1517469" y="3138487"/>
            <a:chExt cx="5492931" cy="1281113"/>
          </a:xfrm>
        </p:grpSpPr>
        <p:sp>
          <p:nvSpPr>
            <p:cNvPr id="771076" name="Rectangle 4"/>
            <p:cNvSpPr>
              <a:spLocks noChangeArrowheads="1"/>
            </p:cNvSpPr>
            <p:nvPr/>
          </p:nvSpPr>
          <p:spPr bwMode="auto">
            <a:xfrm>
              <a:off x="3352800" y="3519487"/>
              <a:ext cx="1752600" cy="533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i="1" dirty="0"/>
                <a:t>p</a:t>
              </a:r>
            </a:p>
          </p:txBody>
        </p:sp>
        <p:sp>
          <p:nvSpPr>
            <p:cNvPr id="771077" name="Rectangle 5"/>
            <p:cNvSpPr>
              <a:spLocks noChangeArrowheads="1"/>
            </p:cNvSpPr>
            <p:nvPr/>
          </p:nvSpPr>
          <p:spPr bwMode="auto">
            <a:xfrm>
              <a:off x="5105400" y="3519487"/>
              <a:ext cx="1905000" cy="5334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i="1"/>
                <a:t>d</a:t>
              </a:r>
            </a:p>
          </p:txBody>
        </p:sp>
        <p:sp>
          <p:nvSpPr>
            <p:cNvPr id="771078" name="Text Box 6"/>
            <p:cNvSpPr txBox="1">
              <a:spLocks noChangeArrowheads="1"/>
            </p:cNvSpPr>
            <p:nvPr/>
          </p:nvSpPr>
          <p:spPr bwMode="auto">
            <a:xfrm>
              <a:off x="3352800" y="31384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Page Number</a:t>
              </a:r>
            </a:p>
          </p:txBody>
        </p:sp>
        <p:sp>
          <p:nvSpPr>
            <p:cNvPr id="771079" name="Text Box 7"/>
            <p:cNvSpPr txBox="1">
              <a:spLocks noChangeArrowheads="1"/>
            </p:cNvSpPr>
            <p:nvPr/>
          </p:nvSpPr>
          <p:spPr bwMode="auto">
            <a:xfrm>
              <a:off x="5181600" y="31384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Offset</a:t>
              </a:r>
            </a:p>
          </p:txBody>
        </p:sp>
        <p:sp>
          <p:nvSpPr>
            <p:cNvPr id="771081" name="Text Box 9"/>
            <p:cNvSpPr txBox="1">
              <a:spLocks noChangeArrowheads="1"/>
            </p:cNvSpPr>
            <p:nvPr/>
          </p:nvSpPr>
          <p:spPr bwMode="auto">
            <a:xfrm>
              <a:off x="5181600" y="40528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n bits</a:t>
              </a:r>
            </a:p>
          </p:txBody>
        </p:sp>
        <p:sp>
          <p:nvSpPr>
            <p:cNvPr id="771082" name="Text Box 10"/>
            <p:cNvSpPr txBox="1">
              <a:spLocks noChangeArrowheads="1"/>
            </p:cNvSpPr>
            <p:nvPr/>
          </p:nvSpPr>
          <p:spPr bwMode="auto">
            <a:xfrm>
              <a:off x="3352800" y="40528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(m – n) bits</a:t>
              </a:r>
            </a:p>
          </p:txBody>
        </p:sp>
        <p:sp>
          <p:nvSpPr>
            <p:cNvPr id="771090" name="Text Box 18"/>
            <p:cNvSpPr txBox="1">
              <a:spLocks noChangeArrowheads="1"/>
            </p:cNvSpPr>
            <p:nvPr/>
          </p:nvSpPr>
          <p:spPr bwMode="auto">
            <a:xfrm>
              <a:off x="1517469" y="3457971"/>
              <a:ext cx="1752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003300"/>
                  </a:solidFill>
                </a:rPr>
                <a:t>Logical Address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524000" y="4433887"/>
            <a:ext cx="5486400" cy="1890713"/>
            <a:chOff x="1524000" y="4433887"/>
            <a:chExt cx="5486400" cy="1890713"/>
          </a:xfrm>
        </p:grpSpPr>
        <p:sp>
          <p:nvSpPr>
            <p:cNvPr id="771083" name="Line 11"/>
            <p:cNvSpPr>
              <a:spLocks noChangeShapeType="1"/>
            </p:cNvSpPr>
            <p:nvPr/>
          </p:nvSpPr>
          <p:spPr bwMode="auto">
            <a:xfrm>
              <a:off x="6096000" y="4433887"/>
              <a:ext cx="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1087" name="Rectangle 15"/>
            <p:cNvSpPr>
              <a:spLocks noChangeArrowheads="1"/>
            </p:cNvSpPr>
            <p:nvPr/>
          </p:nvSpPr>
          <p:spPr bwMode="auto">
            <a:xfrm>
              <a:off x="5105400" y="5424487"/>
              <a:ext cx="1905000" cy="533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b="1" i="1" dirty="0"/>
                <a:t>d</a:t>
              </a:r>
            </a:p>
          </p:txBody>
        </p:sp>
        <p:sp>
          <p:nvSpPr>
            <p:cNvPr id="771089" name="Text Box 17"/>
            <p:cNvSpPr txBox="1">
              <a:spLocks noChangeArrowheads="1"/>
            </p:cNvSpPr>
            <p:nvPr/>
          </p:nvSpPr>
          <p:spPr bwMode="auto">
            <a:xfrm>
              <a:off x="5181600" y="5957887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Offset</a:t>
              </a:r>
            </a:p>
          </p:txBody>
        </p:sp>
        <p:sp>
          <p:nvSpPr>
            <p:cNvPr id="771091" name="Text Box 19"/>
            <p:cNvSpPr txBox="1">
              <a:spLocks noChangeArrowheads="1"/>
            </p:cNvSpPr>
            <p:nvPr/>
          </p:nvSpPr>
          <p:spPr bwMode="auto">
            <a:xfrm>
              <a:off x="1524000" y="5348287"/>
              <a:ext cx="17526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>
                  <a:solidFill>
                    <a:srgbClr val="660066"/>
                  </a:solidFill>
                </a:rPr>
                <a:t>Physical Address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483606" y="2567121"/>
            <a:ext cx="7942217" cy="5123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altLang="en-US" kern="0" dirty="0" smtClean="0">
                <a:sym typeface="Wingdings" panose="05000000000000000000" pitchFamily="2" charset="2"/>
              </a:rPr>
              <a:t>PA   = </a:t>
            </a:r>
            <a:r>
              <a:rPr lang="en-US" altLang="en-US" b="1" kern="0" dirty="0" smtClean="0">
                <a:sym typeface="Wingdings" panose="05000000000000000000" pitchFamily="2" charset="2"/>
              </a:rPr>
              <a:t>F x size of physical frame + Offset</a:t>
            </a:r>
            <a:endParaRPr lang="en-US" altLang="en-US" b="1" kern="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1056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Logical Address Translation: Formula</a:t>
            </a:r>
          </a:p>
        </p:txBody>
      </p:sp>
      <p:sp>
        <p:nvSpPr>
          <p:cNvPr id="77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Given:</a:t>
            </a:r>
          </a:p>
          <a:p>
            <a:pPr lvl="1"/>
            <a:r>
              <a:rPr lang="en-US" altLang="en-US" dirty="0"/>
              <a:t>Page/Frame size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b="1" baseline="30000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m</a:t>
            </a:r>
            <a:r>
              <a:rPr lang="en-US" altLang="en-US" dirty="0"/>
              <a:t> bits of logical address</a:t>
            </a:r>
          </a:p>
          <a:p>
            <a:r>
              <a:rPr lang="en-US" altLang="en-US" dirty="0"/>
              <a:t>Logical Address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p</a:t>
            </a:r>
            <a:r>
              <a:rPr lang="en-US" altLang="en-US" dirty="0"/>
              <a:t> = Most significant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m-n</a:t>
            </a:r>
            <a:r>
              <a:rPr lang="en-US" altLang="en-US" dirty="0"/>
              <a:t> bits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d</a:t>
            </a:r>
            <a:r>
              <a:rPr lang="en-US" altLang="en-US" dirty="0"/>
              <a:t> = Remaining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dirty="0"/>
              <a:t> bits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LA</a:t>
            </a:r>
          </a:p>
          <a:p>
            <a:r>
              <a:rPr lang="en-US" altLang="en-US" dirty="0"/>
              <a:t>Use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p</a:t>
            </a:r>
            <a:r>
              <a:rPr lang="en-US" altLang="en-US" dirty="0"/>
              <a:t> to find frame number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f</a:t>
            </a:r>
          </a:p>
          <a:p>
            <a:pPr lvl="1"/>
            <a:r>
              <a:rPr lang="en-US" altLang="en-US" dirty="0"/>
              <a:t>from mapping mechanism like page table</a:t>
            </a:r>
          </a:p>
          <a:p>
            <a:r>
              <a:rPr lang="en-US" altLang="en-US" dirty="0"/>
              <a:t>Physical Address </a:t>
            </a:r>
            <a:r>
              <a:rPr lang="en-US" altLang="en-US" sz="2600" b="1" dirty="0">
                <a:solidFill>
                  <a:srgbClr val="0033CC"/>
                </a:solidFill>
                <a:latin typeface="Courier New" panose="02070309020205020404" pitchFamily="49" charset="0"/>
              </a:rPr>
              <a:t>PA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PA = f*2</a:t>
            </a:r>
            <a:r>
              <a:rPr lang="en-US" altLang="en-US" b="1" baseline="30000" dirty="0">
                <a:solidFill>
                  <a:srgbClr val="0033CC"/>
                </a:solidFill>
                <a:latin typeface="Courier New" panose="02070309020205020404" pitchFamily="49" charset="0"/>
              </a:rPr>
              <a:t>n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 + </a:t>
            </a:r>
            <a:r>
              <a:rPr lang="en-US" altLang="en-US" b="1" dirty="0" smtClean="0">
                <a:solidFill>
                  <a:srgbClr val="0033CC"/>
                </a:solidFill>
                <a:latin typeface="Courier New" panose="02070309020205020404" pitchFamily="49" charset="0"/>
              </a:rPr>
              <a:t>d </a:t>
            </a: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437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 smtClean="0"/>
              <a:t>Example: 4 Logical Pages, 8 Physical Frames</a:t>
            </a:r>
            <a:endParaRPr lang="en-US" altLang="en-US" sz="3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grpSp>
        <p:nvGrpSpPr>
          <p:cNvPr id="772100" name="Group 4"/>
          <p:cNvGrpSpPr>
            <a:grpSpLocks/>
          </p:cNvGrpSpPr>
          <p:nvPr/>
        </p:nvGrpSpPr>
        <p:grpSpPr bwMode="auto">
          <a:xfrm>
            <a:off x="1266553" y="1638300"/>
            <a:ext cx="838200" cy="3810000"/>
            <a:chOff x="672" y="672"/>
            <a:chExt cx="720" cy="1536"/>
          </a:xfrm>
        </p:grpSpPr>
        <p:sp>
          <p:nvSpPr>
            <p:cNvPr id="772101" name="Rectangle 5"/>
            <p:cNvSpPr>
              <a:spLocks noChangeArrowheads="1"/>
            </p:cNvSpPr>
            <p:nvPr/>
          </p:nvSpPr>
          <p:spPr bwMode="auto">
            <a:xfrm>
              <a:off x="672" y="1824"/>
              <a:ext cx="720" cy="38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m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n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o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</a:t>
              </a:r>
            </a:p>
          </p:txBody>
        </p:sp>
        <p:sp>
          <p:nvSpPr>
            <p:cNvPr id="772102" name="Rectangle 6"/>
            <p:cNvSpPr>
              <a:spLocks noChangeArrowheads="1"/>
            </p:cNvSpPr>
            <p:nvPr/>
          </p:nvSpPr>
          <p:spPr bwMode="auto">
            <a:xfrm>
              <a:off x="672" y="1440"/>
              <a:ext cx="720" cy="38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err="1" smtClean="0">
                  <a:latin typeface="Courier New" panose="02070309020205020404" pitchFamily="49" charset="0"/>
                </a:rPr>
                <a:t>i</a:t>
              </a:r>
              <a:endParaRPr lang="en-US" altLang="en-US" sz="1600" b="1" dirty="0" smtClean="0">
                <a:latin typeface="Courier New" panose="02070309020205020404" pitchFamily="49" charset="0"/>
              </a:endParaRP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j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k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l</a:t>
              </a:r>
            </a:p>
          </p:txBody>
        </p:sp>
        <p:sp>
          <p:nvSpPr>
            <p:cNvPr id="772103" name="Rectangle 7"/>
            <p:cNvSpPr>
              <a:spLocks noChangeArrowheads="1"/>
            </p:cNvSpPr>
            <p:nvPr/>
          </p:nvSpPr>
          <p:spPr bwMode="auto">
            <a:xfrm>
              <a:off x="672" y="1056"/>
              <a:ext cx="720" cy="38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</a:t>
              </a:r>
            </a:p>
          </p:txBody>
        </p:sp>
        <p:sp>
          <p:nvSpPr>
            <p:cNvPr id="772104" name="Rectangle 8"/>
            <p:cNvSpPr>
              <a:spLocks noChangeArrowheads="1"/>
            </p:cNvSpPr>
            <p:nvPr/>
          </p:nvSpPr>
          <p:spPr bwMode="auto">
            <a:xfrm>
              <a:off x="672" y="672"/>
              <a:ext cx="720" cy="38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a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b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c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</a:t>
              </a:r>
            </a:p>
          </p:txBody>
        </p:sp>
      </p:grpSp>
      <p:sp>
        <p:nvSpPr>
          <p:cNvPr id="772105" name="Rectangle 9"/>
          <p:cNvSpPr>
            <a:spLocks noChangeArrowheads="1"/>
          </p:cNvSpPr>
          <p:nvPr/>
        </p:nvSpPr>
        <p:spPr bwMode="auto">
          <a:xfrm>
            <a:off x="1008562" y="5520691"/>
            <a:ext cx="1467394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/>
              <a:t>logical memory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180953" y="1638300"/>
            <a:ext cx="1295400" cy="990600"/>
            <a:chOff x="2180953" y="1638300"/>
            <a:chExt cx="1295400" cy="990600"/>
          </a:xfrm>
        </p:grpSpPr>
        <p:sp>
          <p:nvSpPr>
            <p:cNvPr id="772193" name="Rectangle 97"/>
            <p:cNvSpPr>
              <a:spLocks noChangeArrowheads="1"/>
            </p:cNvSpPr>
            <p:nvPr/>
          </p:nvSpPr>
          <p:spPr bwMode="auto">
            <a:xfrm>
              <a:off x="2409553" y="1866900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dirty="0"/>
                <a:t>page size = </a:t>
              </a:r>
              <a:r>
                <a:rPr lang="en-US" altLang="en-US" sz="1600" b="1" dirty="0"/>
                <a:t>4 </a:t>
              </a:r>
              <a:r>
                <a:rPr lang="en-US" altLang="en-US" sz="1600" b="1" dirty="0" smtClean="0"/>
                <a:t>bytes</a:t>
              </a:r>
              <a:endParaRPr lang="en-US" altLang="en-US" sz="1600" b="1" dirty="0"/>
            </a:p>
          </p:txBody>
        </p:sp>
        <p:sp>
          <p:nvSpPr>
            <p:cNvPr id="772194" name="AutoShape 98"/>
            <p:cNvSpPr>
              <a:spLocks/>
            </p:cNvSpPr>
            <p:nvPr/>
          </p:nvSpPr>
          <p:spPr bwMode="auto">
            <a:xfrm flipH="1">
              <a:off x="2180953" y="1638300"/>
              <a:ext cx="152400" cy="990600"/>
            </a:xfrm>
            <a:prstGeom prst="leftBrace">
              <a:avLst>
                <a:gd name="adj1" fmla="val 541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581400" y="3267212"/>
            <a:ext cx="1193800" cy="1809750"/>
            <a:chOff x="3771900" y="3149237"/>
            <a:chExt cx="1193800" cy="1809750"/>
          </a:xfrm>
        </p:grpSpPr>
        <p:sp>
          <p:nvSpPr>
            <p:cNvPr id="772138" name="Rectangle 42"/>
            <p:cNvSpPr>
              <a:spLocks noChangeArrowheads="1"/>
            </p:cNvSpPr>
            <p:nvPr/>
          </p:nvSpPr>
          <p:spPr bwMode="auto">
            <a:xfrm>
              <a:off x="3771900" y="4654187"/>
              <a:ext cx="1193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66" name="Group 29"/>
            <p:cNvGrpSpPr>
              <a:grpSpLocks/>
            </p:cNvGrpSpPr>
            <p:nvPr/>
          </p:nvGrpSpPr>
          <p:grpSpPr bwMode="auto">
            <a:xfrm>
              <a:off x="3771900" y="3149237"/>
              <a:ext cx="1193800" cy="1524000"/>
              <a:chOff x="2112" y="2160"/>
              <a:chExt cx="752" cy="960"/>
            </a:xfrm>
          </p:grpSpPr>
          <p:grpSp>
            <p:nvGrpSpPr>
              <p:cNvPr id="67" name="Group 30"/>
              <p:cNvGrpSpPr>
                <a:grpSpLocks/>
              </p:cNvGrpSpPr>
              <p:nvPr/>
            </p:nvGrpSpPr>
            <p:grpSpPr bwMode="auto">
              <a:xfrm>
                <a:off x="2112" y="2160"/>
                <a:ext cx="752" cy="240"/>
                <a:chOff x="2208" y="3648"/>
                <a:chExt cx="752" cy="240"/>
              </a:xfrm>
            </p:grpSpPr>
            <p:sp>
              <p:nvSpPr>
                <p:cNvPr id="77" name="Rectangle 31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78" name="Rectangle 32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8" name="Group 33"/>
              <p:cNvGrpSpPr>
                <a:grpSpLocks/>
              </p:cNvGrpSpPr>
              <p:nvPr/>
            </p:nvGrpSpPr>
            <p:grpSpPr bwMode="auto">
              <a:xfrm>
                <a:off x="2112" y="2400"/>
                <a:ext cx="752" cy="240"/>
                <a:chOff x="2208" y="3648"/>
                <a:chExt cx="752" cy="240"/>
              </a:xfrm>
            </p:grpSpPr>
            <p:sp>
              <p:nvSpPr>
                <p:cNvPr id="75" name="Rectangle 34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76" name="Rectangle 35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9" name="Group 36"/>
              <p:cNvGrpSpPr>
                <a:grpSpLocks/>
              </p:cNvGrpSpPr>
              <p:nvPr/>
            </p:nvGrpSpPr>
            <p:grpSpPr bwMode="auto">
              <a:xfrm>
                <a:off x="2112" y="2640"/>
                <a:ext cx="752" cy="240"/>
                <a:chOff x="2208" y="3648"/>
                <a:chExt cx="752" cy="240"/>
              </a:xfrm>
            </p:grpSpPr>
            <p:sp>
              <p:nvSpPr>
                <p:cNvPr id="73" name="Rectangle 37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2</a:t>
                  </a:r>
                  <a:endParaRPr lang="en-US" altLang="en-US" sz="1600" dirty="0"/>
                </a:p>
              </p:txBody>
            </p:sp>
            <p:sp>
              <p:nvSpPr>
                <p:cNvPr id="74" name="Rectangle 38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0" name="Group 39"/>
              <p:cNvGrpSpPr>
                <a:grpSpLocks/>
              </p:cNvGrpSpPr>
              <p:nvPr/>
            </p:nvGrpSpPr>
            <p:grpSpPr bwMode="auto">
              <a:xfrm>
                <a:off x="2112" y="2880"/>
                <a:ext cx="752" cy="240"/>
                <a:chOff x="2208" y="3648"/>
                <a:chExt cx="752" cy="240"/>
              </a:xfrm>
            </p:grpSpPr>
            <p:sp>
              <p:nvSpPr>
                <p:cNvPr id="71" name="Rectangle 40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3</a:t>
                  </a:r>
                  <a:endParaRPr lang="en-US" altLang="en-US" sz="1600" dirty="0"/>
                </a:p>
              </p:txBody>
            </p:sp>
            <p:sp>
              <p:nvSpPr>
                <p:cNvPr id="72" name="Rectangle 41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</p:grpSp>
      </p:grpSp>
      <p:grpSp>
        <p:nvGrpSpPr>
          <p:cNvPr id="13" name="Group 12"/>
          <p:cNvGrpSpPr/>
          <p:nvPr/>
        </p:nvGrpSpPr>
        <p:grpSpPr>
          <a:xfrm>
            <a:off x="6455229" y="1143000"/>
            <a:ext cx="1143000" cy="5181600"/>
            <a:chOff x="6455229" y="1143000"/>
            <a:chExt cx="1143000" cy="5181600"/>
          </a:xfrm>
        </p:grpSpPr>
        <p:sp>
          <p:nvSpPr>
            <p:cNvPr id="772107" name="Rectangle 11"/>
            <p:cNvSpPr>
              <a:spLocks noChangeArrowheads="1"/>
            </p:cNvSpPr>
            <p:nvPr/>
          </p:nvSpPr>
          <p:spPr bwMode="auto">
            <a:xfrm>
              <a:off x="6455229" y="3943350"/>
              <a:ext cx="1143000" cy="10096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m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n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o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</a:t>
              </a:r>
            </a:p>
          </p:txBody>
        </p:sp>
        <p:sp>
          <p:nvSpPr>
            <p:cNvPr id="772110" name="Rectangle 14"/>
            <p:cNvSpPr>
              <a:spLocks noChangeArrowheads="1"/>
            </p:cNvSpPr>
            <p:nvPr/>
          </p:nvSpPr>
          <p:spPr bwMode="auto">
            <a:xfrm>
              <a:off x="6455229" y="2057400"/>
              <a:ext cx="114300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a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b</a:t>
              </a:r>
            </a:p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c</a:t>
              </a:r>
            </a:p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772114" name="Rectangle 18"/>
            <p:cNvSpPr>
              <a:spLocks noChangeArrowheads="1"/>
            </p:cNvSpPr>
            <p:nvPr/>
          </p:nvSpPr>
          <p:spPr bwMode="auto">
            <a:xfrm>
              <a:off x="6455229" y="4953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15" name="Rectangle 19"/>
            <p:cNvSpPr>
              <a:spLocks noChangeArrowheads="1"/>
            </p:cNvSpPr>
            <p:nvPr/>
          </p:nvSpPr>
          <p:spPr bwMode="auto">
            <a:xfrm>
              <a:off x="6455229" y="5867400"/>
              <a:ext cx="1143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physical memory</a:t>
              </a:r>
            </a:p>
          </p:txBody>
        </p:sp>
        <p:sp>
          <p:nvSpPr>
            <p:cNvPr id="772154" name="Rectangle 58"/>
            <p:cNvSpPr>
              <a:spLocks noChangeArrowheads="1"/>
            </p:cNvSpPr>
            <p:nvPr/>
          </p:nvSpPr>
          <p:spPr bwMode="auto">
            <a:xfrm>
              <a:off x="6455229" y="5410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5" name="Rectangle 59"/>
            <p:cNvSpPr>
              <a:spLocks noChangeArrowheads="1"/>
            </p:cNvSpPr>
            <p:nvPr/>
          </p:nvSpPr>
          <p:spPr bwMode="auto">
            <a:xfrm>
              <a:off x="6455229" y="3048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6" name="Rectangle 60"/>
            <p:cNvSpPr>
              <a:spLocks noChangeArrowheads="1"/>
            </p:cNvSpPr>
            <p:nvPr/>
          </p:nvSpPr>
          <p:spPr bwMode="auto">
            <a:xfrm>
              <a:off x="6455229" y="3505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7" name="Rectangle 61"/>
            <p:cNvSpPr>
              <a:spLocks noChangeArrowheads="1"/>
            </p:cNvSpPr>
            <p:nvPr/>
          </p:nvSpPr>
          <p:spPr bwMode="auto">
            <a:xfrm>
              <a:off x="6455229" y="11430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772158" name="Rectangle 62"/>
            <p:cNvSpPr>
              <a:spLocks noChangeArrowheads="1"/>
            </p:cNvSpPr>
            <p:nvPr/>
          </p:nvSpPr>
          <p:spPr bwMode="auto">
            <a:xfrm>
              <a:off x="6455229" y="1600200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...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522029" y="1143000"/>
            <a:ext cx="1088571" cy="5143500"/>
            <a:chOff x="7522029" y="1143000"/>
            <a:chExt cx="1088571" cy="5143500"/>
          </a:xfrm>
        </p:grpSpPr>
        <p:sp>
          <p:nvSpPr>
            <p:cNvPr id="772179" name="Rectangle 83"/>
            <p:cNvSpPr>
              <a:spLocks noChangeArrowheads="1"/>
            </p:cNvSpPr>
            <p:nvPr/>
          </p:nvSpPr>
          <p:spPr bwMode="auto">
            <a:xfrm>
              <a:off x="7620000" y="5418297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111</a:t>
              </a:r>
              <a:r>
                <a:rPr lang="en-US" altLang="en-US" sz="1400" b="1" dirty="0" smtClean="0">
                  <a:latin typeface="Courier New" panose="02070309020205020404" pitchFamily="49" charset="0"/>
                </a:rPr>
                <a:t>00</a:t>
              </a:r>
              <a:endParaRPr lang="en-US" altLang="en-US" sz="14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2180" name="Rectangle 84"/>
            <p:cNvSpPr>
              <a:spLocks noChangeArrowheads="1"/>
            </p:cNvSpPr>
            <p:nvPr/>
          </p:nvSpPr>
          <p:spPr bwMode="auto">
            <a:xfrm>
              <a:off x="7620000" y="4984436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110</a:t>
              </a:r>
              <a:r>
                <a:rPr lang="en-US" altLang="en-US" sz="1400" b="1" dirty="0" smtClean="0">
                  <a:latin typeface="Courier New" panose="02070309020205020404" pitchFamily="49" charset="0"/>
                </a:rPr>
                <a:t>00</a:t>
              </a:r>
              <a:endParaRPr lang="en-US" altLang="en-US" sz="14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2181" name="Rectangle 85"/>
            <p:cNvSpPr>
              <a:spLocks noChangeArrowheads="1"/>
            </p:cNvSpPr>
            <p:nvPr/>
          </p:nvSpPr>
          <p:spPr bwMode="auto">
            <a:xfrm>
              <a:off x="7598229" y="4038600"/>
              <a:ext cx="990600" cy="838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00</a:t>
              </a:r>
            </a:p>
            <a:p>
              <a:r>
                <a:rPr lang="en-US" altLang="en-US" sz="16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01</a:t>
              </a:r>
            </a:p>
            <a:p>
              <a:r>
                <a:rPr lang="en-US" altLang="en-US" sz="16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10</a:t>
              </a:r>
            </a:p>
            <a:p>
              <a:r>
                <a:rPr lang="en-US" altLang="en-US" sz="16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101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2182" name="Rectangle 86"/>
            <p:cNvSpPr>
              <a:spLocks noChangeArrowheads="1"/>
            </p:cNvSpPr>
            <p:nvPr/>
          </p:nvSpPr>
          <p:spPr bwMode="auto">
            <a:xfrm>
              <a:off x="7620000" y="3449683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100</a:t>
              </a:r>
              <a:r>
                <a:rPr lang="en-US" altLang="en-US" sz="1400" b="1" dirty="0" smtClean="0">
                  <a:latin typeface="Courier New" panose="02070309020205020404" pitchFamily="49" charset="0"/>
                </a:rPr>
                <a:t>00</a:t>
              </a:r>
              <a:endParaRPr lang="en-US" altLang="en-US" sz="14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2183" name="Rectangle 87"/>
            <p:cNvSpPr>
              <a:spLocks noChangeArrowheads="1"/>
            </p:cNvSpPr>
            <p:nvPr/>
          </p:nvSpPr>
          <p:spPr bwMode="auto">
            <a:xfrm>
              <a:off x="7620000" y="3071946"/>
              <a:ext cx="990600" cy="15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011</a:t>
              </a:r>
              <a:r>
                <a:rPr lang="en-US" altLang="en-US" sz="1400" b="1" dirty="0" smtClean="0">
                  <a:latin typeface="Courier New" panose="02070309020205020404" pitchFamily="49" charset="0"/>
                </a:rPr>
                <a:t>00</a:t>
              </a:r>
              <a:endParaRPr lang="en-US" altLang="en-US" sz="14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2185" name="Rectangle 89"/>
            <p:cNvSpPr>
              <a:spLocks noChangeArrowheads="1"/>
            </p:cNvSpPr>
            <p:nvPr/>
          </p:nvSpPr>
          <p:spPr bwMode="auto">
            <a:xfrm>
              <a:off x="7620000" y="158115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001</a:t>
              </a:r>
              <a:r>
                <a:rPr lang="en-US" altLang="en-US" sz="1400" b="1" dirty="0" smtClean="0">
                  <a:latin typeface="Courier New" panose="02070309020205020404" pitchFamily="49" charset="0"/>
                </a:rPr>
                <a:t>00</a:t>
              </a:r>
              <a:endParaRPr lang="en-US" altLang="en-US" sz="14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2186" name="Rectangle 90"/>
            <p:cNvSpPr>
              <a:spLocks noChangeArrowheads="1"/>
            </p:cNvSpPr>
            <p:nvPr/>
          </p:nvSpPr>
          <p:spPr bwMode="auto">
            <a:xfrm>
              <a:off x="7620000" y="1143000"/>
              <a:ext cx="990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4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000</a:t>
              </a:r>
              <a:r>
                <a:rPr lang="en-US" altLang="en-US" sz="1400" b="1" dirty="0" smtClean="0">
                  <a:latin typeface="Courier New" panose="02070309020205020404" pitchFamily="49" charset="0"/>
                </a:rPr>
                <a:t>00</a:t>
              </a:r>
              <a:endParaRPr lang="en-US" altLang="en-US" sz="14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2187" name="Rectangle 91"/>
            <p:cNvSpPr>
              <a:spLocks noChangeArrowheads="1"/>
            </p:cNvSpPr>
            <p:nvPr/>
          </p:nvSpPr>
          <p:spPr bwMode="auto">
            <a:xfrm>
              <a:off x="7598229" y="2133600"/>
              <a:ext cx="990600" cy="838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00</a:t>
              </a:r>
            </a:p>
            <a:p>
              <a:r>
                <a:rPr lang="en-US" altLang="en-US" sz="16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01</a:t>
              </a:r>
            </a:p>
            <a:p>
              <a:r>
                <a:rPr lang="en-US" altLang="en-US" sz="16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10</a:t>
              </a:r>
            </a:p>
            <a:p>
              <a:r>
                <a:rPr lang="en-US" altLang="en-US" sz="1600" b="1" dirty="0" smtClean="0">
                  <a:solidFill>
                    <a:srgbClr val="C00000"/>
                  </a:solidFill>
                  <a:latin typeface="Courier New" panose="02070309020205020404" pitchFamily="49" charset="0"/>
                </a:rPr>
                <a:t>010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2189" name="Rectangle 93"/>
            <p:cNvSpPr>
              <a:spLocks noChangeArrowheads="1"/>
            </p:cNvSpPr>
            <p:nvPr/>
          </p:nvSpPr>
          <p:spPr bwMode="auto">
            <a:xfrm>
              <a:off x="7522029" y="5905500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dirty="0"/>
                <a:t>physical address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7522029" y="1600200"/>
              <a:ext cx="914400" cy="3810000"/>
              <a:chOff x="7315200" y="1600200"/>
              <a:chExt cx="1447800" cy="3810000"/>
            </a:xfrm>
          </p:grpSpPr>
          <p:cxnSp>
            <p:nvCxnSpPr>
              <p:cNvPr id="7" name="Straight Connector 6"/>
              <p:cNvCxnSpPr/>
              <p:nvPr/>
            </p:nvCxnSpPr>
            <p:spPr>
              <a:xfrm>
                <a:off x="7315200" y="1600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7315200" y="20574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7315200" y="30480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7315200" y="3505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>
                <a:off x="7315200" y="39624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>
                <a:off x="7315200" y="49530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>
                <a:off x="7315200" y="5410200"/>
                <a:ext cx="1447800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Group 10"/>
          <p:cNvGrpSpPr/>
          <p:nvPr/>
        </p:nvGrpSpPr>
        <p:grpSpPr>
          <a:xfrm>
            <a:off x="294459" y="1066800"/>
            <a:ext cx="1600200" cy="4834891"/>
            <a:chOff x="294459" y="1066800"/>
            <a:chExt cx="1600200" cy="4834891"/>
          </a:xfrm>
        </p:grpSpPr>
        <p:sp>
          <p:nvSpPr>
            <p:cNvPr id="772188" name="Rectangle 92"/>
            <p:cNvSpPr>
              <a:spLocks noChangeArrowheads="1"/>
            </p:cNvSpPr>
            <p:nvPr/>
          </p:nvSpPr>
          <p:spPr bwMode="auto">
            <a:xfrm>
              <a:off x="352154" y="5520691"/>
              <a:ext cx="10668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dirty="0"/>
                <a:t>logical address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294459" y="1066800"/>
              <a:ext cx="1600200" cy="4381500"/>
              <a:chOff x="294459" y="1066800"/>
              <a:chExt cx="1600200" cy="4381500"/>
            </a:xfrm>
          </p:grpSpPr>
          <p:sp>
            <p:nvSpPr>
              <p:cNvPr id="772148" name="Rectangle 52"/>
              <p:cNvSpPr>
                <a:spLocks noChangeArrowheads="1"/>
              </p:cNvSpPr>
              <p:nvPr/>
            </p:nvSpPr>
            <p:spPr bwMode="auto">
              <a:xfrm>
                <a:off x="428353" y="4495800"/>
                <a:ext cx="8382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11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11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11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11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72149" name="Rectangle 53"/>
              <p:cNvSpPr>
                <a:spLocks noChangeArrowheads="1"/>
              </p:cNvSpPr>
              <p:nvPr/>
            </p:nvSpPr>
            <p:spPr bwMode="auto">
              <a:xfrm>
                <a:off x="428353" y="3543300"/>
                <a:ext cx="8382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10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10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10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10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72150" name="Rectangle 54"/>
              <p:cNvSpPr>
                <a:spLocks noChangeArrowheads="1"/>
              </p:cNvSpPr>
              <p:nvPr/>
            </p:nvSpPr>
            <p:spPr bwMode="auto">
              <a:xfrm>
                <a:off x="428353" y="2590800"/>
                <a:ext cx="8382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  <a:p>
                <a:pPr algn="r"/>
                <a:r>
                  <a:rPr lang="en-US" altLang="en-US" sz="1600" b="1">
                    <a:latin typeface="Courier New" panose="02070309020205020404" pitchFamily="49" charset="0"/>
                  </a:rPr>
                  <a:t>.</a:t>
                </a:r>
              </a:p>
            </p:txBody>
          </p:sp>
          <p:sp>
            <p:nvSpPr>
              <p:cNvPr id="772151" name="Rectangle 55"/>
              <p:cNvSpPr>
                <a:spLocks noChangeArrowheads="1"/>
              </p:cNvSpPr>
              <p:nvPr/>
            </p:nvSpPr>
            <p:spPr bwMode="auto">
              <a:xfrm>
                <a:off x="428353" y="1638300"/>
                <a:ext cx="838200" cy="9525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00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00</a:t>
                </a: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00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00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  <a:p>
                <a:pPr algn="r"/>
                <a:r>
                  <a:rPr lang="en-US" altLang="en-US" sz="1600" b="1" dirty="0" smtClean="0">
                    <a:solidFill>
                      <a:srgbClr val="C00000"/>
                    </a:solidFill>
                    <a:latin typeface="Courier New" panose="02070309020205020404" pitchFamily="49" charset="0"/>
                  </a:rPr>
                  <a:t>00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772192" name="AutoShape 96"/>
              <p:cNvSpPr>
                <a:spLocks/>
              </p:cNvSpPr>
              <p:nvPr/>
            </p:nvSpPr>
            <p:spPr bwMode="auto">
              <a:xfrm rot="16200000">
                <a:off x="904059" y="1295400"/>
                <a:ext cx="76200" cy="381000"/>
              </a:xfrm>
              <a:prstGeom prst="rightBrace">
                <a:avLst>
                  <a:gd name="adj1" fmla="val 416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2195" name="Rectangle 99"/>
              <p:cNvSpPr>
                <a:spLocks noChangeArrowheads="1"/>
              </p:cNvSpPr>
              <p:nvPr/>
            </p:nvSpPr>
            <p:spPr bwMode="auto">
              <a:xfrm>
                <a:off x="294459" y="1066800"/>
                <a:ext cx="1600200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dirty="0"/>
                  <a:t>m = </a:t>
                </a:r>
                <a:r>
                  <a:rPr lang="en-US" altLang="en-US" sz="1600" b="1" dirty="0"/>
                  <a:t>4 bits</a:t>
                </a:r>
              </a:p>
            </p:txBody>
          </p:sp>
        </p:grpSp>
        <p:cxnSp>
          <p:nvCxnSpPr>
            <p:cNvPr id="91" name="Straight Connector 90"/>
            <p:cNvCxnSpPr/>
            <p:nvPr/>
          </p:nvCxnSpPr>
          <p:spPr>
            <a:xfrm>
              <a:off x="609600" y="25908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/>
          </p:nvCxnSpPr>
          <p:spPr>
            <a:xfrm>
              <a:off x="570415" y="3540036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/>
          </p:nvCxnSpPr>
          <p:spPr>
            <a:xfrm>
              <a:off x="609600" y="4495800"/>
              <a:ext cx="9144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3579222" y="3267212"/>
            <a:ext cx="1193800" cy="1809750"/>
            <a:chOff x="3771900" y="3149237"/>
            <a:chExt cx="1193800" cy="1809750"/>
          </a:xfrm>
        </p:grpSpPr>
        <p:sp>
          <p:nvSpPr>
            <p:cNvPr id="80" name="Rectangle 42"/>
            <p:cNvSpPr>
              <a:spLocks noChangeArrowheads="1"/>
            </p:cNvSpPr>
            <p:nvPr/>
          </p:nvSpPr>
          <p:spPr bwMode="auto">
            <a:xfrm>
              <a:off x="3771900" y="4654187"/>
              <a:ext cx="11938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/>
                <a:t>page table</a:t>
              </a:r>
            </a:p>
          </p:txBody>
        </p:sp>
        <p:grpSp>
          <p:nvGrpSpPr>
            <p:cNvPr id="81" name="Group 29"/>
            <p:cNvGrpSpPr>
              <a:grpSpLocks/>
            </p:cNvGrpSpPr>
            <p:nvPr/>
          </p:nvGrpSpPr>
          <p:grpSpPr bwMode="auto">
            <a:xfrm>
              <a:off x="3771900" y="3149237"/>
              <a:ext cx="1193800" cy="1524000"/>
              <a:chOff x="2112" y="2160"/>
              <a:chExt cx="752" cy="960"/>
            </a:xfrm>
          </p:grpSpPr>
          <p:grpSp>
            <p:nvGrpSpPr>
              <p:cNvPr id="82" name="Group 30"/>
              <p:cNvGrpSpPr>
                <a:grpSpLocks/>
              </p:cNvGrpSpPr>
              <p:nvPr/>
            </p:nvGrpSpPr>
            <p:grpSpPr bwMode="auto">
              <a:xfrm>
                <a:off x="2112" y="2160"/>
                <a:ext cx="752" cy="240"/>
                <a:chOff x="2208" y="3648"/>
                <a:chExt cx="752" cy="240"/>
              </a:xfrm>
            </p:grpSpPr>
            <p:sp>
              <p:nvSpPr>
                <p:cNvPr id="101" name="Rectangle 31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00</a:t>
                  </a:r>
                  <a:endParaRPr lang="en-US" altLang="en-US" sz="1600" dirty="0"/>
                </a:p>
              </p:txBody>
            </p:sp>
            <p:sp>
              <p:nvSpPr>
                <p:cNvPr id="102" name="Rectangle 32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 smtClean="0">
                      <a:latin typeface="Courier New" panose="02070309020205020404" pitchFamily="49" charset="0"/>
                    </a:rPr>
                    <a:t>010</a:t>
                  </a:r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89" name="Group 33"/>
              <p:cNvGrpSpPr>
                <a:grpSpLocks/>
              </p:cNvGrpSpPr>
              <p:nvPr/>
            </p:nvGrpSpPr>
            <p:grpSpPr bwMode="auto">
              <a:xfrm>
                <a:off x="2112" y="2400"/>
                <a:ext cx="752" cy="240"/>
                <a:chOff x="2208" y="3648"/>
                <a:chExt cx="752" cy="240"/>
              </a:xfrm>
            </p:grpSpPr>
            <p:sp>
              <p:nvSpPr>
                <p:cNvPr id="99" name="Rectangle 34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01</a:t>
                  </a:r>
                  <a:endParaRPr lang="en-US" altLang="en-US" sz="1600" dirty="0"/>
                </a:p>
              </p:txBody>
            </p:sp>
            <p:sp>
              <p:nvSpPr>
                <p:cNvPr id="100" name="Rectangle 35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 smtClean="0">
                      <a:latin typeface="Courier New" panose="02070309020205020404" pitchFamily="49" charset="0"/>
                    </a:rPr>
                    <a:t>111</a:t>
                  </a:r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90" name="Group 36"/>
              <p:cNvGrpSpPr>
                <a:grpSpLocks/>
              </p:cNvGrpSpPr>
              <p:nvPr/>
            </p:nvGrpSpPr>
            <p:grpSpPr bwMode="auto">
              <a:xfrm>
                <a:off x="2112" y="2640"/>
                <a:ext cx="752" cy="240"/>
                <a:chOff x="2208" y="3648"/>
                <a:chExt cx="752" cy="240"/>
              </a:xfrm>
            </p:grpSpPr>
            <p:sp>
              <p:nvSpPr>
                <p:cNvPr id="97" name="Rectangle 37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10</a:t>
                  </a:r>
                  <a:endParaRPr lang="en-US" altLang="en-US" sz="1600" dirty="0"/>
                </a:p>
              </p:txBody>
            </p:sp>
            <p:sp>
              <p:nvSpPr>
                <p:cNvPr id="98" name="Rectangle 38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 smtClean="0">
                      <a:latin typeface="Courier New" panose="02070309020205020404" pitchFamily="49" charset="0"/>
                    </a:rPr>
                    <a:t>001</a:t>
                  </a:r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94" name="Group 39"/>
              <p:cNvGrpSpPr>
                <a:grpSpLocks/>
              </p:cNvGrpSpPr>
              <p:nvPr/>
            </p:nvGrpSpPr>
            <p:grpSpPr bwMode="auto">
              <a:xfrm>
                <a:off x="2112" y="2880"/>
                <a:ext cx="752" cy="240"/>
                <a:chOff x="2208" y="3648"/>
                <a:chExt cx="752" cy="240"/>
              </a:xfrm>
            </p:grpSpPr>
            <p:sp>
              <p:nvSpPr>
                <p:cNvPr id="95" name="Rectangle 40"/>
                <p:cNvSpPr>
                  <a:spLocks noChangeArrowheads="1"/>
                </p:cNvSpPr>
                <p:nvPr/>
              </p:nvSpPr>
              <p:spPr bwMode="auto">
                <a:xfrm>
                  <a:off x="2208" y="3648"/>
                  <a:ext cx="288" cy="2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11</a:t>
                  </a:r>
                  <a:endParaRPr lang="en-US" altLang="en-US" sz="1600" dirty="0"/>
                </a:p>
              </p:txBody>
            </p:sp>
            <p:sp>
              <p:nvSpPr>
                <p:cNvPr id="96" name="Rectangle 41"/>
                <p:cNvSpPr>
                  <a:spLocks noChangeArrowheads="1"/>
                </p:cNvSpPr>
                <p:nvPr/>
              </p:nvSpPr>
              <p:spPr bwMode="auto">
                <a:xfrm>
                  <a:off x="2496" y="3648"/>
                  <a:ext cx="464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i="1" dirty="0" smtClean="0">
                      <a:latin typeface="Courier New" panose="02070309020205020404" pitchFamily="49" charset="0"/>
                    </a:rPr>
                    <a:t>101</a:t>
                  </a:r>
                  <a:endParaRPr lang="en-US" altLang="en-US" sz="1600" b="1" i="1" dirty="0">
                    <a:latin typeface="Courier New" panose="02070309020205020404" pitchFamily="49" charset="0"/>
                  </a:endParaRPr>
                </a:p>
              </p:txBody>
            </p:sp>
          </p:grpSp>
        </p:grpSp>
      </p:grpSp>
      <p:sp>
        <p:nvSpPr>
          <p:cNvPr id="103" name="Isosceles Triangle 102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211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Paging: Observations</a:t>
            </a:r>
          </a:p>
        </p:txBody>
      </p:sp>
      <p:sp>
        <p:nvSpPr>
          <p:cNvPr id="77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E</a:t>
            </a:r>
            <a:r>
              <a:rPr lang="en-US" altLang="en-US" b="1" dirty="0" smtClean="0">
                <a:solidFill>
                  <a:srgbClr val="C00000"/>
                </a:solidFill>
              </a:rPr>
              <a:t>xternal fragmentation?</a:t>
            </a:r>
            <a:endParaRPr lang="en-US" altLang="en-US" b="1" dirty="0">
              <a:solidFill>
                <a:srgbClr val="C00000"/>
              </a:solidFill>
            </a:endParaRPr>
          </a:p>
          <a:p>
            <a:pPr marL="344487" lvl="1" indent="0">
              <a:buNone/>
            </a:pPr>
            <a:endParaRPr lang="en-US" altLang="en-US" dirty="0" smtClean="0"/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b="1" dirty="0" smtClean="0">
                <a:solidFill>
                  <a:srgbClr val="660066"/>
                </a:solidFill>
              </a:rPr>
              <a:t>Internal fragmentation?</a:t>
            </a:r>
            <a:endParaRPr lang="en-US" altLang="en-US" b="1" dirty="0">
              <a:solidFill>
                <a:srgbClr val="660066"/>
              </a:solidFill>
            </a:endParaRPr>
          </a:p>
          <a:p>
            <a:endParaRPr lang="en-US" altLang="en-US" dirty="0" smtClean="0"/>
          </a:p>
          <a:p>
            <a:endParaRPr lang="en-US" altLang="en-US" dirty="0" smtClean="0"/>
          </a:p>
          <a:p>
            <a:r>
              <a:rPr lang="en-US" altLang="en-US" dirty="0" smtClean="0"/>
              <a:t>Clear </a:t>
            </a:r>
            <a:r>
              <a:rPr lang="en-US" altLang="en-US" dirty="0"/>
              <a:t>separation of </a:t>
            </a:r>
            <a:r>
              <a:rPr lang="en-US" altLang="en-US" b="1" dirty="0">
                <a:solidFill>
                  <a:srgbClr val="C00000"/>
                </a:solidFill>
              </a:rPr>
              <a:t>logical</a:t>
            </a:r>
            <a:r>
              <a:rPr lang="en-US" altLang="en-US" dirty="0"/>
              <a:t> and </a:t>
            </a:r>
            <a:r>
              <a:rPr lang="en-US" altLang="en-US" b="1" dirty="0">
                <a:solidFill>
                  <a:srgbClr val="006600"/>
                </a:solidFill>
              </a:rPr>
              <a:t>physical</a:t>
            </a:r>
            <a:r>
              <a:rPr lang="en-US" altLang="en-US" dirty="0">
                <a:solidFill>
                  <a:srgbClr val="006600"/>
                </a:solidFill>
              </a:rPr>
              <a:t> </a:t>
            </a:r>
            <a:r>
              <a:rPr lang="en-US" altLang="en-US" dirty="0"/>
              <a:t>address space</a:t>
            </a:r>
          </a:p>
          <a:p>
            <a:pPr lvl="1"/>
            <a:r>
              <a:rPr lang="en-US" altLang="en-US" dirty="0"/>
              <a:t>Allow great flexibility</a:t>
            </a:r>
          </a:p>
          <a:p>
            <a:pPr lvl="1"/>
            <a:r>
              <a:rPr lang="en-US" altLang="en-US" dirty="0"/>
              <a:t>Simple address translation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59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Implementing</a:t>
            </a:r>
            <a:r>
              <a:rPr lang="en-US" altLang="en-US" sz="3800" b="1" dirty="0"/>
              <a:t> </a:t>
            </a:r>
            <a:r>
              <a:rPr lang="en-US" altLang="en-US" sz="38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Paging Scheme</a:t>
            </a:r>
          </a:p>
        </p:txBody>
      </p:sp>
      <p:sp>
        <p:nvSpPr>
          <p:cNvPr id="77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8220"/>
            <a:ext cx="8229600" cy="5410200"/>
          </a:xfrm>
        </p:spPr>
        <p:txBody>
          <a:bodyPr/>
          <a:lstStyle/>
          <a:p>
            <a:r>
              <a:rPr lang="en-US" altLang="en-US" dirty="0"/>
              <a:t>Common </a:t>
            </a:r>
            <a:r>
              <a:rPr lang="en-US" altLang="en-US" b="1" i="1" dirty="0"/>
              <a:t>pure-software</a:t>
            </a:r>
            <a:r>
              <a:rPr lang="en-US" altLang="en-US" dirty="0"/>
              <a:t> solution:</a:t>
            </a:r>
          </a:p>
          <a:p>
            <a:pPr lvl="1"/>
            <a:r>
              <a:rPr lang="en-US" altLang="en-US" dirty="0"/>
              <a:t>OS stores page table information </a:t>
            </a:r>
            <a:r>
              <a:rPr lang="en-US" altLang="en-US" b="1" dirty="0" smtClean="0"/>
              <a:t>in PCB</a:t>
            </a:r>
            <a:endParaRPr lang="en-US" altLang="en-US" b="1" dirty="0" smtClean="0"/>
          </a:p>
          <a:p>
            <a:pPr lvl="1"/>
            <a:r>
              <a:rPr lang="en-US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Improved understanding</a:t>
            </a:r>
            <a:r>
              <a:rPr lang="en-US" altLang="en-US" b="1" dirty="0" smtClean="0">
                <a:solidFill>
                  <a:srgbClr val="C00000"/>
                </a:solidFill>
              </a:rPr>
              <a:t>: </a:t>
            </a:r>
            <a:r>
              <a:rPr lang="en-US" altLang="en-US" b="1" dirty="0" smtClean="0">
                <a:solidFill>
                  <a:srgbClr val="C00000"/>
                </a:solidFill>
              </a:rPr>
              <a:t/>
            </a:r>
            <a:br>
              <a:rPr lang="en-US" altLang="en-US" b="1" dirty="0" smtClean="0">
                <a:solidFill>
                  <a:srgbClr val="C00000"/>
                </a:solidFill>
              </a:rPr>
            </a:br>
            <a:r>
              <a:rPr lang="en-US" altLang="en-US" dirty="0" smtClean="0"/>
              <a:t>Memory </a:t>
            </a:r>
            <a:r>
              <a:rPr lang="en-US" altLang="en-US" dirty="0" smtClean="0"/>
              <a:t>context of a process == Page table</a:t>
            </a:r>
            <a:endParaRPr lang="en-US" altLang="en-US" b="1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 smtClean="0"/>
              <a:t>Issues:</a:t>
            </a:r>
            <a:endParaRPr lang="en-US" altLang="en-US" dirty="0"/>
          </a:p>
          <a:p>
            <a:pPr lvl="1"/>
            <a:r>
              <a:rPr lang="en-US" altLang="en-US" dirty="0"/>
              <a:t>Require two memory access for every memory reference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40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Support</a:t>
            </a:r>
          </a:p>
        </p:txBody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Modern </a:t>
            </a:r>
            <a:r>
              <a:rPr lang="en-US" altLang="en-US" dirty="0" smtClean="0"/>
              <a:t>processors </a:t>
            </a:r>
            <a:r>
              <a:rPr lang="en-US" altLang="en-US" dirty="0"/>
              <a:t>provide </a:t>
            </a:r>
            <a:r>
              <a:rPr lang="en-US" altLang="en-US" b="1" dirty="0" smtClean="0">
                <a:solidFill>
                  <a:srgbClr val="C00000"/>
                </a:solidFill>
              </a:rPr>
              <a:t>T</a:t>
            </a:r>
            <a:r>
              <a:rPr lang="en-US" altLang="en-US" dirty="0" smtClean="0">
                <a:solidFill>
                  <a:srgbClr val="C00000"/>
                </a:solidFill>
              </a:rPr>
              <a:t>ranslation </a:t>
            </a:r>
            <a:r>
              <a:rPr lang="en-US" altLang="en-US" b="1" dirty="0">
                <a:solidFill>
                  <a:srgbClr val="C00000"/>
                </a:solidFill>
              </a:rPr>
              <a:t>L</a:t>
            </a:r>
            <a:r>
              <a:rPr lang="en-US" altLang="en-US" dirty="0">
                <a:solidFill>
                  <a:srgbClr val="C00000"/>
                </a:solidFill>
              </a:rPr>
              <a:t>ook-Aside </a:t>
            </a:r>
            <a:r>
              <a:rPr lang="en-US" altLang="en-US" b="1" dirty="0">
                <a:solidFill>
                  <a:srgbClr val="C00000"/>
                </a:solidFill>
              </a:rPr>
              <a:t>B</a:t>
            </a:r>
            <a:r>
              <a:rPr lang="en-US" altLang="en-US" dirty="0">
                <a:solidFill>
                  <a:srgbClr val="C00000"/>
                </a:solidFill>
              </a:rPr>
              <a:t>uffer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C00000"/>
                </a:solidFill>
              </a:rPr>
              <a:t>TLB</a:t>
            </a:r>
            <a:r>
              <a:rPr lang="en-US" altLang="en-US" dirty="0" smtClean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TLB acts as a </a:t>
            </a:r>
            <a:r>
              <a:rPr lang="en-US" altLang="en-US" b="1" dirty="0"/>
              <a:t>cache </a:t>
            </a:r>
            <a:r>
              <a:rPr lang="en-US" altLang="en-US" dirty="0"/>
              <a:t>of </a:t>
            </a:r>
            <a:r>
              <a:rPr lang="en-US" altLang="en-US" i="1" dirty="0"/>
              <a:t>a few</a:t>
            </a:r>
            <a:r>
              <a:rPr lang="en-US" altLang="en-US" dirty="0"/>
              <a:t> page table entries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Logical </a:t>
            </a:r>
            <a:r>
              <a:rPr lang="en-US" altLang="en-US" dirty="0"/>
              <a:t>address translation with TLB: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page number to search TLB associatively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Entry found (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TLB-Hit</a:t>
            </a:r>
            <a:r>
              <a:rPr lang="en-US" altLang="en-US" dirty="0"/>
              <a:t>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Frame number is retrieved to generate physical address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Entry not found (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TLB-Miss</a:t>
            </a:r>
            <a:r>
              <a:rPr lang="en-US" altLang="en-US" dirty="0"/>
              <a:t>):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Memory access to access the full page table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Retrieved frame number is used to generate physical address and update TLB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079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Translation Look-Aside </a:t>
            </a:r>
            <a:r>
              <a:rPr lang="en-US" altLang="en-US" sz="4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Buffer</a:t>
            </a:r>
            <a:endParaRPr lang="en-US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657497" y="1671230"/>
            <a:ext cx="990600" cy="1219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tx1"/>
                </a:solidFill>
              </a:rPr>
              <a:t>CPU</a:t>
            </a:r>
            <a:endParaRPr lang="en-US" sz="2400" b="1" dirty="0">
              <a:solidFill>
                <a:schemeClr val="tx1"/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648097" y="2128430"/>
            <a:ext cx="1828800" cy="304800"/>
            <a:chOff x="1648097" y="2128430"/>
            <a:chExt cx="1828800" cy="304800"/>
          </a:xfrm>
        </p:grpSpPr>
        <p:sp>
          <p:nvSpPr>
            <p:cNvPr id="9" name="Rectangle 8"/>
            <p:cNvSpPr/>
            <p:nvPr/>
          </p:nvSpPr>
          <p:spPr>
            <a:xfrm>
              <a:off x="2410097" y="212843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3497" y="2128430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Arrow Connector 19"/>
            <p:cNvCxnSpPr>
              <a:stCxn id="7" idx="3"/>
              <a:endCxn id="9" idx="1"/>
            </p:cNvCxnSpPr>
            <p:nvPr/>
          </p:nvCxnSpPr>
          <p:spPr>
            <a:xfrm>
              <a:off x="1648097" y="228083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Elbow Connector 42"/>
          <p:cNvCxnSpPr>
            <a:stCxn id="10" idx="0"/>
            <a:endCxn id="42" idx="0"/>
          </p:cNvCxnSpPr>
          <p:nvPr/>
        </p:nvCxnSpPr>
        <p:spPr>
          <a:xfrm rot="5400000" flipH="1" flipV="1">
            <a:off x="4761440" y="559771"/>
            <a:ext cx="17417" cy="3119902"/>
          </a:xfrm>
          <a:prstGeom prst="bentConnector3">
            <a:avLst>
              <a:gd name="adj1" fmla="val 141251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Physical Memory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529999" y="2111013"/>
            <a:ext cx="1452098" cy="304800"/>
            <a:chOff x="5529999" y="2111013"/>
            <a:chExt cx="1452098" cy="304800"/>
          </a:xfrm>
        </p:grpSpPr>
        <p:sp>
          <p:nvSpPr>
            <p:cNvPr id="40" name="Rectangle 39"/>
            <p:cNvSpPr/>
            <p:nvPr/>
          </p:nvSpPr>
          <p:spPr>
            <a:xfrm>
              <a:off x="5529999" y="2111013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063399" y="2111013"/>
              <a:ext cx="533400" cy="3048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>
              <a:off x="6596799" y="2253070"/>
              <a:ext cx="385298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Elbow Connector 36"/>
          <p:cNvCxnSpPr>
            <a:stCxn id="14" idx="3"/>
            <a:endCxn id="40" idx="2"/>
          </p:cNvCxnSpPr>
          <p:nvPr/>
        </p:nvCxnSpPr>
        <p:spPr>
          <a:xfrm flipV="1">
            <a:off x="5043617" y="2415813"/>
            <a:ext cx="753082" cy="705665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3395790" y="2702378"/>
            <a:ext cx="1647827" cy="1637210"/>
            <a:chOff x="3395790" y="2702378"/>
            <a:chExt cx="1647827" cy="1637210"/>
          </a:xfrm>
        </p:grpSpPr>
        <p:sp>
          <p:nvSpPr>
            <p:cNvPr id="11" name="Rectangle 10"/>
            <p:cNvSpPr/>
            <p:nvPr/>
          </p:nvSpPr>
          <p:spPr>
            <a:xfrm>
              <a:off x="3395791" y="2702378"/>
              <a:ext cx="769394" cy="122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165185" y="2702378"/>
              <a:ext cx="878432" cy="12243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395790" y="2914649"/>
              <a:ext cx="769395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Page#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165185" y="2914649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Frame #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630098" y="3887726"/>
              <a:ext cx="1008105" cy="4518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TLB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4" name="Elbow Connector 63"/>
          <p:cNvCxnSpPr>
            <a:stCxn id="63" idx="3"/>
            <a:endCxn id="40" idx="2"/>
          </p:cNvCxnSpPr>
          <p:nvPr/>
        </p:nvCxnSpPr>
        <p:spPr>
          <a:xfrm flipV="1">
            <a:off x="4811546" y="2415813"/>
            <a:ext cx="985153" cy="2787558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/>
        </p:nvGrpSpPr>
        <p:grpSpPr>
          <a:xfrm>
            <a:off x="3723108" y="4580982"/>
            <a:ext cx="1303900" cy="1819818"/>
            <a:chOff x="3723108" y="4580982"/>
            <a:chExt cx="1303900" cy="1819818"/>
          </a:xfrm>
        </p:grpSpPr>
        <p:sp>
          <p:nvSpPr>
            <p:cNvPr id="61" name="Rectangle 60"/>
            <p:cNvSpPr/>
            <p:nvPr/>
          </p:nvSpPr>
          <p:spPr>
            <a:xfrm>
              <a:off x="3933114" y="4580982"/>
              <a:ext cx="878432" cy="142820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933114" y="4996542"/>
              <a:ext cx="878432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Frame #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3723108" y="5948938"/>
              <a:ext cx="1303900" cy="4518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Page Table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6" name="Elbow Connector 65"/>
          <p:cNvCxnSpPr>
            <a:stCxn id="9" idx="2"/>
            <a:endCxn id="63" idx="1"/>
          </p:cNvCxnSpPr>
          <p:nvPr/>
        </p:nvCxnSpPr>
        <p:spPr>
          <a:xfrm rot="16200000" flipH="1">
            <a:off x="1919885" y="3190141"/>
            <a:ext cx="2770141" cy="1256317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3309969" y="4531448"/>
            <a:ext cx="541640" cy="465094"/>
            <a:chOff x="3309969" y="4531448"/>
            <a:chExt cx="541640" cy="304800"/>
          </a:xfrm>
        </p:grpSpPr>
        <p:sp>
          <p:nvSpPr>
            <p:cNvPr id="68" name="Left Brace 67"/>
            <p:cNvSpPr/>
            <p:nvPr/>
          </p:nvSpPr>
          <p:spPr>
            <a:xfrm>
              <a:off x="3667356" y="4571727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309969" y="4531448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P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258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TLB: </a:t>
            </a:r>
            <a:r>
              <a:rPr lang="en-US" b="1" dirty="0" smtClean="0"/>
              <a:t>Impact on Memory Access Time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Suppose:</a:t>
            </a:r>
          </a:p>
          <a:p>
            <a:pPr lvl="1"/>
            <a:r>
              <a:rPr lang="en-US" dirty="0" smtClean="0"/>
              <a:t>TLB access takes </a:t>
            </a:r>
            <a:r>
              <a:rPr lang="en-US" b="1" dirty="0" smtClean="0">
                <a:solidFill>
                  <a:srgbClr val="C00000"/>
                </a:solidFill>
              </a:rPr>
              <a:t>1ns</a:t>
            </a:r>
          </a:p>
          <a:p>
            <a:pPr lvl="1"/>
            <a:r>
              <a:rPr lang="en-US" dirty="0" smtClean="0"/>
              <a:t>Main memory access takes </a:t>
            </a:r>
            <a:r>
              <a:rPr lang="en-US" b="1" dirty="0" smtClean="0">
                <a:solidFill>
                  <a:srgbClr val="C00000"/>
                </a:solidFill>
              </a:rPr>
              <a:t>50ns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What is the average memory access time if TLB contains 40% of the whole page table?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Memory access time</a:t>
            </a:r>
          </a:p>
          <a:p>
            <a:pPr marL="0" indent="0">
              <a:buNone/>
            </a:pPr>
            <a:r>
              <a:rPr lang="en-US" dirty="0" smtClean="0"/>
              <a:t>= </a:t>
            </a:r>
            <a:r>
              <a:rPr lang="en-US" b="1" dirty="0" smtClean="0">
                <a:solidFill>
                  <a:srgbClr val="006600"/>
                </a:solidFill>
              </a:rPr>
              <a:t>TLB hit </a:t>
            </a:r>
            <a:r>
              <a:rPr lang="en-US" dirty="0" smtClean="0"/>
              <a:t>+ </a:t>
            </a:r>
            <a:r>
              <a:rPr lang="en-US" b="1" dirty="0" smtClean="0">
                <a:solidFill>
                  <a:srgbClr val="C00000"/>
                </a:solidFill>
              </a:rPr>
              <a:t>TLB miss</a:t>
            </a:r>
          </a:p>
          <a:p>
            <a:pPr marL="0" indent="0">
              <a:buNone/>
            </a:pPr>
            <a:r>
              <a:rPr lang="en-US" dirty="0" smtClean="0"/>
              <a:t>= </a:t>
            </a:r>
            <a:r>
              <a:rPr lang="en-US" dirty="0" smtClean="0">
                <a:solidFill>
                  <a:srgbClr val="006600"/>
                </a:solidFill>
              </a:rPr>
              <a:t>40% x (1ns + 50ns) </a:t>
            </a:r>
            <a:r>
              <a:rPr lang="en-US" dirty="0" smtClean="0"/>
              <a:t>+ </a:t>
            </a:r>
            <a:r>
              <a:rPr lang="en-US" dirty="0" smtClean="0">
                <a:solidFill>
                  <a:srgbClr val="C00000"/>
                </a:solidFill>
              </a:rPr>
              <a:t>60%(1ns + 50ns + 50ns)</a:t>
            </a:r>
          </a:p>
          <a:p>
            <a:pPr marL="0" indent="0">
              <a:buNone/>
            </a:pPr>
            <a:r>
              <a:rPr lang="en-US" smtClean="0"/>
              <a:t>= </a:t>
            </a:r>
            <a:r>
              <a:rPr lang="en-US" b="1" smtClean="0">
                <a:solidFill>
                  <a:srgbClr val="660066"/>
                </a:solidFill>
              </a:rPr>
              <a:t>81ns</a:t>
            </a:r>
            <a:endParaRPr lang="en-US" b="1" dirty="0" smtClean="0">
              <a:solidFill>
                <a:srgbClr val="66006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33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</a:t>
            </a:r>
            <a:r>
              <a:rPr lang="en-US" altLang="en-US" sz="4000" dirty="0"/>
              <a:t> and </a:t>
            </a:r>
            <a:r>
              <a:rPr lang="en-US" altLang="en-US" sz="4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Switching</a:t>
            </a:r>
          </a:p>
        </p:txBody>
      </p:sp>
      <p:sp>
        <p:nvSpPr>
          <p:cNvPr id="78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r>
              <a:rPr lang="en-US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Improved Understanding</a:t>
            </a:r>
            <a:r>
              <a:rPr lang="en-US" altLang="en-US" b="1" dirty="0" smtClean="0">
                <a:solidFill>
                  <a:srgbClr val="C00000"/>
                </a:solidFill>
              </a:rPr>
              <a:t>:</a:t>
            </a:r>
            <a:r>
              <a:rPr lang="en-US" altLang="en-US" dirty="0" smtClean="0">
                <a:solidFill>
                  <a:srgbClr val="C00000"/>
                </a:solidFill>
              </a:rPr>
              <a:t> </a:t>
            </a:r>
            <a:r>
              <a:rPr lang="en-US" altLang="en-US" dirty="0" smtClean="0"/>
              <a:t>TLB </a:t>
            </a:r>
            <a:r>
              <a:rPr lang="en-US" altLang="en-US" dirty="0"/>
              <a:t>is part of the </a:t>
            </a:r>
            <a:r>
              <a:rPr lang="en-US" altLang="en-US" b="1" dirty="0"/>
              <a:t>hardware context</a:t>
            </a:r>
            <a:r>
              <a:rPr lang="en-US" altLang="en-US" dirty="0"/>
              <a:t> of a process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When a context </a:t>
            </a:r>
            <a:r>
              <a:rPr lang="en-US" altLang="en-US" dirty="0"/>
              <a:t>switch occurs:</a:t>
            </a:r>
          </a:p>
          <a:p>
            <a:pPr lvl="1"/>
            <a:r>
              <a:rPr lang="en-US" altLang="en-US" dirty="0"/>
              <a:t>TLB entries are flushed</a:t>
            </a:r>
          </a:p>
          <a:p>
            <a:pPr lvl="2"/>
            <a:r>
              <a:rPr lang="en-US" altLang="en-US" dirty="0"/>
              <a:t>So that new process will not get incorrect translation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Hence, when </a:t>
            </a:r>
            <a:r>
              <a:rPr lang="en-US" altLang="en-US" dirty="0"/>
              <a:t>a process resume running:</a:t>
            </a:r>
          </a:p>
          <a:p>
            <a:pPr lvl="1"/>
            <a:r>
              <a:rPr lang="en-US" altLang="en-US" dirty="0" smtClean="0"/>
              <a:t>Will encounter many TLB misses to fill the </a:t>
            </a:r>
            <a:r>
              <a:rPr lang="en-US" altLang="en-US" dirty="0"/>
              <a:t>TLB </a:t>
            </a:r>
          </a:p>
          <a:p>
            <a:pPr lvl="2"/>
            <a:r>
              <a:rPr lang="en-US" altLang="en-US" dirty="0"/>
              <a:t>It is possible to place some entries </a:t>
            </a:r>
            <a:r>
              <a:rPr lang="en-US" altLang="en-US" dirty="0" smtClean="0"/>
              <a:t>initially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733697" y="1172935"/>
            <a:ext cx="7876903" cy="5045529"/>
            <a:chOff x="657497" y="1355271"/>
            <a:chExt cx="7876903" cy="5045529"/>
          </a:xfrm>
        </p:grpSpPr>
        <p:sp>
          <p:nvSpPr>
            <p:cNvPr id="6" name="Rectangle 5"/>
            <p:cNvSpPr/>
            <p:nvPr/>
          </p:nvSpPr>
          <p:spPr>
            <a:xfrm>
              <a:off x="657497" y="1671230"/>
              <a:ext cx="990600" cy="1219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chemeClr val="tx1"/>
                  </a:solidFill>
                </a:rPr>
                <a:t>CPU</a:t>
              </a:r>
              <a:endParaRPr lang="en-US" sz="2400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648097" y="2128430"/>
              <a:ext cx="1828800" cy="304800"/>
              <a:chOff x="1648097" y="2128430"/>
              <a:chExt cx="1828800" cy="3048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410097" y="2128430"/>
                <a:ext cx="5334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P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943497" y="2128430"/>
                <a:ext cx="5334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D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" name="Straight Arrow Connector 9"/>
              <p:cNvCxnSpPr>
                <a:stCxn id="6" idx="3"/>
                <a:endCxn id="8" idx="1"/>
              </p:cNvCxnSpPr>
              <p:nvPr/>
            </p:nvCxnSpPr>
            <p:spPr>
              <a:xfrm>
                <a:off x="1648097" y="2280830"/>
                <a:ext cx="7620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Elbow Connector 10"/>
            <p:cNvCxnSpPr>
              <a:stCxn id="9" idx="0"/>
              <a:endCxn id="15" idx="0"/>
            </p:cNvCxnSpPr>
            <p:nvPr/>
          </p:nvCxnSpPr>
          <p:spPr>
            <a:xfrm rot="5400000" flipH="1" flipV="1">
              <a:off x="4761440" y="559771"/>
              <a:ext cx="17417" cy="3119902"/>
            </a:xfrm>
            <a:prstGeom prst="bentConnector3">
              <a:avLst>
                <a:gd name="adj1" fmla="val 1412511"/>
              </a:avLst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7010400" y="1355271"/>
              <a:ext cx="1524000" cy="504552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Physical Memory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5529999" y="2111013"/>
              <a:ext cx="1452098" cy="304800"/>
              <a:chOff x="5529999" y="2111013"/>
              <a:chExt cx="1452098" cy="3048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5529999" y="2111013"/>
                <a:ext cx="5334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F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6063399" y="2111013"/>
                <a:ext cx="5334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D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Straight Arrow Connector 15"/>
              <p:cNvCxnSpPr/>
              <p:nvPr/>
            </p:nvCxnSpPr>
            <p:spPr>
              <a:xfrm>
                <a:off x="6596799" y="2253070"/>
                <a:ext cx="385298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Elbow Connector 16"/>
            <p:cNvCxnSpPr>
              <a:stCxn id="22" idx="3"/>
              <a:endCxn id="14" idx="2"/>
            </p:cNvCxnSpPr>
            <p:nvPr/>
          </p:nvCxnSpPr>
          <p:spPr>
            <a:xfrm flipV="1">
              <a:off x="5043617" y="2415813"/>
              <a:ext cx="753082" cy="705665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>
              <a:off x="3395790" y="2702378"/>
              <a:ext cx="1647827" cy="1637210"/>
              <a:chOff x="3395790" y="2702378"/>
              <a:chExt cx="1647827" cy="1637210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395791" y="2702378"/>
                <a:ext cx="769394" cy="122436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165185" y="2702378"/>
                <a:ext cx="878432" cy="122436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395790" y="2914649"/>
                <a:ext cx="769395" cy="4136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chemeClr val="tx1"/>
                    </a:solidFill>
                  </a:rPr>
                  <a:t>Page#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4165185" y="2914649"/>
                <a:ext cx="878432" cy="4136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chemeClr val="tx1"/>
                    </a:solidFill>
                  </a:rPr>
                  <a:t>Frame #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3630098" y="3887726"/>
                <a:ext cx="1008105" cy="451862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chemeClr val="tx1"/>
                    </a:solidFill>
                  </a:rPr>
                  <a:t>TLB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4" name="Elbow Connector 23"/>
            <p:cNvCxnSpPr>
              <a:stCxn id="27" idx="3"/>
              <a:endCxn id="14" idx="2"/>
            </p:cNvCxnSpPr>
            <p:nvPr/>
          </p:nvCxnSpPr>
          <p:spPr>
            <a:xfrm flipV="1">
              <a:off x="4811546" y="2415813"/>
              <a:ext cx="985153" cy="258426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3723108" y="4580982"/>
              <a:ext cx="1303900" cy="1819818"/>
              <a:chOff x="3723108" y="4580982"/>
              <a:chExt cx="1303900" cy="1819818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3933114" y="4580982"/>
                <a:ext cx="878432" cy="142820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933114" y="4793252"/>
                <a:ext cx="878432" cy="413658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chemeClr val="tx1"/>
                    </a:solidFill>
                  </a:rPr>
                  <a:t>Frame #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3723108" y="5948938"/>
                <a:ext cx="1303900" cy="451862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chemeClr val="tx1"/>
                    </a:solidFill>
                  </a:rPr>
                  <a:t>Page Table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9" name="Elbow Connector 28"/>
            <p:cNvCxnSpPr>
              <a:stCxn id="8" idx="2"/>
              <a:endCxn id="27" idx="1"/>
            </p:cNvCxnSpPr>
            <p:nvPr/>
          </p:nvCxnSpPr>
          <p:spPr>
            <a:xfrm rot="16200000" flipH="1">
              <a:off x="2021530" y="3088496"/>
              <a:ext cx="2566851" cy="1256317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3309969" y="4531448"/>
              <a:ext cx="541640" cy="304800"/>
              <a:chOff x="3309969" y="4531448"/>
              <a:chExt cx="541640" cy="304800"/>
            </a:xfrm>
          </p:grpSpPr>
          <p:sp>
            <p:nvSpPr>
              <p:cNvPr id="31" name="Left Brace 30"/>
              <p:cNvSpPr/>
              <p:nvPr/>
            </p:nvSpPr>
            <p:spPr>
              <a:xfrm>
                <a:off x="3667356" y="4571727"/>
                <a:ext cx="184253" cy="226421"/>
              </a:xfrm>
              <a:prstGeom prst="leftBrac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3309969" y="4531448"/>
                <a:ext cx="533400" cy="304800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 smtClean="0">
                    <a:solidFill>
                      <a:schemeClr val="tx1"/>
                    </a:solidFill>
                  </a:rPr>
                  <a:t>P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4" name="Isosceles Triangle 33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8220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Protection</a:t>
            </a:r>
          </a:p>
        </p:txBody>
      </p:sp>
      <p:sp>
        <p:nvSpPr>
          <p:cNvPr id="781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 smtClean="0"/>
              <a:t>To provide </a:t>
            </a:r>
            <a:r>
              <a:rPr lang="en-US" altLang="en-US" dirty="0"/>
              <a:t>memory </a:t>
            </a:r>
            <a:r>
              <a:rPr lang="en-US" altLang="en-US" dirty="0" smtClean="0"/>
              <a:t>protection: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Access-Right Bits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</a:rPr>
              <a:t>Valid </a:t>
            </a:r>
            <a:r>
              <a:rPr lang="en-US" altLang="en-US" b="1" dirty="0" smtClean="0">
                <a:solidFill>
                  <a:srgbClr val="660066"/>
                </a:solidFill>
              </a:rPr>
              <a:t>Bit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Access Right Bits: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Page Table </a:t>
            </a:r>
            <a:r>
              <a:rPr lang="en-US" altLang="en-US" dirty="0" smtClean="0"/>
              <a:t>Entry has { </a:t>
            </a:r>
            <a:r>
              <a:rPr lang="en-US" altLang="en-US" b="1" dirty="0" smtClean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altLang="en-US" b="1" dirty="0" smtClean="0"/>
              <a:t>ritable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en-US" b="1" dirty="0"/>
              <a:t>eadable</a:t>
            </a:r>
            <a:r>
              <a:rPr lang="en-US" altLang="en-US" dirty="0"/>
              <a:t>, </a:t>
            </a:r>
            <a:r>
              <a:rPr lang="en-US" altLang="en-US" b="1" dirty="0" smtClean="0"/>
              <a:t>e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en-US" b="1" dirty="0" smtClean="0"/>
              <a:t>ecutable </a:t>
            </a:r>
            <a:r>
              <a:rPr lang="en-US" altLang="en-US" dirty="0" smtClean="0"/>
              <a:t>} bits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Memory </a:t>
            </a:r>
            <a:r>
              <a:rPr lang="en-US" altLang="en-US" dirty="0"/>
              <a:t>access is checked against the access right bits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56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660066"/>
                </a:solidFill>
              </a:rPr>
              <a:t>Protection</a:t>
            </a:r>
            <a:r>
              <a:rPr lang="en-US" altLang="en-US" sz="3800" dirty="0"/>
              <a:t>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783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Observation:</a:t>
            </a:r>
          </a:p>
          <a:p>
            <a:pPr lvl="1"/>
            <a:r>
              <a:rPr lang="en-US" altLang="en-US" dirty="0"/>
              <a:t>The logical memory range is usually the same for </a:t>
            </a:r>
            <a:r>
              <a:rPr lang="en-US" altLang="en-US" b="1" dirty="0"/>
              <a:t>all </a:t>
            </a:r>
            <a:r>
              <a:rPr lang="en-US" altLang="en-US" dirty="0"/>
              <a:t>processes</a:t>
            </a:r>
          </a:p>
          <a:p>
            <a:pPr lvl="1"/>
            <a:r>
              <a:rPr lang="en-US" altLang="en-US" dirty="0"/>
              <a:t>However, not all process utilized the whole range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altLang="en-US" dirty="0">
                <a:sym typeface="Wingdings" panose="05000000000000000000" pitchFamily="2" charset="2"/>
              </a:rPr>
              <a:t>Some pages are out-of-range for a particular </a:t>
            </a:r>
            <a:r>
              <a:rPr lang="en-US" altLang="en-US" dirty="0" smtClean="0">
                <a:sym typeface="Wingdings" panose="05000000000000000000" pitchFamily="2" charset="2"/>
              </a:rPr>
              <a:t>process</a:t>
            </a:r>
          </a:p>
          <a:p>
            <a:pPr marL="671512" lvl="2" indent="0">
              <a:buNone/>
            </a:pPr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b="1" dirty="0">
                <a:solidFill>
                  <a:srgbClr val="660066"/>
                </a:solidFill>
              </a:rPr>
              <a:t>Valid bit:</a:t>
            </a:r>
            <a:endParaRPr lang="en-US" altLang="en-US" b="1" dirty="0">
              <a:solidFill>
                <a:srgbClr val="660066"/>
              </a:solidFill>
              <a:sym typeface="Wingdings" panose="05000000000000000000" pitchFamily="2" charset="2"/>
            </a:endParaRPr>
          </a:p>
          <a:p>
            <a:pPr lvl="1"/>
            <a:r>
              <a:rPr lang="en-US" altLang="en-US" dirty="0" smtClean="0"/>
              <a:t>Indicate</a:t>
            </a:r>
            <a:r>
              <a:rPr lang="en-US" altLang="en-US" dirty="0"/>
              <a:t> w</a:t>
            </a:r>
            <a:r>
              <a:rPr lang="en-US" altLang="en-US" dirty="0" smtClean="0"/>
              <a:t>hether </a:t>
            </a:r>
            <a:r>
              <a:rPr lang="en-US" altLang="en-US" dirty="0"/>
              <a:t>the page is valid </a:t>
            </a:r>
            <a:r>
              <a:rPr lang="en-US" altLang="en-US" dirty="0" smtClean="0"/>
              <a:t>to </a:t>
            </a:r>
            <a:r>
              <a:rPr lang="en-US" altLang="en-US" dirty="0"/>
              <a:t>access</a:t>
            </a:r>
          </a:p>
          <a:p>
            <a:pPr lvl="1"/>
            <a:r>
              <a:rPr lang="en-US" altLang="en-US" dirty="0"/>
              <a:t>OS will set the valid bits when a process is running</a:t>
            </a:r>
          </a:p>
          <a:p>
            <a:pPr lvl="1"/>
            <a:r>
              <a:rPr lang="en-US" altLang="en-US" dirty="0"/>
              <a:t>Memory access is checked against this bit:</a:t>
            </a:r>
          </a:p>
          <a:p>
            <a:pPr lvl="2"/>
            <a:r>
              <a:rPr lang="en-US" altLang="en-US" dirty="0"/>
              <a:t>Out-of-range access will be caught by OS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123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Paging Scheme: Page sharing</a:t>
            </a:r>
          </a:p>
        </p:txBody>
      </p:sp>
      <p:sp>
        <p:nvSpPr>
          <p:cNvPr id="79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 smtClean="0"/>
              <a:t>Page table can </a:t>
            </a:r>
            <a:r>
              <a:rPr lang="en-US" altLang="en-US" dirty="0"/>
              <a:t>allow several processes to share the same physical memory frame</a:t>
            </a:r>
          </a:p>
          <a:p>
            <a:pPr lvl="1"/>
            <a:r>
              <a:rPr lang="en-US" altLang="en-US" dirty="0"/>
              <a:t>Use the same physical frame number in the page table </a:t>
            </a:r>
            <a:r>
              <a:rPr lang="en-US" altLang="en-US" dirty="0" smtClean="0"/>
              <a:t>entries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Possible usage:</a:t>
            </a:r>
          </a:p>
          <a:p>
            <a:pPr lvl="1"/>
            <a:r>
              <a:rPr lang="en-US" altLang="en-US" dirty="0"/>
              <a:t>Shared code page:</a:t>
            </a:r>
          </a:p>
          <a:p>
            <a:pPr lvl="2"/>
            <a:r>
              <a:rPr lang="en-US" altLang="en-US" dirty="0"/>
              <a:t>Some code are being used by many processes, e.g. C standard library, system calls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Implement Copy-On-Write:</a:t>
            </a:r>
          </a:p>
          <a:p>
            <a:pPr lvl="2"/>
            <a:r>
              <a:rPr lang="en-US" altLang="en-US" dirty="0" smtClean="0"/>
              <a:t>As discussed earlier in "Process Abstraction" lecture, </a:t>
            </a:r>
            <a:r>
              <a:rPr lang="en-US" altLang="en-US" dirty="0"/>
              <a:t>parent and child process can share a page until one tries to </a:t>
            </a:r>
            <a:r>
              <a:rPr lang="en-US" altLang="en-US" dirty="0" smtClean="0"/>
              <a:t>change </a:t>
            </a:r>
            <a:r>
              <a:rPr lang="en-US" altLang="en-US" dirty="0"/>
              <a:t>a value in it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857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 </a:t>
            </a:r>
            <a:r>
              <a:rPr lang="en-US" altLang="en-US" sz="3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Sharing</a:t>
            </a:r>
            <a:endParaRPr lang="en-US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94509" y="944678"/>
            <a:ext cx="1143000" cy="1828800"/>
            <a:chOff x="711926" y="1013764"/>
            <a:chExt cx="1143000" cy="2438400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711926" y="28425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3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711926" y="22329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2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711926" y="16233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711926" y="10137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57200" y="2807285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 smtClean="0">
                <a:solidFill>
                  <a:srgbClr val="C00000"/>
                </a:solidFill>
              </a:rPr>
              <a:t>Process P's</a:t>
            </a:r>
          </a:p>
          <a:p>
            <a:pPr algn="ctr"/>
            <a:r>
              <a:rPr lang="en-US" altLang="en-US" sz="1600" b="1" dirty="0" smtClean="0"/>
              <a:t>logical </a:t>
            </a:r>
            <a:r>
              <a:rPr lang="en-US" altLang="en-US" sz="1600" b="1" dirty="0"/>
              <a:t>memory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391400" y="9146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391400" y="45722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391400" y="27434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391400" y="33530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7239000" y="5791405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19" name="Group 30"/>
          <p:cNvGrpSpPr>
            <a:grpSpLocks/>
          </p:cNvGrpSpPr>
          <p:nvPr/>
        </p:nvGrpSpPr>
        <p:grpSpPr bwMode="auto">
          <a:xfrm>
            <a:off x="6400846" y="914195"/>
            <a:ext cx="990600" cy="4876800"/>
            <a:chOff x="3323" y="823"/>
            <a:chExt cx="624" cy="3072"/>
          </a:xfrm>
        </p:grpSpPr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3323" y="351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</a:t>
              </a:r>
              <a:r>
                <a:rPr lang="en-US" altLang="en-US" dirty="0" smtClean="0"/>
                <a:t>7</a:t>
              </a:r>
              <a:endParaRPr lang="en-US" altLang="en-US" dirty="0"/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3323" y="312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6</a:t>
              </a:r>
              <a:endParaRPr lang="en-US" altLang="en-US" dirty="0"/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3323" y="274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5</a:t>
              </a:r>
              <a:endParaRPr lang="en-US" altLang="en-US" dirty="0"/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3323" y="2359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4</a:t>
              </a:r>
              <a:endParaRPr lang="en-US" altLang="en-US" dirty="0"/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3323" y="1975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3</a:t>
              </a:r>
              <a:endParaRPr lang="en-US" altLang="en-US" dirty="0"/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3323" y="159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2</a:t>
              </a:r>
              <a:endParaRPr lang="en-US" altLang="en-US" dirty="0"/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3323" y="120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1</a:t>
              </a:r>
              <a:endParaRPr lang="en-US" altLang="en-US" dirty="0"/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323" y="82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</a:t>
              </a:r>
              <a:r>
                <a:rPr lang="en-US" altLang="en-US" dirty="0" smtClean="0"/>
                <a:t>0</a:t>
              </a:r>
              <a:endParaRPr lang="en-US" alt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19077" y="1134976"/>
            <a:ext cx="1600200" cy="1905404"/>
            <a:chOff x="3446417" y="2906715"/>
            <a:chExt cx="1600200" cy="1905404"/>
          </a:xfrm>
        </p:grpSpPr>
        <p:grpSp>
          <p:nvGrpSpPr>
            <p:cNvPr id="25" name="Group 58"/>
            <p:cNvGrpSpPr>
              <a:grpSpLocks/>
            </p:cNvGrpSpPr>
            <p:nvPr/>
          </p:nvGrpSpPr>
          <p:grpSpPr bwMode="auto">
            <a:xfrm>
              <a:off x="3598862" y="2906715"/>
              <a:ext cx="990600" cy="1524001"/>
              <a:chOff x="2123" y="2407"/>
              <a:chExt cx="624" cy="960"/>
            </a:xfrm>
          </p:grpSpPr>
          <p:grpSp>
            <p:nvGrpSpPr>
              <p:cNvPr id="27" name="Group 48"/>
              <p:cNvGrpSpPr>
                <a:grpSpLocks/>
              </p:cNvGrpSpPr>
              <p:nvPr/>
            </p:nvGrpSpPr>
            <p:grpSpPr bwMode="auto">
              <a:xfrm>
                <a:off x="2123" y="2407"/>
                <a:ext cx="624" cy="240"/>
                <a:chOff x="2219" y="3895"/>
                <a:chExt cx="624" cy="240"/>
              </a:xfrm>
            </p:grpSpPr>
            <p:sp>
              <p:nvSpPr>
                <p:cNvPr id="37" name="Rectangle 21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38" name="Rectangle 4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2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8" name="Group 49"/>
              <p:cNvGrpSpPr>
                <a:grpSpLocks/>
              </p:cNvGrpSpPr>
              <p:nvPr/>
            </p:nvGrpSpPr>
            <p:grpSpPr bwMode="auto">
              <a:xfrm>
                <a:off x="2123" y="2647"/>
                <a:ext cx="624" cy="240"/>
                <a:chOff x="2219" y="3895"/>
                <a:chExt cx="624" cy="240"/>
              </a:xfrm>
            </p:grpSpPr>
            <p:sp>
              <p:nvSpPr>
                <p:cNvPr id="35" name="Rectangle 50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36" name="Rectangle 51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7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9" name="Group 52"/>
              <p:cNvGrpSpPr>
                <a:grpSpLocks/>
              </p:cNvGrpSpPr>
              <p:nvPr/>
            </p:nvGrpSpPr>
            <p:grpSpPr bwMode="auto">
              <a:xfrm>
                <a:off x="2123" y="2887"/>
                <a:ext cx="624" cy="240"/>
                <a:chOff x="2219" y="3895"/>
                <a:chExt cx="624" cy="240"/>
              </a:xfrm>
            </p:grpSpPr>
            <p:sp>
              <p:nvSpPr>
                <p:cNvPr id="33" name="Rectangle 53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2</a:t>
                  </a:r>
                  <a:endParaRPr lang="en-US" altLang="en-US" sz="1600" dirty="0"/>
                </a:p>
              </p:txBody>
            </p:sp>
            <p:sp>
              <p:nvSpPr>
                <p:cNvPr id="34" name="Rectangle 54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1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0" name="Group 55"/>
              <p:cNvGrpSpPr>
                <a:grpSpLocks/>
              </p:cNvGrpSpPr>
              <p:nvPr/>
            </p:nvGrpSpPr>
            <p:grpSpPr bwMode="auto">
              <a:xfrm>
                <a:off x="2123" y="3127"/>
                <a:ext cx="624" cy="240"/>
                <a:chOff x="2219" y="3895"/>
                <a:chExt cx="624" cy="240"/>
              </a:xfrm>
            </p:grpSpPr>
            <p:sp>
              <p:nvSpPr>
                <p:cNvPr id="31" name="Rectangle 56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3</a:t>
                  </a:r>
                  <a:endParaRPr lang="en-US" altLang="en-US" sz="1600" dirty="0"/>
                </a:p>
              </p:txBody>
            </p:sp>
            <p:sp>
              <p:nvSpPr>
                <p:cNvPr id="32" name="Rectangle 5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5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26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C00000"/>
                  </a:solidFill>
                </a:rPr>
                <a:t>Process P's</a:t>
              </a:r>
            </a:p>
            <a:p>
              <a:pPr algn="ctr"/>
              <a:r>
                <a:rPr lang="en-US" altLang="en-US" sz="1600" b="1" dirty="0" smtClean="0"/>
                <a:t>page table</a:t>
              </a:r>
              <a:endParaRPr lang="en-US" altLang="en-US" sz="1600" b="1" dirty="0"/>
            </a:p>
          </p:txBody>
        </p:sp>
      </p:grp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7391400" y="39626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3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7391400" y="21338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0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7391400" y="15242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2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391400" y="51818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3399" y="3819736"/>
            <a:ext cx="4414181" cy="2548407"/>
            <a:chOff x="533399" y="3819736"/>
            <a:chExt cx="4414181" cy="2548407"/>
          </a:xfrm>
        </p:grpSpPr>
        <p:grpSp>
          <p:nvGrpSpPr>
            <p:cNvPr id="54" name="Group 53"/>
            <p:cNvGrpSpPr/>
            <p:nvPr/>
          </p:nvGrpSpPr>
          <p:grpSpPr>
            <a:xfrm>
              <a:off x="770708" y="3819736"/>
              <a:ext cx="1143000" cy="1828800"/>
              <a:chOff x="711926" y="1013764"/>
              <a:chExt cx="1143000" cy="2438400"/>
            </a:xfrm>
          </p:grpSpPr>
          <p:sp>
            <p:nvSpPr>
              <p:cNvPr id="55" name="Rectangle 4"/>
              <p:cNvSpPr>
                <a:spLocks noChangeArrowheads="1"/>
              </p:cNvSpPr>
              <p:nvPr/>
            </p:nvSpPr>
            <p:spPr bwMode="auto">
              <a:xfrm>
                <a:off x="711926" y="28425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3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2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533399" y="5682343"/>
              <a:ext cx="160020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C00000"/>
                  </a:solidFill>
                </a:rPr>
                <a:t>Process Q's</a:t>
              </a:r>
            </a:p>
            <a:p>
              <a:pPr algn="ctr"/>
              <a:r>
                <a:rPr lang="en-US" altLang="en-US" sz="1600" b="1" dirty="0" smtClean="0"/>
                <a:t>logical </a:t>
              </a:r>
              <a:r>
                <a:rPr lang="en-US" altLang="en-US" sz="1600" b="1" dirty="0"/>
                <a:t>memory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3347380" y="4038193"/>
              <a:ext cx="1600200" cy="1906625"/>
              <a:chOff x="3446417" y="2716215"/>
              <a:chExt cx="1600200" cy="1906625"/>
            </a:xfrm>
          </p:grpSpPr>
          <p:grpSp>
            <p:nvGrpSpPr>
              <p:cNvPr id="61" name="Group 58"/>
              <p:cNvGrpSpPr>
                <a:grpSpLocks/>
              </p:cNvGrpSpPr>
              <p:nvPr/>
            </p:nvGrpSpPr>
            <p:grpSpPr bwMode="auto">
              <a:xfrm>
                <a:off x="3598862" y="2716215"/>
                <a:ext cx="990600" cy="1524001"/>
                <a:chOff x="2123" y="2287"/>
                <a:chExt cx="624" cy="960"/>
              </a:xfrm>
            </p:grpSpPr>
            <p:grpSp>
              <p:nvGrpSpPr>
                <p:cNvPr id="63" name="Group 48"/>
                <p:cNvGrpSpPr>
                  <a:grpSpLocks/>
                </p:cNvGrpSpPr>
                <p:nvPr/>
              </p:nvGrpSpPr>
              <p:grpSpPr bwMode="auto">
                <a:xfrm>
                  <a:off x="2123" y="2287"/>
                  <a:ext cx="624" cy="240"/>
                  <a:chOff x="2219" y="3775"/>
                  <a:chExt cx="624" cy="240"/>
                </a:xfrm>
              </p:grpSpPr>
              <p:sp>
                <p:nvSpPr>
                  <p:cNvPr id="7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77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0</a:t>
                    </a:r>
                    <a:endParaRPr lang="en-US" altLang="en-US" sz="1600" dirty="0"/>
                  </a:p>
                </p:txBody>
              </p:sp>
              <p:sp>
                <p:nvSpPr>
                  <p:cNvPr id="74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77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4" name="Group 49"/>
                <p:cNvGrpSpPr>
                  <a:grpSpLocks/>
                </p:cNvGrpSpPr>
                <p:nvPr/>
              </p:nvGrpSpPr>
              <p:grpSpPr bwMode="auto">
                <a:xfrm>
                  <a:off x="2123" y="2527"/>
                  <a:ext cx="624" cy="240"/>
                  <a:chOff x="2219" y="3775"/>
                  <a:chExt cx="624" cy="240"/>
                </a:xfrm>
              </p:grpSpPr>
              <p:sp>
                <p:nvSpPr>
                  <p:cNvPr id="71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77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1</a:t>
                    </a:r>
                    <a:endParaRPr lang="en-US" altLang="en-US" sz="1600" dirty="0"/>
                  </a:p>
                </p:txBody>
              </p:sp>
              <p:sp>
                <p:nvSpPr>
                  <p:cNvPr id="7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77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5" name="Group 52"/>
                <p:cNvGrpSpPr>
                  <a:grpSpLocks/>
                </p:cNvGrpSpPr>
                <p:nvPr/>
              </p:nvGrpSpPr>
              <p:grpSpPr bwMode="auto">
                <a:xfrm>
                  <a:off x="2123" y="2767"/>
                  <a:ext cx="624" cy="240"/>
                  <a:chOff x="2219" y="3775"/>
                  <a:chExt cx="624" cy="240"/>
                </a:xfrm>
              </p:grpSpPr>
              <p:sp>
                <p:nvSpPr>
                  <p:cNvPr id="6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77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2</a:t>
                    </a:r>
                    <a:endParaRPr lang="en-US" altLang="en-US" sz="1600" dirty="0"/>
                  </a:p>
                </p:txBody>
              </p:sp>
              <p:sp>
                <p:nvSpPr>
                  <p:cNvPr id="7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77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6" name="Group 55"/>
                <p:cNvGrpSpPr>
                  <a:grpSpLocks/>
                </p:cNvGrpSpPr>
                <p:nvPr/>
              </p:nvGrpSpPr>
              <p:grpSpPr bwMode="auto">
                <a:xfrm>
                  <a:off x="2123" y="3007"/>
                  <a:ext cx="624" cy="240"/>
                  <a:chOff x="2219" y="3775"/>
                  <a:chExt cx="624" cy="240"/>
                </a:xfrm>
              </p:grpSpPr>
              <p:sp>
                <p:nvSpPr>
                  <p:cNvPr id="6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77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3</a:t>
                    </a:r>
                    <a:endParaRPr lang="en-US" altLang="en-US" sz="1600" dirty="0"/>
                  </a:p>
                </p:txBody>
              </p:sp>
              <p:sp>
                <p:nvSpPr>
                  <p:cNvPr id="6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77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</p:grpSp>
          <p:sp>
            <p:nvSpPr>
              <p:cNvPr id="62" name="Rectangle 59"/>
              <p:cNvSpPr>
                <a:spLocks noChangeArrowheads="1"/>
              </p:cNvSpPr>
              <p:nvPr/>
            </p:nvSpPr>
            <p:spPr bwMode="auto">
              <a:xfrm>
                <a:off x="3446417" y="4318041"/>
                <a:ext cx="1600200" cy="3047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 smtClean="0">
                    <a:solidFill>
                      <a:srgbClr val="C00000"/>
                    </a:solidFill>
                  </a:rPr>
                  <a:t>Process Q's</a:t>
                </a:r>
              </a:p>
              <a:p>
                <a:pPr algn="ctr"/>
                <a:r>
                  <a:rPr lang="en-US" altLang="en-US" sz="1600" b="1" dirty="0" smtClean="0"/>
                  <a:t>page table</a:t>
                </a:r>
                <a:endParaRPr lang="en-US" altLang="en-US" sz="1600" b="1" dirty="0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7391400" y="914605"/>
            <a:ext cx="1143046" cy="4276731"/>
            <a:chOff x="7391400" y="914605"/>
            <a:chExt cx="1143046" cy="4276731"/>
          </a:xfrm>
        </p:grpSpPr>
        <p:sp>
          <p:nvSpPr>
            <p:cNvPr id="75" name="Rectangle 10"/>
            <p:cNvSpPr>
              <a:spLocks noChangeArrowheads="1"/>
            </p:cNvSpPr>
            <p:nvPr/>
          </p:nvSpPr>
          <p:spPr bwMode="auto">
            <a:xfrm>
              <a:off x="7391446" y="33530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76" name="Rectangle 13"/>
            <p:cNvSpPr>
              <a:spLocks noChangeArrowheads="1"/>
            </p:cNvSpPr>
            <p:nvPr/>
          </p:nvSpPr>
          <p:spPr bwMode="auto">
            <a:xfrm>
              <a:off x="7391400" y="2735581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2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" name="Rectangle 17"/>
            <p:cNvSpPr>
              <a:spLocks noChangeArrowheads="1"/>
            </p:cNvSpPr>
            <p:nvPr/>
          </p:nvSpPr>
          <p:spPr bwMode="auto">
            <a:xfrm>
              <a:off x="7391400" y="9146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78" name="Rectangle 18"/>
            <p:cNvSpPr>
              <a:spLocks noChangeArrowheads="1"/>
            </p:cNvSpPr>
            <p:nvPr/>
          </p:nvSpPr>
          <p:spPr bwMode="auto">
            <a:xfrm>
              <a:off x="7391446" y="4581736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3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434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Paging Scheme: </a:t>
            </a:r>
            <a:r>
              <a:rPr lang="en-US" altLang="en-US" sz="3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Copy-On-Write</a:t>
            </a:r>
            <a:endParaRPr lang="en-US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94509" y="944678"/>
            <a:ext cx="1143000" cy="1828800"/>
            <a:chOff x="711926" y="1013764"/>
            <a:chExt cx="1143000" cy="2438400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711926" y="28425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3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711926" y="22329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2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711926" y="16233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711926" y="1013764"/>
              <a:ext cx="1143000" cy="609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457200" y="2807285"/>
            <a:ext cx="1600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 smtClean="0">
                <a:solidFill>
                  <a:srgbClr val="C00000"/>
                </a:solidFill>
              </a:rPr>
              <a:t>Process P's</a:t>
            </a:r>
          </a:p>
          <a:p>
            <a:pPr algn="ctr"/>
            <a:r>
              <a:rPr lang="en-US" altLang="en-US" sz="1600" b="1" dirty="0" smtClean="0"/>
              <a:t>logical </a:t>
            </a:r>
            <a:r>
              <a:rPr lang="en-US" altLang="en-US" sz="1600" b="1" dirty="0"/>
              <a:t>memory</a:t>
            </a:r>
          </a:p>
        </p:txBody>
      </p:sp>
      <p:sp>
        <p:nvSpPr>
          <p:cNvPr id="14" name="Rectangle 11"/>
          <p:cNvSpPr>
            <a:spLocks noChangeArrowheads="1"/>
          </p:cNvSpPr>
          <p:nvPr/>
        </p:nvSpPr>
        <p:spPr bwMode="auto">
          <a:xfrm>
            <a:off x="7391400" y="9146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7391400" y="45722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7391400" y="27434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7391400" y="3353005"/>
            <a:ext cx="1143000" cy="609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endParaRPr lang="en-US" altLang="en-US" sz="1600" b="1">
              <a:latin typeface="Courier New" panose="02070309020205020404" pitchFamily="49" charset="0"/>
            </a:endParaRP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7239000" y="5791405"/>
            <a:ext cx="1600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/>
              <a:t>physical memory</a:t>
            </a:r>
          </a:p>
        </p:txBody>
      </p:sp>
      <p:grpSp>
        <p:nvGrpSpPr>
          <p:cNvPr id="19" name="Group 30"/>
          <p:cNvGrpSpPr>
            <a:grpSpLocks/>
          </p:cNvGrpSpPr>
          <p:nvPr/>
        </p:nvGrpSpPr>
        <p:grpSpPr bwMode="auto">
          <a:xfrm>
            <a:off x="6400846" y="914195"/>
            <a:ext cx="990600" cy="4876800"/>
            <a:chOff x="3323" y="823"/>
            <a:chExt cx="624" cy="3072"/>
          </a:xfrm>
        </p:grpSpPr>
        <p:sp>
          <p:nvSpPr>
            <p:cNvPr id="39" name="Rectangle 31"/>
            <p:cNvSpPr>
              <a:spLocks noChangeArrowheads="1"/>
            </p:cNvSpPr>
            <p:nvPr/>
          </p:nvSpPr>
          <p:spPr bwMode="auto">
            <a:xfrm>
              <a:off x="3323" y="351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</a:t>
              </a:r>
              <a:r>
                <a:rPr lang="en-US" altLang="en-US" dirty="0" smtClean="0"/>
                <a:t>7</a:t>
              </a:r>
              <a:endParaRPr lang="en-US" altLang="en-US" dirty="0"/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3323" y="312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6</a:t>
              </a:r>
              <a:endParaRPr lang="en-US" altLang="en-US" dirty="0"/>
            </a:p>
          </p:txBody>
        </p:sp>
        <p:sp>
          <p:nvSpPr>
            <p:cNvPr id="41" name="Rectangle 33"/>
            <p:cNvSpPr>
              <a:spLocks noChangeArrowheads="1"/>
            </p:cNvSpPr>
            <p:nvPr/>
          </p:nvSpPr>
          <p:spPr bwMode="auto">
            <a:xfrm>
              <a:off x="3323" y="274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5</a:t>
              </a:r>
              <a:endParaRPr lang="en-US" altLang="en-US" dirty="0"/>
            </a:p>
          </p:txBody>
        </p:sp>
        <p:sp>
          <p:nvSpPr>
            <p:cNvPr id="42" name="Rectangle 34"/>
            <p:cNvSpPr>
              <a:spLocks noChangeArrowheads="1"/>
            </p:cNvSpPr>
            <p:nvPr/>
          </p:nvSpPr>
          <p:spPr bwMode="auto">
            <a:xfrm>
              <a:off x="3323" y="2359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4</a:t>
              </a:r>
              <a:endParaRPr lang="en-US" altLang="en-US" dirty="0"/>
            </a:p>
          </p:txBody>
        </p:sp>
        <p:sp>
          <p:nvSpPr>
            <p:cNvPr id="43" name="Rectangle 35"/>
            <p:cNvSpPr>
              <a:spLocks noChangeArrowheads="1"/>
            </p:cNvSpPr>
            <p:nvPr/>
          </p:nvSpPr>
          <p:spPr bwMode="auto">
            <a:xfrm>
              <a:off x="3323" y="1975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3</a:t>
              </a:r>
              <a:endParaRPr lang="en-US" altLang="en-US" dirty="0"/>
            </a:p>
          </p:txBody>
        </p:sp>
        <p:sp>
          <p:nvSpPr>
            <p:cNvPr id="44" name="Rectangle 36"/>
            <p:cNvSpPr>
              <a:spLocks noChangeArrowheads="1"/>
            </p:cNvSpPr>
            <p:nvPr/>
          </p:nvSpPr>
          <p:spPr bwMode="auto">
            <a:xfrm>
              <a:off x="3323" y="1591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2</a:t>
              </a:r>
              <a:endParaRPr lang="en-US" altLang="en-US" dirty="0"/>
            </a:p>
          </p:txBody>
        </p:sp>
        <p:sp>
          <p:nvSpPr>
            <p:cNvPr id="45" name="Rectangle 37"/>
            <p:cNvSpPr>
              <a:spLocks noChangeArrowheads="1"/>
            </p:cNvSpPr>
            <p:nvPr/>
          </p:nvSpPr>
          <p:spPr bwMode="auto">
            <a:xfrm>
              <a:off x="3323" y="1207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 smtClean="0"/>
                <a:t>1</a:t>
              </a:r>
              <a:endParaRPr lang="en-US" altLang="en-US" dirty="0"/>
            </a:p>
          </p:txBody>
        </p:sp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3323" y="823"/>
              <a:ext cx="62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dirty="0"/>
                <a:t>frame </a:t>
              </a:r>
              <a:r>
                <a:rPr lang="en-US" altLang="en-US" dirty="0" smtClean="0"/>
                <a:t>0</a:t>
              </a:r>
              <a:endParaRPr lang="en-US" alt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319077" y="1134976"/>
            <a:ext cx="1600200" cy="1905404"/>
            <a:chOff x="3446417" y="2906715"/>
            <a:chExt cx="1600200" cy="1905404"/>
          </a:xfrm>
        </p:grpSpPr>
        <p:grpSp>
          <p:nvGrpSpPr>
            <p:cNvPr id="25" name="Group 58"/>
            <p:cNvGrpSpPr>
              <a:grpSpLocks/>
            </p:cNvGrpSpPr>
            <p:nvPr/>
          </p:nvGrpSpPr>
          <p:grpSpPr bwMode="auto">
            <a:xfrm>
              <a:off x="3598862" y="2906715"/>
              <a:ext cx="990600" cy="1524001"/>
              <a:chOff x="2123" y="2407"/>
              <a:chExt cx="624" cy="960"/>
            </a:xfrm>
          </p:grpSpPr>
          <p:grpSp>
            <p:nvGrpSpPr>
              <p:cNvPr id="27" name="Group 48"/>
              <p:cNvGrpSpPr>
                <a:grpSpLocks/>
              </p:cNvGrpSpPr>
              <p:nvPr/>
            </p:nvGrpSpPr>
            <p:grpSpPr bwMode="auto">
              <a:xfrm>
                <a:off x="2123" y="2407"/>
                <a:ext cx="624" cy="240"/>
                <a:chOff x="2219" y="3895"/>
                <a:chExt cx="624" cy="240"/>
              </a:xfrm>
            </p:grpSpPr>
            <p:sp>
              <p:nvSpPr>
                <p:cNvPr id="37" name="Rectangle 21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38" name="Rectangle 4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2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8" name="Group 49"/>
              <p:cNvGrpSpPr>
                <a:grpSpLocks/>
              </p:cNvGrpSpPr>
              <p:nvPr/>
            </p:nvGrpSpPr>
            <p:grpSpPr bwMode="auto">
              <a:xfrm>
                <a:off x="2123" y="2647"/>
                <a:ext cx="624" cy="240"/>
                <a:chOff x="2219" y="3895"/>
                <a:chExt cx="624" cy="240"/>
              </a:xfrm>
            </p:grpSpPr>
            <p:sp>
              <p:nvSpPr>
                <p:cNvPr id="35" name="Rectangle 50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36" name="Rectangle 51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7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9" name="Group 52"/>
              <p:cNvGrpSpPr>
                <a:grpSpLocks/>
              </p:cNvGrpSpPr>
              <p:nvPr/>
            </p:nvGrpSpPr>
            <p:grpSpPr bwMode="auto">
              <a:xfrm>
                <a:off x="2123" y="2887"/>
                <a:ext cx="624" cy="240"/>
                <a:chOff x="2219" y="3895"/>
                <a:chExt cx="624" cy="240"/>
              </a:xfrm>
            </p:grpSpPr>
            <p:sp>
              <p:nvSpPr>
                <p:cNvPr id="33" name="Rectangle 53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2</a:t>
                  </a:r>
                  <a:endParaRPr lang="en-US" altLang="en-US" sz="1600" dirty="0"/>
                </a:p>
              </p:txBody>
            </p:sp>
            <p:sp>
              <p:nvSpPr>
                <p:cNvPr id="34" name="Rectangle 54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1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0" name="Group 55"/>
              <p:cNvGrpSpPr>
                <a:grpSpLocks/>
              </p:cNvGrpSpPr>
              <p:nvPr/>
            </p:nvGrpSpPr>
            <p:grpSpPr bwMode="auto">
              <a:xfrm>
                <a:off x="2123" y="3127"/>
                <a:ext cx="624" cy="240"/>
                <a:chOff x="2219" y="3895"/>
                <a:chExt cx="624" cy="240"/>
              </a:xfrm>
            </p:grpSpPr>
            <p:sp>
              <p:nvSpPr>
                <p:cNvPr id="31" name="Rectangle 56"/>
                <p:cNvSpPr>
                  <a:spLocks noChangeArrowheads="1"/>
                </p:cNvSpPr>
                <p:nvPr/>
              </p:nvSpPr>
              <p:spPr bwMode="auto">
                <a:xfrm>
                  <a:off x="2219" y="3895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3</a:t>
                  </a:r>
                  <a:endParaRPr lang="en-US" altLang="en-US" sz="1600" dirty="0"/>
                </a:p>
              </p:txBody>
            </p:sp>
            <p:sp>
              <p:nvSpPr>
                <p:cNvPr id="32" name="Rectangle 5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5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26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C00000"/>
                  </a:solidFill>
                </a:rPr>
                <a:t>Process P's</a:t>
              </a:r>
            </a:p>
            <a:p>
              <a:pPr algn="ctr"/>
              <a:r>
                <a:rPr lang="en-US" altLang="en-US" sz="1600" b="1" dirty="0" smtClean="0"/>
                <a:t>page table</a:t>
              </a:r>
              <a:endParaRPr lang="en-US" altLang="en-US" sz="1600" b="1" dirty="0"/>
            </a:p>
          </p:txBody>
        </p:sp>
      </p:grp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7391400" y="39626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3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7391400" y="21338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0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3" name="Rectangle 17"/>
          <p:cNvSpPr>
            <a:spLocks noChangeArrowheads="1"/>
          </p:cNvSpPr>
          <p:nvPr/>
        </p:nvSpPr>
        <p:spPr bwMode="auto">
          <a:xfrm>
            <a:off x="7391400" y="15242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2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7391400" y="5181805"/>
            <a:ext cx="1143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1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33399" y="3819736"/>
            <a:ext cx="4414181" cy="2548407"/>
            <a:chOff x="533399" y="3819736"/>
            <a:chExt cx="4414181" cy="2548407"/>
          </a:xfrm>
        </p:grpSpPr>
        <p:grpSp>
          <p:nvGrpSpPr>
            <p:cNvPr id="54" name="Group 53"/>
            <p:cNvGrpSpPr/>
            <p:nvPr/>
          </p:nvGrpSpPr>
          <p:grpSpPr>
            <a:xfrm>
              <a:off x="770708" y="3819736"/>
              <a:ext cx="1143000" cy="1828800"/>
              <a:chOff x="711926" y="1013764"/>
              <a:chExt cx="1143000" cy="2438400"/>
            </a:xfrm>
          </p:grpSpPr>
          <p:sp>
            <p:nvSpPr>
              <p:cNvPr id="55" name="Rectangle 4"/>
              <p:cNvSpPr>
                <a:spLocks noChangeArrowheads="1"/>
              </p:cNvSpPr>
              <p:nvPr/>
            </p:nvSpPr>
            <p:spPr bwMode="auto">
              <a:xfrm>
                <a:off x="711926" y="28425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3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2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59" name="Rectangle 15"/>
            <p:cNvSpPr>
              <a:spLocks noChangeArrowheads="1"/>
            </p:cNvSpPr>
            <p:nvPr/>
          </p:nvSpPr>
          <p:spPr bwMode="auto">
            <a:xfrm>
              <a:off x="533399" y="5682343"/>
              <a:ext cx="1600200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C00000"/>
                  </a:solidFill>
                </a:rPr>
                <a:t>Process Q's</a:t>
              </a:r>
            </a:p>
            <a:p>
              <a:pPr algn="ctr"/>
              <a:r>
                <a:rPr lang="en-US" altLang="en-US" sz="1600" b="1" dirty="0" smtClean="0"/>
                <a:t>logical </a:t>
              </a:r>
              <a:r>
                <a:rPr lang="en-US" altLang="en-US" sz="1600" b="1" dirty="0"/>
                <a:t>memory</a:t>
              </a:r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3347380" y="4228693"/>
              <a:ext cx="1600200" cy="1905404"/>
              <a:chOff x="3446417" y="2906715"/>
              <a:chExt cx="1600200" cy="1905404"/>
            </a:xfrm>
          </p:grpSpPr>
          <p:grpSp>
            <p:nvGrpSpPr>
              <p:cNvPr id="61" name="Group 58"/>
              <p:cNvGrpSpPr>
                <a:grpSpLocks/>
              </p:cNvGrpSpPr>
              <p:nvPr/>
            </p:nvGrpSpPr>
            <p:grpSpPr bwMode="auto">
              <a:xfrm>
                <a:off x="3598862" y="2906715"/>
                <a:ext cx="990600" cy="1524001"/>
                <a:chOff x="2123" y="2407"/>
                <a:chExt cx="624" cy="960"/>
              </a:xfrm>
            </p:grpSpPr>
            <p:grpSp>
              <p:nvGrpSpPr>
                <p:cNvPr id="63" name="Group 48"/>
                <p:cNvGrpSpPr>
                  <a:grpSpLocks/>
                </p:cNvGrpSpPr>
                <p:nvPr/>
              </p:nvGrpSpPr>
              <p:grpSpPr bwMode="auto">
                <a:xfrm>
                  <a:off x="2123" y="2407"/>
                  <a:ext cx="624" cy="240"/>
                  <a:chOff x="2219" y="3895"/>
                  <a:chExt cx="624" cy="240"/>
                </a:xfrm>
              </p:grpSpPr>
              <p:sp>
                <p:nvSpPr>
                  <p:cNvPr id="7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0</a:t>
                    </a:r>
                    <a:endParaRPr lang="en-US" altLang="en-US" sz="1600" dirty="0"/>
                  </a:p>
                </p:txBody>
              </p:sp>
              <p:sp>
                <p:nvSpPr>
                  <p:cNvPr id="74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4" name="Group 49"/>
                <p:cNvGrpSpPr>
                  <a:grpSpLocks/>
                </p:cNvGrpSpPr>
                <p:nvPr/>
              </p:nvGrpSpPr>
              <p:grpSpPr bwMode="auto">
                <a:xfrm>
                  <a:off x="2123" y="2647"/>
                  <a:ext cx="624" cy="240"/>
                  <a:chOff x="2219" y="3895"/>
                  <a:chExt cx="624" cy="240"/>
                </a:xfrm>
              </p:grpSpPr>
              <p:sp>
                <p:nvSpPr>
                  <p:cNvPr id="71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1</a:t>
                    </a:r>
                    <a:endParaRPr lang="en-US" altLang="en-US" sz="1600" dirty="0"/>
                  </a:p>
                </p:txBody>
              </p:sp>
              <p:sp>
                <p:nvSpPr>
                  <p:cNvPr id="7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5" name="Group 52"/>
                <p:cNvGrpSpPr>
                  <a:grpSpLocks/>
                </p:cNvGrpSpPr>
                <p:nvPr/>
              </p:nvGrpSpPr>
              <p:grpSpPr bwMode="auto">
                <a:xfrm>
                  <a:off x="2123" y="2887"/>
                  <a:ext cx="624" cy="240"/>
                  <a:chOff x="2219" y="3895"/>
                  <a:chExt cx="624" cy="240"/>
                </a:xfrm>
              </p:grpSpPr>
              <p:sp>
                <p:nvSpPr>
                  <p:cNvPr id="6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2</a:t>
                    </a:r>
                    <a:endParaRPr lang="en-US" altLang="en-US" sz="1600" dirty="0"/>
                  </a:p>
                </p:txBody>
              </p:sp>
              <p:sp>
                <p:nvSpPr>
                  <p:cNvPr id="7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  <p:grpSp>
              <p:nvGrpSpPr>
                <p:cNvPr id="66" name="Group 55"/>
                <p:cNvGrpSpPr>
                  <a:grpSpLocks/>
                </p:cNvGrpSpPr>
                <p:nvPr/>
              </p:nvGrpSpPr>
              <p:grpSpPr bwMode="auto">
                <a:xfrm>
                  <a:off x="2123" y="3127"/>
                  <a:ext cx="624" cy="240"/>
                  <a:chOff x="2219" y="3895"/>
                  <a:chExt cx="624" cy="240"/>
                </a:xfrm>
              </p:grpSpPr>
              <p:sp>
                <p:nvSpPr>
                  <p:cNvPr id="6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2219" y="3895"/>
                    <a:ext cx="288" cy="24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r"/>
                    <a:r>
                      <a:rPr lang="en-US" altLang="en-US" sz="1600" dirty="0" smtClean="0"/>
                      <a:t>3</a:t>
                    </a:r>
                    <a:endParaRPr lang="en-US" altLang="en-US" sz="1600" dirty="0"/>
                  </a:p>
                </p:txBody>
              </p:sp>
              <p:sp>
                <p:nvSpPr>
                  <p:cNvPr id="6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507" y="3895"/>
                    <a:ext cx="336" cy="240"/>
                  </a:xfrm>
                  <a:prstGeom prst="rect">
                    <a:avLst/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/>
                  <a:lstStyle/>
                  <a:p>
                    <a:pPr algn="ctr"/>
                    <a:endParaRPr lang="en-US" altLang="en-US" sz="1600" b="1" dirty="0">
                      <a:latin typeface="Courier New" panose="02070309020205020404" pitchFamily="49" charset="0"/>
                    </a:endParaRPr>
                  </a:p>
                </p:txBody>
              </p:sp>
            </p:grpSp>
          </p:grpSp>
          <p:sp>
            <p:nvSpPr>
              <p:cNvPr id="62" name="Rectangle 59"/>
              <p:cNvSpPr>
                <a:spLocks noChangeArrowheads="1"/>
              </p:cNvSpPr>
              <p:nvPr/>
            </p:nvSpPr>
            <p:spPr bwMode="auto">
              <a:xfrm>
                <a:off x="3446417" y="4507320"/>
                <a:ext cx="1600200" cy="3047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 smtClean="0">
                    <a:solidFill>
                      <a:srgbClr val="C00000"/>
                    </a:solidFill>
                  </a:rPr>
                  <a:t>Process Q's</a:t>
                </a:r>
              </a:p>
              <a:p>
                <a:pPr algn="ctr"/>
                <a:r>
                  <a:rPr lang="en-US" altLang="en-US" sz="1600" b="1" dirty="0" smtClean="0"/>
                  <a:t>page table</a:t>
                </a:r>
                <a:endParaRPr lang="en-US" altLang="en-US" sz="1600" b="1" dirty="0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7391400" y="914605"/>
            <a:ext cx="1143046" cy="4276731"/>
            <a:chOff x="7391400" y="914605"/>
            <a:chExt cx="1143046" cy="4276731"/>
          </a:xfrm>
        </p:grpSpPr>
        <p:sp>
          <p:nvSpPr>
            <p:cNvPr id="75" name="Rectangle 10"/>
            <p:cNvSpPr>
              <a:spLocks noChangeArrowheads="1"/>
            </p:cNvSpPr>
            <p:nvPr/>
          </p:nvSpPr>
          <p:spPr bwMode="auto">
            <a:xfrm>
              <a:off x="7391446" y="33530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76" name="Rectangle 13"/>
            <p:cNvSpPr>
              <a:spLocks noChangeArrowheads="1"/>
            </p:cNvSpPr>
            <p:nvPr/>
          </p:nvSpPr>
          <p:spPr bwMode="auto">
            <a:xfrm>
              <a:off x="7391400" y="2735581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2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77" name="Rectangle 17"/>
            <p:cNvSpPr>
              <a:spLocks noChangeArrowheads="1"/>
            </p:cNvSpPr>
            <p:nvPr/>
          </p:nvSpPr>
          <p:spPr bwMode="auto">
            <a:xfrm>
              <a:off x="7391400" y="914605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78" name="Rectangle 18"/>
            <p:cNvSpPr>
              <a:spLocks noChangeArrowheads="1"/>
            </p:cNvSpPr>
            <p:nvPr/>
          </p:nvSpPr>
          <p:spPr bwMode="auto">
            <a:xfrm>
              <a:off x="7391446" y="4581736"/>
              <a:ext cx="1143000" cy="609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3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80" name="Rectangle 13"/>
          <p:cNvSpPr>
            <a:spLocks noChangeArrowheads="1"/>
          </p:cNvSpPr>
          <p:nvPr/>
        </p:nvSpPr>
        <p:spPr bwMode="auto">
          <a:xfrm>
            <a:off x="7391400" y="2735580"/>
            <a:ext cx="1143000" cy="609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Page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2</a:t>
            </a:r>
            <a:endParaRPr lang="en-US" altLang="en-US" sz="1600" b="1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652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Segmentation Scheme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82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</a:p>
        </p:txBody>
      </p:sp>
      <p:sp>
        <p:nvSpPr>
          <p:cNvPr id="78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676400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The memory space of a process is treated as a single entity so far</a:t>
            </a:r>
          </a:p>
          <a:p>
            <a:pPr lvl="1"/>
            <a:r>
              <a:rPr lang="en-US" altLang="en-US" sz="2200" dirty="0"/>
              <a:t>However, </a:t>
            </a:r>
            <a:r>
              <a:rPr lang="en-US" altLang="en-US" sz="2200" dirty="0" smtClean="0"/>
              <a:t>there </a:t>
            </a:r>
            <a:r>
              <a:rPr lang="en-US" altLang="en-US" sz="2200" dirty="0"/>
              <a:t>are </a:t>
            </a:r>
            <a:r>
              <a:rPr lang="en-US" altLang="en-US" sz="2200" dirty="0" smtClean="0"/>
              <a:t>a number  </a:t>
            </a:r>
            <a:r>
              <a:rPr lang="en-US" altLang="en-US" sz="2200" dirty="0"/>
              <a:t>of </a:t>
            </a:r>
            <a:r>
              <a:rPr lang="en-US" altLang="en-US" sz="2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</a:t>
            </a:r>
            <a:r>
              <a:rPr lang="en-US" altLang="en-US" sz="22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regions </a:t>
            </a:r>
            <a:r>
              <a:rPr lang="en-US" altLang="en-US" sz="2200" dirty="0" smtClean="0"/>
              <a:t>with different usage </a:t>
            </a:r>
            <a:r>
              <a:rPr lang="en-US" altLang="en-US" sz="2200" dirty="0"/>
              <a:t>in a </a:t>
            </a:r>
            <a:r>
              <a:rPr lang="en-US" altLang="en-US" sz="2200" dirty="0" smtClean="0"/>
              <a:t>process</a:t>
            </a:r>
          </a:p>
          <a:p>
            <a:pPr marL="344487" lvl="1" indent="0">
              <a:buNone/>
            </a:pPr>
            <a:endParaRPr lang="en-US" altLang="en-US" sz="2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371600" y="2772974"/>
            <a:ext cx="1905000" cy="3467100"/>
            <a:chOff x="5791200" y="1828800"/>
            <a:chExt cx="2667000" cy="4533900"/>
          </a:xfrm>
        </p:grpSpPr>
        <p:sp>
          <p:nvSpPr>
            <p:cNvPr id="7" name="Rectangle 13"/>
            <p:cNvSpPr>
              <a:spLocks noChangeArrowheads="1"/>
            </p:cNvSpPr>
            <p:nvPr/>
          </p:nvSpPr>
          <p:spPr bwMode="auto">
            <a:xfrm>
              <a:off x="5791200" y="1828800"/>
              <a:ext cx="2667000" cy="4533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5791200" y="1830224"/>
              <a:ext cx="2667000" cy="4532476"/>
              <a:chOff x="5791200" y="1830224"/>
              <a:chExt cx="2667000" cy="4532476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5791200" y="1830224"/>
                <a:ext cx="2667000" cy="12192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n-US" altLang="en-US" sz="2400" b="1" dirty="0" smtClean="0">
                    <a:latin typeface="Courier New" pitchFamily="49" charset="0"/>
                  </a:rPr>
                  <a:t>Text</a:t>
                </a:r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8" name="Rectangle 5"/>
              <p:cNvSpPr>
                <a:spLocks noChangeArrowheads="1"/>
              </p:cNvSpPr>
              <p:nvPr/>
            </p:nvSpPr>
            <p:spPr bwMode="auto">
              <a:xfrm>
                <a:off x="5791200" y="3044439"/>
                <a:ext cx="2667000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 smtClean="0">
                    <a:latin typeface="Courier New" pitchFamily="49" charset="0"/>
                  </a:rPr>
                  <a:t>Data</a:t>
                </a:r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5791200" y="5372100"/>
                <a:ext cx="2667000" cy="990600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 smtClean="0">
                    <a:latin typeface="Courier New" pitchFamily="49" charset="0"/>
                  </a:rPr>
                  <a:t>Stack</a:t>
                </a:r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5791200" y="4038600"/>
                <a:ext cx="2667000" cy="76200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 smtClean="0">
                    <a:latin typeface="Courier New" pitchFamily="49" charset="0"/>
                  </a:rPr>
                  <a:t>Heap</a:t>
                </a:r>
                <a:endParaRPr lang="en-US" altLang="en-US" sz="2400" b="1" dirty="0">
                  <a:latin typeface="Courier New" pitchFamily="49" charset="0"/>
                </a:endParaRPr>
              </a:p>
            </p:txBody>
          </p:sp>
        </p:grpSp>
      </p:grp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4419600" y="2935210"/>
            <a:ext cx="1905000" cy="932329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2400" b="1" dirty="0" smtClean="0">
                <a:latin typeface="Courier New" pitchFamily="49" charset="0"/>
              </a:rPr>
              <a:t>Text</a:t>
            </a:r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3467100" y="4193646"/>
            <a:ext cx="1905000" cy="757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 smtClean="0">
                <a:latin typeface="Courier New" pitchFamily="49" charset="0"/>
              </a:rPr>
              <a:t>Data</a:t>
            </a:r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4876800" y="5294156"/>
            <a:ext cx="1905000" cy="757518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 smtClean="0">
                <a:latin typeface="Courier New" pitchFamily="49" charset="0"/>
              </a:rPr>
              <a:t>Stack</a:t>
            </a:r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070600" y="4168745"/>
            <a:ext cx="1905000" cy="582706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 smtClean="0">
                <a:latin typeface="Courier New" pitchFamily="49" charset="0"/>
              </a:rPr>
              <a:t>Heap</a:t>
            </a:r>
            <a:endParaRPr lang="en-US" altLang="en-US" sz="2400" b="1" dirty="0">
              <a:latin typeface="Courier New" pitchFamily="49" charset="0"/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371600" y="2782935"/>
            <a:ext cx="1905000" cy="3466011"/>
          </a:xfrm>
          <a:prstGeom prst="rect">
            <a:avLst/>
          </a:prstGeom>
          <a:solidFill>
            <a:schemeClr val="bg1">
              <a:lumMod val="6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 eaLnBrk="0" hangingPunct="0"/>
            <a:r>
              <a:rPr lang="en-US" altLang="en-US" sz="2400" b="1" dirty="0" smtClean="0">
                <a:latin typeface="Courier New" pitchFamily="49" charset="0"/>
              </a:rPr>
              <a:t>Logical</a:t>
            </a:r>
          </a:p>
          <a:p>
            <a:pPr algn="ctr" eaLnBrk="0" hangingPunct="0"/>
            <a:r>
              <a:rPr lang="en-US" altLang="en-US" sz="2400" b="1" dirty="0" smtClean="0">
                <a:latin typeface="Courier New" pitchFamily="49" charset="0"/>
              </a:rPr>
              <a:t>Memory</a:t>
            </a:r>
          </a:p>
          <a:p>
            <a:pPr algn="ctr" eaLnBrk="0" hangingPunct="0"/>
            <a:r>
              <a:rPr lang="en-US" altLang="en-US" sz="2400" b="1" dirty="0" smtClean="0">
                <a:latin typeface="Courier New" pitchFamily="49" charset="0"/>
              </a:rPr>
              <a:t>Space</a:t>
            </a:r>
            <a:endParaRPr lang="en-US" alt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52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  <a:r>
              <a:rPr lang="en-US" altLang="en-US" sz="3800" dirty="0" smtClean="0"/>
              <a:t> </a:t>
            </a:r>
            <a:r>
              <a:rPr lang="en-US" altLang="en-US" sz="3800" dirty="0"/>
              <a:t>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78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Some </a:t>
            </a:r>
            <a:r>
              <a:rPr lang="en-US" altLang="en-US" dirty="0" smtClean="0"/>
              <a:t>regions </a:t>
            </a:r>
            <a:r>
              <a:rPr lang="en-US" altLang="en-US" dirty="0"/>
              <a:t>may </a:t>
            </a:r>
            <a:r>
              <a:rPr lang="en-US" altLang="en-US" b="1" dirty="0" smtClean="0">
                <a:solidFill>
                  <a:srgbClr val="003300"/>
                </a:solidFill>
              </a:rPr>
              <a:t>grow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/ </a:t>
            </a:r>
            <a:r>
              <a:rPr lang="en-US" altLang="en-US" b="1" dirty="0" smtClean="0">
                <a:solidFill>
                  <a:srgbClr val="C00000"/>
                </a:solidFill>
              </a:rPr>
              <a:t>shrink</a:t>
            </a:r>
            <a:r>
              <a:rPr lang="en-US" altLang="en-US" b="1" dirty="0" smtClean="0"/>
              <a:t> </a:t>
            </a:r>
            <a:r>
              <a:rPr lang="en-US" altLang="en-US" dirty="0"/>
              <a:t>at execution </a:t>
            </a:r>
            <a:r>
              <a:rPr lang="en-US" altLang="en-US" dirty="0" smtClean="0"/>
              <a:t>time</a:t>
            </a:r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  <p:grpSp>
        <p:nvGrpSpPr>
          <p:cNvPr id="13" name="Group 12"/>
          <p:cNvGrpSpPr/>
          <p:nvPr/>
        </p:nvGrpSpPr>
        <p:grpSpPr>
          <a:xfrm>
            <a:off x="1905000" y="2538770"/>
            <a:ext cx="1905000" cy="3467100"/>
            <a:chOff x="5791200" y="1828800"/>
            <a:chExt cx="2667000" cy="4533900"/>
          </a:xfrm>
        </p:grpSpPr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5791200" y="1828800"/>
              <a:ext cx="2667000" cy="4533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5791200" y="1830224"/>
              <a:ext cx="2667000" cy="4532476"/>
              <a:chOff x="5791200" y="1830224"/>
              <a:chExt cx="2667000" cy="4532476"/>
            </a:xfrm>
          </p:grpSpPr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5791200" y="1830224"/>
                <a:ext cx="2667000" cy="12192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17" name="Rectangle 5"/>
              <p:cNvSpPr>
                <a:spLocks noChangeArrowheads="1"/>
              </p:cNvSpPr>
              <p:nvPr/>
            </p:nvSpPr>
            <p:spPr bwMode="auto">
              <a:xfrm>
                <a:off x="5791200" y="3044439"/>
                <a:ext cx="2667000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18" name="Rectangle 5"/>
              <p:cNvSpPr>
                <a:spLocks noChangeArrowheads="1"/>
              </p:cNvSpPr>
              <p:nvPr/>
            </p:nvSpPr>
            <p:spPr bwMode="auto">
              <a:xfrm>
                <a:off x="5791200" y="5117122"/>
                <a:ext cx="2667000" cy="1245578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19" name="Rectangle 5"/>
              <p:cNvSpPr>
                <a:spLocks noChangeArrowheads="1"/>
              </p:cNvSpPr>
              <p:nvPr/>
            </p:nvSpPr>
            <p:spPr bwMode="auto">
              <a:xfrm>
                <a:off x="5791200" y="4038599"/>
                <a:ext cx="2667000" cy="1078523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</p:grpSp>
      </p:grpSp>
      <p:grpSp>
        <p:nvGrpSpPr>
          <p:cNvPr id="20" name="Group 19"/>
          <p:cNvGrpSpPr/>
          <p:nvPr/>
        </p:nvGrpSpPr>
        <p:grpSpPr>
          <a:xfrm>
            <a:off x="5181600" y="2290303"/>
            <a:ext cx="1905000" cy="4051441"/>
            <a:chOff x="5791200" y="1828800"/>
            <a:chExt cx="2667000" cy="5298037"/>
          </a:xfrm>
        </p:grpSpPr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5791200" y="1828800"/>
              <a:ext cx="2667000" cy="45339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itchFamily="49" charset="0"/>
              </a:endParaRPr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5791200" y="1830224"/>
              <a:ext cx="2667000" cy="5296613"/>
              <a:chOff x="5791200" y="1830224"/>
              <a:chExt cx="2667000" cy="5296613"/>
            </a:xfrm>
          </p:grpSpPr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5791200" y="1830224"/>
                <a:ext cx="2667000" cy="1219200"/>
              </a:xfrm>
              <a:prstGeom prst="rect">
                <a:avLst/>
              </a:prstGeom>
              <a:solidFill>
                <a:srgbClr val="CC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5791200" y="3310346"/>
                <a:ext cx="2667000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5791200" y="5881259"/>
                <a:ext cx="2667000" cy="1245578"/>
              </a:xfrm>
              <a:prstGeom prst="rect">
                <a:avLst/>
              </a:prstGeom>
              <a:solidFill>
                <a:srgbClr val="FF99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  <p:sp>
            <p:nvSpPr>
              <p:cNvPr id="26" name="Rectangle 5"/>
              <p:cNvSpPr>
                <a:spLocks noChangeArrowheads="1"/>
              </p:cNvSpPr>
              <p:nvPr/>
            </p:nvSpPr>
            <p:spPr bwMode="auto">
              <a:xfrm>
                <a:off x="5791200" y="4603444"/>
                <a:ext cx="2667000" cy="1078523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altLang="en-US" sz="2400" b="1" dirty="0">
                  <a:latin typeface="Courier New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952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Segmentation Scheme: </a:t>
            </a:r>
            <a:r>
              <a:rPr lang="en-US" altLang="en-US" sz="3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Idea</a:t>
            </a:r>
          </a:p>
        </p:txBody>
      </p:sp>
      <p:sp>
        <p:nvSpPr>
          <p:cNvPr id="79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6096000" cy="5486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Separate the regions into multiple </a:t>
            </a:r>
            <a:r>
              <a:rPr lang="en-US" altLang="en-US" b="1" dirty="0">
                <a:solidFill>
                  <a:srgbClr val="660066"/>
                </a:solidFill>
              </a:rPr>
              <a:t>memory</a:t>
            </a:r>
            <a:r>
              <a:rPr lang="en-US" altLang="en-US" dirty="0">
                <a:solidFill>
                  <a:srgbClr val="660066"/>
                </a:solidFill>
              </a:rPr>
              <a:t> </a:t>
            </a:r>
            <a:r>
              <a:rPr lang="en-US" altLang="en-US" b="1" dirty="0" smtClean="0">
                <a:solidFill>
                  <a:srgbClr val="660066"/>
                </a:solidFill>
              </a:rPr>
              <a:t>segments</a:t>
            </a:r>
            <a:endParaRPr lang="en-US" altLang="en-US" b="1" dirty="0">
              <a:solidFill>
                <a:srgbClr val="660066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</a:t>
            </a:r>
            <a:r>
              <a:rPr lang="en-US" altLang="en-US" dirty="0" smtClean="0"/>
              <a:t>memory space </a:t>
            </a:r>
            <a:r>
              <a:rPr lang="en-US" altLang="en-US" dirty="0"/>
              <a:t>of a process is now a collection of </a:t>
            </a:r>
            <a:r>
              <a:rPr lang="en-US" altLang="en-US" b="1" dirty="0"/>
              <a:t>segments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Each </a:t>
            </a:r>
            <a:r>
              <a:rPr lang="en-US" altLang="en-US" dirty="0"/>
              <a:t>memory segment: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Has a </a:t>
            </a:r>
            <a:r>
              <a:rPr lang="en-US" altLang="en-US" b="1" dirty="0">
                <a:solidFill>
                  <a:srgbClr val="C00000"/>
                </a:solidFill>
              </a:rPr>
              <a:t>name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Has </a:t>
            </a: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00"/>
                </a:solidFill>
              </a:rPr>
              <a:t>limit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All </a:t>
            </a:r>
            <a:r>
              <a:rPr lang="en-US" altLang="en-US" dirty="0"/>
              <a:t>memory reference is now specified as: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 name</a:t>
            </a:r>
            <a:r>
              <a:rPr lang="en-US" altLang="en-US" b="1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altLang="en-US" b="1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Offset</a:t>
            </a:r>
            <a:r>
              <a:rPr lang="en-US" altLang="en-US" b="1" dirty="0">
                <a:solidFill>
                  <a:srgbClr val="0033CC"/>
                </a:solidFill>
              </a:rPr>
              <a:t> </a:t>
            </a:r>
          </a:p>
        </p:txBody>
      </p:sp>
      <p:sp>
        <p:nvSpPr>
          <p:cNvPr id="791556" name="Rectangle 4"/>
          <p:cNvSpPr>
            <a:spLocks noChangeArrowheads="1"/>
          </p:cNvSpPr>
          <p:nvPr/>
        </p:nvSpPr>
        <p:spPr bwMode="auto">
          <a:xfrm>
            <a:off x="6328410" y="3352800"/>
            <a:ext cx="1371600" cy="1447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Heap </a:t>
            </a:r>
            <a:r>
              <a:rPr lang="en-US" altLang="en-US" sz="1600" b="1" dirty="0" smtClean="0">
                <a:latin typeface="Courier New" panose="02070309020205020404" pitchFamily="49" charset="0"/>
              </a:rPr>
              <a:t>Segment</a:t>
            </a:r>
          </a:p>
          <a:p>
            <a:pPr algn="ctr"/>
            <a:endParaRPr lang="en-US" altLang="en-US" sz="1600" b="1" dirty="0">
              <a:latin typeface="Courier New" panose="02070309020205020404" pitchFamily="49" charset="0"/>
            </a:endParaRPr>
          </a:p>
          <a:p>
            <a:pPr algn="ctr"/>
            <a:endParaRPr lang="en-US" altLang="en-US" sz="2000" b="1" dirty="0">
              <a:latin typeface="Courier New" panose="02070309020205020404" pitchFamily="49" charset="0"/>
            </a:endParaRPr>
          </a:p>
          <a:p>
            <a:pPr algn="ctr"/>
            <a:endParaRPr lang="en-US" altLang="en-US" sz="2000" b="1" dirty="0">
              <a:latin typeface="Courier New" panose="02070309020205020404" pitchFamily="49" charset="0"/>
            </a:endParaRPr>
          </a:p>
        </p:txBody>
      </p:sp>
      <p:sp>
        <p:nvSpPr>
          <p:cNvPr id="791557" name="Text Box 5"/>
          <p:cNvSpPr txBox="1">
            <a:spLocks noChangeArrowheads="1"/>
          </p:cNvSpPr>
          <p:nvPr/>
        </p:nvSpPr>
        <p:spPr bwMode="auto">
          <a:xfrm>
            <a:off x="5842635" y="5340687"/>
            <a:ext cx="287274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b="1" dirty="0"/>
              <a:t>Memory </a:t>
            </a:r>
            <a:r>
              <a:rPr lang="en-US" altLang="en-US" sz="2400" b="1" dirty="0" smtClean="0"/>
              <a:t>Access:</a:t>
            </a:r>
            <a:endParaRPr lang="en-US" altLang="en-US" sz="2400" b="1" dirty="0"/>
          </a:p>
          <a:p>
            <a:pPr algn="ctr">
              <a:spcBef>
                <a:spcPct val="50000"/>
              </a:spcBef>
            </a:pPr>
            <a:r>
              <a:rPr lang="en-US" altLang="en-US" sz="2400" b="1" dirty="0"/>
              <a:t>"</a:t>
            </a:r>
            <a:r>
              <a:rPr lang="en-US" altLang="en-US" sz="2400" b="1" i="1" dirty="0">
                <a:solidFill>
                  <a:srgbClr val="0033CC"/>
                </a:solidFill>
              </a:rPr>
              <a:t>Heap</a:t>
            </a:r>
            <a:r>
              <a:rPr lang="en-US" altLang="en-US" sz="2400" b="1" dirty="0"/>
              <a:t>" +</a:t>
            </a:r>
            <a:r>
              <a:rPr lang="en-US" altLang="en-US" sz="2400" b="1" dirty="0">
                <a:solidFill>
                  <a:srgbClr val="0033CC"/>
                </a:solidFill>
              </a:rPr>
              <a:t> </a:t>
            </a:r>
            <a:r>
              <a:rPr lang="en-US" altLang="en-US" sz="2400" b="1" dirty="0">
                <a:solidFill>
                  <a:schemeClr val="accent2"/>
                </a:solidFill>
              </a:rPr>
              <a:t>245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13" name="Rectangle 12"/>
          <p:cNvSpPr/>
          <p:nvPr/>
        </p:nvSpPr>
        <p:spPr>
          <a:xfrm>
            <a:off x="6346178" y="4076700"/>
            <a:ext cx="1353832" cy="4136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Item</a:t>
            </a: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7471410" y="3352800"/>
            <a:ext cx="1363980" cy="914400"/>
            <a:chOff x="7703820" y="3810000"/>
            <a:chExt cx="1363980" cy="914400"/>
          </a:xfrm>
        </p:grpSpPr>
        <p:sp>
          <p:nvSpPr>
            <p:cNvPr id="791558" name="Line 6"/>
            <p:cNvSpPr>
              <a:spLocks noChangeShapeType="1"/>
            </p:cNvSpPr>
            <p:nvPr/>
          </p:nvSpPr>
          <p:spPr bwMode="auto">
            <a:xfrm>
              <a:off x="8008620" y="3810000"/>
              <a:ext cx="381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1559" name="Line 7"/>
            <p:cNvSpPr>
              <a:spLocks noChangeShapeType="1"/>
            </p:cNvSpPr>
            <p:nvPr/>
          </p:nvSpPr>
          <p:spPr bwMode="auto">
            <a:xfrm>
              <a:off x="8237220" y="3810000"/>
              <a:ext cx="0" cy="914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1560" name="Text Box 8"/>
            <p:cNvSpPr txBox="1">
              <a:spLocks noChangeArrowheads="1"/>
            </p:cNvSpPr>
            <p:nvPr/>
          </p:nvSpPr>
          <p:spPr bwMode="auto">
            <a:xfrm>
              <a:off x="8305800" y="4127306"/>
              <a:ext cx="76200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1600" b="1" dirty="0" smtClean="0">
                  <a:solidFill>
                    <a:schemeClr val="tx2"/>
                  </a:solidFill>
                </a:rPr>
                <a:t>+</a:t>
              </a:r>
              <a:r>
                <a:rPr lang="en-US" altLang="en-US" sz="1600" b="1" dirty="0" smtClean="0">
                  <a:solidFill>
                    <a:srgbClr val="C00000"/>
                  </a:solidFill>
                </a:rPr>
                <a:t>245</a:t>
              </a:r>
              <a:endParaRPr lang="en-US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791562" name="Line 10"/>
            <p:cNvSpPr>
              <a:spLocks noChangeShapeType="1"/>
            </p:cNvSpPr>
            <p:nvPr/>
          </p:nvSpPr>
          <p:spPr bwMode="auto">
            <a:xfrm>
              <a:off x="7703820" y="4724400"/>
              <a:ext cx="990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826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1556" grpId="0" animBg="1"/>
      <p:bldP spid="791557" grpId="0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Segmentation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  <p:grpSp>
        <p:nvGrpSpPr>
          <p:cNvPr id="20" name="Group 33"/>
          <p:cNvGrpSpPr>
            <a:grpSpLocks/>
          </p:cNvGrpSpPr>
          <p:nvPr/>
        </p:nvGrpSpPr>
        <p:grpSpPr bwMode="auto">
          <a:xfrm>
            <a:off x="386443" y="1676400"/>
            <a:ext cx="5257800" cy="4338639"/>
            <a:chOff x="432" y="1152"/>
            <a:chExt cx="3312" cy="2733"/>
          </a:xfrm>
        </p:grpSpPr>
        <p:sp>
          <p:nvSpPr>
            <p:cNvPr id="21" name="Oval 8"/>
            <p:cNvSpPr>
              <a:spLocks noChangeArrowheads="1"/>
            </p:cNvSpPr>
            <p:nvPr/>
          </p:nvSpPr>
          <p:spPr bwMode="auto">
            <a:xfrm>
              <a:off x="432" y="1152"/>
              <a:ext cx="3312" cy="2016"/>
            </a:xfrm>
            <a:prstGeom prst="ellipse">
              <a:avLst/>
            </a:prstGeom>
            <a:solidFill>
              <a:srgbClr val="C4E1F2">
                <a:alpha val="74118"/>
              </a:srgbClr>
            </a:solidFill>
            <a:ln w="317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672" y="1680"/>
              <a:ext cx="816" cy="86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  <a:extLst/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User Code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1584" y="1344"/>
              <a:ext cx="816" cy="91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  <a:extLst/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Stack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1536" y="2400"/>
              <a:ext cx="816" cy="6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  <a:extLst/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Heap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2496" y="1536"/>
              <a:ext cx="816" cy="12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1">
                  <a:lumMod val="65000"/>
                </a:schemeClr>
              </a:outerShdw>
            </a:effectLst>
            <a:extLst/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Global Data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26" name="Text Box 10"/>
            <p:cNvSpPr txBox="1">
              <a:spLocks noChangeArrowheads="1"/>
            </p:cNvSpPr>
            <p:nvPr/>
          </p:nvSpPr>
          <p:spPr bwMode="auto">
            <a:xfrm>
              <a:off x="1152" y="3216"/>
              <a:ext cx="1824" cy="6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Logical Address </a:t>
              </a:r>
              <a:r>
                <a:rPr lang="en-US" altLang="en-US" b="1" dirty="0" smtClean="0"/>
                <a:t>Space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b="1" dirty="0" smtClean="0">
                  <a:solidFill>
                    <a:srgbClr val="C00000"/>
                  </a:solidFill>
                </a:rPr>
                <a:t>(Segments can be of different sizes)</a:t>
              </a:r>
              <a:endParaRPr lang="en-US" altLang="en-US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177643" y="609600"/>
            <a:ext cx="2699657" cy="6026150"/>
            <a:chOff x="6177643" y="609600"/>
            <a:chExt cx="2699657" cy="6026150"/>
          </a:xfrm>
        </p:grpSpPr>
        <p:sp>
          <p:nvSpPr>
            <p:cNvPr id="27" name="Text Box 21"/>
            <p:cNvSpPr txBox="1">
              <a:spLocks noChangeArrowheads="1"/>
            </p:cNvSpPr>
            <p:nvPr/>
          </p:nvSpPr>
          <p:spPr bwMode="auto">
            <a:xfrm>
              <a:off x="6177643" y="5573921"/>
              <a:ext cx="2699657" cy="10618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Physical </a:t>
              </a:r>
              <a:r>
                <a:rPr lang="en-US" altLang="en-US" b="1" dirty="0" smtClean="0"/>
                <a:t>Memory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b="1" dirty="0" smtClean="0">
                  <a:solidFill>
                    <a:srgbClr val="C00000"/>
                  </a:solidFill>
                </a:rPr>
                <a:t>(Segments are disjointed in RAM)</a:t>
              </a:r>
              <a:endParaRPr lang="en-US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6781800" y="2438400"/>
              <a:ext cx="1295400" cy="10556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User Code Segment</a:t>
              </a: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6781800" y="4648200"/>
              <a:ext cx="1295400" cy="90126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Stack Segment</a:t>
              </a:r>
            </a:p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6781800" y="3505200"/>
              <a:ext cx="1295400" cy="76200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Heap Segment</a:t>
              </a: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6781800" y="609600"/>
              <a:ext cx="1295400" cy="141446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Global Data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6781800" y="4267200"/>
              <a:ext cx="1295400" cy="4238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6781800" y="1981200"/>
              <a:ext cx="1295400" cy="50006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308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Segmentation: Logical Address Translation </a:t>
            </a:r>
          </a:p>
        </p:txBody>
      </p:sp>
      <p:sp>
        <p:nvSpPr>
          <p:cNvPr id="79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Each segment is mapped to a </a:t>
            </a:r>
            <a:r>
              <a:rPr lang="en-US" altLang="en-US" dirty="0" smtClean="0"/>
              <a:t>contiguous physical </a:t>
            </a:r>
            <a:r>
              <a:rPr lang="en-US" altLang="en-US" dirty="0"/>
              <a:t>memory region</a:t>
            </a:r>
          </a:p>
          <a:p>
            <a:pPr lvl="1"/>
            <a:r>
              <a:rPr lang="en-US" altLang="en-US" dirty="0"/>
              <a:t>with a </a:t>
            </a:r>
            <a:r>
              <a:rPr lang="en-US" altLang="en-US" b="1" i="1" dirty="0"/>
              <a:t>base address </a:t>
            </a:r>
            <a:r>
              <a:rPr lang="en-US" altLang="en-US" dirty="0"/>
              <a:t>and a </a:t>
            </a:r>
            <a:r>
              <a:rPr lang="en-US" altLang="en-US" b="1" i="1" dirty="0"/>
              <a:t>limit </a:t>
            </a:r>
            <a:endParaRPr lang="en-US" altLang="en-US" dirty="0"/>
          </a:p>
          <a:p>
            <a:r>
              <a:rPr lang="en-US" altLang="en-US" dirty="0"/>
              <a:t>The segmentation name is usually represented as a single number</a:t>
            </a:r>
          </a:p>
          <a:p>
            <a:pPr lvl="1"/>
            <a:r>
              <a:rPr lang="en-US" altLang="en-US" dirty="0"/>
              <a:t>Known as </a:t>
            </a:r>
            <a:r>
              <a:rPr lang="en-US" altLang="en-US" b="1" i="1" dirty="0"/>
              <a:t>segment id </a:t>
            </a:r>
          </a:p>
          <a:p>
            <a:r>
              <a:rPr lang="en-US" altLang="en-US" dirty="0"/>
              <a:t>Logical address </a:t>
            </a:r>
            <a:r>
              <a:rPr lang="en-US" altLang="en-US" sz="2800" b="1" dirty="0">
                <a:latin typeface="Courier New" panose="02070309020205020404" pitchFamily="49" charset="0"/>
              </a:rPr>
              <a:t>&lt;</a:t>
            </a:r>
            <a:r>
              <a:rPr lang="en-US" altLang="en-US" sz="28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SegID</a:t>
            </a:r>
            <a:r>
              <a:rPr lang="en-US" altLang="en-US" sz="2800" b="1" dirty="0">
                <a:latin typeface="Courier New" panose="02070309020205020404" pitchFamily="49" charset="0"/>
              </a:rPr>
              <a:t>, </a:t>
            </a:r>
            <a:r>
              <a:rPr lang="en-US" altLang="en-US" sz="28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800" b="1" dirty="0">
                <a:latin typeface="Courier New" panose="02070309020205020404" pitchFamily="49" charset="0"/>
              </a:rPr>
              <a:t>&gt;:</a:t>
            </a:r>
          </a:p>
          <a:p>
            <a:pPr lvl="1"/>
            <a:r>
              <a:rPr lang="en-US" altLang="en-US" sz="2400" b="1" dirty="0" err="1">
                <a:solidFill>
                  <a:srgbClr val="008000"/>
                </a:solidFill>
                <a:latin typeface="Courier New" panose="02070309020205020404" pitchFamily="49" charset="0"/>
              </a:rPr>
              <a:t>SegID</a:t>
            </a:r>
            <a:r>
              <a:rPr lang="en-US" altLang="en-US" dirty="0"/>
              <a:t> is used to look up </a:t>
            </a:r>
            <a:r>
              <a:rPr lang="en-US" altLang="en-US" sz="2400" b="1" dirty="0">
                <a:latin typeface="Courier New" panose="02070309020205020404" pitchFamily="49" charset="0"/>
              </a:rPr>
              <a:t>&lt;</a:t>
            </a:r>
            <a:r>
              <a:rPr lang="en-US" altLang="en-US" sz="2400" b="1" dirty="0">
                <a:solidFill>
                  <a:srgbClr val="660066"/>
                </a:solidFill>
                <a:latin typeface="Courier New" panose="02070309020205020404" pitchFamily="49" charset="0"/>
              </a:rPr>
              <a:t>Base</a:t>
            </a:r>
            <a:r>
              <a:rPr lang="en-US" altLang="en-US" sz="2400" b="1" dirty="0">
                <a:latin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Limit</a:t>
            </a:r>
            <a:r>
              <a:rPr lang="en-US" altLang="en-US" sz="2400" b="1" dirty="0">
                <a:latin typeface="Courier New" panose="02070309020205020404" pitchFamily="49" charset="0"/>
              </a:rPr>
              <a:t>&gt;</a:t>
            </a:r>
            <a:r>
              <a:rPr lang="en-US" altLang="en-US" dirty="0"/>
              <a:t> of the segment in a </a:t>
            </a:r>
            <a:r>
              <a:rPr lang="en-US" altLang="en-US" b="1" dirty="0"/>
              <a:t>segment table</a:t>
            </a:r>
            <a:endParaRPr lang="en-US" altLang="en-US" dirty="0"/>
          </a:p>
          <a:p>
            <a:pPr lvl="1"/>
            <a:r>
              <a:rPr lang="en-US" altLang="en-US" dirty="0"/>
              <a:t>Physical Address </a:t>
            </a:r>
            <a:r>
              <a:rPr lang="en-US" altLang="en-US" sz="2400" b="1" dirty="0">
                <a:latin typeface="Courier New" panose="02070309020205020404" pitchFamily="49" charset="0"/>
              </a:rPr>
              <a:t>PA</a:t>
            </a:r>
            <a:r>
              <a:rPr lang="en-US" altLang="en-US" dirty="0"/>
              <a:t> </a:t>
            </a:r>
            <a:r>
              <a:rPr lang="en-US" altLang="en-US" sz="2400" b="1" dirty="0">
                <a:latin typeface="Courier New" panose="02070309020205020404" pitchFamily="49" charset="0"/>
              </a:rPr>
              <a:t>= </a:t>
            </a:r>
            <a:r>
              <a:rPr lang="en-US" altLang="en-US" sz="2400" b="1" dirty="0">
                <a:solidFill>
                  <a:srgbClr val="9900CC"/>
                </a:solidFill>
                <a:latin typeface="Courier New" panose="02070309020205020404" pitchFamily="49" charset="0"/>
              </a:rPr>
              <a:t>Base</a:t>
            </a:r>
            <a:r>
              <a:rPr lang="en-US" altLang="en-US" sz="2400" b="1" dirty="0">
                <a:latin typeface="Courier New" panose="02070309020205020404" pitchFamily="49" charset="0"/>
              </a:rPr>
              <a:t> + </a:t>
            </a:r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</a:p>
          <a:p>
            <a:pPr lvl="1"/>
            <a:r>
              <a:rPr lang="en-US" altLang="en-US" sz="2400" b="1" dirty="0">
                <a:solidFill>
                  <a:srgbClr val="0033CC"/>
                </a:solidFill>
                <a:latin typeface="Courier New" panose="02070309020205020404" pitchFamily="49" charset="0"/>
              </a:rPr>
              <a:t>Offset</a:t>
            </a:r>
            <a:r>
              <a:rPr lang="en-US" altLang="en-US" sz="2400" b="1" dirty="0">
                <a:latin typeface="Courier New" panose="02070309020205020404" pitchFamily="49" charset="0"/>
              </a:rPr>
              <a:t> &lt; 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Limit</a:t>
            </a:r>
            <a:r>
              <a:rPr lang="en-US" altLang="en-US" dirty="0"/>
              <a:t> for valid access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3150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51"/>
          <p:cNvGrpSpPr>
            <a:grpSpLocks/>
          </p:cNvGrpSpPr>
          <p:nvPr/>
        </p:nvGrpSpPr>
        <p:grpSpPr bwMode="auto">
          <a:xfrm>
            <a:off x="2362200" y="3429000"/>
            <a:ext cx="3048000" cy="2286000"/>
            <a:chOff x="1296" y="1728"/>
            <a:chExt cx="1920" cy="1440"/>
          </a:xfrm>
        </p:grpSpPr>
        <p:grpSp>
          <p:nvGrpSpPr>
            <p:cNvPr id="51" name="Group 44"/>
            <p:cNvGrpSpPr>
              <a:grpSpLocks/>
            </p:cNvGrpSpPr>
            <p:nvPr/>
          </p:nvGrpSpPr>
          <p:grpSpPr bwMode="auto">
            <a:xfrm>
              <a:off x="1296" y="1968"/>
              <a:ext cx="288" cy="960"/>
              <a:chOff x="1536" y="2064"/>
              <a:chExt cx="288" cy="960"/>
            </a:xfrm>
          </p:grpSpPr>
          <p:sp>
            <p:nvSpPr>
              <p:cNvPr id="65" name="Rectangle 19"/>
              <p:cNvSpPr>
                <a:spLocks noChangeArrowheads="1"/>
              </p:cNvSpPr>
              <p:nvPr/>
            </p:nvSpPr>
            <p:spPr bwMode="auto">
              <a:xfrm>
                <a:off x="1536" y="206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0</a:t>
                </a:r>
              </a:p>
            </p:txBody>
          </p:sp>
          <p:sp>
            <p:nvSpPr>
              <p:cNvPr id="66" name="Rectangle 22"/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1</a:t>
                </a:r>
              </a:p>
            </p:txBody>
          </p:sp>
          <p:sp>
            <p:nvSpPr>
              <p:cNvPr id="67" name="Rectangle 25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2</a:t>
                </a:r>
              </a:p>
            </p:txBody>
          </p:sp>
          <p:sp>
            <p:nvSpPr>
              <p:cNvPr id="68" name="Rectangle 28"/>
              <p:cNvSpPr>
                <a:spLocks noChangeArrowheads="1"/>
              </p:cNvSpPr>
              <p:nvPr/>
            </p:nvSpPr>
            <p:spPr bwMode="auto">
              <a:xfrm>
                <a:off x="1536" y="278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3</a:t>
                </a:r>
              </a:p>
            </p:txBody>
          </p:sp>
        </p:grpSp>
        <p:grpSp>
          <p:nvGrpSpPr>
            <p:cNvPr id="52" name="Group 38"/>
            <p:cNvGrpSpPr>
              <a:grpSpLocks/>
            </p:cNvGrpSpPr>
            <p:nvPr/>
          </p:nvGrpSpPr>
          <p:grpSpPr bwMode="auto">
            <a:xfrm>
              <a:off x="1584" y="1968"/>
              <a:ext cx="816" cy="960"/>
              <a:chOff x="1824" y="2064"/>
              <a:chExt cx="336" cy="960"/>
            </a:xfrm>
          </p:grpSpPr>
          <p:sp>
            <p:nvSpPr>
              <p:cNvPr id="61" name="Rectangle 2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2" name="Rectangle 23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3" name="Rectangle 26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4" name="Rectangle 29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53" name="Rectangle 30"/>
            <p:cNvSpPr>
              <a:spLocks noChangeArrowheads="1"/>
            </p:cNvSpPr>
            <p:nvPr/>
          </p:nvSpPr>
          <p:spPr bwMode="auto">
            <a:xfrm>
              <a:off x="1872" y="2976"/>
              <a:ext cx="10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/>
                <a:t>segment table</a:t>
              </a:r>
            </a:p>
          </p:txBody>
        </p:sp>
        <p:grpSp>
          <p:nvGrpSpPr>
            <p:cNvPr id="54" name="Group 39"/>
            <p:cNvGrpSpPr>
              <a:grpSpLocks/>
            </p:cNvGrpSpPr>
            <p:nvPr/>
          </p:nvGrpSpPr>
          <p:grpSpPr bwMode="auto">
            <a:xfrm>
              <a:off x="2400" y="1968"/>
              <a:ext cx="816" cy="960"/>
              <a:chOff x="1824" y="2064"/>
              <a:chExt cx="336" cy="960"/>
            </a:xfrm>
          </p:grpSpPr>
          <p:sp>
            <p:nvSpPr>
              <p:cNvPr id="57" name="Rectangle 4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1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2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60" name="Rectangle 43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55" name="Rectangle 47"/>
            <p:cNvSpPr>
              <a:spLocks noChangeArrowheads="1"/>
            </p:cNvSpPr>
            <p:nvPr/>
          </p:nvSpPr>
          <p:spPr bwMode="auto">
            <a:xfrm>
              <a:off x="2400" y="1728"/>
              <a:ext cx="816" cy="2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Limit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1584" y="1728"/>
              <a:ext cx="816" cy="2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Base</a:t>
              </a:r>
            </a:p>
          </p:txBody>
        </p:sp>
      </p:grpSp>
      <p:sp>
        <p:nvSpPr>
          <p:cNvPr id="79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>
                <a:solidFill>
                  <a:srgbClr val="C00000"/>
                </a:solidFill>
              </a:rPr>
              <a:t>Logical Address Translation</a:t>
            </a:r>
            <a:r>
              <a:rPr lang="en-US" altLang="en-US" sz="3600" dirty="0"/>
              <a:t>: Illustration</a:t>
            </a:r>
          </a:p>
        </p:txBody>
      </p:sp>
      <p:sp>
        <p:nvSpPr>
          <p:cNvPr id="795658" name="Text Box 10"/>
          <p:cNvSpPr txBox="1">
            <a:spLocks noChangeArrowheads="1"/>
          </p:cNvSpPr>
          <p:nvPr/>
        </p:nvSpPr>
        <p:spPr bwMode="auto">
          <a:xfrm>
            <a:off x="6248400" y="6172200"/>
            <a:ext cx="289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Physical Memory</a:t>
            </a:r>
          </a:p>
        </p:txBody>
      </p:sp>
      <p:sp>
        <p:nvSpPr>
          <p:cNvPr id="795693" name="Text Box 45"/>
          <p:cNvSpPr txBox="1">
            <a:spLocks noChangeArrowheads="1"/>
          </p:cNvSpPr>
          <p:nvPr/>
        </p:nvSpPr>
        <p:spPr bwMode="auto">
          <a:xfrm>
            <a:off x="152400" y="990600"/>
            <a:ext cx="3810000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/>
              <a:t>Assume: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User Code </a:t>
            </a:r>
            <a:r>
              <a:rPr lang="en-US" altLang="en-US" b="1" dirty="0">
                <a:latin typeface="Courier New" panose="02070309020205020404" pitchFamily="49" charset="0"/>
              </a:rPr>
              <a:t>Segment </a:t>
            </a:r>
            <a:r>
              <a:rPr lang="en-US" altLang="en-US" b="1" dirty="0" smtClean="0">
                <a:latin typeface="Courier New" panose="02070309020205020404" pitchFamily="49" charset="0"/>
              </a:rPr>
              <a:t>  = </a:t>
            </a:r>
            <a:r>
              <a:rPr lang="en-US" altLang="en-US" b="1" dirty="0">
                <a:latin typeface="Courier New" panose="02070309020205020404" pitchFamily="49" charset="0"/>
              </a:rPr>
              <a:t>0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Global Data </a:t>
            </a:r>
            <a:r>
              <a:rPr lang="en-US" altLang="en-US" b="1" dirty="0">
                <a:latin typeface="Courier New" panose="02070309020205020404" pitchFamily="49" charset="0"/>
              </a:rPr>
              <a:t>Segment = 1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Heap</a:t>
            </a:r>
            <a:r>
              <a:rPr lang="en-US" altLang="en-US" b="1" dirty="0">
                <a:latin typeface="Courier New" panose="02070309020205020404" pitchFamily="49" charset="0"/>
              </a:rPr>
              <a:t> Segment </a:t>
            </a:r>
            <a:r>
              <a:rPr lang="en-US" altLang="en-US" b="1" dirty="0" smtClean="0">
                <a:latin typeface="Courier New" panose="02070309020205020404" pitchFamily="49" charset="0"/>
              </a:rPr>
              <a:t>       = </a:t>
            </a:r>
            <a:r>
              <a:rPr lang="en-US" altLang="en-US" b="1" dirty="0">
                <a:latin typeface="Courier New" panose="02070309020205020404" pitchFamily="49" charset="0"/>
              </a:rPr>
              <a:t>2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Stack</a:t>
            </a:r>
            <a:r>
              <a:rPr lang="en-US" altLang="en-US" b="1" dirty="0">
                <a:latin typeface="Courier New" panose="02070309020205020404" pitchFamily="49" charset="0"/>
              </a:rPr>
              <a:t> Segment </a:t>
            </a:r>
            <a:r>
              <a:rPr lang="en-US" altLang="en-US" b="1" dirty="0" smtClean="0">
                <a:latin typeface="Courier New" panose="02070309020205020404" pitchFamily="49" charset="0"/>
              </a:rPr>
              <a:t>      = </a:t>
            </a:r>
            <a:r>
              <a:rPr lang="en-US" altLang="en-US" b="1" dirty="0">
                <a:latin typeface="Courier New" panose="02070309020205020404" pitchFamily="49" charset="0"/>
              </a:rPr>
              <a:t>3</a:t>
            </a:r>
          </a:p>
        </p:txBody>
      </p:sp>
      <p:grpSp>
        <p:nvGrpSpPr>
          <p:cNvPr id="795699" name="Group 51"/>
          <p:cNvGrpSpPr>
            <a:grpSpLocks/>
          </p:cNvGrpSpPr>
          <p:nvPr/>
        </p:nvGrpSpPr>
        <p:grpSpPr bwMode="auto">
          <a:xfrm>
            <a:off x="2362200" y="3429000"/>
            <a:ext cx="3048000" cy="2286000"/>
            <a:chOff x="1296" y="1728"/>
            <a:chExt cx="1920" cy="1440"/>
          </a:xfrm>
        </p:grpSpPr>
        <p:grpSp>
          <p:nvGrpSpPr>
            <p:cNvPr id="795692" name="Group 44"/>
            <p:cNvGrpSpPr>
              <a:grpSpLocks/>
            </p:cNvGrpSpPr>
            <p:nvPr/>
          </p:nvGrpSpPr>
          <p:grpSpPr bwMode="auto">
            <a:xfrm>
              <a:off x="1296" y="1968"/>
              <a:ext cx="288" cy="960"/>
              <a:chOff x="1536" y="2064"/>
              <a:chExt cx="288" cy="960"/>
            </a:xfrm>
          </p:grpSpPr>
          <p:sp>
            <p:nvSpPr>
              <p:cNvPr id="795667" name="Rectangle 19"/>
              <p:cNvSpPr>
                <a:spLocks noChangeArrowheads="1"/>
              </p:cNvSpPr>
              <p:nvPr/>
            </p:nvSpPr>
            <p:spPr bwMode="auto">
              <a:xfrm>
                <a:off x="1536" y="206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0</a:t>
                </a:r>
              </a:p>
            </p:txBody>
          </p:sp>
          <p:sp>
            <p:nvSpPr>
              <p:cNvPr id="795670" name="Rectangle 22"/>
              <p:cNvSpPr>
                <a:spLocks noChangeArrowheads="1"/>
              </p:cNvSpPr>
              <p:nvPr/>
            </p:nvSpPr>
            <p:spPr bwMode="auto">
              <a:xfrm>
                <a:off x="1536" y="230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1</a:t>
                </a:r>
              </a:p>
            </p:txBody>
          </p:sp>
          <p:sp>
            <p:nvSpPr>
              <p:cNvPr id="795673" name="Rectangle 25"/>
              <p:cNvSpPr>
                <a:spLocks noChangeArrowheads="1"/>
              </p:cNvSpPr>
              <p:nvPr/>
            </p:nvSpPr>
            <p:spPr bwMode="auto">
              <a:xfrm>
                <a:off x="1536" y="254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2</a:t>
                </a:r>
              </a:p>
            </p:txBody>
          </p:sp>
          <p:sp>
            <p:nvSpPr>
              <p:cNvPr id="795676" name="Rectangle 28"/>
              <p:cNvSpPr>
                <a:spLocks noChangeArrowheads="1"/>
              </p:cNvSpPr>
              <p:nvPr/>
            </p:nvSpPr>
            <p:spPr bwMode="auto">
              <a:xfrm>
                <a:off x="1536" y="2784"/>
                <a:ext cx="288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/>
                  <a:t>3</a:t>
                </a:r>
              </a:p>
            </p:txBody>
          </p:sp>
        </p:grpSp>
        <p:grpSp>
          <p:nvGrpSpPr>
            <p:cNvPr id="795686" name="Group 38"/>
            <p:cNvGrpSpPr>
              <a:grpSpLocks/>
            </p:cNvGrpSpPr>
            <p:nvPr/>
          </p:nvGrpSpPr>
          <p:grpSpPr bwMode="auto">
            <a:xfrm>
              <a:off x="1584" y="1968"/>
              <a:ext cx="816" cy="960"/>
              <a:chOff x="1824" y="2064"/>
              <a:chExt cx="336" cy="960"/>
            </a:xfrm>
          </p:grpSpPr>
          <p:sp>
            <p:nvSpPr>
              <p:cNvPr id="795668" name="Rectangle 2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 dirty="0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3500</a:t>
                </a:r>
              </a:p>
            </p:txBody>
          </p:sp>
          <p:sp>
            <p:nvSpPr>
              <p:cNvPr id="795671" name="Rectangle 23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6000</a:t>
                </a:r>
              </a:p>
            </p:txBody>
          </p:sp>
          <p:sp>
            <p:nvSpPr>
              <p:cNvPr id="795674" name="Rectangle 26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2400</a:t>
                </a:r>
              </a:p>
            </p:txBody>
          </p:sp>
          <p:sp>
            <p:nvSpPr>
              <p:cNvPr id="795677" name="Rectangle 29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chemeClr val="accent2"/>
                    </a:solidFill>
                    <a:latin typeface="Courier New" panose="02070309020205020404" pitchFamily="49" charset="0"/>
                  </a:rPr>
                  <a:t>0</a:t>
                </a:r>
              </a:p>
            </p:txBody>
          </p:sp>
        </p:grpSp>
        <p:sp>
          <p:nvSpPr>
            <p:cNvPr id="795678" name="Rectangle 30"/>
            <p:cNvSpPr>
              <a:spLocks noChangeArrowheads="1"/>
            </p:cNvSpPr>
            <p:nvPr/>
          </p:nvSpPr>
          <p:spPr bwMode="auto">
            <a:xfrm>
              <a:off x="1872" y="2976"/>
              <a:ext cx="100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/>
                <a:t>segment table</a:t>
              </a:r>
              <a:endParaRPr lang="en-US" altLang="en-US" sz="1600" b="1" dirty="0"/>
            </a:p>
          </p:txBody>
        </p:sp>
        <p:grpSp>
          <p:nvGrpSpPr>
            <p:cNvPr id="795687" name="Group 39"/>
            <p:cNvGrpSpPr>
              <a:grpSpLocks/>
            </p:cNvGrpSpPr>
            <p:nvPr/>
          </p:nvGrpSpPr>
          <p:grpSpPr bwMode="auto">
            <a:xfrm>
              <a:off x="2400" y="1968"/>
              <a:ext cx="816" cy="960"/>
              <a:chOff x="1824" y="2064"/>
              <a:chExt cx="336" cy="960"/>
            </a:xfrm>
          </p:grpSpPr>
          <p:sp>
            <p:nvSpPr>
              <p:cNvPr id="795688" name="Rectangle 40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 dirty="0" smtClean="0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2200</a:t>
                </a:r>
                <a:endParaRPr lang="en-US" altLang="en-US" sz="2000" b="1" dirty="0">
                  <a:solidFill>
                    <a:srgbClr val="006600"/>
                  </a:solidFill>
                  <a:latin typeface="Courier New" panose="02070309020205020404" pitchFamily="49" charset="0"/>
                </a:endParaRPr>
              </a:p>
            </p:txBody>
          </p:sp>
          <p:sp>
            <p:nvSpPr>
              <p:cNvPr id="795689" name="Rectangle 41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1500</a:t>
                </a:r>
              </a:p>
            </p:txBody>
          </p:sp>
          <p:sp>
            <p:nvSpPr>
              <p:cNvPr id="795690" name="Rectangle 42"/>
              <p:cNvSpPr>
                <a:spLocks noChangeArrowheads="1"/>
              </p:cNvSpPr>
              <p:nvPr/>
            </p:nvSpPr>
            <p:spPr bwMode="auto">
              <a:xfrm>
                <a:off x="1824" y="254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1100</a:t>
                </a:r>
              </a:p>
            </p:txBody>
          </p:sp>
          <p:sp>
            <p:nvSpPr>
              <p:cNvPr id="795691" name="Rectangle 43"/>
              <p:cNvSpPr>
                <a:spLocks noChangeArrowheads="1"/>
              </p:cNvSpPr>
              <p:nvPr/>
            </p:nvSpPr>
            <p:spPr bwMode="auto">
              <a:xfrm>
                <a:off x="1824" y="2784"/>
                <a:ext cx="336" cy="24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000" b="1">
                    <a:solidFill>
                      <a:srgbClr val="006600"/>
                    </a:solidFill>
                    <a:latin typeface="Courier New" panose="02070309020205020404" pitchFamily="49" charset="0"/>
                  </a:rPr>
                  <a:t>1300</a:t>
                </a:r>
              </a:p>
            </p:txBody>
          </p:sp>
        </p:grpSp>
        <p:sp>
          <p:nvSpPr>
            <p:cNvPr id="795695" name="Rectangle 47"/>
            <p:cNvSpPr>
              <a:spLocks noChangeArrowheads="1"/>
            </p:cNvSpPr>
            <p:nvPr/>
          </p:nvSpPr>
          <p:spPr bwMode="auto">
            <a:xfrm>
              <a:off x="2400" y="1728"/>
              <a:ext cx="816" cy="2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Limit</a:t>
              </a:r>
            </a:p>
          </p:txBody>
        </p:sp>
        <p:sp>
          <p:nvSpPr>
            <p:cNvPr id="795698" name="Rectangle 50"/>
            <p:cNvSpPr>
              <a:spLocks noChangeArrowheads="1"/>
            </p:cNvSpPr>
            <p:nvPr/>
          </p:nvSpPr>
          <p:spPr bwMode="auto">
            <a:xfrm>
              <a:off x="1584" y="1728"/>
              <a:ext cx="816" cy="24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Base</a:t>
              </a:r>
            </a:p>
          </p:txBody>
        </p:sp>
      </p:grpSp>
      <p:sp>
        <p:nvSpPr>
          <p:cNvPr id="795719" name="Text Box 71"/>
          <p:cNvSpPr txBox="1">
            <a:spLocks noChangeArrowheads="1"/>
          </p:cNvSpPr>
          <p:nvPr/>
        </p:nvSpPr>
        <p:spPr bwMode="auto">
          <a:xfrm>
            <a:off x="2756018" y="2455863"/>
            <a:ext cx="2620711" cy="78483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Memory Access </a:t>
            </a:r>
            <a:endParaRPr lang="en-US" altLang="en-US" b="1" dirty="0" smtClean="0"/>
          </a:p>
          <a:p>
            <a:pPr algn="ctr">
              <a:spcBef>
                <a:spcPct val="50000"/>
              </a:spcBef>
            </a:pPr>
            <a:r>
              <a:rPr lang="en-US" altLang="en-US" b="1" dirty="0" smtClean="0"/>
              <a:t>&lt; </a:t>
            </a:r>
            <a:r>
              <a:rPr lang="en-US" altLang="en-US" b="1" dirty="0" smtClean="0">
                <a:solidFill>
                  <a:srgbClr val="C00000"/>
                </a:solidFill>
              </a:rPr>
              <a:t>Segment Id</a:t>
            </a:r>
            <a:r>
              <a:rPr lang="en-US" altLang="en-US" b="1" dirty="0" smtClean="0"/>
              <a:t>, </a:t>
            </a:r>
            <a:r>
              <a:rPr lang="en-US" altLang="en-US" b="1" dirty="0" smtClean="0">
                <a:solidFill>
                  <a:srgbClr val="006600"/>
                </a:solidFill>
              </a:rPr>
              <a:t>Offset </a:t>
            </a:r>
            <a:r>
              <a:rPr lang="en-US" altLang="en-US" b="1" dirty="0" smtClean="0"/>
              <a:t>&gt;</a:t>
            </a:r>
          </a:p>
        </p:txBody>
      </p:sp>
      <p:sp>
        <p:nvSpPr>
          <p:cNvPr id="795659" name="Rectangle 11"/>
          <p:cNvSpPr>
            <a:spLocks noChangeArrowheads="1"/>
          </p:cNvSpPr>
          <p:nvPr/>
        </p:nvSpPr>
        <p:spPr bwMode="auto">
          <a:xfrm>
            <a:off x="7315200" y="2895600"/>
            <a:ext cx="1295400" cy="1055688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User Code Segment</a:t>
            </a:r>
          </a:p>
        </p:txBody>
      </p:sp>
      <p:sp>
        <p:nvSpPr>
          <p:cNvPr id="795660" name="Rectangle 12"/>
          <p:cNvSpPr>
            <a:spLocks noChangeArrowheads="1"/>
          </p:cNvSpPr>
          <p:nvPr/>
        </p:nvSpPr>
        <p:spPr bwMode="auto">
          <a:xfrm>
            <a:off x="7315200" y="5105400"/>
            <a:ext cx="1295400" cy="103346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Stack Segment</a:t>
            </a:r>
          </a:p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1" name="Rectangle 13"/>
          <p:cNvSpPr>
            <a:spLocks noChangeArrowheads="1"/>
          </p:cNvSpPr>
          <p:nvPr/>
        </p:nvSpPr>
        <p:spPr bwMode="auto">
          <a:xfrm>
            <a:off x="7315200" y="3962400"/>
            <a:ext cx="1295400" cy="7620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Heap Segment</a:t>
            </a:r>
          </a:p>
        </p:txBody>
      </p:sp>
      <p:sp>
        <p:nvSpPr>
          <p:cNvPr id="795662" name="Rectangle 14"/>
          <p:cNvSpPr>
            <a:spLocks noChangeArrowheads="1"/>
          </p:cNvSpPr>
          <p:nvPr/>
        </p:nvSpPr>
        <p:spPr bwMode="auto">
          <a:xfrm>
            <a:off x="7315200" y="1066800"/>
            <a:ext cx="1295400" cy="1414463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Global Data Segment</a:t>
            </a:r>
          </a:p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3" name="Rectangle 15"/>
          <p:cNvSpPr>
            <a:spLocks noChangeArrowheads="1"/>
          </p:cNvSpPr>
          <p:nvPr/>
        </p:nvSpPr>
        <p:spPr bwMode="auto">
          <a:xfrm>
            <a:off x="7315200" y="4724400"/>
            <a:ext cx="1295400" cy="423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sp>
        <p:nvSpPr>
          <p:cNvPr id="795664" name="Rectangle 16"/>
          <p:cNvSpPr>
            <a:spLocks noChangeArrowheads="1"/>
          </p:cNvSpPr>
          <p:nvPr/>
        </p:nvSpPr>
        <p:spPr bwMode="auto">
          <a:xfrm>
            <a:off x="7315200" y="2438400"/>
            <a:ext cx="1295400" cy="5000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endParaRPr lang="en-US" altLang="en-US" b="1">
              <a:latin typeface="Courier New" panose="02070309020205020404" pitchFamily="49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629400" y="5029200"/>
            <a:ext cx="685800" cy="1219200"/>
            <a:chOff x="6629400" y="5029200"/>
            <a:chExt cx="685800" cy="1219200"/>
          </a:xfrm>
        </p:grpSpPr>
        <p:sp>
          <p:nvSpPr>
            <p:cNvPr id="795679" name="Rectangle 31"/>
            <p:cNvSpPr>
              <a:spLocks noChangeArrowheads="1"/>
            </p:cNvSpPr>
            <p:nvPr/>
          </p:nvSpPr>
          <p:spPr bwMode="auto">
            <a:xfrm>
              <a:off x="6629400" y="60198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/>
                <a:t>0</a:t>
              </a:r>
            </a:p>
          </p:txBody>
        </p:sp>
        <p:sp>
          <p:nvSpPr>
            <p:cNvPr id="795680" name="Rectangle 32"/>
            <p:cNvSpPr>
              <a:spLocks noChangeArrowheads="1"/>
            </p:cNvSpPr>
            <p:nvPr/>
          </p:nvSpPr>
          <p:spPr bwMode="auto">
            <a:xfrm>
              <a:off x="6629400" y="50292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 dirty="0"/>
                <a:t>1300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629400" y="990600"/>
            <a:ext cx="685800" cy="3810000"/>
            <a:chOff x="6629400" y="990600"/>
            <a:chExt cx="685800" cy="3810000"/>
          </a:xfrm>
        </p:grpSpPr>
        <p:grpSp>
          <p:nvGrpSpPr>
            <p:cNvPr id="6" name="Group 5"/>
            <p:cNvGrpSpPr/>
            <p:nvPr/>
          </p:nvGrpSpPr>
          <p:grpSpPr>
            <a:xfrm>
              <a:off x="6629400" y="2895600"/>
              <a:ext cx="685800" cy="1905000"/>
              <a:chOff x="6629400" y="2895600"/>
              <a:chExt cx="685800" cy="1905000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6629400" y="3886200"/>
                <a:ext cx="685800" cy="914400"/>
                <a:chOff x="6629400" y="3886200"/>
                <a:chExt cx="685800" cy="914400"/>
              </a:xfrm>
            </p:grpSpPr>
            <p:sp>
              <p:nvSpPr>
                <p:cNvPr id="795681" name="Rectangle 33"/>
                <p:cNvSpPr>
                  <a:spLocks noChangeArrowheads="1"/>
                </p:cNvSpPr>
                <p:nvPr/>
              </p:nvSpPr>
              <p:spPr bwMode="auto">
                <a:xfrm>
                  <a:off x="6629400" y="4572000"/>
                  <a:ext cx="685800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b="1" dirty="0"/>
                    <a:t>2400</a:t>
                  </a:r>
                </a:p>
              </p:txBody>
            </p:sp>
            <p:sp>
              <p:nvSpPr>
                <p:cNvPr id="795682" name="Rectangle 34"/>
                <p:cNvSpPr>
                  <a:spLocks noChangeArrowheads="1"/>
                </p:cNvSpPr>
                <p:nvPr/>
              </p:nvSpPr>
              <p:spPr bwMode="auto">
                <a:xfrm>
                  <a:off x="6629400" y="3886200"/>
                  <a:ext cx="685800" cy="2286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b="1"/>
                    <a:t>3500</a:t>
                  </a:r>
                </a:p>
              </p:txBody>
            </p:sp>
          </p:grpSp>
          <p:sp>
            <p:nvSpPr>
              <p:cNvPr id="795683" name="Rectangle 35"/>
              <p:cNvSpPr>
                <a:spLocks noChangeArrowheads="1"/>
              </p:cNvSpPr>
              <p:nvPr/>
            </p:nvSpPr>
            <p:spPr bwMode="auto">
              <a:xfrm>
                <a:off x="6629400" y="2895600"/>
                <a:ext cx="685800" cy="2286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b="1" dirty="0"/>
                  <a:t>5700</a:t>
                </a:r>
              </a:p>
            </p:txBody>
          </p:sp>
        </p:grpSp>
        <p:sp>
          <p:nvSpPr>
            <p:cNvPr id="795684" name="Rectangle 36"/>
            <p:cNvSpPr>
              <a:spLocks noChangeArrowheads="1"/>
            </p:cNvSpPr>
            <p:nvPr/>
          </p:nvSpPr>
          <p:spPr bwMode="auto">
            <a:xfrm>
              <a:off x="6629400" y="22860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/>
                <a:t>6000</a:t>
              </a:r>
            </a:p>
          </p:txBody>
        </p:sp>
        <p:sp>
          <p:nvSpPr>
            <p:cNvPr id="795685" name="Rectangle 37"/>
            <p:cNvSpPr>
              <a:spLocks noChangeArrowheads="1"/>
            </p:cNvSpPr>
            <p:nvPr/>
          </p:nvSpPr>
          <p:spPr bwMode="auto">
            <a:xfrm>
              <a:off x="6629400" y="990600"/>
              <a:ext cx="6858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b="1"/>
                <a:t>7500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410200" y="4114800"/>
            <a:ext cx="1828800" cy="304800"/>
            <a:chOff x="5410200" y="4114800"/>
            <a:chExt cx="1828800" cy="304800"/>
          </a:xfrm>
        </p:grpSpPr>
        <p:sp>
          <p:nvSpPr>
            <p:cNvPr id="795722" name="Line 74"/>
            <p:cNvSpPr>
              <a:spLocks noChangeShapeType="1"/>
            </p:cNvSpPr>
            <p:nvPr/>
          </p:nvSpPr>
          <p:spPr bwMode="auto">
            <a:xfrm>
              <a:off x="6324600" y="4267200"/>
              <a:ext cx="914400" cy="0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5723" name="Rectangle 75"/>
            <p:cNvSpPr>
              <a:spLocks noChangeArrowheads="1"/>
            </p:cNvSpPr>
            <p:nvPr/>
          </p:nvSpPr>
          <p:spPr bwMode="auto">
            <a:xfrm>
              <a:off x="5410200" y="4114800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2800" b="1" dirty="0">
                  <a:solidFill>
                    <a:srgbClr val="C00000"/>
                  </a:solidFill>
                </a:rPr>
                <a:t>2900</a:t>
              </a:r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69" name="Text Box 71"/>
          <p:cNvSpPr txBox="1">
            <a:spLocks noChangeArrowheads="1"/>
          </p:cNvSpPr>
          <p:nvPr/>
        </p:nvSpPr>
        <p:spPr bwMode="auto">
          <a:xfrm>
            <a:off x="2637090" y="5879812"/>
            <a:ext cx="2946163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 smtClean="0"/>
              <a:t>&lt; </a:t>
            </a:r>
            <a:r>
              <a:rPr lang="en-US" altLang="en-US" sz="3200" b="1" dirty="0">
                <a:solidFill>
                  <a:srgbClr val="C00000"/>
                </a:solidFill>
              </a:rPr>
              <a:t>2</a:t>
            </a:r>
            <a:r>
              <a:rPr lang="en-US" altLang="en-US" sz="3200" b="1" dirty="0"/>
              <a:t>, </a:t>
            </a:r>
            <a:r>
              <a:rPr lang="en-US" altLang="en-US" sz="3200" b="1" dirty="0">
                <a:solidFill>
                  <a:srgbClr val="006600"/>
                </a:solidFill>
              </a:rPr>
              <a:t>500</a:t>
            </a:r>
            <a:r>
              <a:rPr lang="en-US" altLang="en-US" sz="3200" b="1" dirty="0"/>
              <a:t> &gt;</a:t>
            </a:r>
          </a:p>
        </p:txBody>
      </p:sp>
      <p:sp>
        <p:nvSpPr>
          <p:cNvPr id="71" name="Text Box 71"/>
          <p:cNvSpPr txBox="1">
            <a:spLocks noChangeArrowheads="1"/>
          </p:cNvSpPr>
          <p:nvPr/>
        </p:nvSpPr>
        <p:spPr bwMode="auto">
          <a:xfrm>
            <a:off x="2641718" y="5885820"/>
            <a:ext cx="2946163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 smtClean="0"/>
              <a:t>&lt; 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1</a:t>
            </a:r>
            <a:r>
              <a:rPr lang="en-US" altLang="en-US" sz="3200" b="1" dirty="0" smtClean="0"/>
              <a:t>, 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1600</a:t>
            </a:r>
            <a:r>
              <a:rPr lang="en-US" altLang="en-US" sz="3200" b="1" dirty="0" smtClean="0"/>
              <a:t> </a:t>
            </a:r>
            <a:r>
              <a:rPr lang="en-US" altLang="en-US" sz="3200" b="1" dirty="0"/>
              <a:t>&gt;</a:t>
            </a:r>
          </a:p>
        </p:txBody>
      </p:sp>
      <p:sp>
        <p:nvSpPr>
          <p:cNvPr id="70" name="Isosceles Triangle 69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444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693" grpId="0"/>
      <p:bldP spid="795719" grpId="0" animBg="1"/>
      <p:bldP spid="69" grpId="0" animBg="1"/>
      <p:bldP spid="7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Segmentation: </a:t>
            </a:r>
            <a:r>
              <a:rPr lang="en-US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</a:t>
            </a:r>
            <a:r>
              <a:rPr lang="en-US" alt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Support</a:t>
            </a:r>
            <a:endParaRPr lang="en-US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cxnSp>
        <p:nvCxnSpPr>
          <p:cNvPr id="67" name="Elbow Connector 66"/>
          <p:cNvCxnSpPr>
            <a:endCxn id="3" idx="0"/>
          </p:cNvCxnSpPr>
          <p:nvPr/>
        </p:nvCxnSpPr>
        <p:spPr>
          <a:xfrm rot="16200000" flipH="1">
            <a:off x="4204796" y="1881892"/>
            <a:ext cx="1982286" cy="701316"/>
          </a:xfrm>
          <a:prstGeom prst="bentConnector3">
            <a:avLst>
              <a:gd name="adj1" fmla="val 16805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3" idx="2"/>
            <a:endCxn id="21" idx="0"/>
          </p:cNvCxnSpPr>
          <p:nvPr/>
        </p:nvCxnSpPr>
        <p:spPr>
          <a:xfrm rot="5400000">
            <a:off x="2922043" y="2094746"/>
            <a:ext cx="1431472" cy="779838"/>
          </a:xfrm>
          <a:prstGeom prst="bentConnector3">
            <a:avLst>
              <a:gd name="adj1" fmla="val -552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4267200"/>
            <a:ext cx="990600" cy="1219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CPU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1676400" y="4724400"/>
            <a:ext cx="1295400" cy="304800"/>
            <a:chOff x="1676400" y="4724400"/>
            <a:chExt cx="1295400" cy="304800"/>
          </a:xfrm>
        </p:grpSpPr>
        <p:sp>
          <p:nvSpPr>
            <p:cNvPr id="8" name="Rectangle 7"/>
            <p:cNvSpPr/>
            <p:nvPr/>
          </p:nvSpPr>
          <p:spPr>
            <a:xfrm>
              <a:off x="1905000" y="4724400"/>
              <a:ext cx="533400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S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38400" y="4724400"/>
              <a:ext cx="533400" cy="3048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676400" y="4876800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iamond 20"/>
          <p:cNvSpPr/>
          <p:nvPr/>
        </p:nvSpPr>
        <p:spPr>
          <a:xfrm>
            <a:off x="2904960" y="3200401"/>
            <a:ext cx="685800" cy="685799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/>
                </a:solidFill>
              </a:rPr>
              <a:t>&lt;</a:t>
            </a:r>
            <a:endParaRPr lang="en-US" b="1" dirty="0">
              <a:solidFill>
                <a:schemeClr val="accent2"/>
              </a:solidFill>
            </a:endParaRPr>
          </a:p>
        </p:txBody>
      </p:sp>
      <p:cxnSp>
        <p:nvCxnSpPr>
          <p:cNvPr id="23" name="Elbow Connector 22"/>
          <p:cNvCxnSpPr>
            <a:stCxn id="8" idx="0"/>
            <a:endCxn id="13" idx="1"/>
          </p:cNvCxnSpPr>
          <p:nvPr/>
        </p:nvCxnSpPr>
        <p:spPr>
          <a:xfrm rot="5400000" flipH="1" flipV="1">
            <a:off x="1347786" y="2386014"/>
            <a:ext cx="3162300" cy="1514473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9" idx="0"/>
            <a:endCxn id="21" idx="1"/>
          </p:cNvCxnSpPr>
          <p:nvPr/>
        </p:nvCxnSpPr>
        <p:spPr>
          <a:xfrm rot="5400000" flipH="1" flipV="1">
            <a:off x="2214481" y="4033921"/>
            <a:ext cx="1181099" cy="199860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1" idx="3"/>
            <a:endCxn id="3" idx="2"/>
          </p:cNvCxnSpPr>
          <p:nvPr/>
        </p:nvCxnSpPr>
        <p:spPr>
          <a:xfrm flipV="1">
            <a:off x="3590760" y="3543196"/>
            <a:ext cx="1635033" cy="105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532629" y="3252654"/>
            <a:ext cx="533400" cy="304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Yes</a:t>
            </a:r>
            <a:endParaRPr lang="en-US" sz="1400" b="1" dirty="0">
              <a:solidFill>
                <a:schemeClr val="tx1"/>
              </a:solidFill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3231932" y="3886200"/>
            <a:ext cx="730468" cy="1676400"/>
            <a:chOff x="3231932" y="3886200"/>
            <a:chExt cx="730468" cy="1676400"/>
          </a:xfrm>
        </p:grpSpPr>
        <p:sp>
          <p:nvSpPr>
            <p:cNvPr id="47" name="Rectangle 46"/>
            <p:cNvSpPr/>
            <p:nvPr/>
          </p:nvSpPr>
          <p:spPr>
            <a:xfrm>
              <a:off x="3231932" y="4244263"/>
              <a:ext cx="730468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No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Arrow Connector 47"/>
            <p:cNvCxnSpPr>
              <a:stCxn id="21" idx="2"/>
            </p:cNvCxnSpPr>
            <p:nvPr/>
          </p:nvCxnSpPr>
          <p:spPr>
            <a:xfrm>
              <a:off x="3247860" y="3886200"/>
              <a:ext cx="0" cy="16764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/>
          <p:cNvSpPr/>
          <p:nvPr/>
        </p:nvSpPr>
        <p:spPr>
          <a:xfrm>
            <a:off x="2135278" y="5585388"/>
            <a:ext cx="2894481" cy="30480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Addressing Error!</a:t>
            </a:r>
            <a:endParaRPr 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3049119" y="1088571"/>
            <a:ext cx="541640" cy="304800"/>
            <a:chOff x="3125319" y="936171"/>
            <a:chExt cx="541640" cy="304800"/>
          </a:xfrm>
        </p:grpSpPr>
        <p:sp>
          <p:nvSpPr>
            <p:cNvPr id="53" name="Left Brace 52"/>
            <p:cNvSpPr/>
            <p:nvPr/>
          </p:nvSpPr>
          <p:spPr>
            <a:xfrm>
              <a:off x="3482706" y="976450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25319" y="936171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S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Physical Memory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3686173" y="1143000"/>
            <a:ext cx="1647827" cy="1709600"/>
            <a:chOff x="3686173" y="1143000"/>
            <a:chExt cx="1647827" cy="1709600"/>
          </a:xfrm>
        </p:grpSpPr>
        <p:sp>
          <p:nvSpPr>
            <p:cNvPr id="11" name="Rectangle 10"/>
            <p:cNvSpPr/>
            <p:nvPr/>
          </p:nvSpPr>
          <p:spPr>
            <a:xfrm>
              <a:off x="3686174" y="1145176"/>
              <a:ext cx="68580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62450" y="1143000"/>
              <a:ext cx="97155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86173" y="1355271"/>
              <a:ext cx="683049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Limit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62450" y="1355271"/>
              <a:ext cx="971550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Base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689936" y="2547800"/>
              <a:ext cx="1535857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Segment Table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Oval 2"/>
          <p:cNvSpPr/>
          <p:nvPr/>
        </p:nvSpPr>
        <p:spPr>
          <a:xfrm>
            <a:off x="5225793" y="3223693"/>
            <a:ext cx="641607" cy="639006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accent2"/>
                </a:solidFill>
              </a:rPr>
              <a:t>+</a:t>
            </a:r>
            <a:endParaRPr lang="en-SG" sz="2800" b="1" dirty="0">
              <a:solidFill>
                <a:schemeClr val="accent2"/>
              </a:solidFill>
            </a:endParaRPr>
          </a:p>
        </p:txBody>
      </p:sp>
      <p:cxnSp>
        <p:nvCxnSpPr>
          <p:cNvPr id="66" name="Straight Arrow Connector 65"/>
          <p:cNvCxnSpPr>
            <a:stCxn id="3" idx="6"/>
          </p:cNvCxnSpPr>
          <p:nvPr/>
        </p:nvCxnSpPr>
        <p:spPr>
          <a:xfrm>
            <a:off x="5867400" y="3543196"/>
            <a:ext cx="1143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47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6" grpId="0"/>
      <p:bldP spid="51" grpId="0"/>
      <p:bldP spid="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Segmentation: Summary</a:t>
            </a:r>
          </a:p>
        </p:txBody>
      </p:sp>
      <p:sp>
        <p:nvSpPr>
          <p:cNvPr id="79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b="1" dirty="0" smtClean="0">
                <a:solidFill>
                  <a:srgbClr val="006600"/>
                </a:solidFill>
              </a:rPr>
              <a:t>Pros:</a:t>
            </a:r>
          </a:p>
          <a:p>
            <a:pPr lvl="1"/>
            <a:r>
              <a:rPr lang="en-US" altLang="en-US" dirty="0" smtClean="0"/>
              <a:t>Each segment is an independent contiguous memory space</a:t>
            </a:r>
          </a:p>
          <a:p>
            <a:pPr marL="344487" lvl="1" indent="0">
              <a:buNone/>
            </a:pPr>
            <a:r>
              <a:rPr lang="en-US" altLang="en-US" dirty="0" smtClean="0">
                <a:sym typeface="Wingdings" panose="05000000000000000000" pitchFamily="2" charset="2"/>
              </a:rPr>
              <a:t> </a:t>
            </a:r>
            <a:r>
              <a:rPr lang="en-US" altLang="en-US" dirty="0" smtClean="0"/>
              <a:t>Can grow / shrink independently</a:t>
            </a:r>
          </a:p>
          <a:p>
            <a:pPr marL="344487" lvl="1" indent="0">
              <a:buNone/>
            </a:pPr>
            <a:r>
              <a:rPr lang="en-US" altLang="en-US" dirty="0" smtClean="0">
                <a:sym typeface="Wingdings" panose="05000000000000000000" pitchFamily="2" charset="2"/>
              </a:rPr>
              <a:t> </a:t>
            </a:r>
            <a:r>
              <a:rPr lang="en-US" altLang="en-US" dirty="0" smtClean="0"/>
              <a:t>Can be protected / shared independently</a:t>
            </a:r>
            <a:endParaRPr lang="en-US" altLang="en-US" dirty="0"/>
          </a:p>
          <a:p>
            <a:endParaRPr lang="en-US" altLang="en-US" dirty="0" smtClean="0"/>
          </a:p>
          <a:p>
            <a:r>
              <a:rPr lang="en-US" altLang="en-US" b="1" dirty="0" smtClean="0">
                <a:solidFill>
                  <a:srgbClr val="C00000"/>
                </a:solidFill>
              </a:rPr>
              <a:t>Cons:</a:t>
            </a:r>
          </a:p>
          <a:p>
            <a:pPr lvl="1"/>
            <a:r>
              <a:rPr lang="en-US" altLang="en-US" dirty="0" smtClean="0"/>
              <a:t>Segmentation </a:t>
            </a:r>
            <a:r>
              <a:rPr lang="en-US" altLang="en-US" dirty="0"/>
              <a:t>requires variable-size </a:t>
            </a:r>
            <a:r>
              <a:rPr lang="en-US" altLang="en-US" dirty="0" smtClean="0"/>
              <a:t>contiguous memory regions</a:t>
            </a:r>
          </a:p>
          <a:p>
            <a:pPr marL="344487" lvl="1" indent="0">
              <a:buNone/>
            </a:pPr>
            <a:r>
              <a:rPr lang="en-US" altLang="en-US" dirty="0" smtClean="0">
                <a:sym typeface="Wingdings" panose="05000000000000000000" pitchFamily="2" charset="2"/>
              </a:rPr>
              <a:t> can c</a:t>
            </a:r>
            <a:r>
              <a:rPr lang="en-US" altLang="en-US" dirty="0" smtClean="0"/>
              <a:t>ause </a:t>
            </a:r>
            <a:r>
              <a:rPr lang="en-US" altLang="en-US" b="1" dirty="0">
                <a:solidFill>
                  <a:srgbClr val="660066"/>
                </a:solidFill>
              </a:rPr>
              <a:t>external fragmentation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Important observation:</a:t>
            </a:r>
            <a:endParaRPr lang="en-US" altLang="en-US" dirty="0"/>
          </a:p>
          <a:p>
            <a:pPr lvl="1"/>
            <a:r>
              <a:rPr lang="en-US" altLang="en-US" dirty="0" smtClean="0"/>
              <a:t>Segmentation is </a:t>
            </a:r>
            <a:r>
              <a:rPr lang="en-US" altLang="en-US" b="1" dirty="0" smtClean="0"/>
              <a:t>not </a:t>
            </a:r>
            <a:r>
              <a:rPr lang="en-US" altLang="en-US" dirty="0" smtClean="0"/>
              <a:t>the same as paging </a:t>
            </a:r>
          </a:p>
          <a:p>
            <a:pPr lvl="1"/>
            <a:r>
              <a:rPr lang="en-US" altLang="en-US" dirty="0" smtClean="0"/>
              <a:t>Each </a:t>
            </a:r>
            <a:r>
              <a:rPr lang="en-US" altLang="en-US" dirty="0"/>
              <a:t>of them trying to solve a different </a:t>
            </a:r>
            <a:r>
              <a:rPr lang="en-US" altLang="en-US" dirty="0" smtClean="0"/>
              <a:t>problem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30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Segmentation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with </a:t>
            </a:r>
            <a:r>
              <a:rPr lang="en-US" dirty="0" smtClean="0">
                <a:solidFill>
                  <a:srgbClr val="006600"/>
                </a:solidFill>
              </a:rPr>
              <a:t>paging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09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Segmentation with Paging: </a:t>
            </a:r>
            <a:r>
              <a:rPr lang="en-US" b="1" dirty="0" smtClean="0">
                <a:solidFill>
                  <a:srgbClr val="C00000"/>
                </a:solidFill>
              </a:rPr>
              <a:t>Basic Idea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grpSp>
        <p:nvGrpSpPr>
          <p:cNvPr id="8" name="Group 33"/>
          <p:cNvGrpSpPr>
            <a:grpSpLocks/>
          </p:cNvGrpSpPr>
          <p:nvPr/>
        </p:nvGrpSpPr>
        <p:grpSpPr bwMode="auto">
          <a:xfrm>
            <a:off x="609600" y="925512"/>
            <a:ext cx="5334000" cy="3494088"/>
            <a:chOff x="384" y="967"/>
            <a:chExt cx="3360" cy="2201"/>
          </a:xfrm>
        </p:grpSpPr>
        <p:sp>
          <p:nvSpPr>
            <p:cNvPr id="9" name="Rectangle 4"/>
            <p:cNvSpPr>
              <a:spLocks noChangeArrowheads="1"/>
            </p:cNvSpPr>
            <p:nvPr/>
          </p:nvSpPr>
          <p:spPr bwMode="auto">
            <a:xfrm>
              <a:off x="672" y="1680"/>
              <a:ext cx="816" cy="86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User Code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1584" y="1344"/>
              <a:ext cx="816" cy="91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Stack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1" name="Rectangle 6"/>
            <p:cNvSpPr>
              <a:spLocks noChangeArrowheads="1"/>
            </p:cNvSpPr>
            <p:nvPr/>
          </p:nvSpPr>
          <p:spPr bwMode="auto">
            <a:xfrm>
              <a:off x="1536" y="2400"/>
              <a:ext cx="816" cy="67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Heap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2496" y="1584"/>
              <a:ext cx="816" cy="12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Global Data Segment</a:t>
              </a: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3" name="Oval 8"/>
            <p:cNvSpPr>
              <a:spLocks noChangeArrowheads="1"/>
            </p:cNvSpPr>
            <p:nvPr/>
          </p:nvSpPr>
          <p:spPr bwMode="auto">
            <a:xfrm>
              <a:off x="384" y="1200"/>
              <a:ext cx="3360" cy="1968"/>
            </a:xfrm>
            <a:prstGeom prst="ellipse">
              <a:avLst/>
            </a:prstGeom>
            <a:noFill/>
            <a:ln w="31750">
              <a:solidFill>
                <a:srgbClr val="00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1174" y="967"/>
              <a:ext cx="177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Logical Address Space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659300" y="4492532"/>
            <a:ext cx="1600200" cy="1588141"/>
            <a:chOff x="3446417" y="2746377"/>
            <a:chExt cx="1600200" cy="2065742"/>
          </a:xfrm>
        </p:grpSpPr>
        <p:grpSp>
          <p:nvGrpSpPr>
            <p:cNvPr id="24" name="Group 58"/>
            <p:cNvGrpSpPr>
              <a:grpSpLocks/>
            </p:cNvGrpSpPr>
            <p:nvPr/>
          </p:nvGrpSpPr>
          <p:grpSpPr bwMode="auto">
            <a:xfrm>
              <a:off x="3670300" y="2746377"/>
              <a:ext cx="990600" cy="1524001"/>
              <a:chOff x="2168" y="2306"/>
              <a:chExt cx="624" cy="960"/>
            </a:xfrm>
          </p:grpSpPr>
          <p:grpSp>
            <p:nvGrpSpPr>
              <p:cNvPr id="26" name="Group 48"/>
              <p:cNvGrpSpPr>
                <a:grpSpLocks/>
              </p:cNvGrpSpPr>
              <p:nvPr/>
            </p:nvGrpSpPr>
            <p:grpSpPr bwMode="auto">
              <a:xfrm>
                <a:off x="2168" y="2306"/>
                <a:ext cx="624" cy="240"/>
                <a:chOff x="2264" y="3794"/>
                <a:chExt cx="624" cy="240"/>
              </a:xfrm>
            </p:grpSpPr>
            <p:sp>
              <p:nvSpPr>
                <p:cNvPr id="36" name="Rectangle 21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37" name="Rectangle 4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7" name="Group 49"/>
              <p:cNvGrpSpPr>
                <a:grpSpLocks/>
              </p:cNvGrpSpPr>
              <p:nvPr/>
            </p:nvGrpSpPr>
            <p:grpSpPr bwMode="auto">
              <a:xfrm>
                <a:off x="2168" y="2546"/>
                <a:ext cx="624" cy="240"/>
                <a:chOff x="2264" y="3794"/>
                <a:chExt cx="624" cy="240"/>
              </a:xfrm>
            </p:grpSpPr>
            <p:sp>
              <p:nvSpPr>
                <p:cNvPr id="34" name="Rectangle 50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35" name="Rectangle 51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8" name="Group 52"/>
              <p:cNvGrpSpPr>
                <a:grpSpLocks/>
              </p:cNvGrpSpPr>
              <p:nvPr/>
            </p:nvGrpSpPr>
            <p:grpSpPr bwMode="auto">
              <a:xfrm>
                <a:off x="2168" y="2786"/>
                <a:ext cx="624" cy="240"/>
                <a:chOff x="2264" y="3794"/>
                <a:chExt cx="624" cy="240"/>
              </a:xfrm>
            </p:grpSpPr>
            <p:sp>
              <p:nvSpPr>
                <p:cNvPr id="32" name="Rectangle 53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2</a:t>
                  </a:r>
                  <a:endParaRPr lang="en-US" altLang="en-US" sz="1600" dirty="0"/>
                </a:p>
              </p:txBody>
            </p:sp>
            <p:sp>
              <p:nvSpPr>
                <p:cNvPr id="33" name="Rectangle 54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9" name="Group 55"/>
              <p:cNvGrpSpPr>
                <a:grpSpLocks/>
              </p:cNvGrpSpPr>
              <p:nvPr/>
            </p:nvGrpSpPr>
            <p:grpSpPr bwMode="auto">
              <a:xfrm>
                <a:off x="2168" y="3026"/>
                <a:ext cx="624" cy="240"/>
                <a:chOff x="2264" y="3794"/>
                <a:chExt cx="624" cy="240"/>
              </a:xfrm>
            </p:grpSpPr>
            <p:sp>
              <p:nvSpPr>
                <p:cNvPr id="30" name="Rectangle 56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3</a:t>
                  </a:r>
                  <a:endParaRPr lang="en-US" altLang="en-US" sz="1600" dirty="0"/>
                </a:p>
              </p:txBody>
            </p:sp>
            <p:sp>
              <p:nvSpPr>
                <p:cNvPr id="31" name="Rectangle 5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25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C00000"/>
                  </a:solidFill>
                </a:rPr>
                <a:t>Global Data</a:t>
              </a:r>
            </a:p>
            <a:p>
              <a:pPr algn="ctr"/>
              <a:r>
                <a:rPr lang="en-US" altLang="en-US" sz="1600" b="1" dirty="0" smtClean="0"/>
                <a:t>page table</a:t>
              </a:r>
              <a:endParaRPr lang="en-US" altLang="en-US" sz="1600" b="1" dirty="0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6019800" y="1023025"/>
            <a:ext cx="2895600" cy="5269150"/>
            <a:chOff x="5943600" y="928688"/>
            <a:chExt cx="2895600" cy="5269150"/>
          </a:xfrm>
        </p:grpSpPr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5943600" y="5831125"/>
              <a:ext cx="2895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Physical Memory</a:t>
              </a:r>
            </a:p>
          </p:txBody>
        </p:sp>
        <p:sp>
          <p:nvSpPr>
            <p:cNvPr id="38" name="Rectangle 30"/>
            <p:cNvSpPr>
              <a:spLocks noChangeArrowheads="1"/>
            </p:cNvSpPr>
            <p:nvPr/>
          </p:nvSpPr>
          <p:spPr bwMode="auto">
            <a:xfrm>
              <a:off x="6781800" y="2133600"/>
              <a:ext cx="12954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 smtClean="0">
                  <a:latin typeface="Courier New" panose="02070309020205020404" pitchFamily="49" charset="0"/>
                </a:rPr>
                <a:t>GD P#1</a:t>
              </a:r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39" name="Rectangle 30"/>
            <p:cNvSpPr>
              <a:spLocks noChangeArrowheads="1"/>
            </p:cNvSpPr>
            <p:nvPr/>
          </p:nvSpPr>
          <p:spPr bwMode="auto">
            <a:xfrm>
              <a:off x="6783580" y="5183782"/>
              <a:ext cx="12954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 smtClean="0">
                  <a:latin typeface="Courier New" panose="02070309020205020404" pitchFamily="49" charset="0"/>
                </a:rPr>
                <a:t>GD P#2</a:t>
              </a:r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6781800" y="2743200"/>
              <a:ext cx="1295400" cy="60960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 smtClean="0">
                  <a:latin typeface="Courier New" panose="02070309020205020404" pitchFamily="49" charset="0"/>
                </a:rPr>
                <a:t>GD P#0</a:t>
              </a:r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2" name="Rectangle 30"/>
            <p:cNvSpPr>
              <a:spLocks noChangeArrowheads="1"/>
            </p:cNvSpPr>
            <p:nvPr/>
          </p:nvSpPr>
          <p:spPr bwMode="auto">
            <a:xfrm>
              <a:off x="6781800" y="1538288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3" name="Rectangle 30"/>
            <p:cNvSpPr>
              <a:spLocks noChangeArrowheads="1"/>
            </p:cNvSpPr>
            <p:nvPr/>
          </p:nvSpPr>
          <p:spPr bwMode="auto">
            <a:xfrm>
              <a:off x="6781800" y="3352800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4" name="Rectangle 30"/>
            <p:cNvSpPr>
              <a:spLocks noChangeArrowheads="1"/>
            </p:cNvSpPr>
            <p:nvPr/>
          </p:nvSpPr>
          <p:spPr bwMode="auto">
            <a:xfrm>
              <a:off x="6783580" y="928688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5" name="Rectangle 30"/>
            <p:cNvSpPr>
              <a:spLocks noChangeArrowheads="1"/>
            </p:cNvSpPr>
            <p:nvPr/>
          </p:nvSpPr>
          <p:spPr bwMode="auto">
            <a:xfrm>
              <a:off x="6781800" y="3962400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46" name="Rectangle 30"/>
            <p:cNvSpPr>
              <a:spLocks noChangeArrowheads="1"/>
            </p:cNvSpPr>
            <p:nvPr/>
          </p:nvSpPr>
          <p:spPr bwMode="auto">
            <a:xfrm>
              <a:off x="6783580" y="4579834"/>
              <a:ext cx="1295400" cy="6096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47" name="Rectangle 30"/>
          <p:cNvSpPr>
            <a:spLocks noChangeArrowheads="1"/>
          </p:cNvSpPr>
          <p:nvPr/>
        </p:nvSpPr>
        <p:spPr bwMode="auto">
          <a:xfrm>
            <a:off x="6858000" y="1023025"/>
            <a:ext cx="1295400" cy="6096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b="1" dirty="0" smtClean="0">
                <a:latin typeface="Courier New" panose="02070309020205020404" pitchFamily="49" charset="0"/>
              </a:rPr>
              <a:t>GD P#3</a:t>
            </a:r>
            <a:endParaRPr lang="en-US" altLang="en-US" b="1" dirty="0">
              <a:latin typeface="Courier New" panose="02070309020205020404" pitchFamily="49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61601" y="4197118"/>
            <a:ext cx="1600200" cy="1588141"/>
            <a:chOff x="3446417" y="2746377"/>
            <a:chExt cx="1600200" cy="2065742"/>
          </a:xfrm>
        </p:grpSpPr>
        <p:grpSp>
          <p:nvGrpSpPr>
            <p:cNvPr id="50" name="Group 58"/>
            <p:cNvGrpSpPr>
              <a:grpSpLocks/>
            </p:cNvGrpSpPr>
            <p:nvPr/>
          </p:nvGrpSpPr>
          <p:grpSpPr bwMode="auto">
            <a:xfrm>
              <a:off x="3670300" y="2746377"/>
              <a:ext cx="990600" cy="1524001"/>
              <a:chOff x="2168" y="2306"/>
              <a:chExt cx="624" cy="960"/>
            </a:xfrm>
          </p:grpSpPr>
          <p:grpSp>
            <p:nvGrpSpPr>
              <p:cNvPr id="52" name="Group 48"/>
              <p:cNvGrpSpPr>
                <a:grpSpLocks/>
              </p:cNvGrpSpPr>
              <p:nvPr/>
            </p:nvGrpSpPr>
            <p:grpSpPr bwMode="auto">
              <a:xfrm>
                <a:off x="2168" y="2306"/>
                <a:ext cx="624" cy="240"/>
                <a:chOff x="2264" y="3794"/>
                <a:chExt cx="624" cy="240"/>
              </a:xfrm>
            </p:grpSpPr>
            <p:sp>
              <p:nvSpPr>
                <p:cNvPr id="62" name="Rectangle 21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63" name="Rectangle 4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53" name="Group 49"/>
              <p:cNvGrpSpPr>
                <a:grpSpLocks/>
              </p:cNvGrpSpPr>
              <p:nvPr/>
            </p:nvGrpSpPr>
            <p:grpSpPr bwMode="auto">
              <a:xfrm>
                <a:off x="2168" y="2546"/>
                <a:ext cx="624" cy="240"/>
                <a:chOff x="2264" y="3794"/>
                <a:chExt cx="624" cy="240"/>
              </a:xfrm>
            </p:grpSpPr>
            <p:sp>
              <p:nvSpPr>
                <p:cNvPr id="6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61" name="Rectangle 51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54" name="Group 52"/>
              <p:cNvGrpSpPr>
                <a:grpSpLocks/>
              </p:cNvGrpSpPr>
              <p:nvPr/>
            </p:nvGrpSpPr>
            <p:grpSpPr bwMode="auto">
              <a:xfrm>
                <a:off x="2168" y="2786"/>
                <a:ext cx="624" cy="240"/>
                <a:chOff x="2264" y="3794"/>
                <a:chExt cx="624" cy="240"/>
              </a:xfrm>
            </p:grpSpPr>
            <p:sp>
              <p:nvSpPr>
                <p:cNvPr id="58" name="Rectangle 53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2</a:t>
                  </a:r>
                  <a:endParaRPr lang="en-US" altLang="en-US" sz="1600" dirty="0"/>
                </a:p>
              </p:txBody>
            </p:sp>
            <p:sp>
              <p:nvSpPr>
                <p:cNvPr id="59" name="Rectangle 54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55" name="Group 55"/>
              <p:cNvGrpSpPr>
                <a:grpSpLocks/>
              </p:cNvGrpSpPr>
              <p:nvPr/>
            </p:nvGrpSpPr>
            <p:grpSpPr bwMode="auto">
              <a:xfrm>
                <a:off x="2168" y="3026"/>
                <a:ext cx="624" cy="240"/>
                <a:chOff x="2264" y="3794"/>
                <a:chExt cx="624" cy="240"/>
              </a:xfrm>
            </p:grpSpPr>
            <p:sp>
              <p:nvSpPr>
                <p:cNvPr id="56" name="Rectangle 56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3</a:t>
                  </a:r>
                  <a:endParaRPr lang="en-US" altLang="en-US" sz="1600" dirty="0"/>
                </a:p>
              </p:txBody>
            </p:sp>
            <p:sp>
              <p:nvSpPr>
                <p:cNvPr id="57" name="Rectangle 5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51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C00000"/>
                  </a:solidFill>
                </a:rPr>
                <a:t>User Code</a:t>
              </a:r>
            </a:p>
            <a:p>
              <a:pPr algn="ctr"/>
              <a:r>
                <a:rPr lang="en-US" altLang="en-US" sz="1600" b="1" dirty="0" smtClean="0"/>
                <a:t>page table</a:t>
              </a:r>
              <a:endParaRPr lang="en-US" altLang="en-US" sz="1600" b="1" dirty="0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366883" y="4751274"/>
            <a:ext cx="1600200" cy="1588141"/>
            <a:chOff x="3446417" y="2746377"/>
            <a:chExt cx="1600200" cy="2065742"/>
          </a:xfrm>
        </p:grpSpPr>
        <p:grpSp>
          <p:nvGrpSpPr>
            <p:cNvPr id="65" name="Group 58"/>
            <p:cNvGrpSpPr>
              <a:grpSpLocks/>
            </p:cNvGrpSpPr>
            <p:nvPr/>
          </p:nvGrpSpPr>
          <p:grpSpPr bwMode="auto">
            <a:xfrm>
              <a:off x="3670300" y="2746377"/>
              <a:ext cx="990600" cy="1524001"/>
              <a:chOff x="2168" y="2306"/>
              <a:chExt cx="624" cy="960"/>
            </a:xfrm>
          </p:grpSpPr>
          <p:grpSp>
            <p:nvGrpSpPr>
              <p:cNvPr id="67" name="Group 48"/>
              <p:cNvGrpSpPr>
                <a:grpSpLocks/>
              </p:cNvGrpSpPr>
              <p:nvPr/>
            </p:nvGrpSpPr>
            <p:grpSpPr bwMode="auto">
              <a:xfrm>
                <a:off x="2168" y="2306"/>
                <a:ext cx="624" cy="240"/>
                <a:chOff x="2264" y="3794"/>
                <a:chExt cx="624" cy="240"/>
              </a:xfrm>
            </p:grpSpPr>
            <p:sp>
              <p:nvSpPr>
                <p:cNvPr id="77" name="Rectangle 21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78" name="Rectangle 4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8" name="Group 49"/>
              <p:cNvGrpSpPr>
                <a:grpSpLocks/>
              </p:cNvGrpSpPr>
              <p:nvPr/>
            </p:nvGrpSpPr>
            <p:grpSpPr bwMode="auto">
              <a:xfrm>
                <a:off x="2168" y="2546"/>
                <a:ext cx="624" cy="240"/>
                <a:chOff x="2264" y="3794"/>
                <a:chExt cx="624" cy="240"/>
              </a:xfrm>
            </p:grpSpPr>
            <p:sp>
              <p:nvSpPr>
                <p:cNvPr id="75" name="Rectangle 50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76" name="Rectangle 51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9" name="Group 52"/>
              <p:cNvGrpSpPr>
                <a:grpSpLocks/>
              </p:cNvGrpSpPr>
              <p:nvPr/>
            </p:nvGrpSpPr>
            <p:grpSpPr bwMode="auto">
              <a:xfrm>
                <a:off x="2168" y="2786"/>
                <a:ext cx="624" cy="240"/>
                <a:chOff x="2264" y="3794"/>
                <a:chExt cx="624" cy="240"/>
              </a:xfrm>
            </p:grpSpPr>
            <p:sp>
              <p:nvSpPr>
                <p:cNvPr id="73" name="Rectangle 53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2</a:t>
                  </a:r>
                  <a:endParaRPr lang="en-US" altLang="en-US" sz="1600" dirty="0"/>
                </a:p>
              </p:txBody>
            </p:sp>
            <p:sp>
              <p:nvSpPr>
                <p:cNvPr id="74" name="Rectangle 54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70" name="Group 55"/>
              <p:cNvGrpSpPr>
                <a:grpSpLocks/>
              </p:cNvGrpSpPr>
              <p:nvPr/>
            </p:nvGrpSpPr>
            <p:grpSpPr bwMode="auto">
              <a:xfrm>
                <a:off x="2168" y="3026"/>
                <a:ext cx="624" cy="240"/>
                <a:chOff x="2264" y="3794"/>
                <a:chExt cx="624" cy="240"/>
              </a:xfrm>
            </p:grpSpPr>
            <p:sp>
              <p:nvSpPr>
                <p:cNvPr id="71" name="Rectangle 56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3</a:t>
                  </a:r>
                  <a:endParaRPr lang="en-US" altLang="en-US" sz="1600" dirty="0"/>
                </a:p>
              </p:txBody>
            </p:sp>
            <p:sp>
              <p:nvSpPr>
                <p:cNvPr id="72" name="Rectangle 5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66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C00000"/>
                  </a:solidFill>
                </a:rPr>
                <a:t>Heap</a:t>
              </a:r>
            </a:p>
            <a:p>
              <a:pPr algn="ctr"/>
              <a:r>
                <a:rPr lang="en-US" altLang="en-US" sz="1600" b="1" dirty="0" smtClean="0"/>
                <a:t>page table</a:t>
              </a:r>
              <a:endParaRPr lang="en-US" altLang="en-US" sz="1600" b="1" dirty="0"/>
            </a:p>
          </p:txBody>
        </p:sp>
      </p:grpSp>
      <p:grpSp>
        <p:nvGrpSpPr>
          <p:cNvPr id="79" name="Group 78"/>
          <p:cNvGrpSpPr/>
          <p:nvPr/>
        </p:nvGrpSpPr>
        <p:grpSpPr>
          <a:xfrm>
            <a:off x="2881449" y="4751274"/>
            <a:ext cx="1600200" cy="1588141"/>
            <a:chOff x="3446417" y="2746377"/>
            <a:chExt cx="1600200" cy="2065742"/>
          </a:xfrm>
        </p:grpSpPr>
        <p:grpSp>
          <p:nvGrpSpPr>
            <p:cNvPr id="80" name="Group 58"/>
            <p:cNvGrpSpPr>
              <a:grpSpLocks/>
            </p:cNvGrpSpPr>
            <p:nvPr/>
          </p:nvGrpSpPr>
          <p:grpSpPr bwMode="auto">
            <a:xfrm>
              <a:off x="3670300" y="2746377"/>
              <a:ext cx="990600" cy="1524001"/>
              <a:chOff x="2168" y="2306"/>
              <a:chExt cx="624" cy="960"/>
            </a:xfrm>
          </p:grpSpPr>
          <p:grpSp>
            <p:nvGrpSpPr>
              <p:cNvPr id="82" name="Group 48"/>
              <p:cNvGrpSpPr>
                <a:grpSpLocks/>
              </p:cNvGrpSpPr>
              <p:nvPr/>
            </p:nvGrpSpPr>
            <p:grpSpPr bwMode="auto">
              <a:xfrm>
                <a:off x="2168" y="2306"/>
                <a:ext cx="624" cy="240"/>
                <a:chOff x="2264" y="3794"/>
                <a:chExt cx="624" cy="240"/>
              </a:xfrm>
            </p:grpSpPr>
            <p:sp>
              <p:nvSpPr>
                <p:cNvPr id="92" name="Rectangle 21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93" name="Rectangle 4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83" name="Group 49"/>
              <p:cNvGrpSpPr>
                <a:grpSpLocks/>
              </p:cNvGrpSpPr>
              <p:nvPr/>
            </p:nvGrpSpPr>
            <p:grpSpPr bwMode="auto">
              <a:xfrm>
                <a:off x="2168" y="2546"/>
                <a:ext cx="624" cy="240"/>
                <a:chOff x="2264" y="3794"/>
                <a:chExt cx="624" cy="240"/>
              </a:xfrm>
            </p:grpSpPr>
            <p:sp>
              <p:nvSpPr>
                <p:cNvPr id="9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91" name="Rectangle 51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84" name="Group 52"/>
              <p:cNvGrpSpPr>
                <a:grpSpLocks/>
              </p:cNvGrpSpPr>
              <p:nvPr/>
            </p:nvGrpSpPr>
            <p:grpSpPr bwMode="auto">
              <a:xfrm>
                <a:off x="2168" y="2786"/>
                <a:ext cx="624" cy="240"/>
                <a:chOff x="2264" y="3794"/>
                <a:chExt cx="624" cy="240"/>
              </a:xfrm>
            </p:grpSpPr>
            <p:sp>
              <p:nvSpPr>
                <p:cNvPr id="88" name="Rectangle 53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2</a:t>
                  </a:r>
                  <a:endParaRPr lang="en-US" altLang="en-US" sz="1600" dirty="0"/>
                </a:p>
              </p:txBody>
            </p:sp>
            <p:sp>
              <p:nvSpPr>
                <p:cNvPr id="89" name="Rectangle 54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85" name="Group 55"/>
              <p:cNvGrpSpPr>
                <a:grpSpLocks/>
              </p:cNvGrpSpPr>
              <p:nvPr/>
            </p:nvGrpSpPr>
            <p:grpSpPr bwMode="auto">
              <a:xfrm>
                <a:off x="2168" y="3026"/>
                <a:ext cx="624" cy="240"/>
                <a:chOff x="2264" y="3794"/>
                <a:chExt cx="624" cy="240"/>
              </a:xfrm>
            </p:grpSpPr>
            <p:sp>
              <p:nvSpPr>
                <p:cNvPr id="86" name="Rectangle 56"/>
                <p:cNvSpPr>
                  <a:spLocks noChangeArrowheads="1"/>
                </p:cNvSpPr>
                <p:nvPr/>
              </p:nvSpPr>
              <p:spPr bwMode="auto">
                <a:xfrm>
                  <a:off x="2264" y="3794"/>
                  <a:ext cx="28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3</a:t>
                  </a:r>
                  <a:endParaRPr lang="en-US" altLang="en-US" sz="1600" dirty="0"/>
                </a:p>
              </p:txBody>
            </p:sp>
            <p:sp>
              <p:nvSpPr>
                <p:cNvPr id="87" name="Rectangle 57"/>
                <p:cNvSpPr>
                  <a:spLocks noChangeArrowheads="1"/>
                </p:cNvSpPr>
                <p:nvPr/>
              </p:nvSpPr>
              <p:spPr bwMode="auto">
                <a:xfrm>
                  <a:off x="2552" y="3794"/>
                  <a:ext cx="336" cy="24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81" name="Rectangle 59"/>
            <p:cNvSpPr>
              <a:spLocks noChangeArrowheads="1"/>
            </p:cNvSpPr>
            <p:nvPr/>
          </p:nvSpPr>
          <p:spPr bwMode="auto">
            <a:xfrm>
              <a:off x="3446417" y="4507320"/>
              <a:ext cx="1600200" cy="3047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C00000"/>
                  </a:solidFill>
                </a:rPr>
                <a:t>Stack</a:t>
              </a:r>
            </a:p>
            <a:p>
              <a:pPr algn="ctr"/>
              <a:r>
                <a:rPr lang="en-US" altLang="en-US" sz="1600" b="1" dirty="0" smtClean="0"/>
                <a:t>page table</a:t>
              </a:r>
              <a:endParaRPr lang="en-US" altLang="en-US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570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4335168" y="3050177"/>
            <a:ext cx="1078966" cy="1515975"/>
            <a:chOff x="4335168" y="3050177"/>
            <a:chExt cx="1078966" cy="1515975"/>
          </a:xfrm>
        </p:grpSpPr>
        <p:sp>
          <p:nvSpPr>
            <p:cNvPr id="16" name="Rectangle 15"/>
            <p:cNvSpPr/>
            <p:nvPr/>
          </p:nvSpPr>
          <p:spPr>
            <a:xfrm>
              <a:off x="4371974" y="3050177"/>
              <a:ext cx="1005354" cy="11408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335168" y="4114290"/>
              <a:ext cx="1078966" cy="451862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Page Table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Segmentation with Paging: </a:t>
            </a:r>
            <a:r>
              <a:rPr lang="en-US" b="1" dirty="0" smtClean="0"/>
              <a:t>Illustration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cxnSp>
        <p:nvCxnSpPr>
          <p:cNvPr id="67" name="Elbow Connector 66"/>
          <p:cNvCxnSpPr/>
          <p:nvPr/>
        </p:nvCxnSpPr>
        <p:spPr>
          <a:xfrm rot="16200000" flipH="1">
            <a:off x="4181622" y="1843674"/>
            <a:ext cx="1851660" cy="524341"/>
          </a:xfrm>
          <a:prstGeom prst="bentConnector4">
            <a:avLst>
              <a:gd name="adj1" fmla="val 21428"/>
              <a:gd name="adj2" fmla="val 143598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3" idx="2"/>
            <a:endCxn id="21" idx="0"/>
          </p:cNvCxnSpPr>
          <p:nvPr/>
        </p:nvCxnSpPr>
        <p:spPr>
          <a:xfrm rot="5400000">
            <a:off x="2941094" y="2075695"/>
            <a:ext cx="1393371" cy="779838"/>
          </a:xfrm>
          <a:prstGeom prst="bentConnector3">
            <a:avLst>
              <a:gd name="adj1" fmla="val -5199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85800" y="4267200"/>
            <a:ext cx="990600" cy="1219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CPU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71974" y="3301410"/>
            <a:ext cx="1005354" cy="4136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</a:rPr>
              <a:t>Frame Number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676400" y="4724400"/>
            <a:ext cx="1828800" cy="304800"/>
            <a:chOff x="1676400" y="4724400"/>
            <a:chExt cx="1828800" cy="304800"/>
          </a:xfrm>
        </p:grpSpPr>
        <p:grpSp>
          <p:nvGrpSpPr>
            <p:cNvPr id="3" name="Group 2"/>
            <p:cNvGrpSpPr/>
            <p:nvPr/>
          </p:nvGrpSpPr>
          <p:grpSpPr>
            <a:xfrm>
              <a:off x="1905000" y="4724400"/>
              <a:ext cx="1600200" cy="304800"/>
              <a:chOff x="1905000" y="4724400"/>
              <a:chExt cx="1600200" cy="3048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1905000" y="4724400"/>
                <a:ext cx="533400" cy="3048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S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2438400" y="4724400"/>
                <a:ext cx="533400" cy="304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P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971800" y="4724400"/>
                <a:ext cx="533400" cy="3048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chemeClr val="tx1"/>
                    </a:solidFill>
                  </a:rPr>
                  <a:t>D</a:t>
                </a:r>
                <a:endParaRPr lang="en-US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0" name="Straight Arrow Connector 19"/>
            <p:cNvCxnSpPr>
              <a:stCxn id="7" idx="3"/>
            </p:cNvCxnSpPr>
            <p:nvPr/>
          </p:nvCxnSpPr>
          <p:spPr>
            <a:xfrm>
              <a:off x="1676400" y="4876800"/>
              <a:ext cx="2286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Diamond 20"/>
          <p:cNvSpPr/>
          <p:nvPr/>
        </p:nvSpPr>
        <p:spPr>
          <a:xfrm>
            <a:off x="2904960" y="3162300"/>
            <a:ext cx="685800" cy="685799"/>
          </a:xfrm>
          <a:prstGeom prst="diamond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2"/>
                </a:solidFill>
              </a:rPr>
              <a:t>&lt;</a:t>
            </a:r>
            <a:endParaRPr lang="en-US" b="1" dirty="0">
              <a:solidFill>
                <a:schemeClr val="accent2"/>
              </a:solidFill>
            </a:endParaRPr>
          </a:p>
        </p:txBody>
      </p:sp>
      <p:cxnSp>
        <p:nvCxnSpPr>
          <p:cNvPr id="23" name="Elbow Connector 22"/>
          <p:cNvCxnSpPr>
            <a:stCxn id="8" idx="0"/>
            <a:endCxn id="13" idx="1"/>
          </p:cNvCxnSpPr>
          <p:nvPr/>
        </p:nvCxnSpPr>
        <p:spPr>
          <a:xfrm rot="5400000" flipH="1" flipV="1">
            <a:off x="1347786" y="2386014"/>
            <a:ext cx="3162300" cy="1514473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9" idx="0"/>
            <a:endCxn id="21" idx="1"/>
          </p:cNvCxnSpPr>
          <p:nvPr/>
        </p:nvCxnSpPr>
        <p:spPr>
          <a:xfrm rot="5400000" flipH="1" flipV="1">
            <a:off x="2195430" y="4014870"/>
            <a:ext cx="1219200" cy="199860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>
            <a:stCxn id="18" idx="3"/>
            <a:endCxn id="40" idx="0"/>
          </p:cNvCxnSpPr>
          <p:nvPr/>
        </p:nvCxnSpPr>
        <p:spPr>
          <a:xfrm>
            <a:off x="5377328" y="3508239"/>
            <a:ext cx="447674" cy="1198744"/>
          </a:xfrm>
          <a:prstGeom prst="bentConnector2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558302" y="4706983"/>
            <a:ext cx="5334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091702" y="4706983"/>
            <a:ext cx="533400" cy="304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43" name="Elbow Connector 42"/>
          <p:cNvCxnSpPr>
            <a:stCxn id="10" idx="2"/>
            <a:endCxn id="42" idx="2"/>
          </p:cNvCxnSpPr>
          <p:nvPr/>
        </p:nvCxnSpPr>
        <p:spPr>
          <a:xfrm rot="5400000" flipH="1" flipV="1">
            <a:off x="4789742" y="3460541"/>
            <a:ext cx="17417" cy="3119902"/>
          </a:xfrm>
          <a:prstGeom prst="bentConnector3">
            <a:avLst>
              <a:gd name="adj1" fmla="val -1312511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3532629" y="3252654"/>
            <a:ext cx="839345" cy="304800"/>
            <a:chOff x="3532629" y="3252654"/>
            <a:chExt cx="839345" cy="304800"/>
          </a:xfrm>
        </p:grpSpPr>
        <p:cxnSp>
          <p:nvCxnSpPr>
            <p:cNvPr id="28" name="Straight Arrow Connector 27"/>
            <p:cNvCxnSpPr>
              <a:stCxn id="21" idx="3"/>
              <a:endCxn id="18" idx="1"/>
            </p:cNvCxnSpPr>
            <p:nvPr/>
          </p:nvCxnSpPr>
          <p:spPr>
            <a:xfrm>
              <a:off x="3590760" y="3505200"/>
              <a:ext cx="781214" cy="30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3532629" y="3252654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Yes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819400" y="3748607"/>
            <a:ext cx="1164526" cy="718008"/>
            <a:chOff x="2819400" y="3748607"/>
            <a:chExt cx="1164526" cy="718008"/>
          </a:xfrm>
        </p:grpSpPr>
        <p:sp>
          <p:nvSpPr>
            <p:cNvPr id="47" name="Rectangle 46"/>
            <p:cNvSpPr/>
            <p:nvPr/>
          </p:nvSpPr>
          <p:spPr>
            <a:xfrm>
              <a:off x="3335897" y="3748607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No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48" name="Straight Arrow Connector 47"/>
            <p:cNvCxnSpPr>
              <a:stCxn id="21" idx="2"/>
            </p:cNvCxnSpPr>
            <p:nvPr/>
          </p:nvCxnSpPr>
          <p:spPr>
            <a:xfrm flipH="1">
              <a:off x="3238499" y="3848099"/>
              <a:ext cx="9361" cy="24644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 50"/>
            <p:cNvSpPr/>
            <p:nvPr/>
          </p:nvSpPr>
          <p:spPr>
            <a:xfrm>
              <a:off x="2819400" y="4161815"/>
              <a:ext cx="1164526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rgbClr val="C00000"/>
                  </a:solidFill>
                </a:rPr>
                <a:t>Addressing Error!</a:t>
              </a:r>
              <a:endParaRPr lang="en-US" sz="1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3049119" y="1088571"/>
            <a:ext cx="541640" cy="304800"/>
            <a:chOff x="3125319" y="936171"/>
            <a:chExt cx="541640" cy="304800"/>
          </a:xfrm>
        </p:grpSpPr>
        <p:sp>
          <p:nvSpPr>
            <p:cNvPr id="53" name="Left Brace 52"/>
            <p:cNvSpPr/>
            <p:nvPr/>
          </p:nvSpPr>
          <p:spPr>
            <a:xfrm>
              <a:off x="3482706" y="976450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125319" y="936171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S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786380" y="2990850"/>
            <a:ext cx="557020" cy="304800"/>
            <a:chOff x="3815521" y="2838450"/>
            <a:chExt cx="557020" cy="304800"/>
          </a:xfrm>
        </p:grpSpPr>
        <p:sp>
          <p:nvSpPr>
            <p:cNvPr id="55" name="Left Brace 54"/>
            <p:cNvSpPr/>
            <p:nvPr/>
          </p:nvSpPr>
          <p:spPr>
            <a:xfrm>
              <a:off x="4188288" y="2879930"/>
              <a:ext cx="184253" cy="226421"/>
            </a:xfrm>
            <a:prstGeom prst="lef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3815521" y="2838450"/>
              <a:ext cx="533400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P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9" name="Rectangle 58"/>
          <p:cNvSpPr/>
          <p:nvPr/>
        </p:nvSpPr>
        <p:spPr>
          <a:xfrm>
            <a:off x="7010400" y="1355271"/>
            <a:ext cx="1524000" cy="504552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Physical Memory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/>
          <p:cNvCxnSpPr/>
          <p:nvPr/>
        </p:nvCxnSpPr>
        <p:spPr>
          <a:xfrm>
            <a:off x="6625102" y="4849040"/>
            <a:ext cx="38529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686173" y="1143000"/>
            <a:ext cx="1647827" cy="1709600"/>
            <a:chOff x="3686173" y="1143000"/>
            <a:chExt cx="1647827" cy="1709600"/>
          </a:xfrm>
        </p:grpSpPr>
        <p:sp>
          <p:nvSpPr>
            <p:cNvPr id="11" name="Rectangle 10"/>
            <p:cNvSpPr/>
            <p:nvPr/>
          </p:nvSpPr>
          <p:spPr>
            <a:xfrm>
              <a:off x="3686174" y="1145176"/>
              <a:ext cx="68580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62450" y="1143000"/>
              <a:ext cx="971550" cy="14456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686173" y="1355271"/>
              <a:ext cx="683049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</a:rPr>
                <a:t>Page limit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62450" y="1355271"/>
              <a:ext cx="971550" cy="41365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 smtClean="0">
                  <a:solidFill>
                    <a:schemeClr val="tx1"/>
                  </a:solidFill>
                </a:rPr>
                <a:t>Pg</a:t>
              </a:r>
              <a:r>
                <a:rPr lang="en-US" sz="1400" b="1" dirty="0" smtClean="0">
                  <a:solidFill>
                    <a:schemeClr val="tx1"/>
                  </a:solidFill>
                </a:rPr>
                <a:t> Table Base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689936" y="2547800"/>
              <a:ext cx="1535857" cy="3048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</a:rPr>
                <a:t>Segment Table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8174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40" grpId="0" animBg="1"/>
      <p:bldP spid="4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47182" y="1568375"/>
            <a:ext cx="3045290" cy="4405193"/>
          </a:xfrm>
          <a:prstGeom prst="roundRect">
            <a:avLst>
              <a:gd name="adj" fmla="val 4362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C00000"/>
                </a:solidFill>
              </a:rPr>
              <a:t>Segmentation </a:t>
            </a:r>
            <a:r>
              <a:rPr lang="en-US" sz="4000" b="1" dirty="0"/>
              <a:t>with </a:t>
            </a:r>
            <a:r>
              <a:rPr lang="en-US" sz="4000" b="1" dirty="0">
                <a:solidFill>
                  <a:srgbClr val="660066"/>
                </a:solidFill>
              </a:rPr>
              <a:t>Paging</a:t>
            </a:r>
            <a:endParaRPr lang="en-US" altLang="en-US" sz="3800" b="1" dirty="0">
              <a:solidFill>
                <a:srgbClr val="660066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373659" y="1401568"/>
            <a:ext cx="1219200" cy="29302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/>
          <a:extLst/>
        </p:spPr>
        <p:txBody>
          <a:bodyPr anchor="ctr"/>
          <a:lstStyle/>
          <a:p>
            <a:pPr algn="ctr"/>
            <a:r>
              <a:rPr lang="en-US" altLang="en-US" sz="1600" b="1" dirty="0" smtClean="0">
                <a:solidFill>
                  <a:srgbClr val="C00000"/>
                </a:solidFill>
              </a:rPr>
              <a:t>Process P</a:t>
            </a:r>
            <a:endParaRPr lang="en-US" altLang="en-US" sz="1600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1188273" y="1862748"/>
            <a:ext cx="1143000" cy="1633151"/>
            <a:chOff x="992706" y="1134975"/>
            <a:chExt cx="1143000" cy="1633151"/>
          </a:xfrm>
        </p:grpSpPr>
        <p:grpSp>
          <p:nvGrpSpPr>
            <p:cNvPr id="5" name="Group 4"/>
            <p:cNvGrpSpPr/>
            <p:nvPr/>
          </p:nvGrpSpPr>
          <p:grpSpPr>
            <a:xfrm>
              <a:off x="992706" y="1396526"/>
              <a:ext cx="1143000" cy="1371600"/>
              <a:chOff x="711926" y="1013764"/>
              <a:chExt cx="1143000" cy="1828800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auto">
              <a:xfrm>
                <a:off x="711926" y="22329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2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12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75" name="Rectangle 7"/>
            <p:cNvSpPr>
              <a:spLocks noChangeArrowheads="1"/>
            </p:cNvSpPr>
            <p:nvPr/>
          </p:nvSpPr>
          <p:spPr bwMode="auto">
            <a:xfrm>
              <a:off x="992706" y="1134975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Text(0)</a:t>
              </a:r>
              <a:endParaRPr lang="en-US" alt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9018" y="3598533"/>
            <a:ext cx="1143665" cy="1185113"/>
            <a:chOff x="227935" y="2935961"/>
            <a:chExt cx="1143665" cy="1185113"/>
          </a:xfrm>
        </p:grpSpPr>
        <p:grpSp>
          <p:nvGrpSpPr>
            <p:cNvPr id="54" name="Group 53"/>
            <p:cNvGrpSpPr/>
            <p:nvPr/>
          </p:nvGrpSpPr>
          <p:grpSpPr>
            <a:xfrm>
              <a:off x="228600" y="3206674"/>
              <a:ext cx="1143000" cy="914400"/>
              <a:chOff x="711926" y="1013764"/>
              <a:chExt cx="1143000" cy="1219200"/>
            </a:xfrm>
          </p:grpSpPr>
          <p:sp>
            <p:nvSpPr>
              <p:cNvPr id="57" name="Rectangle 6"/>
              <p:cNvSpPr>
                <a:spLocks noChangeArrowheads="1"/>
              </p:cNvSpPr>
              <p:nvPr/>
            </p:nvSpPr>
            <p:spPr bwMode="auto">
              <a:xfrm>
                <a:off x="711926" y="162336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7"/>
              <p:cNvSpPr>
                <a:spLocks noChangeArrowheads="1"/>
              </p:cNvSpPr>
              <p:nvPr/>
            </p:nvSpPr>
            <p:spPr bwMode="auto">
              <a:xfrm>
                <a:off x="711926" y="1013764"/>
                <a:ext cx="1143000" cy="6096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>
                    <a:latin typeface="Courier New" panose="02070309020205020404" pitchFamily="49" charset="0"/>
                  </a:rPr>
                  <a:t>Page </a:t>
                </a:r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0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76" name="Rectangle 7"/>
            <p:cNvSpPr>
              <a:spLocks noChangeArrowheads="1"/>
            </p:cNvSpPr>
            <p:nvPr/>
          </p:nvSpPr>
          <p:spPr bwMode="auto">
            <a:xfrm>
              <a:off x="227935" y="2935961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chemeClr val="accent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Data(1)</a:t>
              </a:r>
              <a:endParaRPr lang="en-US" altLang="en-US" sz="16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1994741" y="4056017"/>
            <a:ext cx="1143665" cy="727913"/>
            <a:chOff x="1972117" y="3349626"/>
            <a:chExt cx="1143665" cy="727913"/>
          </a:xfrm>
        </p:grpSpPr>
        <p:sp>
          <p:nvSpPr>
            <p:cNvPr id="80" name="Rectangle 7"/>
            <p:cNvSpPr>
              <a:spLocks noChangeArrowheads="1"/>
            </p:cNvSpPr>
            <p:nvPr/>
          </p:nvSpPr>
          <p:spPr bwMode="auto">
            <a:xfrm>
              <a:off x="1972782" y="3620339"/>
              <a:ext cx="11430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81" name="Rectangle 7"/>
            <p:cNvSpPr>
              <a:spLocks noChangeArrowheads="1"/>
            </p:cNvSpPr>
            <p:nvPr/>
          </p:nvSpPr>
          <p:spPr bwMode="auto">
            <a:xfrm>
              <a:off x="1972117" y="3349626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 err="1" smtClean="0"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Stck</a:t>
              </a:r>
              <a:r>
                <a:rPr lang="en-US" altLang="en-US" sz="1600" b="1" dirty="0" smtClean="0">
                  <a:solidFill>
                    <a:schemeClr val="accent4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(2)</a:t>
              </a:r>
              <a:endParaRPr lang="en-US" altLang="en-US" sz="16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188273" y="5118784"/>
            <a:ext cx="1143665" cy="727913"/>
            <a:chOff x="1184111" y="4691171"/>
            <a:chExt cx="1143665" cy="727913"/>
          </a:xfrm>
        </p:grpSpPr>
        <p:sp>
          <p:nvSpPr>
            <p:cNvPr id="82" name="Rectangle 7"/>
            <p:cNvSpPr>
              <a:spLocks noChangeArrowheads="1"/>
            </p:cNvSpPr>
            <p:nvPr/>
          </p:nvSpPr>
          <p:spPr bwMode="auto">
            <a:xfrm>
              <a:off x="1184776" y="4961884"/>
              <a:ext cx="1143000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>
                  <a:latin typeface="Courier New" panose="02070309020205020404" pitchFamily="49" charset="0"/>
                </a:rPr>
                <a:t>Page </a:t>
              </a:r>
              <a:r>
                <a:rPr lang="en-US" altLang="en-US" sz="1600" b="1" dirty="0" smtClean="0">
                  <a:latin typeface="Courier New" panose="02070309020205020404" pitchFamily="49" charset="0"/>
                </a:rPr>
                <a:t>0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83" name="Rectangle 7"/>
            <p:cNvSpPr>
              <a:spLocks noChangeArrowheads="1"/>
            </p:cNvSpPr>
            <p:nvPr/>
          </p:nvSpPr>
          <p:spPr bwMode="auto">
            <a:xfrm>
              <a:off x="1184111" y="4691171"/>
              <a:ext cx="1143000" cy="2639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anose="02070309020205020404" pitchFamily="49" charset="0"/>
                </a:rPr>
                <a:t>Heap(3)</a:t>
              </a:r>
              <a:endParaRPr lang="en-US" altLang="en-US" sz="16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endParaRP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230506" y="2840365"/>
            <a:ext cx="1584762" cy="1235826"/>
            <a:chOff x="3493645" y="4631574"/>
            <a:chExt cx="1584762" cy="1524001"/>
          </a:xfrm>
        </p:grpSpPr>
        <p:sp>
          <p:nvSpPr>
            <p:cNvPr id="95" name="Rectangle 21"/>
            <p:cNvSpPr>
              <a:spLocks noChangeArrowheads="1"/>
            </p:cNvSpPr>
            <p:nvPr/>
          </p:nvSpPr>
          <p:spPr bwMode="auto">
            <a:xfrm>
              <a:off x="3493645" y="4631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 smtClean="0"/>
                <a:t>0</a:t>
              </a:r>
              <a:endParaRPr lang="en-US" altLang="en-US" sz="1600" dirty="0"/>
            </a:p>
          </p:txBody>
        </p:sp>
        <p:sp>
          <p:nvSpPr>
            <p:cNvPr id="96" name="Rectangle 47"/>
            <p:cNvSpPr>
              <a:spLocks noChangeArrowheads="1"/>
            </p:cNvSpPr>
            <p:nvPr/>
          </p:nvSpPr>
          <p:spPr bwMode="auto">
            <a:xfrm>
              <a:off x="3950845" y="4631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3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3" name="Rectangle 50"/>
            <p:cNvSpPr>
              <a:spLocks noChangeArrowheads="1"/>
            </p:cNvSpPr>
            <p:nvPr/>
          </p:nvSpPr>
          <p:spPr bwMode="auto">
            <a:xfrm>
              <a:off x="3493645" y="5012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 smtClean="0"/>
                <a:t>1</a:t>
              </a:r>
              <a:endParaRPr lang="en-US" altLang="en-US" sz="1600" dirty="0"/>
            </a:p>
          </p:txBody>
        </p:sp>
        <p:sp>
          <p:nvSpPr>
            <p:cNvPr id="94" name="Rectangle 51"/>
            <p:cNvSpPr>
              <a:spLocks noChangeArrowheads="1"/>
            </p:cNvSpPr>
            <p:nvPr/>
          </p:nvSpPr>
          <p:spPr bwMode="auto">
            <a:xfrm>
              <a:off x="3950845" y="5012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2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1" name="Rectangle 53"/>
            <p:cNvSpPr>
              <a:spLocks noChangeArrowheads="1"/>
            </p:cNvSpPr>
            <p:nvPr/>
          </p:nvSpPr>
          <p:spPr bwMode="auto">
            <a:xfrm>
              <a:off x="3493645" y="5393574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 smtClean="0"/>
                <a:t>2</a:t>
              </a:r>
              <a:endParaRPr lang="en-US" altLang="en-US" sz="1600" dirty="0"/>
            </a:p>
          </p:txBody>
        </p:sp>
        <p:sp>
          <p:nvSpPr>
            <p:cNvPr id="92" name="Rectangle 54"/>
            <p:cNvSpPr>
              <a:spLocks noChangeArrowheads="1"/>
            </p:cNvSpPr>
            <p:nvPr/>
          </p:nvSpPr>
          <p:spPr bwMode="auto">
            <a:xfrm>
              <a:off x="3950845" y="5393574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89" name="Rectangle 56"/>
            <p:cNvSpPr>
              <a:spLocks noChangeArrowheads="1"/>
            </p:cNvSpPr>
            <p:nvPr/>
          </p:nvSpPr>
          <p:spPr bwMode="auto">
            <a:xfrm>
              <a:off x="3493645" y="5774575"/>
              <a:ext cx="4572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r"/>
              <a:r>
                <a:rPr lang="en-US" altLang="en-US" sz="1600" dirty="0" smtClean="0"/>
                <a:t>3</a:t>
              </a:r>
              <a:endParaRPr lang="en-US" altLang="en-US" sz="1600" dirty="0"/>
            </a:p>
          </p:txBody>
        </p:sp>
        <p:sp>
          <p:nvSpPr>
            <p:cNvPr id="90" name="Rectangle 57"/>
            <p:cNvSpPr>
              <a:spLocks noChangeArrowheads="1"/>
            </p:cNvSpPr>
            <p:nvPr/>
          </p:nvSpPr>
          <p:spPr bwMode="auto">
            <a:xfrm>
              <a:off x="3950845" y="5774575"/>
              <a:ext cx="533400" cy="381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1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7" name="Rectangle 47"/>
            <p:cNvSpPr>
              <a:spLocks noChangeArrowheads="1"/>
            </p:cNvSpPr>
            <p:nvPr/>
          </p:nvSpPr>
          <p:spPr bwMode="auto">
            <a:xfrm>
              <a:off x="4484244" y="4631574"/>
              <a:ext cx="594163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...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8" name="Rectangle 51"/>
            <p:cNvSpPr>
              <a:spLocks noChangeArrowheads="1"/>
            </p:cNvSpPr>
            <p:nvPr/>
          </p:nvSpPr>
          <p:spPr bwMode="auto">
            <a:xfrm>
              <a:off x="4484245" y="5012574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...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99" name="Rectangle 54"/>
            <p:cNvSpPr>
              <a:spLocks noChangeArrowheads="1"/>
            </p:cNvSpPr>
            <p:nvPr/>
          </p:nvSpPr>
          <p:spPr bwMode="auto">
            <a:xfrm>
              <a:off x="4484245" y="5393574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...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00" name="Rectangle 57"/>
            <p:cNvSpPr>
              <a:spLocks noChangeArrowheads="1"/>
            </p:cNvSpPr>
            <p:nvPr/>
          </p:nvSpPr>
          <p:spPr bwMode="auto">
            <a:xfrm>
              <a:off x="4484245" y="5774575"/>
              <a:ext cx="594162" cy="381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dirty="0" smtClean="0">
                  <a:latin typeface="Courier New" panose="02070309020205020404" pitchFamily="49" charset="0"/>
                </a:rPr>
                <a:t>...</a:t>
              </a:r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120" name="Rectangle 31"/>
          <p:cNvSpPr>
            <a:spLocks noChangeArrowheads="1"/>
          </p:cNvSpPr>
          <p:nvPr/>
        </p:nvSpPr>
        <p:spPr bwMode="auto">
          <a:xfrm>
            <a:off x="6743746" y="2988208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7</a:t>
            </a:r>
            <a:endParaRPr lang="en-US" altLang="en-US" dirty="0"/>
          </a:p>
        </p:txBody>
      </p:sp>
      <p:sp>
        <p:nvSpPr>
          <p:cNvPr id="121" name="Rectangle 32"/>
          <p:cNvSpPr>
            <a:spLocks noChangeArrowheads="1"/>
          </p:cNvSpPr>
          <p:nvPr/>
        </p:nvSpPr>
        <p:spPr bwMode="auto">
          <a:xfrm>
            <a:off x="6743746" y="2616738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6</a:t>
            </a:r>
            <a:endParaRPr lang="en-US" altLang="en-US" dirty="0"/>
          </a:p>
        </p:txBody>
      </p:sp>
      <p:sp>
        <p:nvSpPr>
          <p:cNvPr id="122" name="Rectangle 33"/>
          <p:cNvSpPr>
            <a:spLocks noChangeArrowheads="1"/>
          </p:cNvSpPr>
          <p:nvPr/>
        </p:nvSpPr>
        <p:spPr bwMode="auto">
          <a:xfrm>
            <a:off x="6743746" y="2245269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5</a:t>
            </a:r>
            <a:endParaRPr lang="en-US" altLang="en-US" dirty="0"/>
          </a:p>
        </p:txBody>
      </p:sp>
      <p:sp>
        <p:nvSpPr>
          <p:cNvPr id="123" name="Rectangle 34"/>
          <p:cNvSpPr>
            <a:spLocks noChangeArrowheads="1"/>
          </p:cNvSpPr>
          <p:nvPr/>
        </p:nvSpPr>
        <p:spPr bwMode="auto">
          <a:xfrm>
            <a:off x="6743746" y="1873800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4</a:t>
            </a:r>
            <a:endParaRPr lang="en-US" altLang="en-US" dirty="0"/>
          </a:p>
        </p:txBody>
      </p:sp>
      <p:sp>
        <p:nvSpPr>
          <p:cNvPr id="124" name="Rectangle 35"/>
          <p:cNvSpPr>
            <a:spLocks noChangeArrowheads="1"/>
          </p:cNvSpPr>
          <p:nvPr/>
        </p:nvSpPr>
        <p:spPr bwMode="auto">
          <a:xfrm>
            <a:off x="6743746" y="1502330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3</a:t>
            </a:r>
            <a:endParaRPr lang="en-US" altLang="en-US" dirty="0"/>
          </a:p>
        </p:txBody>
      </p:sp>
      <p:sp>
        <p:nvSpPr>
          <p:cNvPr id="125" name="Rectangle 36"/>
          <p:cNvSpPr>
            <a:spLocks noChangeArrowheads="1"/>
          </p:cNvSpPr>
          <p:nvPr/>
        </p:nvSpPr>
        <p:spPr bwMode="auto">
          <a:xfrm>
            <a:off x="6743746" y="1130861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2</a:t>
            </a:r>
            <a:endParaRPr lang="en-US" altLang="en-US" dirty="0"/>
          </a:p>
        </p:txBody>
      </p:sp>
      <p:sp>
        <p:nvSpPr>
          <p:cNvPr id="126" name="Rectangle 37"/>
          <p:cNvSpPr>
            <a:spLocks noChangeArrowheads="1"/>
          </p:cNvSpPr>
          <p:nvPr/>
        </p:nvSpPr>
        <p:spPr bwMode="auto">
          <a:xfrm>
            <a:off x="6743746" y="759391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1</a:t>
            </a:r>
            <a:endParaRPr lang="en-US" altLang="en-US" dirty="0"/>
          </a:p>
        </p:txBody>
      </p:sp>
      <p:sp>
        <p:nvSpPr>
          <p:cNvPr id="127" name="Rectangle 38"/>
          <p:cNvSpPr>
            <a:spLocks noChangeArrowheads="1"/>
          </p:cNvSpPr>
          <p:nvPr/>
        </p:nvSpPr>
        <p:spPr bwMode="auto">
          <a:xfrm>
            <a:off x="6743746" y="387922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frame </a:t>
            </a:r>
            <a:r>
              <a:rPr lang="en-US" altLang="en-US" dirty="0" smtClean="0"/>
              <a:t>0</a:t>
            </a:r>
            <a:endParaRPr lang="en-US" altLang="en-US" dirty="0"/>
          </a:p>
        </p:txBody>
      </p:sp>
      <p:sp>
        <p:nvSpPr>
          <p:cNvPr id="136" name="Rectangle 31"/>
          <p:cNvSpPr>
            <a:spLocks noChangeArrowheads="1"/>
          </p:cNvSpPr>
          <p:nvPr/>
        </p:nvSpPr>
        <p:spPr bwMode="auto">
          <a:xfrm>
            <a:off x="6591346" y="5959712"/>
            <a:ext cx="11430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frame </a:t>
            </a:r>
            <a:r>
              <a:rPr lang="en-US" altLang="en-US" dirty="0" smtClean="0"/>
              <a:t>15</a:t>
            </a:r>
            <a:endParaRPr lang="en-US" altLang="en-US" dirty="0"/>
          </a:p>
        </p:txBody>
      </p:sp>
      <p:sp>
        <p:nvSpPr>
          <p:cNvPr id="137" name="Rectangle 32"/>
          <p:cNvSpPr>
            <a:spLocks noChangeArrowheads="1"/>
          </p:cNvSpPr>
          <p:nvPr/>
        </p:nvSpPr>
        <p:spPr bwMode="auto">
          <a:xfrm>
            <a:off x="6743746" y="5588242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14</a:t>
            </a:r>
            <a:endParaRPr lang="en-US" altLang="en-US" dirty="0"/>
          </a:p>
        </p:txBody>
      </p:sp>
      <p:sp>
        <p:nvSpPr>
          <p:cNvPr id="138" name="Rectangle 33"/>
          <p:cNvSpPr>
            <a:spLocks noChangeArrowheads="1"/>
          </p:cNvSpPr>
          <p:nvPr/>
        </p:nvSpPr>
        <p:spPr bwMode="auto">
          <a:xfrm>
            <a:off x="6743746" y="5216773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13</a:t>
            </a:r>
            <a:endParaRPr lang="en-US" altLang="en-US" dirty="0"/>
          </a:p>
        </p:txBody>
      </p:sp>
      <p:sp>
        <p:nvSpPr>
          <p:cNvPr id="139" name="Rectangle 34"/>
          <p:cNvSpPr>
            <a:spLocks noChangeArrowheads="1"/>
          </p:cNvSpPr>
          <p:nvPr/>
        </p:nvSpPr>
        <p:spPr bwMode="auto">
          <a:xfrm>
            <a:off x="6743746" y="4845304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12</a:t>
            </a:r>
            <a:endParaRPr lang="en-US" altLang="en-US" dirty="0"/>
          </a:p>
        </p:txBody>
      </p:sp>
      <p:sp>
        <p:nvSpPr>
          <p:cNvPr id="140" name="Rectangle 35"/>
          <p:cNvSpPr>
            <a:spLocks noChangeArrowheads="1"/>
          </p:cNvSpPr>
          <p:nvPr/>
        </p:nvSpPr>
        <p:spPr bwMode="auto">
          <a:xfrm>
            <a:off x="6743746" y="4473834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11</a:t>
            </a:r>
            <a:endParaRPr lang="en-US" altLang="en-US" dirty="0"/>
          </a:p>
        </p:txBody>
      </p:sp>
      <p:sp>
        <p:nvSpPr>
          <p:cNvPr id="141" name="Rectangle 36"/>
          <p:cNvSpPr>
            <a:spLocks noChangeArrowheads="1"/>
          </p:cNvSpPr>
          <p:nvPr/>
        </p:nvSpPr>
        <p:spPr bwMode="auto">
          <a:xfrm>
            <a:off x="6743746" y="4102365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10</a:t>
            </a:r>
            <a:endParaRPr lang="en-US" altLang="en-US" dirty="0"/>
          </a:p>
        </p:txBody>
      </p:sp>
      <p:sp>
        <p:nvSpPr>
          <p:cNvPr id="142" name="Rectangle 37"/>
          <p:cNvSpPr>
            <a:spLocks noChangeArrowheads="1"/>
          </p:cNvSpPr>
          <p:nvPr/>
        </p:nvSpPr>
        <p:spPr bwMode="auto">
          <a:xfrm>
            <a:off x="6743746" y="3730895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 smtClean="0"/>
              <a:t>9</a:t>
            </a:r>
            <a:endParaRPr lang="en-US" altLang="en-US" dirty="0"/>
          </a:p>
        </p:txBody>
      </p:sp>
      <p:sp>
        <p:nvSpPr>
          <p:cNvPr id="143" name="Rectangle 38"/>
          <p:cNvSpPr>
            <a:spLocks noChangeArrowheads="1"/>
          </p:cNvSpPr>
          <p:nvPr/>
        </p:nvSpPr>
        <p:spPr bwMode="auto">
          <a:xfrm>
            <a:off x="6743746" y="3359426"/>
            <a:ext cx="990600" cy="37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/>
            <a:r>
              <a:rPr lang="en-US" altLang="en-US" dirty="0"/>
              <a:t>8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7734300" y="388172"/>
            <a:ext cx="1143000" cy="5943259"/>
            <a:chOff x="7734300" y="388172"/>
            <a:chExt cx="1143000" cy="5943259"/>
          </a:xfrm>
          <a:solidFill>
            <a:schemeClr val="bg1">
              <a:lumMod val="95000"/>
            </a:schemeClr>
          </a:solidFill>
        </p:grpSpPr>
        <p:sp>
          <p:nvSpPr>
            <p:cNvPr id="116" name="Rectangle 11"/>
            <p:cNvSpPr>
              <a:spLocks noChangeArrowheads="1"/>
            </p:cNvSpPr>
            <p:nvPr/>
          </p:nvSpPr>
          <p:spPr bwMode="auto">
            <a:xfrm>
              <a:off x="7734300" y="38817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7" name="Rectangle 12"/>
            <p:cNvSpPr>
              <a:spLocks noChangeArrowheads="1"/>
            </p:cNvSpPr>
            <p:nvPr/>
          </p:nvSpPr>
          <p:spPr bwMode="auto">
            <a:xfrm>
              <a:off x="7734300" y="2616988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7734300" y="1502580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7734300" y="1874049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28" name="Rectangle 10"/>
            <p:cNvSpPr>
              <a:spLocks noChangeArrowheads="1"/>
            </p:cNvSpPr>
            <p:nvPr/>
          </p:nvSpPr>
          <p:spPr bwMode="auto">
            <a:xfrm>
              <a:off x="7734300" y="2245519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29" name="Rectangle 13"/>
            <p:cNvSpPr>
              <a:spLocks noChangeArrowheads="1"/>
            </p:cNvSpPr>
            <p:nvPr/>
          </p:nvSpPr>
          <p:spPr bwMode="auto">
            <a:xfrm>
              <a:off x="7734300" y="1131111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0" name="Rectangle 17"/>
            <p:cNvSpPr>
              <a:spLocks noChangeArrowheads="1"/>
            </p:cNvSpPr>
            <p:nvPr/>
          </p:nvSpPr>
          <p:spPr bwMode="auto">
            <a:xfrm>
              <a:off x="7734300" y="759641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1" name="Rectangle 18"/>
            <p:cNvSpPr>
              <a:spLocks noChangeArrowheads="1"/>
            </p:cNvSpPr>
            <p:nvPr/>
          </p:nvSpPr>
          <p:spPr bwMode="auto">
            <a:xfrm>
              <a:off x="7734300" y="2988458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2" name="Rectangle 11"/>
            <p:cNvSpPr>
              <a:spLocks noChangeArrowheads="1"/>
            </p:cNvSpPr>
            <p:nvPr/>
          </p:nvSpPr>
          <p:spPr bwMode="auto">
            <a:xfrm>
              <a:off x="7734300" y="3359676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3" name="Rectangle 12"/>
            <p:cNvSpPr>
              <a:spLocks noChangeArrowheads="1"/>
            </p:cNvSpPr>
            <p:nvPr/>
          </p:nvSpPr>
          <p:spPr bwMode="auto">
            <a:xfrm>
              <a:off x="7734300" y="558849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34" name="Rectangle 133"/>
            <p:cNvSpPr>
              <a:spLocks noChangeArrowheads="1"/>
            </p:cNvSpPr>
            <p:nvPr/>
          </p:nvSpPr>
          <p:spPr bwMode="auto">
            <a:xfrm>
              <a:off x="7734300" y="4474084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35" name="Rectangle 134"/>
            <p:cNvSpPr>
              <a:spLocks noChangeArrowheads="1"/>
            </p:cNvSpPr>
            <p:nvPr/>
          </p:nvSpPr>
          <p:spPr bwMode="auto">
            <a:xfrm>
              <a:off x="7734300" y="4845553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>
                <a:latin typeface="Courier New" panose="02070309020205020404" pitchFamily="49" charset="0"/>
              </a:endParaRPr>
            </a:p>
          </p:txBody>
        </p:sp>
        <p:sp>
          <p:nvSpPr>
            <p:cNvPr id="144" name="Rectangle 10"/>
            <p:cNvSpPr>
              <a:spLocks noChangeArrowheads="1"/>
            </p:cNvSpPr>
            <p:nvPr/>
          </p:nvSpPr>
          <p:spPr bwMode="auto">
            <a:xfrm>
              <a:off x="7734300" y="5217023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5" name="Rectangle 13"/>
            <p:cNvSpPr>
              <a:spLocks noChangeArrowheads="1"/>
            </p:cNvSpPr>
            <p:nvPr/>
          </p:nvSpPr>
          <p:spPr bwMode="auto">
            <a:xfrm>
              <a:off x="7734300" y="4102615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6" name="Rectangle 17"/>
            <p:cNvSpPr>
              <a:spLocks noChangeArrowheads="1"/>
            </p:cNvSpPr>
            <p:nvPr/>
          </p:nvSpPr>
          <p:spPr bwMode="auto">
            <a:xfrm>
              <a:off x="7734300" y="3731145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  <p:sp>
          <p:nvSpPr>
            <p:cNvPr id="147" name="Rectangle 18"/>
            <p:cNvSpPr>
              <a:spLocks noChangeArrowheads="1"/>
            </p:cNvSpPr>
            <p:nvPr/>
          </p:nvSpPr>
          <p:spPr bwMode="auto">
            <a:xfrm>
              <a:off x="7734300" y="5959962"/>
              <a:ext cx="1143000" cy="371469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/>
          </p:spPr>
          <p:txBody>
            <a:bodyPr anchor="ctr"/>
            <a:lstStyle/>
            <a:p>
              <a:pPr algn="ctr"/>
              <a:endParaRPr lang="en-US" altLang="en-US" sz="1600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815268" y="1200166"/>
            <a:ext cx="1253740" cy="1794677"/>
            <a:chOff x="4815268" y="1200166"/>
            <a:chExt cx="1253740" cy="1794677"/>
          </a:xfrm>
        </p:grpSpPr>
        <p:grpSp>
          <p:nvGrpSpPr>
            <p:cNvPr id="50" name="Group 49"/>
            <p:cNvGrpSpPr/>
            <p:nvPr/>
          </p:nvGrpSpPr>
          <p:grpSpPr>
            <a:xfrm>
              <a:off x="5257800" y="1200166"/>
              <a:ext cx="811208" cy="1143000"/>
              <a:chOff x="4736197" y="1324496"/>
              <a:chExt cx="811208" cy="1143000"/>
            </a:xfrm>
          </p:grpSpPr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4736197" y="1324496"/>
                <a:ext cx="277808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 smtClean="0"/>
                  <a:t>0</a:t>
                </a:r>
                <a:endParaRPr lang="en-US" altLang="en-US" sz="1600" dirty="0"/>
              </a:p>
            </p:txBody>
          </p:sp>
          <p:sp>
            <p:nvSpPr>
              <p:cNvPr id="38" name="Rectangle 47"/>
              <p:cNvSpPr>
                <a:spLocks noChangeArrowheads="1"/>
              </p:cNvSpPr>
              <p:nvPr/>
            </p:nvSpPr>
            <p:spPr bwMode="auto">
              <a:xfrm>
                <a:off x="5014005" y="1324496"/>
                <a:ext cx="533400" cy="381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anchor="ctr"/>
              <a:lstStyle/>
              <a:p>
                <a:pPr algn="ctr"/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7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5" name="Rectangle 50"/>
              <p:cNvSpPr>
                <a:spLocks noChangeArrowheads="1"/>
              </p:cNvSpPr>
              <p:nvPr/>
            </p:nvSpPr>
            <p:spPr bwMode="auto">
              <a:xfrm>
                <a:off x="4736197" y="1705496"/>
                <a:ext cx="277808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 smtClean="0"/>
                  <a:t>1</a:t>
                </a:r>
                <a:endParaRPr lang="en-US" altLang="en-US" sz="1600" dirty="0"/>
              </a:p>
            </p:txBody>
          </p:sp>
          <p:sp>
            <p:nvSpPr>
              <p:cNvPr id="36" name="Rectangle 51"/>
              <p:cNvSpPr>
                <a:spLocks noChangeArrowheads="1"/>
              </p:cNvSpPr>
              <p:nvPr/>
            </p:nvSpPr>
            <p:spPr bwMode="auto">
              <a:xfrm>
                <a:off x="5014005" y="1705496"/>
                <a:ext cx="533400" cy="381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anchor="ctr"/>
              <a:lstStyle/>
              <a:p>
                <a:pPr algn="ctr"/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2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  <p:sp>
            <p:nvSpPr>
              <p:cNvPr id="33" name="Rectangle 53"/>
              <p:cNvSpPr>
                <a:spLocks noChangeArrowheads="1"/>
              </p:cNvSpPr>
              <p:nvPr/>
            </p:nvSpPr>
            <p:spPr bwMode="auto">
              <a:xfrm>
                <a:off x="4736197" y="2086496"/>
                <a:ext cx="277808" cy="3810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 smtClean="0"/>
                  <a:t>2</a:t>
                </a:r>
                <a:endParaRPr lang="en-US" altLang="en-US" sz="1600" dirty="0"/>
              </a:p>
            </p:txBody>
          </p:sp>
          <p:sp>
            <p:nvSpPr>
              <p:cNvPr id="34" name="Rectangle 54"/>
              <p:cNvSpPr>
                <a:spLocks noChangeArrowheads="1"/>
              </p:cNvSpPr>
              <p:nvPr/>
            </p:nvSpPr>
            <p:spPr bwMode="auto">
              <a:xfrm>
                <a:off x="5014005" y="2086496"/>
                <a:ext cx="533400" cy="3810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/>
            </p:spPr>
            <p:txBody>
              <a:bodyPr anchor="ctr"/>
              <a:lstStyle/>
              <a:p>
                <a:pPr algn="ctr"/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14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cxnSp>
          <p:nvCxnSpPr>
            <p:cNvPr id="799747" name="Elbow Connector 799746"/>
            <p:cNvCxnSpPr>
              <a:stCxn id="97" idx="3"/>
              <a:endCxn id="37" idx="1"/>
            </p:cNvCxnSpPr>
            <p:nvPr/>
          </p:nvCxnSpPr>
          <p:spPr>
            <a:xfrm flipV="1">
              <a:off x="4815268" y="1390666"/>
              <a:ext cx="442532" cy="1604177"/>
            </a:xfrm>
            <a:prstGeom prst="bentConnector3">
              <a:avLst/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815268" y="2925908"/>
            <a:ext cx="1745292" cy="762001"/>
            <a:chOff x="4815268" y="2925908"/>
            <a:chExt cx="1745292" cy="762001"/>
          </a:xfrm>
        </p:grpSpPr>
        <p:grpSp>
          <p:nvGrpSpPr>
            <p:cNvPr id="61" name="Group 58"/>
            <p:cNvGrpSpPr>
              <a:grpSpLocks/>
            </p:cNvGrpSpPr>
            <p:nvPr/>
          </p:nvGrpSpPr>
          <p:grpSpPr bwMode="auto">
            <a:xfrm>
              <a:off x="5717597" y="2925908"/>
              <a:ext cx="842963" cy="762001"/>
              <a:chOff x="2216" y="2407"/>
              <a:chExt cx="531" cy="480"/>
            </a:xfrm>
          </p:grpSpPr>
          <p:grpSp>
            <p:nvGrpSpPr>
              <p:cNvPr id="63" name="Group 48"/>
              <p:cNvGrpSpPr>
                <a:grpSpLocks/>
              </p:cNvGrpSpPr>
              <p:nvPr/>
            </p:nvGrpSpPr>
            <p:grpSpPr bwMode="auto">
              <a:xfrm>
                <a:off x="2216" y="2407"/>
                <a:ext cx="531" cy="240"/>
                <a:chOff x="2312" y="3895"/>
                <a:chExt cx="531" cy="240"/>
              </a:xfrm>
            </p:grpSpPr>
            <p:sp>
              <p:nvSpPr>
                <p:cNvPr id="73" name="Rectangle 21"/>
                <p:cNvSpPr>
                  <a:spLocks noChangeArrowheads="1"/>
                </p:cNvSpPr>
                <p:nvPr/>
              </p:nvSpPr>
              <p:spPr bwMode="auto">
                <a:xfrm>
                  <a:off x="2312" y="3895"/>
                  <a:ext cx="195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0</a:t>
                  </a:r>
                  <a:endParaRPr lang="en-US" altLang="en-US" sz="1600" dirty="0"/>
                </a:p>
              </p:txBody>
            </p:sp>
            <p:sp>
              <p:nvSpPr>
                <p:cNvPr id="74" name="Rectangle 47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9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64" name="Group 49"/>
              <p:cNvGrpSpPr>
                <a:grpSpLocks/>
              </p:cNvGrpSpPr>
              <p:nvPr/>
            </p:nvGrpSpPr>
            <p:grpSpPr bwMode="auto">
              <a:xfrm>
                <a:off x="2216" y="2647"/>
                <a:ext cx="531" cy="240"/>
                <a:chOff x="2312" y="3895"/>
                <a:chExt cx="531" cy="240"/>
              </a:xfrm>
            </p:grpSpPr>
            <p:sp>
              <p:nvSpPr>
                <p:cNvPr id="71" name="Rectangle 50"/>
                <p:cNvSpPr>
                  <a:spLocks noChangeArrowheads="1"/>
                </p:cNvSpPr>
                <p:nvPr/>
              </p:nvSpPr>
              <p:spPr bwMode="auto">
                <a:xfrm>
                  <a:off x="2312" y="3895"/>
                  <a:ext cx="195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r"/>
                  <a:r>
                    <a:rPr lang="en-US" altLang="en-US" sz="1600" dirty="0" smtClean="0"/>
                    <a:t>1</a:t>
                  </a:r>
                  <a:endParaRPr lang="en-US" altLang="en-US" sz="1600" dirty="0"/>
                </a:p>
              </p:txBody>
            </p:sp>
            <p:sp>
              <p:nvSpPr>
                <p:cNvPr id="72" name="Rectangle 51"/>
                <p:cNvSpPr>
                  <a:spLocks noChangeArrowheads="1"/>
                </p:cNvSpPr>
                <p:nvPr/>
              </p:nvSpPr>
              <p:spPr bwMode="auto">
                <a:xfrm>
                  <a:off x="2507" y="3895"/>
                  <a:ext cx="336" cy="24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/>
                <a:p>
                  <a:pPr algn="ctr"/>
                  <a:r>
                    <a:rPr lang="en-US" altLang="en-US" sz="1600" b="1" dirty="0" smtClean="0">
                      <a:latin typeface="Courier New" panose="02070309020205020404" pitchFamily="49" charset="0"/>
                    </a:rPr>
                    <a:t>13</a:t>
                  </a:r>
                  <a:endParaRPr lang="en-US" altLang="en-US" sz="1600" b="1" dirty="0">
                    <a:latin typeface="Courier New" panose="02070309020205020404" pitchFamily="49" charset="0"/>
                  </a:endParaRPr>
                </a:p>
              </p:txBody>
            </p:sp>
          </p:grpSp>
        </p:grpSp>
        <p:cxnSp>
          <p:nvCxnSpPr>
            <p:cNvPr id="155" name="Elbow Connector 154"/>
            <p:cNvCxnSpPr>
              <a:stCxn id="98" idx="3"/>
              <a:endCxn id="73" idx="1"/>
            </p:cNvCxnSpPr>
            <p:nvPr/>
          </p:nvCxnSpPr>
          <p:spPr>
            <a:xfrm flipV="1">
              <a:off x="4815268" y="3116409"/>
              <a:ext cx="902027" cy="18739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4815268" y="3612756"/>
            <a:ext cx="1553498" cy="1182950"/>
            <a:chOff x="4815268" y="3612756"/>
            <a:chExt cx="1553498" cy="1182950"/>
          </a:xfrm>
        </p:grpSpPr>
        <p:grpSp>
          <p:nvGrpSpPr>
            <p:cNvPr id="102" name="Group 48"/>
            <p:cNvGrpSpPr>
              <a:grpSpLocks/>
            </p:cNvGrpSpPr>
            <p:nvPr/>
          </p:nvGrpSpPr>
          <p:grpSpPr bwMode="auto">
            <a:xfrm>
              <a:off x="5563903" y="4414705"/>
              <a:ext cx="804863" cy="381001"/>
              <a:chOff x="2336" y="3895"/>
              <a:chExt cx="507" cy="240"/>
            </a:xfrm>
          </p:grpSpPr>
          <p:sp>
            <p:nvSpPr>
              <p:cNvPr id="106" name="Rectangle 21"/>
              <p:cNvSpPr>
                <a:spLocks noChangeArrowheads="1"/>
              </p:cNvSpPr>
              <p:nvPr/>
            </p:nvSpPr>
            <p:spPr bwMode="auto">
              <a:xfrm>
                <a:off x="2336" y="3895"/>
                <a:ext cx="171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 smtClean="0"/>
                  <a:t>0</a:t>
                </a:r>
                <a:endParaRPr lang="en-US" altLang="en-US" sz="1600" dirty="0"/>
              </a:p>
            </p:txBody>
          </p:sp>
          <p:sp>
            <p:nvSpPr>
              <p:cNvPr id="107" name="Rectangle 47"/>
              <p:cNvSpPr>
                <a:spLocks noChangeArrowheads="1"/>
              </p:cNvSpPr>
              <p:nvPr/>
            </p:nvSpPr>
            <p:spPr bwMode="auto">
              <a:xfrm>
                <a:off x="2507" y="3895"/>
                <a:ext cx="336" cy="24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12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cxnSp>
          <p:nvCxnSpPr>
            <p:cNvPr id="159" name="Elbow Connector 158"/>
            <p:cNvCxnSpPr>
              <a:stCxn id="99" idx="3"/>
              <a:endCxn id="106" idx="1"/>
            </p:cNvCxnSpPr>
            <p:nvPr/>
          </p:nvCxnSpPr>
          <p:spPr>
            <a:xfrm>
              <a:off x="4815268" y="3612756"/>
              <a:ext cx="748635" cy="992450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4815268" y="3921713"/>
            <a:ext cx="1209794" cy="1885644"/>
            <a:chOff x="4815268" y="3921713"/>
            <a:chExt cx="1209794" cy="1885644"/>
          </a:xfrm>
        </p:grpSpPr>
        <p:grpSp>
          <p:nvGrpSpPr>
            <p:cNvPr id="109" name="Group 48"/>
            <p:cNvGrpSpPr>
              <a:grpSpLocks/>
            </p:cNvGrpSpPr>
            <p:nvPr/>
          </p:nvGrpSpPr>
          <p:grpSpPr bwMode="auto">
            <a:xfrm>
              <a:off x="5215437" y="5426356"/>
              <a:ext cx="809625" cy="381001"/>
              <a:chOff x="2333" y="3895"/>
              <a:chExt cx="510" cy="240"/>
            </a:xfrm>
          </p:grpSpPr>
          <p:sp>
            <p:nvSpPr>
              <p:cNvPr id="113" name="Rectangle 21"/>
              <p:cNvSpPr>
                <a:spLocks noChangeArrowheads="1"/>
              </p:cNvSpPr>
              <p:nvPr/>
            </p:nvSpPr>
            <p:spPr bwMode="auto">
              <a:xfrm>
                <a:off x="2333" y="3895"/>
                <a:ext cx="174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r"/>
                <a:r>
                  <a:rPr lang="en-US" altLang="en-US" sz="1600" dirty="0" smtClean="0"/>
                  <a:t>0</a:t>
                </a:r>
                <a:endParaRPr lang="en-US" altLang="en-US" sz="1600" dirty="0"/>
              </a:p>
            </p:txBody>
          </p:sp>
          <p:sp>
            <p:nvSpPr>
              <p:cNvPr id="114" name="Rectangle 47"/>
              <p:cNvSpPr>
                <a:spLocks noChangeArrowheads="1"/>
              </p:cNvSpPr>
              <p:nvPr/>
            </p:nvSpPr>
            <p:spPr bwMode="auto">
              <a:xfrm>
                <a:off x="2507" y="3895"/>
                <a:ext cx="336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1600" b="1" dirty="0" smtClean="0">
                    <a:latin typeface="Courier New" panose="02070309020205020404" pitchFamily="49" charset="0"/>
                  </a:rPr>
                  <a:t>6</a:t>
                </a:r>
                <a:endParaRPr lang="en-US" altLang="en-US" sz="1600" b="1" dirty="0">
                  <a:latin typeface="Courier New" panose="02070309020205020404" pitchFamily="49" charset="0"/>
                </a:endParaRPr>
              </a:p>
            </p:txBody>
          </p:sp>
        </p:grpSp>
        <p:cxnSp>
          <p:nvCxnSpPr>
            <p:cNvPr id="163" name="Elbow Connector 162"/>
            <p:cNvCxnSpPr>
              <a:stCxn id="100" idx="3"/>
              <a:endCxn id="113" idx="1"/>
            </p:cNvCxnSpPr>
            <p:nvPr/>
          </p:nvCxnSpPr>
          <p:spPr>
            <a:xfrm>
              <a:off x="4815268" y="3921713"/>
              <a:ext cx="400169" cy="1695144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 Box 71"/>
          <p:cNvSpPr txBox="1">
            <a:spLocks noChangeArrowheads="1"/>
          </p:cNvSpPr>
          <p:nvPr/>
        </p:nvSpPr>
        <p:spPr bwMode="auto">
          <a:xfrm>
            <a:off x="2641718" y="926506"/>
            <a:ext cx="1876468" cy="58477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 b="1" dirty="0" smtClean="0"/>
              <a:t>&lt; </a:t>
            </a:r>
            <a:r>
              <a:rPr lang="en-US" altLang="en-US" sz="3200" b="1" dirty="0" smtClean="0">
                <a:solidFill>
                  <a:srgbClr val="C00000"/>
                </a:solidFill>
              </a:rPr>
              <a:t>1</a:t>
            </a:r>
            <a:r>
              <a:rPr lang="en-US" altLang="en-US" sz="3200" b="1" dirty="0" smtClean="0"/>
              <a:t>, </a:t>
            </a:r>
            <a:r>
              <a:rPr lang="en-US" altLang="en-US" sz="3200" b="1" dirty="0" smtClean="0">
                <a:solidFill>
                  <a:srgbClr val="006600"/>
                </a:solidFill>
              </a:rPr>
              <a:t>6</a:t>
            </a:r>
            <a:r>
              <a:rPr lang="en-US" altLang="en-US" sz="3200" b="1" dirty="0" smtClean="0"/>
              <a:t> </a:t>
            </a:r>
            <a:r>
              <a:rPr lang="en-US" altLang="en-US" sz="3200" b="1" dirty="0"/>
              <a:t>&gt;</a:t>
            </a:r>
          </a:p>
        </p:txBody>
      </p:sp>
      <p:sp>
        <p:nvSpPr>
          <p:cNvPr id="103" name="Isosceles Triangle 102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4" name="Text Box 71"/>
          <p:cNvSpPr txBox="1">
            <a:spLocks noChangeArrowheads="1"/>
          </p:cNvSpPr>
          <p:nvPr/>
        </p:nvSpPr>
        <p:spPr bwMode="auto">
          <a:xfrm>
            <a:off x="637063" y="6037108"/>
            <a:ext cx="2205885" cy="46166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  <a:effectLst/>
          <a:ex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400" b="1" dirty="0" smtClean="0"/>
              <a:t>4-byte Page</a:t>
            </a: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491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3" grpId="0" animBg="1"/>
      <p:bldP spid="10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Discussed two popular memory management schemes</a:t>
            </a:r>
          </a:p>
          <a:p>
            <a:pPr lvl="1"/>
            <a:r>
              <a:rPr lang="en-US" altLang="en-US"/>
              <a:t>Both allow the logical address space to be in dis-joined physical region</a:t>
            </a:r>
          </a:p>
          <a:p>
            <a:r>
              <a:rPr lang="en-US" altLang="en-US"/>
              <a:t>Paging split the logical address into fixed size pages</a:t>
            </a:r>
          </a:p>
          <a:p>
            <a:pPr lvl="1"/>
            <a:r>
              <a:rPr lang="en-US" altLang="en-US"/>
              <a:t>Store in fixed size physical memory frames</a:t>
            </a:r>
          </a:p>
          <a:p>
            <a:r>
              <a:rPr lang="en-US" altLang="en-US"/>
              <a:t>Segmentation split the logical address into variable size segments according to their usage</a:t>
            </a:r>
          </a:p>
          <a:p>
            <a:pPr lvl="1"/>
            <a:r>
              <a:rPr lang="en-US" altLang="en-US"/>
              <a:t>Stored in variable-sized physical partitions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33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Usage: </a:t>
            </a:r>
            <a:r>
              <a:rPr lang="en-US" b="1" dirty="0" smtClean="0"/>
              <a:t>Mental Picture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[ CS2106 L8 - AY1819S1 ]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90600"/>
            <a:ext cx="8610600" cy="4933960"/>
          </a:xfrm>
          <a:prstGeom prst="rect">
            <a:avLst/>
          </a:prstGeom>
        </p:spPr>
      </p:pic>
      <p:sp>
        <p:nvSpPr>
          <p:cNvPr id="8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583057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13139</TotalTime>
  <Words>2322</Words>
  <Application>Microsoft Office PowerPoint</Application>
  <PresentationFormat>On-screen Show (4:3)</PresentationFormat>
  <Paragraphs>752</Paragraphs>
  <Slides>36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  <vt:variant>
        <vt:lpstr>Custom Shows</vt:lpstr>
      </vt:variant>
      <vt:variant>
        <vt:i4>1</vt:i4>
      </vt:variant>
    </vt:vector>
  </HeadingPairs>
  <TitlesOfParts>
    <vt:vector size="42" baseType="lpstr">
      <vt:lpstr>Arial</vt:lpstr>
      <vt:lpstr>Courier New</vt:lpstr>
      <vt:lpstr>Garamond</vt:lpstr>
      <vt:lpstr>Wingdings</vt:lpstr>
      <vt:lpstr>Edge</vt:lpstr>
      <vt:lpstr>Memory Management Disjoint Memory Schemes</vt:lpstr>
      <vt:lpstr>Overview</vt:lpstr>
      <vt:lpstr>Disjoined Memory Space with Paging</vt:lpstr>
      <vt:lpstr>Paging Scheme: Basic Idea</vt:lpstr>
      <vt:lpstr>Page Table: Lookup Mechanism</vt:lpstr>
      <vt:lpstr>Paging: Illustration</vt:lpstr>
      <vt:lpstr>Logical Address Translation</vt:lpstr>
      <vt:lpstr>Logical Address Translation: Essential Tricks</vt:lpstr>
      <vt:lpstr>Logical Address Translation: Formula</vt:lpstr>
      <vt:lpstr>Example: 4 Logical Pages, 8 Physical Frames</vt:lpstr>
      <vt:lpstr>Paging: Observations</vt:lpstr>
      <vt:lpstr>Implementing Paging Scheme</vt:lpstr>
      <vt:lpstr>Paging Scheme: Hardware Support</vt:lpstr>
      <vt:lpstr>Translation Look-Aside Buffer</vt:lpstr>
      <vt:lpstr>TLB: Impact on Memory Access Time</vt:lpstr>
      <vt:lpstr>TLB and Process Switching</vt:lpstr>
      <vt:lpstr>Paging Scheme: Protection</vt:lpstr>
      <vt:lpstr>Paging Scheme: Protection (cont)</vt:lpstr>
      <vt:lpstr>Paging Scheme: Page sharing</vt:lpstr>
      <vt:lpstr>Paging Scheme: Page Sharing</vt:lpstr>
      <vt:lpstr>Paging Scheme: Copy-On-Write</vt:lpstr>
      <vt:lpstr>Segmentation Scheme</vt:lpstr>
      <vt:lpstr>Segmentation Scheme: Motivation</vt:lpstr>
      <vt:lpstr>Segmentation Scheme: Motivation (cont)</vt:lpstr>
      <vt:lpstr>Segmentation Scheme: Basic Idea</vt:lpstr>
      <vt:lpstr>Segmentation: Illustration</vt:lpstr>
      <vt:lpstr>Segmentation: Logical Address Translation </vt:lpstr>
      <vt:lpstr>Logical Address Translation: Illustration</vt:lpstr>
      <vt:lpstr>Segmentation: Hardware Support</vt:lpstr>
      <vt:lpstr>Segmentation: Summary</vt:lpstr>
      <vt:lpstr>Segmentation  with paging</vt:lpstr>
      <vt:lpstr>Segmentation with Paging: Basic Idea</vt:lpstr>
      <vt:lpstr>Segmentation with Paging: Illustration</vt:lpstr>
      <vt:lpstr>Segmentation with Paging</vt:lpstr>
      <vt:lpstr>Summary</vt:lpstr>
      <vt:lpstr>Memory Usage: Mental Picture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Soo Yuen Jien</cp:lastModifiedBy>
  <cp:revision>767</cp:revision>
  <cp:lastPrinted>1601-01-01T00:00:00Z</cp:lastPrinted>
  <dcterms:created xsi:type="dcterms:W3CDTF">1601-01-01T00:00:00Z</dcterms:created>
  <dcterms:modified xsi:type="dcterms:W3CDTF">2018-10-10T05:24:37Z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