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8"/>
  </p:notesMasterIdLst>
  <p:sldIdLst>
    <p:sldId id="256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471" r:id="rId12"/>
    <p:sldId id="391" r:id="rId13"/>
    <p:sldId id="392" r:id="rId14"/>
    <p:sldId id="463" r:id="rId15"/>
    <p:sldId id="464" r:id="rId16"/>
    <p:sldId id="465" r:id="rId17"/>
    <p:sldId id="394" r:id="rId18"/>
    <p:sldId id="467" r:id="rId19"/>
    <p:sldId id="395" r:id="rId20"/>
    <p:sldId id="396" r:id="rId21"/>
    <p:sldId id="397" r:id="rId22"/>
    <p:sldId id="398" r:id="rId23"/>
    <p:sldId id="470" r:id="rId24"/>
    <p:sldId id="450" r:id="rId25"/>
    <p:sldId id="439" r:id="rId26"/>
    <p:sldId id="402" r:id="rId27"/>
    <p:sldId id="403" r:id="rId28"/>
    <p:sldId id="451" r:id="rId29"/>
    <p:sldId id="405" r:id="rId30"/>
    <p:sldId id="406" r:id="rId31"/>
    <p:sldId id="407" r:id="rId32"/>
    <p:sldId id="409" r:id="rId33"/>
    <p:sldId id="436" r:id="rId34"/>
    <p:sldId id="440" r:id="rId35"/>
    <p:sldId id="410" r:id="rId36"/>
    <p:sldId id="441" r:id="rId37"/>
    <p:sldId id="442" r:id="rId38"/>
    <p:sldId id="416" r:id="rId39"/>
    <p:sldId id="443" r:id="rId40"/>
    <p:sldId id="418" r:id="rId41"/>
    <p:sldId id="419" r:id="rId42"/>
    <p:sldId id="420" r:id="rId43"/>
    <p:sldId id="423" r:id="rId44"/>
    <p:sldId id="421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434" r:id="rId53"/>
    <p:sldId id="433" r:id="rId54"/>
    <p:sldId id="435" r:id="rId55"/>
    <p:sldId id="447" r:id="rId56"/>
    <p:sldId id="458" r:id="rId57"/>
    <p:sldId id="459" r:id="rId58"/>
    <p:sldId id="460" r:id="rId59"/>
    <p:sldId id="461" r:id="rId60"/>
    <p:sldId id="468" r:id="rId61"/>
    <p:sldId id="469" r:id="rId62"/>
    <p:sldId id="462" r:id="rId63"/>
    <p:sldId id="454" r:id="rId64"/>
    <p:sldId id="455" r:id="rId65"/>
    <p:sldId id="456" r:id="rId66"/>
    <p:sldId id="457" r:id="rId67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57"/>
        <p:sld r:id="rId9"/>
        <p:sld r:id="rId10"/>
        <p:sld r:id="rId11"/>
        <p:sld r:id="rId13"/>
        <p:sld r:id="rId14"/>
        <p:sld r:id="rId58"/>
        <p:sld r:id="rId59"/>
        <p:sld r:id="rId60"/>
        <p:sld r:id="rId15"/>
        <p:sld r:id="rId16"/>
        <p:sld r:id="rId17"/>
        <p:sld r:id="rId61"/>
        <p:sld r:id="rId62"/>
        <p:sld r:id="rId19"/>
        <p:sld r:id="rId18"/>
        <p:sld r:id="rId20"/>
        <p:sld r:id="rId21"/>
        <p:sld r:id="rId22"/>
        <p:sld r:id="rId23"/>
        <p:sld r:id="rId25"/>
        <p:sld r:id="rId26"/>
        <p:sld r:id="rId63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  <p:sld r:id="rId37"/>
        <p:sld r:id="rId38"/>
        <p:sld r:id="rId39"/>
        <p:sld r:id="rId40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  <p:sld r:id="rId50"/>
        <p:sld r:id="rId51"/>
        <p:sld r:id="rId52"/>
        <p:sld r:id="rId53"/>
        <p:sld r:id="rId54"/>
        <p:sld r:id="rId55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0000"/>
    <a:srgbClr val="FFFFCC"/>
    <a:srgbClr val="F2CED2"/>
    <a:srgbClr val="003300"/>
    <a:srgbClr val="0033CC"/>
    <a:srgbClr val="00CCFF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6" autoAdjust="0"/>
    <p:restoredTop sz="96457" autoAdjust="0"/>
  </p:normalViewPr>
  <p:slideViewPr>
    <p:cSldViewPr>
      <p:cViewPr varScale="1">
        <p:scale>
          <a:sx n="65" d="100"/>
          <a:sy n="65" d="100"/>
        </p:scale>
        <p:origin x="960" y="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/>
            <a:t>1. Each process occupies a </a:t>
          </a:r>
          <a:r>
            <a:rPr lang="en-US" altLang="en-US" b="1" dirty="0"/>
            <a:t>contiguous memory region</a:t>
          </a:r>
          <a:r>
            <a:rPr lang="en-US" altLang="en-US" dirty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/>
            <a:t>2. The </a:t>
          </a:r>
          <a:r>
            <a:rPr lang="en-US" altLang="en-US" b="1" dirty="0"/>
            <a:t>physical memory is large enough </a:t>
          </a:r>
          <a:r>
            <a:rPr lang="en-US" altLang="en-US" dirty="0"/>
            <a:t>to contain one or more processes with </a:t>
          </a:r>
          <a:r>
            <a:rPr lang="en-US" altLang="en-US" b="1" dirty="0"/>
            <a:t>complete memory space</a:t>
          </a:r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864FA3C-B870-4E18-AE78-DB5E28068912}" type="presOf" srcId="{2D36AEB8-6422-4796-99D9-A3F39CF6CB56}" destId="{EE79E5D4-272E-49D3-8468-8B2108B886F5}" srcOrd="0" destOrd="0" presId="urn:microsoft.com/office/officeart/2005/8/layout/vList2"/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29DE14DC-96D7-4FA6-A05B-386B923B9CAB}" type="presOf" srcId="{D6832041-63F8-411D-B74B-C65EAEDF1BE8}" destId="{E7036081-07A5-4AC5-BF8E-3470E9387214}" srcOrd="0" destOrd="0" presId="urn:microsoft.com/office/officeart/2005/8/layout/vList2"/>
    <dgm:cxn modelId="{31A4BCF6-53ED-4998-967C-D98BD01FC4F7}" type="presOf" srcId="{FB76112F-710B-4179-8C5B-6B1204BF26AA}" destId="{A7CE488B-B1D5-4E8B-91F0-6E26836D5F9E}" srcOrd="0" destOrd="0" presId="urn:microsoft.com/office/officeart/2005/8/layout/vList2"/>
    <dgm:cxn modelId="{68D818C7-172A-4D69-9A2E-384A2B8495EF}" type="presParOf" srcId="{E7036081-07A5-4AC5-BF8E-3470E9387214}" destId="{A7CE488B-B1D5-4E8B-91F0-6E26836D5F9E}" srcOrd="0" destOrd="0" presId="urn:microsoft.com/office/officeart/2005/8/layout/vList2"/>
    <dgm:cxn modelId="{B3C70D95-2A16-470D-AE62-8302B5FB09DD}" type="presParOf" srcId="{E7036081-07A5-4AC5-BF8E-3470E9387214}" destId="{D6F8EED8-9D28-42D5-B8EE-E7C7FF0A057F}" srcOrd="1" destOrd="0" presId="urn:microsoft.com/office/officeart/2005/8/layout/vList2"/>
    <dgm:cxn modelId="{F582EBF0-78EE-40CC-A2FC-DEFA0BEF41C4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CE74A5-07A1-41FB-B1BF-C8EEAA739307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25C5A2-33FB-4930-BE8C-3D06E3418BD2}">
      <dgm:prSet phldrT="[Text]"/>
      <dgm:spPr/>
      <dgm:t>
        <a:bodyPr/>
        <a:lstStyle/>
        <a:p>
          <a:r>
            <a:rPr lang="en-US" altLang="en-US" dirty="0"/>
            <a:t>Exploiting </a:t>
          </a:r>
          <a:r>
            <a:rPr lang="en-US" altLang="en-US" b="1" dirty="0">
              <a:solidFill>
                <a:schemeClr val="bg1"/>
              </a:solidFill>
            </a:rPr>
            <a:t>Temporal Locality</a:t>
          </a:r>
          <a:r>
            <a:rPr lang="en-US" altLang="en-US" b="1" dirty="0"/>
            <a:t>:</a:t>
          </a:r>
          <a:endParaRPr lang="en-US" dirty="0"/>
        </a:p>
      </dgm:t>
    </dgm:pt>
    <dgm:pt modelId="{FBB01DFE-DAE5-4D7B-8375-4BF1C32EE75F}" type="parTrans" cxnId="{E45FC1C5-C49A-4E2F-9200-EC85C044B228}">
      <dgm:prSet/>
      <dgm:spPr/>
      <dgm:t>
        <a:bodyPr/>
        <a:lstStyle/>
        <a:p>
          <a:endParaRPr lang="en-US"/>
        </a:p>
      </dgm:t>
    </dgm:pt>
    <dgm:pt modelId="{AD23B862-1F49-4E40-8B28-BCB9F2D6D45F}" type="sibTrans" cxnId="{E45FC1C5-C49A-4E2F-9200-EC85C044B228}">
      <dgm:prSet/>
      <dgm:spPr/>
      <dgm:t>
        <a:bodyPr/>
        <a:lstStyle/>
        <a:p>
          <a:endParaRPr lang="en-US"/>
        </a:p>
      </dgm:t>
    </dgm:pt>
    <dgm:pt modelId="{B7D462D2-6D19-4BDC-857D-CF82E4D2F469}">
      <dgm:prSet/>
      <dgm:spPr/>
      <dgm:t>
        <a:bodyPr/>
        <a:lstStyle/>
        <a:p>
          <a:r>
            <a:rPr lang="en-US" altLang="en-US" dirty="0"/>
            <a:t>After a page is loaded to physical memory, it is likely to be accessed in near future</a:t>
          </a:r>
        </a:p>
      </dgm:t>
    </dgm:pt>
    <dgm:pt modelId="{5BCD0562-AC4E-47C5-9EED-EA6741DB129E}" type="parTrans" cxnId="{C0733D76-78C3-4914-BC54-EBEA6519DDB4}">
      <dgm:prSet/>
      <dgm:spPr/>
      <dgm:t>
        <a:bodyPr/>
        <a:lstStyle/>
        <a:p>
          <a:endParaRPr lang="en-US"/>
        </a:p>
      </dgm:t>
    </dgm:pt>
    <dgm:pt modelId="{733675E7-2E30-4C9D-B97F-F1CD0E468A97}" type="sibTrans" cxnId="{C0733D76-78C3-4914-BC54-EBEA6519DDB4}">
      <dgm:prSet/>
      <dgm:spPr/>
      <dgm:t>
        <a:bodyPr/>
        <a:lstStyle/>
        <a:p>
          <a:endParaRPr lang="en-US"/>
        </a:p>
      </dgm:t>
    </dgm:pt>
    <dgm:pt modelId="{D2B009B0-E70F-4970-A3CA-545C24704333}">
      <dgm:prSet/>
      <dgm:spPr/>
      <dgm:t>
        <a:bodyPr/>
        <a:lstStyle/>
        <a:p>
          <a:r>
            <a:rPr lang="en-US" altLang="en-US" dirty="0"/>
            <a:t>Exploiting </a:t>
          </a:r>
          <a:r>
            <a:rPr lang="en-US" altLang="en-US" b="1" dirty="0">
              <a:solidFill>
                <a:schemeClr val="bg1"/>
              </a:solidFill>
            </a:rPr>
            <a:t>Spatial Locality</a:t>
          </a:r>
          <a:r>
            <a:rPr lang="en-US" altLang="en-US" b="1" dirty="0"/>
            <a:t>:</a:t>
          </a:r>
        </a:p>
      </dgm:t>
    </dgm:pt>
    <dgm:pt modelId="{5F745B4F-98E2-4D31-9386-944803686AFC}" type="parTrans" cxnId="{247577B2-449B-4DA7-913A-CD23CB04245A}">
      <dgm:prSet/>
      <dgm:spPr/>
      <dgm:t>
        <a:bodyPr/>
        <a:lstStyle/>
        <a:p>
          <a:endParaRPr lang="en-US"/>
        </a:p>
      </dgm:t>
    </dgm:pt>
    <dgm:pt modelId="{CE6607C6-6380-4B96-988E-5ECB918F1400}" type="sibTrans" cxnId="{247577B2-449B-4DA7-913A-CD23CB04245A}">
      <dgm:prSet/>
      <dgm:spPr/>
      <dgm:t>
        <a:bodyPr/>
        <a:lstStyle/>
        <a:p>
          <a:endParaRPr lang="en-US"/>
        </a:p>
      </dgm:t>
    </dgm:pt>
    <dgm:pt modelId="{DA87DC2A-7D27-4868-83E4-9F88773783A8}">
      <dgm:prSet/>
      <dgm:spPr/>
      <dgm:t>
        <a:bodyPr/>
        <a:lstStyle/>
        <a:p>
          <a:r>
            <a:rPr lang="en-US" altLang="en-US"/>
            <a:t>A page contains contiguous locations that is likely to be accessed in near future</a:t>
          </a:r>
          <a:endParaRPr lang="en-US" altLang="en-US" dirty="0"/>
        </a:p>
      </dgm:t>
    </dgm:pt>
    <dgm:pt modelId="{17812438-9FEA-4FCE-8E5E-9158F1F6A684}" type="parTrans" cxnId="{5FE5993F-D351-4BF2-8AEA-9AFEB3E7EB3E}">
      <dgm:prSet/>
      <dgm:spPr/>
      <dgm:t>
        <a:bodyPr/>
        <a:lstStyle/>
        <a:p>
          <a:endParaRPr lang="en-US"/>
        </a:p>
      </dgm:t>
    </dgm:pt>
    <dgm:pt modelId="{14338E6A-6B1D-491F-B49F-228AD55E04D6}" type="sibTrans" cxnId="{5FE5993F-D351-4BF2-8AEA-9AFEB3E7EB3E}">
      <dgm:prSet/>
      <dgm:spPr/>
      <dgm:t>
        <a:bodyPr/>
        <a:lstStyle/>
        <a:p>
          <a:endParaRPr lang="en-US"/>
        </a:p>
      </dgm:t>
    </dgm:pt>
    <dgm:pt modelId="{73FBFE43-394D-4083-AB8D-63ACE5A8EA3A}" type="pres">
      <dgm:prSet presAssocID="{1FCE74A5-07A1-41FB-B1BF-C8EEAA739307}" presName="linear" presStyleCnt="0">
        <dgm:presLayoutVars>
          <dgm:dir/>
          <dgm:animLvl val="lvl"/>
          <dgm:resizeHandles val="exact"/>
        </dgm:presLayoutVars>
      </dgm:prSet>
      <dgm:spPr/>
    </dgm:pt>
    <dgm:pt modelId="{AA063FE7-3865-45F6-8657-ED89ACB42DA0}" type="pres">
      <dgm:prSet presAssocID="{A125C5A2-33FB-4930-BE8C-3D06E3418BD2}" presName="parentLin" presStyleCnt="0"/>
      <dgm:spPr/>
    </dgm:pt>
    <dgm:pt modelId="{634196DA-633C-47AD-A340-531984082323}" type="pres">
      <dgm:prSet presAssocID="{A125C5A2-33FB-4930-BE8C-3D06E3418BD2}" presName="parentLeftMargin" presStyleLbl="node1" presStyleIdx="0" presStyleCnt="2"/>
      <dgm:spPr/>
    </dgm:pt>
    <dgm:pt modelId="{FDA106E6-132B-4FB1-A9DA-21EE65C8B111}" type="pres">
      <dgm:prSet presAssocID="{A125C5A2-33FB-4930-BE8C-3D06E3418B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3DA936A-C08B-402F-9273-3D7D26865123}" type="pres">
      <dgm:prSet presAssocID="{A125C5A2-33FB-4930-BE8C-3D06E3418BD2}" presName="negativeSpace" presStyleCnt="0"/>
      <dgm:spPr/>
    </dgm:pt>
    <dgm:pt modelId="{7C710777-3FAB-4FA1-8667-D86064DF5740}" type="pres">
      <dgm:prSet presAssocID="{A125C5A2-33FB-4930-BE8C-3D06E3418BD2}" presName="childText" presStyleLbl="conFgAcc1" presStyleIdx="0" presStyleCnt="2">
        <dgm:presLayoutVars>
          <dgm:bulletEnabled val="1"/>
        </dgm:presLayoutVars>
      </dgm:prSet>
      <dgm:spPr/>
    </dgm:pt>
    <dgm:pt modelId="{9166DE95-AF35-42FF-B9C9-C4602FA11D54}" type="pres">
      <dgm:prSet presAssocID="{AD23B862-1F49-4E40-8B28-BCB9F2D6D45F}" presName="spaceBetweenRectangles" presStyleCnt="0"/>
      <dgm:spPr/>
    </dgm:pt>
    <dgm:pt modelId="{1FA70C32-D9A2-4B07-B9CF-0BEBC20DA1C6}" type="pres">
      <dgm:prSet presAssocID="{D2B009B0-E70F-4970-A3CA-545C24704333}" presName="parentLin" presStyleCnt="0"/>
      <dgm:spPr/>
    </dgm:pt>
    <dgm:pt modelId="{CEE99E44-3CA7-4130-BAA7-ECBBCCC2067D}" type="pres">
      <dgm:prSet presAssocID="{D2B009B0-E70F-4970-A3CA-545C24704333}" presName="parentLeftMargin" presStyleLbl="node1" presStyleIdx="0" presStyleCnt="2"/>
      <dgm:spPr/>
    </dgm:pt>
    <dgm:pt modelId="{E75DA311-63B2-41E7-A71C-1451F29E4B4D}" type="pres">
      <dgm:prSet presAssocID="{D2B009B0-E70F-4970-A3CA-545C2470433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1AEEC7F-8137-41F4-8EB3-B584932E67BE}" type="pres">
      <dgm:prSet presAssocID="{D2B009B0-E70F-4970-A3CA-545C24704333}" presName="negativeSpace" presStyleCnt="0"/>
      <dgm:spPr/>
    </dgm:pt>
    <dgm:pt modelId="{8A2103B8-7155-4597-8009-AF08BFC4A694}" type="pres">
      <dgm:prSet presAssocID="{D2B009B0-E70F-4970-A3CA-545C2470433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2450F0E-4A28-481E-A580-74975E4F313D}" type="presOf" srcId="{A125C5A2-33FB-4930-BE8C-3D06E3418BD2}" destId="{FDA106E6-132B-4FB1-A9DA-21EE65C8B111}" srcOrd="1" destOrd="0" presId="urn:microsoft.com/office/officeart/2005/8/layout/list1"/>
    <dgm:cxn modelId="{3F403F25-46E4-48C7-8AE6-B8BF60883A16}" type="presOf" srcId="{D2B009B0-E70F-4970-A3CA-545C24704333}" destId="{CEE99E44-3CA7-4130-BAA7-ECBBCCC2067D}" srcOrd="0" destOrd="0" presId="urn:microsoft.com/office/officeart/2005/8/layout/list1"/>
    <dgm:cxn modelId="{5FE5993F-D351-4BF2-8AEA-9AFEB3E7EB3E}" srcId="{D2B009B0-E70F-4970-A3CA-545C24704333}" destId="{DA87DC2A-7D27-4868-83E4-9F88773783A8}" srcOrd="0" destOrd="0" parTransId="{17812438-9FEA-4FCE-8E5E-9158F1F6A684}" sibTransId="{14338E6A-6B1D-491F-B49F-228AD55E04D6}"/>
    <dgm:cxn modelId="{C0733D76-78C3-4914-BC54-EBEA6519DDB4}" srcId="{A125C5A2-33FB-4930-BE8C-3D06E3418BD2}" destId="{B7D462D2-6D19-4BDC-857D-CF82E4D2F469}" srcOrd="0" destOrd="0" parTransId="{5BCD0562-AC4E-47C5-9EED-EA6741DB129E}" sibTransId="{733675E7-2E30-4C9D-B97F-F1CD0E468A97}"/>
    <dgm:cxn modelId="{ACDCDE80-A3CC-433B-9628-43DD2F998103}" type="presOf" srcId="{D2B009B0-E70F-4970-A3CA-545C24704333}" destId="{E75DA311-63B2-41E7-A71C-1451F29E4B4D}" srcOrd="1" destOrd="0" presId="urn:microsoft.com/office/officeart/2005/8/layout/list1"/>
    <dgm:cxn modelId="{75D4479A-ABF6-4892-8D5D-2AB269D53A66}" type="presOf" srcId="{A125C5A2-33FB-4930-BE8C-3D06E3418BD2}" destId="{634196DA-633C-47AD-A340-531984082323}" srcOrd="0" destOrd="0" presId="urn:microsoft.com/office/officeart/2005/8/layout/list1"/>
    <dgm:cxn modelId="{FFA67B9B-0C0D-4B51-AEE2-666E9AD9DB64}" type="presOf" srcId="{1FCE74A5-07A1-41FB-B1BF-C8EEAA739307}" destId="{73FBFE43-394D-4083-AB8D-63ACE5A8EA3A}" srcOrd="0" destOrd="0" presId="urn:microsoft.com/office/officeart/2005/8/layout/list1"/>
    <dgm:cxn modelId="{247577B2-449B-4DA7-913A-CD23CB04245A}" srcId="{1FCE74A5-07A1-41FB-B1BF-C8EEAA739307}" destId="{D2B009B0-E70F-4970-A3CA-545C24704333}" srcOrd="1" destOrd="0" parTransId="{5F745B4F-98E2-4D31-9386-944803686AFC}" sibTransId="{CE6607C6-6380-4B96-988E-5ECB918F1400}"/>
    <dgm:cxn modelId="{E45FC1C5-C49A-4E2F-9200-EC85C044B228}" srcId="{1FCE74A5-07A1-41FB-B1BF-C8EEAA739307}" destId="{A125C5A2-33FB-4930-BE8C-3D06E3418BD2}" srcOrd="0" destOrd="0" parTransId="{FBB01DFE-DAE5-4D7B-8375-4BF1C32EE75F}" sibTransId="{AD23B862-1F49-4E40-8B28-BCB9F2D6D45F}"/>
    <dgm:cxn modelId="{CE558ADA-2973-4EDA-A067-9650720D7D97}" type="presOf" srcId="{DA87DC2A-7D27-4868-83E4-9F88773783A8}" destId="{8A2103B8-7155-4597-8009-AF08BFC4A694}" srcOrd="0" destOrd="0" presId="urn:microsoft.com/office/officeart/2005/8/layout/list1"/>
    <dgm:cxn modelId="{4BBA4DF6-16B6-4F09-A2BA-85CE4BF667FD}" type="presOf" srcId="{B7D462D2-6D19-4BDC-857D-CF82E4D2F469}" destId="{7C710777-3FAB-4FA1-8667-D86064DF5740}" srcOrd="0" destOrd="0" presId="urn:microsoft.com/office/officeart/2005/8/layout/list1"/>
    <dgm:cxn modelId="{6E6DD642-1C21-4AFF-923C-23AEC42D8F39}" type="presParOf" srcId="{73FBFE43-394D-4083-AB8D-63ACE5A8EA3A}" destId="{AA063FE7-3865-45F6-8657-ED89ACB42DA0}" srcOrd="0" destOrd="0" presId="urn:microsoft.com/office/officeart/2005/8/layout/list1"/>
    <dgm:cxn modelId="{86160FDD-8BD6-406B-8FB8-992079EBD71D}" type="presParOf" srcId="{AA063FE7-3865-45F6-8657-ED89ACB42DA0}" destId="{634196DA-633C-47AD-A340-531984082323}" srcOrd="0" destOrd="0" presId="urn:microsoft.com/office/officeart/2005/8/layout/list1"/>
    <dgm:cxn modelId="{2C0F4BE3-8A9E-4018-8012-54B1AA6A82E4}" type="presParOf" srcId="{AA063FE7-3865-45F6-8657-ED89ACB42DA0}" destId="{FDA106E6-132B-4FB1-A9DA-21EE65C8B111}" srcOrd="1" destOrd="0" presId="urn:microsoft.com/office/officeart/2005/8/layout/list1"/>
    <dgm:cxn modelId="{13C1F5A2-660A-41E3-B70D-93ED78F98F21}" type="presParOf" srcId="{73FBFE43-394D-4083-AB8D-63ACE5A8EA3A}" destId="{B3DA936A-C08B-402F-9273-3D7D26865123}" srcOrd="1" destOrd="0" presId="urn:microsoft.com/office/officeart/2005/8/layout/list1"/>
    <dgm:cxn modelId="{9BF1526C-A481-4FE5-842E-6FA0F0037FB7}" type="presParOf" srcId="{73FBFE43-394D-4083-AB8D-63ACE5A8EA3A}" destId="{7C710777-3FAB-4FA1-8667-D86064DF5740}" srcOrd="2" destOrd="0" presId="urn:microsoft.com/office/officeart/2005/8/layout/list1"/>
    <dgm:cxn modelId="{BC999712-F30F-4451-9413-2BA084BDC0EF}" type="presParOf" srcId="{73FBFE43-394D-4083-AB8D-63ACE5A8EA3A}" destId="{9166DE95-AF35-42FF-B9C9-C4602FA11D54}" srcOrd="3" destOrd="0" presId="urn:microsoft.com/office/officeart/2005/8/layout/list1"/>
    <dgm:cxn modelId="{2389BF4E-C29E-41FA-8D09-7F1CAB729A72}" type="presParOf" srcId="{73FBFE43-394D-4083-AB8D-63ACE5A8EA3A}" destId="{1FA70C32-D9A2-4B07-B9CF-0BEBC20DA1C6}" srcOrd="4" destOrd="0" presId="urn:microsoft.com/office/officeart/2005/8/layout/list1"/>
    <dgm:cxn modelId="{61CC1D93-0FA7-4F40-B9EF-62CB682840BD}" type="presParOf" srcId="{1FA70C32-D9A2-4B07-B9CF-0BEBC20DA1C6}" destId="{CEE99E44-3CA7-4130-BAA7-ECBBCCC2067D}" srcOrd="0" destOrd="0" presId="urn:microsoft.com/office/officeart/2005/8/layout/list1"/>
    <dgm:cxn modelId="{CA7F9DB9-32B1-445B-B15D-463A57250F90}" type="presParOf" srcId="{1FA70C32-D9A2-4B07-B9CF-0BEBC20DA1C6}" destId="{E75DA311-63B2-41E7-A71C-1451F29E4B4D}" srcOrd="1" destOrd="0" presId="urn:microsoft.com/office/officeart/2005/8/layout/list1"/>
    <dgm:cxn modelId="{F4B7BB3A-FE8E-4398-97C4-4431994B6362}" type="presParOf" srcId="{73FBFE43-394D-4083-AB8D-63ACE5A8EA3A}" destId="{F1AEEC7F-8137-41F4-8EB3-B584932E67BE}" srcOrd="5" destOrd="0" presId="urn:microsoft.com/office/officeart/2005/8/layout/list1"/>
    <dgm:cxn modelId="{39723EB0-BF5D-41EE-A7EE-449A50A1053E}" type="presParOf" srcId="{73FBFE43-394D-4083-AB8D-63ACE5A8EA3A}" destId="{8A2103B8-7155-4597-8009-AF08BFC4A69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206159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 dirty="0"/>
            <a:t>1. Each process occupies a </a:t>
          </a:r>
          <a:r>
            <a:rPr lang="en-US" altLang="en-US" sz="3200" b="1" kern="1200" dirty="0"/>
            <a:t>contiguous memory region</a:t>
          </a:r>
          <a:r>
            <a:rPr lang="en-US" altLang="en-US" sz="3200" kern="1200" dirty="0"/>
            <a:t> </a:t>
          </a:r>
          <a:endParaRPr lang="en-SG" sz="3200" kern="1200" dirty="0"/>
        </a:p>
      </dsp:txBody>
      <dsp:txXfrm>
        <a:off x="82931" y="289090"/>
        <a:ext cx="7911338" cy="1532978"/>
      </dsp:txXfrm>
    </dsp:sp>
    <dsp:sp modelId="{EE79E5D4-272E-49D3-8468-8B2108B886F5}">
      <dsp:nvSpPr>
        <dsp:cNvPr id="0" name=""/>
        <dsp:cNvSpPr/>
      </dsp:nvSpPr>
      <dsp:spPr>
        <a:xfrm>
          <a:off x="0" y="2078080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 dirty="0"/>
            <a:t>2. The </a:t>
          </a:r>
          <a:r>
            <a:rPr lang="en-US" altLang="en-US" sz="3200" b="1" kern="1200" dirty="0"/>
            <a:t>physical memory is large enough </a:t>
          </a:r>
          <a:r>
            <a:rPr lang="en-US" altLang="en-US" sz="3200" kern="1200" dirty="0"/>
            <a:t>to contain one or more processes with </a:t>
          </a:r>
          <a:r>
            <a:rPr lang="en-US" altLang="en-US" sz="3200" b="1" kern="1200" dirty="0"/>
            <a:t>complete memory space</a:t>
          </a:r>
        </a:p>
      </dsp:txBody>
      <dsp:txXfrm>
        <a:off x="82931" y="2161011"/>
        <a:ext cx="7911338" cy="1532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10777-3FAB-4FA1-8667-D86064DF5740}">
      <dsp:nvSpPr>
        <dsp:cNvPr id="0" name=""/>
        <dsp:cNvSpPr/>
      </dsp:nvSpPr>
      <dsp:spPr>
        <a:xfrm>
          <a:off x="0" y="466500"/>
          <a:ext cx="8056605" cy="1896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282" tIns="583184" rIns="62528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800" kern="1200" dirty="0"/>
            <a:t>After a page is loaded to physical memory, it is likely to be accessed in near future</a:t>
          </a:r>
        </a:p>
      </dsp:txBody>
      <dsp:txXfrm>
        <a:off x="0" y="466500"/>
        <a:ext cx="8056605" cy="1896300"/>
      </dsp:txXfrm>
    </dsp:sp>
    <dsp:sp modelId="{FDA106E6-132B-4FB1-A9DA-21EE65C8B111}">
      <dsp:nvSpPr>
        <dsp:cNvPr id="0" name=""/>
        <dsp:cNvSpPr/>
      </dsp:nvSpPr>
      <dsp:spPr>
        <a:xfrm>
          <a:off x="402830" y="53220"/>
          <a:ext cx="5639623" cy="826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164" tIns="0" rIns="21316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kern="1200" dirty="0"/>
            <a:t>Exploiting </a:t>
          </a:r>
          <a:r>
            <a:rPr lang="en-US" altLang="en-US" sz="2800" b="1" kern="1200" dirty="0">
              <a:solidFill>
                <a:schemeClr val="bg1"/>
              </a:solidFill>
            </a:rPr>
            <a:t>Temporal Locality</a:t>
          </a:r>
          <a:r>
            <a:rPr lang="en-US" altLang="en-US" sz="2800" b="1" kern="1200" dirty="0"/>
            <a:t>:</a:t>
          </a:r>
          <a:endParaRPr lang="en-US" sz="2800" kern="1200" dirty="0"/>
        </a:p>
      </dsp:txBody>
      <dsp:txXfrm>
        <a:off x="443179" y="93569"/>
        <a:ext cx="5558925" cy="745862"/>
      </dsp:txXfrm>
    </dsp:sp>
    <dsp:sp modelId="{8A2103B8-7155-4597-8009-AF08BFC4A694}">
      <dsp:nvSpPr>
        <dsp:cNvPr id="0" name=""/>
        <dsp:cNvSpPr/>
      </dsp:nvSpPr>
      <dsp:spPr>
        <a:xfrm>
          <a:off x="0" y="2927280"/>
          <a:ext cx="8056605" cy="1896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282" tIns="583184" rIns="62528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800" kern="1200"/>
            <a:t>A page contains contiguous locations that is likely to be accessed in near future</a:t>
          </a:r>
          <a:endParaRPr lang="en-US" altLang="en-US" sz="2800" kern="1200" dirty="0"/>
        </a:p>
      </dsp:txBody>
      <dsp:txXfrm>
        <a:off x="0" y="2927280"/>
        <a:ext cx="8056605" cy="1896300"/>
      </dsp:txXfrm>
    </dsp:sp>
    <dsp:sp modelId="{E75DA311-63B2-41E7-A71C-1451F29E4B4D}">
      <dsp:nvSpPr>
        <dsp:cNvPr id="0" name=""/>
        <dsp:cNvSpPr/>
      </dsp:nvSpPr>
      <dsp:spPr>
        <a:xfrm>
          <a:off x="402830" y="2514000"/>
          <a:ext cx="5639623" cy="8265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164" tIns="0" rIns="21316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kern="1200" dirty="0"/>
            <a:t>Exploiting </a:t>
          </a:r>
          <a:r>
            <a:rPr lang="en-US" altLang="en-US" sz="2800" b="1" kern="1200" dirty="0">
              <a:solidFill>
                <a:schemeClr val="bg1"/>
              </a:solidFill>
            </a:rPr>
            <a:t>Spatial Locality</a:t>
          </a:r>
          <a:r>
            <a:rPr lang="en-US" altLang="en-US" sz="2800" b="1" kern="1200" dirty="0"/>
            <a:t>:</a:t>
          </a:r>
        </a:p>
      </dsp:txBody>
      <dsp:txXfrm>
        <a:off x="443179" y="2554349"/>
        <a:ext cx="5558925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/ Invalid Bit =</a:t>
            </a:r>
            <a:r>
              <a:rPr lang="en-US" baseline="0" dirty="0"/>
              <a:t> probably directly use Resident bit, less confusing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497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PTE size to</a:t>
            </a:r>
            <a:r>
              <a:rPr lang="en-US" baseline="0" dirty="0"/>
              <a:t> 4 bytes for more realistic example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459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8EF3BC-863E-4953-B91C-F25195574818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r>
              <a:rPr lang="en-US" altLang="en-US" dirty="0"/>
              <a:t>Redraw and merge with previous example</a:t>
            </a:r>
          </a:p>
        </p:txBody>
      </p:sp>
    </p:spTree>
    <p:extLst>
      <p:ext uri="{BB962C8B-B14F-4D97-AF65-F5344CB8AC3E}">
        <p14:creationId xmlns:p14="http://schemas.microsoft.com/office/powerpoint/2010/main" val="976233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a hardware</a:t>
            </a:r>
            <a:r>
              <a:rPr lang="en-US" baseline="0" dirty="0"/>
              <a:t> solution?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47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change</a:t>
            </a:r>
            <a:r>
              <a:rPr lang="en-US" baseline="0" dirty="0"/>
              <a:t> to </a:t>
            </a:r>
            <a:r>
              <a:rPr lang="en-US" baseline="0" dirty="0" err="1"/>
              <a:t>Pg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59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DDEE3-5768-4C03-ADEB-8FC1E8F0D66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5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5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872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8BC143-00E6-492B-96C3-621B7EDEA8D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3207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F5BAFF-FFD6-45ED-B425-E161C47B8027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5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37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8ABD46-7FD8-44AB-864C-FAFDB457E275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89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Use </a:t>
            </a:r>
            <a:r>
              <a:rPr lang="en-US" altLang="en-US" b="1" dirty="0"/>
              <a:t>circular queue </a:t>
            </a:r>
            <a:r>
              <a:rPr lang="en-US" altLang="en-US" dirty="0"/>
              <a:t>to maintain the pages:</a:t>
            </a:r>
          </a:p>
          <a:p>
            <a:pPr lvl="1"/>
            <a:r>
              <a:rPr lang="en-US" altLang="en-US" dirty="0"/>
              <a:t>With a pointer pointing to the oldest page ( the </a:t>
            </a:r>
            <a:r>
              <a:rPr lang="en-US" altLang="en-US" b="1" dirty="0"/>
              <a:t>victim</a:t>
            </a:r>
            <a:r>
              <a:rPr lang="en-US" altLang="en-US" dirty="0"/>
              <a:t> </a:t>
            </a:r>
            <a:r>
              <a:rPr lang="en-US" altLang="en-US" b="1" dirty="0"/>
              <a:t>page </a:t>
            </a:r>
            <a:r>
              <a:rPr lang="en-US" altLang="en-US" dirty="0"/>
              <a:t>)</a:t>
            </a:r>
          </a:p>
          <a:p>
            <a:pPr lvl="1"/>
            <a:endParaRPr lang="en-US" altLang="en-US" b="1" dirty="0"/>
          </a:p>
          <a:p>
            <a:r>
              <a:rPr lang="en-US" altLang="en-US" dirty="0"/>
              <a:t>To find a page to be replaced:</a:t>
            </a:r>
          </a:p>
          <a:p>
            <a:pPr lvl="1"/>
            <a:r>
              <a:rPr lang="en-US" altLang="en-US" dirty="0"/>
              <a:t>Advance until a page with '0'  reference bit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Clear the reference bit as pointer passes through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657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a function is executing, the references are likely on:</a:t>
            </a:r>
          </a:p>
          <a:p>
            <a:pPr lvl="2">
              <a:lnSpc>
                <a:spcPct val="90000"/>
              </a:lnSpc>
            </a:pPr>
            <a:r>
              <a:rPr lang="en-US" altLang="en-US" i="1" dirty="0"/>
              <a:t>local variables, parameters, code in that function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these pages define the locality for the function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After the function terminates, the references will changes to another set of pages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976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DADD8-4CB3-4EAF-A687-B5604217B8BA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86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909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64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0B3788-9A79-4A67-BC1C-F11E971854F9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90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90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573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25216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C63D3E-5435-421A-B6F7-705351D56035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9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L9 -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sz="4600" b="1" dirty="0">
                <a:solidFill>
                  <a:srgbClr val="C00000"/>
                </a:solidFill>
              </a:rPr>
              <a:t>Virtual Memory Management</a:t>
            </a:r>
            <a:endParaRPr lang="en-US" altLang="en-US" sz="46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9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Virtual Memory: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Page Fault</a:t>
            </a:r>
          </a:p>
          <a:p>
            <a:pPr marL="344487" lvl="1" indent="0">
              <a:buNone/>
            </a:pPr>
            <a:endParaRPr lang="en-US" altLang="en-US" sz="1200" dirty="0"/>
          </a:p>
          <a:p>
            <a:r>
              <a:rPr lang="en-US" altLang="en-US" b="1" dirty="0">
                <a:solidFill>
                  <a:srgbClr val="006600"/>
                </a:solidFill>
              </a:rPr>
              <a:t>Common application of Virtual Memory:</a:t>
            </a:r>
          </a:p>
          <a:p>
            <a:pPr lvl="1"/>
            <a:r>
              <a:rPr lang="en-US" altLang="en-US" dirty="0"/>
              <a:t>Demand Paging</a:t>
            </a:r>
          </a:p>
          <a:p>
            <a:pPr lvl="1"/>
            <a:endParaRPr lang="en-US" altLang="en-US" sz="1200" dirty="0"/>
          </a:p>
          <a:p>
            <a:r>
              <a:rPr lang="en-US" altLang="en-US" b="1" dirty="0">
                <a:solidFill>
                  <a:srgbClr val="660066"/>
                </a:solidFill>
              </a:rPr>
              <a:t>Aspects of virtual memory management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Page Table Structure</a:t>
            </a:r>
          </a:p>
          <a:p>
            <a:pPr lvl="1"/>
            <a:r>
              <a:rPr lang="en-US" altLang="en-US" dirty="0"/>
              <a:t>Page Replacement Algorithms</a:t>
            </a:r>
          </a:p>
          <a:p>
            <a:pPr lvl="1"/>
            <a:r>
              <a:rPr lang="en-US" altLang="en-US" dirty="0"/>
              <a:t>Frame Allocation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28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Our assumptions:</a:t>
            </a:r>
          </a:p>
          <a:p>
            <a:pPr marL="344487" lvl="1" indent="0">
              <a:buNone/>
            </a:pPr>
            <a:endParaRPr lang="en-US" altLang="en-US" dirty="0"/>
          </a:p>
          <a:p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>
                <a:solidFill>
                  <a:srgbClr val="C00000"/>
                </a:solidFill>
              </a:rPr>
              <a:t>Too restrictive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What if the logical memory space of process is &gt;&gt; than physical memory?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What if the same program is executed on a computer with lesser physical memory?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155227369"/>
              </p:ext>
            </p:extLst>
          </p:nvPr>
        </p:nvGraphicFramePr>
        <p:xfrm>
          <a:off x="533400" y="1646881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: Motivation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66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Virtual Memory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0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048000"/>
            <a:ext cx="8229600" cy="3429000"/>
          </a:xfrm>
        </p:spPr>
        <p:txBody>
          <a:bodyPr/>
          <a:lstStyle/>
          <a:p>
            <a:r>
              <a:rPr lang="en-US" altLang="en-US" b="1" dirty="0"/>
              <a:t>Basic Idea:</a:t>
            </a:r>
          </a:p>
          <a:p>
            <a:pPr lvl="1"/>
            <a:r>
              <a:rPr lang="en-US" altLang="en-US" dirty="0"/>
              <a:t>Split the logical address space into small chunks:</a:t>
            </a:r>
          </a:p>
          <a:p>
            <a:pPr lvl="2"/>
            <a:r>
              <a:rPr lang="en-US" altLang="en-US" dirty="0"/>
              <a:t>Some chunks reside in physical memory</a:t>
            </a:r>
          </a:p>
          <a:p>
            <a:pPr lvl="2"/>
            <a:r>
              <a:rPr lang="en-US" altLang="en-US" b="1" dirty="0">
                <a:solidFill>
                  <a:srgbClr val="C00000"/>
                </a:solidFill>
              </a:rPr>
              <a:t>Other are stored on secondary storage</a:t>
            </a:r>
          </a:p>
          <a:p>
            <a:pPr lvl="2"/>
            <a:endParaRPr lang="en-US" altLang="en-US" b="1" dirty="0">
              <a:solidFill>
                <a:srgbClr val="C00000"/>
              </a:solidFill>
            </a:endParaRPr>
          </a:p>
          <a:p>
            <a:r>
              <a:rPr lang="en-US" altLang="en-US" dirty="0"/>
              <a:t>The most popular approach:</a:t>
            </a:r>
          </a:p>
          <a:p>
            <a:pPr lvl="1"/>
            <a:r>
              <a:rPr lang="en-US" altLang="en-US" b="1" dirty="0"/>
              <a:t>Extension of the </a:t>
            </a:r>
            <a:r>
              <a:rPr lang="en-US" altLang="en-US" b="1" dirty="0">
                <a:solidFill>
                  <a:srgbClr val="C00000"/>
                </a:solidFill>
              </a:rPr>
              <a:t>paging scheme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66800"/>
            <a:ext cx="8001000" cy="1524000"/>
          </a:xfrm>
          <a:prstGeom prst="roundRect">
            <a:avLst/>
          </a:prstGeom>
          <a:solidFill>
            <a:srgbClr val="F2CED2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Secondary Storage Capacity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&gt;&gt;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>Physical Memory Capacity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14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: Paging Illustration</a:t>
            </a:r>
          </a:p>
        </p:txBody>
      </p:sp>
      <p:sp>
        <p:nvSpPr>
          <p:cNvPr id="804872" name="Rectangle 8"/>
          <p:cNvSpPr>
            <a:spLocks noChangeArrowheads="1"/>
          </p:cNvSpPr>
          <p:nvPr/>
        </p:nvSpPr>
        <p:spPr bwMode="auto">
          <a:xfrm>
            <a:off x="304800" y="5334000"/>
            <a:ext cx="2743200" cy="36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Logical Memory Space</a:t>
            </a:r>
          </a:p>
        </p:txBody>
      </p:sp>
      <p:grpSp>
        <p:nvGrpSpPr>
          <p:cNvPr id="804920" name="Group 56"/>
          <p:cNvGrpSpPr>
            <a:grpSpLocks/>
          </p:cNvGrpSpPr>
          <p:nvPr/>
        </p:nvGrpSpPr>
        <p:grpSpPr bwMode="auto">
          <a:xfrm>
            <a:off x="990600" y="1524000"/>
            <a:ext cx="1143000" cy="3657600"/>
            <a:chOff x="624" y="1248"/>
            <a:chExt cx="720" cy="2304"/>
          </a:xfrm>
        </p:grpSpPr>
        <p:sp>
          <p:nvSpPr>
            <p:cNvPr id="804868" name="Rectangle 4"/>
            <p:cNvSpPr>
              <a:spLocks noChangeArrowheads="1"/>
            </p:cNvSpPr>
            <p:nvPr/>
          </p:nvSpPr>
          <p:spPr bwMode="auto">
            <a:xfrm>
              <a:off x="624" y="3168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5</a:t>
              </a:r>
            </a:p>
          </p:txBody>
        </p:sp>
        <p:sp>
          <p:nvSpPr>
            <p:cNvPr id="804869" name="Rectangle 5"/>
            <p:cNvSpPr>
              <a:spLocks noChangeArrowheads="1"/>
            </p:cNvSpPr>
            <p:nvPr/>
          </p:nvSpPr>
          <p:spPr bwMode="auto">
            <a:xfrm>
              <a:off x="624" y="2784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4</a:t>
              </a:r>
            </a:p>
          </p:txBody>
        </p:sp>
        <p:sp>
          <p:nvSpPr>
            <p:cNvPr id="804870" name="Rectangle 6"/>
            <p:cNvSpPr>
              <a:spLocks noChangeArrowheads="1"/>
            </p:cNvSpPr>
            <p:nvPr/>
          </p:nvSpPr>
          <p:spPr bwMode="auto">
            <a:xfrm>
              <a:off x="624" y="2400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3</a:t>
              </a:r>
            </a:p>
          </p:txBody>
        </p:sp>
        <p:sp>
          <p:nvSpPr>
            <p:cNvPr id="804871" name="Rectangle 7"/>
            <p:cNvSpPr>
              <a:spLocks noChangeArrowheads="1"/>
            </p:cNvSpPr>
            <p:nvPr/>
          </p:nvSpPr>
          <p:spPr bwMode="auto">
            <a:xfrm>
              <a:off x="624" y="2016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804915" name="Rectangle 51"/>
            <p:cNvSpPr>
              <a:spLocks noChangeArrowheads="1"/>
            </p:cNvSpPr>
            <p:nvPr/>
          </p:nvSpPr>
          <p:spPr bwMode="auto">
            <a:xfrm>
              <a:off x="624" y="1632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804916" name="Rectangle 52"/>
            <p:cNvSpPr>
              <a:spLocks noChangeArrowheads="1"/>
            </p:cNvSpPr>
            <p:nvPr/>
          </p:nvSpPr>
          <p:spPr bwMode="auto">
            <a:xfrm>
              <a:off x="624" y="1248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0</a:t>
              </a:r>
            </a:p>
          </p:txBody>
        </p:sp>
      </p:grpSp>
      <p:sp>
        <p:nvSpPr>
          <p:cNvPr id="804932" name="AutoShape 68"/>
          <p:cNvSpPr>
            <a:spLocks noChangeArrowheads="1"/>
          </p:cNvSpPr>
          <p:nvPr/>
        </p:nvSpPr>
        <p:spPr bwMode="auto">
          <a:xfrm>
            <a:off x="5334000" y="2667000"/>
            <a:ext cx="838200" cy="838200"/>
          </a:xfrm>
          <a:prstGeom prst="plus">
            <a:avLst>
              <a:gd name="adj" fmla="val 3588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grpSp>
        <p:nvGrpSpPr>
          <p:cNvPr id="804935" name="Group 71"/>
          <p:cNvGrpSpPr>
            <a:grpSpLocks/>
          </p:cNvGrpSpPr>
          <p:nvPr/>
        </p:nvGrpSpPr>
        <p:grpSpPr bwMode="auto">
          <a:xfrm>
            <a:off x="2590800" y="2743200"/>
            <a:ext cx="762000" cy="609600"/>
            <a:chOff x="1632" y="1728"/>
            <a:chExt cx="480" cy="384"/>
          </a:xfrm>
        </p:grpSpPr>
        <p:sp>
          <p:nvSpPr>
            <p:cNvPr id="804933" name="Rectangle 69"/>
            <p:cNvSpPr>
              <a:spLocks noChangeArrowheads="1"/>
            </p:cNvSpPr>
            <p:nvPr/>
          </p:nvSpPr>
          <p:spPr bwMode="auto">
            <a:xfrm>
              <a:off x="1632" y="1728"/>
              <a:ext cx="480" cy="14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04934" name="Rectangle 70"/>
            <p:cNvSpPr>
              <a:spLocks noChangeArrowheads="1"/>
            </p:cNvSpPr>
            <p:nvPr/>
          </p:nvSpPr>
          <p:spPr bwMode="auto">
            <a:xfrm>
              <a:off x="1632" y="1968"/>
              <a:ext cx="480" cy="14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209550" y="5504507"/>
            <a:ext cx="30099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dirty="0"/>
              <a:t>(</a:t>
            </a:r>
            <a:r>
              <a:rPr lang="en-US" altLang="en-US" sz="2000" b="1" dirty="0">
                <a:solidFill>
                  <a:srgbClr val="C00000"/>
                </a:solidFill>
              </a:rPr>
              <a:t>Virtual Memory Space</a:t>
            </a:r>
            <a:r>
              <a:rPr lang="en-US" altLang="en-US" sz="2000" b="1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352800" y="1066800"/>
            <a:ext cx="2133600" cy="4648200"/>
            <a:chOff x="3352800" y="1066800"/>
            <a:chExt cx="2133600" cy="4648200"/>
          </a:xfrm>
        </p:grpSpPr>
        <p:sp>
          <p:nvSpPr>
            <p:cNvPr id="804882" name="Rectangle 18"/>
            <p:cNvSpPr>
              <a:spLocks noChangeArrowheads="1"/>
            </p:cNvSpPr>
            <p:nvPr/>
          </p:nvSpPr>
          <p:spPr bwMode="auto">
            <a:xfrm>
              <a:off x="3352800" y="5334000"/>
              <a:ext cx="21336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physical memory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810000" y="1066800"/>
              <a:ext cx="1144132" cy="4267200"/>
              <a:chOff x="3810000" y="1066800"/>
              <a:chExt cx="1144132" cy="4267200"/>
            </a:xfrm>
          </p:grpSpPr>
          <p:sp>
            <p:nvSpPr>
              <p:cNvPr id="80487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79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1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36" name="Rectangle 17"/>
              <p:cNvSpPr>
                <a:spLocks noChangeArrowheads="1"/>
              </p:cNvSpPr>
              <p:nvPr/>
            </p:nvSpPr>
            <p:spPr bwMode="auto">
              <a:xfrm>
                <a:off x="3811132" y="1676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37" name="Rectangle 14"/>
              <p:cNvSpPr>
                <a:spLocks noChangeArrowheads="1"/>
              </p:cNvSpPr>
              <p:nvPr/>
            </p:nvSpPr>
            <p:spPr bwMode="auto">
              <a:xfrm>
                <a:off x="3810000" y="351010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38" name="Rectangle 15"/>
              <p:cNvSpPr>
                <a:spLocks noChangeArrowheads="1"/>
              </p:cNvSpPr>
              <p:nvPr/>
            </p:nvSpPr>
            <p:spPr bwMode="auto">
              <a:xfrm>
                <a:off x="3810000" y="411970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</p:grpSp>
      </p:grpSp>
      <p:sp>
        <p:nvSpPr>
          <p:cNvPr id="804874" name="Rectangle 10"/>
          <p:cNvSpPr>
            <a:spLocks noChangeArrowheads="1"/>
          </p:cNvSpPr>
          <p:nvPr/>
        </p:nvSpPr>
        <p:spPr bwMode="auto">
          <a:xfrm>
            <a:off x="3810000" y="35052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0</a:t>
            </a:r>
          </a:p>
        </p:txBody>
      </p:sp>
      <p:sp>
        <p:nvSpPr>
          <p:cNvPr id="804876" name="Rectangle 12"/>
          <p:cNvSpPr>
            <a:spLocks noChangeArrowheads="1"/>
          </p:cNvSpPr>
          <p:nvPr/>
        </p:nvSpPr>
        <p:spPr bwMode="auto">
          <a:xfrm>
            <a:off x="3810000" y="41148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2</a:t>
            </a:r>
          </a:p>
        </p:txBody>
      </p:sp>
      <p:sp>
        <p:nvSpPr>
          <p:cNvPr id="804877" name="Rectangle 13"/>
          <p:cNvSpPr>
            <a:spLocks noChangeArrowheads="1"/>
          </p:cNvSpPr>
          <p:nvPr/>
        </p:nvSpPr>
        <p:spPr bwMode="auto">
          <a:xfrm>
            <a:off x="3810000" y="16764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5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19800" y="1066800"/>
            <a:ext cx="2133600" cy="4648200"/>
            <a:chOff x="6019800" y="1066800"/>
            <a:chExt cx="2133600" cy="4648200"/>
          </a:xfrm>
        </p:grpSpPr>
        <p:sp>
          <p:nvSpPr>
            <p:cNvPr id="804925" name="Rectangle 61"/>
            <p:cNvSpPr>
              <a:spLocks noChangeArrowheads="1"/>
            </p:cNvSpPr>
            <p:nvPr/>
          </p:nvSpPr>
          <p:spPr bwMode="auto">
            <a:xfrm>
              <a:off x="6477000" y="22860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6" name="Rectangle 62"/>
            <p:cNvSpPr>
              <a:spLocks noChangeArrowheads="1"/>
            </p:cNvSpPr>
            <p:nvPr/>
          </p:nvSpPr>
          <p:spPr bwMode="auto">
            <a:xfrm>
              <a:off x="6477000" y="41148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7" name="Rectangle 63"/>
            <p:cNvSpPr>
              <a:spLocks noChangeArrowheads="1"/>
            </p:cNvSpPr>
            <p:nvPr/>
          </p:nvSpPr>
          <p:spPr bwMode="auto">
            <a:xfrm>
              <a:off x="6477000" y="16764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8" name="Rectangle 64"/>
            <p:cNvSpPr>
              <a:spLocks noChangeArrowheads="1"/>
            </p:cNvSpPr>
            <p:nvPr/>
          </p:nvSpPr>
          <p:spPr bwMode="auto">
            <a:xfrm>
              <a:off x="6477000" y="47244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9" name="Rectangle 65"/>
            <p:cNvSpPr>
              <a:spLocks noChangeArrowheads="1"/>
            </p:cNvSpPr>
            <p:nvPr/>
          </p:nvSpPr>
          <p:spPr bwMode="auto">
            <a:xfrm>
              <a:off x="6019800" y="5334000"/>
              <a:ext cx="21336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Secondary Storage </a:t>
              </a:r>
            </a:p>
          </p:txBody>
        </p:sp>
        <p:sp>
          <p:nvSpPr>
            <p:cNvPr id="39" name="Rectangle 64"/>
            <p:cNvSpPr>
              <a:spLocks noChangeArrowheads="1"/>
            </p:cNvSpPr>
            <p:nvPr/>
          </p:nvSpPr>
          <p:spPr bwMode="auto">
            <a:xfrm>
              <a:off x="6477000" y="10668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40" name="Rectangle 61"/>
            <p:cNvSpPr>
              <a:spLocks noChangeArrowheads="1"/>
            </p:cNvSpPr>
            <p:nvPr/>
          </p:nvSpPr>
          <p:spPr bwMode="auto">
            <a:xfrm>
              <a:off x="6477000" y="35052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41" name="Rectangle 63"/>
            <p:cNvSpPr>
              <a:spLocks noChangeArrowheads="1"/>
            </p:cNvSpPr>
            <p:nvPr/>
          </p:nvSpPr>
          <p:spPr bwMode="auto">
            <a:xfrm>
              <a:off x="6477000" y="28956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</p:grpSp>
      <p:sp>
        <p:nvSpPr>
          <p:cNvPr id="804921" name="Rectangle 57"/>
          <p:cNvSpPr>
            <a:spLocks noChangeArrowheads="1"/>
          </p:cNvSpPr>
          <p:nvPr/>
        </p:nvSpPr>
        <p:spPr bwMode="auto">
          <a:xfrm>
            <a:off x="6477000" y="3505200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1</a:t>
            </a:r>
          </a:p>
        </p:txBody>
      </p:sp>
      <p:sp>
        <p:nvSpPr>
          <p:cNvPr id="804923" name="Rectangle 59"/>
          <p:cNvSpPr>
            <a:spLocks noChangeArrowheads="1"/>
          </p:cNvSpPr>
          <p:nvPr/>
        </p:nvSpPr>
        <p:spPr bwMode="auto">
          <a:xfrm>
            <a:off x="6477000" y="1066800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4</a:t>
            </a:r>
          </a:p>
        </p:txBody>
      </p:sp>
      <p:sp>
        <p:nvSpPr>
          <p:cNvPr id="804924" name="Rectangle 60"/>
          <p:cNvSpPr>
            <a:spLocks noChangeArrowheads="1"/>
          </p:cNvSpPr>
          <p:nvPr/>
        </p:nvSpPr>
        <p:spPr bwMode="auto">
          <a:xfrm>
            <a:off x="6477000" y="2895600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3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85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048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04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04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04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04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04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049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04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04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04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0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0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932" grpId="0" animBg="1"/>
      <p:bldP spid="35" grpId="0"/>
      <p:bldP spid="804874" grpId="0" animBg="1"/>
      <p:bldP spid="804876" grpId="0" animBg="1"/>
      <p:bldP spid="804877" grpId="0" animBg="1"/>
      <p:bldP spid="804921" grpId="0" animBg="1"/>
      <p:bldP spid="804923" grpId="0" animBg="1"/>
      <p:bldP spid="8049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Extended Paging Scheme</a:t>
            </a:r>
          </a:p>
        </p:txBody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Basic idea remains unchanged: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Table</a:t>
            </a:r>
            <a:r>
              <a:rPr lang="en-US" altLang="en-US" dirty="0"/>
              <a:t>:: </a:t>
            </a:r>
            <a:r>
              <a:rPr lang="en-US" altLang="en-US" b="1" dirty="0"/>
              <a:t>Virtual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</a:t>
            </a:r>
            <a:r>
              <a:rPr lang="en-US" altLang="en-US" b="1" dirty="0"/>
              <a:t>Physical</a:t>
            </a:r>
            <a:r>
              <a:rPr lang="en-US" altLang="en-US" dirty="0"/>
              <a:t> address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New addition: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Two page types: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Memory resident          </a:t>
            </a:r>
            <a:r>
              <a:rPr lang="en-US" altLang="en-US" dirty="0"/>
              <a:t>(pages in physical memory)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Non-memory resident  </a:t>
            </a:r>
            <a:r>
              <a:rPr lang="en-US" altLang="en-US" dirty="0"/>
              <a:t>(pages in secondary storage)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Use a (</a:t>
            </a:r>
            <a:r>
              <a:rPr lang="en-US" altLang="en-US" b="1" i="1" dirty="0">
                <a:sym typeface="Wingdings" pitchFamily="2" charset="2"/>
              </a:rPr>
              <a:t>is memory resident?</a:t>
            </a:r>
            <a:r>
              <a:rPr lang="en-US" altLang="en-US" dirty="0">
                <a:sym typeface="Wingdings" pitchFamily="2" charset="2"/>
              </a:rPr>
              <a:t>) bit in page table entry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CPU can only </a:t>
            </a:r>
            <a:r>
              <a:rPr lang="en-US" altLang="en-US" b="1" dirty="0">
                <a:solidFill>
                  <a:srgbClr val="C00000"/>
                </a:solidFill>
              </a:rPr>
              <a:t>access memory resident pages</a:t>
            </a:r>
            <a:r>
              <a:rPr lang="en-US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Page Fault</a:t>
            </a:r>
            <a:r>
              <a:rPr lang="en-US" altLang="en-US" dirty="0">
                <a:solidFill>
                  <a:srgbClr val="C00000"/>
                </a:solidFill>
              </a:rPr>
              <a:t>: </a:t>
            </a:r>
            <a:r>
              <a:rPr lang="en-US" altLang="en-US" dirty="0"/>
              <a:t>When CPU tries to access non-memory resident page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OS need to bring a non-memory resident page into physical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9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Accessing Page </a:t>
            </a:r>
            <a:r>
              <a:rPr lang="en-US" altLang="en-US" sz="3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sz="3800" dirty="0"/>
              <a:t>: General Steps</a:t>
            </a:r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8001000" cy="5486400"/>
          </a:xfrm>
        </p:spPr>
        <p:txBody>
          <a:bodyPr/>
          <a:lstStyle/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>
                <a:solidFill>
                  <a:srgbClr val="003300"/>
                </a:solidFill>
              </a:rPr>
              <a:t>Check </a:t>
            </a:r>
            <a:r>
              <a:rPr lang="en-US" altLang="en-US" b="1" dirty="0">
                <a:solidFill>
                  <a:srgbClr val="003300"/>
                </a:solidFill>
              </a:rPr>
              <a:t>page table</a:t>
            </a:r>
            <a:r>
              <a:rPr lang="en-US" altLang="en-US" dirty="0">
                <a:solidFill>
                  <a:srgbClr val="003300"/>
                </a:solidFill>
              </a:rPr>
              <a:t>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>
                <a:solidFill>
                  <a:srgbClr val="003300"/>
                </a:solidFill>
              </a:rPr>
              <a:t>Is page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b="1" dirty="0">
                <a:solidFill>
                  <a:srgbClr val="003300"/>
                </a:solidFill>
              </a:rPr>
              <a:t> </a:t>
            </a:r>
            <a:r>
              <a:rPr lang="en-US" altLang="en-US" b="1" i="1" dirty="0">
                <a:solidFill>
                  <a:srgbClr val="003300"/>
                </a:solidFill>
              </a:rPr>
              <a:t>memory resident</a:t>
            </a:r>
            <a:r>
              <a:rPr lang="en-US" altLang="en-US" dirty="0">
                <a:solidFill>
                  <a:srgbClr val="003300"/>
                </a:solidFill>
              </a:rPr>
              <a:t>?</a:t>
            </a:r>
          </a:p>
          <a:p>
            <a:pPr marL="1090613" lvl="2" indent="-419100"/>
            <a:r>
              <a:rPr lang="en-US" altLang="en-US" b="1" dirty="0">
                <a:solidFill>
                  <a:srgbClr val="003300"/>
                </a:solidFill>
              </a:rPr>
              <a:t>Yes: </a:t>
            </a:r>
            <a:r>
              <a:rPr lang="en-US" altLang="en-US" dirty="0">
                <a:solidFill>
                  <a:srgbClr val="003300"/>
                </a:solidFill>
              </a:rPr>
              <a:t>Access physical memory location. Done.</a:t>
            </a:r>
          </a:p>
          <a:p>
            <a:pPr marL="1090613" lvl="2" indent="-419100"/>
            <a:r>
              <a:rPr lang="en-US" altLang="en-US" b="1" dirty="0">
                <a:solidFill>
                  <a:srgbClr val="003300"/>
                </a:solidFill>
              </a:rPr>
              <a:t>No: </a:t>
            </a:r>
            <a:r>
              <a:rPr lang="en-US" altLang="en-US" dirty="0">
                <a:solidFill>
                  <a:srgbClr val="003300"/>
                </a:solidFill>
              </a:rPr>
              <a:t>Continue to the next step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Page Fault: </a:t>
            </a:r>
            <a:r>
              <a:rPr lang="en-US" altLang="en-US" b="1" dirty="0">
                <a:solidFill>
                  <a:schemeClr val="tx2"/>
                </a:solidFill>
              </a:rPr>
              <a:t>Trap </a:t>
            </a:r>
            <a:r>
              <a:rPr lang="en-US" altLang="en-US" dirty="0">
                <a:solidFill>
                  <a:schemeClr val="tx2"/>
                </a:solidFill>
              </a:rPr>
              <a:t>to OS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Locate</a:t>
            </a:r>
            <a:r>
              <a:rPr lang="en-US" altLang="en-US" dirty="0">
                <a:solidFill>
                  <a:schemeClr val="tx2"/>
                </a:solidFill>
              </a:rPr>
              <a:t> page 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dirty="0">
                <a:solidFill>
                  <a:schemeClr val="tx2"/>
                </a:solidFill>
              </a:rPr>
              <a:t> in secondary storage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Load </a:t>
            </a:r>
            <a:r>
              <a:rPr lang="en-US" altLang="en-US" dirty="0">
                <a:solidFill>
                  <a:schemeClr val="tx2"/>
                </a:solidFill>
              </a:rPr>
              <a:t>page 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dirty="0">
                <a:solidFill>
                  <a:schemeClr val="tx2"/>
                </a:solidFill>
              </a:rPr>
              <a:t> into a physical memory 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Update</a:t>
            </a:r>
            <a:r>
              <a:rPr lang="en-US" altLang="en-US" dirty="0">
                <a:solidFill>
                  <a:schemeClr val="tx2"/>
                </a:solidFill>
              </a:rPr>
              <a:t> page table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Go to step 1 to retry</a:t>
            </a:r>
          </a:p>
        </p:txBody>
      </p:sp>
      <p:sp>
        <p:nvSpPr>
          <p:cNvPr id="806917" name="Text Box 5"/>
          <p:cNvSpPr txBox="1">
            <a:spLocks noChangeArrowheads="1"/>
          </p:cNvSpPr>
          <p:nvPr/>
        </p:nvSpPr>
        <p:spPr bwMode="auto">
          <a:xfrm>
            <a:off x="224135" y="3149600"/>
            <a:ext cx="461665" cy="2438400"/>
          </a:xfrm>
          <a:prstGeom prst="rect">
            <a:avLst/>
          </a:prstGeom>
          <a:solidFill>
            <a:srgbClr val="FF99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</a:t>
            </a:r>
            <a:r>
              <a:rPr lang="en-US" altLang="en-US" b="1"/>
              <a:t>OS</a:t>
            </a:r>
          </a:p>
        </p:txBody>
      </p:sp>
      <p:sp>
        <p:nvSpPr>
          <p:cNvPr id="806918" name="Text Box 6"/>
          <p:cNvSpPr txBox="1">
            <a:spLocks noChangeArrowheads="1"/>
          </p:cNvSpPr>
          <p:nvPr/>
        </p:nvSpPr>
        <p:spPr bwMode="auto">
          <a:xfrm>
            <a:off x="224135" y="1244600"/>
            <a:ext cx="461665" cy="1905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</a:t>
            </a:r>
            <a:r>
              <a:rPr lang="en-US" altLang="en-US" b="1"/>
              <a:t>Hardware</a:t>
            </a:r>
          </a:p>
        </p:txBody>
      </p:sp>
      <p:cxnSp>
        <p:nvCxnSpPr>
          <p:cNvPr id="5" name="Straight Connector 4"/>
          <p:cNvCxnSpPr>
            <a:stCxn id="806918" idx="2"/>
          </p:cNvCxnSpPr>
          <p:nvPr/>
        </p:nvCxnSpPr>
        <p:spPr>
          <a:xfrm flipV="1">
            <a:off x="454968" y="3111500"/>
            <a:ext cx="8231832" cy="381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" name="Rectangle 1">
            <a:hlinkClick r:id="rId2" action="ppaction://hlinksldjump"/>
          </p:cNvPr>
          <p:cNvSpPr/>
          <p:nvPr/>
        </p:nvSpPr>
        <p:spPr>
          <a:xfrm>
            <a:off x="1295400" y="2819400"/>
            <a:ext cx="2209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062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0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0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17" grpId="0" animBg="1"/>
      <p:bldP spid="8069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 Accessing</a:t>
            </a:r>
            <a:r>
              <a:rPr lang="en-US" altLang="en-US" sz="3800" dirty="0"/>
              <a:t>: Illustration</a:t>
            </a:r>
          </a:p>
        </p:txBody>
      </p:sp>
      <p:pic>
        <p:nvPicPr>
          <p:cNvPr id="807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6" t="598" r="6114" b="912"/>
          <a:stretch>
            <a:fillRect/>
          </a:stretch>
        </p:blipFill>
        <p:spPr bwMode="auto">
          <a:xfrm>
            <a:off x="685800" y="990600"/>
            <a:ext cx="7772400" cy="52800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35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Virtual Memory: </a:t>
            </a:r>
            <a:r>
              <a:rPr lang="en-US" altLang="en-US" sz="3800" b="1" dirty="0">
                <a:solidFill>
                  <a:srgbClr val="C00000"/>
                </a:solidFill>
              </a:rPr>
              <a:t>Justification</a:t>
            </a:r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590800"/>
            <a:ext cx="8229600" cy="3886200"/>
          </a:xfrm>
        </p:spPr>
        <p:txBody>
          <a:bodyPr>
            <a:normAutofit/>
          </a:bodyPr>
          <a:lstStyle/>
          <a:p>
            <a:r>
              <a:rPr lang="en-US" altLang="en-US" dirty="0"/>
              <a:t>If memory access results in </a:t>
            </a:r>
            <a:r>
              <a:rPr lang="en-US" altLang="en-US" b="1" dirty="0"/>
              <a:t>page fault </a:t>
            </a:r>
            <a:r>
              <a:rPr lang="en-US" altLang="en-US" dirty="0"/>
              <a:t>most of the time  == </a:t>
            </a:r>
            <a:r>
              <a:rPr lang="en-US" altLang="en-US" b="1" dirty="0">
                <a:solidFill>
                  <a:srgbClr val="C00000"/>
                </a:solidFill>
              </a:rPr>
              <a:t>Thrashing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b="1" dirty="0"/>
          </a:p>
          <a:p>
            <a:r>
              <a:rPr lang="en-US" altLang="en-US" dirty="0"/>
              <a:t>How do we know that </a:t>
            </a:r>
            <a:r>
              <a:rPr lang="en-US" altLang="en-US" b="1" dirty="0"/>
              <a:t>thrashing </a:t>
            </a:r>
            <a:r>
              <a:rPr lang="en-US" altLang="en-US" dirty="0"/>
              <a:t>is </a:t>
            </a:r>
            <a:r>
              <a:rPr lang="en-US" altLang="en-US" b="1" dirty="0"/>
              <a:t>unlikely </a:t>
            </a:r>
            <a:r>
              <a:rPr lang="en-US" altLang="en-US" dirty="0"/>
              <a:t>to happen?</a:t>
            </a:r>
          </a:p>
          <a:p>
            <a:pPr lvl="1"/>
            <a:r>
              <a:rPr lang="en-US" altLang="en-US" dirty="0"/>
              <a:t>Related: How do we know that after a page is loaded, it is likely to be useful for future accesses?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90600"/>
            <a:ext cx="7391400" cy="1327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Secondary Storage </a:t>
            </a:r>
            <a:r>
              <a:rPr lang="en-US" sz="3200" b="1" dirty="0">
                <a:solidFill>
                  <a:schemeClr val="tx1"/>
                </a:solidFill>
              </a:rPr>
              <a:t>access time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&gt;&gt;</a:t>
            </a:r>
            <a:r>
              <a:rPr lang="en-US" sz="3200" dirty="0">
                <a:solidFill>
                  <a:schemeClr val="tx1"/>
                </a:solidFill>
              </a:rPr>
              <a:t> Physical memory </a:t>
            </a:r>
            <a:r>
              <a:rPr lang="en-US" sz="3200" b="1" dirty="0">
                <a:solidFill>
                  <a:schemeClr val="tx1"/>
                </a:solidFill>
              </a:rPr>
              <a:t>access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9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Locality Principles</a:t>
            </a:r>
          </a:p>
        </p:txBody>
      </p:sp>
      <p:sp>
        <p:nvSpPr>
          <p:cNvPr id="81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i="1" dirty="0"/>
              <a:t>Most programs </a:t>
            </a:r>
            <a:r>
              <a:rPr lang="en-US" altLang="en-US" dirty="0"/>
              <a:t>exhibit these behaviors:</a:t>
            </a:r>
          </a:p>
          <a:p>
            <a:pPr lvl="1"/>
            <a:r>
              <a:rPr lang="en-US" altLang="en-US" dirty="0"/>
              <a:t>Most time are spent on a relatively small part of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en-US" altLang="en-US" dirty="0"/>
              <a:t> only</a:t>
            </a:r>
          </a:p>
          <a:p>
            <a:pPr lvl="1"/>
            <a:r>
              <a:rPr lang="en-US" altLang="en-US" dirty="0"/>
              <a:t>In a time period, accesses are made to a relatively small part of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altLang="en-US" dirty="0"/>
              <a:t> only</a:t>
            </a:r>
          </a:p>
          <a:p>
            <a:pPr lvl="1"/>
            <a:endParaRPr lang="en-US" altLang="en-US" dirty="0"/>
          </a:p>
          <a:p>
            <a:r>
              <a:rPr lang="en-US" altLang="en-US" b="1" dirty="0"/>
              <a:t>Locality principles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Temporal Locality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Memory address which is used </a:t>
            </a:r>
            <a:r>
              <a:rPr lang="en-US" altLang="en-US" b="1" i="1" dirty="0"/>
              <a:t>is likely to be used again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Spatial Locality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Memory addresses close to a used address is likely to be used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35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E3CF-B913-B6F2-496C-1FA5ED38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F77D1-43E2-28E4-E7CA-41A2802EF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5BAD-A6C2-5F57-9D8E-BB90254B2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9279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Virtual Memory </a:t>
            </a:r>
            <a:r>
              <a:rPr lang="en-US" altLang="en-US" sz="3800" dirty="0"/>
              <a:t>and </a:t>
            </a:r>
            <a:r>
              <a:rPr lang="en-US" altLang="en-US" sz="3800" b="1" dirty="0">
                <a:solidFill>
                  <a:srgbClr val="006600"/>
                </a:solidFill>
              </a:rPr>
              <a:t>Locality Principle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38543641"/>
              </p:ext>
            </p:extLst>
          </p:nvPr>
        </p:nvGraphicFramePr>
        <p:xfrm>
          <a:off x="477795" y="1066800"/>
          <a:ext cx="8056605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A106E6-132B-4FB1-A9DA-21EE65C8B1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75DA311-63B2-41E7-A71C-1451F29E4B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710777-3FAB-4FA1-8667-D86064DF5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2103B8-7155-4597-8009-AF08BFC4A6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Summary</a:t>
            </a:r>
          </a:p>
        </p:txBody>
      </p:sp>
      <p:sp>
        <p:nvSpPr>
          <p:cNvPr id="6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657600" y="375389"/>
            <a:ext cx="1981200" cy="517634"/>
          </a:xfrm>
          <a:prstGeom prst="actionButtonBlank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3800" dirty="0">
                <a:latin typeface="Garamond" panose="02020404030301010803" pitchFamily="18" charset="0"/>
              </a:rPr>
              <a:t>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736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common application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Hmm…. let's use VM to handle this problem…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82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When a new process is launched, s</a:t>
            </a:r>
            <a:r>
              <a:rPr lang="en-US" dirty="0"/>
              <a:t>hould </a:t>
            </a:r>
            <a:r>
              <a:rPr lang="en-US" b="1" dirty="0"/>
              <a:t>ALL </a:t>
            </a:r>
            <a:r>
              <a:rPr lang="en-US" dirty="0"/>
              <a:t>text (instruction), data (global variables </a:t>
            </a:r>
            <a:r>
              <a:rPr lang="en-US" dirty="0" err="1"/>
              <a:t>etc</a:t>
            </a:r>
            <a:r>
              <a:rPr lang="en-US" dirty="0"/>
              <a:t>) pages be allocated in RAM?</a:t>
            </a:r>
          </a:p>
          <a:p>
            <a:endParaRPr lang="en-US" dirty="0"/>
          </a:p>
          <a:p>
            <a:r>
              <a:rPr lang="en-US" dirty="0"/>
              <a:t>Considerations: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Large startup cost if there are large number of pages to allocate and initialize</a:t>
            </a:r>
          </a:p>
          <a:p>
            <a:pPr marL="841375" lvl="1" indent="-514350"/>
            <a:r>
              <a:rPr lang="en-US" dirty="0"/>
              <a:t>But, how do we know which pages to load if we don’t load all?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Need to reduce the footprint of process in physical memory so that more processes can be memory resident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35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Demand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Simple idea:</a:t>
            </a:r>
          </a:p>
          <a:p>
            <a:pPr lvl="1"/>
            <a:r>
              <a:rPr lang="en-US" dirty="0"/>
              <a:t>Process start with </a:t>
            </a:r>
            <a:r>
              <a:rPr lang="en-US" b="1" dirty="0"/>
              <a:t>no memory resident page</a:t>
            </a:r>
          </a:p>
          <a:p>
            <a:pPr lvl="1"/>
            <a:r>
              <a:rPr lang="en-US" dirty="0"/>
              <a:t>Only allocate a page when there is a </a:t>
            </a:r>
            <a:r>
              <a:rPr lang="en-US" b="1" dirty="0"/>
              <a:t>page fault</a:t>
            </a:r>
          </a:p>
          <a:p>
            <a:pPr lvl="1"/>
            <a:endParaRPr lang="en-US" b="1" dirty="0"/>
          </a:p>
          <a:p>
            <a:r>
              <a:rPr lang="en-US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dirty="0"/>
              <a:t>Fast startup time for new process</a:t>
            </a:r>
          </a:p>
          <a:p>
            <a:pPr lvl="1"/>
            <a:r>
              <a:rPr lang="en-US" dirty="0"/>
              <a:t>Small memory footprint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Cons</a:t>
            </a:r>
            <a:r>
              <a:rPr lang="en-US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US" dirty="0"/>
              <a:t>Process may appear sluggish at the start due to multiple page faults</a:t>
            </a:r>
          </a:p>
          <a:p>
            <a:pPr lvl="1"/>
            <a:r>
              <a:rPr lang="en-US" dirty="0"/>
              <a:t>The page faults may have cascading effect on other processes (i.e. thrashing)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994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Page Table Structure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Waste not, want not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839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More on </a:t>
            </a:r>
            <a:r>
              <a:rPr lang="en-US" altLang="en-US" sz="3800" b="1" dirty="0">
                <a:solidFill>
                  <a:srgbClr val="C00000"/>
                </a:solidFill>
              </a:rPr>
              <a:t>Virtual Memory Management</a:t>
            </a:r>
          </a:p>
        </p:txBody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82" y="1066800"/>
            <a:ext cx="8229600" cy="5486400"/>
          </a:xfrm>
        </p:spPr>
        <p:txBody>
          <a:bodyPr>
            <a:normAutofit/>
          </a:bodyPr>
          <a:lstStyle/>
          <a:p>
            <a:pPr lvl="1"/>
            <a:r>
              <a:rPr lang="en-US" altLang="en-US" dirty="0"/>
              <a:t>Huge page table with large logical memory space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itchFamily="2" charset="2"/>
              </a:rPr>
              <a:t>     How to structure the page table for efficiency?</a:t>
            </a:r>
          </a:p>
          <a:p>
            <a:pPr lvl="2"/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Table Structures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pPr lvl="1"/>
            <a:r>
              <a:rPr lang="en-US" altLang="en-US" dirty="0"/>
              <a:t>Each process has limited number of resident memory pages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itchFamily="2" charset="2"/>
              </a:rPr>
              <a:t>    Which page should be replaced when needed?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Replacement Algorithms</a:t>
            </a:r>
          </a:p>
          <a:p>
            <a:pPr lvl="2"/>
            <a:endParaRPr lang="en-US" altLang="en-US" b="1" dirty="0">
              <a:solidFill>
                <a:srgbClr val="66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dirty="0"/>
              <a:t>Limited physical memory frames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itchFamily="2" charset="2"/>
              </a:rPr>
              <a:t>    How to distribute among the processes?</a:t>
            </a:r>
          </a:p>
          <a:p>
            <a:pPr lvl="2"/>
            <a:r>
              <a:rPr lang="en-US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Allocation Policies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61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Page Table Structure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Page table information is kept with the process information and </a:t>
            </a:r>
            <a:r>
              <a:rPr lang="en-US" altLang="en-US" sz="2600" b="1" dirty="0"/>
              <a:t>takes up physical memory </a:t>
            </a:r>
            <a:r>
              <a:rPr lang="en-US" altLang="en-US" sz="2600" b="1" dirty="0">
                <a:solidFill>
                  <a:srgbClr val="C00000"/>
                </a:solidFill>
              </a:rPr>
              <a:t>space</a:t>
            </a:r>
          </a:p>
          <a:p>
            <a:endParaRPr lang="en-US" altLang="en-US" sz="2200" dirty="0"/>
          </a:p>
          <a:p>
            <a:r>
              <a:rPr lang="en-US" altLang="en-US" sz="2600" dirty="0"/>
              <a:t>Modern computer systems provide </a:t>
            </a:r>
            <a:r>
              <a:rPr lang="en-US" altLang="en-US" sz="2600" b="1" dirty="0">
                <a:solidFill>
                  <a:srgbClr val="660066"/>
                </a:solidFill>
              </a:rPr>
              <a:t>huge logical memory space</a:t>
            </a:r>
          </a:p>
          <a:p>
            <a:pPr lvl="1"/>
            <a:r>
              <a:rPr lang="en-US" altLang="en-US" sz="2200" dirty="0"/>
              <a:t>4GiB(32bit) is the norm, 8TiB or more is possible now</a:t>
            </a:r>
          </a:p>
          <a:p>
            <a:pPr lvl="1"/>
            <a:r>
              <a:rPr lang="en-US" altLang="en-US" sz="2200" dirty="0"/>
              <a:t>Huge logical memory space </a:t>
            </a:r>
            <a:r>
              <a:rPr lang="en-US" altLang="en-US" sz="2200" dirty="0">
                <a:sym typeface="Wingdings" pitchFamily="2" charset="2"/>
              </a:rPr>
              <a:t> Huge number of </a:t>
            </a:r>
            <a:r>
              <a:rPr lang="en-US" altLang="en-US" sz="2200" b="1" dirty="0">
                <a:sym typeface="Wingdings" pitchFamily="2" charset="2"/>
              </a:rPr>
              <a:t>pages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/>
              <a:t>Each page has a </a:t>
            </a:r>
            <a:r>
              <a:rPr lang="en-US" altLang="en-US" sz="2200" b="1" dirty="0"/>
              <a:t>page table entry </a:t>
            </a:r>
            <a:r>
              <a:rPr lang="en-US" altLang="en-US" sz="2200" dirty="0">
                <a:sym typeface="Wingdings" pitchFamily="2" charset="2"/>
              </a:rPr>
              <a:t> Huge page table</a:t>
            </a:r>
          </a:p>
          <a:p>
            <a:pPr marL="344487" lvl="1" indent="0">
              <a:buNone/>
            </a:pPr>
            <a:endParaRPr lang="en-US" altLang="en-US" sz="2200" dirty="0">
              <a:sym typeface="Wingdings" pitchFamily="2" charset="2"/>
            </a:endParaRPr>
          </a:p>
          <a:p>
            <a:r>
              <a:rPr lang="en-US" altLang="en-US" sz="2600" dirty="0">
                <a:sym typeface="Wingdings" pitchFamily="2" charset="2"/>
              </a:rPr>
              <a:t>Problems with huge page table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  <a:sym typeface="Wingdings" pitchFamily="2" charset="2"/>
              </a:rPr>
              <a:t>High overhead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Fragmented page table</a:t>
            </a:r>
            <a:r>
              <a:rPr lang="en-US" altLang="en-US" sz="2200" dirty="0"/>
              <a:t>:</a:t>
            </a:r>
          </a:p>
          <a:p>
            <a:pPr lvl="2"/>
            <a:r>
              <a:rPr lang="en-US" altLang="en-US" sz="2000" dirty="0"/>
              <a:t>Page table occupies several memory pages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28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Page Table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Direct Paging</a:t>
            </a:r>
            <a:endParaRPr lang="en-US" altLang="en-US" sz="3800" dirty="0">
              <a:solidFill>
                <a:srgbClr val="C00000"/>
              </a:solidFill>
            </a:endParaRP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85800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Direct Paging: keep all entries in a single table</a:t>
            </a:r>
            <a:endParaRPr lang="en-US" altLang="en-US" sz="2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990600"/>
            <a:ext cx="8229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600" kern="0" dirty="0"/>
              <a:t>With 2</a:t>
            </a:r>
            <a:r>
              <a:rPr lang="en-US" altLang="en-US" sz="2600" b="1" kern="0" baseline="30000" dirty="0">
                <a:solidFill>
                  <a:srgbClr val="C00000"/>
                </a:solidFill>
              </a:rPr>
              <a:t>p</a:t>
            </a:r>
            <a:r>
              <a:rPr lang="en-US" altLang="en-US" sz="2600" kern="0" dirty="0"/>
              <a:t> pages in logical memory space</a:t>
            </a:r>
          </a:p>
          <a:p>
            <a:pPr lvl="1"/>
            <a:r>
              <a:rPr lang="en-US" altLang="en-US" sz="2200" b="1" kern="0" dirty="0">
                <a:solidFill>
                  <a:srgbClr val="C00000"/>
                </a:solidFill>
              </a:rPr>
              <a:t>p</a:t>
            </a:r>
            <a:r>
              <a:rPr lang="en-US" altLang="en-US" sz="2200" kern="0" dirty="0"/>
              <a:t> bits to specify one unique page</a:t>
            </a:r>
          </a:p>
          <a:p>
            <a:pPr lvl="1"/>
            <a:r>
              <a:rPr lang="en-US" altLang="en-US" sz="2200" b="1" kern="0" dirty="0"/>
              <a:t>2</a:t>
            </a:r>
            <a:r>
              <a:rPr lang="en-US" altLang="en-US" b="1" kern="0" baseline="30000" dirty="0">
                <a:solidFill>
                  <a:srgbClr val="C00000"/>
                </a:solidFill>
              </a:rPr>
              <a:t>p</a:t>
            </a:r>
            <a:r>
              <a:rPr lang="en-US" altLang="en-US" sz="2200" kern="0" dirty="0"/>
              <a:t> page table entries (PTE) with:</a:t>
            </a:r>
          </a:p>
          <a:p>
            <a:pPr lvl="2"/>
            <a:r>
              <a:rPr lang="en-US" altLang="en-US" kern="0" dirty="0"/>
              <a:t>physical frame number + additional information bits</a:t>
            </a:r>
          </a:p>
          <a:p>
            <a:pPr marL="671512" lvl="2" indent="0">
              <a:buFont typeface="Wingdings" pitchFamily="2" charset="2"/>
              <a:buNone/>
            </a:pPr>
            <a:endParaRPr lang="en-US" altLang="en-US" kern="0" dirty="0"/>
          </a:p>
          <a:p>
            <a:pPr marL="0" indent="0">
              <a:buNone/>
            </a:pPr>
            <a:endParaRPr lang="en-US" altLang="en-US" sz="220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990600"/>
            <a:ext cx="8229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600" kern="0" dirty="0"/>
              <a:t> Example:</a:t>
            </a:r>
          </a:p>
          <a:p>
            <a:pPr lvl="1"/>
            <a:r>
              <a:rPr lang="en-US" altLang="en-US" sz="2200" kern="0" dirty="0"/>
              <a:t>Virtual Address: 32 bits, Page Size = 4KiB</a:t>
            </a:r>
          </a:p>
          <a:p>
            <a:pPr lvl="1"/>
            <a:r>
              <a:rPr lang="en-US" altLang="en-US" sz="2200" kern="0" dirty="0"/>
              <a:t>P = 32 – 12 = 20</a:t>
            </a:r>
          </a:p>
          <a:p>
            <a:pPr lvl="1"/>
            <a:r>
              <a:rPr lang="en-US" altLang="en-US" sz="2200" kern="0" dirty="0"/>
              <a:t>Size of PTE = 2 bytes</a:t>
            </a:r>
          </a:p>
          <a:p>
            <a:pPr lvl="1"/>
            <a:r>
              <a:rPr lang="en-US" altLang="en-US" sz="2200" kern="0" dirty="0"/>
              <a:t>Page Table Size = 2</a:t>
            </a:r>
            <a:r>
              <a:rPr lang="en-US" altLang="en-US" sz="2200" kern="0" baseline="30000" dirty="0"/>
              <a:t>20 </a:t>
            </a:r>
            <a:r>
              <a:rPr lang="en-US" altLang="en-US" sz="2200" kern="0" dirty="0"/>
              <a:t>* 2 bytes =</a:t>
            </a:r>
            <a:r>
              <a:rPr lang="en-US" altLang="en-US" sz="2200" b="1" kern="0" dirty="0">
                <a:solidFill>
                  <a:srgbClr val="C00000"/>
                </a:solidFill>
              </a:rPr>
              <a:t> 2MiB </a:t>
            </a:r>
            <a:r>
              <a:rPr lang="en-US" altLang="en-US" sz="2200" kern="0" dirty="0"/>
              <a:t>(!)</a:t>
            </a:r>
          </a:p>
        </p:txBody>
      </p:sp>
    </p:spTree>
    <p:extLst>
      <p:ext uri="{BB962C8B-B14F-4D97-AF65-F5344CB8AC3E}">
        <p14:creationId xmlns:p14="http://schemas.microsoft.com/office/powerpoint/2010/main" val="318642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03" grpId="0" build="p"/>
      <p:bldP spid="6" grpId="0" uiExpand="1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2-Level Paging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Observation:</a:t>
            </a:r>
          </a:p>
          <a:p>
            <a:pPr lvl="1"/>
            <a:r>
              <a:rPr lang="en-US" altLang="en-US" dirty="0"/>
              <a:t>Process may not use entire virtual memory space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Full page table is a waste!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Basic Idea:</a:t>
            </a:r>
          </a:p>
          <a:p>
            <a:pPr lvl="1"/>
            <a:r>
              <a:rPr lang="en-US" altLang="en-US" dirty="0"/>
              <a:t>Split the full page table into regions</a:t>
            </a:r>
          </a:p>
          <a:p>
            <a:pPr lvl="1"/>
            <a:r>
              <a:rPr lang="en-US" altLang="en-US" dirty="0"/>
              <a:t>Only a few regions are used</a:t>
            </a:r>
          </a:p>
          <a:p>
            <a:pPr lvl="2"/>
            <a:r>
              <a:rPr lang="en-US" altLang="en-US" dirty="0"/>
              <a:t>As memory usage grows, new region can be allocated</a:t>
            </a:r>
          </a:p>
          <a:p>
            <a:pPr lvl="1"/>
            <a:r>
              <a:rPr lang="en-US" altLang="en-US" dirty="0"/>
              <a:t>This idea is similar to split logical memory space into pages </a:t>
            </a:r>
            <a:r>
              <a:rPr lang="en-US" alt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altLang="en-US" dirty="0"/>
              <a:t>Need a directory to keep track of the regions</a:t>
            </a:r>
          </a:p>
          <a:p>
            <a:pPr lvl="2"/>
            <a:r>
              <a:rPr lang="en-US" altLang="en-US" dirty="0"/>
              <a:t>Analogues of page table </a:t>
            </a:r>
            <a:r>
              <a:rPr lang="en-US" altLang="en-US" dirty="0">
                <a:sym typeface="Wingdings" pitchFamily="2" charset="2"/>
              </a:rPr>
              <a:t> pages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46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2-Level Paging</a:t>
            </a:r>
            <a:r>
              <a:rPr lang="en-US" altLang="en-US" sz="3800" dirty="0"/>
              <a:t>: Description</a:t>
            </a:r>
          </a:p>
        </p:txBody>
      </p:sp>
      <p:sp>
        <p:nvSpPr>
          <p:cNvPr id="87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Split page table into </a:t>
            </a:r>
            <a:r>
              <a:rPr lang="en-US" altLang="en-US" i="1" dirty="0"/>
              <a:t>smaller page tables</a:t>
            </a:r>
          </a:p>
          <a:p>
            <a:pPr lvl="1"/>
            <a:r>
              <a:rPr lang="en-US" altLang="en-US" dirty="0"/>
              <a:t>Each with a </a:t>
            </a:r>
            <a:r>
              <a:rPr lang="en-US" altLang="en-US" b="1" dirty="0"/>
              <a:t>page table number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If the original page table has 2</a:t>
            </a:r>
            <a:r>
              <a:rPr lang="en-US" altLang="en-US" baseline="30000" dirty="0"/>
              <a:t>P</a:t>
            </a:r>
            <a:r>
              <a:rPr lang="en-US" altLang="en-US" dirty="0"/>
              <a:t> entries:</a:t>
            </a:r>
          </a:p>
          <a:p>
            <a:pPr lvl="1"/>
            <a:r>
              <a:rPr lang="en-US" altLang="en-US" dirty="0"/>
              <a:t>With 2</a:t>
            </a:r>
            <a:r>
              <a:rPr lang="en-US" altLang="en-US" baseline="30000" dirty="0"/>
              <a:t>M</a:t>
            </a:r>
            <a:r>
              <a:rPr lang="en-US" altLang="en-US" dirty="0"/>
              <a:t> smaller page tables, M bits is needed to uniquely identify one page table</a:t>
            </a:r>
          </a:p>
          <a:p>
            <a:pPr lvl="1"/>
            <a:r>
              <a:rPr lang="en-US" altLang="en-US" dirty="0"/>
              <a:t>Each smaller page table contains 2</a:t>
            </a:r>
            <a:r>
              <a:rPr lang="en-US" altLang="en-US" baseline="30000" dirty="0"/>
              <a:t>(P-M)</a:t>
            </a:r>
            <a:r>
              <a:rPr lang="en-US" altLang="en-US" dirty="0"/>
              <a:t>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To keep track of the smaller page tables</a:t>
            </a:r>
          </a:p>
          <a:p>
            <a:pPr lvl="1"/>
            <a:r>
              <a:rPr lang="en-US" altLang="en-US" dirty="0"/>
              <a:t>A single </a:t>
            </a:r>
            <a:r>
              <a:rPr lang="en-US" altLang="en-US" b="1" dirty="0"/>
              <a:t>page directory</a:t>
            </a:r>
            <a:r>
              <a:rPr lang="en-US" altLang="en-US" dirty="0"/>
              <a:t> is needed</a:t>
            </a:r>
          </a:p>
          <a:p>
            <a:pPr lvl="1"/>
            <a:r>
              <a:rPr lang="en-US" altLang="en-US" dirty="0"/>
              <a:t>Page directory contains 2</a:t>
            </a:r>
            <a:r>
              <a:rPr lang="en-US" altLang="en-US" baseline="30000" dirty="0"/>
              <a:t>M</a:t>
            </a:r>
            <a:r>
              <a:rPr lang="en-US" altLang="en-US" dirty="0"/>
              <a:t> indices to locate each of the smaller page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6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1FA6-672E-266A-0CBC-10CE674E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3CE4B-BC5E-C589-7F50-9EC01AEB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22C12-5D9B-E524-20E5-F7918ADE3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680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105399" y="2075158"/>
            <a:ext cx="990601" cy="4223479"/>
            <a:chOff x="5105399" y="2297970"/>
            <a:chExt cx="990601" cy="4223479"/>
          </a:xfrm>
        </p:grpSpPr>
        <p:sp>
          <p:nvSpPr>
            <p:cNvPr id="42" name="Rectangle 15"/>
            <p:cNvSpPr>
              <a:spLocks noChangeArrowheads="1"/>
            </p:cNvSpPr>
            <p:nvPr/>
          </p:nvSpPr>
          <p:spPr bwMode="auto">
            <a:xfrm>
              <a:off x="5105399" y="2297970"/>
              <a:ext cx="990600" cy="42234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63" name="Rectangle 19"/>
            <p:cNvSpPr>
              <a:spLocks noChangeArrowheads="1"/>
            </p:cNvSpPr>
            <p:nvPr/>
          </p:nvSpPr>
          <p:spPr bwMode="auto">
            <a:xfrm>
              <a:off x="5105400" y="2438400"/>
              <a:ext cx="9906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889420" y="1301188"/>
            <a:ext cx="4730580" cy="381000"/>
            <a:chOff x="2889420" y="1524000"/>
            <a:chExt cx="4730580" cy="381000"/>
          </a:xfrm>
        </p:grpSpPr>
        <p:sp>
          <p:nvSpPr>
            <p:cNvPr id="825348" name="Rectangle 4"/>
            <p:cNvSpPr>
              <a:spLocks noChangeArrowheads="1"/>
            </p:cNvSpPr>
            <p:nvPr/>
          </p:nvSpPr>
          <p:spPr bwMode="auto">
            <a:xfrm>
              <a:off x="6477000" y="1524000"/>
              <a:ext cx="1143000" cy="381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offset</a:t>
              </a:r>
            </a:p>
          </p:txBody>
        </p:sp>
        <p:sp>
          <p:nvSpPr>
            <p:cNvPr id="825349" name="Rectangle 5"/>
            <p:cNvSpPr>
              <a:spLocks noChangeArrowheads="1"/>
            </p:cNvSpPr>
            <p:nvPr/>
          </p:nvSpPr>
          <p:spPr bwMode="auto">
            <a:xfrm>
              <a:off x="2889420" y="1524000"/>
              <a:ext cx="358758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#</a:t>
              </a:r>
            </a:p>
          </p:txBody>
        </p:sp>
      </p:grpSp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2-level Paging</a:t>
            </a:r>
          </a:p>
        </p:txBody>
      </p:sp>
      <p:sp>
        <p:nvSpPr>
          <p:cNvPr id="825350" name="Text Box 6"/>
          <p:cNvSpPr txBox="1">
            <a:spLocks noChangeArrowheads="1"/>
          </p:cNvSpPr>
          <p:nvPr/>
        </p:nvSpPr>
        <p:spPr bwMode="auto">
          <a:xfrm>
            <a:off x="4876800" y="914400"/>
            <a:ext cx="2252528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b="1" dirty="0">
                <a:latin typeface="Courier New" pitchFamily="49" charset="0"/>
              </a:rPr>
              <a:t>virtual address</a:t>
            </a:r>
          </a:p>
        </p:txBody>
      </p:sp>
      <p:sp>
        <p:nvSpPr>
          <p:cNvPr id="825354" name="Rectangle 10"/>
          <p:cNvSpPr>
            <a:spLocks noChangeArrowheads="1"/>
          </p:cNvSpPr>
          <p:nvPr/>
        </p:nvSpPr>
        <p:spPr bwMode="auto">
          <a:xfrm>
            <a:off x="7391400" y="2596588"/>
            <a:ext cx="114300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offset</a:t>
            </a:r>
          </a:p>
        </p:txBody>
      </p:sp>
      <p:sp>
        <p:nvSpPr>
          <p:cNvPr id="825355" name="Rectangle 11"/>
          <p:cNvSpPr>
            <a:spLocks noChangeArrowheads="1"/>
          </p:cNvSpPr>
          <p:nvPr/>
        </p:nvSpPr>
        <p:spPr bwMode="auto">
          <a:xfrm>
            <a:off x="6248400" y="2596588"/>
            <a:ext cx="1143000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frame #</a:t>
            </a:r>
          </a:p>
        </p:txBody>
      </p:sp>
      <p:sp>
        <p:nvSpPr>
          <p:cNvPr id="825358" name="Text Box 14"/>
          <p:cNvSpPr txBox="1">
            <a:spLocks noChangeArrowheads="1"/>
          </p:cNvSpPr>
          <p:nvPr/>
        </p:nvSpPr>
        <p:spPr bwMode="auto">
          <a:xfrm>
            <a:off x="6324600" y="3053788"/>
            <a:ext cx="2159553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physical address</a:t>
            </a:r>
          </a:p>
        </p:txBody>
      </p:sp>
      <p:sp>
        <p:nvSpPr>
          <p:cNvPr id="825360" name="Rectangle 16"/>
          <p:cNvSpPr>
            <a:spLocks noChangeArrowheads="1"/>
          </p:cNvSpPr>
          <p:nvPr/>
        </p:nvSpPr>
        <p:spPr bwMode="auto">
          <a:xfrm>
            <a:off x="5105400" y="4882588"/>
            <a:ext cx="990600" cy="1066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1" name="Rectangle 17"/>
          <p:cNvSpPr>
            <a:spLocks noChangeArrowheads="1"/>
          </p:cNvSpPr>
          <p:nvPr/>
        </p:nvSpPr>
        <p:spPr bwMode="auto">
          <a:xfrm>
            <a:off x="5105400" y="3434788"/>
            <a:ext cx="990600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2" name="Text Box 18"/>
          <p:cNvSpPr txBox="1">
            <a:spLocks noChangeArrowheads="1"/>
          </p:cNvSpPr>
          <p:nvPr/>
        </p:nvSpPr>
        <p:spPr bwMode="auto">
          <a:xfrm>
            <a:off x="4953000" y="1758388"/>
            <a:ext cx="13541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page table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8438" y="2775114"/>
            <a:ext cx="2316162" cy="533400"/>
            <a:chOff x="198438" y="2997926"/>
            <a:chExt cx="2316162" cy="533400"/>
          </a:xfrm>
        </p:grpSpPr>
        <p:sp>
          <p:nvSpPr>
            <p:cNvPr id="825364" name="Rectangle 20"/>
            <p:cNvSpPr>
              <a:spLocks noChangeArrowheads="1"/>
            </p:cNvSpPr>
            <p:nvPr/>
          </p:nvSpPr>
          <p:spPr bwMode="auto">
            <a:xfrm>
              <a:off x="198438" y="2997926"/>
              <a:ext cx="1828800" cy="5334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Page Directory</a:t>
              </a:r>
            </a:p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Base Register</a:t>
              </a:r>
            </a:p>
          </p:txBody>
        </p:sp>
        <p:sp>
          <p:nvSpPr>
            <p:cNvPr id="825370" name="Line 26"/>
            <p:cNvSpPr>
              <a:spLocks noChangeShapeType="1"/>
            </p:cNvSpPr>
            <p:nvPr/>
          </p:nvSpPr>
          <p:spPr bwMode="auto">
            <a:xfrm>
              <a:off x="2027238" y="3276599"/>
              <a:ext cx="48736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286000" y="1453588"/>
            <a:ext cx="609600" cy="3004674"/>
            <a:chOff x="2286000" y="1676400"/>
            <a:chExt cx="609600" cy="2667000"/>
          </a:xfrm>
        </p:grpSpPr>
        <p:sp>
          <p:nvSpPr>
            <p:cNvPr id="825371" name="Line 27"/>
            <p:cNvSpPr>
              <a:spLocks noChangeShapeType="1"/>
            </p:cNvSpPr>
            <p:nvPr/>
          </p:nvSpPr>
          <p:spPr bwMode="auto">
            <a:xfrm flipH="1">
              <a:off x="2286000" y="1676400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5372" name="Line 28"/>
            <p:cNvSpPr>
              <a:spLocks noChangeShapeType="1"/>
            </p:cNvSpPr>
            <p:nvPr/>
          </p:nvSpPr>
          <p:spPr bwMode="auto">
            <a:xfrm>
              <a:off x="2286000" y="1676400"/>
              <a:ext cx="0" cy="2667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5373" name="Line 29"/>
            <p:cNvSpPr>
              <a:spLocks noChangeShapeType="1"/>
            </p:cNvSpPr>
            <p:nvPr/>
          </p:nvSpPr>
          <p:spPr bwMode="auto">
            <a:xfrm>
              <a:off x="2286000" y="43434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25374" name="Line 30"/>
          <p:cNvSpPr>
            <a:spLocks noChangeShapeType="1"/>
          </p:cNvSpPr>
          <p:nvPr/>
        </p:nvSpPr>
        <p:spPr bwMode="auto">
          <a:xfrm flipH="1">
            <a:off x="4870618" y="1682188"/>
            <a:ext cx="6182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5" name="Line 31"/>
          <p:cNvSpPr>
            <a:spLocks noChangeShapeType="1"/>
          </p:cNvSpPr>
          <p:nvPr/>
        </p:nvSpPr>
        <p:spPr bwMode="auto">
          <a:xfrm>
            <a:off x="4876800" y="236798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7" name="Line 33"/>
          <p:cNvSpPr>
            <a:spLocks noChangeShapeType="1"/>
          </p:cNvSpPr>
          <p:nvPr/>
        </p:nvSpPr>
        <p:spPr bwMode="auto">
          <a:xfrm>
            <a:off x="6096000" y="236798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8" name="Line 34"/>
          <p:cNvSpPr>
            <a:spLocks noChangeShapeType="1"/>
          </p:cNvSpPr>
          <p:nvPr/>
        </p:nvSpPr>
        <p:spPr bwMode="auto">
          <a:xfrm flipH="1">
            <a:off x="6623219" y="2367988"/>
            <a:ext cx="6181" cy="2040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9" name="Line 35"/>
          <p:cNvSpPr>
            <a:spLocks noChangeShapeType="1"/>
          </p:cNvSpPr>
          <p:nvPr/>
        </p:nvSpPr>
        <p:spPr bwMode="auto">
          <a:xfrm>
            <a:off x="7620000" y="145358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0" name="Line 36"/>
          <p:cNvSpPr>
            <a:spLocks noChangeShapeType="1"/>
          </p:cNvSpPr>
          <p:nvPr/>
        </p:nvSpPr>
        <p:spPr bwMode="auto">
          <a:xfrm flipH="1">
            <a:off x="7994818" y="1453588"/>
            <a:ext cx="6180" cy="11184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1" name="Group 10"/>
          <p:cNvGrpSpPr/>
          <p:nvPr/>
        </p:nvGrpSpPr>
        <p:grpSpPr>
          <a:xfrm>
            <a:off x="2514600" y="3053788"/>
            <a:ext cx="1295400" cy="2590800"/>
            <a:chOff x="2514600" y="3276600"/>
            <a:chExt cx="1295400" cy="2590800"/>
          </a:xfrm>
        </p:grpSpPr>
        <p:sp>
          <p:nvSpPr>
            <p:cNvPr id="825366" name="Rectangle 22"/>
            <p:cNvSpPr>
              <a:spLocks noChangeArrowheads="1"/>
            </p:cNvSpPr>
            <p:nvPr/>
          </p:nvSpPr>
          <p:spPr bwMode="auto">
            <a:xfrm>
              <a:off x="2514600" y="3276600"/>
              <a:ext cx="1295400" cy="2590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81" name="Text Box 37"/>
            <p:cNvSpPr txBox="1">
              <a:spLocks noChangeArrowheads="1"/>
            </p:cNvSpPr>
            <p:nvPr/>
          </p:nvSpPr>
          <p:spPr bwMode="auto">
            <a:xfrm>
              <a:off x="2971800" y="3505200"/>
              <a:ext cx="228600" cy="849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</a:t>
              </a:r>
            </a:p>
          </p:txBody>
        </p:sp>
        <p:sp>
          <p:nvSpPr>
            <p:cNvPr id="825382" name="Text Box 38"/>
            <p:cNvSpPr txBox="1">
              <a:spLocks noChangeArrowheads="1"/>
            </p:cNvSpPr>
            <p:nvPr/>
          </p:nvSpPr>
          <p:spPr bwMode="auto">
            <a:xfrm>
              <a:off x="2971800" y="4800600"/>
              <a:ext cx="228600" cy="849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r>
                <a:rPr lang="en-US" altLang="en-US" sz="1600" b="1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14600" y="2057400"/>
            <a:ext cx="2595352" cy="1295400"/>
            <a:chOff x="2510048" y="2286000"/>
            <a:chExt cx="2595352" cy="1295400"/>
          </a:xfrm>
        </p:grpSpPr>
        <p:sp>
          <p:nvSpPr>
            <p:cNvPr id="825367" name="Rectangle 23"/>
            <p:cNvSpPr>
              <a:spLocks noChangeArrowheads="1"/>
            </p:cNvSpPr>
            <p:nvPr/>
          </p:nvSpPr>
          <p:spPr bwMode="auto">
            <a:xfrm>
              <a:off x="2510048" y="3276600"/>
              <a:ext cx="12954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83" name="Line 39"/>
            <p:cNvSpPr>
              <a:spLocks noChangeShapeType="1"/>
            </p:cNvSpPr>
            <p:nvPr/>
          </p:nvSpPr>
          <p:spPr bwMode="auto">
            <a:xfrm flipV="1">
              <a:off x="3819186" y="2286000"/>
              <a:ext cx="1286214" cy="108945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514600" y="3457442"/>
            <a:ext cx="2577061" cy="1196546"/>
            <a:chOff x="2514600" y="3680254"/>
            <a:chExt cx="2577061" cy="1196546"/>
          </a:xfrm>
        </p:grpSpPr>
        <p:sp>
          <p:nvSpPr>
            <p:cNvPr id="825368" name="Rectangle 24"/>
            <p:cNvSpPr>
              <a:spLocks noChangeArrowheads="1"/>
            </p:cNvSpPr>
            <p:nvPr/>
          </p:nvSpPr>
          <p:spPr bwMode="auto">
            <a:xfrm>
              <a:off x="2514600" y="4572000"/>
              <a:ext cx="12954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84" name="Line 40"/>
            <p:cNvSpPr>
              <a:spLocks noChangeShapeType="1"/>
            </p:cNvSpPr>
            <p:nvPr/>
          </p:nvSpPr>
          <p:spPr bwMode="auto">
            <a:xfrm flipV="1">
              <a:off x="3810000" y="3680254"/>
              <a:ext cx="1281661" cy="104414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25369" name="Rectangle 25"/>
          <p:cNvSpPr>
            <a:spLocks noChangeArrowheads="1"/>
          </p:cNvSpPr>
          <p:nvPr/>
        </p:nvSpPr>
        <p:spPr bwMode="auto">
          <a:xfrm>
            <a:off x="2514600" y="5339788"/>
            <a:ext cx="1295400" cy="304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86" name="Text Box 42"/>
          <p:cNvSpPr txBox="1">
            <a:spLocks noChangeArrowheads="1"/>
          </p:cNvSpPr>
          <p:nvPr/>
        </p:nvSpPr>
        <p:spPr bwMode="auto">
          <a:xfrm>
            <a:off x="2282995" y="2648267"/>
            <a:ext cx="1912691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page directory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099218" y="2085842"/>
            <a:ext cx="996781" cy="1066800"/>
            <a:chOff x="5099218" y="2308654"/>
            <a:chExt cx="996781" cy="1066800"/>
          </a:xfrm>
        </p:grpSpPr>
        <p:sp>
          <p:nvSpPr>
            <p:cNvPr id="825359" name="Rectangle 15"/>
            <p:cNvSpPr>
              <a:spLocks noChangeArrowheads="1"/>
            </p:cNvSpPr>
            <p:nvPr/>
          </p:nvSpPr>
          <p:spPr bwMode="auto">
            <a:xfrm>
              <a:off x="5099218" y="2308654"/>
              <a:ext cx="996781" cy="1066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5" name="Rectangle 19"/>
            <p:cNvSpPr>
              <a:spLocks noChangeArrowheads="1"/>
            </p:cNvSpPr>
            <p:nvPr/>
          </p:nvSpPr>
          <p:spPr bwMode="auto">
            <a:xfrm>
              <a:off x="5102225" y="2514600"/>
              <a:ext cx="9906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52" name="Line 41"/>
          <p:cNvSpPr>
            <a:spLocks noChangeShapeType="1"/>
          </p:cNvSpPr>
          <p:nvPr/>
        </p:nvSpPr>
        <p:spPr bwMode="auto">
          <a:xfrm flipV="1">
            <a:off x="3810000" y="4905242"/>
            <a:ext cx="1281661" cy="586946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3" name="Group 12"/>
          <p:cNvGrpSpPr/>
          <p:nvPr/>
        </p:nvGrpSpPr>
        <p:grpSpPr>
          <a:xfrm>
            <a:off x="2895600" y="1301188"/>
            <a:ext cx="3581400" cy="381000"/>
            <a:chOff x="2895600" y="1524000"/>
            <a:chExt cx="3581400" cy="381000"/>
          </a:xfrm>
        </p:grpSpPr>
        <p:sp>
          <p:nvSpPr>
            <p:cNvPr id="825347" name="Rectangle 3"/>
            <p:cNvSpPr>
              <a:spLocks noChangeArrowheads="1"/>
            </p:cNvSpPr>
            <p:nvPr/>
          </p:nvSpPr>
          <p:spPr bwMode="auto">
            <a:xfrm>
              <a:off x="2895600" y="1524000"/>
              <a:ext cx="1676400" cy="381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</a:t>
              </a:r>
              <a:r>
                <a:rPr lang="en-US" altLang="en-US" sz="1600" b="1" dirty="0" err="1">
                  <a:latin typeface="Courier New" pitchFamily="49" charset="0"/>
                </a:rPr>
                <a:t>dir</a:t>
              </a:r>
              <a:r>
                <a:rPr lang="en-US" altLang="en-US" sz="1600" b="1" dirty="0">
                  <a:latin typeface="Courier New" pitchFamily="49" charset="0"/>
                </a:rPr>
                <a:t> #</a:t>
              </a:r>
            </a:p>
          </p:txBody>
        </p:sp>
        <p:sp>
          <p:nvSpPr>
            <p:cNvPr id="54" name="Rectangle 5"/>
            <p:cNvSpPr>
              <a:spLocks noChangeArrowheads="1"/>
            </p:cNvSpPr>
            <p:nvPr/>
          </p:nvSpPr>
          <p:spPr bwMode="auto">
            <a:xfrm>
              <a:off x="4572000" y="1524000"/>
              <a:ext cx="19050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#</a:t>
              </a:r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2" name="Isosceles Triangle 1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4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2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25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25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2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54" grpId="0" animBg="1"/>
      <p:bldP spid="825355" grpId="0" animBg="1"/>
      <p:bldP spid="825358" grpId="0"/>
      <p:bldP spid="825360" grpId="0" animBg="1"/>
      <p:bldP spid="825360" grpId="1" animBg="1"/>
      <p:bldP spid="825361" grpId="0" animBg="1"/>
      <p:bldP spid="825362" grpId="0"/>
      <p:bldP spid="825374" grpId="0" animBg="1"/>
      <p:bldP spid="825375" grpId="0" animBg="1"/>
      <p:bldP spid="825377" grpId="0" animBg="1"/>
      <p:bldP spid="825378" grpId="0" animBg="1"/>
      <p:bldP spid="825379" grpId="0" animBg="1"/>
      <p:bldP spid="825380" grpId="0" animBg="1"/>
      <p:bldP spid="825369" grpId="0" animBg="1"/>
      <p:bldP spid="825386" grpId="0"/>
      <p:bldP spid="52" grpId="0" animBg="1"/>
      <p:bldP spid="52" grpId="1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2-Level Paging: </a:t>
            </a:r>
            <a:r>
              <a:rPr lang="en-US" altLang="en-US" sz="3800" b="1" dirty="0">
                <a:solidFill>
                  <a:srgbClr val="006600"/>
                </a:solidFill>
              </a:rPr>
              <a:t>Advantages</a:t>
            </a:r>
          </a:p>
        </p:txBody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958595"/>
            <a:ext cx="8229600" cy="1373470"/>
          </a:xfrm>
        </p:spPr>
        <p:txBody>
          <a:bodyPr/>
          <a:lstStyle/>
          <a:p>
            <a:r>
              <a:rPr lang="en-US" altLang="en-US" sz="2600" dirty="0"/>
              <a:t>Using the same setting as the previous example:</a:t>
            </a:r>
          </a:p>
          <a:p>
            <a:pPr lvl="1"/>
            <a:r>
              <a:rPr lang="en-US" altLang="en-US" sz="2200" dirty="0"/>
              <a:t>Assume only </a:t>
            </a:r>
            <a:r>
              <a:rPr lang="en-US" altLang="en-US" sz="2200" b="1" dirty="0">
                <a:latin typeface="Courier New" pitchFamily="49" charset="0"/>
              </a:rPr>
              <a:t>3</a:t>
            </a:r>
            <a:r>
              <a:rPr lang="en-US" altLang="en-US" sz="2200" dirty="0"/>
              <a:t> page tables is in used</a:t>
            </a:r>
          </a:p>
          <a:p>
            <a:pPr lvl="1"/>
            <a:r>
              <a:rPr lang="en-US" altLang="en-US" sz="2200" dirty="0"/>
              <a:t>Overhead = 1 page directory + 3 smaller page tables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4114800" y="2819400"/>
            <a:ext cx="1143000" cy="1066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SG" sz="1600" b="1" dirty="0"/>
              <a:t>2</a:t>
            </a:r>
            <a:r>
              <a:rPr lang="en-SG" sz="1600" b="1" baseline="30000" dirty="0"/>
              <a:t>11 </a:t>
            </a:r>
            <a:r>
              <a:rPr lang="en-SG" sz="1600" b="1" dirty="0"/>
              <a:t>entries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6629400" y="4211456"/>
            <a:ext cx="1066800" cy="1066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/>
            <a:r>
              <a:rPr lang="en-SG" sz="1600" b="1" dirty="0">
                <a:solidFill>
                  <a:schemeClr val="bg1"/>
                </a:solidFill>
              </a:rPr>
              <a:t>2</a:t>
            </a:r>
            <a:r>
              <a:rPr lang="en-SG" sz="1600" b="1" baseline="30000" dirty="0">
                <a:solidFill>
                  <a:schemeClr val="bg1"/>
                </a:solidFill>
              </a:rPr>
              <a:t>11 </a:t>
            </a:r>
            <a:r>
              <a:rPr lang="en-SG" sz="1600" b="1" dirty="0">
                <a:solidFill>
                  <a:schemeClr val="bg1"/>
                </a:solidFill>
              </a:rPr>
              <a:t>entries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5388428" y="3423557"/>
            <a:ext cx="1088572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/>
            <a:r>
              <a:rPr lang="en-SG" sz="1600" b="1" dirty="0">
                <a:solidFill>
                  <a:prstClr val="black"/>
                </a:solidFill>
              </a:rPr>
              <a:t>2</a:t>
            </a:r>
            <a:r>
              <a:rPr lang="en-SG" sz="1600" b="1" baseline="30000" dirty="0">
                <a:solidFill>
                  <a:prstClr val="black"/>
                </a:solidFill>
              </a:rPr>
              <a:t>11 </a:t>
            </a:r>
            <a:r>
              <a:rPr lang="en-SG" sz="1600" b="1" dirty="0">
                <a:solidFill>
                  <a:prstClr val="black"/>
                </a:solidFill>
              </a:rPr>
              <a:t>entries</a:t>
            </a:r>
          </a:p>
        </p:txBody>
      </p:sp>
      <p:sp>
        <p:nvSpPr>
          <p:cNvPr id="13" name="Line 39"/>
          <p:cNvSpPr>
            <a:spLocks noChangeShapeType="1"/>
          </p:cNvSpPr>
          <p:nvPr/>
        </p:nvSpPr>
        <p:spPr bwMode="auto">
          <a:xfrm flipV="1">
            <a:off x="3483428" y="3368674"/>
            <a:ext cx="609600" cy="51752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" name="Line 40"/>
          <p:cNvSpPr>
            <a:spLocks noChangeShapeType="1"/>
          </p:cNvSpPr>
          <p:nvPr/>
        </p:nvSpPr>
        <p:spPr bwMode="auto">
          <a:xfrm flipV="1">
            <a:off x="3483427" y="3962500"/>
            <a:ext cx="1905001" cy="2284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" name="Line 41"/>
          <p:cNvSpPr>
            <a:spLocks noChangeShapeType="1"/>
          </p:cNvSpPr>
          <p:nvPr/>
        </p:nvSpPr>
        <p:spPr bwMode="auto">
          <a:xfrm>
            <a:off x="3483428" y="4419600"/>
            <a:ext cx="3145972" cy="35978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2188028" y="3673474"/>
            <a:ext cx="1295400" cy="1761866"/>
            <a:chOff x="2188028" y="3673474"/>
            <a:chExt cx="1295400" cy="1761866"/>
          </a:xfrm>
        </p:grpSpPr>
        <p:sp>
          <p:nvSpPr>
            <p:cNvPr id="6" name="Rectangle 22"/>
            <p:cNvSpPr>
              <a:spLocks noChangeArrowheads="1"/>
            </p:cNvSpPr>
            <p:nvPr/>
          </p:nvSpPr>
          <p:spPr bwMode="auto">
            <a:xfrm>
              <a:off x="2188028" y="3673474"/>
              <a:ext cx="1295400" cy="175718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" name="Rectangle 23"/>
            <p:cNvSpPr>
              <a:spLocks noChangeArrowheads="1"/>
            </p:cNvSpPr>
            <p:nvPr/>
          </p:nvSpPr>
          <p:spPr bwMode="auto">
            <a:xfrm>
              <a:off x="2188028" y="3673474"/>
              <a:ext cx="12954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2188028" y="3978274"/>
              <a:ext cx="12954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" name="Rectangle 25"/>
            <p:cNvSpPr>
              <a:spLocks noChangeArrowheads="1"/>
            </p:cNvSpPr>
            <p:nvPr/>
          </p:nvSpPr>
          <p:spPr bwMode="auto">
            <a:xfrm>
              <a:off x="2188028" y="4292441"/>
              <a:ext cx="1295400" cy="3048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6" name="Rectangle 25"/>
            <p:cNvSpPr>
              <a:spLocks noChangeArrowheads="1"/>
            </p:cNvSpPr>
            <p:nvPr/>
          </p:nvSpPr>
          <p:spPr bwMode="auto">
            <a:xfrm>
              <a:off x="2188028" y="4592456"/>
              <a:ext cx="1295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SG" dirty="0"/>
                <a:t> Empty</a:t>
              </a:r>
            </a:p>
          </p:txBody>
        </p:sp>
        <p:sp>
          <p:nvSpPr>
            <p:cNvPr id="18" name="Rectangle 25"/>
            <p:cNvSpPr>
              <a:spLocks noChangeArrowheads="1"/>
            </p:cNvSpPr>
            <p:nvPr/>
          </p:nvSpPr>
          <p:spPr bwMode="auto">
            <a:xfrm>
              <a:off x="2188028" y="5130540"/>
              <a:ext cx="1295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SG" dirty="0"/>
                <a:t> Empty</a:t>
              </a:r>
            </a:p>
          </p:txBody>
        </p:sp>
      </p:grp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128449" y="4292442"/>
            <a:ext cx="1859282" cy="11354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sz="1600" dirty="0"/>
              <a:t> </a:t>
            </a:r>
            <a:r>
              <a:rPr lang="en-SG" sz="1600" b="1" dirty="0"/>
              <a:t>Page Directory</a:t>
            </a:r>
            <a:br>
              <a:rPr lang="en-SG" sz="1600" b="1" dirty="0"/>
            </a:br>
            <a:r>
              <a:rPr lang="en-SG" sz="1600" b="1" dirty="0"/>
              <a:t> </a:t>
            </a:r>
            <a:r>
              <a:rPr lang="en-SG" sz="1600" dirty="0"/>
              <a:t>2</a:t>
            </a:r>
            <a:r>
              <a:rPr lang="en-SG" sz="1600" baseline="30000" dirty="0"/>
              <a:t>20</a:t>
            </a:r>
            <a:r>
              <a:rPr lang="en-SG" sz="1600" dirty="0"/>
              <a:t> / 2</a:t>
            </a:r>
            <a:r>
              <a:rPr lang="en-SG" sz="1600" baseline="30000" dirty="0"/>
              <a:t>11</a:t>
            </a:r>
            <a:r>
              <a:rPr lang="en-SG" sz="1600" dirty="0"/>
              <a:t> = 2</a:t>
            </a:r>
            <a:r>
              <a:rPr lang="en-SG" sz="1600" baseline="30000" dirty="0"/>
              <a:t>9 </a:t>
            </a:r>
            <a:r>
              <a:rPr lang="en-SG" sz="1600" dirty="0"/>
              <a:t>entries</a:t>
            </a:r>
          </a:p>
          <a:p>
            <a:r>
              <a:rPr lang="en-SG" sz="1600" dirty="0"/>
              <a:t>Overhead </a:t>
            </a:r>
          </a:p>
          <a:p>
            <a:r>
              <a:rPr lang="en-SG" sz="1600" dirty="0"/>
              <a:t> = 2</a:t>
            </a:r>
            <a:r>
              <a:rPr lang="en-SG" sz="1600" baseline="30000" dirty="0"/>
              <a:t>9</a:t>
            </a:r>
            <a:r>
              <a:rPr lang="en-SG" sz="1600" dirty="0"/>
              <a:t> x 2  = </a:t>
            </a:r>
            <a:r>
              <a:rPr lang="en-S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1KiB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6760026" y="2937453"/>
            <a:ext cx="2231574" cy="11354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sz="1600" dirty="0"/>
              <a:t> </a:t>
            </a:r>
            <a:r>
              <a:rPr lang="en-SG" sz="1600" b="1" dirty="0"/>
              <a:t>Page Tables</a:t>
            </a:r>
          </a:p>
          <a:p>
            <a:pPr algn="ctr"/>
            <a:endParaRPr lang="en-SG" sz="1600" dirty="0"/>
          </a:p>
          <a:p>
            <a:r>
              <a:rPr lang="en-SG" sz="1600" dirty="0"/>
              <a:t>Overhead </a:t>
            </a:r>
          </a:p>
          <a:p>
            <a:r>
              <a:rPr lang="en-SG" sz="1600" dirty="0"/>
              <a:t> = 3 x (2</a:t>
            </a:r>
            <a:r>
              <a:rPr lang="en-SG" sz="1600" baseline="30000" dirty="0"/>
              <a:t>11</a:t>
            </a:r>
            <a:r>
              <a:rPr lang="en-SG" sz="1600" dirty="0"/>
              <a:t> x 2) = </a:t>
            </a:r>
            <a:r>
              <a:rPr lang="en-S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12KiB</a:t>
            </a: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3657600" y="5581849"/>
            <a:ext cx="2497184" cy="6201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dirty="0"/>
              <a:t> </a:t>
            </a:r>
            <a:r>
              <a:rPr lang="en-SG" b="1" dirty="0"/>
              <a:t>Total Overhead </a:t>
            </a:r>
          </a:p>
          <a:p>
            <a:r>
              <a:rPr lang="en-SG" dirty="0"/>
              <a:t> = 1KB + 12KB =</a:t>
            </a:r>
            <a:r>
              <a:rPr lang="en-SG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13KiB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580978" y="957145"/>
            <a:ext cx="8229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600" kern="0" dirty="0"/>
              <a:t>We can have empty entries in the page directory 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kern="0" dirty="0"/>
              <a:t>The corresponding page tables need not be allocated!</a:t>
            </a:r>
          </a:p>
          <a:p>
            <a:pPr marL="344487" lvl="1" indent="0">
              <a:buFont typeface="Wingdings" pitchFamily="2" charset="2"/>
              <a:buNone/>
            </a:pPr>
            <a:endParaRPr lang="en-US" altLang="en-US" sz="2200" kern="0" dirty="0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304800" y="2361577"/>
            <a:ext cx="2234724" cy="9592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solid"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SG" sz="1600" b="1" dirty="0"/>
              <a:t>Virtual Address: </a:t>
            </a:r>
            <a:r>
              <a:rPr lang="en-SG" sz="1600" b="1" dirty="0">
                <a:solidFill>
                  <a:srgbClr val="C00000"/>
                </a:solidFill>
              </a:rPr>
              <a:t>32bit</a:t>
            </a:r>
          </a:p>
          <a:p>
            <a:r>
              <a:rPr lang="en-SG" sz="1600" b="1" dirty="0"/>
              <a:t>Page Size: </a:t>
            </a:r>
            <a:r>
              <a:rPr lang="en-SG" sz="1600" b="1" dirty="0">
                <a:solidFill>
                  <a:srgbClr val="C00000"/>
                </a:solidFill>
              </a:rPr>
              <a:t>4KiB (2</a:t>
            </a:r>
            <a:r>
              <a:rPr lang="en-SG" sz="1600" b="1" baseline="30000" dirty="0">
                <a:solidFill>
                  <a:srgbClr val="C00000"/>
                </a:solidFill>
              </a:rPr>
              <a:t>12</a:t>
            </a:r>
            <a:r>
              <a:rPr lang="en-SG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SG" sz="1600" b="1" dirty="0"/>
              <a:t>PTE Size = </a:t>
            </a:r>
            <a:r>
              <a:rPr lang="en-SG" sz="1600" b="1" dirty="0">
                <a:solidFill>
                  <a:srgbClr val="C00000"/>
                </a:solidFill>
              </a:rPr>
              <a:t>2 bytes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30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1" grpId="0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Inverted Page Table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Page table is a per-process information</a:t>
            </a:r>
          </a:p>
          <a:p>
            <a:pPr lvl="1"/>
            <a:r>
              <a:rPr lang="en-US" altLang="en-US" sz="2200" dirty="0"/>
              <a:t>With M processes in memory, there are M independent page tables</a:t>
            </a:r>
          </a:p>
          <a:p>
            <a:r>
              <a:rPr lang="en-US" altLang="en-US" sz="2600" dirty="0"/>
              <a:t>Observation:</a:t>
            </a:r>
          </a:p>
          <a:p>
            <a:pPr lvl="1"/>
            <a:r>
              <a:rPr lang="en-US" altLang="en-US" sz="2200" dirty="0"/>
              <a:t>Only N physical memory frames can be occupied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>
                <a:sym typeface="Wingdings" pitchFamily="2" charset="2"/>
              </a:rPr>
              <a:t>Out of the M page tables, only N entries is valid 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/>
              <a:t>Huge waste: N &lt;&lt; Overhead of M page tables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dirty="0"/>
              <a:t>Idea:</a:t>
            </a:r>
          </a:p>
          <a:p>
            <a:pPr lvl="1"/>
            <a:r>
              <a:rPr lang="en-US" altLang="en-US" sz="2200" dirty="0">
                <a:sym typeface="Wingdings" pitchFamily="2" charset="2"/>
              </a:rPr>
              <a:t>Keep a </a:t>
            </a:r>
            <a:r>
              <a:rPr lang="en-US" altLang="en-US" sz="2200" b="1" dirty="0">
                <a:sym typeface="Wingdings" pitchFamily="2" charset="2"/>
              </a:rPr>
              <a:t>single </a:t>
            </a:r>
            <a:r>
              <a:rPr lang="en-US" altLang="en-US" sz="2200" dirty="0">
                <a:sym typeface="Wingdings" pitchFamily="2" charset="2"/>
              </a:rPr>
              <a:t>mapping of physical frame to &lt;</a:t>
            </a:r>
            <a:r>
              <a:rPr lang="en-US" altLang="en-US" sz="2200" dirty="0" err="1">
                <a:sym typeface="Wingdings" pitchFamily="2" charset="2"/>
              </a:rPr>
              <a:t>pid</a:t>
            </a:r>
            <a:r>
              <a:rPr lang="en-US" altLang="en-US" sz="2200" dirty="0">
                <a:sym typeface="Wingdings" pitchFamily="2" charset="2"/>
              </a:rPr>
              <a:t>, page#&gt; </a:t>
            </a:r>
          </a:p>
          <a:p>
            <a:pPr lvl="2"/>
            <a:r>
              <a:rPr lang="en-US" altLang="en-US" sz="2000" dirty="0" err="1"/>
              <a:t>pid</a:t>
            </a:r>
            <a:r>
              <a:rPr lang="en-US" altLang="en-US" sz="2000" dirty="0"/>
              <a:t> = process id , page# = page number </a:t>
            </a:r>
          </a:p>
          <a:p>
            <a:pPr lvl="2"/>
            <a:r>
              <a:rPr lang="en-US" altLang="en-US" sz="2000" dirty="0"/>
              <a:t>page# is not unique among processes</a:t>
            </a:r>
          </a:p>
          <a:p>
            <a:pPr lvl="2"/>
            <a:r>
              <a:rPr lang="en-US" altLang="en-US" sz="2000" dirty="0" err="1"/>
              <a:t>pid</a:t>
            </a:r>
            <a:r>
              <a:rPr lang="en-US" altLang="en-US" sz="2000" dirty="0"/>
              <a:t> + page# can uniquely identify a memory page</a:t>
            </a:r>
          </a:p>
          <a:p>
            <a:pPr lvl="2"/>
            <a:endParaRPr lang="en-US" alt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008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Inverted Page Table: Basic Idea (cont)</a:t>
            </a:r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r>
              <a:rPr lang="en-US" altLang="en-US" dirty="0"/>
              <a:t>In normal page table, the entries are ordered by page number</a:t>
            </a:r>
          </a:p>
          <a:p>
            <a:pPr lvl="1"/>
            <a:r>
              <a:rPr lang="en-US" altLang="en-US" dirty="0"/>
              <a:t>To lookup page X, simply access the </a:t>
            </a:r>
            <a:r>
              <a:rPr lang="en-US" altLang="en-US" dirty="0" err="1"/>
              <a:t>X</a:t>
            </a:r>
            <a:r>
              <a:rPr lang="en-US" altLang="en-US" baseline="30000" dirty="0" err="1"/>
              <a:t>th</a:t>
            </a:r>
            <a:r>
              <a:rPr lang="en-US" altLang="en-US" dirty="0"/>
              <a:t> entry</a:t>
            </a:r>
          </a:p>
          <a:p>
            <a:r>
              <a:rPr lang="en-US" altLang="en-US" dirty="0"/>
              <a:t>In inverted page table, the entries are ordered by frame number</a:t>
            </a:r>
          </a:p>
          <a:p>
            <a:pPr lvl="1"/>
            <a:r>
              <a:rPr lang="en-US" altLang="en-US" dirty="0"/>
              <a:t>To lookup page X, need to search the whole table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Advantage:</a:t>
            </a:r>
          </a:p>
          <a:p>
            <a:pPr lvl="1"/>
            <a:r>
              <a:rPr lang="en-US" altLang="en-US" dirty="0"/>
              <a:t>Huge saving: One table for all processes</a:t>
            </a:r>
          </a:p>
          <a:p>
            <a:r>
              <a:rPr lang="en-US" altLang="en-US" b="1" dirty="0">
                <a:solidFill>
                  <a:srgbClr val="C00000"/>
                </a:solidFill>
              </a:rPr>
              <a:t>Disadvantage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Slow translation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795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Table</a:t>
            </a:r>
            <a:r>
              <a:rPr lang="en-US" altLang="en-US" sz="3600" dirty="0"/>
              <a:t>: Illustration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386177" y="1643470"/>
            <a:ext cx="990600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410097" y="2128430"/>
            <a:ext cx="1066800" cy="304800"/>
            <a:chOff x="2410097" y="2128430"/>
            <a:chExt cx="1066800" cy="304800"/>
          </a:xfrm>
        </p:grpSpPr>
        <p:sp>
          <p:nvSpPr>
            <p:cNvPr id="9" name="Rectangle 8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cxnSp>
        <p:nvCxnSpPr>
          <p:cNvPr id="43" name="Elbow Connector 42"/>
          <p:cNvCxnSpPr>
            <a:stCxn id="10" idx="0"/>
            <a:endCxn id="42" idx="0"/>
          </p:cNvCxnSpPr>
          <p:nvPr/>
        </p:nvCxnSpPr>
        <p:spPr>
          <a:xfrm rot="5400000" flipH="1" flipV="1">
            <a:off x="4396740" y="924471"/>
            <a:ext cx="17417" cy="2390503"/>
          </a:xfrm>
          <a:prstGeom prst="bentConnector3">
            <a:avLst>
              <a:gd name="adj1" fmla="val 14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10400" y="1355271"/>
            <a:ext cx="1524000" cy="488795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800600" y="2111013"/>
            <a:ext cx="1452098" cy="304800"/>
            <a:chOff x="5529999" y="2111013"/>
            <a:chExt cx="1452098" cy="304800"/>
          </a:xfrm>
        </p:grpSpPr>
        <p:sp>
          <p:nvSpPr>
            <p:cNvPr id="40" name="Rectangle 39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i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Elbow Connector 63"/>
          <p:cNvCxnSpPr>
            <a:stCxn id="63" idx="3"/>
            <a:endCxn id="40" idx="2"/>
          </p:cNvCxnSpPr>
          <p:nvPr/>
        </p:nvCxnSpPr>
        <p:spPr>
          <a:xfrm flipV="1">
            <a:off x="4811051" y="2415813"/>
            <a:ext cx="256249" cy="2793736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48" idx="2"/>
          </p:cNvCxnSpPr>
          <p:nvPr/>
        </p:nvCxnSpPr>
        <p:spPr>
          <a:xfrm rot="16200000" flipH="1">
            <a:off x="1343445" y="3194015"/>
            <a:ext cx="2770141" cy="1248569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010400" y="1366430"/>
            <a:ext cx="1525252" cy="4876800"/>
            <a:chOff x="7009774" y="1366430"/>
            <a:chExt cx="1525252" cy="4876800"/>
          </a:xfrm>
        </p:grpSpPr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7009774" y="13664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0</a:t>
              </a: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7009774" y="19760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1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7010400" y="25856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2</a:t>
              </a:r>
            </a:p>
          </p:txBody>
        </p:sp>
        <p:sp>
          <p:nvSpPr>
            <p:cNvPr id="41" name="Rectangle 15"/>
            <p:cNvSpPr>
              <a:spLocks noChangeArrowheads="1"/>
            </p:cNvSpPr>
            <p:nvPr/>
          </p:nvSpPr>
          <p:spPr bwMode="auto">
            <a:xfrm>
              <a:off x="7010400" y="31952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3</a:t>
              </a:r>
            </a:p>
          </p:txBody>
        </p:sp>
        <p:sp>
          <p:nvSpPr>
            <p:cNvPr id="44" name="Rectangle 14"/>
            <p:cNvSpPr>
              <a:spLocks noChangeArrowheads="1"/>
            </p:cNvSpPr>
            <p:nvPr/>
          </p:nvSpPr>
          <p:spPr bwMode="auto">
            <a:xfrm>
              <a:off x="7009774" y="38048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4</a:t>
              </a:r>
            </a:p>
          </p:txBody>
        </p:sp>
        <p:sp>
          <p:nvSpPr>
            <p:cNvPr id="45" name="Rectangle 15"/>
            <p:cNvSpPr>
              <a:spLocks noChangeArrowheads="1"/>
            </p:cNvSpPr>
            <p:nvPr/>
          </p:nvSpPr>
          <p:spPr bwMode="auto">
            <a:xfrm>
              <a:off x="7009774" y="44144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5</a:t>
              </a: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7010400" y="50240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6</a:t>
              </a:r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7010400" y="56336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376777" y="2128430"/>
            <a:ext cx="1033320" cy="304800"/>
            <a:chOff x="1376777" y="2128430"/>
            <a:chExt cx="1033320" cy="304800"/>
          </a:xfrm>
        </p:grpSpPr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376777" y="2253070"/>
              <a:ext cx="409303" cy="51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1798365" y="2128430"/>
              <a:ext cx="611732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PID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51964" y="4572000"/>
            <a:ext cx="2443818" cy="1816251"/>
            <a:chOff x="2951964" y="4572000"/>
            <a:chExt cx="2443818" cy="1816251"/>
          </a:xfrm>
        </p:grpSpPr>
        <p:grpSp>
          <p:nvGrpSpPr>
            <p:cNvPr id="21" name="Group 20"/>
            <p:cNvGrpSpPr/>
            <p:nvPr/>
          </p:nvGrpSpPr>
          <p:grpSpPr>
            <a:xfrm>
              <a:off x="2951964" y="4572000"/>
              <a:ext cx="2443818" cy="1816251"/>
              <a:chOff x="2951964" y="4572000"/>
              <a:chExt cx="2443818" cy="1816251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4242366" y="4572000"/>
                <a:ext cx="569179" cy="14282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951964" y="5936389"/>
                <a:ext cx="2443818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Inverted Page Table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4248365" y="5002720"/>
              <a:ext cx="562686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 flipH="1">
            <a:off x="2728515" y="4561342"/>
            <a:ext cx="395685" cy="465094"/>
            <a:chOff x="3851608" y="4552354"/>
            <a:chExt cx="619762" cy="304800"/>
          </a:xfrm>
        </p:grpSpPr>
        <p:sp>
          <p:nvSpPr>
            <p:cNvPr id="52" name="Left Brace 51"/>
            <p:cNvSpPr/>
            <p:nvPr/>
          </p:nvSpPr>
          <p:spPr>
            <a:xfrm flipH="1">
              <a:off x="3851608" y="4571727"/>
              <a:ext cx="212181" cy="2645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37970" y="4552354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i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52800" y="4572000"/>
            <a:ext cx="888940" cy="1428206"/>
            <a:chOff x="3352800" y="4572000"/>
            <a:chExt cx="888940" cy="1428206"/>
          </a:xfrm>
        </p:grpSpPr>
        <p:sp>
          <p:nvSpPr>
            <p:cNvPr id="55" name="Rectangle 54"/>
            <p:cNvSpPr/>
            <p:nvPr/>
          </p:nvSpPr>
          <p:spPr>
            <a:xfrm>
              <a:off x="3355323" y="4572000"/>
              <a:ext cx="886417" cy="142820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52800" y="4996542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PID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20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Page Replacement                   </a:t>
            </a:r>
            <a:br>
              <a:rPr lang="en-US" altLang="en-US" b="1" dirty="0">
                <a:solidFill>
                  <a:srgbClr val="660066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I kick out next?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778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Page Replacement Algorithms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700" dirty="0"/>
              <a:t>No free physical memory frame during a </a:t>
            </a:r>
            <a:r>
              <a:rPr lang="en-US" altLang="en-US" sz="2700" b="1" dirty="0"/>
              <a:t>page fault</a:t>
            </a:r>
            <a:r>
              <a:rPr lang="en-US" altLang="en-US" sz="27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700" dirty="0">
                <a:sym typeface="Wingdings" panose="05000000000000000000" pitchFamily="2" charset="2"/>
              </a:rPr>
              <a:t>   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b="1" dirty="0"/>
              <a:t>Need to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evict</a:t>
            </a:r>
            <a:r>
              <a:rPr lang="en-US" altLang="en-US" b="1" dirty="0"/>
              <a:t> (free) a memory page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a page is evicted: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Clean page</a:t>
            </a:r>
            <a:r>
              <a:rPr lang="en-US" altLang="en-US" dirty="0"/>
              <a:t>: not modified </a:t>
            </a:r>
            <a:r>
              <a:rPr lang="en-US" altLang="en-US" dirty="0">
                <a:sym typeface="Wingdings" pitchFamily="2" charset="2"/>
              </a:rPr>
              <a:t> no need to write back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Dirty page</a:t>
            </a:r>
            <a:r>
              <a:rPr lang="en-US" altLang="en-US" dirty="0"/>
              <a:t>: modified </a:t>
            </a:r>
            <a:r>
              <a:rPr lang="en-US" altLang="en-US" dirty="0">
                <a:sym typeface="Wingdings" pitchFamily="2" charset="2"/>
              </a:rPr>
              <a:t> need to write back 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700" dirty="0"/>
              <a:t>Algorithms to find a suitable replacement page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Optimum (OPT)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FIFO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Least Recently Used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Second-Chance (Clock)</a:t>
            </a:r>
          </a:p>
          <a:p>
            <a:pPr lvl="1">
              <a:lnSpc>
                <a:spcPct val="90000"/>
              </a:lnSpc>
            </a:pPr>
            <a:r>
              <a:rPr lang="en-US" altLang="en-US" sz="2300" dirty="0"/>
              <a:t>etc…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2" name="Isosceles Triangle 1"/>
          <p:cNvSpPr/>
          <p:nvPr/>
        </p:nvSpPr>
        <p:spPr>
          <a:xfrm>
            <a:off x="8537196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418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Modeling Memory References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 actual memory reference:</a:t>
            </a:r>
          </a:p>
          <a:p>
            <a:pPr lvl="1"/>
            <a:r>
              <a:rPr lang="en-US" altLang="en-US" dirty="0"/>
              <a:t>Logical Address = </a:t>
            </a:r>
            <a:r>
              <a:rPr lang="en-US" altLang="en-US" b="1" dirty="0">
                <a:solidFill>
                  <a:srgbClr val="660066"/>
                </a:solidFill>
              </a:rPr>
              <a:t>Page Number </a:t>
            </a:r>
            <a:r>
              <a:rPr lang="en-US" altLang="en-US" dirty="0"/>
              <a:t>+ </a:t>
            </a:r>
            <a:r>
              <a:rPr lang="en-US" altLang="en-US" b="1" dirty="0">
                <a:solidFill>
                  <a:srgbClr val="006600"/>
                </a:solidFill>
              </a:rPr>
              <a:t>Offset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However, to study the page replacement algorithm</a:t>
            </a:r>
          </a:p>
          <a:p>
            <a:pPr lvl="1"/>
            <a:r>
              <a:rPr lang="en-US" altLang="en-US" dirty="0"/>
              <a:t>Only </a:t>
            </a:r>
            <a:r>
              <a:rPr lang="en-US" altLang="en-US" b="1" dirty="0"/>
              <a:t>page number </a:t>
            </a:r>
            <a:r>
              <a:rPr lang="en-US" altLang="en-US" dirty="0"/>
              <a:t>is important </a:t>
            </a:r>
          </a:p>
          <a:p>
            <a:pPr marL="344487" lvl="1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To simplify discussion, m</a:t>
            </a:r>
            <a:r>
              <a:rPr lang="en-US" altLang="en-US" dirty="0"/>
              <a:t>emory references are often modeled as </a:t>
            </a:r>
            <a:r>
              <a:rPr lang="en-US" altLang="en-US" b="1" dirty="0"/>
              <a:t>memory reference strings</a:t>
            </a:r>
            <a:r>
              <a:rPr lang="en-US" altLang="en-US" dirty="0"/>
              <a:t>, i.e. a sequence of page numbers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62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712787"/>
          </a:xfrm>
        </p:spPr>
        <p:txBody>
          <a:bodyPr/>
          <a:lstStyle/>
          <a:p>
            <a:r>
              <a:rPr lang="en-US" altLang="en-US" sz="3800" dirty="0"/>
              <a:t>Page Replacement Algorithms: </a:t>
            </a:r>
            <a:r>
              <a:rPr lang="en-US" altLang="en-US" sz="3800" b="1" dirty="0">
                <a:solidFill>
                  <a:srgbClr val="006600"/>
                </a:solidFill>
              </a:rPr>
              <a:t>Evaluation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184525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itchFamily="49" charset="0"/>
              </a:rPr>
              <a:t>𝒑</a:t>
            </a:r>
            <a:r>
              <a:rPr lang="en-US" altLang="en-US" dirty="0"/>
              <a:t>             = probability of page fault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r>
              <a:rPr lang="en-US" altLang="en-US" dirty="0"/>
              <a:t>         = access time for memory resident page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= access time if page fault occurs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Since</a:t>
            </a:r>
            <a:r>
              <a:rPr lang="en-US" altLang="en-US" b="1" dirty="0">
                <a:latin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&gt;&gt;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reduce </a:t>
            </a:r>
            <a:r>
              <a:rPr lang="en-US" altLang="en-US" b="1" dirty="0">
                <a:latin typeface="Courier New" pitchFamily="49" charset="0"/>
              </a:rPr>
              <a:t>p</a:t>
            </a:r>
            <a:r>
              <a:rPr lang="en-US" altLang="en-US" dirty="0"/>
              <a:t> to keep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access</a:t>
            </a:r>
            <a:r>
              <a:rPr lang="en-US" altLang="en-US" dirty="0"/>
              <a:t> reasonable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See for yourself, try to find 𝒑 if: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r>
              <a:rPr lang="en-US" altLang="en-US" dirty="0"/>
              <a:t> = 100ns,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= 10ms,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access</a:t>
            </a:r>
            <a:r>
              <a:rPr lang="en-US" altLang="en-US" dirty="0"/>
              <a:t> = 120ns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71500" y="990600"/>
                <a:ext cx="8001000" cy="1219200"/>
              </a:xfrm>
              <a:prstGeom prst="roundRect">
                <a:avLst>
                  <a:gd name="adj" fmla="val 8325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90000"/>
                  </a:lnSpc>
                  <a:spcBef>
                    <a:spcPct val="20000"/>
                  </a:spcBef>
                  <a:buClr>
                    <a:srgbClr val="F07F09"/>
                  </a:buClr>
                  <a:buSzPct val="65000"/>
                </a:pPr>
                <a:r>
                  <a:rPr lang="en-US" altLang="en-US" sz="3000" b="1" kern="0" dirty="0">
                    <a:solidFill>
                      <a:prstClr val="black"/>
                    </a:solidFill>
                  </a:rPr>
                  <a:t>Memory access time</a:t>
                </a:r>
                <a:r>
                  <a:rPr lang="en-US" altLang="en-US" sz="3000" kern="0" dirty="0">
                    <a:solidFill>
                      <a:prstClr val="black"/>
                    </a:solidFill>
                  </a:rPr>
                  <a:t>:</a:t>
                </a:r>
                <a:br>
                  <a:rPr lang="en-US" altLang="en-US" sz="3000" kern="0" dirty="0">
                    <a:solidFill>
                      <a:prstClr val="black"/>
                    </a:solidFill>
                  </a:rPr>
                </a:br>
                <a:endParaRPr lang="en-US" altLang="en-US" sz="1200" kern="0" dirty="0">
                  <a:solidFill>
                    <a:prstClr val="black"/>
                  </a:solidFill>
                </a:endParaRPr>
              </a:p>
              <a:p>
                <a:pPr indent="-112713">
                  <a:lnSpc>
                    <a:spcPct val="90000"/>
                  </a:lnSpc>
                  <a:spcBef>
                    <a:spcPct val="20000"/>
                  </a:spcBef>
                  <a:buClr>
                    <a:srgbClr val="9F2936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𝒂𝒄𝒄𝒆𝒔𝒔</m:t>
                          </m:r>
                        </m:sub>
                      </m:sSub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𝒎𝒆𝒎</m:t>
                          </m:r>
                        </m:sub>
                      </m:sSub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𝒑𝒂𝒈𝒆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𝒇𝒂𝒖𝒍𝒕</m:t>
                          </m:r>
                        </m:sub>
                      </m:sSub>
                    </m:oMath>
                  </m:oMathPara>
                </a14:m>
                <a:endParaRPr lang="en-US" altLang="en-US" sz="3200" b="1" kern="0" baseline="-25000" dirty="0">
                  <a:solidFill>
                    <a:prstClr val="black"/>
                  </a:solidFill>
                  <a:latin typeface="Courier New" pitchFamily="49" charset="0"/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990600"/>
                <a:ext cx="8001000" cy="1219200"/>
              </a:xfrm>
              <a:prstGeom prst="roundRect">
                <a:avLst>
                  <a:gd name="adj" fmla="val 8325"/>
                </a:avLst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71500" y="5546725"/>
            <a:ext cx="800100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dirty="0">
                <a:solidFill>
                  <a:schemeClr val="tx1"/>
                </a:solidFill>
              </a:rPr>
              <a:t>Good algorithm should </a:t>
            </a:r>
            <a:r>
              <a:rPr lang="en-SG" sz="2800" b="1" dirty="0">
                <a:solidFill>
                  <a:srgbClr val="C00000"/>
                </a:solidFill>
              </a:rPr>
              <a:t>reduce the total number of </a:t>
            </a:r>
            <a:r>
              <a:rPr lang="en-SG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faults</a:t>
            </a:r>
          </a:p>
        </p:txBody>
      </p:sp>
    </p:spTree>
    <p:extLst>
      <p:ext uri="{BB962C8B-B14F-4D97-AF65-F5344CB8AC3E}">
        <p14:creationId xmlns:p14="http://schemas.microsoft.com/office/powerpoint/2010/main" val="11672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Optimal Page Replacement </a:t>
            </a:r>
            <a:r>
              <a:rPr lang="en-US" altLang="en-US" sz="3800" dirty="0"/>
              <a:t>(</a:t>
            </a:r>
            <a:r>
              <a:rPr lang="en-US" altLang="en-US" sz="3800" b="1" dirty="0">
                <a:solidFill>
                  <a:srgbClr val="C00000"/>
                </a:solidFill>
              </a:rPr>
              <a:t>OPT</a:t>
            </a:r>
            <a:r>
              <a:rPr lang="en-US" altLang="en-US" sz="3800" dirty="0"/>
              <a:t>) </a:t>
            </a:r>
          </a:p>
        </p:txBody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Replace the page that </a:t>
            </a:r>
            <a:r>
              <a:rPr lang="en-US" altLang="en-US" b="1" dirty="0"/>
              <a:t>will not </a:t>
            </a:r>
            <a:r>
              <a:rPr lang="en-US" altLang="en-US" dirty="0"/>
              <a:t>be used again for the </a:t>
            </a:r>
            <a:r>
              <a:rPr lang="en-US" altLang="en-US" b="1" dirty="0">
                <a:solidFill>
                  <a:srgbClr val="C00000"/>
                </a:solidFill>
              </a:rPr>
              <a:t>longest period of time</a:t>
            </a:r>
          </a:p>
          <a:p>
            <a:pPr lvl="1"/>
            <a:r>
              <a:rPr lang="en-US" altLang="en-US" b="1" dirty="0"/>
              <a:t>Guarantees </a:t>
            </a:r>
            <a:r>
              <a:rPr lang="en-US" altLang="en-US" dirty="0"/>
              <a:t>minimum number of page faults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Unfortunately, not realizable:</a:t>
            </a:r>
          </a:p>
          <a:p>
            <a:pPr lvl="1"/>
            <a:r>
              <a:rPr lang="en-US" altLang="en-US" dirty="0"/>
              <a:t>Need </a:t>
            </a:r>
            <a:r>
              <a:rPr lang="en-US" altLang="en-US" b="1" dirty="0"/>
              <a:t>future knowledge </a:t>
            </a:r>
            <a:r>
              <a:rPr lang="en-US" altLang="en-US" dirty="0"/>
              <a:t>of memory references</a:t>
            </a:r>
            <a:endParaRPr lang="en-US" altLang="en-US" b="1" dirty="0"/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Still useful:</a:t>
            </a:r>
          </a:p>
          <a:p>
            <a:pPr lvl="1"/>
            <a:r>
              <a:rPr lang="en-US" altLang="en-US" dirty="0"/>
              <a:t>As a base of comparison for other algorithms</a:t>
            </a:r>
          </a:p>
          <a:p>
            <a:pPr lvl="1"/>
            <a:r>
              <a:rPr lang="en-US" altLang="en-US" dirty="0"/>
              <a:t>The closer to OPT == better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6346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Group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496645"/>
              </p:ext>
            </p:extLst>
          </p:nvPr>
        </p:nvGraphicFramePr>
        <p:xfrm>
          <a:off x="685802" y="997624"/>
          <a:ext cx="7772397" cy="5547276"/>
        </p:xfrm>
        <a:graphic>
          <a:graphicData uri="http://schemas.openxmlformats.org/drawingml/2006/table">
            <a:tbl>
              <a:tblPr/>
              <a:tblGrid>
                <a:gridCol w="96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Next Use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OPT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C00000"/>
                </a:solidFill>
              </a:rPr>
              <a:t>6</a:t>
            </a:r>
            <a:r>
              <a:rPr lang="en-US" altLang="en-US" dirty="0"/>
              <a:t> Page Faults)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274081" y="1804251"/>
            <a:ext cx="1896006" cy="362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89157" y="1798572"/>
            <a:ext cx="3290454" cy="362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76600" y="3782565"/>
            <a:ext cx="1900191" cy="27716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72554" y="2175086"/>
            <a:ext cx="3290454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89156" y="2577048"/>
            <a:ext cx="3273851" cy="789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89156" y="3786069"/>
            <a:ext cx="3282898" cy="27628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28800" y="304800"/>
            <a:ext cx="3200400" cy="635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/>
          <p:cNvSpPr/>
          <p:nvPr/>
        </p:nvSpPr>
        <p:spPr>
          <a:xfrm>
            <a:off x="3276600" y="2161037"/>
            <a:ext cx="1891145" cy="408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1237" y="2570291"/>
            <a:ext cx="1915076" cy="805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76600" y="3385994"/>
            <a:ext cx="1893487" cy="4029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89158" y="3380315"/>
            <a:ext cx="3290454" cy="408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2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1" grpId="0" animBg="1"/>
      <p:bldP spid="13" grpId="0" animBg="1"/>
      <p:bldP spid="2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FIFO Page Replacement Algorithm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Memory pages are evicted based on their loading time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Evict the oldest memory page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r>
              <a:rPr lang="en-US" altLang="en-US" dirty="0"/>
              <a:t>Implementation:</a:t>
            </a:r>
          </a:p>
          <a:p>
            <a:pPr lvl="1"/>
            <a:r>
              <a:rPr lang="en-US" altLang="en-US" dirty="0"/>
              <a:t>OS maintain a queue of resident page numbers</a:t>
            </a:r>
          </a:p>
          <a:p>
            <a:pPr lvl="2"/>
            <a:r>
              <a:rPr lang="en-US" altLang="en-US" dirty="0"/>
              <a:t>Remove the first page in queue if replacement is needed</a:t>
            </a:r>
          </a:p>
          <a:p>
            <a:pPr lvl="2"/>
            <a:r>
              <a:rPr lang="en-US" altLang="en-US" dirty="0"/>
              <a:t>Update the queue during page fault trap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Simple to implement</a:t>
            </a:r>
          </a:p>
          <a:p>
            <a:pPr lvl="2"/>
            <a:r>
              <a:rPr lang="en-US" altLang="en-US" dirty="0"/>
              <a:t>No hardware support needed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169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938221"/>
              </p:ext>
            </p:extLst>
          </p:nvPr>
        </p:nvGraphicFramePr>
        <p:xfrm>
          <a:off x="609601" y="1027254"/>
          <a:ext cx="8001001" cy="5486316"/>
        </p:xfrm>
        <a:graphic>
          <a:graphicData uri="http://schemas.openxmlformats.org/drawingml/2006/table">
            <a:tbl>
              <a:tblPr/>
              <a:tblGrid>
                <a:gridCol w="99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6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69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Loaded at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4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FIFO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C00000"/>
                </a:solidFill>
              </a:rPr>
              <a:t>9</a:t>
            </a:r>
            <a:r>
              <a:rPr lang="en-US" altLang="en-US" dirty="0"/>
              <a:t> Page Faults)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195730" y="1763256"/>
            <a:ext cx="5486400" cy="362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00399" y="2139770"/>
            <a:ext cx="5470741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95730" y="2541731"/>
            <a:ext cx="5486400" cy="771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00400" y="3729180"/>
            <a:ext cx="5486400" cy="2784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981206" y="304800"/>
            <a:ext cx="3200400" cy="635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3203832" y="3327217"/>
            <a:ext cx="5470741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1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FIFO: </a:t>
            </a:r>
            <a:r>
              <a:rPr lang="en-US" altLang="en-US" sz="3800" b="1" dirty="0">
                <a:solidFill>
                  <a:srgbClr val="C00000"/>
                </a:solidFill>
              </a:rPr>
              <a:t>Problems</a:t>
            </a:r>
          </a:p>
        </p:txBody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If physical frame increases </a:t>
            </a:r>
          </a:p>
          <a:p>
            <a:pPr lvl="1"/>
            <a:r>
              <a:rPr lang="en-US" altLang="en-US" dirty="0"/>
              <a:t>The number page fault </a:t>
            </a:r>
            <a:r>
              <a:rPr lang="en-US" altLang="en-US" b="1" dirty="0"/>
              <a:t>should decrease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FIFO violates this simple intuition!</a:t>
            </a:r>
          </a:p>
          <a:p>
            <a:pPr lvl="1"/>
            <a:r>
              <a:rPr lang="en-US" altLang="en-US" dirty="0"/>
              <a:t>Use 3 / 4 frames to try: </a:t>
            </a:r>
            <a:r>
              <a:rPr lang="en-US" altLang="en-US" b="1" dirty="0">
                <a:cs typeface="Arial" charset="0"/>
              </a:rPr>
              <a:t>1 2 3 4 1 2 5 1 2 3 4 5</a:t>
            </a:r>
          </a:p>
          <a:p>
            <a:pPr lvl="1"/>
            <a:endParaRPr lang="en-US" altLang="en-US" b="1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Opposite behavior (↑ frames </a:t>
            </a:r>
            <a:r>
              <a:rPr lang="en-US" altLang="en-US" dirty="0">
                <a:cs typeface="Arial" charset="0"/>
                <a:sym typeface="Wingdings" pitchFamily="2" charset="2"/>
              </a:rPr>
              <a:t> </a:t>
            </a:r>
            <a:r>
              <a:rPr lang="en-US" altLang="en-US" dirty="0">
                <a:cs typeface="Arial" charset="0"/>
              </a:rPr>
              <a:t>↑</a:t>
            </a:r>
            <a:r>
              <a:rPr lang="en-US" altLang="en-US" dirty="0">
                <a:cs typeface="Arial" charset="0"/>
                <a:sym typeface="Wingdings" pitchFamily="2" charset="2"/>
              </a:rPr>
              <a:t> page faults)</a:t>
            </a:r>
          </a:p>
          <a:p>
            <a:pPr lvl="1"/>
            <a:r>
              <a:rPr lang="en-US" altLang="en-US" dirty="0">
                <a:cs typeface="Arial" charset="0"/>
              </a:rPr>
              <a:t>Known as </a:t>
            </a:r>
            <a:r>
              <a:rPr lang="en-US" altLang="en-US" b="1" dirty="0" err="1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Belady's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Anomaly</a:t>
            </a:r>
          </a:p>
          <a:p>
            <a:pPr lvl="1"/>
            <a:endParaRPr lang="en-US" altLang="en-US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Reason:</a:t>
            </a:r>
          </a:p>
          <a:p>
            <a:pPr lvl="1"/>
            <a:r>
              <a:rPr lang="en-US" altLang="en-US" dirty="0">
                <a:cs typeface="Arial" charset="0"/>
              </a:rPr>
              <a:t>FIFO does not exploit </a:t>
            </a:r>
            <a:r>
              <a:rPr lang="en-US" altLang="en-US" b="1" dirty="0">
                <a:cs typeface="Arial" charset="0"/>
              </a:rPr>
              <a:t>temporal locality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11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L</a:t>
            </a:r>
            <a:r>
              <a:rPr lang="en-US" altLang="en-US" sz="3600" dirty="0"/>
              <a:t>east </a:t>
            </a:r>
            <a:r>
              <a:rPr lang="en-US" altLang="en-US" sz="3600" b="1" dirty="0">
                <a:solidFill>
                  <a:srgbClr val="C00000"/>
                </a:solidFill>
              </a:rPr>
              <a:t>R</a:t>
            </a:r>
            <a:r>
              <a:rPr lang="en-US" altLang="en-US" sz="3600" dirty="0"/>
              <a:t>ecently </a:t>
            </a:r>
            <a:r>
              <a:rPr lang="en-US" altLang="en-US" sz="3600" b="1" dirty="0">
                <a:solidFill>
                  <a:srgbClr val="C00000"/>
                </a:solidFill>
              </a:rPr>
              <a:t>U</a:t>
            </a:r>
            <a:r>
              <a:rPr lang="en-US" altLang="en-US" sz="3600" dirty="0"/>
              <a:t>sed (</a:t>
            </a:r>
            <a:r>
              <a:rPr lang="en-US" altLang="en-US" sz="3600" b="1" dirty="0">
                <a:solidFill>
                  <a:srgbClr val="C00000"/>
                </a:solidFill>
              </a:rPr>
              <a:t>LRU</a:t>
            </a:r>
            <a:r>
              <a:rPr lang="en-US" altLang="en-US" sz="3600" dirty="0"/>
              <a:t>)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Make use of temporal locality:</a:t>
            </a:r>
          </a:p>
          <a:p>
            <a:pPr lvl="2"/>
            <a:r>
              <a:rPr lang="en-US" altLang="en-US" dirty="0"/>
              <a:t>Replace the page that has not been used in the longest time</a:t>
            </a:r>
          </a:p>
          <a:p>
            <a:pPr lvl="1"/>
            <a:r>
              <a:rPr lang="en-US" altLang="en-US" dirty="0"/>
              <a:t>Expect a page to be reused in a short time window</a:t>
            </a:r>
          </a:p>
          <a:p>
            <a:pPr lvl="2"/>
            <a:r>
              <a:rPr lang="en-US" altLang="en-US" dirty="0"/>
              <a:t>Have not used for some time </a:t>
            </a:r>
            <a:r>
              <a:rPr lang="en-US" altLang="en-US" dirty="0">
                <a:sym typeface="Wingdings" pitchFamily="2" charset="2"/>
              </a:rPr>
              <a:t> most likely will not be used again</a:t>
            </a:r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Attempts to approximate the OPT algorithm</a:t>
            </a:r>
          </a:p>
          <a:p>
            <a:pPr lvl="2"/>
            <a:r>
              <a:rPr lang="en-US" altLang="en-US" dirty="0"/>
              <a:t>Gives good results generally</a:t>
            </a:r>
          </a:p>
          <a:p>
            <a:pPr lvl="1"/>
            <a:r>
              <a:rPr lang="en-US" altLang="en-US" dirty="0"/>
              <a:t>Does not suffer from </a:t>
            </a:r>
            <a:r>
              <a:rPr lang="en-US" altLang="en-US" dirty="0" err="1"/>
              <a:t>Belady's</a:t>
            </a:r>
            <a:r>
              <a:rPr lang="en-US" altLang="en-US" dirty="0"/>
              <a:t> Anomaly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12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8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8558050"/>
              </p:ext>
            </p:extLst>
          </p:nvPr>
        </p:nvGraphicFramePr>
        <p:xfrm>
          <a:off x="914401" y="960198"/>
          <a:ext cx="7087150" cy="5547276"/>
        </p:xfrm>
        <a:graphic>
          <a:graphicData uri="http://schemas.openxmlformats.org/drawingml/2006/table">
            <a:tbl>
              <a:tblPr/>
              <a:tblGrid>
                <a:gridCol w="885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174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Last Use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LRU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C00000"/>
                </a:solidFill>
              </a:rPr>
              <a:t>7</a:t>
            </a:r>
            <a:r>
              <a:rPr lang="en-US" altLang="en-US" dirty="0"/>
              <a:t> Page Faults)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420892" y="1765101"/>
            <a:ext cx="4724951" cy="362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29000" y="2141615"/>
            <a:ext cx="4966109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2543576"/>
            <a:ext cx="4980323" cy="771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8449" y="3329835"/>
            <a:ext cx="4972766" cy="3177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69531" y="304800"/>
            <a:ext cx="3200400" cy="635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219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2514600"/>
            <a:ext cx="53340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LRU: </a:t>
            </a:r>
            <a:r>
              <a:rPr lang="en-US" altLang="en-US" sz="3800" b="1" dirty="0">
                <a:solidFill>
                  <a:srgbClr val="C00000"/>
                </a:solidFill>
              </a:rPr>
              <a:t>Implementation Details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sz="2600" dirty="0"/>
              <a:t>Implementing LRU is not easy: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Need to keep track of the "last access time" somehow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b="1" dirty="0">
                <a:solidFill>
                  <a:srgbClr val="660066"/>
                </a:solidFill>
              </a:rPr>
              <a:t>Need substantial hardware support</a:t>
            </a:r>
          </a:p>
          <a:p>
            <a:pPr marL="839788" lvl="1" indent="-495300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 marL="571500" indent="-5715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sz="2600" dirty="0"/>
              <a:t>Approach A - </a:t>
            </a:r>
            <a:r>
              <a:rPr lang="en-US" altLang="en-US" sz="2600" b="1" dirty="0"/>
              <a:t>Use a </a:t>
            </a:r>
            <a:r>
              <a:rPr lang="en-US" altLang="en-US" sz="26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</a:t>
            </a:r>
            <a:r>
              <a:rPr lang="en-US" altLang="en-US" sz="2600" dirty="0"/>
              <a:t>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A logical "time" counters, which is i</a:t>
            </a:r>
            <a:r>
              <a:rPr lang="en-US" altLang="en-US" sz="2000" dirty="0"/>
              <a:t>ncremented for every memory reference</a:t>
            </a:r>
          </a:p>
          <a:p>
            <a:pPr marL="671513" lvl="2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Page table entry has a "time-of-use" field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Store the time counter value whenever reference occurs</a:t>
            </a:r>
          </a:p>
          <a:p>
            <a:pPr marL="1192213" lvl="2" indent="-495300">
              <a:lnSpc>
                <a:spcPct val="90000"/>
              </a:lnSpc>
            </a:pPr>
            <a:r>
              <a:rPr lang="en-US" altLang="en-US" sz="1800" dirty="0"/>
              <a:t>Replace the page with smallest "time-of-use"</a:t>
            </a:r>
          </a:p>
          <a:p>
            <a:pPr marL="696913" lvl="2" indent="0">
              <a:lnSpc>
                <a:spcPct val="90000"/>
              </a:lnSpc>
              <a:buNone/>
            </a:pPr>
            <a:endParaRPr lang="en-US" altLang="en-US" sz="1800" dirty="0"/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b="1" dirty="0">
                <a:solidFill>
                  <a:srgbClr val="C00000"/>
                </a:solidFill>
              </a:rPr>
              <a:t>Problems: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Need to search through all pages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"Time-of-use" is forever increasing (overflow possible!)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02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14866" y="914400"/>
            <a:ext cx="5604933" cy="533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LRU: </a:t>
            </a:r>
            <a:r>
              <a:rPr lang="en-US" altLang="en-US" sz="3800" b="1" dirty="0">
                <a:solidFill>
                  <a:srgbClr val="C00000"/>
                </a:solidFill>
              </a:rPr>
              <a:t>Implementation Details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SzTx/>
              <a:buFont typeface="Wingdings" pitchFamily="2" charset="2"/>
              <a:buAutoNum type="arabicPeriod" startAt="2"/>
            </a:pPr>
            <a:r>
              <a:rPr lang="en-US" altLang="en-US" dirty="0"/>
              <a:t>Approach B - Use a </a:t>
            </a:r>
            <a:r>
              <a:rPr lang="en-US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"Stack"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839788" lvl="1" indent="-495300">
              <a:buSzTx/>
            </a:pPr>
            <a:r>
              <a:rPr lang="en-US" altLang="en-US" dirty="0"/>
              <a:t>Maintain a stack of page numbers</a:t>
            </a:r>
          </a:p>
          <a:p>
            <a:pPr marL="839788" lvl="1" indent="-495300">
              <a:buSzTx/>
            </a:pPr>
            <a:r>
              <a:rPr lang="en-US" altLang="en-US" dirty="0"/>
              <a:t>If page </a:t>
            </a:r>
            <a:r>
              <a:rPr lang="en-US" altLang="en-US" b="1" dirty="0"/>
              <a:t>X</a:t>
            </a:r>
            <a:r>
              <a:rPr lang="en-US" altLang="en-US" dirty="0"/>
              <a:t> is referenced</a:t>
            </a:r>
          </a:p>
          <a:p>
            <a:pPr marL="1090613" lvl="2" indent="-419100">
              <a:buSzTx/>
            </a:pPr>
            <a:r>
              <a:rPr lang="en-US" altLang="en-US" dirty="0"/>
              <a:t>Remove from the stack (for existing entry)</a:t>
            </a:r>
          </a:p>
          <a:p>
            <a:pPr marL="1090613" lvl="2" indent="-419100">
              <a:buSzTx/>
            </a:pPr>
            <a:r>
              <a:rPr lang="en-US" altLang="en-US" dirty="0"/>
              <a:t>Push on top of stack</a:t>
            </a:r>
          </a:p>
          <a:p>
            <a:pPr marL="671513" lvl="2" indent="0">
              <a:buSzTx/>
              <a:buNone/>
            </a:pPr>
            <a:endParaRPr lang="en-US" altLang="en-US" dirty="0"/>
          </a:p>
          <a:p>
            <a:pPr marL="839788" lvl="1" indent="-495300">
              <a:buSzTx/>
            </a:pPr>
            <a:r>
              <a:rPr lang="en-US" altLang="en-US" dirty="0"/>
              <a:t>Replace the page at the </a:t>
            </a:r>
            <a:r>
              <a:rPr lang="en-US" altLang="en-US" b="1" dirty="0"/>
              <a:t>bottom of stack</a:t>
            </a:r>
          </a:p>
          <a:p>
            <a:pPr marL="1090613" lvl="2" indent="-419100">
              <a:buSzTx/>
            </a:pPr>
            <a:r>
              <a:rPr lang="en-US" altLang="en-US" dirty="0"/>
              <a:t>No need to search through all entries</a:t>
            </a:r>
          </a:p>
          <a:p>
            <a:pPr marL="1090613" lvl="2" indent="-419100">
              <a:buSzTx/>
              <a:buFont typeface="Wingdings" pitchFamily="2" charset="2"/>
              <a:buNone/>
            </a:pPr>
            <a:endParaRPr lang="en-US" altLang="en-US" dirty="0"/>
          </a:p>
          <a:p>
            <a:pPr marL="839788" lvl="1" indent="-495300">
              <a:buSzTx/>
            </a:pPr>
            <a:r>
              <a:rPr lang="en-US" altLang="en-US" b="1" dirty="0">
                <a:solidFill>
                  <a:srgbClr val="C00000"/>
                </a:solidFill>
              </a:rPr>
              <a:t>Problems:</a:t>
            </a:r>
          </a:p>
          <a:p>
            <a:pPr marL="1090613" lvl="2" indent="-419100">
              <a:buSzTx/>
            </a:pPr>
            <a:r>
              <a:rPr lang="en-US" altLang="en-US" dirty="0"/>
              <a:t>Not a pure stack:  Entries can be removed from any where in the stack</a:t>
            </a:r>
          </a:p>
          <a:p>
            <a:pPr marL="1090613" lvl="2" indent="-419100">
              <a:buSzTx/>
            </a:pPr>
            <a:r>
              <a:rPr lang="en-US" altLang="en-US" dirty="0"/>
              <a:t>Hard to implement in hardware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22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Second-Chance Page Replacement (</a:t>
            </a:r>
            <a:r>
              <a:rPr lang="en-US" altLang="en-US" sz="3600" dirty="0">
                <a:solidFill>
                  <a:srgbClr val="C00000"/>
                </a:solidFill>
              </a:rPr>
              <a:t>CLOCK</a:t>
            </a:r>
            <a:r>
              <a:rPr lang="en-US" altLang="en-US" sz="3600" dirty="0"/>
              <a:t>) 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General Idea:</a:t>
            </a:r>
          </a:p>
          <a:p>
            <a:pPr marL="898525" lvl="1" indent="-571500">
              <a:lnSpc>
                <a:spcPct val="90000"/>
              </a:lnSpc>
            </a:pPr>
            <a:r>
              <a:rPr lang="en-US" altLang="en-US" dirty="0"/>
              <a:t>Modified FIFO to give a second chance to pages that are accessed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Each PTE now maintains a "reference bit":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1 = Accessed, 0 = Not accessed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Algorithm: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The oldest FIFO page is selected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If reference bit == 0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Page is replaced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If reference bit == 1 </a:t>
            </a:r>
            <a:r>
              <a:rPr lang="en-US" altLang="en-US" dirty="0">
                <a:sym typeface="Wingdings" panose="05000000000000000000" pitchFamily="2" charset="2"/>
              </a:rPr>
              <a:t> Page is given a 2</a:t>
            </a:r>
            <a:r>
              <a:rPr lang="en-US" altLang="en-US" baseline="30000" dirty="0">
                <a:sym typeface="Wingdings" panose="05000000000000000000" pitchFamily="2" charset="2"/>
              </a:rPr>
              <a:t>nd</a:t>
            </a:r>
            <a:r>
              <a:rPr lang="en-US" altLang="en-US" dirty="0">
                <a:sym typeface="Wingdings" panose="05000000000000000000" pitchFamily="2" charset="2"/>
              </a:rPr>
              <a:t> chance</a:t>
            </a:r>
            <a:endParaRPr lang="en-US" altLang="en-US" dirty="0"/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Reference bit cleared to 0</a:t>
            </a:r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Arrival time reset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page taken as newly loaded</a:t>
            </a:r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Next FIFO page is selected, go to Step 2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Degenerate into FIFO algorithm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When all pages has reference bit ==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433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Second-Chance</a:t>
            </a:r>
            <a:r>
              <a:rPr lang="en-US" altLang="en-US" sz="3800" b="1" dirty="0"/>
              <a:t>: Implementation Details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80303"/>
            <a:ext cx="7890617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859708" y="1044144"/>
            <a:ext cx="3369891" cy="5204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3400" y="1447799"/>
            <a:ext cx="1583724" cy="4291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793480" y="1447798"/>
            <a:ext cx="1161844" cy="4267201"/>
            <a:chOff x="1793480" y="1037966"/>
            <a:chExt cx="1161844" cy="4677034"/>
          </a:xfrm>
        </p:grpSpPr>
        <p:sp>
          <p:nvSpPr>
            <p:cNvPr id="8" name="Rectangle 7"/>
            <p:cNvSpPr/>
            <p:nvPr/>
          </p:nvSpPr>
          <p:spPr>
            <a:xfrm>
              <a:off x="2117124" y="1371600"/>
              <a:ext cx="838200" cy="434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793480" y="1037966"/>
              <a:ext cx="1102119" cy="333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3" y="1323975"/>
            <a:ext cx="1619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1744133" y="1044144"/>
            <a:ext cx="1161844" cy="279831"/>
            <a:chOff x="1793480" y="631040"/>
            <a:chExt cx="1161844" cy="5083960"/>
          </a:xfrm>
        </p:grpSpPr>
        <p:sp>
          <p:nvSpPr>
            <p:cNvPr id="14" name="Rectangle 13"/>
            <p:cNvSpPr/>
            <p:nvPr/>
          </p:nvSpPr>
          <p:spPr>
            <a:xfrm>
              <a:off x="1842827" y="631040"/>
              <a:ext cx="1112497" cy="5083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793480" y="1037966"/>
              <a:ext cx="1102119" cy="333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002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33333E-6 L -2.77778E-7 0.0796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415571"/>
              </p:ext>
            </p:extLst>
          </p:nvPr>
        </p:nvGraphicFramePr>
        <p:xfrm>
          <a:off x="990600" y="930656"/>
          <a:ext cx="7086599" cy="5547276"/>
        </p:xfrm>
        <a:graphic>
          <a:graphicData uri="http://schemas.openxmlformats.org/drawingml/2006/table">
            <a:tbl>
              <a:tblPr/>
              <a:tblGrid>
                <a:gridCol w="110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 (with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Ref Bit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►2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2725"/>
            <a:ext cx="8229600" cy="712787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CLOCK</a:t>
            </a:r>
            <a:r>
              <a:rPr lang="en-US" altLang="en-US" dirty="0"/>
              <a:t>( </a:t>
            </a:r>
            <a:r>
              <a:rPr lang="en-US" altLang="en-US" b="1" dirty="0">
                <a:solidFill>
                  <a:srgbClr val="C00000"/>
                </a:solidFill>
              </a:rPr>
              <a:t>6</a:t>
            </a:r>
            <a:r>
              <a:rPr lang="en-US" altLang="en-US" dirty="0"/>
              <a:t> Page Faults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581401" y="1745686"/>
            <a:ext cx="5105399" cy="3738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1400" y="2133600"/>
            <a:ext cx="5105400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81401" y="2521514"/>
            <a:ext cx="5105399" cy="8103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81400" y="3733799"/>
            <a:ext cx="5105399" cy="2786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95728" y="279400"/>
            <a:ext cx="3581399" cy="619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Action Button: Return 1">
            <a:hlinkClick r:id="" action="ppaction://hlinkshowjump?jump=lastslideviewed" highlightClick="1"/>
          </p:cNvPr>
          <p:cNvSpPr/>
          <p:nvPr/>
        </p:nvSpPr>
        <p:spPr>
          <a:xfrm>
            <a:off x="0" y="6324600"/>
            <a:ext cx="457200" cy="533400"/>
          </a:xfrm>
          <a:prstGeom prst="actionButtonRetur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3581400" y="3320745"/>
            <a:ext cx="5105400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1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Frame Allocation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process should I favor?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550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Frame Allocation</a:t>
            </a:r>
          </a:p>
        </p:txBody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Consider: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are </a:t>
            </a:r>
            <a:r>
              <a:rPr lang="en-US" altLang="en-US" sz="3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sz="320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/>
              <a:t>physical memory frames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are 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  <a:r>
              <a:rPr lang="en-US" altLang="en-US" dirty="0"/>
              <a:t> processes competing for frames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Best way to distribute the </a:t>
            </a:r>
            <a:r>
              <a:rPr lang="en-US" altLang="en-US" sz="3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dirty="0"/>
              <a:t> frames?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Simple Approaches: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Equal Allocation: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process get </a:t>
            </a:r>
            <a:r>
              <a:rPr lang="en-US" altLang="en-US" b="1" dirty="0">
                <a:latin typeface="Courier New" pitchFamily="49" charset="0"/>
              </a:rPr>
              <a:t>N / M</a:t>
            </a:r>
            <a:r>
              <a:rPr lang="en-US" altLang="en-US" dirty="0"/>
              <a:t> frames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Proportional Allocation: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Processes are different in size (memory usage)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Let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p</a:t>
            </a:r>
            <a:r>
              <a:rPr lang="en-US" altLang="en-US" dirty="0"/>
              <a:t> = size of process </a:t>
            </a:r>
            <a:r>
              <a:rPr lang="en-US" altLang="en-US" b="1" dirty="0">
                <a:latin typeface="Courier New" pitchFamily="49" charset="0"/>
              </a:rPr>
              <a:t>p</a:t>
            </a:r>
            <a:r>
              <a:rPr lang="en-US" altLang="en-US" dirty="0"/>
              <a:t>,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total</a:t>
            </a:r>
            <a:r>
              <a:rPr lang="en-US" altLang="en-US" dirty="0"/>
              <a:t> = total size of all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process get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p</a:t>
            </a:r>
            <a:r>
              <a:rPr lang="en-US" altLang="en-US" b="1" dirty="0">
                <a:latin typeface="Courier New" pitchFamily="49" charset="0"/>
              </a:rPr>
              <a:t>/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total</a:t>
            </a:r>
            <a:r>
              <a:rPr lang="en-US" altLang="en-US" b="1" dirty="0">
                <a:latin typeface="Courier New" pitchFamily="49" charset="0"/>
              </a:rPr>
              <a:t>*N</a:t>
            </a:r>
            <a:r>
              <a:rPr lang="en-US" altLang="en-US" dirty="0"/>
              <a:t> frames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01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Frame Allocation </a:t>
            </a:r>
            <a:r>
              <a:rPr lang="en-US" altLang="en-US" sz="3800" dirty="0"/>
              <a:t>and </a:t>
            </a:r>
            <a:r>
              <a:rPr lang="en-US" altLang="en-US" sz="3800" dirty="0">
                <a:solidFill>
                  <a:srgbClr val="006600"/>
                </a:solidFill>
              </a:rPr>
              <a:t>Page Replacement</a:t>
            </a:r>
          </a:p>
        </p:txBody>
      </p:sp>
      <p:sp>
        <p:nvSpPr>
          <p:cNvPr id="90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implicit assumption for page replacement algorithms:</a:t>
            </a:r>
          </a:p>
          <a:p>
            <a:pPr lvl="1"/>
            <a:r>
              <a:rPr lang="en-US" altLang="en-US" dirty="0"/>
              <a:t>Victim page are selected </a:t>
            </a:r>
            <a:r>
              <a:rPr lang="en-US" altLang="en-US" b="1" dirty="0"/>
              <a:t>among pages of the process </a:t>
            </a:r>
            <a:r>
              <a:rPr lang="en-US" altLang="en-US" dirty="0"/>
              <a:t>that causes page fault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 replacement</a:t>
            </a:r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If victim page can be chosen </a:t>
            </a:r>
            <a:r>
              <a:rPr lang="en-US" altLang="en-US" b="1" dirty="0"/>
              <a:t>among all physical frames</a:t>
            </a:r>
            <a:r>
              <a:rPr lang="en-US" altLang="en-US" dirty="0"/>
              <a:t>: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Process P</a:t>
            </a:r>
            <a:r>
              <a:rPr lang="en-US" altLang="en-US" dirty="0">
                <a:sym typeface="Wingdings" pitchFamily="2" charset="2"/>
              </a:rPr>
              <a:t> can take a frame from </a:t>
            </a:r>
            <a:r>
              <a:rPr lang="en-US" altLang="en-US" b="1" dirty="0">
                <a:solidFill>
                  <a:srgbClr val="660066"/>
                </a:solidFill>
                <a:sym typeface="Wingdings" pitchFamily="2" charset="2"/>
              </a:rPr>
              <a:t>Process Q</a:t>
            </a:r>
            <a:r>
              <a:rPr lang="en-US" altLang="en-US" dirty="0">
                <a:sym typeface="Wingdings" pitchFamily="2" charset="2"/>
              </a:rPr>
              <a:t> by evicting </a:t>
            </a:r>
            <a:r>
              <a:rPr lang="en-US" altLang="en-US" b="1" dirty="0">
                <a:solidFill>
                  <a:srgbClr val="660066"/>
                </a:solidFill>
                <a:sym typeface="Wingdings" pitchFamily="2" charset="2"/>
              </a:rPr>
              <a:t>Q</a:t>
            </a:r>
            <a:r>
              <a:rPr lang="en-US" altLang="en-US" dirty="0">
                <a:sym typeface="Wingdings" pitchFamily="2" charset="2"/>
              </a:rPr>
              <a:t>'s frame during replacement!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replacement</a:t>
            </a:r>
            <a:endParaRPr lang="en-US" altLang="en-US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2" name="Action Button: Custom 1">
            <a:hlinkClick r:id="rId2" action="ppaction://hlinksldjump" highlightClick="1"/>
          </p:cNvPr>
          <p:cNvSpPr/>
          <p:nvPr/>
        </p:nvSpPr>
        <p:spPr>
          <a:xfrm>
            <a:off x="838200" y="1524000"/>
            <a:ext cx="1981200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135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006600"/>
                </a:solidFill>
              </a:rPr>
              <a:t>Local</a:t>
            </a:r>
            <a:r>
              <a:rPr lang="en-US" altLang="en-US" sz="3800" dirty="0"/>
              <a:t> vs </a:t>
            </a:r>
            <a:r>
              <a:rPr lang="en-US" altLang="en-US" sz="3800" b="1" dirty="0">
                <a:solidFill>
                  <a:srgbClr val="C00000"/>
                </a:solidFill>
              </a:rPr>
              <a:t>Global</a:t>
            </a:r>
            <a:r>
              <a:rPr lang="en-US" altLang="en-US" sz="3800" dirty="0"/>
              <a:t> Replacement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600" b="1" dirty="0"/>
              <a:t>Local Replacement:</a:t>
            </a:r>
          </a:p>
          <a:p>
            <a:pPr lvl="1"/>
            <a:r>
              <a:rPr lang="en-US" altLang="en-US" sz="2200" b="1" dirty="0">
                <a:solidFill>
                  <a:srgbClr val="006600"/>
                </a:solidFill>
              </a:rPr>
              <a:t>Pros:</a:t>
            </a:r>
          </a:p>
          <a:p>
            <a:pPr lvl="2"/>
            <a:r>
              <a:rPr lang="en-US" altLang="en-US" sz="2000" dirty="0"/>
              <a:t>Frames allocated to a process remain constant </a:t>
            </a:r>
            <a:br>
              <a:rPr lang="en-US" altLang="en-US" sz="2000" dirty="0"/>
            </a:br>
            <a:r>
              <a:rPr lang="en-US" altLang="en-US" sz="2000" dirty="0">
                <a:sym typeface="Wingdings" pitchFamily="2" charset="2"/>
              </a:rPr>
              <a:t> Performance is stable between multiple runs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Cons:</a:t>
            </a:r>
          </a:p>
          <a:p>
            <a:pPr lvl="2"/>
            <a:r>
              <a:rPr lang="en-US" altLang="en-US" sz="2000" dirty="0"/>
              <a:t>If frame allocated is not enough </a:t>
            </a:r>
            <a:br>
              <a:rPr lang="en-US" altLang="en-US" sz="2000" dirty="0"/>
            </a:br>
            <a:r>
              <a:rPr lang="en-US" altLang="en-US" sz="2000" dirty="0">
                <a:sym typeface="Wingdings" pitchFamily="2" charset="2"/>
              </a:rPr>
              <a:t> </a:t>
            </a:r>
            <a:r>
              <a:rPr lang="en-US" altLang="en-US" sz="2000" dirty="0"/>
              <a:t>hinder the progress of a process</a:t>
            </a:r>
          </a:p>
          <a:p>
            <a:pPr marL="671512" lvl="2" indent="0">
              <a:buNone/>
            </a:pPr>
            <a:endParaRPr lang="en-US" altLang="en-US" sz="2000" dirty="0"/>
          </a:p>
          <a:p>
            <a:r>
              <a:rPr lang="en-US" altLang="en-US" sz="2600" b="1" dirty="0"/>
              <a:t>Global Replacement:</a:t>
            </a:r>
          </a:p>
          <a:p>
            <a:pPr lvl="1"/>
            <a:r>
              <a:rPr lang="en-US" altLang="en-US" sz="2200" b="1" dirty="0">
                <a:solidFill>
                  <a:srgbClr val="006600"/>
                </a:solidFill>
              </a:rPr>
              <a:t>Pros:</a:t>
            </a:r>
          </a:p>
          <a:p>
            <a:pPr lvl="2"/>
            <a:r>
              <a:rPr lang="en-US" altLang="en-US" sz="2000" dirty="0"/>
              <a:t>Allow self-adjustment between processes</a:t>
            </a:r>
          </a:p>
          <a:p>
            <a:pPr lvl="3"/>
            <a:r>
              <a:rPr lang="en-US" altLang="en-US" sz="1800" dirty="0"/>
              <a:t>Process that needs more frame can get from other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Cons:</a:t>
            </a:r>
          </a:p>
          <a:p>
            <a:pPr lvl="2"/>
            <a:r>
              <a:rPr lang="en-US" altLang="en-US" sz="2000" dirty="0"/>
              <a:t>Badly behave process can affect others</a:t>
            </a:r>
          </a:p>
          <a:p>
            <a:pPr lvl="2"/>
            <a:r>
              <a:rPr lang="en-US" altLang="en-US" sz="2000" dirty="0"/>
              <a:t>Frames allocated to a process can be different from run to run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89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Frame Allocation and </a:t>
            </a:r>
            <a:r>
              <a:rPr lang="en-US" altLang="en-US" sz="3800" b="1" dirty="0">
                <a:solidFill>
                  <a:srgbClr val="C00000"/>
                </a:solidFill>
              </a:rPr>
              <a:t>Thrashing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Insufficient physical frame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Thrashing </a:t>
            </a:r>
          </a:p>
          <a:p>
            <a:pPr lvl="1"/>
            <a:r>
              <a:rPr lang="en-US" altLang="en-US" dirty="0">
                <a:sym typeface="Wingdings" pitchFamily="2" charset="2"/>
              </a:rPr>
              <a:t>Heavy I/O to bring non-resident pages into RAM</a:t>
            </a:r>
          </a:p>
          <a:p>
            <a:pPr marL="344487" lvl="1" indent="0">
              <a:buNone/>
            </a:pPr>
            <a:endParaRPr lang="en-US" altLang="en-US" dirty="0">
              <a:sym typeface="Wingdings" pitchFamily="2" charset="2"/>
            </a:endParaRPr>
          </a:p>
          <a:p>
            <a:r>
              <a:rPr lang="en-US" altLang="en-US" dirty="0"/>
              <a:t>Hard to find the right number of frames:</a:t>
            </a:r>
          </a:p>
          <a:p>
            <a:pPr lvl="1"/>
            <a:r>
              <a:rPr lang="en-US" altLang="en-US" dirty="0"/>
              <a:t>If global replacement is used:</a:t>
            </a:r>
          </a:p>
          <a:p>
            <a:pPr lvl="2"/>
            <a:r>
              <a:rPr lang="en-US" altLang="en-US" dirty="0"/>
              <a:t>A thrashing process "steals" page from other process </a:t>
            </a:r>
          </a:p>
          <a:p>
            <a:pPr lvl="2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cause other process to thrash  (</a:t>
            </a: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Cascading Thrashing</a:t>
            </a:r>
            <a:r>
              <a:rPr lang="en-US" altLang="en-US" dirty="0">
                <a:sym typeface="Wingdings" pitchFamily="2" charset="2"/>
              </a:rPr>
              <a:t>)</a:t>
            </a:r>
          </a:p>
          <a:p>
            <a:pPr marL="671512" lvl="2" indent="0">
              <a:buNone/>
            </a:pPr>
            <a:endParaRPr lang="en-US" altLang="en-US" dirty="0">
              <a:sym typeface="Wingdings" pitchFamily="2" charset="2"/>
            </a:endParaRPr>
          </a:p>
          <a:p>
            <a:pPr lvl="1"/>
            <a:r>
              <a:rPr lang="en-US" altLang="en-US" dirty="0"/>
              <a:t>If local replacement is used:</a:t>
            </a:r>
          </a:p>
          <a:p>
            <a:pPr lvl="2"/>
            <a:r>
              <a:rPr lang="en-US" altLang="en-US" dirty="0"/>
              <a:t>Thrashing can be limited to one process</a:t>
            </a:r>
          </a:p>
          <a:p>
            <a:pPr lvl="2"/>
            <a:r>
              <a:rPr lang="en-US" altLang="en-US" dirty="0"/>
              <a:t>But that single process can hog the I/O and degrades the performance of other processes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2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Finding the </a:t>
            </a:r>
            <a:r>
              <a:rPr lang="en-US" altLang="en-US" sz="3800" b="1" dirty="0">
                <a:solidFill>
                  <a:srgbClr val="C00000"/>
                </a:solidFill>
              </a:rPr>
              <a:t>right number of frames</a:t>
            </a:r>
            <a:r>
              <a:rPr lang="en-US" altLang="en-US" sz="3800" b="1" dirty="0"/>
              <a:t>…</a:t>
            </a:r>
          </a:p>
        </p:txBody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Observation: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b="1" dirty="0"/>
              <a:t>set </a:t>
            </a:r>
            <a:r>
              <a:rPr lang="en-US" altLang="en-US" dirty="0"/>
              <a:t>of pages referenced by a process is relatively constant in a period of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locality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However, as time passes, the set of pages can change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15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Working Set Model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Using the observation on locality:</a:t>
            </a:r>
          </a:p>
          <a:p>
            <a:pPr lvl="1"/>
            <a:r>
              <a:rPr lang="en-US" altLang="en-US" dirty="0"/>
              <a:t>In a new locality:</a:t>
            </a:r>
          </a:p>
          <a:p>
            <a:pPr lvl="2"/>
            <a:r>
              <a:rPr lang="en-US" altLang="en-US" dirty="0"/>
              <a:t>A process will cause page fault for the set of pages</a:t>
            </a:r>
          </a:p>
          <a:p>
            <a:pPr lvl="1"/>
            <a:r>
              <a:rPr lang="en-US" altLang="en-US" dirty="0"/>
              <a:t>With the set of pages in frame:</a:t>
            </a:r>
          </a:p>
          <a:p>
            <a:pPr lvl="2"/>
            <a:r>
              <a:rPr lang="en-US" altLang="en-US" dirty="0"/>
              <a:t>No/few page fault until process transits to new locality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dirty="0"/>
              <a:t>Working Set Model:</a:t>
            </a:r>
          </a:p>
          <a:p>
            <a:pPr lvl="1"/>
            <a:r>
              <a:rPr lang="en-US" altLang="en-US" dirty="0"/>
              <a:t>Defines Working Set Window </a:t>
            </a:r>
            <a:r>
              <a:rPr lang="en-US" altLang="en-US" dirty="0">
                <a:sym typeface="Symbol" pitchFamily="18" charset="2"/>
              </a:rPr>
              <a:t></a:t>
            </a:r>
          </a:p>
          <a:p>
            <a:pPr lvl="2"/>
            <a:r>
              <a:rPr lang="en-US" altLang="en-US" dirty="0"/>
              <a:t>An interval of time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W(t,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)</a:t>
            </a:r>
            <a:r>
              <a:rPr lang="en-US" altLang="en-US" dirty="0">
                <a:sym typeface="Symbol" pitchFamily="18" charset="2"/>
              </a:rPr>
              <a:t> = active pages in the interval at time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t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Allocate enough frames for pages in </a:t>
            </a:r>
            <a:r>
              <a:rPr lang="en-US" altLang="en-US" b="1" dirty="0">
                <a:latin typeface="Courier New" pitchFamily="49" charset="0"/>
              </a:rPr>
              <a:t>W(t,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)</a:t>
            </a:r>
            <a:r>
              <a:rPr lang="en-US" altLang="en-US" dirty="0">
                <a:sym typeface="Symbol" pitchFamily="18" charset="2"/>
              </a:rPr>
              <a:t> to reduce possibility of page fault</a:t>
            </a:r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579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27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Working Set Model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866328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347663" y="4572000"/>
            <a:ext cx="8382000" cy="182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Accuracy of working set model is directly affected by the choice of </a:t>
            </a:r>
            <a:r>
              <a:rPr lang="en-US" altLang="en-US" dirty="0">
                <a:sym typeface="Symbol" pitchFamily="18" charset="2"/>
              </a:rPr>
              <a:t>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  <a:sym typeface="Symbol" pitchFamily="18" charset="2"/>
              </a:rPr>
              <a:t>Too small</a:t>
            </a:r>
            <a:r>
              <a:rPr lang="en-US" altLang="en-US" dirty="0">
                <a:sym typeface="Symbol" pitchFamily="18" charset="2"/>
              </a:rPr>
              <a:t>: May miss pages in the current locality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  <a:sym typeface="Symbol" pitchFamily="18" charset="2"/>
              </a:rPr>
              <a:t>Too big</a:t>
            </a:r>
            <a:r>
              <a:rPr lang="en-US" altLang="en-US" dirty="0">
                <a:sym typeface="Symbol" pitchFamily="18" charset="2"/>
              </a:rPr>
              <a:t>: May contains pages from different locality</a:t>
            </a:r>
          </a:p>
        </p:txBody>
      </p:sp>
      <p:sp>
        <p:nvSpPr>
          <p:cNvPr id="866307" name="Freeform 3"/>
          <p:cNvSpPr>
            <a:spLocks/>
          </p:cNvSpPr>
          <p:nvPr/>
        </p:nvSpPr>
        <p:spPr bwMode="auto">
          <a:xfrm>
            <a:off x="1247775" y="2090738"/>
            <a:ext cx="3290888" cy="1600200"/>
          </a:xfrm>
          <a:custGeom>
            <a:avLst/>
            <a:gdLst>
              <a:gd name="T0" fmla="*/ 0 w 2405"/>
              <a:gd name="T1" fmla="*/ 1102 h 1102"/>
              <a:gd name="T2" fmla="*/ 36 w 2405"/>
              <a:gd name="T3" fmla="*/ 1051 h 1102"/>
              <a:gd name="T4" fmla="*/ 65 w 2405"/>
              <a:gd name="T5" fmla="*/ 965 h 1102"/>
              <a:gd name="T6" fmla="*/ 144 w 2405"/>
              <a:gd name="T7" fmla="*/ 900 h 1102"/>
              <a:gd name="T8" fmla="*/ 173 w 2405"/>
              <a:gd name="T9" fmla="*/ 864 h 1102"/>
              <a:gd name="T10" fmla="*/ 194 w 2405"/>
              <a:gd name="T11" fmla="*/ 821 h 1102"/>
              <a:gd name="T12" fmla="*/ 302 w 2405"/>
              <a:gd name="T13" fmla="*/ 806 h 1102"/>
              <a:gd name="T14" fmla="*/ 360 w 2405"/>
              <a:gd name="T15" fmla="*/ 792 h 1102"/>
              <a:gd name="T16" fmla="*/ 417 w 2405"/>
              <a:gd name="T17" fmla="*/ 806 h 1102"/>
              <a:gd name="T18" fmla="*/ 475 w 2405"/>
              <a:gd name="T19" fmla="*/ 799 h 1102"/>
              <a:gd name="T20" fmla="*/ 482 w 2405"/>
              <a:gd name="T21" fmla="*/ 778 h 1102"/>
              <a:gd name="T22" fmla="*/ 504 w 2405"/>
              <a:gd name="T23" fmla="*/ 727 h 1102"/>
              <a:gd name="T24" fmla="*/ 540 w 2405"/>
              <a:gd name="T25" fmla="*/ 648 h 1102"/>
              <a:gd name="T26" fmla="*/ 605 w 2405"/>
              <a:gd name="T27" fmla="*/ 504 h 1102"/>
              <a:gd name="T28" fmla="*/ 705 w 2405"/>
              <a:gd name="T29" fmla="*/ 497 h 1102"/>
              <a:gd name="T30" fmla="*/ 979 w 2405"/>
              <a:gd name="T31" fmla="*/ 403 h 1102"/>
              <a:gd name="T32" fmla="*/ 1022 w 2405"/>
              <a:gd name="T33" fmla="*/ 259 h 1102"/>
              <a:gd name="T34" fmla="*/ 1037 w 2405"/>
              <a:gd name="T35" fmla="*/ 216 h 1102"/>
              <a:gd name="T36" fmla="*/ 1058 w 2405"/>
              <a:gd name="T37" fmla="*/ 101 h 1102"/>
              <a:gd name="T38" fmla="*/ 1087 w 2405"/>
              <a:gd name="T39" fmla="*/ 7 h 1102"/>
              <a:gd name="T40" fmla="*/ 1145 w 2405"/>
              <a:gd name="T41" fmla="*/ 79 h 1102"/>
              <a:gd name="T42" fmla="*/ 1166 w 2405"/>
              <a:gd name="T43" fmla="*/ 698 h 1102"/>
              <a:gd name="T44" fmla="*/ 1181 w 2405"/>
              <a:gd name="T45" fmla="*/ 742 h 1102"/>
              <a:gd name="T46" fmla="*/ 1397 w 2405"/>
              <a:gd name="T47" fmla="*/ 799 h 1102"/>
              <a:gd name="T48" fmla="*/ 1490 w 2405"/>
              <a:gd name="T49" fmla="*/ 821 h 1102"/>
              <a:gd name="T50" fmla="*/ 1677 w 2405"/>
              <a:gd name="T51" fmla="*/ 792 h 1102"/>
              <a:gd name="T52" fmla="*/ 1728 w 2405"/>
              <a:gd name="T53" fmla="*/ 626 h 1102"/>
              <a:gd name="T54" fmla="*/ 1785 w 2405"/>
              <a:gd name="T55" fmla="*/ 554 h 1102"/>
              <a:gd name="T56" fmla="*/ 1829 w 2405"/>
              <a:gd name="T57" fmla="*/ 497 h 1102"/>
              <a:gd name="T58" fmla="*/ 1944 w 2405"/>
              <a:gd name="T59" fmla="*/ 482 h 1102"/>
              <a:gd name="T60" fmla="*/ 2095 w 2405"/>
              <a:gd name="T61" fmla="*/ 461 h 1102"/>
              <a:gd name="T62" fmla="*/ 2124 w 2405"/>
              <a:gd name="T63" fmla="*/ 374 h 1102"/>
              <a:gd name="T64" fmla="*/ 2153 w 2405"/>
              <a:gd name="T65" fmla="*/ 151 h 1102"/>
              <a:gd name="T66" fmla="*/ 2196 w 2405"/>
              <a:gd name="T67" fmla="*/ 86 h 1102"/>
              <a:gd name="T68" fmla="*/ 2405 w 2405"/>
              <a:gd name="T69" fmla="*/ 0 h 1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05" h="1102">
                <a:moveTo>
                  <a:pt x="0" y="1102"/>
                </a:moveTo>
                <a:cubicBezTo>
                  <a:pt x="16" y="1085"/>
                  <a:pt x="19" y="1068"/>
                  <a:pt x="36" y="1051"/>
                </a:cubicBezTo>
                <a:cubicBezTo>
                  <a:pt x="41" y="1034"/>
                  <a:pt x="51" y="983"/>
                  <a:pt x="65" y="965"/>
                </a:cubicBezTo>
                <a:cubicBezTo>
                  <a:pt x="80" y="946"/>
                  <a:pt x="124" y="913"/>
                  <a:pt x="144" y="900"/>
                </a:cubicBezTo>
                <a:cubicBezTo>
                  <a:pt x="152" y="887"/>
                  <a:pt x="165" y="877"/>
                  <a:pt x="173" y="864"/>
                </a:cubicBezTo>
                <a:cubicBezTo>
                  <a:pt x="185" y="844"/>
                  <a:pt x="173" y="838"/>
                  <a:pt x="194" y="821"/>
                </a:cubicBezTo>
                <a:cubicBezTo>
                  <a:pt x="223" y="799"/>
                  <a:pt x="266" y="809"/>
                  <a:pt x="302" y="806"/>
                </a:cubicBezTo>
                <a:cubicBezTo>
                  <a:pt x="322" y="802"/>
                  <a:pt x="340" y="792"/>
                  <a:pt x="360" y="792"/>
                </a:cubicBezTo>
                <a:cubicBezTo>
                  <a:pt x="380" y="792"/>
                  <a:pt x="398" y="802"/>
                  <a:pt x="417" y="806"/>
                </a:cubicBezTo>
                <a:cubicBezTo>
                  <a:pt x="436" y="804"/>
                  <a:pt x="457" y="807"/>
                  <a:pt x="475" y="799"/>
                </a:cubicBezTo>
                <a:cubicBezTo>
                  <a:pt x="482" y="796"/>
                  <a:pt x="480" y="785"/>
                  <a:pt x="482" y="778"/>
                </a:cubicBezTo>
                <a:cubicBezTo>
                  <a:pt x="494" y="737"/>
                  <a:pt x="481" y="760"/>
                  <a:pt x="504" y="727"/>
                </a:cubicBezTo>
                <a:cubicBezTo>
                  <a:pt x="515" y="694"/>
                  <a:pt x="516" y="670"/>
                  <a:pt x="540" y="648"/>
                </a:cubicBezTo>
                <a:cubicBezTo>
                  <a:pt x="556" y="599"/>
                  <a:pt x="566" y="540"/>
                  <a:pt x="605" y="504"/>
                </a:cubicBezTo>
                <a:cubicBezTo>
                  <a:pt x="639" y="515"/>
                  <a:pt x="671" y="508"/>
                  <a:pt x="705" y="497"/>
                </a:cubicBezTo>
                <a:cubicBezTo>
                  <a:pt x="862" y="504"/>
                  <a:pt x="896" y="534"/>
                  <a:pt x="979" y="403"/>
                </a:cubicBezTo>
                <a:cubicBezTo>
                  <a:pt x="1008" y="357"/>
                  <a:pt x="1005" y="309"/>
                  <a:pt x="1022" y="259"/>
                </a:cubicBezTo>
                <a:cubicBezTo>
                  <a:pt x="1027" y="245"/>
                  <a:pt x="1037" y="216"/>
                  <a:pt x="1037" y="216"/>
                </a:cubicBezTo>
                <a:cubicBezTo>
                  <a:pt x="1042" y="176"/>
                  <a:pt x="1045" y="139"/>
                  <a:pt x="1058" y="101"/>
                </a:cubicBezTo>
                <a:cubicBezTo>
                  <a:pt x="1063" y="58"/>
                  <a:pt x="1059" y="36"/>
                  <a:pt x="1087" y="7"/>
                </a:cubicBezTo>
                <a:cubicBezTo>
                  <a:pt x="1122" y="18"/>
                  <a:pt x="1133" y="47"/>
                  <a:pt x="1145" y="79"/>
                </a:cubicBezTo>
                <a:cubicBezTo>
                  <a:pt x="1173" y="282"/>
                  <a:pt x="1160" y="498"/>
                  <a:pt x="1166" y="698"/>
                </a:cubicBezTo>
                <a:cubicBezTo>
                  <a:pt x="1166" y="699"/>
                  <a:pt x="1180" y="741"/>
                  <a:pt x="1181" y="742"/>
                </a:cubicBezTo>
                <a:cubicBezTo>
                  <a:pt x="1224" y="772"/>
                  <a:pt x="1346" y="794"/>
                  <a:pt x="1397" y="799"/>
                </a:cubicBezTo>
                <a:cubicBezTo>
                  <a:pt x="1427" y="809"/>
                  <a:pt x="1458" y="815"/>
                  <a:pt x="1490" y="821"/>
                </a:cubicBezTo>
                <a:cubicBezTo>
                  <a:pt x="1574" y="816"/>
                  <a:pt x="1606" y="810"/>
                  <a:pt x="1677" y="792"/>
                </a:cubicBezTo>
                <a:cubicBezTo>
                  <a:pt x="1689" y="739"/>
                  <a:pt x="1704" y="676"/>
                  <a:pt x="1728" y="626"/>
                </a:cubicBezTo>
                <a:cubicBezTo>
                  <a:pt x="1741" y="600"/>
                  <a:pt x="1767" y="577"/>
                  <a:pt x="1785" y="554"/>
                </a:cubicBezTo>
                <a:cubicBezTo>
                  <a:pt x="1799" y="536"/>
                  <a:pt x="1809" y="509"/>
                  <a:pt x="1829" y="497"/>
                </a:cubicBezTo>
                <a:cubicBezTo>
                  <a:pt x="1862" y="478"/>
                  <a:pt x="1905" y="485"/>
                  <a:pt x="1944" y="482"/>
                </a:cubicBezTo>
                <a:cubicBezTo>
                  <a:pt x="2002" y="468"/>
                  <a:pt x="2023" y="466"/>
                  <a:pt x="2095" y="461"/>
                </a:cubicBezTo>
                <a:cubicBezTo>
                  <a:pt x="2118" y="437"/>
                  <a:pt x="2118" y="406"/>
                  <a:pt x="2124" y="374"/>
                </a:cubicBezTo>
                <a:cubicBezTo>
                  <a:pt x="2125" y="346"/>
                  <a:pt x="2107" y="197"/>
                  <a:pt x="2153" y="151"/>
                </a:cubicBezTo>
                <a:cubicBezTo>
                  <a:pt x="2162" y="124"/>
                  <a:pt x="2178" y="109"/>
                  <a:pt x="2196" y="86"/>
                </a:cubicBezTo>
                <a:cubicBezTo>
                  <a:pt x="2224" y="3"/>
                  <a:pt x="2332" y="0"/>
                  <a:pt x="240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08" name="Line 4"/>
          <p:cNvSpPr>
            <a:spLocks noChangeShapeType="1"/>
          </p:cNvSpPr>
          <p:nvPr/>
        </p:nvSpPr>
        <p:spPr bwMode="auto">
          <a:xfrm flipV="1">
            <a:off x="1247775" y="1502175"/>
            <a:ext cx="0" cy="219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09" name="Line 5"/>
          <p:cNvSpPr>
            <a:spLocks noChangeShapeType="1"/>
          </p:cNvSpPr>
          <p:nvPr/>
        </p:nvSpPr>
        <p:spPr bwMode="auto">
          <a:xfrm>
            <a:off x="1247775" y="3694113"/>
            <a:ext cx="3613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0" name="Text Box 6"/>
          <p:cNvSpPr txBox="1">
            <a:spLocks noChangeArrowheads="1"/>
          </p:cNvSpPr>
          <p:nvPr/>
        </p:nvSpPr>
        <p:spPr bwMode="auto">
          <a:xfrm>
            <a:off x="448711" y="853423"/>
            <a:ext cx="1598128" cy="69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Set Size</a:t>
            </a:r>
          </a:p>
        </p:txBody>
      </p:sp>
      <p:sp>
        <p:nvSpPr>
          <p:cNvPr id="866311" name="Text Box 7"/>
          <p:cNvSpPr txBox="1">
            <a:spLocks noChangeArrowheads="1"/>
          </p:cNvSpPr>
          <p:nvPr/>
        </p:nvSpPr>
        <p:spPr bwMode="auto">
          <a:xfrm>
            <a:off x="4379649" y="3725707"/>
            <a:ext cx="801951" cy="389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6600"/>
                </a:solidFill>
              </a:rPr>
              <a:t>Time</a:t>
            </a:r>
          </a:p>
        </p:txBody>
      </p:sp>
      <p:sp>
        <p:nvSpPr>
          <p:cNvPr id="866324" name="Text Box 20"/>
          <p:cNvSpPr txBox="1">
            <a:spLocks noChangeArrowheads="1"/>
          </p:cNvSpPr>
          <p:nvPr/>
        </p:nvSpPr>
        <p:spPr bwMode="auto">
          <a:xfrm>
            <a:off x="5867400" y="1454150"/>
            <a:ext cx="266065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C00000"/>
                </a:solidFill>
              </a:rPr>
              <a:t>Transient region:</a:t>
            </a:r>
          </a:p>
          <a:p>
            <a:r>
              <a:rPr lang="en-US" altLang="en-US" sz="2100" dirty="0"/>
              <a:t>working set changing</a:t>
            </a:r>
          </a:p>
          <a:p>
            <a:r>
              <a:rPr lang="en-US" altLang="en-US" sz="2100" dirty="0"/>
              <a:t>in size</a:t>
            </a:r>
          </a:p>
          <a:p>
            <a:endParaRPr lang="en-US" altLang="en-US" sz="2100" dirty="0"/>
          </a:p>
        </p:txBody>
      </p:sp>
      <p:sp>
        <p:nvSpPr>
          <p:cNvPr id="866325" name="Text Box 21"/>
          <p:cNvSpPr txBox="1">
            <a:spLocks noChangeArrowheads="1"/>
          </p:cNvSpPr>
          <p:nvPr/>
        </p:nvSpPr>
        <p:spPr bwMode="auto">
          <a:xfrm>
            <a:off x="5867400" y="2971800"/>
            <a:ext cx="26924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006600"/>
                </a:solidFill>
              </a:rPr>
              <a:t>Stable region</a:t>
            </a:r>
            <a:r>
              <a:rPr lang="en-US" altLang="en-US" sz="2100" dirty="0"/>
              <a:t>:</a:t>
            </a:r>
          </a:p>
          <a:p>
            <a:r>
              <a:rPr lang="en-US" altLang="en-US" sz="2100" dirty="0"/>
              <a:t>working set about the</a:t>
            </a:r>
          </a:p>
          <a:p>
            <a:r>
              <a:rPr lang="en-US" altLang="en-US" sz="2100" dirty="0"/>
              <a:t>same for a long time</a:t>
            </a:r>
          </a:p>
          <a:p>
            <a:endParaRPr lang="en-US" altLang="en-US" sz="2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52</a:t>
            </a:fld>
            <a:endParaRPr lang="en-US" altLang="en-US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423193" y="922854"/>
            <a:ext cx="1513439" cy="5566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80815" tIns="40407" rIns="80815" bIns="40407" anchor="ctr" anchorCtr="0">
            <a:no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8996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6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07" grpId="0" animBg="1"/>
      <p:bldP spid="866324" grpId="0"/>
      <p:bldP spid="866325" grpId="0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Working Set Model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762000"/>
          </a:xfrm>
        </p:spPr>
        <p:txBody>
          <a:bodyPr/>
          <a:lstStyle/>
          <a:p>
            <a:r>
              <a:rPr lang="en-US" altLang="en-US"/>
              <a:t>Example memory reference strings</a:t>
            </a:r>
          </a:p>
        </p:txBody>
      </p:sp>
      <p:sp>
        <p:nvSpPr>
          <p:cNvPr id="905221" name="Rectangle 5"/>
          <p:cNvSpPr>
            <a:spLocks noChangeArrowheads="1"/>
          </p:cNvSpPr>
          <p:nvPr/>
        </p:nvSpPr>
        <p:spPr bwMode="auto">
          <a:xfrm>
            <a:off x="609600" y="3352800"/>
            <a:ext cx="8077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Assume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</a:t>
            </a:r>
            <a:r>
              <a:rPr lang="en-US" altLang="en-US" dirty="0"/>
              <a:t> = an interval of 5 memory references</a:t>
            </a:r>
          </a:p>
          <a:p>
            <a:r>
              <a:rPr lang="en-US" altLang="en-US" sz="2800" b="1" dirty="0">
                <a:latin typeface="Courier New" pitchFamily="49" charset="0"/>
              </a:rPr>
              <a:t>W(t1,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)={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1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2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5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6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7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}</a:t>
            </a:r>
            <a:r>
              <a:rPr lang="en-US" altLang="en-US" dirty="0">
                <a:sym typeface="Symbol" pitchFamily="18" charset="2"/>
              </a:rPr>
              <a:t>  (</a:t>
            </a:r>
            <a:r>
              <a:rPr lang="en-US" altLang="en-US" b="1" dirty="0">
                <a:solidFill>
                  <a:srgbClr val="C00000"/>
                </a:solidFill>
                <a:sym typeface="Symbol" pitchFamily="18" charset="2"/>
              </a:rPr>
              <a:t>5</a:t>
            </a:r>
            <a:r>
              <a:rPr lang="en-US" altLang="en-US" dirty="0">
                <a:sym typeface="Symbol" pitchFamily="18" charset="2"/>
              </a:rPr>
              <a:t> frames needed)</a:t>
            </a:r>
          </a:p>
          <a:p>
            <a:r>
              <a:rPr lang="en-US" altLang="en-US" sz="2800" b="1" dirty="0">
                <a:latin typeface="Courier New" pitchFamily="49" charset="0"/>
              </a:rPr>
              <a:t>W(t2,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)={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3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4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}</a:t>
            </a:r>
            <a:r>
              <a:rPr lang="en-US" altLang="en-US" dirty="0">
                <a:sym typeface="Symbol" pitchFamily="18" charset="2"/>
              </a:rPr>
              <a:t>              (</a:t>
            </a:r>
            <a:r>
              <a:rPr lang="en-US" altLang="en-US" b="1" dirty="0">
                <a:solidFill>
                  <a:srgbClr val="C00000"/>
                </a:solidFill>
                <a:sym typeface="Symbol" pitchFamily="18" charset="2"/>
              </a:rPr>
              <a:t>2</a:t>
            </a:r>
            <a:r>
              <a:rPr lang="en-US" altLang="en-US" dirty="0">
                <a:sym typeface="Symbol" pitchFamily="18" charset="2"/>
              </a:rPr>
              <a:t> frames needed)</a:t>
            </a:r>
          </a:p>
          <a:p>
            <a:r>
              <a:rPr lang="en-US" altLang="en-US" dirty="0">
                <a:sym typeface="Symbol" pitchFamily="18" charset="2"/>
              </a:rPr>
              <a:t>Try using different  values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53</a:t>
            </a:fld>
            <a:endParaRPr lang="en-US" altLang="en-US"/>
          </a:p>
        </p:txBody>
      </p:sp>
      <p:grpSp>
        <p:nvGrpSpPr>
          <p:cNvPr id="22" name="Group 8"/>
          <p:cNvGrpSpPr>
            <a:grpSpLocks/>
          </p:cNvGrpSpPr>
          <p:nvPr/>
        </p:nvGrpSpPr>
        <p:grpSpPr bwMode="auto">
          <a:xfrm>
            <a:off x="2743200" y="2070863"/>
            <a:ext cx="457200" cy="1357313"/>
            <a:chOff x="1440" y="1344"/>
            <a:chExt cx="288" cy="855"/>
          </a:xfrm>
        </p:grpSpPr>
        <p:sp>
          <p:nvSpPr>
            <p:cNvPr id="23" name="Line 6"/>
            <p:cNvSpPr>
              <a:spLocks noChangeShapeType="1"/>
            </p:cNvSpPr>
            <p:nvPr/>
          </p:nvSpPr>
          <p:spPr bwMode="auto">
            <a:xfrm flipV="1">
              <a:off x="1584" y="1344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 Box 7"/>
            <p:cNvSpPr txBox="1">
              <a:spLocks noChangeArrowheads="1"/>
            </p:cNvSpPr>
            <p:nvPr/>
          </p:nvSpPr>
          <p:spPr bwMode="auto">
            <a:xfrm>
              <a:off x="1440" y="19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t1</a:t>
              </a:r>
            </a:p>
          </p:txBody>
        </p:sp>
      </p:grp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1219200" y="2299463"/>
            <a:ext cx="1752600" cy="366713"/>
            <a:chOff x="480" y="1488"/>
            <a:chExt cx="1104" cy="231"/>
          </a:xfrm>
        </p:grpSpPr>
        <p:sp>
          <p:nvSpPr>
            <p:cNvPr id="26" name="Line 9"/>
            <p:cNvSpPr>
              <a:spLocks noChangeShapeType="1"/>
            </p:cNvSpPr>
            <p:nvPr/>
          </p:nvSpPr>
          <p:spPr bwMode="auto">
            <a:xfrm flipV="1">
              <a:off x="480" y="1694"/>
              <a:ext cx="1104" cy="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arrow" w="lg" len="lg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1200" y="148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ym typeface="Symbol" pitchFamily="18" charset="2"/>
                </a:rPr>
                <a:t></a:t>
              </a: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594749"/>
              </p:ext>
            </p:extLst>
          </p:nvPr>
        </p:nvGraphicFramePr>
        <p:xfrm>
          <a:off x="838200" y="1678593"/>
          <a:ext cx="73913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Group 8"/>
          <p:cNvGrpSpPr>
            <a:grpSpLocks/>
          </p:cNvGrpSpPr>
          <p:nvPr/>
        </p:nvGrpSpPr>
        <p:grpSpPr bwMode="auto">
          <a:xfrm>
            <a:off x="6629400" y="2081687"/>
            <a:ext cx="457200" cy="1357313"/>
            <a:chOff x="1440" y="1344"/>
            <a:chExt cx="288" cy="855"/>
          </a:xfrm>
        </p:grpSpPr>
        <p:sp>
          <p:nvSpPr>
            <p:cNvPr id="30" name="Line 6"/>
            <p:cNvSpPr>
              <a:spLocks noChangeShapeType="1"/>
            </p:cNvSpPr>
            <p:nvPr/>
          </p:nvSpPr>
          <p:spPr bwMode="auto">
            <a:xfrm flipV="1">
              <a:off x="1584" y="1344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1440" y="19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t2</a:t>
              </a:r>
            </a:p>
          </p:txBody>
        </p:sp>
      </p:grpSp>
      <p:grpSp>
        <p:nvGrpSpPr>
          <p:cNvPr id="32" name="Group 11"/>
          <p:cNvGrpSpPr>
            <a:grpSpLocks/>
          </p:cNvGrpSpPr>
          <p:nvPr/>
        </p:nvGrpSpPr>
        <p:grpSpPr bwMode="auto">
          <a:xfrm>
            <a:off x="5105400" y="2310287"/>
            <a:ext cx="1752600" cy="366713"/>
            <a:chOff x="480" y="1488"/>
            <a:chExt cx="1104" cy="231"/>
          </a:xfrm>
        </p:grpSpPr>
        <p:sp>
          <p:nvSpPr>
            <p:cNvPr id="33" name="Line 9"/>
            <p:cNvSpPr>
              <a:spLocks noChangeShapeType="1"/>
            </p:cNvSpPr>
            <p:nvPr/>
          </p:nvSpPr>
          <p:spPr bwMode="auto">
            <a:xfrm flipV="1">
              <a:off x="480" y="1694"/>
              <a:ext cx="1104" cy="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arrow" w="lg" len="lg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1200" y="148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ym typeface="Symbol" pitchFamily="18" charset="2"/>
                </a:rPr>
                <a:t>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60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virtual memory</a:t>
            </a:r>
          </a:p>
          <a:p>
            <a:pPr lvl="1"/>
            <a:r>
              <a:rPr lang="en-US" altLang="en-US" dirty="0"/>
              <a:t>How it works and why is it needed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Discussed different aspects of virtual memory management</a:t>
            </a:r>
          </a:p>
          <a:p>
            <a:pPr lvl="1"/>
            <a:r>
              <a:rPr lang="en-US" altLang="en-US" dirty="0"/>
              <a:t>Use different page table structure to reduce page table overhead</a:t>
            </a:r>
          </a:p>
          <a:p>
            <a:pPr lvl="1"/>
            <a:r>
              <a:rPr lang="en-US" altLang="en-US" dirty="0"/>
              <a:t>Use different page replacement algorithms to reduce page fault</a:t>
            </a:r>
          </a:p>
          <a:p>
            <a:pPr lvl="1"/>
            <a:r>
              <a:rPr lang="en-US" altLang="en-US" dirty="0"/>
              <a:t>How frame allocation affects page fault of a process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4089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Memory Hierarchy</a:t>
            </a:r>
          </a:p>
        </p:txBody>
      </p:sp>
      <p:graphicFrame>
        <p:nvGraphicFramePr>
          <p:cNvPr id="908291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0937597"/>
              </p:ext>
            </p:extLst>
          </p:nvPr>
        </p:nvGraphicFramePr>
        <p:xfrm>
          <a:off x="838200" y="4038600"/>
          <a:ext cx="7239000" cy="2330451"/>
        </p:xfrm>
        <a:graphic>
          <a:graphicData uri="http://schemas.openxmlformats.org/drawingml/2006/table">
            <a:tbl>
              <a:tblPr/>
              <a:tblGrid>
                <a:gridCol w="265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88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Storage Type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 Time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</a:rPr>
                        <a:t>Registers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0.25-0.5ns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</a:rPr>
                        <a:t>Cache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0.5-25ns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6Mb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Arial" panose="020B0604020202020204" pitchFamily="34" charset="0"/>
                        </a:rPr>
                        <a:t>Main Memory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80-250ns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16Gb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Disk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~5000000ns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500Gb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08317" name="Group 29"/>
          <p:cNvGrpSpPr>
            <a:grpSpLocks/>
          </p:cNvGrpSpPr>
          <p:nvPr/>
        </p:nvGrpSpPr>
        <p:grpSpPr bwMode="auto">
          <a:xfrm>
            <a:off x="915988" y="1190625"/>
            <a:ext cx="6399212" cy="2390775"/>
            <a:chOff x="577" y="2496"/>
            <a:chExt cx="3409" cy="1349"/>
          </a:xfrm>
        </p:grpSpPr>
        <p:sp>
          <p:nvSpPr>
            <p:cNvPr id="908318" name="AutoShape 30"/>
            <p:cNvSpPr>
              <a:spLocks noChangeArrowheads="1"/>
            </p:cNvSpPr>
            <p:nvPr/>
          </p:nvSpPr>
          <p:spPr bwMode="auto">
            <a:xfrm>
              <a:off x="1551" y="2544"/>
              <a:ext cx="399" cy="288"/>
            </a:xfrm>
            <a:prstGeom prst="triangle">
              <a:avLst>
                <a:gd name="adj" fmla="val 50000"/>
              </a:avLst>
            </a:prstGeom>
            <a:solidFill>
              <a:srgbClr val="F8FFA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19" name="AutoShape 31"/>
            <p:cNvSpPr>
              <a:spLocks noChangeArrowheads="1"/>
            </p:cNvSpPr>
            <p:nvPr/>
          </p:nvSpPr>
          <p:spPr bwMode="auto">
            <a:xfrm rot="10800000">
              <a:off x="1373" y="2832"/>
              <a:ext cx="754" cy="240"/>
            </a:xfrm>
            <a:custGeom>
              <a:avLst/>
              <a:gdLst>
                <a:gd name="G0" fmla="+- 5241 0 0"/>
                <a:gd name="G1" fmla="+- 21600 0 5241"/>
                <a:gd name="G2" fmla="*/ 5241 1 2"/>
                <a:gd name="G3" fmla="+- 21600 0 G2"/>
                <a:gd name="G4" fmla="+/ 5241 21600 2"/>
                <a:gd name="G5" fmla="+/ G1 0 2"/>
                <a:gd name="G6" fmla="*/ 21600 21600 5241"/>
                <a:gd name="G7" fmla="*/ G6 1 2"/>
                <a:gd name="G8" fmla="+- 21600 0 G7"/>
                <a:gd name="G9" fmla="*/ 21600 1 2"/>
                <a:gd name="G10" fmla="+- 5241 0 G9"/>
                <a:gd name="G11" fmla="?: G10 G8 0"/>
                <a:gd name="G12" fmla="?: G10 G7 21600"/>
                <a:gd name="T0" fmla="*/ 18979 w 21600"/>
                <a:gd name="T1" fmla="*/ 10800 h 21600"/>
                <a:gd name="T2" fmla="*/ 10800 w 21600"/>
                <a:gd name="T3" fmla="*/ 21600 h 21600"/>
                <a:gd name="T4" fmla="*/ 2621 w 21600"/>
                <a:gd name="T5" fmla="*/ 10800 h 21600"/>
                <a:gd name="T6" fmla="*/ 10800 w 21600"/>
                <a:gd name="T7" fmla="*/ 0 h 21600"/>
                <a:gd name="T8" fmla="*/ 4421 w 21600"/>
                <a:gd name="T9" fmla="*/ 4421 h 21600"/>
                <a:gd name="T10" fmla="*/ 17179 w 21600"/>
                <a:gd name="T11" fmla="*/ 1717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241" y="21600"/>
                  </a:lnTo>
                  <a:lnTo>
                    <a:pt x="1635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DFF0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20" name="AutoShape 32"/>
            <p:cNvSpPr>
              <a:spLocks noChangeArrowheads="1"/>
            </p:cNvSpPr>
            <p:nvPr/>
          </p:nvSpPr>
          <p:spPr bwMode="auto">
            <a:xfrm rot="10800000">
              <a:off x="1196" y="3072"/>
              <a:ext cx="1108" cy="240"/>
            </a:xfrm>
            <a:custGeom>
              <a:avLst/>
              <a:gdLst>
                <a:gd name="G0" fmla="+- 3669 0 0"/>
                <a:gd name="G1" fmla="+- 21600 0 3669"/>
                <a:gd name="G2" fmla="*/ 3669 1 2"/>
                <a:gd name="G3" fmla="+- 21600 0 G2"/>
                <a:gd name="G4" fmla="+/ 3669 21600 2"/>
                <a:gd name="G5" fmla="+/ G1 0 2"/>
                <a:gd name="G6" fmla="*/ 21600 21600 3669"/>
                <a:gd name="G7" fmla="*/ G6 1 2"/>
                <a:gd name="G8" fmla="+- 21600 0 G7"/>
                <a:gd name="G9" fmla="*/ 21600 1 2"/>
                <a:gd name="G10" fmla="+- 3669 0 G9"/>
                <a:gd name="G11" fmla="?: G10 G8 0"/>
                <a:gd name="G12" fmla="?: G10 G7 21600"/>
                <a:gd name="T0" fmla="*/ 19765 w 21600"/>
                <a:gd name="T1" fmla="*/ 10800 h 21600"/>
                <a:gd name="T2" fmla="*/ 10800 w 21600"/>
                <a:gd name="T3" fmla="*/ 21600 h 21600"/>
                <a:gd name="T4" fmla="*/ 1835 w 21600"/>
                <a:gd name="T5" fmla="*/ 10800 h 21600"/>
                <a:gd name="T6" fmla="*/ 10800 w 21600"/>
                <a:gd name="T7" fmla="*/ 0 h 21600"/>
                <a:gd name="T8" fmla="*/ 3635 w 21600"/>
                <a:gd name="T9" fmla="*/ 3635 h 21600"/>
                <a:gd name="T10" fmla="*/ 17965 w 21600"/>
                <a:gd name="T11" fmla="*/ 1796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669" y="21600"/>
                  </a:lnTo>
                  <a:lnTo>
                    <a:pt x="1793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21" name="AutoShape 33"/>
            <p:cNvSpPr>
              <a:spLocks noChangeArrowheads="1"/>
            </p:cNvSpPr>
            <p:nvPr/>
          </p:nvSpPr>
          <p:spPr bwMode="auto">
            <a:xfrm rot="10800000">
              <a:off x="886" y="3312"/>
              <a:ext cx="1728" cy="480"/>
            </a:xfrm>
            <a:custGeom>
              <a:avLst/>
              <a:gdLst>
                <a:gd name="G0" fmla="+- 3865 0 0"/>
                <a:gd name="G1" fmla="+- 21600 0 3865"/>
                <a:gd name="G2" fmla="*/ 3865 1 2"/>
                <a:gd name="G3" fmla="+- 21600 0 G2"/>
                <a:gd name="G4" fmla="+/ 3865 21600 2"/>
                <a:gd name="G5" fmla="+/ G1 0 2"/>
                <a:gd name="G6" fmla="*/ 21600 21600 3865"/>
                <a:gd name="G7" fmla="*/ G6 1 2"/>
                <a:gd name="G8" fmla="+- 21600 0 G7"/>
                <a:gd name="G9" fmla="*/ 21600 1 2"/>
                <a:gd name="G10" fmla="+- 3865 0 G9"/>
                <a:gd name="G11" fmla="?: G10 G8 0"/>
                <a:gd name="G12" fmla="?: G10 G7 21600"/>
                <a:gd name="T0" fmla="*/ 19667 w 21600"/>
                <a:gd name="T1" fmla="*/ 10800 h 21600"/>
                <a:gd name="T2" fmla="*/ 10800 w 21600"/>
                <a:gd name="T3" fmla="*/ 21600 h 21600"/>
                <a:gd name="T4" fmla="*/ 1933 w 21600"/>
                <a:gd name="T5" fmla="*/ 10800 h 21600"/>
                <a:gd name="T6" fmla="*/ 10800 w 21600"/>
                <a:gd name="T7" fmla="*/ 0 h 21600"/>
                <a:gd name="T8" fmla="*/ 3733 w 21600"/>
                <a:gd name="T9" fmla="*/ 3733 h 21600"/>
                <a:gd name="T10" fmla="*/ 17867 w 21600"/>
                <a:gd name="T11" fmla="*/ 1786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865" y="21600"/>
                  </a:lnTo>
                  <a:lnTo>
                    <a:pt x="1773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22" name="Line 34"/>
            <p:cNvSpPr>
              <a:spLocks noChangeShapeType="1"/>
            </p:cNvSpPr>
            <p:nvPr/>
          </p:nvSpPr>
          <p:spPr bwMode="auto">
            <a:xfrm flipV="1">
              <a:off x="842" y="249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8323" name="Text Box 35"/>
            <p:cNvSpPr txBox="1">
              <a:spLocks noChangeArrowheads="1"/>
            </p:cNvSpPr>
            <p:nvPr/>
          </p:nvSpPr>
          <p:spPr bwMode="auto">
            <a:xfrm rot="10800000">
              <a:off x="3601" y="2589"/>
              <a:ext cx="385" cy="1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87280" tIns="43640" rIns="87280" bIns="43640">
              <a:spAutoFit/>
            </a:bodyPr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increasing size</a:t>
              </a:r>
            </a:p>
            <a:p>
              <a:r>
                <a:rPr lang="en-US" altLang="en-US"/>
                <a:t>+decreasing cost</a:t>
              </a:r>
            </a:p>
          </p:txBody>
        </p:sp>
        <p:sp>
          <p:nvSpPr>
            <p:cNvPr id="908324" name="Text Box 36"/>
            <p:cNvSpPr txBox="1">
              <a:spLocks noChangeArrowheads="1"/>
            </p:cNvSpPr>
            <p:nvPr/>
          </p:nvSpPr>
          <p:spPr bwMode="auto">
            <a:xfrm rot="10800000">
              <a:off x="577" y="2791"/>
              <a:ext cx="247" cy="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87280" tIns="43640" rIns="87280" bIns="43640">
              <a:spAutoFit/>
            </a:bodyPr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900"/>
                <a:t>faster access</a:t>
              </a:r>
            </a:p>
          </p:txBody>
        </p:sp>
        <p:sp>
          <p:nvSpPr>
            <p:cNvPr id="908325" name="Line 37"/>
            <p:cNvSpPr>
              <a:spLocks noChangeShapeType="1"/>
            </p:cNvSpPr>
            <p:nvPr/>
          </p:nvSpPr>
          <p:spPr bwMode="auto">
            <a:xfrm>
              <a:off x="3589" y="249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8326" name="AutoShape 38"/>
            <p:cNvSpPr>
              <a:spLocks/>
            </p:cNvSpPr>
            <p:nvPr/>
          </p:nvSpPr>
          <p:spPr bwMode="auto">
            <a:xfrm>
              <a:off x="2481" y="2568"/>
              <a:ext cx="798" cy="168"/>
            </a:xfrm>
            <a:prstGeom prst="callout1">
              <a:avLst>
                <a:gd name="adj1" fmla="val 42856"/>
                <a:gd name="adj2" fmla="val -5556"/>
                <a:gd name="adj3" fmla="val 42856"/>
                <a:gd name="adj4" fmla="val -72222"/>
              </a:avLst>
            </a:prstGeom>
            <a:solidFill>
              <a:srgbClr val="F8FFA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register</a:t>
              </a:r>
            </a:p>
          </p:txBody>
        </p:sp>
        <p:sp>
          <p:nvSpPr>
            <p:cNvPr id="908327" name="AutoShape 39"/>
            <p:cNvSpPr>
              <a:spLocks/>
            </p:cNvSpPr>
            <p:nvPr/>
          </p:nvSpPr>
          <p:spPr bwMode="auto">
            <a:xfrm>
              <a:off x="2481" y="2856"/>
              <a:ext cx="532" cy="168"/>
            </a:xfrm>
            <a:prstGeom prst="callout1">
              <a:avLst>
                <a:gd name="adj1" fmla="val 42856"/>
                <a:gd name="adj2" fmla="val -8333"/>
                <a:gd name="adj3" fmla="val 42856"/>
                <a:gd name="adj4" fmla="val -83333"/>
              </a:avLst>
            </a:prstGeom>
            <a:solidFill>
              <a:srgbClr val="EDFF0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cache</a:t>
              </a:r>
            </a:p>
          </p:txBody>
        </p:sp>
        <p:sp>
          <p:nvSpPr>
            <p:cNvPr id="908328" name="AutoShape 40"/>
            <p:cNvSpPr>
              <a:spLocks/>
            </p:cNvSpPr>
            <p:nvPr/>
          </p:nvSpPr>
          <p:spPr bwMode="auto">
            <a:xfrm>
              <a:off x="2496" y="3096"/>
              <a:ext cx="887" cy="264"/>
            </a:xfrm>
            <a:prstGeom prst="callout1">
              <a:avLst>
                <a:gd name="adj1" fmla="val 27273"/>
                <a:gd name="adj2" fmla="val -5000"/>
                <a:gd name="adj3" fmla="val 27273"/>
                <a:gd name="adj4" fmla="val -26667"/>
              </a:avLst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main memory</a:t>
              </a:r>
            </a:p>
          </p:txBody>
        </p:sp>
        <p:sp>
          <p:nvSpPr>
            <p:cNvPr id="908329" name="AutoShape 41"/>
            <p:cNvSpPr>
              <a:spLocks/>
            </p:cNvSpPr>
            <p:nvPr/>
          </p:nvSpPr>
          <p:spPr bwMode="auto">
            <a:xfrm>
              <a:off x="2752" y="3461"/>
              <a:ext cx="710" cy="384"/>
            </a:xfrm>
            <a:prstGeom prst="callout1">
              <a:avLst>
                <a:gd name="adj1" fmla="val 18750"/>
                <a:gd name="adj2" fmla="val -6250"/>
                <a:gd name="adj3" fmla="val 20315"/>
                <a:gd name="adj4" fmla="val -37889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secondary storage</a:t>
              </a:r>
            </a:p>
          </p:txBody>
        </p:sp>
      </p:grpSp>
      <p:sp>
        <p:nvSpPr>
          <p:cNvPr id="908332" name="AutoShape 4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0" y="6172200"/>
            <a:ext cx="685800" cy="685800"/>
          </a:xfrm>
          <a:prstGeom prst="actionButtonReturn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879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Page Fault</a:t>
            </a:r>
            <a:r>
              <a:rPr lang="en-US" altLang="en-US" sz="3800" dirty="0"/>
              <a:t>: Illustration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602039" y="1210490"/>
            <a:ext cx="2722561" cy="4648201"/>
            <a:chOff x="3602039" y="1210490"/>
            <a:chExt cx="2722561" cy="4648201"/>
          </a:xfrm>
        </p:grpSpPr>
        <p:grpSp>
          <p:nvGrpSpPr>
            <p:cNvPr id="10" name="Group 9"/>
            <p:cNvGrpSpPr/>
            <p:nvPr/>
          </p:nvGrpSpPr>
          <p:grpSpPr>
            <a:xfrm>
              <a:off x="3602039" y="1210490"/>
              <a:ext cx="2722561" cy="4648201"/>
              <a:chOff x="3602039" y="1210490"/>
              <a:chExt cx="2722561" cy="4648201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4191000" y="1210491"/>
                <a:ext cx="2133600" cy="4648200"/>
                <a:chOff x="3352800" y="1066800"/>
                <a:chExt cx="2133600" cy="4648200"/>
              </a:xfrm>
            </p:grpSpPr>
            <p:sp>
              <p:nvSpPr>
                <p:cNvPr id="804882" name="Rectangle 18"/>
                <p:cNvSpPr>
                  <a:spLocks noChangeArrowheads="1"/>
                </p:cNvSpPr>
                <p:nvPr/>
              </p:nvSpPr>
              <p:spPr bwMode="auto">
                <a:xfrm>
                  <a:off x="3352800" y="5334000"/>
                  <a:ext cx="213360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/>
                    <a:t>physical memory</a:t>
                  </a:r>
                </a:p>
              </p:txBody>
            </p:sp>
            <p:grpSp>
              <p:nvGrpSpPr>
                <p:cNvPr id="4" name="Group 3"/>
                <p:cNvGrpSpPr/>
                <p:nvPr/>
              </p:nvGrpSpPr>
              <p:grpSpPr>
                <a:xfrm>
                  <a:off x="3810000" y="1066800"/>
                  <a:ext cx="1144132" cy="4267200"/>
                  <a:chOff x="3810000" y="1066800"/>
                  <a:chExt cx="1144132" cy="4267200"/>
                </a:xfrm>
              </p:grpSpPr>
              <p:sp>
                <p:nvSpPr>
                  <p:cNvPr id="804878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22860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80487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28956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804880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10668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80488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47244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36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811132" y="16764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3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3510104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38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4119704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</p:grpSp>
          </p:grpSp>
          <p:grpSp>
            <p:nvGrpSpPr>
              <p:cNvPr id="7" name="Group 6"/>
              <p:cNvGrpSpPr/>
              <p:nvPr/>
            </p:nvGrpSpPr>
            <p:grpSpPr>
              <a:xfrm>
                <a:off x="3602039" y="1210490"/>
                <a:ext cx="990600" cy="4182291"/>
                <a:chOff x="3352800" y="958851"/>
                <a:chExt cx="990600" cy="4267200"/>
              </a:xfrm>
            </p:grpSpPr>
            <p:sp>
              <p:nvSpPr>
                <p:cNvPr id="59" name="Rectangle 32"/>
                <p:cNvSpPr>
                  <a:spLocks noChangeArrowheads="1"/>
                </p:cNvSpPr>
                <p:nvPr/>
              </p:nvSpPr>
              <p:spPr bwMode="auto">
                <a:xfrm>
                  <a:off x="3352800" y="4616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……</a:t>
                  </a:r>
                </a:p>
              </p:txBody>
            </p:sp>
            <p:sp>
              <p:nvSpPr>
                <p:cNvPr id="60" name="Rectangle 33"/>
                <p:cNvSpPr>
                  <a:spLocks noChangeArrowheads="1"/>
                </p:cNvSpPr>
                <p:nvPr/>
              </p:nvSpPr>
              <p:spPr bwMode="auto">
                <a:xfrm>
                  <a:off x="3352800" y="4006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5</a:t>
                  </a:r>
                </a:p>
              </p:txBody>
            </p:sp>
            <p:sp>
              <p:nvSpPr>
                <p:cNvPr id="61" name="Rectangle 34"/>
                <p:cNvSpPr>
                  <a:spLocks noChangeArrowheads="1"/>
                </p:cNvSpPr>
                <p:nvPr/>
              </p:nvSpPr>
              <p:spPr bwMode="auto">
                <a:xfrm>
                  <a:off x="3352800" y="33972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4</a:t>
                  </a:r>
                </a:p>
              </p:txBody>
            </p:sp>
            <p:sp>
              <p:nvSpPr>
                <p:cNvPr id="62" name="Rectangle 35"/>
                <p:cNvSpPr>
                  <a:spLocks noChangeArrowheads="1"/>
                </p:cNvSpPr>
                <p:nvPr/>
              </p:nvSpPr>
              <p:spPr bwMode="auto">
                <a:xfrm>
                  <a:off x="3352800" y="27876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3</a:t>
                  </a:r>
                </a:p>
              </p:txBody>
            </p:sp>
            <p:sp>
              <p:nvSpPr>
                <p:cNvPr id="63" name="Rectangle 36"/>
                <p:cNvSpPr>
                  <a:spLocks noChangeArrowheads="1"/>
                </p:cNvSpPr>
                <p:nvPr/>
              </p:nvSpPr>
              <p:spPr bwMode="auto">
                <a:xfrm>
                  <a:off x="3352800" y="21780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2</a:t>
                  </a:r>
                </a:p>
              </p:txBody>
            </p:sp>
            <p:sp>
              <p:nvSpPr>
                <p:cNvPr id="64" name="Rectangle 37"/>
                <p:cNvSpPr>
                  <a:spLocks noChangeArrowheads="1"/>
                </p:cNvSpPr>
                <p:nvPr/>
              </p:nvSpPr>
              <p:spPr bwMode="auto">
                <a:xfrm>
                  <a:off x="3352800" y="1568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65" name="Rectangle 38"/>
                <p:cNvSpPr>
                  <a:spLocks noChangeArrowheads="1"/>
                </p:cNvSpPr>
                <p:nvPr/>
              </p:nvSpPr>
              <p:spPr bwMode="auto">
                <a:xfrm>
                  <a:off x="3352800" y="958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frame 0</a:t>
                  </a:r>
                </a:p>
              </p:txBody>
            </p:sp>
          </p:grpSp>
        </p:grpSp>
        <p:sp>
          <p:nvSpPr>
            <p:cNvPr id="804874" name="Rectangle 10"/>
            <p:cNvSpPr>
              <a:spLocks noChangeArrowheads="1"/>
            </p:cNvSpPr>
            <p:nvPr/>
          </p:nvSpPr>
          <p:spPr bwMode="auto">
            <a:xfrm>
              <a:off x="4648200" y="36488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Page 0</a:t>
              </a:r>
            </a:p>
          </p:txBody>
        </p:sp>
        <p:sp>
          <p:nvSpPr>
            <p:cNvPr id="804876" name="Rectangle 12"/>
            <p:cNvSpPr>
              <a:spLocks noChangeArrowheads="1"/>
            </p:cNvSpPr>
            <p:nvPr/>
          </p:nvSpPr>
          <p:spPr bwMode="auto">
            <a:xfrm>
              <a:off x="4648200" y="42584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804877" name="Rectangle 13"/>
            <p:cNvSpPr>
              <a:spLocks noChangeArrowheads="1"/>
            </p:cNvSpPr>
            <p:nvPr/>
          </p:nvSpPr>
          <p:spPr bwMode="auto">
            <a:xfrm>
              <a:off x="4648200" y="18200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17579" y="1219200"/>
            <a:ext cx="2669221" cy="4648200"/>
            <a:chOff x="6017579" y="1219200"/>
            <a:chExt cx="2669221" cy="4648200"/>
          </a:xfrm>
        </p:grpSpPr>
        <p:grpSp>
          <p:nvGrpSpPr>
            <p:cNvPr id="11" name="Group 10"/>
            <p:cNvGrpSpPr/>
            <p:nvPr/>
          </p:nvGrpSpPr>
          <p:grpSpPr>
            <a:xfrm>
              <a:off x="6017579" y="1219200"/>
              <a:ext cx="2669221" cy="4648200"/>
              <a:chOff x="6017579" y="1219200"/>
              <a:chExt cx="2669221" cy="464820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6553200" y="1219200"/>
                <a:ext cx="2133600" cy="4648200"/>
                <a:chOff x="6019800" y="1066800"/>
                <a:chExt cx="2133600" cy="4648200"/>
              </a:xfrm>
            </p:grpSpPr>
            <p:sp>
              <p:nvSpPr>
                <p:cNvPr id="804925" name="Rectangle 61"/>
                <p:cNvSpPr>
                  <a:spLocks noChangeArrowheads="1"/>
                </p:cNvSpPr>
                <p:nvPr/>
              </p:nvSpPr>
              <p:spPr bwMode="auto">
                <a:xfrm>
                  <a:off x="6477000" y="22860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6" name="Rectangle 62"/>
                <p:cNvSpPr>
                  <a:spLocks noChangeArrowheads="1"/>
                </p:cNvSpPr>
                <p:nvPr/>
              </p:nvSpPr>
              <p:spPr bwMode="auto">
                <a:xfrm>
                  <a:off x="6477000" y="4114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7" name="Rectangle 63"/>
                <p:cNvSpPr>
                  <a:spLocks noChangeArrowheads="1"/>
                </p:cNvSpPr>
                <p:nvPr/>
              </p:nvSpPr>
              <p:spPr bwMode="auto">
                <a:xfrm>
                  <a:off x="6477000" y="1676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8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7000" y="4724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9" name="Rectangle 65"/>
                <p:cNvSpPr>
                  <a:spLocks noChangeArrowheads="1"/>
                </p:cNvSpPr>
                <p:nvPr/>
              </p:nvSpPr>
              <p:spPr bwMode="auto">
                <a:xfrm>
                  <a:off x="6019800" y="5334000"/>
                  <a:ext cx="213360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/>
                    <a:t>Secondary Storage </a:t>
                  </a:r>
                </a:p>
              </p:txBody>
            </p:sp>
            <p:sp>
              <p:nvSpPr>
                <p:cNvPr id="39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7000" y="1066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40" name="Rectangle 61"/>
                <p:cNvSpPr>
                  <a:spLocks noChangeArrowheads="1"/>
                </p:cNvSpPr>
                <p:nvPr/>
              </p:nvSpPr>
              <p:spPr bwMode="auto">
                <a:xfrm>
                  <a:off x="6477000" y="35052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41" name="Rectangle 63"/>
                <p:cNvSpPr>
                  <a:spLocks noChangeArrowheads="1"/>
                </p:cNvSpPr>
                <p:nvPr/>
              </p:nvSpPr>
              <p:spPr bwMode="auto">
                <a:xfrm>
                  <a:off x="6477000" y="28956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</p:grpSp>
          <p:grpSp>
            <p:nvGrpSpPr>
              <p:cNvPr id="67" name="Group 66"/>
              <p:cNvGrpSpPr/>
              <p:nvPr/>
            </p:nvGrpSpPr>
            <p:grpSpPr>
              <a:xfrm>
                <a:off x="6017579" y="1235527"/>
                <a:ext cx="990600" cy="4263003"/>
                <a:chOff x="3352800" y="958851"/>
                <a:chExt cx="990600" cy="4267200"/>
              </a:xfrm>
            </p:grpSpPr>
            <p:sp>
              <p:nvSpPr>
                <p:cNvPr id="69" name="Rectangle 32"/>
                <p:cNvSpPr>
                  <a:spLocks noChangeArrowheads="1"/>
                </p:cNvSpPr>
                <p:nvPr/>
              </p:nvSpPr>
              <p:spPr bwMode="auto">
                <a:xfrm>
                  <a:off x="3352800" y="4616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……</a:t>
                  </a:r>
                </a:p>
              </p:txBody>
            </p:sp>
            <p:sp>
              <p:nvSpPr>
                <p:cNvPr id="70" name="Rectangle 33"/>
                <p:cNvSpPr>
                  <a:spLocks noChangeArrowheads="1"/>
                </p:cNvSpPr>
                <p:nvPr/>
              </p:nvSpPr>
              <p:spPr bwMode="auto">
                <a:xfrm>
                  <a:off x="3352800" y="4006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5</a:t>
                  </a:r>
                </a:p>
              </p:txBody>
            </p:sp>
            <p:sp>
              <p:nvSpPr>
                <p:cNvPr id="71" name="Rectangle 34"/>
                <p:cNvSpPr>
                  <a:spLocks noChangeArrowheads="1"/>
                </p:cNvSpPr>
                <p:nvPr/>
              </p:nvSpPr>
              <p:spPr bwMode="auto">
                <a:xfrm>
                  <a:off x="3352800" y="33972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4</a:t>
                  </a:r>
                </a:p>
              </p:txBody>
            </p:sp>
            <p:sp>
              <p:nvSpPr>
                <p:cNvPr id="72" name="Rectangle 35"/>
                <p:cNvSpPr>
                  <a:spLocks noChangeArrowheads="1"/>
                </p:cNvSpPr>
                <p:nvPr/>
              </p:nvSpPr>
              <p:spPr bwMode="auto">
                <a:xfrm>
                  <a:off x="3352800" y="27876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3</a:t>
                  </a:r>
                </a:p>
              </p:txBody>
            </p:sp>
            <p:sp>
              <p:nvSpPr>
                <p:cNvPr id="73" name="Rectangle 36"/>
                <p:cNvSpPr>
                  <a:spLocks noChangeArrowheads="1"/>
                </p:cNvSpPr>
                <p:nvPr/>
              </p:nvSpPr>
              <p:spPr bwMode="auto">
                <a:xfrm>
                  <a:off x="3352800" y="21780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2</a:t>
                  </a:r>
                </a:p>
              </p:txBody>
            </p:sp>
            <p:sp>
              <p:nvSpPr>
                <p:cNvPr id="74" name="Rectangle 37"/>
                <p:cNvSpPr>
                  <a:spLocks noChangeArrowheads="1"/>
                </p:cNvSpPr>
                <p:nvPr/>
              </p:nvSpPr>
              <p:spPr bwMode="auto">
                <a:xfrm>
                  <a:off x="3352800" y="1568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75" name="Rectangle 38"/>
                <p:cNvSpPr>
                  <a:spLocks noChangeArrowheads="1"/>
                </p:cNvSpPr>
                <p:nvPr/>
              </p:nvSpPr>
              <p:spPr bwMode="auto">
                <a:xfrm>
                  <a:off x="3352800" y="958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swap 0</a:t>
                  </a:r>
                </a:p>
              </p:txBody>
            </p:sp>
          </p:grpSp>
        </p:grpSp>
        <p:sp>
          <p:nvSpPr>
            <p:cNvPr id="804921" name="Rectangle 57"/>
            <p:cNvSpPr>
              <a:spLocks noChangeArrowheads="1"/>
            </p:cNvSpPr>
            <p:nvPr/>
          </p:nvSpPr>
          <p:spPr bwMode="auto">
            <a:xfrm>
              <a:off x="7010400" y="3657600"/>
              <a:ext cx="1143000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804923" name="Rectangle 59"/>
            <p:cNvSpPr>
              <a:spLocks noChangeArrowheads="1"/>
            </p:cNvSpPr>
            <p:nvPr/>
          </p:nvSpPr>
          <p:spPr bwMode="auto">
            <a:xfrm>
              <a:off x="7010400" y="1219200"/>
              <a:ext cx="1143000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Page 4</a:t>
              </a:r>
            </a:p>
          </p:txBody>
        </p:sp>
      </p:grpSp>
      <p:sp>
        <p:nvSpPr>
          <p:cNvPr id="804924" name="Rectangle 60"/>
          <p:cNvSpPr>
            <a:spLocks noChangeArrowheads="1"/>
          </p:cNvSpPr>
          <p:nvPr/>
        </p:nvSpPr>
        <p:spPr bwMode="auto">
          <a:xfrm>
            <a:off x="7008179" y="3050933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3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52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5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46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47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8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49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50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51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77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2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84" name="Group 83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85" name="Group 84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100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F1</a:t>
                </a:r>
              </a:p>
            </p:txBody>
          </p:sp>
          <p:sp>
            <p:nvSpPr>
              <p:cNvPr id="101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S0</a:t>
                </a:r>
              </a:p>
            </p:txBody>
          </p:sp>
          <p:sp>
            <p:nvSpPr>
              <p:cNvPr id="102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S3</a:t>
                </a:r>
              </a:p>
            </p:txBody>
          </p:sp>
          <p:sp>
            <p:nvSpPr>
              <p:cNvPr id="103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F5</a:t>
                </a:r>
              </a:p>
            </p:txBody>
          </p:sp>
          <p:sp>
            <p:nvSpPr>
              <p:cNvPr id="104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S4</a:t>
                </a:r>
              </a:p>
            </p:txBody>
          </p:sp>
          <p:sp>
            <p:nvSpPr>
              <p:cNvPr id="105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F4</a:t>
                </a:r>
              </a:p>
            </p:txBody>
          </p:sp>
        </p:grpSp>
        <p:grpSp>
          <p:nvGrpSpPr>
            <p:cNvPr id="86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94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95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96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97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98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99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87" name="Group 86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88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89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90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91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92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93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-38100" y="1495896"/>
            <a:ext cx="2743200" cy="4171007"/>
            <a:chOff x="-38100" y="1495896"/>
            <a:chExt cx="2743200" cy="4171007"/>
          </a:xfrm>
        </p:grpSpPr>
        <p:sp>
          <p:nvSpPr>
            <p:cNvPr id="804872" name="Rectangle 8"/>
            <p:cNvSpPr>
              <a:spLocks noChangeArrowheads="1"/>
            </p:cNvSpPr>
            <p:nvPr/>
          </p:nvSpPr>
          <p:spPr bwMode="auto">
            <a:xfrm>
              <a:off x="-38100" y="5305896"/>
              <a:ext cx="27432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Virtual Memory Space</a:t>
              </a:r>
            </a:p>
          </p:txBody>
        </p:sp>
        <p:grpSp>
          <p:nvGrpSpPr>
            <p:cNvPr id="804920" name="Group 56"/>
            <p:cNvGrpSpPr>
              <a:grpSpLocks/>
            </p:cNvGrpSpPr>
            <p:nvPr/>
          </p:nvGrpSpPr>
          <p:grpSpPr bwMode="auto">
            <a:xfrm>
              <a:off x="647700" y="1495896"/>
              <a:ext cx="1143000" cy="3657600"/>
              <a:chOff x="624" y="1248"/>
              <a:chExt cx="720" cy="2304"/>
            </a:xfrm>
          </p:grpSpPr>
          <p:sp>
            <p:nvSpPr>
              <p:cNvPr id="804868" name="Rectangle 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5</a:t>
                </a:r>
              </a:p>
            </p:txBody>
          </p:sp>
          <p:sp>
            <p:nvSpPr>
              <p:cNvPr id="804869" name="Rectangle 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4</a:t>
                </a:r>
              </a:p>
            </p:txBody>
          </p:sp>
          <p:sp>
            <p:nvSpPr>
              <p:cNvPr id="804870" name="Rectangle 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3</a:t>
                </a:r>
              </a:p>
            </p:txBody>
          </p:sp>
          <p:sp>
            <p:nvSpPr>
              <p:cNvPr id="804871" name="Rectangle 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2</a:t>
                </a:r>
              </a:p>
            </p:txBody>
          </p:sp>
          <p:sp>
            <p:nvSpPr>
              <p:cNvPr id="804915" name="Rectangle 51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1</a:t>
                </a:r>
              </a:p>
            </p:txBody>
          </p:sp>
          <p:sp>
            <p:nvSpPr>
              <p:cNvPr id="804916" name="Rectangle 52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0</a:t>
                </a:r>
              </a:p>
            </p:txBody>
          </p:sp>
        </p:grpSp>
      </p:grpSp>
      <p:sp>
        <p:nvSpPr>
          <p:cNvPr id="106" name="Rectangle 60"/>
          <p:cNvSpPr>
            <a:spLocks noChangeArrowheads="1"/>
          </p:cNvSpPr>
          <p:nvPr/>
        </p:nvSpPr>
        <p:spPr bwMode="auto">
          <a:xfrm>
            <a:off x="4644890" y="1203954"/>
            <a:ext cx="11430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Page 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19808" y="3356747"/>
            <a:ext cx="1390192" cy="355600"/>
            <a:chOff x="2538549" y="3513282"/>
            <a:chExt cx="1390192" cy="355600"/>
          </a:xfrm>
        </p:grpSpPr>
        <p:sp>
          <p:nvSpPr>
            <p:cNvPr id="107" name="Rectangle 46"/>
            <p:cNvSpPr>
              <a:spLocks noChangeArrowheads="1"/>
            </p:cNvSpPr>
            <p:nvPr/>
          </p:nvSpPr>
          <p:spPr bwMode="auto">
            <a:xfrm>
              <a:off x="2538549" y="3513282"/>
              <a:ext cx="968872" cy="355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3498712" y="3513282"/>
              <a:ext cx="430029" cy="355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114" name="Rectangle 18"/>
          <p:cNvSpPr>
            <a:spLocks noChangeArrowheads="1"/>
          </p:cNvSpPr>
          <p:nvPr/>
        </p:nvSpPr>
        <p:spPr bwMode="auto">
          <a:xfrm>
            <a:off x="1963739" y="441565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56</a:t>
            </a:fld>
            <a:endParaRPr lang="en-US" altLang="en-US"/>
          </a:p>
        </p:txBody>
      </p:sp>
      <p:sp>
        <p:nvSpPr>
          <p:cNvPr id="109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20730" y="2625831"/>
            <a:ext cx="1657808" cy="775065"/>
            <a:chOff x="336411" y="3111135"/>
            <a:chExt cx="1657808" cy="775065"/>
          </a:xfrm>
        </p:grpSpPr>
        <p:sp>
          <p:nvSpPr>
            <p:cNvPr id="2" name="Rectangle 1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2</a:t>
              </a:r>
              <a:endParaRPr lang="en-SG" dirty="0"/>
            </a:p>
          </p:txBody>
        </p:sp>
        <p:sp>
          <p:nvSpPr>
            <p:cNvPr id="110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08735" y="3510893"/>
            <a:ext cx="1657808" cy="775065"/>
            <a:chOff x="336411" y="3111135"/>
            <a:chExt cx="1657808" cy="775065"/>
          </a:xfrm>
        </p:grpSpPr>
        <p:sp>
          <p:nvSpPr>
            <p:cNvPr id="113" name="Rectangle 112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3</a:t>
              </a:r>
              <a:endParaRPr lang="en-SG" dirty="0"/>
            </a:p>
          </p:txBody>
        </p:sp>
        <p:sp>
          <p:nvSpPr>
            <p:cNvPr id="115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61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804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924" grpId="0" animBg="1"/>
      <p:bldP spid="804924" grpId="1" animBg="1"/>
      <p:bldP spid="106" grpId="0" animBg="1"/>
      <p:bldP spid="1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A King and his </a:t>
            </a:r>
            <a:r>
              <a:rPr lang="en-US" altLang="en-US" sz="3800" b="1" i="1" dirty="0"/>
              <a:t>small </a:t>
            </a:r>
            <a:r>
              <a:rPr lang="en-US" altLang="en-US" sz="3800" b="1" dirty="0"/>
              <a:t>castle</a:t>
            </a:r>
          </a:p>
        </p:txBody>
      </p:sp>
      <p:pic>
        <p:nvPicPr>
          <p:cNvPr id="910341" name="Picture 5" descr="MCj0304493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90800"/>
            <a:ext cx="2132013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0343" name="Rectangle 7" descr="20%"/>
          <p:cNvSpPr>
            <a:spLocks noChangeArrowheads="1"/>
          </p:cNvSpPr>
          <p:nvPr/>
        </p:nvSpPr>
        <p:spPr bwMode="auto">
          <a:xfrm>
            <a:off x="5181600" y="10668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Throne Rm</a:t>
            </a:r>
          </a:p>
        </p:txBody>
      </p:sp>
      <p:sp>
        <p:nvSpPr>
          <p:cNvPr id="910344" name="Rectangle 8" descr="20%"/>
          <p:cNvSpPr>
            <a:spLocks noChangeArrowheads="1"/>
          </p:cNvSpPr>
          <p:nvPr/>
        </p:nvSpPr>
        <p:spPr bwMode="auto">
          <a:xfrm>
            <a:off x="5181600" y="2438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</a:t>
            </a:r>
          </a:p>
        </p:txBody>
      </p:sp>
      <p:sp>
        <p:nvSpPr>
          <p:cNvPr id="910345" name="Rectangle 9" descr="20%"/>
          <p:cNvSpPr>
            <a:spLocks noChangeArrowheads="1"/>
          </p:cNvSpPr>
          <p:nvPr/>
        </p:nvSpPr>
        <p:spPr bwMode="auto">
          <a:xfrm>
            <a:off x="5181600" y="38100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101</a:t>
            </a:r>
          </a:p>
        </p:txBody>
      </p:sp>
      <p:sp>
        <p:nvSpPr>
          <p:cNvPr id="910346" name="Rectangle 10" descr="20%"/>
          <p:cNvSpPr>
            <a:spLocks noChangeArrowheads="1"/>
          </p:cNvSpPr>
          <p:nvPr/>
        </p:nvSpPr>
        <p:spPr bwMode="auto">
          <a:xfrm>
            <a:off x="5181600" y="44958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1</a:t>
            </a:r>
          </a:p>
        </p:txBody>
      </p:sp>
      <p:sp>
        <p:nvSpPr>
          <p:cNvPr id="910347" name="Rectangle 11" descr="20%"/>
          <p:cNvSpPr>
            <a:spLocks noChangeArrowheads="1"/>
          </p:cNvSpPr>
          <p:nvPr/>
        </p:nvSpPr>
        <p:spPr bwMode="auto">
          <a:xfrm>
            <a:off x="5181600" y="5867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63</a:t>
            </a:r>
          </a:p>
        </p:txBody>
      </p:sp>
      <p:sp>
        <p:nvSpPr>
          <p:cNvPr id="910348" name="Rectangle 12" descr="20%"/>
          <p:cNvSpPr>
            <a:spLocks noChangeArrowheads="1"/>
          </p:cNvSpPr>
          <p:nvPr/>
        </p:nvSpPr>
        <p:spPr bwMode="auto">
          <a:xfrm>
            <a:off x="5181600" y="31242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0349" name="Rectangle 13" descr="20%"/>
          <p:cNvSpPr>
            <a:spLocks noChangeArrowheads="1"/>
          </p:cNvSpPr>
          <p:nvPr/>
        </p:nvSpPr>
        <p:spPr bwMode="auto">
          <a:xfrm>
            <a:off x="5181600" y="51816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0350" name="Rectangle 14" descr="20%"/>
          <p:cNvSpPr>
            <a:spLocks noChangeArrowheads="1"/>
          </p:cNvSpPr>
          <p:nvPr/>
        </p:nvSpPr>
        <p:spPr bwMode="auto">
          <a:xfrm>
            <a:off x="5181600" y="17526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Ballroom</a:t>
            </a:r>
          </a:p>
        </p:txBody>
      </p:sp>
      <p:sp>
        <p:nvSpPr>
          <p:cNvPr id="910351" name="AutoShape 15"/>
          <p:cNvSpPr>
            <a:spLocks noChangeArrowheads="1"/>
          </p:cNvSpPr>
          <p:nvPr/>
        </p:nvSpPr>
        <p:spPr bwMode="auto">
          <a:xfrm>
            <a:off x="304800" y="1600200"/>
            <a:ext cx="2590800" cy="1295400"/>
          </a:xfrm>
          <a:prstGeom prst="wedgeRoundRectCallout">
            <a:avLst>
              <a:gd name="adj1" fmla="val 38662"/>
              <a:gd name="adj2" fmla="val 75736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3200" b="1" dirty="0">
                <a:latin typeface="Bernard MT Condensed" panose="02050806060905020404" pitchFamily="18" charset="0"/>
              </a:rPr>
              <a:t>I have a </a:t>
            </a:r>
            <a:r>
              <a:rPr lang="en-US" altLang="en-US" sz="3200" b="1" i="1" dirty="0">
                <a:solidFill>
                  <a:srgbClr val="9900CC"/>
                </a:solidFill>
                <a:latin typeface="Bernard MT Condensed" panose="02050806060905020404" pitchFamily="18" charset="0"/>
              </a:rPr>
              <a:t>small </a:t>
            </a:r>
            <a:r>
              <a:rPr lang="en-US" altLang="en-US" sz="3200" b="1" dirty="0">
                <a:latin typeface="Bernard MT Condensed" panose="02050806060905020404" pitchFamily="18" charset="0"/>
              </a:rPr>
              <a:t>castle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57</a:t>
            </a:fld>
            <a:endParaRPr lang="en-US" altLang="en-US"/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86558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43" grpId="0" animBg="1"/>
      <p:bldP spid="910344" grpId="0" animBg="1"/>
      <p:bldP spid="910345" grpId="0" animBg="1"/>
      <p:bldP spid="910346" grpId="0" animBg="1"/>
      <p:bldP spid="910347" grpId="0" animBg="1"/>
      <p:bldP spid="910348" grpId="0" animBg="1"/>
      <p:bldP spid="910349" grpId="0" animBg="1"/>
      <p:bldP spid="910350" grpId="0" animBg="1"/>
      <p:bldP spid="91035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2411" name="Group 27"/>
          <p:cNvGrpSpPr>
            <a:grpSpLocks/>
          </p:cNvGrpSpPr>
          <p:nvPr/>
        </p:nvGrpSpPr>
        <p:grpSpPr bwMode="auto">
          <a:xfrm>
            <a:off x="3048000" y="2286000"/>
            <a:ext cx="2590800" cy="2057400"/>
            <a:chOff x="1920" y="1440"/>
            <a:chExt cx="1632" cy="1296"/>
          </a:xfrm>
        </p:grpSpPr>
        <p:sp>
          <p:nvSpPr>
            <p:cNvPr id="912408" name="Rectangle 24" descr="20%"/>
            <p:cNvSpPr>
              <a:spLocks noChangeArrowheads="1"/>
            </p:cNvSpPr>
            <p:nvPr/>
          </p:nvSpPr>
          <p:spPr bwMode="auto">
            <a:xfrm>
              <a:off x="1920" y="1872"/>
              <a:ext cx="1632" cy="432"/>
            </a:xfrm>
            <a:prstGeom prst="rect">
              <a:avLst/>
            </a:prstGeom>
            <a:pattFill prst="pct20">
              <a:fgClr>
                <a:srgbClr val="FF99CC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2800" b="1">
                <a:latin typeface="Courier New" panose="02070309020205020404" pitchFamily="49" charset="0"/>
              </a:endParaRPr>
            </a:p>
          </p:txBody>
        </p:sp>
        <p:sp>
          <p:nvSpPr>
            <p:cNvPr id="912409" name="Rectangle 25" descr="20%"/>
            <p:cNvSpPr>
              <a:spLocks noChangeArrowheads="1"/>
            </p:cNvSpPr>
            <p:nvPr/>
          </p:nvSpPr>
          <p:spPr bwMode="auto">
            <a:xfrm>
              <a:off x="1920" y="2304"/>
              <a:ext cx="1632" cy="432"/>
            </a:xfrm>
            <a:prstGeom prst="rect">
              <a:avLst/>
            </a:prstGeom>
            <a:pattFill prst="pct20">
              <a:fgClr>
                <a:srgbClr val="FF99CC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2800" b="1">
                <a:latin typeface="Courier New" panose="02070309020205020404" pitchFamily="49" charset="0"/>
              </a:endParaRPr>
            </a:p>
          </p:txBody>
        </p:sp>
        <p:sp>
          <p:nvSpPr>
            <p:cNvPr id="912410" name="Rectangle 26" descr="20%"/>
            <p:cNvSpPr>
              <a:spLocks noChangeArrowheads="1"/>
            </p:cNvSpPr>
            <p:nvPr/>
          </p:nvSpPr>
          <p:spPr bwMode="auto">
            <a:xfrm>
              <a:off x="1920" y="1440"/>
              <a:ext cx="1632" cy="432"/>
            </a:xfrm>
            <a:prstGeom prst="rect">
              <a:avLst/>
            </a:prstGeom>
            <a:pattFill prst="pct20">
              <a:fgClr>
                <a:srgbClr val="FF99CC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2800" b="1">
                <a:latin typeface="Courier New" panose="02070309020205020404" pitchFamily="49" charset="0"/>
              </a:endParaRPr>
            </a:p>
          </p:txBody>
        </p:sp>
      </p:grpSp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A King and his </a:t>
            </a:r>
            <a:r>
              <a:rPr lang="en-US" altLang="en-US" sz="3800" b="1" dirty="0" err="1"/>
              <a:t>er</a:t>
            </a:r>
            <a:r>
              <a:rPr lang="en-US" altLang="en-US" sz="3800" b="1" dirty="0"/>
              <a:t>…. </a:t>
            </a:r>
            <a:r>
              <a:rPr lang="en-US" altLang="en-US" sz="3800" b="1" i="1" dirty="0"/>
              <a:t>big </a:t>
            </a:r>
            <a:r>
              <a:rPr lang="en-US" altLang="en-US" sz="3800" b="1" dirty="0"/>
              <a:t>HDB</a:t>
            </a:r>
          </a:p>
        </p:txBody>
      </p:sp>
      <p:sp>
        <p:nvSpPr>
          <p:cNvPr id="912394" name="Rectangle 10" descr="20%"/>
          <p:cNvSpPr>
            <a:spLocks noChangeArrowheads="1"/>
          </p:cNvSpPr>
          <p:nvPr/>
        </p:nvSpPr>
        <p:spPr bwMode="auto">
          <a:xfrm>
            <a:off x="6172200" y="914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Throne Rm</a:t>
            </a:r>
          </a:p>
        </p:txBody>
      </p:sp>
      <p:sp>
        <p:nvSpPr>
          <p:cNvPr id="912395" name="Rectangle 11" descr="20%"/>
          <p:cNvSpPr>
            <a:spLocks noChangeArrowheads="1"/>
          </p:cNvSpPr>
          <p:nvPr/>
        </p:nvSpPr>
        <p:spPr bwMode="auto">
          <a:xfrm>
            <a:off x="6172200" y="22860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</a:t>
            </a:r>
          </a:p>
        </p:txBody>
      </p:sp>
      <p:sp>
        <p:nvSpPr>
          <p:cNvPr id="912396" name="Rectangle 12" descr="20%"/>
          <p:cNvSpPr>
            <a:spLocks noChangeArrowheads="1"/>
          </p:cNvSpPr>
          <p:nvPr/>
        </p:nvSpPr>
        <p:spPr bwMode="auto">
          <a:xfrm>
            <a:off x="6172200" y="36576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101</a:t>
            </a:r>
          </a:p>
        </p:txBody>
      </p:sp>
      <p:sp>
        <p:nvSpPr>
          <p:cNvPr id="912397" name="Rectangle 13" descr="20%"/>
          <p:cNvSpPr>
            <a:spLocks noChangeArrowheads="1"/>
          </p:cNvSpPr>
          <p:nvPr/>
        </p:nvSpPr>
        <p:spPr bwMode="auto">
          <a:xfrm>
            <a:off x="6172200" y="4343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1</a:t>
            </a:r>
          </a:p>
        </p:txBody>
      </p:sp>
      <p:sp>
        <p:nvSpPr>
          <p:cNvPr id="912398" name="Rectangle 14" descr="20%"/>
          <p:cNvSpPr>
            <a:spLocks noChangeArrowheads="1"/>
          </p:cNvSpPr>
          <p:nvPr/>
        </p:nvSpPr>
        <p:spPr bwMode="auto">
          <a:xfrm>
            <a:off x="6172200" y="57150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63</a:t>
            </a:r>
          </a:p>
        </p:txBody>
      </p:sp>
      <p:sp>
        <p:nvSpPr>
          <p:cNvPr id="912399" name="Rectangle 15" descr="20%"/>
          <p:cNvSpPr>
            <a:spLocks noChangeArrowheads="1"/>
          </p:cNvSpPr>
          <p:nvPr/>
        </p:nvSpPr>
        <p:spPr bwMode="auto">
          <a:xfrm>
            <a:off x="6172200" y="29718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2400" name="Rectangle 16" descr="20%"/>
          <p:cNvSpPr>
            <a:spLocks noChangeArrowheads="1"/>
          </p:cNvSpPr>
          <p:nvPr/>
        </p:nvSpPr>
        <p:spPr bwMode="auto">
          <a:xfrm>
            <a:off x="6172200" y="50292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2401" name="Rectangle 17" descr="20%"/>
          <p:cNvSpPr>
            <a:spLocks noChangeArrowheads="1"/>
          </p:cNvSpPr>
          <p:nvPr/>
        </p:nvSpPr>
        <p:spPr bwMode="auto">
          <a:xfrm>
            <a:off x="6172200" y="16002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Ballroom</a:t>
            </a:r>
          </a:p>
        </p:txBody>
      </p:sp>
      <p:sp>
        <p:nvSpPr>
          <p:cNvPr id="912402" name="AutoShape 18"/>
          <p:cNvSpPr>
            <a:spLocks noChangeArrowheads="1"/>
          </p:cNvSpPr>
          <p:nvPr/>
        </p:nvSpPr>
        <p:spPr bwMode="auto">
          <a:xfrm>
            <a:off x="304800" y="1143000"/>
            <a:ext cx="2590800" cy="1752600"/>
          </a:xfrm>
          <a:prstGeom prst="wedgeRoundRectCallout">
            <a:avLst>
              <a:gd name="adj1" fmla="val -27269"/>
              <a:gd name="adj2" fmla="val 7327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3200" b="1" dirty="0">
                <a:latin typeface="Bernard MT Condensed" panose="02050806060905020404" pitchFamily="18" charset="0"/>
              </a:rPr>
              <a:t>I have to go to </a:t>
            </a:r>
            <a:r>
              <a:rPr lang="en-US" altLang="en-US" sz="3200" b="1" dirty="0">
                <a:solidFill>
                  <a:srgbClr val="C00000"/>
                </a:solidFill>
                <a:latin typeface="Bernard MT Condensed" panose="02050806060905020404" pitchFamily="18" charset="0"/>
              </a:rPr>
              <a:t>Throne Room </a:t>
            </a:r>
            <a:r>
              <a:rPr lang="en-US" altLang="en-US" sz="3200" dirty="0">
                <a:latin typeface="Bernard MT Condensed" panose="02050806060905020404" pitchFamily="18" charset="0"/>
              </a:rPr>
              <a:t>NOW</a:t>
            </a:r>
          </a:p>
        </p:txBody>
      </p:sp>
      <p:pic>
        <p:nvPicPr>
          <p:cNvPr id="912403" name="Picture 19" descr="MCj0304493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1704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2404" name="Picture 20" descr="MCj0304491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495800"/>
            <a:ext cx="1778000" cy="195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2405" name="Rectangle 21" descr="20%"/>
          <p:cNvSpPr>
            <a:spLocks noChangeArrowheads="1"/>
          </p:cNvSpPr>
          <p:nvPr/>
        </p:nvSpPr>
        <p:spPr bwMode="auto">
          <a:xfrm>
            <a:off x="3048000" y="2286000"/>
            <a:ext cx="2590800" cy="685800"/>
          </a:xfrm>
          <a:prstGeom prst="rect">
            <a:avLst/>
          </a:prstGeom>
          <a:pattFill prst="pct20">
            <a:fgClr>
              <a:srgbClr val="FF99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Throne Rm</a:t>
            </a:r>
          </a:p>
        </p:txBody>
      </p:sp>
      <p:sp>
        <p:nvSpPr>
          <p:cNvPr id="912406" name="Rectangle 22" descr="20%"/>
          <p:cNvSpPr>
            <a:spLocks noChangeArrowheads="1"/>
          </p:cNvSpPr>
          <p:nvPr/>
        </p:nvSpPr>
        <p:spPr bwMode="auto">
          <a:xfrm>
            <a:off x="3048000" y="2971800"/>
            <a:ext cx="2590800" cy="685800"/>
          </a:xfrm>
          <a:prstGeom prst="rect">
            <a:avLst/>
          </a:prstGeom>
          <a:pattFill prst="pct20">
            <a:fgClr>
              <a:srgbClr val="FF99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84</a:t>
            </a:r>
          </a:p>
        </p:txBody>
      </p:sp>
      <p:sp>
        <p:nvSpPr>
          <p:cNvPr id="912407" name="Rectangle 23" descr="20%"/>
          <p:cNvSpPr>
            <a:spLocks noChangeArrowheads="1"/>
          </p:cNvSpPr>
          <p:nvPr/>
        </p:nvSpPr>
        <p:spPr bwMode="auto">
          <a:xfrm>
            <a:off x="3048000" y="3657600"/>
            <a:ext cx="2590800" cy="685800"/>
          </a:xfrm>
          <a:prstGeom prst="rect">
            <a:avLst/>
          </a:prstGeom>
          <a:pattFill prst="pct20">
            <a:fgClr>
              <a:srgbClr val="FF99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33</a:t>
            </a:r>
          </a:p>
        </p:txBody>
      </p:sp>
      <p:sp>
        <p:nvSpPr>
          <p:cNvPr id="912412" name="AutoShape 28"/>
          <p:cNvSpPr>
            <a:spLocks noChangeArrowheads="1"/>
          </p:cNvSpPr>
          <p:nvPr/>
        </p:nvSpPr>
        <p:spPr bwMode="auto">
          <a:xfrm>
            <a:off x="304800" y="1676400"/>
            <a:ext cx="2590800" cy="1295400"/>
          </a:xfrm>
          <a:prstGeom prst="wedgeRoundRectCallout">
            <a:avLst>
              <a:gd name="adj1" fmla="val -27269"/>
              <a:gd name="adj2" fmla="val 7327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Bernard MT Condensed" panose="02050806060905020404" pitchFamily="18" charset="0"/>
              </a:rPr>
              <a:t>Bed Room 84</a:t>
            </a:r>
            <a:r>
              <a:rPr lang="en-US" altLang="en-US" sz="3200" b="1" dirty="0">
                <a:latin typeface="Bernard MT Condensed" panose="02050806060905020404" pitchFamily="18" charset="0"/>
              </a:rPr>
              <a:t>, Here I come!</a:t>
            </a:r>
            <a:endParaRPr lang="en-US" altLang="en-US" sz="3200" dirty="0">
              <a:latin typeface="Bernard MT Condensed" panose="020508060609050204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58</a:t>
            </a:fld>
            <a:endParaRPr lang="en-US" altLang="en-US"/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3751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402" grpId="0" animBg="1"/>
      <p:bldP spid="912402" grpId="1" animBg="1"/>
      <p:bldP spid="912405" grpId="0" animBg="1"/>
      <p:bldP spid="912406" grpId="0" animBg="1"/>
      <p:bldP spid="912407" grpId="0" animBg="1"/>
      <p:bldP spid="9124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Summary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Completely separate </a:t>
            </a:r>
            <a:r>
              <a:rPr lang="en-US" altLang="en-US" b="1" dirty="0"/>
              <a:t>logical memory address </a:t>
            </a:r>
            <a:r>
              <a:rPr lang="en-US" altLang="en-US" dirty="0"/>
              <a:t>from </a:t>
            </a:r>
            <a:r>
              <a:rPr lang="en-US" altLang="en-US" b="1" dirty="0"/>
              <a:t>physical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Amount of physical memory no longer restrict the size of logical memory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More efficient use of physical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Page currently not needed can be on secondary storage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Allow more processes to reside in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Improve CPU utilization as there are more processes to choose from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6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657600" y="375389"/>
            <a:ext cx="1981200" cy="517634"/>
          </a:xfrm>
          <a:prstGeom prst="actionButtonBlank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3800" dirty="0">
                <a:latin typeface="Garamond" panose="02020404030301010803" pitchFamily="18" charset="0"/>
              </a:rPr>
              <a:t>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59</a:t>
            </a:fld>
            <a:endParaRPr lang="en-US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349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Demand Paging </a:t>
            </a:r>
            <a:r>
              <a:rPr lang="en-US" altLang="en-US" sz="3800" b="1" dirty="0">
                <a:solidFill>
                  <a:schemeClr val="bg1"/>
                </a:solidFill>
              </a:rPr>
              <a:t>1</a:t>
            </a:r>
            <a:endParaRPr lang="en-US" altLang="en-US" sz="3800" dirty="0"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017579" y="1219200"/>
            <a:ext cx="2669221" cy="4648200"/>
            <a:chOff x="6017579" y="1219200"/>
            <a:chExt cx="2669221" cy="4648200"/>
          </a:xfrm>
        </p:grpSpPr>
        <p:grpSp>
          <p:nvGrpSpPr>
            <p:cNvPr id="6" name="Group 5"/>
            <p:cNvGrpSpPr/>
            <p:nvPr/>
          </p:nvGrpSpPr>
          <p:grpSpPr>
            <a:xfrm>
              <a:off x="6553200" y="1219200"/>
              <a:ext cx="2133600" cy="4648200"/>
              <a:chOff x="6019800" y="1066800"/>
              <a:chExt cx="2133600" cy="4648200"/>
            </a:xfrm>
          </p:grpSpPr>
          <p:sp>
            <p:nvSpPr>
              <p:cNvPr id="804925" name="Rectangle 61"/>
              <p:cNvSpPr>
                <a:spLocks noChangeArrowheads="1"/>
              </p:cNvSpPr>
              <p:nvPr/>
            </p:nvSpPr>
            <p:spPr bwMode="auto">
              <a:xfrm>
                <a:off x="6477000" y="22860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6" name="Rectangle 62"/>
              <p:cNvSpPr>
                <a:spLocks noChangeArrowheads="1"/>
              </p:cNvSpPr>
              <p:nvPr/>
            </p:nvSpPr>
            <p:spPr bwMode="auto">
              <a:xfrm>
                <a:off x="6477000" y="4114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7" name="Rectangle 63"/>
              <p:cNvSpPr>
                <a:spLocks noChangeArrowheads="1"/>
              </p:cNvSpPr>
              <p:nvPr/>
            </p:nvSpPr>
            <p:spPr bwMode="auto">
              <a:xfrm>
                <a:off x="6477000" y="1676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8" name="Rectangle 64"/>
              <p:cNvSpPr>
                <a:spLocks noChangeArrowheads="1"/>
              </p:cNvSpPr>
              <p:nvPr/>
            </p:nvSpPr>
            <p:spPr bwMode="auto">
              <a:xfrm>
                <a:off x="6477000" y="4724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9" name="Rectangle 65"/>
              <p:cNvSpPr>
                <a:spLocks noChangeArrowheads="1"/>
              </p:cNvSpPr>
              <p:nvPr/>
            </p:nvSpPr>
            <p:spPr bwMode="auto">
              <a:xfrm>
                <a:off x="6019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Secondary Storage </a:t>
                </a:r>
              </a:p>
            </p:txBody>
          </p:sp>
          <p:sp>
            <p:nvSpPr>
              <p:cNvPr id="39" name="Rectangle 64"/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40" name="Rectangle 61"/>
              <p:cNvSpPr>
                <a:spLocks noChangeArrowheads="1"/>
              </p:cNvSpPr>
              <p:nvPr/>
            </p:nvSpPr>
            <p:spPr bwMode="auto">
              <a:xfrm>
                <a:off x="6477000" y="35052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41" name="Rectangle 63"/>
              <p:cNvSpPr>
                <a:spLocks noChangeArrowheads="1"/>
              </p:cNvSpPr>
              <p:nvPr/>
            </p:nvSpPr>
            <p:spPr bwMode="auto">
              <a:xfrm>
                <a:off x="6477000" y="28956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017579" y="1235527"/>
              <a:ext cx="990600" cy="4263003"/>
              <a:chOff x="3352800" y="958851"/>
              <a:chExt cx="990600" cy="4267200"/>
            </a:xfrm>
          </p:grpSpPr>
          <p:sp>
            <p:nvSpPr>
              <p:cNvPr id="6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……</a:t>
                </a:r>
              </a:p>
            </p:txBody>
          </p:sp>
          <p:sp>
            <p:nvSpPr>
              <p:cNvPr id="7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5</a:t>
                </a:r>
              </a:p>
            </p:txBody>
          </p:sp>
          <p:sp>
            <p:nvSpPr>
              <p:cNvPr id="7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4</a:t>
                </a:r>
              </a:p>
            </p:txBody>
          </p:sp>
          <p:sp>
            <p:nvSpPr>
              <p:cNvPr id="7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3</a:t>
                </a:r>
              </a:p>
            </p:txBody>
          </p:sp>
          <p:sp>
            <p:nvSpPr>
              <p:cNvPr id="7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2</a:t>
                </a:r>
              </a:p>
            </p:txBody>
          </p:sp>
          <p:sp>
            <p:nvSpPr>
              <p:cNvPr id="7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1</a:t>
                </a:r>
              </a:p>
            </p:txBody>
          </p:sp>
          <p:sp>
            <p:nvSpPr>
              <p:cNvPr id="7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swap 0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52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5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46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47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8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49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50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51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77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2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114" name="Rectangle 18"/>
          <p:cNvSpPr>
            <a:spLocks noChangeArrowheads="1"/>
          </p:cNvSpPr>
          <p:nvPr/>
        </p:nvSpPr>
        <p:spPr bwMode="auto">
          <a:xfrm>
            <a:off x="1963739" y="441565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60</a:t>
            </a:fld>
            <a:endParaRPr lang="en-US" altLang="en-US"/>
          </a:p>
        </p:txBody>
      </p:sp>
      <p:sp>
        <p:nvSpPr>
          <p:cNvPr id="109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602039" y="1210490"/>
            <a:ext cx="2722561" cy="4648201"/>
            <a:chOff x="3602039" y="1210490"/>
            <a:chExt cx="2722561" cy="4648201"/>
          </a:xfrm>
        </p:grpSpPr>
        <p:grpSp>
          <p:nvGrpSpPr>
            <p:cNvPr id="5" name="Group 4"/>
            <p:cNvGrpSpPr/>
            <p:nvPr/>
          </p:nvGrpSpPr>
          <p:grpSpPr>
            <a:xfrm>
              <a:off x="4191000" y="1210491"/>
              <a:ext cx="2133600" cy="4648200"/>
              <a:chOff x="3352800" y="1066800"/>
              <a:chExt cx="2133600" cy="4648200"/>
            </a:xfrm>
          </p:grpSpPr>
          <p:sp>
            <p:nvSpPr>
              <p:cNvPr id="804882" name="Rectangle 18"/>
              <p:cNvSpPr>
                <a:spLocks noChangeArrowheads="1"/>
              </p:cNvSpPr>
              <p:nvPr/>
            </p:nvSpPr>
            <p:spPr bwMode="auto">
              <a:xfrm>
                <a:off x="3352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/>
                  <a:t>physical memory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3810000" y="1066800"/>
                <a:ext cx="1144132" cy="4267200"/>
                <a:chOff x="3810000" y="1066800"/>
                <a:chExt cx="1144132" cy="4267200"/>
              </a:xfrm>
            </p:grpSpPr>
            <p:sp>
              <p:nvSpPr>
                <p:cNvPr id="804878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22860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879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28956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880" name="Rectangle 16"/>
                <p:cNvSpPr>
                  <a:spLocks noChangeArrowheads="1"/>
                </p:cNvSpPr>
                <p:nvPr/>
              </p:nvSpPr>
              <p:spPr bwMode="auto">
                <a:xfrm>
                  <a:off x="3810000" y="10668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881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0000" y="4724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6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1132" y="1676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7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35101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8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41197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3602039" y="1210490"/>
              <a:ext cx="990600" cy="4182291"/>
              <a:chOff x="3352800" y="958851"/>
              <a:chExt cx="990600" cy="4267200"/>
            </a:xfrm>
          </p:grpSpPr>
          <p:sp>
            <p:nvSpPr>
              <p:cNvPr id="5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……</a:t>
                </a:r>
              </a:p>
            </p:txBody>
          </p:sp>
          <p:sp>
            <p:nvSpPr>
              <p:cNvPr id="6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5</a:t>
                </a:r>
              </a:p>
            </p:txBody>
          </p:sp>
          <p:sp>
            <p:nvSpPr>
              <p:cNvPr id="6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4</a:t>
                </a:r>
              </a:p>
            </p:txBody>
          </p:sp>
          <p:sp>
            <p:nvSpPr>
              <p:cNvPr id="6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3</a:t>
                </a:r>
              </a:p>
            </p:txBody>
          </p:sp>
          <p:sp>
            <p:nvSpPr>
              <p:cNvPr id="6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2</a:t>
                </a:r>
              </a:p>
            </p:txBody>
          </p:sp>
          <p:sp>
            <p:nvSpPr>
              <p:cNvPr id="6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1</a:t>
                </a:r>
              </a:p>
            </p:txBody>
          </p:sp>
          <p:sp>
            <p:nvSpPr>
              <p:cNvPr id="6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frame 0</a:t>
                </a:r>
              </a:p>
            </p:txBody>
          </p:sp>
        </p:grpSp>
      </p:grpSp>
      <p:grpSp>
        <p:nvGrpSpPr>
          <p:cNvPr id="120" name="Group 119"/>
          <p:cNvGrpSpPr/>
          <p:nvPr/>
        </p:nvGrpSpPr>
        <p:grpSpPr>
          <a:xfrm>
            <a:off x="1819504" y="2286000"/>
            <a:ext cx="1999792" cy="2133600"/>
            <a:chOff x="1776549" y="2286000"/>
            <a:chExt cx="1999792" cy="2133600"/>
          </a:xfrm>
        </p:grpSpPr>
        <p:grpSp>
          <p:nvGrpSpPr>
            <p:cNvPr id="121" name="Group 120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136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37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F2</a:t>
                </a:r>
              </a:p>
            </p:txBody>
          </p:sp>
          <p:sp>
            <p:nvSpPr>
              <p:cNvPr id="138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139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F5</a:t>
                </a:r>
              </a:p>
            </p:txBody>
          </p:sp>
          <p:sp>
            <p:nvSpPr>
              <p:cNvPr id="140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F1</a:t>
                </a:r>
              </a:p>
            </p:txBody>
          </p:sp>
          <p:sp>
            <p:nvSpPr>
              <p:cNvPr id="141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F4</a:t>
                </a:r>
              </a:p>
            </p:txBody>
          </p:sp>
        </p:grpSp>
        <p:grpSp>
          <p:nvGrpSpPr>
            <p:cNvPr id="122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130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31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132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33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134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35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123" name="Group 122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124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25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6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7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9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189370" y="291726"/>
            <a:ext cx="3214507" cy="66119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P has </a:t>
            </a:r>
            <a:r>
              <a:rPr lang="en-US" sz="3200" b="1" dirty="0">
                <a:solidFill>
                  <a:srgbClr val="C00000"/>
                </a:solidFill>
              </a:rPr>
              <a:t>5 pages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44594" y="1207322"/>
            <a:ext cx="1146606" cy="3660769"/>
            <a:chOff x="4644594" y="1207322"/>
            <a:chExt cx="1146606" cy="3660769"/>
          </a:xfrm>
        </p:grpSpPr>
        <p:sp>
          <p:nvSpPr>
            <p:cNvPr id="143" name="Rectangle 10"/>
            <p:cNvSpPr>
              <a:spLocks noChangeArrowheads="1"/>
            </p:cNvSpPr>
            <p:nvPr/>
          </p:nvSpPr>
          <p:spPr bwMode="auto">
            <a:xfrm>
              <a:off x="4648200" y="36488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Page 0</a:t>
              </a:r>
            </a:p>
          </p:txBody>
        </p:sp>
        <p:sp>
          <p:nvSpPr>
            <p:cNvPr id="144" name="Rectangle 12"/>
            <p:cNvSpPr>
              <a:spLocks noChangeArrowheads="1"/>
            </p:cNvSpPr>
            <p:nvPr/>
          </p:nvSpPr>
          <p:spPr bwMode="auto">
            <a:xfrm>
              <a:off x="4648200" y="42584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145" name="Rectangle 13"/>
            <p:cNvSpPr>
              <a:spLocks noChangeArrowheads="1"/>
            </p:cNvSpPr>
            <p:nvPr/>
          </p:nvSpPr>
          <p:spPr bwMode="auto">
            <a:xfrm>
              <a:off x="4648200" y="18200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146" name="Rectangle 60"/>
            <p:cNvSpPr>
              <a:spLocks noChangeArrowheads="1"/>
            </p:cNvSpPr>
            <p:nvPr/>
          </p:nvSpPr>
          <p:spPr bwMode="auto">
            <a:xfrm>
              <a:off x="4644594" y="12073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3</a:t>
              </a:r>
            </a:p>
          </p:txBody>
        </p:sp>
        <p:sp>
          <p:nvSpPr>
            <p:cNvPr id="147" name="Rectangle 13"/>
            <p:cNvSpPr>
              <a:spLocks noChangeArrowheads="1"/>
            </p:cNvSpPr>
            <p:nvPr/>
          </p:nvSpPr>
          <p:spPr bwMode="auto">
            <a:xfrm>
              <a:off x="4649890" y="2433239"/>
              <a:ext cx="1137704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03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Demand Paging </a:t>
            </a:r>
            <a:r>
              <a:rPr lang="en-US" altLang="en-US" sz="3800" b="1" dirty="0">
                <a:solidFill>
                  <a:schemeClr val="bg1"/>
                </a:solidFill>
              </a:rPr>
              <a:t>2</a:t>
            </a:r>
            <a:endParaRPr lang="en-US" altLang="en-US" sz="3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017579" y="1219200"/>
            <a:ext cx="2669221" cy="4648200"/>
            <a:chOff x="6017579" y="1219200"/>
            <a:chExt cx="2669221" cy="4648200"/>
          </a:xfrm>
        </p:grpSpPr>
        <p:grpSp>
          <p:nvGrpSpPr>
            <p:cNvPr id="6" name="Group 5"/>
            <p:cNvGrpSpPr/>
            <p:nvPr/>
          </p:nvGrpSpPr>
          <p:grpSpPr>
            <a:xfrm>
              <a:off x="6553200" y="1219200"/>
              <a:ext cx="2133600" cy="4648200"/>
              <a:chOff x="6019800" y="1066800"/>
              <a:chExt cx="2133600" cy="4648200"/>
            </a:xfrm>
          </p:grpSpPr>
          <p:sp>
            <p:nvSpPr>
              <p:cNvPr id="804925" name="Rectangle 61"/>
              <p:cNvSpPr>
                <a:spLocks noChangeArrowheads="1"/>
              </p:cNvSpPr>
              <p:nvPr/>
            </p:nvSpPr>
            <p:spPr bwMode="auto">
              <a:xfrm>
                <a:off x="6477000" y="22860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6" name="Rectangle 62"/>
              <p:cNvSpPr>
                <a:spLocks noChangeArrowheads="1"/>
              </p:cNvSpPr>
              <p:nvPr/>
            </p:nvSpPr>
            <p:spPr bwMode="auto">
              <a:xfrm>
                <a:off x="6477000" y="4114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7" name="Rectangle 63"/>
              <p:cNvSpPr>
                <a:spLocks noChangeArrowheads="1"/>
              </p:cNvSpPr>
              <p:nvPr/>
            </p:nvSpPr>
            <p:spPr bwMode="auto">
              <a:xfrm>
                <a:off x="6477000" y="1676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8" name="Rectangle 64"/>
              <p:cNvSpPr>
                <a:spLocks noChangeArrowheads="1"/>
              </p:cNvSpPr>
              <p:nvPr/>
            </p:nvSpPr>
            <p:spPr bwMode="auto">
              <a:xfrm>
                <a:off x="6477000" y="4724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9" name="Rectangle 65"/>
              <p:cNvSpPr>
                <a:spLocks noChangeArrowheads="1"/>
              </p:cNvSpPr>
              <p:nvPr/>
            </p:nvSpPr>
            <p:spPr bwMode="auto">
              <a:xfrm>
                <a:off x="6019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Secondary Storage </a:t>
                </a:r>
              </a:p>
            </p:txBody>
          </p:sp>
          <p:sp>
            <p:nvSpPr>
              <p:cNvPr id="39" name="Rectangle 64"/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40" name="Rectangle 61"/>
              <p:cNvSpPr>
                <a:spLocks noChangeArrowheads="1"/>
              </p:cNvSpPr>
              <p:nvPr/>
            </p:nvSpPr>
            <p:spPr bwMode="auto">
              <a:xfrm>
                <a:off x="6477000" y="35052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41" name="Rectangle 63"/>
              <p:cNvSpPr>
                <a:spLocks noChangeArrowheads="1"/>
              </p:cNvSpPr>
              <p:nvPr/>
            </p:nvSpPr>
            <p:spPr bwMode="auto">
              <a:xfrm>
                <a:off x="6477000" y="28956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017579" y="1235527"/>
              <a:ext cx="990600" cy="4263003"/>
              <a:chOff x="3352800" y="958851"/>
              <a:chExt cx="990600" cy="4267200"/>
            </a:xfrm>
          </p:grpSpPr>
          <p:sp>
            <p:nvSpPr>
              <p:cNvPr id="6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……</a:t>
                </a:r>
              </a:p>
            </p:txBody>
          </p:sp>
          <p:sp>
            <p:nvSpPr>
              <p:cNvPr id="7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5</a:t>
                </a:r>
              </a:p>
            </p:txBody>
          </p:sp>
          <p:sp>
            <p:nvSpPr>
              <p:cNvPr id="7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4</a:t>
                </a:r>
              </a:p>
            </p:txBody>
          </p:sp>
          <p:sp>
            <p:nvSpPr>
              <p:cNvPr id="7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3</a:t>
                </a:r>
              </a:p>
            </p:txBody>
          </p:sp>
          <p:sp>
            <p:nvSpPr>
              <p:cNvPr id="7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2</a:t>
                </a:r>
              </a:p>
            </p:txBody>
          </p:sp>
          <p:sp>
            <p:nvSpPr>
              <p:cNvPr id="7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1</a:t>
                </a:r>
              </a:p>
            </p:txBody>
          </p:sp>
          <p:sp>
            <p:nvSpPr>
              <p:cNvPr id="7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swap 0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52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3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4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5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6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7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45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46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5</a:t>
                </a:r>
              </a:p>
            </p:txBody>
          </p:sp>
          <p:sp>
            <p:nvSpPr>
              <p:cNvPr id="47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4</a:t>
                </a:r>
              </a:p>
            </p:txBody>
          </p:sp>
          <p:sp>
            <p:nvSpPr>
              <p:cNvPr id="48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3</a:t>
                </a:r>
              </a:p>
            </p:txBody>
          </p:sp>
          <p:sp>
            <p:nvSpPr>
              <p:cNvPr id="49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2</a:t>
                </a:r>
              </a:p>
            </p:txBody>
          </p:sp>
          <p:sp>
            <p:nvSpPr>
              <p:cNvPr id="50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1</a:t>
                </a:r>
              </a:p>
            </p:txBody>
          </p:sp>
          <p:sp>
            <p:nvSpPr>
              <p:cNvPr id="51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77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2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114" name="Rectangle 18"/>
          <p:cNvSpPr>
            <a:spLocks noChangeArrowheads="1"/>
          </p:cNvSpPr>
          <p:nvPr/>
        </p:nvSpPr>
        <p:spPr bwMode="auto">
          <a:xfrm>
            <a:off x="1963739" y="441565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page table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177D97-4823-4F7B-8850-314FB921F45D}" type="slidenum">
              <a:rPr kumimoji="0" lang="en-US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800" b="1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09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602039" y="1210490"/>
            <a:ext cx="2722561" cy="4648201"/>
            <a:chOff x="3602039" y="1210490"/>
            <a:chExt cx="2722561" cy="4648201"/>
          </a:xfrm>
        </p:grpSpPr>
        <p:grpSp>
          <p:nvGrpSpPr>
            <p:cNvPr id="5" name="Group 4"/>
            <p:cNvGrpSpPr/>
            <p:nvPr/>
          </p:nvGrpSpPr>
          <p:grpSpPr>
            <a:xfrm>
              <a:off x="4191000" y="1210491"/>
              <a:ext cx="2133600" cy="4648200"/>
              <a:chOff x="3352800" y="1066800"/>
              <a:chExt cx="2133600" cy="4648200"/>
            </a:xfrm>
          </p:grpSpPr>
          <p:sp>
            <p:nvSpPr>
              <p:cNvPr id="804882" name="Rectangle 18"/>
              <p:cNvSpPr>
                <a:spLocks noChangeArrowheads="1"/>
              </p:cNvSpPr>
              <p:nvPr/>
            </p:nvSpPr>
            <p:spPr bwMode="auto">
              <a:xfrm>
                <a:off x="3352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physical memory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3810000" y="1066800"/>
                <a:ext cx="1144132" cy="4267200"/>
                <a:chOff x="3810000" y="1066800"/>
                <a:chExt cx="1144132" cy="4267200"/>
              </a:xfrm>
            </p:grpSpPr>
            <p:sp>
              <p:nvSpPr>
                <p:cNvPr id="804878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22860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879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28956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880" name="Rectangle 16"/>
                <p:cNvSpPr>
                  <a:spLocks noChangeArrowheads="1"/>
                </p:cNvSpPr>
                <p:nvPr/>
              </p:nvSpPr>
              <p:spPr bwMode="auto">
                <a:xfrm>
                  <a:off x="3810000" y="10668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881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0000" y="4724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6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1132" y="1676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7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35101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8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41197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3602039" y="1210490"/>
              <a:ext cx="990600" cy="4182291"/>
              <a:chOff x="3352800" y="958851"/>
              <a:chExt cx="990600" cy="4267200"/>
            </a:xfrm>
          </p:grpSpPr>
          <p:sp>
            <p:nvSpPr>
              <p:cNvPr id="5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……</a:t>
                </a:r>
              </a:p>
            </p:txBody>
          </p:sp>
          <p:sp>
            <p:nvSpPr>
              <p:cNvPr id="6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5</a:t>
                </a:r>
              </a:p>
            </p:txBody>
          </p:sp>
          <p:sp>
            <p:nvSpPr>
              <p:cNvPr id="6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4</a:t>
                </a:r>
              </a:p>
            </p:txBody>
          </p:sp>
          <p:sp>
            <p:nvSpPr>
              <p:cNvPr id="6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3</a:t>
                </a:r>
              </a:p>
            </p:txBody>
          </p:sp>
          <p:sp>
            <p:nvSpPr>
              <p:cNvPr id="6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2</a:t>
                </a:r>
              </a:p>
            </p:txBody>
          </p:sp>
          <p:sp>
            <p:nvSpPr>
              <p:cNvPr id="6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1</a:t>
                </a:r>
              </a:p>
            </p:txBody>
          </p:sp>
          <p:sp>
            <p:nvSpPr>
              <p:cNvPr id="6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frame 0</a:t>
                </a: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189370" y="291726"/>
            <a:ext cx="3214507" cy="66119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 has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 pages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008174" y="1213029"/>
            <a:ext cx="1135953" cy="3051152"/>
            <a:chOff x="7008174" y="1213029"/>
            <a:chExt cx="1135953" cy="3051152"/>
          </a:xfrm>
        </p:grpSpPr>
        <p:sp>
          <p:nvSpPr>
            <p:cNvPr id="117" name="Rectangle 59"/>
            <p:cNvSpPr>
              <a:spLocks noChangeArrowheads="1"/>
            </p:cNvSpPr>
            <p:nvPr/>
          </p:nvSpPr>
          <p:spPr bwMode="auto">
            <a:xfrm>
              <a:off x="7008174" y="3654581"/>
              <a:ext cx="1135952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4</a:t>
              </a:r>
            </a:p>
          </p:txBody>
        </p:sp>
        <p:sp>
          <p:nvSpPr>
            <p:cNvPr id="118" name="Rectangle 60"/>
            <p:cNvSpPr>
              <a:spLocks noChangeArrowheads="1"/>
            </p:cNvSpPr>
            <p:nvPr/>
          </p:nvSpPr>
          <p:spPr bwMode="auto">
            <a:xfrm>
              <a:off x="7008177" y="3039291"/>
              <a:ext cx="1135949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3</a:t>
              </a:r>
            </a:p>
          </p:txBody>
        </p:sp>
        <p:sp>
          <p:nvSpPr>
            <p:cNvPr id="119" name="Rectangle 57"/>
            <p:cNvSpPr>
              <a:spLocks noChangeArrowheads="1"/>
            </p:cNvSpPr>
            <p:nvPr/>
          </p:nvSpPr>
          <p:spPr bwMode="auto">
            <a:xfrm>
              <a:off x="7008179" y="1829399"/>
              <a:ext cx="1135948" cy="6002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1</a:t>
              </a:r>
            </a:p>
          </p:txBody>
        </p:sp>
        <p:sp>
          <p:nvSpPr>
            <p:cNvPr id="142" name="Rectangle 59"/>
            <p:cNvSpPr>
              <a:spLocks noChangeArrowheads="1"/>
            </p:cNvSpPr>
            <p:nvPr/>
          </p:nvSpPr>
          <p:spPr bwMode="auto">
            <a:xfrm>
              <a:off x="7010401" y="1213029"/>
              <a:ext cx="1133726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0</a:t>
              </a:r>
            </a:p>
          </p:txBody>
        </p:sp>
        <p:sp>
          <p:nvSpPr>
            <p:cNvPr id="143" name="Rectangle 57"/>
            <p:cNvSpPr>
              <a:spLocks noChangeArrowheads="1"/>
            </p:cNvSpPr>
            <p:nvPr/>
          </p:nvSpPr>
          <p:spPr bwMode="auto">
            <a:xfrm>
              <a:off x="7008177" y="2447975"/>
              <a:ext cx="1135949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2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1810121" y="2291077"/>
            <a:ext cx="1999792" cy="2133600"/>
            <a:chOff x="1776549" y="2286000"/>
            <a:chExt cx="1999792" cy="2133600"/>
          </a:xfrm>
        </p:grpSpPr>
        <p:grpSp>
          <p:nvGrpSpPr>
            <p:cNvPr id="145" name="Group 144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160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61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S4</a:t>
                </a:r>
              </a:p>
            </p:txBody>
          </p:sp>
          <p:sp>
            <p:nvSpPr>
              <p:cNvPr id="162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S3</a:t>
                </a:r>
              </a:p>
            </p:txBody>
          </p:sp>
          <p:sp>
            <p:nvSpPr>
              <p:cNvPr id="163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S2</a:t>
                </a:r>
              </a:p>
            </p:txBody>
          </p:sp>
          <p:sp>
            <p:nvSpPr>
              <p:cNvPr id="164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S1</a:t>
                </a:r>
              </a:p>
            </p:txBody>
          </p:sp>
          <p:sp>
            <p:nvSpPr>
              <p:cNvPr id="165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S0</a:t>
                </a:r>
              </a:p>
            </p:txBody>
          </p:sp>
        </p:grpSp>
        <p:grpSp>
          <p:nvGrpSpPr>
            <p:cNvPr id="146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154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55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156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57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158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59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147" name="Group 146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148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49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0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1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2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3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</p:grpSp>
      </p:grpSp>
      <p:grpSp>
        <p:nvGrpSpPr>
          <p:cNvPr id="166" name="Group 165"/>
          <p:cNvGrpSpPr/>
          <p:nvPr/>
        </p:nvGrpSpPr>
        <p:grpSpPr>
          <a:xfrm>
            <a:off x="331991" y="3111135"/>
            <a:ext cx="1657808" cy="775065"/>
            <a:chOff x="336411" y="3111135"/>
            <a:chExt cx="1657808" cy="775065"/>
          </a:xfrm>
        </p:grpSpPr>
        <p:sp>
          <p:nvSpPr>
            <p:cNvPr id="167" name="Rectangle 166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3</a:t>
              </a:r>
              <a:endParaRPr lang="en-SG" dirty="0"/>
            </a:p>
          </p:txBody>
        </p:sp>
        <p:sp>
          <p:nvSpPr>
            <p:cNvPr id="168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  <p:sp>
        <p:nvSpPr>
          <p:cNvPr id="169" name="Rectangle 60"/>
          <p:cNvSpPr>
            <a:spLocks noChangeArrowheads="1"/>
          </p:cNvSpPr>
          <p:nvPr/>
        </p:nvSpPr>
        <p:spPr bwMode="auto">
          <a:xfrm>
            <a:off x="4644594" y="1207322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24512" y="3361824"/>
            <a:ext cx="1390192" cy="355600"/>
            <a:chOff x="2538549" y="3513282"/>
            <a:chExt cx="1390192" cy="355600"/>
          </a:xfrm>
        </p:grpSpPr>
        <p:sp>
          <p:nvSpPr>
            <p:cNvPr id="107" name="Rectangle 46"/>
            <p:cNvSpPr>
              <a:spLocks noChangeArrowheads="1"/>
            </p:cNvSpPr>
            <p:nvPr/>
          </p:nvSpPr>
          <p:spPr bwMode="auto">
            <a:xfrm>
              <a:off x="2538549" y="3513282"/>
              <a:ext cx="968872" cy="355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F0</a:t>
              </a:r>
            </a:p>
          </p:txBody>
        </p:sp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3498712" y="3513282"/>
              <a:ext cx="430029" cy="355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T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421094" y="2294551"/>
            <a:ext cx="1390192" cy="355600"/>
            <a:chOff x="2538549" y="3513282"/>
            <a:chExt cx="1390192" cy="355600"/>
          </a:xfrm>
        </p:grpSpPr>
        <p:sp>
          <p:nvSpPr>
            <p:cNvPr id="171" name="Rectangle 46"/>
            <p:cNvSpPr>
              <a:spLocks noChangeArrowheads="1"/>
            </p:cNvSpPr>
            <p:nvPr/>
          </p:nvSpPr>
          <p:spPr bwMode="auto">
            <a:xfrm>
              <a:off x="2538549" y="3513282"/>
              <a:ext cx="968872" cy="355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F4</a:t>
              </a:r>
            </a:p>
          </p:txBody>
        </p:sp>
        <p:sp>
          <p:nvSpPr>
            <p:cNvPr id="172" name="Rectangle 46"/>
            <p:cNvSpPr>
              <a:spLocks noChangeArrowheads="1"/>
            </p:cNvSpPr>
            <p:nvPr/>
          </p:nvSpPr>
          <p:spPr bwMode="auto">
            <a:xfrm>
              <a:off x="3498712" y="3513282"/>
              <a:ext cx="430029" cy="355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T</a:t>
              </a:r>
            </a:p>
          </p:txBody>
        </p:sp>
      </p:grpSp>
      <p:sp>
        <p:nvSpPr>
          <p:cNvPr id="173" name="Rectangle 10"/>
          <p:cNvSpPr>
            <a:spLocks noChangeArrowheads="1"/>
          </p:cNvSpPr>
          <p:nvPr/>
        </p:nvSpPr>
        <p:spPr bwMode="auto">
          <a:xfrm>
            <a:off x="4648200" y="3648891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0</a:t>
            </a:r>
          </a:p>
        </p:txBody>
      </p:sp>
      <p:grpSp>
        <p:nvGrpSpPr>
          <p:cNvPr id="174" name="Group 173"/>
          <p:cNvGrpSpPr/>
          <p:nvPr/>
        </p:nvGrpSpPr>
        <p:grpSpPr>
          <a:xfrm>
            <a:off x="329534" y="3113193"/>
            <a:ext cx="1657808" cy="775065"/>
            <a:chOff x="336411" y="3111135"/>
            <a:chExt cx="1657808" cy="775065"/>
          </a:xfrm>
        </p:grpSpPr>
        <p:sp>
          <p:nvSpPr>
            <p:cNvPr id="175" name="Rectangle 174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0</a:t>
              </a:r>
              <a:endParaRPr lang="en-SG" dirty="0"/>
            </a:p>
          </p:txBody>
        </p:sp>
        <p:sp>
          <p:nvSpPr>
            <p:cNvPr id="176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52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17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 flipV="1">
            <a:off x="685800" y="1295400"/>
            <a:ext cx="7772400" cy="1511300"/>
          </a:xfrm>
        </p:spPr>
        <p:txBody>
          <a:bodyPr/>
          <a:lstStyle/>
          <a:p>
            <a:r>
              <a:rPr lang="en-US" dirty="0"/>
              <a:t>INVERTED </a:t>
            </a:r>
            <a:r>
              <a:rPr lang="en-US" dirty="0" err="1"/>
              <a:t>TAble</a:t>
            </a:r>
            <a:endParaRPr lang="en-SG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62</a:t>
            </a:fld>
            <a:endParaRPr lang="en-US" altLang="en-US"/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66953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/>
          <p:cNvSpPr/>
          <p:nvPr/>
        </p:nvSpPr>
        <p:spPr>
          <a:xfrm>
            <a:off x="6934200" y="533400"/>
            <a:ext cx="1981200" cy="4051000"/>
          </a:xfrm>
          <a:prstGeom prst="can">
            <a:avLst>
              <a:gd name="adj" fmla="val 1303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 </a:t>
            </a:r>
            <a:r>
              <a:rPr lang="en-US" altLang="en-US" sz="3800" b="1" dirty="0"/>
              <a:t>Accessing</a:t>
            </a:r>
            <a:endParaRPr lang="en-US" altLang="en-US" sz="3800" dirty="0"/>
          </a:p>
        </p:txBody>
      </p:sp>
      <p:sp>
        <p:nvSpPr>
          <p:cNvPr id="804929" name="Rectangle 65"/>
          <p:cNvSpPr>
            <a:spLocks noChangeArrowheads="1"/>
          </p:cNvSpPr>
          <p:nvPr/>
        </p:nvSpPr>
        <p:spPr bwMode="auto">
          <a:xfrm>
            <a:off x="7052733" y="3595986"/>
            <a:ext cx="155786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Secondary Storage </a:t>
            </a:r>
          </a:p>
          <a:p>
            <a:pPr algn="ctr"/>
            <a:r>
              <a:rPr lang="en-US" altLang="en-US" sz="1600" b="1" dirty="0"/>
              <a:t>(Hard Disk)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63</a:t>
            </a:fld>
            <a:endParaRPr lang="en-US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457700" y="3142042"/>
            <a:ext cx="1676400" cy="3344332"/>
            <a:chOff x="4343400" y="1075268"/>
            <a:chExt cx="1676400" cy="3344332"/>
          </a:xfrm>
        </p:grpSpPr>
        <p:sp>
          <p:nvSpPr>
            <p:cNvPr id="804882" name="Rectangle 18"/>
            <p:cNvSpPr>
              <a:spLocks noChangeArrowheads="1"/>
            </p:cNvSpPr>
            <p:nvPr/>
          </p:nvSpPr>
          <p:spPr bwMode="auto">
            <a:xfrm>
              <a:off x="4572000" y="3601393"/>
              <a:ext cx="1447800" cy="818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Physical Memory</a:t>
              </a:r>
            </a:p>
            <a:p>
              <a:pPr algn="ctr"/>
              <a:r>
                <a:rPr lang="en-US" altLang="en-US" sz="1600" b="1" dirty="0"/>
                <a:t>(RAM)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4876800" y="1075268"/>
              <a:ext cx="1143000" cy="2476500"/>
              <a:chOff x="3810000" y="1066800"/>
              <a:chExt cx="1143000" cy="4267200"/>
            </a:xfrm>
          </p:grpSpPr>
          <p:sp>
            <p:nvSpPr>
              <p:cNvPr id="80487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79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1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74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0</a:t>
                </a:r>
              </a:p>
            </p:txBody>
          </p:sp>
          <p:sp>
            <p:nvSpPr>
              <p:cNvPr id="804876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2</a:t>
                </a:r>
              </a:p>
            </p:txBody>
          </p:sp>
          <p:sp>
            <p:nvSpPr>
              <p:cNvPr id="804877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5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4343400" y="1075268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1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52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53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54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6934200" y="1050775"/>
            <a:ext cx="1676400" cy="2492525"/>
            <a:chOff x="6934200" y="1050775"/>
            <a:chExt cx="1676400" cy="2492525"/>
          </a:xfrm>
        </p:grpSpPr>
        <p:grpSp>
          <p:nvGrpSpPr>
            <p:cNvPr id="2" name="Group 1"/>
            <p:cNvGrpSpPr/>
            <p:nvPr/>
          </p:nvGrpSpPr>
          <p:grpSpPr>
            <a:xfrm>
              <a:off x="7467600" y="1066800"/>
              <a:ext cx="1143000" cy="2476500"/>
              <a:chOff x="6477000" y="1066800"/>
              <a:chExt cx="1143000" cy="4267200"/>
            </a:xfrm>
          </p:grpSpPr>
          <p:sp>
            <p:nvSpPr>
              <p:cNvPr id="804925" name="Rectangle 61"/>
              <p:cNvSpPr>
                <a:spLocks noChangeArrowheads="1"/>
              </p:cNvSpPr>
              <p:nvPr/>
            </p:nvSpPr>
            <p:spPr bwMode="auto">
              <a:xfrm>
                <a:off x="6477000" y="22860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6" name="Rectangle 62"/>
              <p:cNvSpPr>
                <a:spLocks noChangeArrowheads="1"/>
              </p:cNvSpPr>
              <p:nvPr/>
            </p:nvSpPr>
            <p:spPr bwMode="auto">
              <a:xfrm>
                <a:off x="6477000" y="4114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7" name="Rectangle 63"/>
              <p:cNvSpPr>
                <a:spLocks noChangeArrowheads="1"/>
              </p:cNvSpPr>
              <p:nvPr/>
            </p:nvSpPr>
            <p:spPr bwMode="auto">
              <a:xfrm>
                <a:off x="6477000" y="1676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8" name="Rectangle 64"/>
              <p:cNvSpPr>
                <a:spLocks noChangeArrowheads="1"/>
              </p:cNvSpPr>
              <p:nvPr/>
            </p:nvSpPr>
            <p:spPr bwMode="auto">
              <a:xfrm>
                <a:off x="6477000" y="4724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1" name="Rectangle 57"/>
              <p:cNvSpPr>
                <a:spLocks noChangeArrowheads="1"/>
              </p:cNvSpPr>
              <p:nvPr/>
            </p:nvSpPr>
            <p:spPr bwMode="auto">
              <a:xfrm>
                <a:off x="6477000" y="3505200"/>
                <a:ext cx="1143000" cy="609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1</a:t>
                </a:r>
              </a:p>
            </p:txBody>
          </p:sp>
          <p:sp>
            <p:nvSpPr>
              <p:cNvPr id="804923" name="Rectangle 59"/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4</a:t>
                </a:r>
              </a:p>
            </p:txBody>
          </p:sp>
          <p:sp>
            <p:nvSpPr>
              <p:cNvPr id="804924" name="Rectangle 60"/>
              <p:cNvSpPr>
                <a:spLocks noChangeArrowheads="1"/>
              </p:cNvSpPr>
              <p:nvPr/>
            </p:nvSpPr>
            <p:spPr bwMode="auto">
              <a:xfrm>
                <a:off x="6477000" y="2895600"/>
                <a:ext cx="1143000" cy="609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3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6934200" y="1050775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57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58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59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60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61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1838325" y="1191987"/>
            <a:ext cx="1962150" cy="2351313"/>
            <a:chOff x="2114550" y="1061964"/>
            <a:chExt cx="1962150" cy="2870803"/>
          </a:xfrm>
        </p:grpSpPr>
        <p:grpSp>
          <p:nvGrpSpPr>
            <p:cNvPr id="121" name="Group 120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2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2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2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2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12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2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12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130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31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32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33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34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35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36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137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138" name="Group 137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3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140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4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142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43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4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14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0985"/>
            <a:ext cx="9429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0" name="Group 149"/>
          <p:cNvGrpSpPr/>
          <p:nvPr/>
        </p:nvGrpSpPr>
        <p:grpSpPr>
          <a:xfrm>
            <a:off x="1838295" y="1188360"/>
            <a:ext cx="1962150" cy="2351313"/>
            <a:chOff x="2114550" y="1061964"/>
            <a:chExt cx="1962150" cy="2870803"/>
          </a:xfrm>
        </p:grpSpPr>
        <p:grpSp>
          <p:nvGrpSpPr>
            <p:cNvPr id="151" name="Group 150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6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0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2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173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grpSp>
          <p:nvGrpSpPr>
            <p:cNvPr id="152" name="Group 151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16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6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6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6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6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6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6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153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55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6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7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8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9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60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61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47241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 </a:t>
            </a:r>
            <a:r>
              <a:rPr lang="en-US" altLang="en-US" sz="3800" b="1" dirty="0"/>
              <a:t>Accessing</a:t>
            </a:r>
            <a:endParaRPr lang="en-US" altLang="en-US" sz="3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64</a:t>
            </a:fld>
            <a:endParaRPr lang="en-US" altLang="en-US"/>
          </a:p>
        </p:txBody>
      </p:sp>
      <p:grpSp>
        <p:nvGrpSpPr>
          <p:cNvPr id="95" name="Group 94"/>
          <p:cNvGrpSpPr/>
          <p:nvPr/>
        </p:nvGrpSpPr>
        <p:grpSpPr>
          <a:xfrm>
            <a:off x="1282700" y="1209296"/>
            <a:ext cx="1143000" cy="2476500"/>
            <a:chOff x="3810000" y="1066800"/>
            <a:chExt cx="1143000" cy="4267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6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97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98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99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-</a:t>
              </a:r>
            </a:p>
          </p:txBody>
        </p:sp>
        <p:sp>
          <p:nvSpPr>
            <p:cNvPr id="100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01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102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749300" y="1209296"/>
            <a:ext cx="533400" cy="2476500"/>
            <a:chOff x="3810000" y="1066800"/>
            <a:chExt cx="1143000" cy="4267200"/>
          </a:xfrm>
          <a:noFill/>
        </p:grpSpPr>
        <p:sp>
          <p:nvSpPr>
            <p:cNvPr id="104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05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106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07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108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109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10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425700" y="1206948"/>
            <a:ext cx="571500" cy="2476500"/>
            <a:chOff x="3810000" y="1066800"/>
            <a:chExt cx="1143000" cy="42672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3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14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15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16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17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18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19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114800" y="1209296"/>
            <a:ext cx="1143000" cy="2476500"/>
            <a:chOff x="3810000" y="1066800"/>
            <a:chExt cx="1143000" cy="4267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6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67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68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69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-</a:t>
              </a:r>
            </a:p>
          </p:txBody>
        </p:sp>
        <p:sp>
          <p:nvSpPr>
            <p:cNvPr id="70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1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72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581400" y="1209296"/>
            <a:ext cx="533400" cy="2476500"/>
            <a:chOff x="3810000" y="1066800"/>
            <a:chExt cx="1143000" cy="4267200"/>
          </a:xfrm>
          <a:noFill/>
        </p:grpSpPr>
        <p:sp>
          <p:nvSpPr>
            <p:cNvPr id="74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75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76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78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79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</p:grp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4349750" y="3775299"/>
            <a:ext cx="119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5257800" y="1206948"/>
            <a:ext cx="571500" cy="2476500"/>
            <a:chOff x="3810000" y="1066800"/>
            <a:chExt cx="1143000" cy="42672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84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85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87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89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934200" y="1209296"/>
            <a:ext cx="1143000" cy="2476500"/>
            <a:chOff x="3810000" y="1066800"/>
            <a:chExt cx="1143000" cy="4267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77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78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179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180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-</a:t>
              </a:r>
            </a:p>
          </p:txBody>
        </p:sp>
        <p:sp>
          <p:nvSpPr>
            <p:cNvPr id="181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82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6400800" y="1209296"/>
            <a:ext cx="533400" cy="2476500"/>
            <a:chOff x="3810000" y="1066800"/>
            <a:chExt cx="1143000" cy="4267200"/>
          </a:xfrm>
          <a:noFill/>
        </p:grpSpPr>
        <p:sp>
          <p:nvSpPr>
            <p:cNvPr id="185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86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187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88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189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190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91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</p:grpSp>
      <p:sp>
        <p:nvSpPr>
          <p:cNvPr id="192" name="Rectangle 42"/>
          <p:cNvSpPr>
            <a:spLocks noChangeArrowheads="1"/>
          </p:cNvSpPr>
          <p:nvPr/>
        </p:nvSpPr>
        <p:spPr bwMode="auto">
          <a:xfrm>
            <a:off x="7033622" y="3775299"/>
            <a:ext cx="119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grpSp>
        <p:nvGrpSpPr>
          <p:cNvPr id="193" name="Group 192"/>
          <p:cNvGrpSpPr/>
          <p:nvPr/>
        </p:nvGrpSpPr>
        <p:grpSpPr>
          <a:xfrm>
            <a:off x="8077200" y="1206948"/>
            <a:ext cx="571500" cy="2476500"/>
            <a:chOff x="3810000" y="1066800"/>
            <a:chExt cx="1143000" cy="42672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94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95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96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97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98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99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200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01" name="Rectangle 42"/>
          <p:cNvSpPr>
            <a:spLocks noChangeArrowheads="1"/>
          </p:cNvSpPr>
          <p:nvPr/>
        </p:nvSpPr>
        <p:spPr bwMode="auto">
          <a:xfrm>
            <a:off x="1517650" y="3765998"/>
            <a:ext cx="119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56" y="3581400"/>
            <a:ext cx="7913687" cy="297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01990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 Accessing</a:t>
            </a:r>
            <a:r>
              <a:rPr lang="en-US" altLang="en-US" sz="3800" dirty="0"/>
              <a:t>: Illustration</a:t>
            </a:r>
          </a:p>
        </p:txBody>
      </p:sp>
      <p:pic>
        <p:nvPicPr>
          <p:cNvPr id="807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6" t="598" r="6114" b="912"/>
          <a:stretch>
            <a:fillRect/>
          </a:stretch>
        </p:blipFill>
        <p:spPr bwMode="auto">
          <a:xfrm>
            <a:off x="685800" y="990600"/>
            <a:ext cx="7772400" cy="52800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65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3886200" y="3390900"/>
            <a:ext cx="1905000" cy="3094266"/>
            <a:chOff x="3886200" y="3390900"/>
            <a:chExt cx="1905000" cy="3094266"/>
          </a:xfrm>
        </p:grpSpPr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4114800" y="5666959"/>
              <a:ext cx="1676400" cy="818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400" b="1" dirty="0"/>
                <a:t>Physical Memory</a:t>
              </a:r>
            </a:p>
            <a:p>
              <a:pPr algn="ctr"/>
              <a:r>
                <a:rPr lang="en-US" altLang="en-US" sz="1400" b="1" dirty="0"/>
                <a:t>(RAM)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419600" y="3390900"/>
              <a:ext cx="1143000" cy="2476500"/>
              <a:chOff x="3810000" y="1066800"/>
              <a:chExt cx="1143000" cy="4267200"/>
            </a:xfrm>
          </p:grpSpPr>
          <p:sp>
            <p:nvSpPr>
              <p:cNvPr id="1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3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0</a:t>
                </a:r>
              </a:p>
            </p:txBody>
          </p:sp>
          <p:sp>
            <p:nvSpPr>
              <p:cNvPr id="2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2</a:t>
                </a:r>
              </a:p>
            </p:txBody>
          </p:sp>
          <p:sp>
            <p:nvSpPr>
              <p:cNvPr id="2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5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886200" y="3390900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>
            <a:off x="6400800" y="914400"/>
            <a:ext cx="2040466" cy="3898600"/>
            <a:chOff x="6400800" y="685800"/>
            <a:chExt cx="2040466" cy="3898600"/>
          </a:xfrm>
        </p:grpSpPr>
        <p:sp>
          <p:nvSpPr>
            <p:cNvPr id="6" name="Can 5"/>
            <p:cNvSpPr/>
            <p:nvPr/>
          </p:nvSpPr>
          <p:spPr>
            <a:xfrm>
              <a:off x="6400800" y="685800"/>
              <a:ext cx="2040466" cy="3898600"/>
            </a:xfrm>
            <a:prstGeom prst="can">
              <a:avLst>
                <a:gd name="adj" fmla="val 1303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5"/>
            <p:cNvSpPr>
              <a:spLocks noChangeArrowheads="1"/>
            </p:cNvSpPr>
            <p:nvPr/>
          </p:nvSpPr>
          <p:spPr bwMode="auto">
            <a:xfrm>
              <a:off x="6578599" y="3595986"/>
              <a:ext cx="1557867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Secondary Storage </a:t>
              </a:r>
            </a:p>
            <a:p>
              <a:pPr algn="ctr"/>
              <a:r>
                <a:rPr lang="en-US" altLang="en-US" sz="1600" b="1" dirty="0"/>
                <a:t>(Hard Disk)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6460066" y="1050775"/>
              <a:ext cx="1676400" cy="2492525"/>
              <a:chOff x="6934200" y="1050775"/>
              <a:chExt cx="1676400" cy="2492525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7467600" y="1066800"/>
                <a:ext cx="1143000" cy="2476500"/>
                <a:chOff x="6477000" y="1066800"/>
                <a:chExt cx="1143000" cy="4267200"/>
              </a:xfrm>
            </p:grpSpPr>
            <p:sp>
              <p:nvSpPr>
                <p:cNvPr id="36" name="Rectangle 61"/>
                <p:cNvSpPr>
                  <a:spLocks noChangeArrowheads="1"/>
                </p:cNvSpPr>
                <p:nvPr/>
              </p:nvSpPr>
              <p:spPr bwMode="auto">
                <a:xfrm>
                  <a:off x="6477000" y="22860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7" name="Rectangle 62"/>
                <p:cNvSpPr>
                  <a:spLocks noChangeArrowheads="1"/>
                </p:cNvSpPr>
                <p:nvPr/>
              </p:nvSpPr>
              <p:spPr bwMode="auto">
                <a:xfrm>
                  <a:off x="6477000" y="4114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8" name="Rectangle 63"/>
                <p:cNvSpPr>
                  <a:spLocks noChangeArrowheads="1"/>
                </p:cNvSpPr>
                <p:nvPr/>
              </p:nvSpPr>
              <p:spPr bwMode="auto">
                <a:xfrm>
                  <a:off x="6477000" y="1676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9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7000" y="4724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40" name="Rectangle 57"/>
                <p:cNvSpPr>
                  <a:spLocks noChangeArrowheads="1"/>
                </p:cNvSpPr>
                <p:nvPr/>
              </p:nvSpPr>
              <p:spPr bwMode="auto">
                <a:xfrm>
                  <a:off x="6477000" y="35052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Page 1</a:t>
                  </a:r>
                </a:p>
              </p:txBody>
            </p:sp>
            <p:sp>
              <p:nvSpPr>
                <p:cNvPr id="41" name="Rectangle 59"/>
                <p:cNvSpPr>
                  <a:spLocks noChangeArrowheads="1"/>
                </p:cNvSpPr>
                <p:nvPr/>
              </p:nvSpPr>
              <p:spPr bwMode="auto">
                <a:xfrm>
                  <a:off x="6477000" y="1066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Page 4</a:t>
                  </a:r>
                </a:p>
              </p:txBody>
            </p:sp>
            <p:sp>
              <p:nvSpPr>
                <p:cNvPr id="42" name="Rectangle 60"/>
                <p:cNvSpPr>
                  <a:spLocks noChangeArrowheads="1"/>
                </p:cNvSpPr>
                <p:nvPr/>
              </p:nvSpPr>
              <p:spPr bwMode="auto">
                <a:xfrm>
                  <a:off x="6477000" y="28956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>
                      <a:latin typeface="Courier New" pitchFamily="49" charset="0"/>
                    </a:rPr>
                    <a:t>Page 3</a:t>
                  </a:r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6934200" y="1050775"/>
                <a:ext cx="533400" cy="2476500"/>
                <a:chOff x="3810000" y="1066800"/>
                <a:chExt cx="1143000" cy="4267200"/>
              </a:xfrm>
              <a:noFill/>
            </p:grpSpPr>
            <p:sp>
              <p:nvSpPr>
                <p:cNvPr id="29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22860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2</a:t>
                  </a:r>
                </a:p>
              </p:txBody>
            </p:sp>
            <p:sp>
              <p:nvSpPr>
                <p:cNvPr id="30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28956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3</a:t>
                  </a:r>
                </a:p>
              </p:txBody>
            </p:sp>
            <p:sp>
              <p:nvSpPr>
                <p:cNvPr id="31" name="Rectangle 16"/>
                <p:cNvSpPr>
                  <a:spLocks noChangeArrowheads="1"/>
                </p:cNvSpPr>
                <p:nvPr/>
              </p:nvSpPr>
              <p:spPr bwMode="auto">
                <a:xfrm>
                  <a:off x="3810000" y="10668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32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0000" y="47244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6</a:t>
                  </a:r>
                </a:p>
              </p:txBody>
            </p:sp>
            <p:sp>
              <p:nvSpPr>
                <p:cNvPr id="33" name="Rectangle 10"/>
                <p:cNvSpPr>
                  <a:spLocks noChangeArrowheads="1"/>
                </p:cNvSpPr>
                <p:nvPr/>
              </p:nvSpPr>
              <p:spPr bwMode="auto">
                <a:xfrm>
                  <a:off x="3810000" y="3505200"/>
                  <a:ext cx="1143000" cy="609600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4</a:t>
                  </a:r>
                </a:p>
              </p:txBody>
            </p:sp>
            <p:sp>
              <p:nvSpPr>
                <p:cNvPr id="34" name="Rectangle 12"/>
                <p:cNvSpPr>
                  <a:spLocks noChangeArrowheads="1"/>
                </p:cNvSpPr>
                <p:nvPr/>
              </p:nvSpPr>
              <p:spPr bwMode="auto">
                <a:xfrm>
                  <a:off x="3810000" y="4114800"/>
                  <a:ext cx="1143000" cy="609600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5</a:t>
                  </a:r>
                </a:p>
              </p:txBody>
            </p:sp>
            <p:sp>
              <p:nvSpPr>
                <p:cNvPr id="35" name="Rectangle 13"/>
                <p:cNvSpPr>
                  <a:spLocks noChangeArrowheads="1"/>
                </p:cNvSpPr>
                <p:nvPr/>
              </p:nvSpPr>
              <p:spPr bwMode="auto">
                <a:xfrm>
                  <a:off x="3810000" y="1676400"/>
                  <a:ext cx="1143000" cy="609600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1</a:t>
                  </a:r>
                </a:p>
              </p:txBody>
            </p:sp>
          </p:grpSp>
        </p:grpSp>
      </p:grpSp>
      <p:grpSp>
        <p:nvGrpSpPr>
          <p:cNvPr id="43" name="Group 42"/>
          <p:cNvGrpSpPr/>
          <p:nvPr/>
        </p:nvGrpSpPr>
        <p:grpSpPr>
          <a:xfrm>
            <a:off x="1982258" y="1829706"/>
            <a:ext cx="1826652" cy="2351313"/>
            <a:chOff x="2114550" y="1061964"/>
            <a:chExt cx="1962150" cy="2870803"/>
          </a:xfrm>
        </p:grpSpPr>
        <p:grpSp>
          <p:nvGrpSpPr>
            <p:cNvPr id="44" name="Group 43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6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6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6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6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6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6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6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55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56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57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8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61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51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52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53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54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</p:grpSp>
      </p:grpSp>
      <p:pic>
        <p:nvPicPr>
          <p:cNvPr id="6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60889"/>
            <a:ext cx="9429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" name="Group 69"/>
          <p:cNvGrpSpPr/>
          <p:nvPr/>
        </p:nvGrpSpPr>
        <p:grpSpPr>
          <a:xfrm>
            <a:off x="1966466" y="1833667"/>
            <a:ext cx="1826652" cy="2351313"/>
            <a:chOff x="2114550" y="1061964"/>
            <a:chExt cx="1962150" cy="2870803"/>
          </a:xfrm>
        </p:grpSpPr>
        <p:grpSp>
          <p:nvGrpSpPr>
            <p:cNvPr id="71" name="Group 70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8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0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2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93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8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8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8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8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8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8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73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75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6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7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8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9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80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81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105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10 – Page Fault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66</a:t>
            </a:fld>
            <a:endParaRPr lang="en-US" altLang="en-US"/>
          </a:p>
        </p:txBody>
      </p:sp>
      <p:pic>
        <p:nvPicPr>
          <p:cNvPr id="1026" name="Picture 2" descr="https://docs.microsoft.com/en-us/windows-hardware/drivers/debugger/images/bug-check-example-blue-screen-page-faul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0"/>
            <a:ext cx="95250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8437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15096</TotalTime>
  <Words>4164</Words>
  <Application>Microsoft Office PowerPoint</Application>
  <PresentationFormat>On-screen Show (4:3)</PresentationFormat>
  <Paragraphs>1411</Paragraphs>
  <Slides>66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  <vt:variant>
        <vt:lpstr>Custom Shows</vt:lpstr>
      </vt:variant>
      <vt:variant>
        <vt:i4>1</vt:i4>
      </vt:variant>
    </vt:vector>
  </HeadingPairs>
  <TitlesOfParts>
    <vt:vector size="76" baseType="lpstr">
      <vt:lpstr>Arial</vt:lpstr>
      <vt:lpstr>Bernard MT Condensed</vt:lpstr>
      <vt:lpstr>Cambria Math</vt:lpstr>
      <vt:lpstr>Consolas</vt:lpstr>
      <vt:lpstr>Courier New</vt:lpstr>
      <vt:lpstr>Garamond</vt:lpstr>
      <vt:lpstr>Symbol</vt:lpstr>
      <vt:lpstr>Wingdings</vt:lpstr>
      <vt:lpstr>Edge</vt:lpstr>
      <vt:lpstr>Memory Management Virtual Memory Management</vt:lpstr>
      <vt:lpstr>Overview</vt:lpstr>
      <vt:lpstr>Virtual Memory: Motivation</vt:lpstr>
      <vt:lpstr>Virtual Memory: Basic Idea</vt:lpstr>
      <vt:lpstr>Virtual Memory: Paging Illustration</vt:lpstr>
      <vt:lpstr>Extended Paging Scheme</vt:lpstr>
      <vt:lpstr>Accessing Page X: General Steps</vt:lpstr>
      <vt:lpstr>Virtual Memory Accessing: Illustration</vt:lpstr>
      <vt:lpstr>Virtual Memory: Justification</vt:lpstr>
      <vt:lpstr>Recap: Locality Principles</vt:lpstr>
      <vt:lpstr>PowerPoint Presentation</vt:lpstr>
      <vt:lpstr>Virtual Memory and Locality Principle</vt:lpstr>
      <vt:lpstr>Virtual Memory: Summary</vt:lpstr>
      <vt:lpstr>common application</vt:lpstr>
      <vt:lpstr>Motivation</vt:lpstr>
      <vt:lpstr>Demand Paging</vt:lpstr>
      <vt:lpstr>Page Table Structure</vt:lpstr>
      <vt:lpstr>More on Virtual Memory Management</vt:lpstr>
      <vt:lpstr>Page Table Structure</vt:lpstr>
      <vt:lpstr>Page Table Structure: Direct Paging</vt:lpstr>
      <vt:lpstr>2-Level Paging: Basic Idea</vt:lpstr>
      <vt:lpstr>2-Level Paging: Description</vt:lpstr>
      <vt:lpstr>PowerPoint Presentation</vt:lpstr>
      <vt:lpstr>2-level Paging</vt:lpstr>
      <vt:lpstr>2-Level Paging: Advantages</vt:lpstr>
      <vt:lpstr>Inverted Page Table: Basic Idea</vt:lpstr>
      <vt:lpstr>Inverted Page Table: Basic Idea (cont)</vt:lpstr>
      <vt:lpstr>Inverted Table: Illustration</vt:lpstr>
      <vt:lpstr>Page Replacement                    Algorithms</vt:lpstr>
      <vt:lpstr>Page Replacement Algorithms</vt:lpstr>
      <vt:lpstr>Modeling Memory References</vt:lpstr>
      <vt:lpstr>Page Replacement Algorithms: Evaluation</vt:lpstr>
      <vt:lpstr>Optimal Page Replacement (OPT) </vt:lpstr>
      <vt:lpstr>OPT (6 Page Faults)</vt:lpstr>
      <vt:lpstr>FIFO Page Replacement Algorithm</vt:lpstr>
      <vt:lpstr>FIFO (9 Page Faults)</vt:lpstr>
      <vt:lpstr>FIFO: Problems</vt:lpstr>
      <vt:lpstr>Least Recently Used (LRU)</vt:lpstr>
      <vt:lpstr>LRU (7 Page Faults)</vt:lpstr>
      <vt:lpstr>LRU: Implementation Details</vt:lpstr>
      <vt:lpstr>LRU: Implementation Details (cont)</vt:lpstr>
      <vt:lpstr>Second-Chance Page Replacement (CLOCK) </vt:lpstr>
      <vt:lpstr>Second-Chance: Implementation Details</vt:lpstr>
      <vt:lpstr>CLOCK( 6 Page Faults )</vt:lpstr>
      <vt:lpstr>Frame Allocation </vt:lpstr>
      <vt:lpstr>Frame Allocation</vt:lpstr>
      <vt:lpstr>Frame Allocation and Page Replacement</vt:lpstr>
      <vt:lpstr>Local vs Global Replacement</vt:lpstr>
      <vt:lpstr>Frame Allocation and Thrashing</vt:lpstr>
      <vt:lpstr>Finding the right number of frames…</vt:lpstr>
      <vt:lpstr>Working Set Model</vt:lpstr>
      <vt:lpstr>Working Set Model: Illustration</vt:lpstr>
      <vt:lpstr>Working Set Model: Illustration</vt:lpstr>
      <vt:lpstr>Summary</vt:lpstr>
      <vt:lpstr>The Memory Hierarchy</vt:lpstr>
      <vt:lpstr>Page Fault: Illustration</vt:lpstr>
      <vt:lpstr>A King and his small castle</vt:lpstr>
      <vt:lpstr>A King and his er…. big HDB</vt:lpstr>
      <vt:lpstr>Virtual Memory: Summary</vt:lpstr>
      <vt:lpstr>Demand Paging 1</vt:lpstr>
      <vt:lpstr>Demand Paging 2</vt:lpstr>
      <vt:lpstr>INVERTED TAble</vt:lpstr>
      <vt:lpstr>Virtual Memory Accessing</vt:lpstr>
      <vt:lpstr>Virtual Memory Accessing</vt:lpstr>
      <vt:lpstr>Virtual Memory Accessing: Illustration</vt:lpstr>
      <vt:lpstr>Windows 10 – Page Fault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824</cp:revision>
  <cp:lastPrinted>1601-01-01T00:00:00Z</cp:lastPrinted>
  <dcterms:created xsi:type="dcterms:W3CDTF">1601-01-01T00:00:00Z</dcterms:created>
  <dcterms:modified xsi:type="dcterms:W3CDTF">2025-10-13T10:13:04Z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