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63"/>
  </p:notesMasterIdLst>
  <p:sldIdLst>
    <p:sldId id="256" r:id="rId2"/>
    <p:sldId id="257" r:id="rId3"/>
    <p:sldId id="355" r:id="rId4"/>
    <p:sldId id="356" r:id="rId5"/>
    <p:sldId id="357" r:id="rId6"/>
    <p:sldId id="358" r:id="rId7"/>
    <p:sldId id="359" r:id="rId8"/>
    <p:sldId id="366" r:id="rId9"/>
    <p:sldId id="411" r:id="rId10"/>
    <p:sldId id="361" r:id="rId11"/>
    <p:sldId id="412" r:id="rId12"/>
    <p:sldId id="414" r:id="rId13"/>
    <p:sldId id="415" r:id="rId14"/>
    <p:sldId id="417" r:id="rId15"/>
    <p:sldId id="418" r:id="rId16"/>
    <p:sldId id="413" r:id="rId17"/>
    <p:sldId id="421" r:id="rId18"/>
    <p:sldId id="422" r:id="rId19"/>
    <p:sldId id="364" r:id="rId20"/>
    <p:sldId id="367" r:id="rId21"/>
    <p:sldId id="369" r:id="rId22"/>
    <p:sldId id="385" r:id="rId23"/>
    <p:sldId id="416" r:id="rId24"/>
    <p:sldId id="386" r:id="rId25"/>
    <p:sldId id="387" r:id="rId26"/>
    <p:sldId id="420" r:id="rId27"/>
    <p:sldId id="388" r:id="rId28"/>
    <p:sldId id="393" r:id="rId29"/>
    <p:sldId id="389" r:id="rId30"/>
    <p:sldId id="390" r:id="rId31"/>
    <p:sldId id="391" r:id="rId32"/>
    <p:sldId id="392" r:id="rId33"/>
    <p:sldId id="419" r:id="rId34"/>
    <p:sldId id="394" r:id="rId35"/>
    <p:sldId id="379" r:id="rId36"/>
    <p:sldId id="432" r:id="rId37"/>
    <p:sldId id="396" r:id="rId38"/>
    <p:sldId id="397" r:id="rId39"/>
    <p:sldId id="398" r:id="rId40"/>
    <p:sldId id="423" r:id="rId41"/>
    <p:sldId id="424" r:id="rId42"/>
    <p:sldId id="425" r:id="rId43"/>
    <p:sldId id="399" r:id="rId44"/>
    <p:sldId id="400" r:id="rId45"/>
    <p:sldId id="401" r:id="rId46"/>
    <p:sldId id="402" r:id="rId47"/>
    <p:sldId id="403" r:id="rId48"/>
    <p:sldId id="404" r:id="rId49"/>
    <p:sldId id="405" r:id="rId50"/>
    <p:sldId id="426" r:id="rId51"/>
    <p:sldId id="406" r:id="rId52"/>
    <p:sldId id="407" r:id="rId53"/>
    <p:sldId id="427" r:id="rId54"/>
    <p:sldId id="428" r:id="rId55"/>
    <p:sldId id="258" r:id="rId56"/>
    <p:sldId id="343" r:id="rId57"/>
    <p:sldId id="429" r:id="rId58"/>
    <p:sldId id="430" r:id="rId59"/>
    <p:sldId id="431" r:id="rId60"/>
    <p:sldId id="433" r:id="rId61"/>
    <p:sldId id="434" r:id="rId62"/>
  </p:sldIdLst>
  <p:sldSz cx="9144000" cy="6858000" type="screen4x3"/>
  <p:notesSz cx="7099300" cy="10234613"/>
  <p:custShowLst>
    <p:custShow name="Live" id="0">
      <p:sldLst>
        <p:sld r:id="rId62"/>
        <p:sld r:id="rId2"/>
        <p:sld r:id="rId3"/>
        <p:sld r:id="rId4"/>
        <p:sld r:id="rId5"/>
        <p:sld r:id="rId6"/>
        <p:sld r:id="rId7"/>
        <p:sld r:id="rId8"/>
        <p:sld r:id="rId9"/>
        <p:sld r:id="rId58"/>
        <p:sld r:id="rId10"/>
        <p:sld r:id="rId11"/>
        <p:sld r:id="rId59"/>
        <p:sld r:id="rId60"/>
        <p:sld r:id="rId12"/>
        <p:sld r:id="rId13"/>
        <p:sld r:id="rId14"/>
        <p:sld r:id="rId15"/>
        <p:sld r:id="rId16"/>
        <p:sld r:id="rId17"/>
        <p:sld r:id="rId18"/>
        <p:sld r:id="rId19"/>
        <p:sld r:id="rId20"/>
        <p:sld r:id="rId21"/>
        <p:sld r:id="rId22"/>
        <p:sld r:id="rId23"/>
        <p:sld r:id="rId24"/>
        <p:sld r:id="rId25"/>
        <p:sld r:id="rId26"/>
        <p:sld r:id="rId27"/>
        <p:sld r:id="rId28"/>
        <p:sld r:id="rId29"/>
        <p:sld r:id="rId30"/>
        <p:sld r:id="rId31"/>
        <p:sld r:id="rId32"/>
        <p:sld r:id="rId33"/>
        <p:sld r:id="rId34"/>
        <p:sld r:id="rId35"/>
        <p:sld r:id="rId36"/>
        <p:sld r:id="rId37"/>
        <p:sld r:id="rId38"/>
        <p:sld r:id="rId39"/>
        <p:sld r:id="rId40"/>
        <p:sld r:id="rId41"/>
        <p:sld r:id="rId42"/>
        <p:sld r:id="rId43"/>
        <p:sld r:id="rId44"/>
        <p:sld r:id="rId45"/>
        <p:sld r:id="rId46"/>
        <p:sld r:id="rId47"/>
        <p:sld r:id="rId48"/>
        <p:sld r:id="rId49"/>
        <p:sld r:id="rId50"/>
        <p:sld r:id="rId61"/>
        <p:sld r:id="rId51"/>
        <p:sld r:id="rId52"/>
        <p:sld r:id="rId53"/>
        <p:sld r:id="rId54"/>
        <p:sld r:id="rId55"/>
        <p:sld r:id="rId56"/>
      </p:sldLst>
    </p:custShow>
  </p:custShow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custShow id="0"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660066"/>
    <a:srgbClr val="003300"/>
    <a:srgbClr val="FFFFCC"/>
    <a:srgbClr val="000000"/>
    <a:srgbClr val="F2CED2"/>
    <a:srgbClr val="0033CC"/>
    <a:srgbClr val="00CCFF"/>
    <a:srgbClr val="FF99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1" autoAdjust="0"/>
    <p:restoredTop sz="88069" autoAdjust="0"/>
  </p:normalViewPr>
  <p:slideViewPr>
    <p:cSldViewPr>
      <p:cViewPr varScale="1">
        <p:scale>
          <a:sx n="110" d="100"/>
          <a:sy n="110" d="100"/>
        </p:scale>
        <p:origin x="192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43F70E-C1FA-4BE1-A79D-2A69420E4E0A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40BFE97-586B-4EBF-AFD7-9E47D0847071}">
      <dgm:prSet phldrT="[Text]"/>
      <dgm:spPr/>
      <dgm:t>
        <a:bodyPr/>
        <a:lstStyle/>
        <a:p>
          <a:r>
            <a:rPr lang="en-US" altLang="en-US" b="1">
              <a:solidFill>
                <a:schemeClr val="bg1"/>
              </a:solidFill>
            </a:rPr>
            <a:t>Mutual Exclusion</a:t>
          </a:r>
          <a:r>
            <a:rPr lang="en-US" altLang="en-US">
              <a:solidFill>
                <a:schemeClr val="bg1"/>
              </a:solidFill>
            </a:rPr>
            <a:t>:</a:t>
          </a:r>
          <a:endParaRPr lang="en-US" dirty="0">
            <a:solidFill>
              <a:schemeClr val="bg1"/>
            </a:solidFill>
          </a:endParaRPr>
        </a:p>
      </dgm:t>
    </dgm:pt>
    <dgm:pt modelId="{BF42C24E-00B7-4348-9397-9043A49E657B}" type="parTrans" cxnId="{ADE68004-A349-420C-BDEE-81AE63883D27}">
      <dgm:prSet/>
      <dgm:spPr/>
      <dgm:t>
        <a:bodyPr/>
        <a:lstStyle/>
        <a:p>
          <a:endParaRPr lang="en-US"/>
        </a:p>
      </dgm:t>
    </dgm:pt>
    <dgm:pt modelId="{529CA64D-8150-42B4-8AB5-2548CD04BCA6}" type="sibTrans" cxnId="{ADE68004-A349-420C-BDEE-81AE63883D27}">
      <dgm:prSet/>
      <dgm:spPr/>
      <dgm:t>
        <a:bodyPr/>
        <a:lstStyle/>
        <a:p>
          <a:endParaRPr lang="en-US"/>
        </a:p>
      </dgm:t>
    </dgm:pt>
    <dgm:pt modelId="{E79941B5-45E3-44E5-B69C-C06305FA6791}">
      <dgm:prSet/>
      <dgm:spPr/>
      <dgm:t>
        <a:bodyPr/>
        <a:lstStyle/>
        <a:p>
          <a:r>
            <a:rPr lang="en-US" altLang="en-US" dirty="0"/>
            <a:t>If process </a:t>
          </a:r>
          <a:r>
            <a:rPr lang="en-US" altLang="en-US" b="1" dirty="0">
              <a:latin typeface="Courier New" pitchFamily="49" charset="0"/>
            </a:rPr>
            <a:t>P</a:t>
          </a:r>
          <a:r>
            <a:rPr lang="en-US" altLang="en-US" b="1" baseline="-25000" dirty="0">
              <a:latin typeface="Courier New" pitchFamily="49" charset="0"/>
            </a:rPr>
            <a:t>i</a:t>
          </a:r>
          <a:r>
            <a:rPr lang="en-US" altLang="en-US" dirty="0"/>
            <a:t> is executing in critical section, all other processes are prevented from entering the critical section.</a:t>
          </a:r>
        </a:p>
      </dgm:t>
    </dgm:pt>
    <dgm:pt modelId="{E3A3EC95-934A-4C61-982A-A89F158E66A1}" type="parTrans" cxnId="{04A489CF-123C-4991-B8AD-B8D1DD133339}">
      <dgm:prSet/>
      <dgm:spPr/>
      <dgm:t>
        <a:bodyPr/>
        <a:lstStyle/>
        <a:p>
          <a:endParaRPr lang="en-US"/>
        </a:p>
      </dgm:t>
    </dgm:pt>
    <dgm:pt modelId="{2FAD2BFA-4F4E-4B2C-858C-019F5D25C90F}" type="sibTrans" cxnId="{04A489CF-123C-4991-B8AD-B8D1DD133339}">
      <dgm:prSet/>
      <dgm:spPr/>
      <dgm:t>
        <a:bodyPr/>
        <a:lstStyle/>
        <a:p>
          <a:endParaRPr lang="en-US"/>
        </a:p>
      </dgm:t>
    </dgm:pt>
    <dgm:pt modelId="{87C2298B-9F6A-4BAA-AC97-24F97CB60E8A}">
      <dgm:prSet/>
      <dgm:spPr/>
      <dgm:t>
        <a:bodyPr/>
        <a:lstStyle/>
        <a:p>
          <a:r>
            <a:rPr lang="en-US" altLang="en-US" b="1">
              <a:solidFill>
                <a:schemeClr val="bg1"/>
              </a:solidFill>
            </a:rPr>
            <a:t>Progress:</a:t>
          </a:r>
          <a:endParaRPr lang="en-US" altLang="en-US" b="1" dirty="0">
            <a:solidFill>
              <a:schemeClr val="bg1"/>
            </a:solidFill>
          </a:endParaRPr>
        </a:p>
      </dgm:t>
    </dgm:pt>
    <dgm:pt modelId="{F2580493-3EF7-4B0A-9F4A-675C04887A62}" type="parTrans" cxnId="{8FD3D289-B365-4C77-8C11-26849FB7E496}">
      <dgm:prSet/>
      <dgm:spPr/>
      <dgm:t>
        <a:bodyPr/>
        <a:lstStyle/>
        <a:p>
          <a:endParaRPr lang="en-US"/>
        </a:p>
      </dgm:t>
    </dgm:pt>
    <dgm:pt modelId="{B5D4722E-BB85-4D2A-95F3-3336F61DA3DA}" type="sibTrans" cxnId="{8FD3D289-B365-4C77-8C11-26849FB7E496}">
      <dgm:prSet/>
      <dgm:spPr/>
      <dgm:t>
        <a:bodyPr/>
        <a:lstStyle/>
        <a:p>
          <a:endParaRPr lang="en-US"/>
        </a:p>
      </dgm:t>
    </dgm:pt>
    <dgm:pt modelId="{883B044A-1309-4F37-917A-71E94BD09676}">
      <dgm:prSet/>
      <dgm:spPr/>
      <dgm:t>
        <a:bodyPr/>
        <a:lstStyle/>
        <a:p>
          <a:r>
            <a:rPr lang="en-US" altLang="en-US" dirty="0"/>
            <a:t>If no process is in a critical section, one of the waiting processes should be granted access.</a:t>
          </a:r>
        </a:p>
      </dgm:t>
    </dgm:pt>
    <dgm:pt modelId="{5EAA1AB4-7EDC-4C88-B318-74196D661234}" type="parTrans" cxnId="{F9CACA84-350A-41C3-B64A-AC20A7D1FADB}">
      <dgm:prSet/>
      <dgm:spPr/>
      <dgm:t>
        <a:bodyPr/>
        <a:lstStyle/>
        <a:p>
          <a:endParaRPr lang="en-US"/>
        </a:p>
      </dgm:t>
    </dgm:pt>
    <dgm:pt modelId="{3E95A8CB-6EB6-4FFD-B29E-7DAD4DAED8F7}" type="sibTrans" cxnId="{F9CACA84-350A-41C3-B64A-AC20A7D1FADB}">
      <dgm:prSet/>
      <dgm:spPr/>
      <dgm:t>
        <a:bodyPr/>
        <a:lstStyle/>
        <a:p>
          <a:endParaRPr lang="en-US"/>
        </a:p>
      </dgm:t>
    </dgm:pt>
    <dgm:pt modelId="{C4DF41A7-042F-4E4B-BD40-04B8A95E26A3}">
      <dgm:prSet/>
      <dgm:spPr/>
      <dgm:t>
        <a:bodyPr/>
        <a:lstStyle/>
        <a:p>
          <a:r>
            <a:rPr lang="en-US" altLang="en-US" b="1">
              <a:solidFill>
                <a:schemeClr val="bg1"/>
              </a:solidFill>
            </a:rPr>
            <a:t>Bounded Wait:</a:t>
          </a:r>
          <a:endParaRPr lang="en-US" altLang="en-US" b="1" dirty="0">
            <a:solidFill>
              <a:schemeClr val="bg1"/>
            </a:solidFill>
          </a:endParaRPr>
        </a:p>
      </dgm:t>
    </dgm:pt>
    <dgm:pt modelId="{A14DCA2D-3126-4C51-B827-20D6C3C36355}" type="parTrans" cxnId="{667899C3-CC7C-430D-9455-11A97BF2632F}">
      <dgm:prSet/>
      <dgm:spPr/>
      <dgm:t>
        <a:bodyPr/>
        <a:lstStyle/>
        <a:p>
          <a:endParaRPr lang="en-US"/>
        </a:p>
      </dgm:t>
    </dgm:pt>
    <dgm:pt modelId="{877C3048-1FB5-4288-B824-56862EABE2F2}" type="sibTrans" cxnId="{667899C3-CC7C-430D-9455-11A97BF2632F}">
      <dgm:prSet/>
      <dgm:spPr/>
      <dgm:t>
        <a:bodyPr/>
        <a:lstStyle/>
        <a:p>
          <a:endParaRPr lang="en-US"/>
        </a:p>
      </dgm:t>
    </dgm:pt>
    <dgm:pt modelId="{062DE4AA-612A-4BC1-A886-4D650BA3D789}">
      <dgm:prSet/>
      <dgm:spPr/>
      <dgm:t>
        <a:bodyPr/>
        <a:lstStyle/>
        <a:p>
          <a:r>
            <a:rPr lang="en-US" altLang="en-US" dirty="0"/>
            <a:t>After process </a:t>
          </a:r>
          <a:r>
            <a:rPr lang="en-US" altLang="en-US" b="1" dirty="0">
              <a:latin typeface="Courier New" pitchFamily="49" charset="0"/>
            </a:rPr>
            <a:t>P</a:t>
          </a:r>
          <a:r>
            <a:rPr lang="en-US" altLang="en-US" b="1" baseline="-25000" dirty="0">
              <a:latin typeface="Courier New" pitchFamily="49" charset="0"/>
            </a:rPr>
            <a:t>i</a:t>
          </a:r>
          <a:r>
            <a:rPr lang="en-US" altLang="en-US" dirty="0"/>
            <a:t> request to enter critical section, there exists an </a:t>
          </a:r>
          <a:r>
            <a:rPr lang="en-US" altLang="en-US" dirty="0" err="1"/>
            <a:t>upperbound</a:t>
          </a:r>
          <a:r>
            <a:rPr lang="en-US" altLang="en-US" dirty="0"/>
            <a:t> of number of times other processes can enter the critical section before </a:t>
          </a:r>
          <a:r>
            <a:rPr lang="en-US" altLang="en-US" b="1" dirty="0">
              <a:latin typeface="Courier New" pitchFamily="49" charset="0"/>
            </a:rPr>
            <a:t>P</a:t>
          </a:r>
          <a:r>
            <a:rPr lang="en-US" altLang="en-US" b="1" baseline="-25000" dirty="0">
              <a:latin typeface="Courier New" pitchFamily="49" charset="0"/>
            </a:rPr>
            <a:t>i.</a:t>
          </a:r>
        </a:p>
      </dgm:t>
    </dgm:pt>
    <dgm:pt modelId="{2ACAFAE6-DB79-4ECC-821D-2E635801F2D5}" type="parTrans" cxnId="{B4E3F418-924B-452C-B6F5-7B6CA4F104E2}">
      <dgm:prSet/>
      <dgm:spPr/>
      <dgm:t>
        <a:bodyPr/>
        <a:lstStyle/>
        <a:p>
          <a:endParaRPr lang="en-US"/>
        </a:p>
      </dgm:t>
    </dgm:pt>
    <dgm:pt modelId="{D285642C-8D04-4BDD-844C-BE2EBF674D9E}" type="sibTrans" cxnId="{B4E3F418-924B-452C-B6F5-7B6CA4F104E2}">
      <dgm:prSet/>
      <dgm:spPr/>
      <dgm:t>
        <a:bodyPr/>
        <a:lstStyle/>
        <a:p>
          <a:endParaRPr lang="en-US"/>
        </a:p>
      </dgm:t>
    </dgm:pt>
    <dgm:pt modelId="{55756C74-7A60-4767-A830-AA28F99DE9A9}">
      <dgm:prSet/>
      <dgm:spPr/>
      <dgm:t>
        <a:bodyPr/>
        <a:lstStyle/>
        <a:p>
          <a:r>
            <a:rPr lang="en-US" altLang="en-US" b="1">
              <a:solidFill>
                <a:schemeClr val="bg1"/>
              </a:solidFill>
            </a:rPr>
            <a:t>Independence:</a:t>
          </a:r>
          <a:endParaRPr lang="en-US" altLang="en-US" b="1" dirty="0">
            <a:solidFill>
              <a:schemeClr val="bg1"/>
            </a:solidFill>
          </a:endParaRPr>
        </a:p>
      </dgm:t>
    </dgm:pt>
    <dgm:pt modelId="{0F579B38-CEFB-4E2C-9C04-D5BFACA0744D}" type="parTrans" cxnId="{7DB5502F-7CFE-4870-B3B7-3699C6FBC56B}">
      <dgm:prSet/>
      <dgm:spPr/>
      <dgm:t>
        <a:bodyPr/>
        <a:lstStyle/>
        <a:p>
          <a:endParaRPr lang="en-US"/>
        </a:p>
      </dgm:t>
    </dgm:pt>
    <dgm:pt modelId="{6BE5D9FD-7459-4506-93C7-7489B31DFBC6}" type="sibTrans" cxnId="{7DB5502F-7CFE-4870-B3B7-3699C6FBC56B}">
      <dgm:prSet/>
      <dgm:spPr/>
      <dgm:t>
        <a:bodyPr/>
        <a:lstStyle/>
        <a:p>
          <a:endParaRPr lang="en-US"/>
        </a:p>
      </dgm:t>
    </dgm:pt>
    <dgm:pt modelId="{FB3CDD38-A631-4153-8A51-ADAA17BF7262}">
      <dgm:prSet/>
      <dgm:spPr/>
      <dgm:t>
        <a:bodyPr/>
        <a:lstStyle/>
        <a:p>
          <a:r>
            <a:rPr lang="en-US" altLang="en-US" dirty="0"/>
            <a:t>Process </a:t>
          </a:r>
          <a:r>
            <a:rPr lang="en-US" altLang="en-US" b="1" dirty="0"/>
            <a:t>not </a:t>
          </a:r>
          <a:r>
            <a:rPr lang="en-US" altLang="en-US" dirty="0"/>
            <a:t>executing in critical section should never block other process.</a:t>
          </a:r>
          <a:endParaRPr lang="en-US" altLang="en-US" b="1" baseline="-25000" dirty="0">
            <a:latin typeface="Courier New" pitchFamily="49" charset="0"/>
          </a:endParaRPr>
        </a:p>
      </dgm:t>
    </dgm:pt>
    <dgm:pt modelId="{E5DAF3FF-75AD-4DB0-8AD1-D61D55782D9E}" type="parTrans" cxnId="{19ACECCF-2FED-46A2-89CC-41AE8C4D234D}">
      <dgm:prSet/>
      <dgm:spPr/>
      <dgm:t>
        <a:bodyPr/>
        <a:lstStyle/>
        <a:p>
          <a:endParaRPr lang="en-US"/>
        </a:p>
      </dgm:t>
    </dgm:pt>
    <dgm:pt modelId="{4C7C2268-09FC-4277-96D2-46A1A218C043}" type="sibTrans" cxnId="{19ACECCF-2FED-46A2-89CC-41AE8C4D234D}">
      <dgm:prSet/>
      <dgm:spPr/>
      <dgm:t>
        <a:bodyPr/>
        <a:lstStyle/>
        <a:p>
          <a:endParaRPr lang="en-US"/>
        </a:p>
      </dgm:t>
    </dgm:pt>
    <dgm:pt modelId="{F4E427A7-A4CF-43C9-B3BE-3B2F49797BD4}" type="pres">
      <dgm:prSet presAssocID="{AD43F70E-C1FA-4BE1-A79D-2A69420E4E0A}" presName="linear" presStyleCnt="0">
        <dgm:presLayoutVars>
          <dgm:dir/>
          <dgm:animLvl val="lvl"/>
          <dgm:resizeHandles val="exact"/>
        </dgm:presLayoutVars>
      </dgm:prSet>
      <dgm:spPr/>
    </dgm:pt>
    <dgm:pt modelId="{3F6B3DC1-B530-4F05-8D0A-4802C32D0E32}" type="pres">
      <dgm:prSet presAssocID="{040BFE97-586B-4EBF-AFD7-9E47D0847071}" presName="parentLin" presStyleCnt="0"/>
      <dgm:spPr/>
    </dgm:pt>
    <dgm:pt modelId="{2326D701-CBCF-4FAF-928C-F648B10B26E7}" type="pres">
      <dgm:prSet presAssocID="{040BFE97-586B-4EBF-AFD7-9E47D0847071}" presName="parentLeftMargin" presStyleLbl="node1" presStyleIdx="0" presStyleCnt="4"/>
      <dgm:spPr/>
    </dgm:pt>
    <dgm:pt modelId="{2C243DF3-0365-49EE-9EB2-F994DA7645C7}" type="pres">
      <dgm:prSet presAssocID="{040BFE97-586B-4EBF-AFD7-9E47D0847071}" presName="parentText" presStyleLbl="node1" presStyleIdx="0" presStyleCnt="4" custScaleX="56609">
        <dgm:presLayoutVars>
          <dgm:chMax val="0"/>
          <dgm:bulletEnabled val="1"/>
        </dgm:presLayoutVars>
      </dgm:prSet>
      <dgm:spPr/>
    </dgm:pt>
    <dgm:pt modelId="{BB73B880-E79E-486C-BE85-604889A94A2B}" type="pres">
      <dgm:prSet presAssocID="{040BFE97-586B-4EBF-AFD7-9E47D0847071}" presName="negativeSpace" presStyleCnt="0"/>
      <dgm:spPr/>
    </dgm:pt>
    <dgm:pt modelId="{96B24622-3DBB-4704-B992-E2CDC6F674FE}" type="pres">
      <dgm:prSet presAssocID="{040BFE97-586B-4EBF-AFD7-9E47D0847071}" presName="childText" presStyleLbl="conFgAcc1" presStyleIdx="0" presStyleCnt="4">
        <dgm:presLayoutVars>
          <dgm:bulletEnabled val="1"/>
        </dgm:presLayoutVars>
      </dgm:prSet>
      <dgm:spPr/>
    </dgm:pt>
    <dgm:pt modelId="{4C213FA2-FC8E-421C-82F0-9AE8459F250D}" type="pres">
      <dgm:prSet presAssocID="{529CA64D-8150-42B4-8AB5-2548CD04BCA6}" presName="spaceBetweenRectangles" presStyleCnt="0"/>
      <dgm:spPr/>
    </dgm:pt>
    <dgm:pt modelId="{D96D3D59-D5E9-4738-82E0-1BD7DC91549F}" type="pres">
      <dgm:prSet presAssocID="{87C2298B-9F6A-4BAA-AC97-24F97CB60E8A}" presName="parentLin" presStyleCnt="0"/>
      <dgm:spPr/>
    </dgm:pt>
    <dgm:pt modelId="{933EFC8B-492A-45EB-845C-006C67DF1744}" type="pres">
      <dgm:prSet presAssocID="{87C2298B-9F6A-4BAA-AC97-24F97CB60E8A}" presName="parentLeftMargin" presStyleLbl="node1" presStyleIdx="0" presStyleCnt="4"/>
      <dgm:spPr/>
    </dgm:pt>
    <dgm:pt modelId="{7D411C53-8323-4816-87BE-C668E14C6E81}" type="pres">
      <dgm:prSet presAssocID="{87C2298B-9F6A-4BAA-AC97-24F97CB60E8A}" presName="parentText" presStyleLbl="node1" presStyleIdx="1" presStyleCnt="4" custScaleX="56609">
        <dgm:presLayoutVars>
          <dgm:chMax val="0"/>
          <dgm:bulletEnabled val="1"/>
        </dgm:presLayoutVars>
      </dgm:prSet>
      <dgm:spPr/>
    </dgm:pt>
    <dgm:pt modelId="{0D2C9246-76CE-4303-832A-7C869DE1C0CE}" type="pres">
      <dgm:prSet presAssocID="{87C2298B-9F6A-4BAA-AC97-24F97CB60E8A}" presName="negativeSpace" presStyleCnt="0"/>
      <dgm:spPr/>
    </dgm:pt>
    <dgm:pt modelId="{7CE685AE-2737-418C-A148-70D53781C58B}" type="pres">
      <dgm:prSet presAssocID="{87C2298B-9F6A-4BAA-AC97-24F97CB60E8A}" presName="childText" presStyleLbl="conFgAcc1" presStyleIdx="1" presStyleCnt="4">
        <dgm:presLayoutVars>
          <dgm:bulletEnabled val="1"/>
        </dgm:presLayoutVars>
      </dgm:prSet>
      <dgm:spPr/>
    </dgm:pt>
    <dgm:pt modelId="{265E26C0-8D38-43AF-8119-50E62AE07A7E}" type="pres">
      <dgm:prSet presAssocID="{B5D4722E-BB85-4D2A-95F3-3336F61DA3DA}" presName="spaceBetweenRectangles" presStyleCnt="0"/>
      <dgm:spPr/>
    </dgm:pt>
    <dgm:pt modelId="{EC9C217C-1598-4398-ABC0-46532B6CE548}" type="pres">
      <dgm:prSet presAssocID="{C4DF41A7-042F-4E4B-BD40-04B8A95E26A3}" presName="parentLin" presStyleCnt="0"/>
      <dgm:spPr/>
    </dgm:pt>
    <dgm:pt modelId="{048FFAC0-7294-4142-BE70-A1C5F67FEE47}" type="pres">
      <dgm:prSet presAssocID="{C4DF41A7-042F-4E4B-BD40-04B8A95E26A3}" presName="parentLeftMargin" presStyleLbl="node1" presStyleIdx="1" presStyleCnt="4"/>
      <dgm:spPr/>
    </dgm:pt>
    <dgm:pt modelId="{57C5B764-B99E-4C94-ADFE-4836D9CA61F8}" type="pres">
      <dgm:prSet presAssocID="{C4DF41A7-042F-4E4B-BD40-04B8A95E26A3}" presName="parentText" presStyleLbl="node1" presStyleIdx="2" presStyleCnt="4" custScaleX="56609">
        <dgm:presLayoutVars>
          <dgm:chMax val="0"/>
          <dgm:bulletEnabled val="1"/>
        </dgm:presLayoutVars>
      </dgm:prSet>
      <dgm:spPr/>
    </dgm:pt>
    <dgm:pt modelId="{7C99B0CF-BFF2-4E76-8307-0D7654A8AAC7}" type="pres">
      <dgm:prSet presAssocID="{C4DF41A7-042F-4E4B-BD40-04B8A95E26A3}" presName="negativeSpace" presStyleCnt="0"/>
      <dgm:spPr/>
    </dgm:pt>
    <dgm:pt modelId="{1B69153D-FB7E-4C02-8536-7B0F5692D9C7}" type="pres">
      <dgm:prSet presAssocID="{C4DF41A7-042F-4E4B-BD40-04B8A95E26A3}" presName="childText" presStyleLbl="conFgAcc1" presStyleIdx="2" presStyleCnt="4">
        <dgm:presLayoutVars>
          <dgm:bulletEnabled val="1"/>
        </dgm:presLayoutVars>
      </dgm:prSet>
      <dgm:spPr/>
    </dgm:pt>
    <dgm:pt modelId="{CFE27C1C-E305-4977-9BD5-9C3342E2BC15}" type="pres">
      <dgm:prSet presAssocID="{877C3048-1FB5-4288-B824-56862EABE2F2}" presName="spaceBetweenRectangles" presStyleCnt="0"/>
      <dgm:spPr/>
    </dgm:pt>
    <dgm:pt modelId="{9CE41565-CE6E-4475-9004-D079B2CF63EB}" type="pres">
      <dgm:prSet presAssocID="{55756C74-7A60-4767-A830-AA28F99DE9A9}" presName="parentLin" presStyleCnt="0"/>
      <dgm:spPr/>
    </dgm:pt>
    <dgm:pt modelId="{E083D8E6-76BF-4E1E-A0F7-F1047A794D5B}" type="pres">
      <dgm:prSet presAssocID="{55756C74-7A60-4767-A830-AA28F99DE9A9}" presName="parentLeftMargin" presStyleLbl="node1" presStyleIdx="2" presStyleCnt="4"/>
      <dgm:spPr/>
    </dgm:pt>
    <dgm:pt modelId="{81CDC548-5E82-40CC-84F4-290CD4D44A60}" type="pres">
      <dgm:prSet presAssocID="{55756C74-7A60-4767-A830-AA28F99DE9A9}" presName="parentText" presStyleLbl="node1" presStyleIdx="3" presStyleCnt="4" custScaleX="56609">
        <dgm:presLayoutVars>
          <dgm:chMax val="0"/>
          <dgm:bulletEnabled val="1"/>
        </dgm:presLayoutVars>
      </dgm:prSet>
      <dgm:spPr/>
    </dgm:pt>
    <dgm:pt modelId="{6956D5DB-85F1-4D99-9914-A04E1CD1A9CE}" type="pres">
      <dgm:prSet presAssocID="{55756C74-7A60-4767-A830-AA28F99DE9A9}" presName="negativeSpace" presStyleCnt="0"/>
      <dgm:spPr/>
    </dgm:pt>
    <dgm:pt modelId="{56A0155B-1FE7-410F-A5D8-35680E5E8312}" type="pres">
      <dgm:prSet presAssocID="{55756C74-7A60-4767-A830-AA28F99DE9A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DE68004-A349-420C-BDEE-81AE63883D27}" srcId="{AD43F70E-C1FA-4BE1-A79D-2A69420E4E0A}" destId="{040BFE97-586B-4EBF-AFD7-9E47D0847071}" srcOrd="0" destOrd="0" parTransId="{BF42C24E-00B7-4348-9397-9043A49E657B}" sibTransId="{529CA64D-8150-42B4-8AB5-2548CD04BCA6}"/>
    <dgm:cxn modelId="{28F4380A-2838-4B0F-90C2-087D01E3D9D3}" type="presOf" srcId="{040BFE97-586B-4EBF-AFD7-9E47D0847071}" destId="{2C243DF3-0365-49EE-9EB2-F994DA7645C7}" srcOrd="1" destOrd="0" presId="urn:microsoft.com/office/officeart/2005/8/layout/list1"/>
    <dgm:cxn modelId="{6B515B13-D454-4E7A-8A00-B9F47F15EF95}" type="presOf" srcId="{883B044A-1309-4F37-917A-71E94BD09676}" destId="{7CE685AE-2737-418C-A148-70D53781C58B}" srcOrd="0" destOrd="0" presId="urn:microsoft.com/office/officeart/2005/8/layout/list1"/>
    <dgm:cxn modelId="{B4E3F418-924B-452C-B6F5-7B6CA4F104E2}" srcId="{C4DF41A7-042F-4E4B-BD40-04B8A95E26A3}" destId="{062DE4AA-612A-4BC1-A886-4D650BA3D789}" srcOrd="0" destOrd="0" parTransId="{2ACAFAE6-DB79-4ECC-821D-2E635801F2D5}" sibTransId="{D285642C-8D04-4BDD-844C-BE2EBF674D9E}"/>
    <dgm:cxn modelId="{4162CB2D-742D-4E0D-B7E5-ADEA52EBA5CD}" type="presOf" srcId="{55756C74-7A60-4767-A830-AA28F99DE9A9}" destId="{81CDC548-5E82-40CC-84F4-290CD4D44A60}" srcOrd="1" destOrd="0" presId="urn:microsoft.com/office/officeart/2005/8/layout/list1"/>
    <dgm:cxn modelId="{7DB5502F-7CFE-4870-B3B7-3699C6FBC56B}" srcId="{AD43F70E-C1FA-4BE1-A79D-2A69420E4E0A}" destId="{55756C74-7A60-4767-A830-AA28F99DE9A9}" srcOrd="3" destOrd="0" parTransId="{0F579B38-CEFB-4E2C-9C04-D5BFACA0744D}" sibTransId="{6BE5D9FD-7459-4506-93C7-7489B31DFBC6}"/>
    <dgm:cxn modelId="{25678A48-8C1F-444C-B300-16927F98E131}" type="presOf" srcId="{040BFE97-586B-4EBF-AFD7-9E47D0847071}" destId="{2326D701-CBCF-4FAF-928C-F648B10B26E7}" srcOrd="0" destOrd="0" presId="urn:microsoft.com/office/officeart/2005/8/layout/list1"/>
    <dgm:cxn modelId="{0E02344D-A4E4-4363-A34F-B0685EE25C3E}" type="presOf" srcId="{AD43F70E-C1FA-4BE1-A79D-2A69420E4E0A}" destId="{F4E427A7-A4CF-43C9-B3BE-3B2F49797BD4}" srcOrd="0" destOrd="0" presId="urn:microsoft.com/office/officeart/2005/8/layout/list1"/>
    <dgm:cxn modelId="{50E04D77-D7BE-41A5-BC47-A010ED2924DD}" type="presOf" srcId="{C4DF41A7-042F-4E4B-BD40-04B8A95E26A3}" destId="{57C5B764-B99E-4C94-ADFE-4836D9CA61F8}" srcOrd="1" destOrd="0" presId="urn:microsoft.com/office/officeart/2005/8/layout/list1"/>
    <dgm:cxn modelId="{05D04B78-6391-4336-8714-9025BC990A64}" type="presOf" srcId="{C4DF41A7-042F-4E4B-BD40-04B8A95E26A3}" destId="{048FFAC0-7294-4142-BE70-A1C5F67FEE47}" srcOrd="0" destOrd="0" presId="urn:microsoft.com/office/officeart/2005/8/layout/list1"/>
    <dgm:cxn modelId="{8C8DBA7C-22E2-4192-B28B-616B759972FD}" type="presOf" srcId="{55756C74-7A60-4767-A830-AA28F99DE9A9}" destId="{E083D8E6-76BF-4E1E-A0F7-F1047A794D5B}" srcOrd="0" destOrd="0" presId="urn:microsoft.com/office/officeart/2005/8/layout/list1"/>
    <dgm:cxn modelId="{945CCA7C-8CB7-421B-ACEB-EAB757E32D6A}" type="presOf" srcId="{87C2298B-9F6A-4BAA-AC97-24F97CB60E8A}" destId="{7D411C53-8323-4816-87BE-C668E14C6E81}" srcOrd="1" destOrd="0" presId="urn:microsoft.com/office/officeart/2005/8/layout/list1"/>
    <dgm:cxn modelId="{D62B8C7D-E829-488B-9EBB-D950B60A7E15}" type="presOf" srcId="{87C2298B-9F6A-4BAA-AC97-24F97CB60E8A}" destId="{933EFC8B-492A-45EB-845C-006C67DF1744}" srcOrd="0" destOrd="0" presId="urn:microsoft.com/office/officeart/2005/8/layout/list1"/>
    <dgm:cxn modelId="{F9CACA84-350A-41C3-B64A-AC20A7D1FADB}" srcId="{87C2298B-9F6A-4BAA-AC97-24F97CB60E8A}" destId="{883B044A-1309-4F37-917A-71E94BD09676}" srcOrd="0" destOrd="0" parTransId="{5EAA1AB4-7EDC-4C88-B318-74196D661234}" sibTransId="{3E95A8CB-6EB6-4FFD-B29E-7DAD4DAED8F7}"/>
    <dgm:cxn modelId="{8FD3D289-B365-4C77-8C11-26849FB7E496}" srcId="{AD43F70E-C1FA-4BE1-A79D-2A69420E4E0A}" destId="{87C2298B-9F6A-4BAA-AC97-24F97CB60E8A}" srcOrd="1" destOrd="0" parTransId="{F2580493-3EF7-4B0A-9F4A-675C04887A62}" sibTransId="{B5D4722E-BB85-4D2A-95F3-3336F61DA3DA}"/>
    <dgm:cxn modelId="{85612490-093A-411B-A928-1F7E9E1A1036}" type="presOf" srcId="{FB3CDD38-A631-4153-8A51-ADAA17BF7262}" destId="{56A0155B-1FE7-410F-A5D8-35680E5E8312}" srcOrd="0" destOrd="0" presId="urn:microsoft.com/office/officeart/2005/8/layout/list1"/>
    <dgm:cxn modelId="{C0DCF29D-9536-4FB2-BD3F-D90CE95E5849}" type="presOf" srcId="{062DE4AA-612A-4BC1-A886-4D650BA3D789}" destId="{1B69153D-FB7E-4C02-8536-7B0F5692D9C7}" srcOrd="0" destOrd="0" presId="urn:microsoft.com/office/officeart/2005/8/layout/list1"/>
    <dgm:cxn modelId="{667899C3-CC7C-430D-9455-11A97BF2632F}" srcId="{AD43F70E-C1FA-4BE1-A79D-2A69420E4E0A}" destId="{C4DF41A7-042F-4E4B-BD40-04B8A95E26A3}" srcOrd="2" destOrd="0" parTransId="{A14DCA2D-3126-4C51-B827-20D6C3C36355}" sibTransId="{877C3048-1FB5-4288-B824-56862EABE2F2}"/>
    <dgm:cxn modelId="{04A489CF-123C-4991-B8AD-B8D1DD133339}" srcId="{040BFE97-586B-4EBF-AFD7-9E47D0847071}" destId="{E79941B5-45E3-44E5-B69C-C06305FA6791}" srcOrd="0" destOrd="0" parTransId="{E3A3EC95-934A-4C61-982A-A89F158E66A1}" sibTransId="{2FAD2BFA-4F4E-4B2C-858C-019F5D25C90F}"/>
    <dgm:cxn modelId="{19ACECCF-2FED-46A2-89CC-41AE8C4D234D}" srcId="{55756C74-7A60-4767-A830-AA28F99DE9A9}" destId="{FB3CDD38-A631-4153-8A51-ADAA17BF7262}" srcOrd="0" destOrd="0" parTransId="{E5DAF3FF-75AD-4DB0-8AD1-D61D55782D9E}" sibTransId="{4C7C2268-09FC-4277-96D2-46A1A218C043}"/>
    <dgm:cxn modelId="{84A510F2-3945-4692-AEA7-2DA0090AF5EC}" type="presOf" srcId="{E79941B5-45E3-44E5-B69C-C06305FA6791}" destId="{96B24622-3DBB-4704-B992-E2CDC6F674FE}" srcOrd="0" destOrd="0" presId="urn:microsoft.com/office/officeart/2005/8/layout/list1"/>
    <dgm:cxn modelId="{6B8564B3-4DF1-488E-BA5B-5FA61424EF94}" type="presParOf" srcId="{F4E427A7-A4CF-43C9-B3BE-3B2F49797BD4}" destId="{3F6B3DC1-B530-4F05-8D0A-4802C32D0E32}" srcOrd="0" destOrd="0" presId="urn:microsoft.com/office/officeart/2005/8/layout/list1"/>
    <dgm:cxn modelId="{AE548275-39CF-4298-A387-DF37C5B55DA9}" type="presParOf" srcId="{3F6B3DC1-B530-4F05-8D0A-4802C32D0E32}" destId="{2326D701-CBCF-4FAF-928C-F648B10B26E7}" srcOrd="0" destOrd="0" presId="urn:microsoft.com/office/officeart/2005/8/layout/list1"/>
    <dgm:cxn modelId="{465D0629-DCF4-45DE-A465-E4ACBC85856B}" type="presParOf" srcId="{3F6B3DC1-B530-4F05-8D0A-4802C32D0E32}" destId="{2C243DF3-0365-49EE-9EB2-F994DA7645C7}" srcOrd="1" destOrd="0" presId="urn:microsoft.com/office/officeart/2005/8/layout/list1"/>
    <dgm:cxn modelId="{4F447E1D-62C1-4D3D-A857-9D7A93A79CE1}" type="presParOf" srcId="{F4E427A7-A4CF-43C9-B3BE-3B2F49797BD4}" destId="{BB73B880-E79E-486C-BE85-604889A94A2B}" srcOrd="1" destOrd="0" presId="urn:microsoft.com/office/officeart/2005/8/layout/list1"/>
    <dgm:cxn modelId="{38AC77BF-3749-4FC1-9EC5-6A52E82AD0DF}" type="presParOf" srcId="{F4E427A7-A4CF-43C9-B3BE-3B2F49797BD4}" destId="{96B24622-3DBB-4704-B992-E2CDC6F674FE}" srcOrd="2" destOrd="0" presId="urn:microsoft.com/office/officeart/2005/8/layout/list1"/>
    <dgm:cxn modelId="{ED079E04-740A-4342-91E0-4E763236A7F4}" type="presParOf" srcId="{F4E427A7-A4CF-43C9-B3BE-3B2F49797BD4}" destId="{4C213FA2-FC8E-421C-82F0-9AE8459F250D}" srcOrd="3" destOrd="0" presId="urn:microsoft.com/office/officeart/2005/8/layout/list1"/>
    <dgm:cxn modelId="{96C9A83F-E42F-4943-9EE2-97E6D66509E8}" type="presParOf" srcId="{F4E427A7-A4CF-43C9-B3BE-3B2F49797BD4}" destId="{D96D3D59-D5E9-4738-82E0-1BD7DC91549F}" srcOrd="4" destOrd="0" presId="urn:microsoft.com/office/officeart/2005/8/layout/list1"/>
    <dgm:cxn modelId="{1896864D-6B29-4182-83AD-5C7D46601077}" type="presParOf" srcId="{D96D3D59-D5E9-4738-82E0-1BD7DC91549F}" destId="{933EFC8B-492A-45EB-845C-006C67DF1744}" srcOrd="0" destOrd="0" presId="urn:microsoft.com/office/officeart/2005/8/layout/list1"/>
    <dgm:cxn modelId="{30F7FC2E-C9C2-482F-BB38-453F38BE77D5}" type="presParOf" srcId="{D96D3D59-D5E9-4738-82E0-1BD7DC91549F}" destId="{7D411C53-8323-4816-87BE-C668E14C6E81}" srcOrd="1" destOrd="0" presId="urn:microsoft.com/office/officeart/2005/8/layout/list1"/>
    <dgm:cxn modelId="{CE858DA6-D9F1-4414-A4ED-14B46674FA8D}" type="presParOf" srcId="{F4E427A7-A4CF-43C9-B3BE-3B2F49797BD4}" destId="{0D2C9246-76CE-4303-832A-7C869DE1C0CE}" srcOrd="5" destOrd="0" presId="urn:microsoft.com/office/officeart/2005/8/layout/list1"/>
    <dgm:cxn modelId="{E7CB1DF7-9436-40EC-8D3B-59D84BF2B5AF}" type="presParOf" srcId="{F4E427A7-A4CF-43C9-B3BE-3B2F49797BD4}" destId="{7CE685AE-2737-418C-A148-70D53781C58B}" srcOrd="6" destOrd="0" presId="urn:microsoft.com/office/officeart/2005/8/layout/list1"/>
    <dgm:cxn modelId="{A8CA0694-1DED-48C4-AD0E-AF31BE05A033}" type="presParOf" srcId="{F4E427A7-A4CF-43C9-B3BE-3B2F49797BD4}" destId="{265E26C0-8D38-43AF-8119-50E62AE07A7E}" srcOrd="7" destOrd="0" presId="urn:microsoft.com/office/officeart/2005/8/layout/list1"/>
    <dgm:cxn modelId="{64796BC6-0EEF-4E3B-9CEA-4245462884A5}" type="presParOf" srcId="{F4E427A7-A4CF-43C9-B3BE-3B2F49797BD4}" destId="{EC9C217C-1598-4398-ABC0-46532B6CE548}" srcOrd="8" destOrd="0" presId="urn:microsoft.com/office/officeart/2005/8/layout/list1"/>
    <dgm:cxn modelId="{41D2DA57-E04C-42E5-885B-1FDF2779DF15}" type="presParOf" srcId="{EC9C217C-1598-4398-ABC0-46532B6CE548}" destId="{048FFAC0-7294-4142-BE70-A1C5F67FEE47}" srcOrd="0" destOrd="0" presId="urn:microsoft.com/office/officeart/2005/8/layout/list1"/>
    <dgm:cxn modelId="{6DF3BFE8-1388-4EB4-97AF-5FA245480745}" type="presParOf" srcId="{EC9C217C-1598-4398-ABC0-46532B6CE548}" destId="{57C5B764-B99E-4C94-ADFE-4836D9CA61F8}" srcOrd="1" destOrd="0" presId="urn:microsoft.com/office/officeart/2005/8/layout/list1"/>
    <dgm:cxn modelId="{DFCC83D6-2649-49C9-8ACA-A590DE1AD9FD}" type="presParOf" srcId="{F4E427A7-A4CF-43C9-B3BE-3B2F49797BD4}" destId="{7C99B0CF-BFF2-4E76-8307-0D7654A8AAC7}" srcOrd="9" destOrd="0" presId="urn:microsoft.com/office/officeart/2005/8/layout/list1"/>
    <dgm:cxn modelId="{D3870D87-FDFF-438C-8EAE-79FF23459117}" type="presParOf" srcId="{F4E427A7-A4CF-43C9-B3BE-3B2F49797BD4}" destId="{1B69153D-FB7E-4C02-8536-7B0F5692D9C7}" srcOrd="10" destOrd="0" presId="urn:microsoft.com/office/officeart/2005/8/layout/list1"/>
    <dgm:cxn modelId="{3BD06C41-3382-4998-B7E9-E652EC75C05C}" type="presParOf" srcId="{F4E427A7-A4CF-43C9-B3BE-3B2F49797BD4}" destId="{CFE27C1C-E305-4977-9BD5-9C3342E2BC15}" srcOrd="11" destOrd="0" presId="urn:microsoft.com/office/officeart/2005/8/layout/list1"/>
    <dgm:cxn modelId="{82BE1D4E-405D-4EA4-9343-B2E7C8B639F5}" type="presParOf" srcId="{F4E427A7-A4CF-43C9-B3BE-3B2F49797BD4}" destId="{9CE41565-CE6E-4475-9004-D079B2CF63EB}" srcOrd="12" destOrd="0" presId="urn:microsoft.com/office/officeart/2005/8/layout/list1"/>
    <dgm:cxn modelId="{D2D230CF-355C-48CB-82CC-97F643ABFCB2}" type="presParOf" srcId="{9CE41565-CE6E-4475-9004-D079B2CF63EB}" destId="{E083D8E6-76BF-4E1E-A0F7-F1047A794D5B}" srcOrd="0" destOrd="0" presId="urn:microsoft.com/office/officeart/2005/8/layout/list1"/>
    <dgm:cxn modelId="{5BAE2FBB-7401-43B4-9C13-F388A1115B10}" type="presParOf" srcId="{9CE41565-CE6E-4475-9004-D079B2CF63EB}" destId="{81CDC548-5E82-40CC-84F4-290CD4D44A60}" srcOrd="1" destOrd="0" presId="urn:microsoft.com/office/officeart/2005/8/layout/list1"/>
    <dgm:cxn modelId="{8FC9E0D1-1614-4E39-8BA9-450A582C72F7}" type="presParOf" srcId="{F4E427A7-A4CF-43C9-B3BE-3B2F49797BD4}" destId="{6956D5DB-85F1-4D99-9914-A04E1CD1A9CE}" srcOrd="13" destOrd="0" presId="urn:microsoft.com/office/officeart/2005/8/layout/list1"/>
    <dgm:cxn modelId="{19338EA7-BC52-4C38-A7D5-A1FACC181E3C}" type="presParOf" srcId="{F4E427A7-A4CF-43C9-B3BE-3B2F49797BD4}" destId="{56A0155B-1FE7-410F-A5D8-35680E5E8312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D43F70E-C1FA-4BE1-A79D-2A69420E4E0A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40BFE97-586B-4EBF-AFD7-9E47D0847071}">
      <dgm:prSet phldrT="[Text]"/>
      <dgm:spPr/>
      <dgm:t>
        <a:bodyPr/>
        <a:lstStyle/>
        <a:p>
          <a:r>
            <a:rPr lang="en-US" altLang="en-US" b="1" dirty="0">
              <a:solidFill>
                <a:schemeClr val="bg1"/>
              </a:solidFill>
            </a:rPr>
            <a:t>Mutual Exclusion</a:t>
          </a:r>
          <a:r>
            <a:rPr lang="en-US" altLang="en-US" dirty="0">
              <a:solidFill>
                <a:schemeClr val="bg1"/>
              </a:solidFill>
            </a:rPr>
            <a:t>:</a:t>
          </a:r>
          <a:endParaRPr lang="en-US" dirty="0">
            <a:solidFill>
              <a:schemeClr val="bg1"/>
            </a:solidFill>
          </a:endParaRPr>
        </a:p>
      </dgm:t>
    </dgm:pt>
    <dgm:pt modelId="{BF42C24E-00B7-4348-9397-9043A49E657B}" type="parTrans" cxnId="{ADE68004-A349-420C-BDEE-81AE63883D27}">
      <dgm:prSet/>
      <dgm:spPr/>
      <dgm:t>
        <a:bodyPr/>
        <a:lstStyle/>
        <a:p>
          <a:endParaRPr lang="en-US"/>
        </a:p>
      </dgm:t>
    </dgm:pt>
    <dgm:pt modelId="{529CA64D-8150-42B4-8AB5-2548CD04BCA6}" type="sibTrans" cxnId="{ADE68004-A349-420C-BDEE-81AE63883D27}">
      <dgm:prSet/>
      <dgm:spPr/>
      <dgm:t>
        <a:bodyPr/>
        <a:lstStyle/>
        <a:p>
          <a:endParaRPr lang="en-US"/>
        </a:p>
      </dgm:t>
    </dgm:pt>
    <dgm:pt modelId="{C4DF41A7-042F-4E4B-BD40-04B8A95E26A3}">
      <dgm:prSet/>
      <dgm:spPr/>
      <dgm:t>
        <a:bodyPr/>
        <a:lstStyle/>
        <a:p>
          <a:r>
            <a:rPr lang="en-US" altLang="en-US" b="1" dirty="0">
              <a:solidFill>
                <a:schemeClr val="bg1"/>
              </a:solidFill>
            </a:rPr>
            <a:t>Bounded Wait:</a:t>
          </a:r>
        </a:p>
      </dgm:t>
    </dgm:pt>
    <dgm:pt modelId="{A14DCA2D-3126-4C51-B827-20D6C3C36355}" type="parTrans" cxnId="{667899C3-CC7C-430D-9455-11A97BF2632F}">
      <dgm:prSet/>
      <dgm:spPr/>
      <dgm:t>
        <a:bodyPr/>
        <a:lstStyle/>
        <a:p>
          <a:endParaRPr lang="en-US"/>
        </a:p>
      </dgm:t>
    </dgm:pt>
    <dgm:pt modelId="{877C3048-1FB5-4288-B824-56862EABE2F2}" type="sibTrans" cxnId="{667899C3-CC7C-430D-9455-11A97BF2632F}">
      <dgm:prSet/>
      <dgm:spPr/>
      <dgm:t>
        <a:bodyPr/>
        <a:lstStyle/>
        <a:p>
          <a:endParaRPr lang="en-US"/>
        </a:p>
      </dgm:t>
    </dgm:pt>
    <dgm:pt modelId="{55756C74-7A60-4767-A830-AA28F99DE9A9}">
      <dgm:prSet/>
      <dgm:spPr/>
      <dgm:t>
        <a:bodyPr/>
        <a:lstStyle/>
        <a:p>
          <a:r>
            <a:rPr lang="en-US" altLang="en-US" b="1" dirty="0">
              <a:solidFill>
                <a:schemeClr val="bg1"/>
              </a:solidFill>
            </a:rPr>
            <a:t>Independence:</a:t>
          </a:r>
        </a:p>
      </dgm:t>
    </dgm:pt>
    <dgm:pt modelId="{0F579B38-CEFB-4E2C-9C04-D5BFACA0744D}" type="parTrans" cxnId="{7DB5502F-7CFE-4870-B3B7-3699C6FBC56B}">
      <dgm:prSet/>
      <dgm:spPr/>
      <dgm:t>
        <a:bodyPr/>
        <a:lstStyle/>
        <a:p>
          <a:endParaRPr lang="en-US"/>
        </a:p>
      </dgm:t>
    </dgm:pt>
    <dgm:pt modelId="{6BE5D9FD-7459-4506-93C7-7489B31DFBC6}" type="sibTrans" cxnId="{7DB5502F-7CFE-4870-B3B7-3699C6FBC56B}">
      <dgm:prSet/>
      <dgm:spPr/>
      <dgm:t>
        <a:bodyPr/>
        <a:lstStyle/>
        <a:p>
          <a:endParaRPr lang="en-US"/>
        </a:p>
      </dgm:t>
    </dgm:pt>
    <dgm:pt modelId="{87C2298B-9F6A-4BAA-AC97-24F97CB60E8A}">
      <dgm:prSet/>
      <dgm:spPr/>
      <dgm:t>
        <a:bodyPr/>
        <a:lstStyle/>
        <a:p>
          <a:r>
            <a:rPr lang="en-US" altLang="en-US" b="1" dirty="0">
              <a:solidFill>
                <a:schemeClr val="bg1"/>
              </a:solidFill>
            </a:rPr>
            <a:t>Progress:</a:t>
          </a:r>
        </a:p>
      </dgm:t>
    </dgm:pt>
    <dgm:pt modelId="{B5D4722E-BB85-4D2A-95F3-3336F61DA3DA}" type="sibTrans" cxnId="{8FD3D289-B365-4C77-8C11-26849FB7E496}">
      <dgm:prSet/>
      <dgm:spPr/>
      <dgm:t>
        <a:bodyPr/>
        <a:lstStyle/>
        <a:p>
          <a:endParaRPr lang="en-US"/>
        </a:p>
      </dgm:t>
    </dgm:pt>
    <dgm:pt modelId="{F2580493-3EF7-4B0A-9F4A-675C04887A62}" type="parTrans" cxnId="{8FD3D289-B365-4C77-8C11-26849FB7E496}">
      <dgm:prSet/>
      <dgm:spPr/>
      <dgm:t>
        <a:bodyPr/>
        <a:lstStyle/>
        <a:p>
          <a:endParaRPr lang="en-US"/>
        </a:p>
      </dgm:t>
    </dgm:pt>
    <dgm:pt modelId="{F4E427A7-A4CF-43C9-B3BE-3B2F49797BD4}" type="pres">
      <dgm:prSet presAssocID="{AD43F70E-C1FA-4BE1-A79D-2A69420E4E0A}" presName="linear" presStyleCnt="0">
        <dgm:presLayoutVars>
          <dgm:dir/>
          <dgm:animLvl val="lvl"/>
          <dgm:resizeHandles val="exact"/>
        </dgm:presLayoutVars>
      </dgm:prSet>
      <dgm:spPr/>
    </dgm:pt>
    <dgm:pt modelId="{3F6B3DC1-B530-4F05-8D0A-4802C32D0E32}" type="pres">
      <dgm:prSet presAssocID="{040BFE97-586B-4EBF-AFD7-9E47D0847071}" presName="parentLin" presStyleCnt="0"/>
      <dgm:spPr/>
    </dgm:pt>
    <dgm:pt modelId="{2326D701-CBCF-4FAF-928C-F648B10B26E7}" type="pres">
      <dgm:prSet presAssocID="{040BFE97-586B-4EBF-AFD7-9E47D0847071}" presName="parentLeftMargin" presStyleLbl="node1" presStyleIdx="0" presStyleCnt="4"/>
      <dgm:spPr/>
    </dgm:pt>
    <dgm:pt modelId="{2C243DF3-0365-49EE-9EB2-F994DA7645C7}" type="pres">
      <dgm:prSet presAssocID="{040BFE97-586B-4EBF-AFD7-9E47D084707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B73B880-E79E-486C-BE85-604889A94A2B}" type="pres">
      <dgm:prSet presAssocID="{040BFE97-586B-4EBF-AFD7-9E47D0847071}" presName="negativeSpace" presStyleCnt="0"/>
      <dgm:spPr/>
    </dgm:pt>
    <dgm:pt modelId="{96B24622-3DBB-4704-B992-E2CDC6F674FE}" type="pres">
      <dgm:prSet presAssocID="{040BFE97-586B-4EBF-AFD7-9E47D0847071}" presName="childText" presStyleLbl="conFgAcc1" presStyleIdx="0" presStyleCnt="4">
        <dgm:presLayoutVars>
          <dgm:bulletEnabled val="1"/>
        </dgm:presLayoutVars>
      </dgm:prSet>
      <dgm:spPr/>
    </dgm:pt>
    <dgm:pt modelId="{4C213FA2-FC8E-421C-82F0-9AE8459F250D}" type="pres">
      <dgm:prSet presAssocID="{529CA64D-8150-42B4-8AB5-2548CD04BCA6}" presName="spaceBetweenRectangles" presStyleCnt="0"/>
      <dgm:spPr/>
    </dgm:pt>
    <dgm:pt modelId="{D96D3D59-D5E9-4738-82E0-1BD7DC91549F}" type="pres">
      <dgm:prSet presAssocID="{87C2298B-9F6A-4BAA-AC97-24F97CB60E8A}" presName="parentLin" presStyleCnt="0"/>
      <dgm:spPr/>
    </dgm:pt>
    <dgm:pt modelId="{933EFC8B-492A-45EB-845C-006C67DF1744}" type="pres">
      <dgm:prSet presAssocID="{87C2298B-9F6A-4BAA-AC97-24F97CB60E8A}" presName="parentLeftMargin" presStyleLbl="node1" presStyleIdx="0" presStyleCnt="4"/>
      <dgm:spPr/>
    </dgm:pt>
    <dgm:pt modelId="{7D411C53-8323-4816-87BE-C668E14C6E81}" type="pres">
      <dgm:prSet presAssocID="{87C2298B-9F6A-4BAA-AC97-24F97CB60E8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D2C9246-76CE-4303-832A-7C869DE1C0CE}" type="pres">
      <dgm:prSet presAssocID="{87C2298B-9F6A-4BAA-AC97-24F97CB60E8A}" presName="negativeSpace" presStyleCnt="0"/>
      <dgm:spPr/>
    </dgm:pt>
    <dgm:pt modelId="{7CE685AE-2737-418C-A148-70D53781C58B}" type="pres">
      <dgm:prSet presAssocID="{87C2298B-9F6A-4BAA-AC97-24F97CB60E8A}" presName="childText" presStyleLbl="conFgAcc1" presStyleIdx="1" presStyleCnt="4">
        <dgm:presLayoutVars>
          <dgm:bulletEnabled val="1"/>
        </dgm:presLayoutVars>
      </dgm:prSet>
      <dgm:spPr/>
    </dgm:pt>
    <dgm:pt modelId="{265E26C0-8D38-43AF-8119-50E62AE07A7E}" type="pres">
      <dgm:prSet presAssocID="{B5D4722E-BB85-4D2A-95F3-3336F61DA3DA}" presName="spaceBetweenRectangles" presStyleCnt="0"/>
      <dgm:spPr/>
    </dgm:pt>
    <dgm:pt modelId="{EC9C217C-1598-4398-ABC0-46532B6CE548}" type="pres">
      <dgm:prSet presAssocID="{C4DF41A7-042F-4E4B-BD40-04B8A95E26A3}" presName="parentLin" presStyleCnt="0"/>
      <dgm:spPr/>
    </dgm:pt>
    <dgm:pt modelId="{048FFAC0-7294-4142-BE70-A1C5F67FEE47}" type="pres">
      <dgm:prSet presAssocID="{C4DF41A7-042F-4E4B-BD40-04B8A95E26A3}" presName="parentLeftMargin" presStyleLbl="node1" presStyleIdx="1" presStyleCnt="4"/>
      <dgm:spPr/>
    </dgm:pt>
    <dgm:pt modelId="{57C5B764-B99E-4C94-ADFE-4836D9CA61F8}" type="pres">
      <dgm:prSet presAssocID="{C4DF41A7-042F-4E4B-BD40-04B8A95E26A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C99B0CF-BFF2-4E76-8307-0D7654A8AAC7}" type="pres">
      <dgm:prSet presAssocID="{C4DF41A7-042F-4E4B-BD40-04B8A95E26A3}" presName="negativeSpace" presStyleCnt="0"/>
      <dgm:spPr/>
    </dgm:pt>
    <dgm:pt modelId="{1B69153D-FB7E-4C02-8536-7B0F5692D9C7}" type="pres">
      <dgm:prSet presAssocID="{C4DF41A7-042F-4E4B-BD40-04B8A95E26A3}" presName="childText" presStyleLbl="conFgAcc1" presStyleIdx="2" presStyleCnt="4">
        <dgm:presLayoutVars>
          <dgm:bulletEnabled val="1"/>
        </dgm:presLayoutVars>
      </dgm:prSet>
      <dgm:spPr/>
    </dgm:pt>
    <dgm:pt modelId="{CFE27C1C-E305-4977-9BD5-9C3342E2BC15}" type="pres">
      <dgm:prSet presAssocID="{877C3048-1FB5-4288-B824-56862EABE2F2}" presName="spaceBetweenRectangles" presStyleCnt="0"/>
      <dgm:spPr/>
    </dgm:pt>
    <dgm:pt modelId="{9CE41565-CE6E-4475-9004-D079B2CF63EB}" type="pres">
      <dgm:prSet presAssocID="{55756C74-7A60-4767-A830-AA28F99DE9A9}" presName="parentLin" presStyleCnt="0"/>
      <dgm:spPr/>
    </dgm:pt>
    <dgm:pt modelId="{E083D8E6-76BF-4E1E-A0F7-F1047A794D5B}" type="pres">
      <dgm:prSet presAssocID="{55756C74-7A60-4767-A830-AA28F99DE9A9}" presName="parentLeftMargin" presStyleLbl="node1" presStyleIdx="2" presStyleCnt="4"/>
      <dgm:spPr/>
    </dgm:pt>
    <dgm:pt modelId="{81CDC548-5E82-40CC-84F4-290CD4D44A60}" type="pres">
      <dgm:prSet presAssocID="{55756C74-7A60-4767-A830-AA28F99DE9A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6956D5DB-85F1-4D99-9914-A04E1CD1A9CE}" type="pres">
      <dgm:prSet presAssocID="{55756C74-7A60-4767-A830-AA28F99DE9A9}" presName="negativeSpace" presStyleCnt="0"/>
      <dgm:spPr/>
    </dgm:pt>
    <dgm:pt modelId="{56A0155B-1FE7-410F-A5D8-35680E5E8312}" type="pres">
      <dgm:prSet presAssocID="{55756C74-7A60-4767-A830-AA28F99DE9A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DE68004-A349-420C-BDEE-81AE63883D27}" srcId="{AD43F70E-C1FA-4BE1-A79D-2A69420E4E0A}" destId="{040BFE97-586B-4EBF-AFD7-9E47D0847071}" srcOrd="0" destOrd="0" parTransId="{BF42C24E-00B7-4348-9397-9043A49E657B}" sibTransId="{529CA64D-8150-42B4-8AB5-2548CD04BCA6}"/>
    <dgm:cxn modelId="{282C8309-4D98-4025-BE51-4FD5F9A71277}" type="presOf" srcId="{C4DF41A7-042F-4E4B-BD40-04B8A95E26A3}" destId="{048FFAC0-7294-4142-BE70-A1C5F67FEE47}" srcOrd="0" destOrd="0" presId="urn:microsoft.com/office/officeart/2005/8/layout/list1"/>
    <dgm:cxn modelId="{6B8C9C0D-E660-4108-9B63-F6536F9EEF2B}" type="presOf" srcId="{87C2298B-9F6A-4BAA-AC97-24F97CB60E8A}" destId="{7D411C53-8323-4816-87BE-C668E14C6E81}" srcOrd="1" destOrd="0" presId="urn:microsoft.com/office/officeart/2005/8/layout/list1"/>
    <dgm:cxn modelId="{7DB5502F-7CFE-4870-B3B7-3699C6FBC56B}" srcId="{AD43F70E-C1FA-4BE1-A79D-2A69420E4E0A}" destId="{55756C74-7A60-4767-A830-AA28F99DE9A9}" srcOrd="3" destOrd="0" parTransId="{0F579B38-CEFB-4E2C-9C04-D5BFACA0744D}" sibTransId="{6BE5D9FD-7459-4506-93C7-7489B31DFBC6}"/>
    <dgm:cxn modelId="{E9C2D068-FD64-42F1-B044-B3F9BE951FC8}" type="presOf" srcId="{87C2298B-9F6A-4BAA-AC97-24F97CB60E8A}" destId="{933EFC8B-492A-45EB-845C-006C67DF1744}" srcOrd="0" destOrd="0" presId="urn:microsoft.com/office/officeart/2005/8/layout/list1"/>
    <dgm:cxn modelId="{33EADD7B-4F71-4639-8C5F-A9E1DEF97EFF}" type="presOf" srcId="{C4DF41A7-042F-4E4B-BD40-04B8A95E26A3}" destId="{57C5B764-B99E-4C94-ADFE-4836D9CA61F8}" srcOrd="1" destOrd="0" presId="urn:microsoft.com/office/officeart/2005/8/layout/list1"/>
    <dgm:cxn modelId="{4F44AA83-ED87-49D8-83F6-29AC729E03DF}" type="presOf" srcId="{55756C74-7A60-4767-A830-AA28F99DE9A9}" destId="{81CDC548-5E82-40CC-84F4-290CD4D44A60}" srcOrd="1" destOrd="0" presId="urn:microsoft.com/office/officeart/2005/8/layout/list1"/>
    <dgm:cxn modelId="{8FD3D289-B365-4C77-8C11-26849FB7E496}" srcId="{AD43F70E-C1FA-4BE1-A79D-2A69420E4E0A}" destId="{87C2298B-9F6A-4BAA-AC97-24F97CB60E8A}" srcOrd="1" destOrd="0" parTransId="{F2580493-3EF7-4B0A-9F4A-675C04887A62}" sibTransId="{B5D4722E-BB85-4D2A-95F3-3336F61DA3DA}"/>
    <dgm:cxn modelId="{638A419D-F678-4A90-8E30-8AA0F8A08F29}" type="presOf" srcId="{AD43F70E-C1FA-4BE1-A79D-2A69420E4E0A}" destId="{F4E427A7-A4CF-43C9-B3BE-3B2F49797BD4}" srcOrd="0" destOrd="0" presId="urn:microsoft.com/office/officeart/2005/8/layout/list1"/>
    <dgm:cxn modelId="{E2ADC0B2-C0A5-4316-A1B8-670A6C7E0790}" type="presOf" srcId="{55756C74-7A60-4767-A830-AA28F99DE9A9}" destId="{E083D8E6-76BF-4E1E-A0F7-F1047A794D5B}" srcOrd="0" destOrd="0" presId="urn:microsoft.com/office/officeart/2005/8/layout/list1"/>
    <dgm:cxn modelId="{667899C3-CC7C-430D-9455-11A97BF2632F}" srcId="{AD43F70E-C1FA-4BE1-A79D-2A69420E4E0A}" destId="{C4DF41A7-042F-4E4B-BD40-04B8A95E26A3}" srcOrd="2" destOrd="0" parTransId="{A14DCA2D-3126-4C51-B827-20D6C3C36355}" sibTransId="{877C3048-1FB5-4288-B824-56862EABE2F2}"/>
    <dgm:cxn modelId="{7BE987EC-B5C9-4659-887B-BF022DD68CA9}" type="presOf" srcId="{040BFE97-586B-4EBF-AFD7-9E47D0847071}" destId="{2326D701-CBCF-4FAF-928C-F648B10B26E7}" srcOrd="0" destOrd="0" presId="urn:microsoft.com/office/officeart/2005/8/layout/list1"/>
    <dgm:cxn modelId="{4F898AFA-59B5-436B-AE1C-3CAF87D5213E}" type="presOf" srcId="{040BFE97-586B-4EBF-AFD7-9E47D0847071}" destId="{2C243DF3-0365-49EE-9EB2-F994DA7645C7}" srcOrd="1" destOrd="0" presId="urn:microsoft.com/office/officeart/2005/8/layout/list1"/>
    <dgm:cxn modelId="{2EDEE6EE-2B1C-4184-B856-DF24F64DDD7E}" type="presParOf" srcId="{F4E427A7-A4CF-43C9-B3BE-3B2F49797BD4}" destId="{3F6B3DC1-B530-4F05-8D0A-4802C32D0E32}" srcOrd="0" destOrd="0" presId="urn:microsoft.com/office/officeart/2005/8/layout/list1"/>
    <dgm:cxn modelId="{53B1760F-0526-4BDA-A812-093EEF679BDD}" type="presParOf" srcId="{3F6B3DC1-B530-4F05-8D0A-4802C32D0E32}" destId="{2326D701-CBCF-4FAF-928C-F648B10B26E7}" srcOrd="0" destOrd="0" presId="urn:microsoft.com/office/officeart/2005/8/layout/list1"/>
    <dgm:cxn modelId="{F8BD92CB-65F1-468E-B33F-04A33301312C}" type="presParOf" srcId="{3F6B3DC1-B530-4F05-8D0A-4802C32D0E32}" destId="{2C243DF3-0365-49EE-9EB2-F994DA7645C7}" srcOrd="1" destOrd="0" presId="urn:microsoft.com/office/officeart/2005/8/layout/list1"/>
    <dgm:cxn modelId="{9E10FB63-8C5B-4683-B7E0-E2F535D8AA21}" type="presParOf" srcId="{F4E427A7-A4CF-43C9-B3BE-3B2F49797BD4}" destId="{BB73B880-E79E-486C-BE85-604889A94A2B}" srcOrd="1" destOrd="0" presId="urn:microsoft.com/office/officeart/2005/8/layout/list1"/>
    <dgm:cxn modelId="{3EC97C36-BFD6-4DFC-B8BE-00774F08B031}" type="presParOf" srcId="{F4E427A7-A4CF-43C9-B3BE-3B2F49797BD4}" destId="{96B24622-3DBB-4704-B992-E2CDC6F674FE}" srcOrd="2" destOrd="0" presId="urn:microsoft.com/office/officeart/2005/8/layout/list1"/>
    <dgm:cxn modelId="{37F2C359-AC41-42A8-8790-4EAF89773A3E}" type="presParOf" srcId="{F4E427A7-A4CF-43C9-B3BE-3B2F49797BD4}" destId="{4C213FA2-FC8E-421C-82F0-9AE8459F250D}" srcOrd="3" destOrd="0" presId="urn:microsoft.com/office/officeart/2005/8/layout/list1"/>
    <dgm:cxn modelId="{1FC8CEE2-0548-4AD0-ADC3-09BB79F2276E}" type="presParOf" srcId="{F4E427A7-A4CF-43C9-B3BE-3B2F49797BD4}" destId="{D96D3D59-D5E9-4738-82E0-1BD7DC91549F}" srcOrd="4" destOrd="0" presId="urn:microsoft.com/office/officeart/2005/8/layout/list1"/>
    <dgm:cxn modelId="{59E68FCA-68A8-4F31-AA04-12E301D3F24D}" type="presParOf" srcId="{D96D3D59-D5E9-4738-82E0-1BD7DC91549F}" destId="{933EFC8B-492A-45EB-845C-006C67DF1744}" srcOrd="0" destOrd="0" presId="urn:microsoft.com/office/officeart/2005/8/layout/list1"/>
    <dgm:cxn modelId="{7BE59484-7ECF-4BF7-9ABA-1020FAE8C378}" type="presParOf" srcId="{D96D3D59-D5E9-4738-82E0-1BD7DC91549F}" destId="{7D411C53-8323-4816-87BE-C668E14C6E81}" srcOrd="1" destOrd="0" presId="urn:microsoft.com/office/officeart/2005/8/layout/list1"/>
    <dgm:cxn modelId="{CBCA604A-7A5B-476B-B811-E3E63B740CF6}" type="presParOf" srcId="{F4E427A7-A4CF-43C9-B3BE-3B2F49797BD4}" destId="{0D2C9246-76CE-4303-832A-7C869DE1C0CE}" srcOrd="5" destOrd="0" presId="urn:microsoft.com/office/officeart/2005/8/layout/list1"/>
    <dgm:cxn modelId="{060F2226-90FA-48C2-BCCB-A945DE840E50}" type="presParOf" srcId="{F4E427A7-A4CF-43C9-B3BE-3B2F49797BD4}" destId="{7CE685AE-2737-418C-A148-70D53781C58B}" srcOrd="6" destOrd="0" presId="urn:microsoft.com/office/officeart/2005/8/layout/list1"/>
    <dgm:cxn modelId="{43EA2F1F-0549-4954-963D-BC32E42A31D4}" type="presParOf" srcId="{F4E427A7-A4CF-43C9-B3BE-3B2F49797BD4}" destId="{265E26C0-8D38-43AF-8119-50E62AE07A7E}" srcOrd="7" destOrd="0" presId="urn:microsoft.com/office/officeart/2005/8/layout/list1"/>
    <dgm:cxn modelId="{1D7331B1-0F46-4BBC-B4CB-D6FCCA00BC8A}" type="presParOf" srcId="{F4E427A7-A4CF-43C9-B3BE-3B2F49797BD4}" destId="{EC9C217C-1598-4398-ABC0-46532B6CE548}" srcOrd="8" destOrd="0" presId="urn:microsoft.com/office/officeart/2005/8/layout/list1"/>
    <dgm:cxn modelId="{DC5946BC-18BA-4308-9E0E-06F0874FEDC9}" type="presParOf" srcId="{EC9C217C-1598-4398-ABC0-46532B6CE548}" destId="{048FFAC0-7294-4142-BE70-A1C5F67FEE47}" srcOrd="0" destOrd="0" presId="urn:microsoft.com/office/officeart/2005/8/layout/list1"/>
    <dgm:cxn modelId="{2F6F594C-291E-4CF2-927A-E4FEE2151E2B}" type="presParOf" srcId="{EC9C217C-1598-4398-ABC0-46532B6CE548}" destId="{57C5B764-B99E-4C94-ADFE-4836D9CA61F8}" srcOrd="1" destOrd="0" presId="urn:microsoft.com/office/officeart/2005/8/layout/list1"/>
    <dgm:cxn modelId="{A3E55DA9-4842-4BFE-A860-53CBD76A2DEC}" type="presParOf" srcId="{F4E427A7-A4CF-43C9-B3BE-3B2F49797BD4}" destId="{7C99B0CF-BFF2-4E76-8307-0D7654A8AAC7}" srcOrd="9" destOrd="0" presId="urn:microsoft.com/office/officeart/2005/8/layout/list1"/>
    <dgm:cxn modelId="{377547CC-59FD-4FC3-B6B4-B9E224864100}" type="presParOf" srcId="{F4E427A7-A4CF-43C9-B3BE-3B2F49797BD4}" destId="{1B69153D-FB7E-4C02-8536-7B0F5692D9C7}" srcOrd="10" destOrd="0" presId="urn:microsoft.com/office/officeart/2005/8/layout/list1"/>
    <dgm:cxn modelId="{54B67107-1007-44F4-927F-04D1E1EF176B}" type="presParOf" srcId="{F4E427A7-A4CF-43C9-B3BE-3B2F49797BD4}" destId="{CFE27C1C-E305-4977-9BD5-9C3342E2BC15}" srcOrd="11" destOrd="0" presId="urn:microsoft.com/office/officeart/2005/8/layout/list1"/>
    <dgm:cxn modelId="{3A3D4634-5772-406B-8196-FB9887B4DADF}" type="presParOf" srcId="{F4E427A7-A4CF-43C9-B3BE-3B2F49797BD4}" destId="{9CE41565-CE6E-4475-9004-D079B2CF63EB}" srcOrd="12" destOrd="0" presId="urn:microsoft.com/office/officeart/2005/8/layout/list1"/>
    <dgm:cxn modelId="{4B5AA0F8-D11A-408E-BB8F-911296E1B44B}" type="presParOf" srcId="{9CE41565-CE6E-4475-9004-D079B2CF63EB}" destId="{E083D8E6-76BF-4E1E-A0F7-F1047A794D5B}" srcOrd="0" destOrd="0" presId="urn:microsoft.com/office/officeart/2005/8/layout/list1"/>
    <dgm:cxn modelId="{AA059377-5410-4828-8CE2-75743C18D3FA}" type="presParOf" srcId="{9CE41565-CE6E-4475-9004-D079B2CF63EB}" destId="{81CDC548-5E82-40CC-84F4-290CD4D44A60}" srcOrd="1" destOrd="0" presId="urn:microsoft.com/office/officeart/2005/8/layout/list1"/>
    <dgm:cxn modelId="{C98C814E-45B3-45EA-B93C-1A13852D4C62}" type="presParOf" srcId="{F4E427A7-A4CF-43C9-B3BE-3B2F49797BD4}" destId="{6956D5DB-85F1-4D99-9914-A04E1CD1A9CE}" srcOrd="13" destOrd="0" presId="urn:microsoft.com/office/officeart/2005/8/layout/list1"/>
    <dgm:cxn modelId="{C09304D7-2D64-413C-AEF6-7984612ACC41}" type="presParOf" srcId="{F4E427A7-A4CF-43C9-B3BE-3B2F49797BD4}" destId="{56A0155B-1FE7-410F-A5D8-35680E5E8312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D43F70E-C1FA-4BE1-A79D-2A69420E4E0A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40BFE97-586B-4EBF-AFD7-9E47D0847071}">
      <dgm:prSet phldrT="[Text]"/>
      <dgm:spPr/>
      <dgm:t>
        <a:bodyPr/>
        <a:lstStyle/>
        <a:p>
          <a:r>
            <a:rPr lang="en-US" altLang="en-US" b="1" dirty="0">
              <a:solidFill>
                <a:schemeClr val="bg1"/>
              </a:solidFill>
            </a:rPr>
            <a:t>Mutual Exclusion</a:t>
          </a:r>
          <a:r>
            <a:rPr lang="en-US" altLang="en-US" dirty="0">
              <a:solidFill>
                <a:schemeClr val="bg1"/>
              </a:solidFill>
            </a:rPr>
            <a:t>:</a:t>
          </a:r>
          <a:endParaRPr lang="en-US" dirty="0">
            <a:solidFill>
              <a:schemeClr val="bg1"/>
            </a:solidFill>
          </a:endParaRPr>
        </a:p>
      </dgm:t>
    </dgm:pt>
    <dgm:pt modelId="{BF42C24E-00B7-4348-9397-9043A49E657B}" type="parTrans" cxnId="{ADE68004-A349-420C-BDEE-81AE63883D27}">
      <dgm:prSet/>
      <dgm:spPr/>
      <dgm:t>
        <a:bodyPr/>
        <a:lstStyle/>
        <a:p>
          <a:endParaRPr lang="en-US"/>
        </a:p>
      </dgm:t>
    </dgm:pt>
    <dgm:pt modelId="{529CA64D-8150-42B4-8AB5-2548CD04BCA6}" type="sibTrans" cxnId="{ADE68004-A349-420C-BDEE-81AE63883D27}">
      <dgm:prSet/>
      <dgm:spPr/>
      <dgm:t>
        <a:bodyPr/>
        <a:lstStyle/>
        <a:p>
          <a:endParaRPr lang="en-US"/>
        </a:p>
      </dgm:t>
    </dgm:pt>
    <dgm:pt modelId="{C4DF41A7-042F-4E4B-BD40-04B8A95E26A3}">
      <dgm:prSet/>
      <dgm:spPr/>
      <dgm:t>
        <a:bodyPr/>
        <a:lstStyle/>
        <a:p>
          <a:r>
            <a:rPr lang="en-US" altLang="en-US" b="1" dirty="0">
              <a:solidFill>
                <a:schemeClr val="bg1"/>
              </a:solidFill>
            </a:rPr>
            <a:t>Bounded Wait:</a:t>
          </a:r>
        </a:p>
      </dgm:t>
    </dgm:pt>
    <dgm:pt modelId="{A14DCA2D-3126-4C51-B827-20D6C3C36355}" type="parTrans" cxnId="{667899C3-CC7C-430D-9455-11A97BF2632F}">
      <dgm:prSet/>
      <dgm:spPr/>
      <dgm:t>
        <a:bodyPr/>
        <a:lstStyle/>
        <a:p>
          <a:endParaRPr lang="en-US"/>
        </a:p>
      </dgm:t>
    </dgm:pt>
    <dgm:pt modelId="{877C3048-1FB5-4288-B824-56862EABE2F2}" type="sibTrans" cxnId="{667899C3-CC7C-430D-9455-11A97BF2632F}">
      <dgm:prSet/>
      <dgm:spPr/>
      <dgm:t>
        <a:bodyPr/>
        <a:lstStyle/>
        <a:p>
          <a:endParaRPr lang="en-US"/>
        </a:p>
      </dgm:t>
    </dgm:pt>
    <dgm:pt modelId="{55756C74-7A60-4767-A830-AA28F99DE9A9}">
      <dgm:prSet/>
      <dgm:spPr/>
      <dgm:t>
        <a:bodyPr/>
        <a:lstStyle/>
        <a:p>
          <a:r>
            <a:rPr lang="en-US" altLang="en-US" b="1" dirty="0">
              <a:solidFill>
                <a:schemeClr val="bg1"/>
              </a:solidFill>
            </a:rPr>
            <a:t>Independence:</a:t>
          </a:r>
        </a:p>
      </dgm:t>
    </dgm:pt>
    <dgm:pt modelId="{0F579B38-CEFB-4E2C-9C04-D5BFACA0744D}" type="parTrans" cxnId="{7DB5502F-7CFE-4870-B3B7-3699C6FBC56B}">
      <dgm:prSet/>
      <dgm:spPr/>
      <dgm:t>
        <a:bodyPr/>
        <a:lstStyle/>
        <a:p>
          <a:endParaRPr lang="en-US"/>
        </a:p>
      </dgm:t>
    </dgm:pt>
    <dgm:pt modelId="{6BE5D9FD-7459-4506-93C7-7489B31DFBC6}" type="sibTrans" cxnId="{7DB5502F-7CFE-4870-B3B7-3699C6FBC56B}">
      <dgm:prSet/>
      <dgm:spPr/>
      <dgm:t>
        <a:bodyPr/>
        <a:lstStyle/>
        <a:p>
          <a:endParaRPr lang="en-US"/>
        </a:p>
      </dgm:t>
    </dgm:pt>
    <dgm:pt modelId="{87C2298B-9F6A-4BAA-AC97-24F97CB60E8A}">
      <dgm:prSet/>
      <dgm:spPr/>
      <dgm:t>
        <a:bodyPr/>
        <a:lstStyle/>
        <a:p>
          <a:r>
            <a:rPr lang="en-US" altLang="en-US" b="1" dirty="0">
              <a:solidFill>
                <a:schemeClr val="bg1"/>
              </a:solidFill>
            </a:rPr>
            <a:t>Progress:</a:t>
          </a:r>
        </a:p>
      </dgm:t>
    </dgm:pt>
    <dgm:pt modelId="{B5D4722E-BB85-4D2A-95F3-3336F61DA3DA}" type="sibTrans" cxnId="{8FD3D289-B365-4C77-8C11-26849FB7E496}">
      <dgm:prSet/>
      <dgm:spPr/>
      <dgm:t>
        <a:bodyPr/>
        <a:lstStyle/>
        <a:p>
          <a:endParaRPr lang="en-US"/>
        </a:p>
      </dgm:t>
    </dgm:pt>
    <dgm:pt modelId="{F2580493-3EF7-4B0A-9F4A-675C04887A62}" type="parTrans" cxnId="{8FD3D289-B365-4C77-8C11-26849FB7E496}">
      <dgm:prSet/>
      <dgm:spPr/>
      <dgm:t>
        <a:bodyPr/>
        <a:lstStyle/>
        <a:p>
          <a:endParaRPr lang="en-US"/>
        </a:p>
      </dgm:t>
    </dgm:pt>
    <dgm:pt modelId="{F4E427A7-A4CF-43C9-B3BE-3B2F49797BD4}" type="pres">
      <dgm:prSet presAssocID="{AD43F70E-C1FA-4BE1-A79D-2A69420E4E0A}" presName="linear" presStyleCnt="0">
        <dgm:presLayoutVars>
          <dgm:dir/>
          <dgm:animLvl val="lvl"/>
          <dgm:resizeHandles val="exact"/>
        </dgm:presLayoutVars>
      </dgm:prSet>
      <dgm:spPr/>
    </dgm:pt>
    <dgm:pt modelId="{3F6B3DC1-B530-4F05-8D0A-4802C32D0E32}" type="pres">
      <dgm:prSet presAssocID="{040BFE97-586B-4EBF-AFD7-9E47D0847071}" presName="parentLin" presStyleCnt="0"/>
      <dgm:spPr/>
    </dgm:pt>
    <dgm:pt modelId="{2326D701-CBCF-4FAF-928C-F648B10B26E7}" type="pres">
      <dgm:prSet presAssocID="{040BFE97-586B-4EBF-AFD7-9E47D0847071}" presName="parentLeftMargin" presStyleLbl="node1" presStyleIdx="0" presStyleCnt="4"/>
      <dgm:spPr/>
    </dgm:pt>
    <dgm:pt modelId="{2C243DF3-0365-49EE-9EB2-F994DA7645C7}" type="pres">
      <dgm:prSet presAssocID="{040BFE97-586B-4EBF-AFD7-9E47D084707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B73B880-E79E-486C-BE85-604889A94A2B}" type="pres">
      <dgm:prSet presAssocID="{040BFE97-586B-4EBF-AFD7-9E47D0847071}" presName="negativeSpace" presStyleCnt="0"/>
      <dgm:spPr/>
    </dgm:pt>
    <dgm:pt modelId="{96B24622-3DBB-4704-B992-E2CDC6F674FE}" type="pres">
      <dgm:prSet presAssocID="{040BFE97-586B-4EBF-AFD7-9E47D0847071}" presName="childText" presStyleLbl="conFgAcc1" presStyleIdx="0" presStyleCnt="4">
        <dgm:presLayoutVars>
          <dgm:bulletEnabled val="1"/>
        </dgm:presLayoutVars>
      </dgm:prSet>
      <dgm:spPr/>
    </dgm:pt>
    <dgm:pt modelId="{4C213FA2-FC8E-421C-82F0-9AE8459F250D}" type="pres">
      <dgm:prSet presAssocID="{529CA64D-8150-42B4-8AB5-2548CD04BCA6}" presName="spaceBetweenRectangles" presStyleCnt="0"/>
      <dgm:spPr/>
    </dgm:pt>
    <dgm:pt modelId="{D96D3D59-D5E9-4738-82E0-1BD7DC91549F}" type="pres">
      <dgm:prSet presAssocID="{87C2298B-9F6A-4BAA-AC97-24F97CB60E8A}" presName="parentLin" presStyleCnt="0"/>
      <dgm:spPr/>
    </dgm:pt>
    <dgm:pt modelId="{933EFC8B-492A-45EB-845C-006C67DF1744}" type="pres">
      <dgm:prSet presAssocID="{87C2298B-9F6A-4BAA-AC97-24F97CB60E8A}" presName="parentLeftMargin" presStyleLbl="node1" presStyleIdx="0" presStyleCnt="4"/>
      <dgm:spPr/>
    </dgm:pt>
    <dgm:pt modelId="{7D411C53-8323-4816-87BE-C668E14C6E81}" type="pres">
      <dgm:prSet presAssocID="{87C2298B-9F6A-4BAA-AC97-24F97CB60E8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D2C9246-76CE-4303-832A-7C869DE1C0CE}" type="pres">
      <dgm:prSet presAssocID="{87C2298B-9F6A-4BAA-AC97-24F97CB60E8A}" presName="negativeSpace" presStyleCnt="0"/>
      <dgm:spPr/>
    </dgm:pt>
    <dgm:pt modelId="{7CE685AE-2737-418C-A148-70D53781C58B}" type="pres">
      <dgm:prSet presAssocID="{87C2298B-9F6A-4BAA-AC97-24F97CB60E8A}" presName="childText" presStyleLbl="conFgAcc1" presStyleIdx="1" presStyleCnt="4">
        <dgm:presLayoutVars>
          <dgm:bulletEnabled val="1"/>
        </dgm:presLayoutVars>
      </dgm:prSet>
      <dgm:spPr/>
    </dgm:pt>
    <dgm:pt modelId="{265E26C0-8D38-43AF-8119-50E62AE07A7E}" type="pres">
      <dgm:prSet presAssocID="{B5D4722E-BB85-4D2A-95F3-3336F61DA3DA}" presName="spaceBetweenRectangles" presStyleCnt="0"/>
      <dgm:spPr/>
    </dgm:pt>
    <dgm:pt modelId="{EC9C217C-1598-4398-ABC0-46532B6CE548}" type="pres">
      <dgm:prSet presAssocID="{C4DF41A7-042F-4E4B-BD40-04B8A95E26A3}" presName="parentLin" presStyleCnt="0"/>
      <dgm:spPr/>
    </dgm:pt>
    <dgm:pt modelId="{048FFAC0-7294-4142-BE70-A1C5F67FEE47}" type="pres">
      <dgm:prSet presAssocID="{C4DF41A7-042F-4E4B-BD40-04B8A95E26A3}" presName="parentLeftMargin" presStyleLbl="node1" presStyleIdx="1" presStyleCnt="4"/>
      <dgm:spPr/>
    </dgm:pt>
    <dgm:pt modelId="{57C5B764-B99E-4C94-ADFE-4836D9CA61F8}" type="pres">
      <dgm:prSet presAssocID="{C4DF41A7-042F-4E4B-BD40-04B8A95E26A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C99B0CF-BFF2-4E76-8307-0D7654A8AAC7}" type="pres">
      <dgm:prSet presAssocID="{C4DF41A7-042F-4E4B-BD40-04B8A95E26A3}" presName="negativeSpace" presStyleCnt="0"/>
      <dgm:spPr/>
    </dgm:pt>
    <dgm:pt modelId="{1B69153D-FB7E-4C02-8536-7B0F5692D9C7}" type="pres">
      <dgm:prSet presAssocID="{C4DF41A7-042F-4E4B-BD40-04B8A95E26A3}" presName="childText" presStyleLbl="conFgAcc1" presStyleIdx="2" presStyleCnt="4">
        <dgm:presLayoutVars>
          <dgm:bulletEnabled val="1"/>
        </dgm:presLayoutVars>
      </dgm:prSet>
      <dgm:spPr/>
    </dgm:pt>
    <dgm:pt modelId="{CFE27C1C-E305-4977-9BD5-9C3342E2BC15}" type="pres">
      <dgm:prSet presAssocID="{877C3048-1FB5-4288-B824-56862EABE2F2}" presName="spaceBetweenRectangles" presStyleCnt="0"/>
      <dgm:spPr/>
    </dgm:pt>
    <dgm:pt modelId="{9CE41565-CE6E-4475-9004-D079B2CF63EB}" type="pres">
      <dgm:prSet presAssocID="{55756C74-7A60-4767-A830-AA28F99DE9A9}" presName="parentLin" presStyleCnt="0"/>
      <dgm:spPr/>
    </dgm:pt>
    <dgm:pt modelId="{E083D8E6-76BF-4E1E-A0F7-F1047A794D5B}" type="pres">
      <dgm:prSet presAssocID="{55756C74-7A60-4767-A830-AA28F99DE9A9}" presName="parentLeftMargin" presStyleLbl="node1" presStyleIdx="2" presStyleCnt="4"/>
      <dgm:spPr/>
    </dgm:pt>
    <dgm:pt modelId="{81CDC548-5E82-40CC-84F4-290CD4D44A60}" type="pres">
      <dgm:prSet presAssocID="{55756C74-7A60-4767-A830-AA28F99DE9A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6956D5DB-85F1-4D99-9914-A04E1CD1A9CE}" type="pres">
      <dgm:prSet presAssocID="{55756C74-7A60-4767-A830-AA28F99DE9A9}" presName="negativeSpace" presStyleCnt="0"/>
      <dgm:spPr/>
    </dgm:pt>
    <dgm:pt modelId="{56A0155B-1FE7-410F-A5D8-35680E5E8312}" type="pres">
      <dgm:prSet presAssocID="{55756C74-7A60-4767-A830-AA28F99DE9A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DE68004-A349-420C-BDEE-81AE63883D27}" srcId="{AD43F70E-C1FA-4BE1-A79D-2A69420E4E0A}" destId="{040BFE97-586B-4EBF-AFD7-9E47D0847071}" srcOrd="0" destOrd="0" parTransId="{BF42C24E-00B7-4348-9397-9043A49E657B}" sibTransId="{529CA64D-8150-42B4-8AB5-2548CD04BCA6}"/>
    <dgm:cxn modelId="{96922E27-0B25-42FA-B25E-D523F0E9CE1A}" type="presOf" srcId="{C4DF41A7-042F-4E4B-BD40-04B8A95E26A3}" destId="{048FFAC0-7294-4142-BE70-A1C5F67FEE47}" srcOrd="0" destOrd="0" presId="urn:microsoft.com/office/officeart/2005/8/layout/list1"/>
    <dgm:cxn modelId="{7DB5502F-7CFE-4870-B3B7-3699C6FBC56B}" srcId="{AD43F70E-C1FA-4BE1-A79D-2A69420E4E0A}" destId="{55756C74-7A60-4767-A830-AA28F99DE9A9}" srcOrd="3" destOrd="0" parTransId="{0F579B38-CEFB-4E2C-9C04-D5BFACA0744D}" sibTransId="{6BE5D9FD-7459-4506-93C7-7489B31DFBC6}"/>
    <dgm:cxn modelId="{9ADA0859-F3AC-4096-910A-C70065F114E6}" type="presOf" srcId="{AD43F70E-C1FA-4BE1-A79D-2A69420E4E0A}" destId="{F4E427A7-A4CF-43C9-B3BE-3B2F49797BD4}" srcOrd="0" destOrd="0" presId="urn:microsoft.com/office/officeart/2005/8/layout/list1"/>
    <dgm:cxn modelId="{9107326A-91C5-40B5-A5B9-95274E2CC316}" type="presOf" srcId="{040BFE97-586B-4EBF-AFD7-9E47D0847071}" destId="{2C243DF3-0365-49EE-9EB2-F994DA7645C7}" srcOrd="1" destOrd="0" presId="urn:microsoft.com/office/officeart/2005/8/layout/list1"/>
    <dgm:cxn modelId="{31D90184-F5D3-429B-B962-FC90243D5780}" type="presOf" srcId="{040BFE97-586B-4EBF-AFD7-9E47D0847071}" destId="{2326D701-CBCF-4FAF-928C-F648B10B26E7}" srcOrd="0" destOrd="0" presId="urn:microsoft.com/office/officeart/2005/8/layout/list1"/>
    <dgm:cxn modelId="{8FD3D289-B365-4C77-8C11-26849FB7E496}" srcId="{AD43F70E-C1FA-4BE1-A79D-2A69420E4E0A}" destId="{87C2298B-9F6A-4BAA-AC97-24F97CB60E8A}" srcOrd="1" destOrd="0" parTransId="{F2580493-3EF7-4B0A-9F4A-675C04887A62}" sibTransId="{B5D4722E-BB85-4D2A-95F3-3336F61DA3DA}"/>
    <dgm:cxn modelId="{BB39688B-FE94-483A-9A5E-DC1BB4FDB5D6}" type="presOf" srcId="{87C2298B-9F6A-4BAA-AC97-24F97CB60E8A}" destId="{7D411C53-8323-4816-87BE-C668E14C6E81}" srcOrd="1" destOrd="0" presId="urn:microsoft.com/office/officeart/2005/8/layout/list1"/>
    <dgm:cxn modelId="{239EB2A8-8E4A-4A0E-AA0A-816694BEB02B}" type="presOf" srcId="{55756C74-7A60-4767-A830-AA28F99DE9A9}" destId="{81CDC548-5E82-40CC-84F4-290CD4D44A60}" srcOrd="1" destOrd="0" presId="urn:microsoft.com/office/officeart/2005/8/layout/list1"/>
    <dgm:cxn modelId="{29DF5EAB-EFB7-445C-AB54-14ED44112EAE}" type="presOf" srcId="{C4DF41A7-042F-4E4B-BD40-04B8A95E26A3}" destId="{57C5B764-B99E-4C94-ADFE-4836D9CA61F8}" srcOrd="1" destOrd="0" presId="urn:microsoft.com/office/officeart/2005/8/layout/list1"/>
    <dgm:cxn modelId="{667899C3-CC7C-430D-9455-11A97BF2632F}" srcId="{AD43F70E-C1FA-4BE1-A79D-2A69420E4E0A}" destId="{C4DF41A7-042F-4E4B-BD40-04B8A95E26A3}" srcOrd="2" destOrd="0" parTransId="{A14DCA2D-3126-4C51-B827-20D6C3C36355}" sibTransId="{877C3048-1FB5-4288-B824-56862EABE2F2}"/>
    <dgm:cxn modelId="{F0262BC4-7DF1-4B6E-99BD-6A50EE5A3ACB}" type="presOf" srcId="{87C2298B-9F6A-4BAA-AC97-24F97CB60E8A}" destId="{933EFC8B-492A-45EB-845C-006C67DF1744}" srcOrd="0" destOrd="0" presId="urn:microsoft.com/office/officeart/2005/8/layout/list1"/>
    <dgm:cxn modelId="{E255E5C7-B95F-433B-BBF5-4C5830603281}" type="presOf" srcId="{55756C74-7A60-4767-A830-AA28F99DE9A9}" destId="{E083D8E6-76BF-4E1E-A0F7-F1047A794D5B}" srcOrd="0" destOrd="0" presId="urn:microsoft.com/office/officeart/2005/8/layout/list1"/>
    <dgm:cxn modelId="{F9B9548A-7891-4505-828A-80DA7A036939}" type="presParOf" srcId="{F4E427A7-A4CF-43C9-B3BE-3B2F49797BD4}" destId="{3F6B3DC1-B530-4F05-8D0A-4802C32D0E32}" srcOrd="0" destOrd="0" presId="urn:microsoft.com/office/officeart/2005/8/layout/list1"/>
    <dgm:cxn modelId="{FB8CFC94-2F27-4064-9AC6-BFAAD3813DC5}" type="presParOf" srcId="{3F6B3DC1-B530-4F05-8D0A-4802C32D0E32}" destId="{2326D701-CBCF-4FAF-928C-F648B10B26E7}" srcOrd="0" destOrd="0" presId="urn:microsoft.com/office/officeart/2005/8/layout/list1"/>
    <dgm:cxn modelId="{AB9BE3EB-85E0-48F3-B5CD-706C58A571A4}" type="presParOf" srcId="{3F6B3DC1-B530-4F05-8D0A-4802C32D0E32}" destId="{2C243DF3-0365-49EE-9EB2-F994DA7645C7}" srcOrd="1" destOrd="0" presId="urn:microsoft.com/office/officeart/2005/8/layout/list1"/>
    <dgm:cxn modelId="{D206F907-8948-4B6D-9A29-5C0D17EB5984}" type="presParOf" srcId="{F4E427A7-A4CF-43C9-B3BE-3B2F49797BD4}" destId="{BB73B880-E79E-486C-BE85-604889A94A2B}" srcOrd="1" destOrd="0" presId="urn:microsoft.com/office/officeart/2005/8/layout/list1"/>
    <dgm:cxn modelId="{007C3E00-96DD-441D-AAFC-3C6CC4849672}" type="presParOf" srcId="{F4E427A7-A4CF-43C9-B3BE-3B2F49797BD4}" destId="{96B24622-3DBB-4704-B992-E2CDC6F674FE}" srcOrd="2" destOrd="0" presId="urn:microsoft.com/office/officeart/2005/8/layout/list1"/>
    <dgm:cxn modelId="{4420B1A8-9259-44EF-8F44-13B460D2624F}" type="presParOf" srcId="{F4E427A7-A4CF-43C9-B3BE-3B2F49797BD4}" destId="{4C213FA2-FC8E-421C-82F0-9AE8459F250D}" srcOrd="3" destOrd="0" presId="urn:microsoft.com/office/officeart/2005/8/layout/list1"/>
    <dgm:cxn modelId="{4AB1F054-68D3-4738-BBAF-75E75D90670B}" type="presParOf" srcId="{F4E427A7-A4CF-43C9-B3BE-3B2F49797BD4}" destId="{D96D3D59-D5E9-4738-82E0-1BD7DC91549F}" srcOrd="4" destOrd="0" presId="urn:microsoft.com/office/officeart/2005/8/layout/list1"/>
    <dgm:cxn modelId="{E0172192-5525-4AFA-A2BC-8B9EEBDC1DA6}" type="presParOf" srcId="{D96D3D59-D5E9-4738-82E0-1BD7DC91549F}" destId="{933EFC8B-492A-45EB-845C-006C67DF1744}" srcOrd="0" destOrd="0" presId="urn:microsoft.com/office/officeart/2005/8/layout/list1"/>
    <dgm:cxn modelId="{56B44020-F9E2-4B08-A131-B8BBA80701E8}" type="presParOf" srcId="{D96D3D59-D5E9-4738-82E0-1BD7DC91549F}" destId="{7D411C53-8323-4816-87BE-C668E14C6E81}" srcOrd="1" destOrd="0" presId="urn:microsoft.com/office/officeart/2005/8/layout/list1"/>
    <dgm:cxn modelId="{34C547B8-D9B4-48F2-B9D3-FD3D96F03AE6}" type="presParOf" srcId="{F4E427A7-A4CF-43C9-B3BE-3B2F49797BD4}" destId="{0D2C9246-76CE-4303-832A-7C869DE1C0CE}" srcOrd="5" destOrd="0" presId="urn:microsoft.com/office/officeart/2005/8/layout/list1"/>
    <dgm:cxn modelId="{4D7D87EE-5CC5-41A2-8B6C-8606443EB8F6}" type="presParOf" srcId="{F4E427A7-A4CF-43C9-B3BE-3B2F49797BD4}" destId="{7CE685AE-2737-418C-A148-70D53781C58B}" srcOrd="6" destOrd="0" presId="urn:microsoft.com/office/officeart/2005/8/layout/list1"/>
    <dgm:cxn modelId="{EEA98A47-7A1D-4CB7-94B5-02A918E2EE52}" type="presParOf" srcId="{F4E427A7-A4CF-43C9-B3BE-3B2F49797BD4}" destId="{265E26C0-8D38-43AF-8119-50E62AE07A7E}" srcOrd="7" destOrd="0" presId="urn:microsoft.com/office/officeart/2005/8/layout/list1"/>
    <dgm:cxn modelId="{CABB2C17-E9BC-4864-AEA8-8D06DCE26CA4}" type="presParOf" srcId="{F4E427A7-A4CF-43C9-B3BE-3B2F49797BD4}" destId="{EC9C217C-1598-4398-ABC0-46532B6CE548}" srcOrd="8" destOrd="0" presId="urn:microsoft.com/office/officeart/2005/8/layout/list1"/>
    <dgm:cxn modelId="{C2BB2DF2-D236-465A-921E-C9D210CABEF1}" type="presParOf" srcId="{EC9C217C-1598-4398-ABC0-46532B6CE548}" destId="{048FFAC0-7294-4142-BE70-A1C5F67FEE47}" srcOrd="0" destOrd="0" presId="urn:microsoft.com/office/officeart/2005/8/layout/list1"/>
    <dgm:cxn modelId="{EC02204C-A69B-4B75-A40F-5A273CE53A5F}" type="presParOf" srcId="{EC9C217C-1598-4398-ABC0-46532B6CE548}" destId="{57C5B764-B99E-4C94-ADFE-4836D9CA61F8}" srcOrd="1" destOrd="0" presId="urn:microsoft.com/office/officeart/2005/8/layout/list1"/>
    <dgm:cxn modelId="{49FE02B5-0415-4A2C-9964-88A333FBD4E9}" type="presParOf" srcId="{F4E427A7-A4CF-43C9-B3BE-3B2F49797BD4}" destId="{7C99B0CF-BFF2-4E76-8307-0D7654A8AAC7}" srcOrd="9" destOrd="0" presId="urn:microsoft.com/office/officeart/2005/8/layout/list1"/>
    <dgm:cxn modelId="{46BC359D-FDEC-412B-86DB-9264641006F7}" type="presParOf" srcId="{F4E427A7-A4CF-43C9-B3BE-3B2F49797BD4}" destId="{1B69153D-FB7E-4C02-8536-7B0F5692D9C7}" srcOrd="10" destOrd="0" presId="urn:microsoft.com/office/officeart/2005/8/layout/list1"/>
    <dgm:cxn modelId="{AAA52985-CEF8-4363-8A7A-C5EC2AA6533A}" type="presParOf" srcId="{F4E427A7-A4CF-43C9-B3BE-3B2F49797BD4}" destId="{CFE27C1C-E305-4977-9BD5-9C3342E2BC15}" srcOrd="11" destOrd="0" presId="urn:microsoft.com/office/officeart/2005/8/layout/list1"/>
    <dgm:cxn modelId="{ABAB5137-3246-451B-8782-DF9F445D483B}" type="presParOf" srcId="{F4E427A7-A4CF-43C9-B3BE-3B2F49797BD4}" destId="{9CE41565-CE6E-4475-9004-D079B2CF63EB}" srcOrd="12" destOrd="0" presId="urn:microsoft.com/office/officeart/2005/8/layout/list1"/>
    <dgm:cxn modelId="{5D424EC8-702E-467C-8F3F-170DD2916052}" type="presParOf" srcId="{9CE41565-CE6E-4475-9004-D079B2CF63EB}" destId="{E083D8E6-76BF-4E1E-A0F7-F1047A794D5B}" srcOrd="0" destOrd="0" presId="urn:microsoft.com/office/officeart/2005/8/layout/list1"/>
    <dgm:cxn modelId="{A382C3F5-C616-4B07-AAEC-62D1C1E4B4F1}" type="presParOf" srcId="{9CE41565-CE6E-4475-9004-D079B2CF63EB}" destId="{81CDC548-5E82-40CC-84F4-290CD4D44A60}" srcOrd="1" destOrd="0" presId="urn:microsoft.com/office/officeart/2005/8/layout/list1"/>
    <dgm:cxn modelId="{119E9FD1-933F-4DFB-89E2-4A53F1613E89}" type="presParOf" srcId="{F4E427A7-A4CF-43C9-B3BE-3B2F49797BD4}" destId="{6956D5DB-85F1-4D99-9914-A04E1CD1A9CE}" srcOrd="13" destOrd="0" presId="urn:microsoft.com/office/officeart/2005/8/layout/list1"/>
    <dgm:cxn modelId="{5A11F78D-CDC7-4EEA-834B-8FD4F1016015}" type="presParOf" srcId="{F4E427A7-A4CF-43C9-B3BE-3B2F49797BD4}" destId="{56A0155B-1FE7-410F-A5D8-35680E5E8312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D43F70E-C1FA-4BE1-A79D-2A69420E4E0A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40BFE97-586B-4EBF-AFD7-9E47D0847071}">
      <dgm:prSet phldrT="[Text]"/>
      <dgm:spPr/>
      <dgm:t>
        <a:bodyPr/>
        <a:lstStyle/>
        <a:p>
          <a:r>
            <a:rPr lang="en-US" altLang="en-US" b="1" dirty="0">
              <a:solidFill>
                <a:schemeClr val="bg1"/>
              </a:solidFill>
            </a:rPr>
            <a:t>Mutual Exclusion</a:t>
          </a:r>
          <a:r>
            <a:rPr lang="en-US" altLang="en-US" dirty="0">
              <a:solidFill>
                <a:schemeClr val="bg1"/>
              </a:solidFill>
            </a:rPr>
            <a:t>:</a:t>
          </a:r>
          <a:endParaRPr lang="en-US" dirty="0">
            <a:solidFill>
              <a:schemeClr val="bg1"/>
            </a:solidFill>
          </a:endParaRPr>
        </a:p>
      </dgm:t>
    </dgm:pt>
    <dgm:pt modelId="{BF42C24E-00B7-4348-9397-9043A49E657B}" type="parTrans" cxnId="{ADE68004-A349-420C-BDEE-81AE63883D27}">
      <dgm:prSet/>
      <dgm:spPr/>
      <dgm:t>
        <a:bodyPr/>
        <a:lstStyle/>
        <a:p>
          <a:endParaRPr lang="en-US"/>
        </a:p>
      </dgm:t>
    </dgm:pt>
    <dgm:pt modelId="{529CA64D-8150-42B4-8AB5-2548CD04BCA6}" type="sibTrans" cxnId="{ADE68004-A349-420C-BDEE-81AE63883D27}">
      <dgm:prSet/>
      <dgm:spPr/>
      <dgm:t>
        <a:bodyPr/>
        <a:lstStyle/>
        <a:p>
          <a:endParaRPr lang="en-US"/>
        </a:p>
      </dgm:t>
    </dgm:pt>
    <dgm:pt modelId="{C4DF41A7-042F-4E4B-BD40-04B8A95E26A3}">
      <dgm:prSet/>
      <dgm:spPr/>
      <dgm:t>
        <a:bodyPr/>
        <a:lstStyle/>
        <a:p>
          <a:r>
            <a:rPr lang="en-US" altLang="en-US" b="1" dirty="0">
              <a:solidFill>
                <a:schemeClr val="bg1"/>
              </a:solidFill>
            </a:rPr>
            <a:t>Bounded Wait:</a:t>
          </a:r>
        </a:p>
      </dgm:t>
    </dgm:pt>
    <dgm:pt modelId="{A14DCA2D-3126-4C51-B827-20D6C3C36355}" type="parTrans" cxnId="{667899C3-CC7C-430D-9455-11A97BF2632F}">
      <dgm:prSet/>
      <dgm:spPr/>
      <dgm:t>
        <a:bodyPr/>
        <a:lstStyle/>
        <a:p>
          <a:endParaRPr lang="en-US"/>
        </a:p>
      </dgm:t>
    </dgm:pt>
    <dgm:pt modelId="{877C3048-1FB5-4288-B824-56862EABE2F2}" type="sibTrans" cxnId="{667899C3-CC7C-430D-9455-11A97BF2632F}">
      <dgm:prSet/>
      <dgm:spPr/>
      <dgm:t>
        <a:bodyPr/>
        <a:lstStyle/>
        <a:p>
          <a:endParaRPr lang="en-US"/>
        </a:p>
      </dgm:t>
    </dgm:pt>
    <dgm:pt modelId="{55756C74-7A60-4767-A830-AA28F99DE9A9}">
      <dgm:prSet/>
      <dgm:spPr/>
      <dgm:t>
        <a:bodyPr/>
        <a:lstStyle/>
        <a:p>
          <a:r>
            <a:rPr lang="en-US" altLang="en-US" b="1" dirty="0">
              <a:solidFill>
                <a:schemeClr val="bg1"/>
              </a:solidFill>
            </a:rPr>
            <a:t>Independence:</a:t>
          </a:r>
        </a:p>
      </dgm:t>
    </dgm:pt>
    <dgm:pt modelId="{0F579B38-CEFB-4E2C-9C04-D5BFACA0744D}" type="parTrans" cxnId="{7DB5502F-7CFE-4870-B3B7-3699C6FBC56B}">
      <dgm:prSet/>
      <dgm:spPr/>
      <dgm:t>
        <a:bodyPr/>
        <a:lstStyle/>
        <a:p>
          <a:endParaRPr lang="en-US"/>
        </a:p>
      </dgm:t>
    </dgm:pt>
    <dgm:pt modelId="{6BE5D9FD-7459-4506-93C7-7489B31DFBC6}" type="sibTrans" cxnId="{7DB5502F-7CFE-4870-B3B7-3699C6FBC56B}">
      <dgm:prSet/>
      <dgm:spPr/>
      <dgm:t>
        <a:bodyPr/>
        <a:lstStyle/>
        <a:p>
          <a:endParaRPr lang="en-US"/>
        </a:p>
      </dgm:t>
    </dgm:pt>
    <dgm:pt modelId="{87C2298B-9F6A-4BAA-AC97-24F97CB60E8A}">
      <dgm:prSet/>
      <dgm:spPr/>
      <dgm:t>
        <a:bodyPr/>
        <a:lstStyle/>
        <a:p>
          <a:r>
            <a:rPr lang="en-US" altLang="en-US" b="1" dirty="0">
              <a:solidFill>
                <a:schemeClr val="bg1"/>
              </a:solidFill>
            </a:rPr>
            <a:t>Progress:</a:t>
          </a:r>
        </a:p>
      </dgm:t>
    </dgm:pt>
    <dgm:pt modelId="{B5D4722E-BB85-4D2A-95F3-3336F61DA3DA}" type="sibTrans" cxnId="{8FD3D289-B365-4C77-8C11-26849FB7E496}">
      <dgm:prSet/>
      <dgm:spPr/>
      <dgm:t>
        <a:bodyPr/>
        <a:lstStyle/>
        <a:p>
          <a:endParaRPr lang="en-US"/>
        </a:p>
      </dgm:t>
    </dgm:pt>
    <dgm:pt modelId="{F2580493-3EF7-4B0A-9F4A-675C04887A62}" type="parTrans" cxnId="{8FD3D289-B365-4C77-8C11-26849FB7E496}">
      <dgm:prSet/>
      <dgm:spPr/>
      <dgm:t>
        <a:bodyPr/>
        <a:lstStyle/>
        <a:p>
          <a:endParaRPr lang="en-US"/>
        </a:p>
      </dgm:t>
    </dgm:pt>
    <dgm:pt modelId="{F4E427A7-A4CF-43C9-B3BE-3B2F49797BD4}" type="pres">
      <dgm:prSet presAssocID="{AD43F70E-C1FA-4BE1-A79D-2A69420E4E0A}" presName="linear" presStyleCnt="0">
        <dgm:presLayoutVars>
          <dgm:dir/>
          <dgm:animLvl val="lvl"/>
          <dgm:resizeHandles val="exact"/>
        </dgm:presLayoutVars>
      </dgm:prSet>
      <dgm:spPr/>
    </dgm:pt>
    <dgm:pt modelId="{3F6B3DC1-B530-4F05-8D0A-4802C32D0E32}" type="pres">
      <dgm:prSet presAssocID="{040BFE97-586B-4EBF-AFD7-9E47D0847071}" presName="parentLin" presStyleCnt="0"/>
      <dgm:spPr/>
    </dgm:pt>
    <dgm:pt modelId="{2326D701-CBCF-4FAF-928C-F648B10B26E7}" type="pres">
      <dgm:prSet presAssocID="{040BFE97-586B-4EBF-AFD7-9E47D0847071}" presName="parentLeftMargin" presStyleLbl="node1" presStyleIdx="0" presStyleCnt="4"/>
      <dgm:spPr/>
    </dgm:pt>
    <dgm:pt modelId="{2C243DF3-0365-49EE-9EB2-F994DA7645C7}" type="pres">
      <dgm:prSet presAssocID="{040BFE97-586B-4EBF-AFD7-9E47D084707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B73B880-E79E-486C-BE85-604889A94A2B}" type="pres">
      <dgm:prSet presAssocID="{040BFE97-586B-4EBF-AFD7-9E47D0847071}" presName="negativeSpace" presStyleCnt="0"/>
      <dgm:spPr/>
    </dgm:pt>
    <dgm:pt modelId="{96B24622-3DBB-4704-B992-E2CDC6F674FE}" type="pres">
      <dgm:prSet presAssocID="{040BFE97-586B-4EBF-AFD7-9E47D0847071}" presName="childText" presStyleLbl="conFgAcc1" presStyleIdx="0" presStyleCnt="4">
        <dgm:presLayoutVars>
          <dgm:bulletEnabled val="1"/>
        </dgm:presLayoutVars>
      </dgm:prSet>
      <dgm:spPr/>
    </dgm:pt>
    <dgm:pt modelId="{4C213FA2-FC8E-421C-82F0-9AE8459F250D}" type="pres">
      <dgm:prSet presAssocID="{529CA64D-8150-42B4-8AB5-2548CD04BCA6}" presName="spaceBetweenRectangles" presStyleCnt="0"/>
      <dgm:spPr/>
    </dgm:pt>
    <dgm:pt modelId="{D96D3D59-D5E9-4738-82E0-1BD7DC91549F}" type="pres">
      <dgm:prSet presAssocID="{87C2298B-9F6A-4BAA-AC97-24F97CB60E8A}" presName="parentLin" presStyleCnt="0"/>
      <dgm:spPr/>
    </dgm:pt>
    <dgm:pt modelId="{933EFC8B-492A-45EB-845C-006C67DF1744}" type="pres">
      <dgm:prSet presAssocID="{87C2298B-9F6A-4BAA-AC97-24F97CB60E8A}" presName="parentLeftMargin" presStyleLbl="node1" presStyleIdx="0" presStyleCnt="4"/>
      <dgm:spPr/>
    </dgm:pt>
    <dgm:pt modelId="{7D411C53-8323-4816-87BE-C668E14C6E81}" type="pres">
      <dgm:prSet presAssocID="{87C2298B-9F6A-4BAA-AC97-24F97CB60E8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D2C9246-76CE-4303-832A-7C869DE1C0CE}" type="pres">
      <dgm:prSet presAssocID="{87C2298B-9F6A-4BAA-AC97-24F97CB60E8A}" presName="negativeSpace" presStyleCnt="0"/>
      <dgm:spPr/>
    </dgm:pt>
    <dgm:pt modelId="{7CE685AE-2737-418C-A148-70D53781C58B}" type="pres">
      <dgm:prSet presAssocID="{87C2298B-9F6A-4BAA-AC97-24F97CB60E8A}" presName="childText" presStyleLbl="conFgAcc1" presStyleIdx="1" presStyleCnt="4">
        <dgm:presLayoutVars>
          <dgm:bulletEnabled val="1"/>
        </dgm:presLayoutVars>
      </dgm:prSet>
      <dgm:spPr/>
    </dgm:pt>
    <dgm:pt modelId="{265E26C0-8D38-43AF-8119-50E62AE07A7E}" type="pres">
      <dgm:prSet presAssocID="{B5D4722E-BB85-4D2A-95F3-3336F61DA3DA}" presName="spaceBetweenRectangles" presStyleCnt="0"/>
      <dgm:spPr/>
    </dgm:pt>
    <dgm:pt modelId="{EC9C217C-1598-4398-ABC0-46532B6CE548}" type="pres">
      <dgm:prSet presAssocID="{C4DF41A7-042F-4E4B-BD40-04B8A95E26A3}" presName="parentLin" presStyleCnt="0"/>
      <dgm:spPr/>
    </dgm:pt>
    <dgm:pt modelId="{048FFAC0-7294-4142-BE70-A1C5F67FEE47}" type="pres">
      <dgm:prSet presAssocID="{C4DF41A7-042F-4E4B-BD40-04B8A95E26A3}" presName="parentLeftMargin" presStyleLbl="node1" presStyleIdx="1" presStyleCnt="4"/>
      <dgm:spPr/>
    </dgm:pt>
    <dgm:pt modelId="{57C5B764-B99E-4C94-ADFE-4836D9CA61F8}" type="pres">
      <dgm:prSet presAssocID="{C4DF41A7-042F-4E4B-BD40-04B8A95E26A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C99B0CF-BFF2-4E76-8307-0D7654A8AAC7}" type="pres">
      <dgm:prSet presAssocID="{C4DF41A7-042F-4E4B-BD40-04B8A95E26A3}" presName="negativeSpace" presStyleCnt="0"/>
      <dgm:spPr/>
    </dgm:pt>
    <dgm:pt modelId="{1B69153D-FB7E-4C02-8536-7B0F5692D9C7}" type="pres">
      <dgm:prSet presAssocID="{C4DF41A7-042F-4E4B-BD40-04B8A95E26A3}" presName="childText" presStyleLbl="conFgAcc1" presStyleIdx="2" presStyleCnt="4">
        <dgm:presLayoutVars>
          <dgm:bulletEnabled val="1"/>
        </dgm:presLayoutVars>
      </dgm:prSet>
      <dgm:spPr/>
    </dgm:pt>
    <dgm:pt modelId="{CFE27C1C-E305-4977-9BD5-9C3342E2BC15}" type="pres">
      <dgm:prSet presAssocID="{877C3048-1FB5-4288-B824-56862EABE2F2}" presName="spaceBetweenRectangles" presStyleCnt="0"/>
      <dgm:spPr/>
    </dgm:pt>
    <dgm:pt modelId="{9CE41565-CE6E-4475-9004-D079B2CF63EB}" type="pres">
      <dgm:prSet presAssocID="{55756C74-7A60-4767-A830-AA28F99DE9A9}" presName="parentLin" presStyleCnt="0"/>
      <dgm:spPr/>
    </dgm:pt>
    <dgm:pt modelId="{E083D8E6-76BF-4E1E-A0F7-F1047A794D5B}" type="pres">
      <dgm:prSet presAssocID="{55756C74-7A60-4767-A830-AA28F99DE9A9}" presName="parentLeftMargin" presStyleLbl="node1" presStyleIdx="2" presStyleCnt="4"/>
      <dgm:spPr/>
    </dgm:pt>
    <dgm:pt modelId="{81CDC548-5E82-40CC-84F4-290CD4D44A60}" type="pres">
      <dgm:prSet presAssocID="{55756C74-7A60-4767-A830-AA28F99DE9A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6956D5DB-85F1-4D99-9914-A04E1CD1A9CE}" type="pres">
      <dgm:prSet presAssocID="{55756C74-7A60-4767-A830-AA28F99DE9A9}" presName="negativeSpace" presStyleCnt="0"/>
      <dgm:spPr/>
    </dgm:pt>
    <dgm:pt modelId="{56A0155B-1FE7-410F-A5D8-35680E5E8312}" type="pres">
      <dgm:prSet presAssocID="{55756C74-7A60-4767-A830-AA28F99DE9A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DE68004-A349-420C-BDEE-81AE63883D27}" srcId="{AD43F70E-C1FA-4BE1-A79D-2A69420E4E0A}" destId="{040BFE97-586B-4EBF-AFD7-9E47D0847071}" srcOrd="0" destOrd="0" parTransId="{BF42C24E-00B7-4348-9397-9043A49E657B}" sibTransId="{529CA64D-8150-42B4-8AB5-2548CD04BCA6}"/>
    <dgm:cxn modelId="{7DB5502F-7CFE-4870-B3B7-3699C6FBC56B}" srcId="{AD43F70E-C1FA-4BE1-A79D-2A69420E4E0A}" destId="{55756C74-7A60-4767-A830-AA28F99DE9A9}" srcOrd="3" destOrd="0" parTransId="{0F579B38-CEFB-4E2C-9C04-D5BFACA0744D}" sibTransId="{6BE5D9FD-7459-4506-93C7-7489B31DFBC6}"/>
    <dgm:cxn modelId="{0320BB30-585E-4BAB-9563-6A76F535E676}" type="presOf" srcId="{55756C74-7A60-4767-A830-AA28F99DE9A9}" destId="{81CDC548-5E82-40CC-84F4-290CD4D44A60}" srcOrd="1" destOrd="0" presId="urn:microsoft.com/office/officeart/2005/8/layout/list1"/>
    <dgm:cxn modelId="{4A92C087-DAD1-4863-824D-8DFD2F8C9034}" type="presOf" srcId="{040BFE97-586B-4EBF-AFD7-9E47D0847071}" destId="{2326D701-CBCF-4FAF-928C-F648B10B26E7}" srcOrd="0" destOrd="0" presId="urn:microsoft.com/office/officeart/2005/8/layout/list1"/>
    <dgm:cxn modelId="{8FD3D289-B365-4C77-8C11-26849FB7E496}" srcId="{AD43F70E-C1FA-4BE1-A79D-2A69420E4E0A}" destId="{87C2298B-9F6A-4BAA-AC97-24F97CB60E8A}" srcOrd="1" destOrd="0" parTransId="{F2580493-3EF7-4B0A-9F4A-675C04887A62}" sibTransId="{B5D4722E-BB85-4D2A-95F3-3336F61DA3DA}"/>
    <dgm:cxn modelId="{F08F098C-8393-4790-A9E4-3EDCF74AD447}" type="presOf" srcId="{87C2298B-9F6A-4BAA-AC97-24F97CB60E8A}" destId="{7D411C53-8323-4816-87BE-C668E14C6E81}" srcOrd="1" destOrd="0" presId="urn:microsoft.com/office/officeart/2005/8/layout/list1"/>
    <dgm:cxn modelId="{2FB7D3B9-9573-4011-9463-0DAE9EFCED6F}" type="presOf" srcId="{AD43F70E-C1FA-4BE1-A79D-2A69420E4E0A}" destId="{F4E427A7-A4CF-43C9-B3BE-3B2F49797BD4}" srcOrd="0" destOrd="0" presId="urn:microsoft.com/office/officeart/2005/8/layout/list1"/>
    <dgm:cxn modelId="{0CF4F5C1-68A9-405D-A11A-43DFA22C2936}" type="presOf" srcId="{55756C74-7A60-4767-A830-AA28F99DE9A9}" destId="{E083D8E6-76BF-4E1E-A0F7-F1047A794D5B}" srcOrd="0" destOrd="0" presId="urn:microsoft.com/office/officeart/2005/8/layout/list1"/>
    <dgm:cxn modelId="{667899C3-CC7C-430D-9455-11A97BF2632F}" srcId="{AD43F70E-C1FA-4BE1-A79D-2A69420E4E0A}" destId="{C4DF41A7-042F-4E4B-BD40-04B8A95E26A3}" srcOrd="2" destOrd="0" parTransId="{A14DCA2D-3126-4C51-B827-20D6C3C36355}" sibTransId="{877C3048-1FB5-4288-B824-56862EABE2F2}"/>
    <dgm:cxn modelId="{DBAB20C4-D200-4CF7-AC9A-15CB50C134DB}" type="presOf" srcId="{040BFE97-586B-4EBF-AFD7-9E47D0847071}" destId="{2C243DF3-0365-49EE-9EB2-F994DA7645C7}" srcOrd="1" destOrd="0" presId="urn:microsoft.com/office/officeart/2005/8/layout/list1"/>
    <dgm:cxn modelId="{47838DCB-E971-4311-88C4-D9372AAE47B1}" type="presOf" srcId="{87C2298B-9F6A-4BAA-AC97-24F97CB60E8A}" destId="{933EFC8B-492A-45EB-845C-006C67DF1744}" srcOrd="0" destOrd="0" presId="urn:microsoft.com/office/officeart/2005/8/layout/list1"/>
    <dgm:cxn modelId="{7FD64BE5-39AB-4C93-8889-158680276B3F}" type="presOf" srcId="{C4DF41A7-042F-4E4B-BD40-04B8A95E26A3}" destId="{57C5B764-B99E-4C94-ADFE-4836D9CA61F8}" srcOrd="1" destOrd="0" presId="urn:microsoft.com/office/officeart/2005/8/layout/list1"/>
    <dgm:cxn modelId="{A09068F6-454C-4BCB-ACF3-0715954C9FD2}" type="presOf" srcId="{C4DF41A7-042F-4E4B-BD40-04B8A95E26A3}" destId="{048FFAC0-7294-4142-BE70-A1C5F67FEE47}" srcOrd="0" destOrd="0" presId="urn:microsoft.com/office/officeart/2005/8/layout/list1"/>
    <dgm:cxn modelId="{1FDAAAC6-3B56-44BB-9B02-C9D7B4BA59A0}" type="presParOf" srcId="{F4E427A7-A4CF-43C9-B3BE-3B2F49797BD4}" destId="{3F6B3DC1-B530-4F05-8D0A-4802C32D0E32}" srcOrd="0" destOrd="0" presId="urn:microsoft.com/office/officeart/2005/8/layout/list1"/>
    <dgm:cxn modelId="{F9025843-8149-4D7A-8F95-78DEF83A1B8D}" type="presParOf" srcId="{3F6B3DC1-B530-4F05-8D0A-4802C32D0E32}" destId="{2326D701-CBCF-4FAF-928C-F648B10B26E7}" srcOrd="0" destOrd="0" presId="urn:microsoft.com/office/officeart/2005/8/layout/list1"/>
    <dgm:cxn modelId="{53649FA8-E05B-4A63-8173-8B7F012EBAD0}" type="presParOf" srcId="{3F6B3DC1-B530-4F05-8D0A-4802C32D0E32}" destId="{2C243DF3-0365-49EE-9EB2-F994DA7645C7}" srcOrd="1" destOrd="0" presId="urn:microsoft.com/office/officeart/2005/8/layout/list1"/>
    <dgm:cxn modelId="{44BA1B83-7B37-4A2F-9AFF-7EAC6A302574}" type="presParOf" srcId="{F4E427A7-A4CF-43C9-B3BE-3B2F49797BD4}" destId="{BB73B880-E79E-486C-BE85-604889A94A2B}" srcOrd="1" destOrd="0" presId="urn:microsoft.com/office/officeart/2005/8/layout/list1"/>
    <dgm:cxn modelId="{690B31BC-BFC4-4D9A-A5C1-4425949AA96D}" type="presParOf" srcId="{F4E427A7-A4CF-43C9-B3BE-3B2F49797BD4}" destId="{96B24622-3DBB-4704-B992-E2CDC6F674FE}" srcOrd="2" destOrd="0" presId="urn:microsoft.com/office/officeart/2005/8/layout/list1"/>
    <dgm:cxn modelId="{4591405B-6D23-4F7B-BA1F-BB6B47048AA0}" type="presParOf" srcId="{F4E427A7-A4CF-43C9-B3BE-3B2F49797BD4}" destId="{4C213FA2-FC8E-421C-82F0-9AE8459F250D}" srcOrd="3" destOrd="0" presId="urn:microsoft.com/office/officeart/2005/8/layout/list1"/>
    <dgm:cxn modelId="{D49DF87D-71C7-4397-950F-580AB1B5EE9E}" type="presParOf" srcId="{F4E427A7-A4CF-43C9-B3BE-3B2F49797BD4}" destId="{D96D3D59-D5E9-4738-82E0-1BD7DC91549F}" srcOrd="4" destOrd="0" presId="urn:microsoft.com/office/officeart/2005/8/layout/list1"/>
    <dgm:cxn modelId="{C069C0EB-E9D4-41AD-8A17-E583EE642081}" type="presParOf" srcId="{D96D3D59-D5E9-4738-82E0-1BD7DC91549F}" destId="{933EFC8B-492A-45EB-845C-006C67DF1744}" srcOrd="0" destOrd="0" presId="urn:microsoft.com/office/officeart/2005/8/layout/list1"/>
    <dgm:cxn modelId="{04EE6F20-738D-4C7C-A067-4647E0FBDF29}" type="presParOf" srcId="{D96D3D59-D5E9-4738-82E0-1BD7DC91549F}" destId="{7D411C53-8323-4816-87BE-C668E14C6E81}" srcOrd="1" destOrd="0" presId="urn:microsoft.com/office/officeart/2005/8/layout/list1"/>
    <dgm:cxn modelId="{FCA56C15-79B2-4CA6-8A0E-F37B02C66903}" type="presParOf" srcId="{F4E427A7-A4CF-43C9-B3BE-3B2F49797BD4}" destId="{0D2C9246-76CE-4303-832A-7C869DE1C0CE}" srcOrd="5" destOrd="0" presId="urn:microsoft.com/office/officeart/2005/8/layout/list1"/>
    <dgm:cxn modelId="{BBD9B37E-43C2-49AC-AC2D-56A3F87634D7}" type="presParOf" srcId="{F4E427A7-A4CF-43C9-B3BE-3B2F49797BD4}" destId="{7CE685AE-2737-418C-A148-70D53781C58B}" srcOrd="6" destOrd="0" presId="urn:microsoft.com/office/officeart/2005/8/layout/list1"/>
    <dgm:cxn modelId="{36DF8E22-9811-4654-8A5C-797821CD8906}" type="presParOf" srcId="{F4E427A7-A4CF-43C9-B3BE-3B2F49797BD4}" destId="{265E26C0-8D38-43AF-8119-50E62AE07A7E}" srcOrd="7" destOrd="0" presId="urn:microsoft.com/office/officeart/2005/8/layout/list1"/>
    <dgm:cxn modelId="{C44139A3-922F-4B00-83B1-1431EE9EA83C}" type="presParOf" srcId="{F4E427A7-A4CF-43C9-B3BE-3B2F49797BD4}" destId="{EC9C217C-1598-4398-ABC0-46532B6CE548}" srcOrd="8" destOrd="0" presId="urn:microsoft.com/office/officeart/2005/8/layout/list1"/>
    <dgm:cxn modelId="{0DF5E8F3-9466-44B6-B23A-380F2A1C4718}" type="presParOf" srcId="{EC9C217C-1598-4398-ABC0-46532B6CE548}" destId="{048FFAC0-7294-4142-BE70-A1C5F67FEE47}" srcOrd="0" destOrd="0" presId="urn:microsoft.com/office/officeart/2005/8/layout/list1"/>
    <dgm:cxn modelId="{4A62C87E-E84B-4441-935F-BCB41DD6EEFF}" type="presParOf" srcId="{EC9C217C-1598-4398-ABC0-46532B6CE548}" destId="{57C5B764-B99E-4C94-ADFE-4836D9CA61F8}" srcOrd="1" destOrd="0" presId="urn:microsoft.com/office/officeart/2005/8/layout/list1"/>
    <dgm:cxn modelId="{B4D03963-656C-471F-830D-BD9EE007F41F}" type="presParOf" srcId="{F4E427A7-A4CF-43C9-B3BE-3B2F49797BD4}" destId="{7C99B0CF-BFF2-4E76-8307-0D7654A8AAC7}" srcOrd="9" destOrd="0" presId="urn:microsoft.com/office/officeart/2005/8/layout/list1"/>
    <dgm:cxn modelId="{3699B9FF-0C6E-40DD-AED1-972D5938C268}" type="presParOf" srcId="{F4E427A7-A4CF-43C9-B3BE-3B2F49797BD4}" destId="{1B69153D-FB7E-4C02-8536-7B0F5692D9C7}" srcOrd="10" destOrd="0" presId="urn:microsoft.com/office/officeart/2005/8/layout/list1"/>
    <dgm:cxn modelId="{1B9A5AE6-3200-4806-A1A8-F723F6257E6B}" type="presParOf" srcId="{F4E427A7-A4CF-43C9-B3BE-3B2F49797BD4}" destId="{CFE27C1C-E305-4977-9BD5-9C3342E2BC15}" srcOrd="11" destOrd="0" presId="urn:microsoft.com/office/officeart/2005/8/layout/list1"/>
    <dgm:cxn modelId="{BBBB8E55-8636-4271-B7AD-6257D3C4043F}" type="presParOf" srcId="{F4E427A7-A4CF-43C9-B3BE-3B2F49797BD4}" destId="{9CE41565-CE6E-4475-9004-D079B2CF63EB}" srcOrd="12" destOrd="0" presId="urn:microsoft.com/office/officeart/2005/8/layout/list1"/>
    <dgm:cxn modelId="{A7F2199B-34BA-45A3-A5E4-69BCDF85EF45}" type="presParOf" srcId="{9CE41565-CE6E-4475-9004-D079B2CF63EB}" destId="{E083D8E6-76BF-4E1E-A0F7-F1047A794D5B}" srcOrd="0" destOrd="0" presId="urn:microsoft.com/office/officeart/2005/8/layout/list1"/>
    <dgm:cxn modelId="{1B7087BF-B11E-48BD-856F-60F9C0B644D5}" type="presParOf" srcId="{9CE41565-CE6E-4475-9004-D079B2CF63EB}" destId="{81CDC548-5E82-40CC-84F4-290CD4D44A60}" srcOrd="1" destOrd="0" presId="urn:microsoft.com/office/officeart/2005/8/layout/list1"/>
    <dgm:cxn modelId="{BCFB120E-D3B2-4D0F-AABD-7FC32F021217}" type="presParOf" srcId="{F4E427A7-A4CF-43C9-B3BE-3B2F49797BD4}" destId="{6956D5DB-85F1-4D99-9914-A04E1CD1A9CE}" srcOrd="13" destOrd="0" presId="urn:microsoft.com/office/officeart/2005/8/layout/list1"/>
    <dgm:cxn modelId="{233A1B44-9679-437B-BEC7-EF1F3A346BA9}" type="presParOf" srcId="{F4E427A7-A4CF-43C9-B3BE-3B2F49797BD4}" destId="{56A0155B-1FE7-410F-A5D8-35680E5E8312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D43F70E-C1FA-4BE1-A79D-2A69420E4E0A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40BFE97-586B-4EBF-AFD7-9E47D0847071}">
      <dgm:prSet phldrT="[Text]"/>
      <dgm:spPr/>
      <dgm:t>
        <a:bodyPr/>
        <a:lstStyle/>
        <a:p>
          <a:r>
            <a:rPr lang="en-US" altLang="en-US" b="1" dirty="0">
              <a:solidFill>
                <a:schemeClr val="bg1"/>
              </a:solidFill>
            </a:rPr>
            <a:t>Mutual Exclusion</a:t>
          </a:r>
          <a:r>
            <a:rPr lang="en-US" altLang="en-US" dirty="0">
              <a:solidFill>
                <a:schemeClr val="bg1"/>
              </a:solidFill>
            </a:rPr>
            <a:t>:</a:t>
          </a:r>
          <a:endParaRPr lang="en-US" dirty="0">
            <a:solidFill>
              <a:schemeClr val="bg1"/>
            </a:solidFill>
          </a:endParaRPr>
        </a:p>
      </dgm:t>
    </dgm:pt>
    <dgm:pt modelId="{BF42C24E-00B7-4348-9397-9043A49E657B}" type="parTrans" cxnId="{ADE68004-A349-420C-BDEE-81AE63883D27}">
      <dgm:prSet/>
      <dgm:spPr/>
      <dgm:t>
        <a:bodyPr/>
        <a:lstStyle/>
        <a:p>
          <a:endParaRPr lang="en-US"/>
        </a:p>
      </dgm:t>
    </dgm:pt>
    <dgm:pt modelId="{529CA64D-8150-42B4-8AB5-2548CD04BCA6}" type="sibTrans" cxnId="{ADE68004-A349-420C-BDEE-81AE63883D27}">
      <dgm:prSet/>
      <dgm:spPr/>
      <dgm:t>
        <a:bodyPr/>
        <a:lstStyle/>
        <a:p>
          <a:endParaRPr lang="en-US"/>
        </a:p>
      </dgm:t>
    </dgm:pt>
    <dgm:pt modelId="{C4DF41A7-042F-4E4B-BD40-04B8A95E26A3}">
      <dgm:prSet/>
      <dgm:spPr/>
      <dgm:t>
        <a:bodyPr/>
        <a:lstStyle/>
        <a:p>
          <a:r>
            <a:rPr lang="en-US" altLang="en-US" b="1" dirty="0">
              <a:solidFill>
                <a:schemeClr val="bg1"/>
              </a:solidFill>
            </a:rPr>
            <a:t>Bounded Wait:</a:t>
          </a:r>
        </a:p>
      </dgm:t>
    </dgm:pt>
    <dgm:pt modelId="{A14DCA2D-3126-4C51-B827-20D6C3C36355}" type="parTrans" cxnId="{667899C3-CC7C-430D-9455-11A97BF2632F}">
      <dgm:prSet/>
      <dgm:spPr/>
      <dgm:t>
        <a:bodyPr/>
        <a:lstStyle/>
        <a:p>
          <a:endParaRPr lang="en-US"/>
        </a:p>
      </dgm:t>
    </dgm:pt>
    <dgm:pt modelId="{877C3048-1FB5-4288-B824-56862EABE2F2}" type="sibTrans" cxnId="{667899C3-CC7C-430D-9455-11A97BF2632F}">
      <dgm:prSet/>
      <dgm:spPr/>
      <dgm:t>
        <a:bodyPr/>
        <a:lstStyle/>
        <a:p>
          <a:endParaRPr lang="en-US"/>
        </a:p>
      </dgm:t>
    </dgm:pt>
    <dgm:pt modelId="{55756C74-7A60-4767-A830-AA28F99DE9A9}">
      <dgm:prSet/>
      <dgm:spPr/>
      <dgm:t>
        <a:bodyPr/>
        <a:lstStyle/>
        <a:p>
          <a:r>
            <a:rPr lang="en-US" altLang="en-US" b="1" dirty="0">
              <a:solidFill>
                <a:schemeClr val="bg1"/>
              </a:solidFill>
            </a:rPr>
            <a:t>Independence:</a:t>
          </a:r>
        </a:p>
      </dgm:t>
    </dgm:pt>
    <dgm:pt modelId="{0F579B38-CEFB-4E2C-9C04-D5BFACA0744D}" type="parTrans" cxnId="{7DB5502F-7CFE-4870-B3B7-3699C6FBC56B}">
      <dgm:prSet/>
      <dgm:spPr/>
      <dgm:t>
        <a:bodyPr/>
        <a:lstStyle/>
        <a:p>
          <a:endParaRPr lang="en-US"/>
        </a:p>
      </dgm:t>
    </dgm:pt>
    <dgm:pt modelId="{6BE5D9FD-7459-4506-93C7-7489B31DFBC6}" type="sibTrans" cxnId="{7DB5502F-7CFE-4870-B3B7-3699C6FBC56B}">
      <dgm:prSet/>
      <dgm:spPr/>
      <dgm:t>
        <a:bodyPr/>
        <a:lstStyle/>
        <a:p>
          <a:endParaRPr lang="en-US"/>
        </a:p>
      </dgm:t>
    </dgm:pt>
    <dgm:pt modelId="{87C2298B-9F6A-4BAA-AC97-24F97CB60E8A}">
      <dgm:prSet/>
      <dgm:spPr/>
      <dgm:t>
        <a:bodyPr/>
        <a:lstStyle/>
        <a:p>
          <a:r>
            <a:rPr lang="en-US" altLang="en-US" b="1" dirty="0">
              <a:solidFill>
                <a:schemeClr val="bg1"/>
              </a:solidFill>
            </a:rPr>
            <a:t>Progress:</a:t>
          </a:r>
        </a:p>
      </dgm:t>
    </dgm:pt>
    <dgm:pt modelId="{B5D4722E-BB85-4D2A-95F3-3336F61DA3DA}" type="sibTrans" cxnId="{8FD3D289-B365-4C77-8C11-26849FB7E496}">
      <dgm:prSet/>
      <dgm:spPr/>
      <dgm:t>
        <a:bodyPr/>
        <a:lstStyle/>
        <a:p>
          <a:endParaRPr lang="en-US"/>
        </a:p>
      </dgm:t>
    </dgm:pt>
    <dgm:pt modelId="{F2580493-3EF7-4B0A-9F4A-675C04887A62}" type="parTrans" cxnId="{8FD3D289-B365-4C77-8C11-26849FB7E496}">
      <dgm:prSet/>
      <dgm:spPr/>
      <dgm:t>
        <a:bodyPr/>
        <a:lstStyle/>
        <a:p>
          <a:endParaRPr lang="en-US"/>
        </a:p>
      </dgm:t>
    </dgm:pt>
    <dgm:pt modelId="{F4E427A7-A4CF-43C9-B3BE-3B2F49797BD4}" type="pres">
      <dgm:prSet presAssocID="{AD43F70E-C1FA-4BE1-A79D-2A69420E4E0A}" presName="linear" presStyleCnt="0">
        <dgm:presLayoutVars>
          <dgm:dir/>
          <dgm:animLvl val="lvl"/>
          <dgm:resizeHandles val="exact"/>
        </dgm:presLayoutVars>
      </dgm:prSet>
      <dgm:spPr/>
    </dgm:pt>
    <dgm:pt modelId="{3F6B3DC1-B530-4F05-8D0A-4802C32D0E32}" type="pres">
      <dgm:prSet presAssocID="{040BFE97-586B-4EBF-AFD7-9E47D0847071}" presName="parentLin" presStyleCnt="0"/>
      <dgm:spPr/>
    </dgm:pt>
    <dgm:pt modelId="{2326D701-CBCF-4FAF-928C-F648B10B26E7}" type="pres">
      <dgm:prSet presAssocID="{040BFE97-586B-4EBF-AFD7-9E47D0847071}" presName="parentLeftMargin" presStyleLbl="node1" presStyleIdx="0" presStyleCnt="4"/>
      <dgm:spPr/>
    </dgm:pt>
    <dgm:pt modelId="{2C243DF3-0365-49EE-9EB2-F994DA7645C7}" type="pres">
      <dgm:prSet presAssocID="{040BFE97-586B-4EBF-AFD7-9E47D084707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B73B880-E79E-486C-BE85-604889A94A2B}" type="pres">
      <dgm:prSet presAssocID="{040BFE97-586B-4EBF-AFD7-9E47D0847071}" presName="negativeSpace" presStyleCnt="0"/>
      <dgm:spPr/>
    </dgm:pt>
    <dgm:pt modelId="{96B24622-3DBB-4704-B992-E2CDC6F674FE}" type="pres">
      <dgm:prSet presAssocID="{040BFE97-586B-4EBF-AFD7-9E47D0847071}" presName="childText" presStyleLbl="conFgAcc1" presStyleIdx="0" presStyleCnt="4">
        <dgm:presLayoutVars>
          <dgm:bulletEnabled val="1"/>
        </dgm:presLayoutVars>
      </dgm:prSet>
      <dgm:spPr/>
    </dgm:pt>
    <dgm:pt modelId="{4C213FA2-FC8E-421C-82F0-9AE8459F250D}" type="pres">
      <dgm:prSet presAssocID="{529CA64D-8150-42B4-8AB5-2548CD04BCA6}" presName="spaceBetweenRectangles" presStyleCnt="0"/>
      <dgm:spPr/>
    </dgm:pt>
    <dgm:pt modelId="{D96D3D59-D5E9-4738-82E0-1BD7DC91549F}" type="pres">
      <dgm:prSet presAssocID="{87C2298B-9F6A-4BAA-AC97-24F97CB60E8A}" presName="parentLin" presStyleCnt="0"/>
      <dgm:spPr/>
    </dgm:pt>
    <dgm:pt modelId="{933EFC8B-492A-45EB-845C-006C67DF1744}" type="pres">
      <dgm:prSet presAssocID="{87C2298B-9F6A-4BAA-AC97-24F97CB60E8A}" presName="parentLeftMargin" presStyleLbl="node1" presStyleIdx="0" presStyleCnt="4"/>
      <dgm:spPr/>
    </dgm:pt>
    <dgm:pt modelId="{7D411C53-8323-4816-87BE-C668E14C6E81}" type="pres">
      <dgm:prSet presAssocID="{87C2298B-9F6A-4BAA-AC97-24F97CB60E8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D2C9246-76CE-4303-832A-7C869DE1C0CE}" type="pres">
      <dgm:prSet presAssocID="{87C2298B-9F6A-4BAA-AC97-24F97CB60E8A}" presName="negativeSpace" presStyleCnt="0"/>
      <dgm:spPr/>
    </dgm:pt>
    <dgm:pt modelId="{7CE685AE-2737-418C-A148-70D53781C58B}" type="pres">
      <dgm:prSet presAssocID="{87C2298B-9F6A-4BAA-AC97-24F97CB60E8A}" presName="childText" presStyleLbl="conFgAcc1" presStyleIdx="1" presStyleCnt="4">
        <dgm:presLayoutVars>
          <dgm:bulletEnabled val="1"/>
        </dgm:presLayoutVars>
      </dgm:prSet>
      <dgm:spPr/>
    </dgm:pt>
    <dgm:pt modelId="{265E26C0-8D38-43AF-8119-50E62AE07A7E}" type="pres">
      <dgm:prSet presAssocID="{B5D4722E-BB85-4D2A-95F3-3336F61DA3DA}" presName="spaceBetweenRectangles" presStyleCnt="0"/>
      <dgm:spPr/>
    </dgm:pt>
    <dgm:pt modelId="{EC9C217C-1598-4398-ABC0-46532B6CE548}" type="pres">
      <dgm:prSet presAssocID="{C4DF41A7-042F-4E4B-BD40-04B8A95E26A3}" presName="parentLin" presStyleCnt="0"/>
      <dgm:spPr/>
    </dgm:pt>
    <dgm:pt modelId="{048FFAC0-7294-4142-BE70-A1C5F67FEE47}" type="pres">
      <dgm:prSet presAssocID="{C4DF41A7-042F-4E4B-BD40-04B8A95E26A3}" presName="parentLeftMargin" presStyleLbl="node1" presStyleIdx="1" presStyleCnt="4"/>
      <dgm:spPr/>
    </dgm:pt>
    <dgm:pt modelId="{57C5B764-B99E-4C94-ADFE-4836D9CA61F8}" type="pres">
      <dgm:prSet presAssocID="{C4DF41A7-042F-4E4B-BD40-04B8A95E26A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C99B0CF-BFF2-4E76-8307-0D7654A8AAC7}" type="pres">
      <dgm:prSet presAssocID="{C4DF41A7-042F-4E4B-BD40-04B8A95E26A3}" presName="negativeSpace" presStyleCnt="0"/>
      <dgm:spPr/>
    </dgm:pt>
    <dgm:pt modelId="{1B69153D-FB7E-4C02-8536-7B0F5692D9C7}" type="pres">
      <dgm:prSet presAssocID="{C4DF41A7-042F-4E4B-BD40-04B8A95E26A3}" presName="childText" presStyleLbl="conFgAcc1" presStyleIdx="2" presStyleCnt="4">
        <dgm:presLayoutVars>
          <dgm:bulletEnabled val="1"/>
        </dgm:presLayoutVars>
      </dgm:prSet>
      <dgm:spPr/>
    </dgm:pt>
    <dgm:pt modelId="{CFE27C1C-E305-4977-9BD5-9C3342E2BC15}" type="pres">
      <dgm:prSet presAssocID="{877C3048-1FB5-4288-B824-56862EABE2F2}" presName="spaceBetweenRectangles" presStyleCnt="0"/>
      <dgm:spPr/>
    </dgm:pt>
    <dgm:pt modelId="{9CE41565-CE6E-4475-9004-D079B2CF63EB}" type="pres">
      <dgm:prSet presAssocID="{55756C74-7A60-4767-A830-AA28F99DE9A9}" presName="parentLin" presStyleCnt="0"/>
      <dgm:spPr/>
    </dgm:pt>
    <dgm:pt modelId="{E083D8E6-76BF-4E1E-A0F7-F1047A794D5B}" type="pres">
      <dgm:prSet presAssocID="{55756C74-7A60-4767-A830-AA28F99DE9A9}" presName="parentLeftMargin" presStyleLbl="node1" presStyleIdx="2" presStyleCnt="4"/>
      <dgm:spPr/>
    </dgm:pt>
    <dgm:pt modelId="{81CDC548-5E82-40CC-84F4-290CD4D44A60}" type="pres">
      <dgm:prSet presAssocID="{55756C74-7A60-4767-A830-AA28F99DE9A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6956D5DB-85F1-4D99-9914-A04E1CD1A9CE}" type="pres">
      <dgm:prSet presAssocID="{55756C74-7A60-4767-A830-AA28F99DE9A9}" presName="negativeSpace" presStyleCnt="0"/>
      <dgm:spPr/>
    </dgm:pt>
    <dgm:pt modelId="{56A0155B-1FE7-410F-A5D8-35680E5E8312}" type="pres">
      <dgm:prSet presAssocID="{55756C74-7A60-4767-A830-AA28F99DE9A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DE68004-A349-420C-BDEE-81AE63883D27}" srcId="{AD43F70E-C1FA-4BE1-A79D-2A69420E4E0A}" destId="{040BFE97-586B-4EBF-AFD7-9E47D0847071}" srcOrd="0" destOrd="0" parTransId="{BF42C24E-00B7-4348-9397-9043A49E657B}" sibTransId="{529CA64D-8150-42B4-8AB5-2548CD04BCA6}"/>
    <dgm:cxn modelId="{7DB5502F-7CFE-4870-B3B7-3699C6FBC56B}" srcId="{AD43F70E-C1FA-4BE1-A79D-2A69420E4E0A}" destId="{55756C74-7A60-4767-A830-AA28F99DE9A9}" srcOrd="3" destOrd="0" parTransId="{0F579B38-CEFB-4E2C-9C04-D5BFACA0744D}" sibTransId="{6BE5D9FD-7459-4506-93C7-7489B31DFBC6}"/>
    <dgm:cxn modelId="{B16DE04A-2084-4DAC-ACFE-2204E0467E26}" type="presOf" srcId="{040BFE97-586B-4EBF-AFD7-9E47D0847071}" destId="{2326D701-CBCF-4FAF-928C-F648B10B26E7}" srcOrd="0" destOrd="0" presId="urn:microsoft.com/office/officeart/2005/8/layout/list1"/>
    <dgm:cxn modelId="{CBECD757-667B-442C-A8E0-A5565B537C62}" type="presOf" srcId="{87C2298B-9F6A-4BAA-AC97-24F97CB60E8A}" destId="{7D411C53-8323-4816-87BE-C668E14C6E81}" srcOrd="1" destOrd="0" presId="urn:microsoft.com/office/officeart/2005/8/layout/list1"/>
    <dgm:cxn modelId="{1DB71A64-6094-418A-B7B2-22DBD7E2E9A7}" type="presOf" srcId="{55756C74-7A60-4767-A830-AA28F99DE9A9}" destId="{81CDC548-5E82-40CC-84F4-290CD4D44A60}" srcOrd="1" destOrd="0" presId="urn:microsoft.com/office/officeart/2005/8/layout/list1"/>
    <dgm:cxn modelId="{8FD3D289-B365-4C77-8C11-26849FB7E496}" srcId="{AD43F70E-C1FA-4BE1-A79D-2A69420E4E0A}" destId="{87C2298B-9F6A-4BAA-AC97-24F97CB60E8A}" srcOrd="1" destOrd="0" parTransId="{F2580493-3EF7-4B0A-9F4A-675C04887A62}" sibTransId="{B5D4722E-BB85-4D2A-95F3-3336F61DA3DA}"/>
    <dgm:cxn modelId="{32FA61B6-2F86-4D27-A877-717C75EF311D}" type="presOf" srcId="{C4DF41A7-042F-4E4B-BD40-04B8A95E26A3}" destId="{57C5B764-B99E-4C94-ADFE-4836D9CA61F8}" srcOrd="1" destOrd="0" presId="urn:microsoft.com/office/officeart/2005/8/layout/list1"/>
    <dgm:cxn modelId="{667899C3-CC7C-430D-9455-11A97BF2632F}" srcId="{AD43F70E-C1FA-4BE1-A79D-2A69420E4E0A}" destId="{C4DF41A7-042F-4E4B-BD40-04B8A95E26A3}" srcOrd="2" destOrd="0" parTransId="{A14DCA2D-3126-4C51-B827-20D6C3C36355}" sibTransId="{877C3048-1FB5-4288-B824-56862EABE2F2}"/>
    <dgm:cxn modelId="{F8F2D0C9-97CB-4682-8D5F-74A89241D5BE}" type="presOf" srcId="{55756C74-7A60-4767-A830-AA28F99DE9A9}" destId="{E083D8E6-76BF-4E1E-A0F7-F1047A794D5B}" srcOrd="0" destOrd="0" presId="urn:microsoft.com/office/officeart/2005/8/layout/list1"/>
    <dgm:cxn modelId="{9C0DA1F0-BD9F-46AF-971E-95D19282AAE7}" type="presOf" srcId="{87C2298B-9F6A-4BAA-AC97-24F97CB60E8A}" destId="{933EFC8B-492A-45EB-845C-006C67DF1744}" srcOrd="0" destOrd="0" presId="urn:microsoft.com/office/officeart/2005/8/layout/list1"/>
    <dgm:cxn modelId="{072112F1-90CA-417E-BFFE-19D98CB88B81}" type="presOf" srcId="{040BFE97-586B-4EBF-AFD7-9E47D0847071}" destId="{2C243DF3-0365-49EE-9EB2-F994DA7645C7}" srcOrd="1" destOrd="0" presId="urn:microsoft.com/office/officeart/2005/8/layout/list1"/>
    <dgm:cxn modelId="{A4D8A6F5-2FAD-4B49-B47F-28570BBB6EC8}" type="presOf" srcId="{C4DF41A7-042F-4E4B-BD40-04B8A95E26A3}" destId="{048FFAC0-7294-4142-BE70-A1C5F67FEE47}" srcOrd="0" destOrd="0" presId="urn:microsoft.com/office/officeart/2005/8/layout/list1"/>
    <dgm:cxn modelId="{F3F827F6-3D22-4904-A2A5-B03536EB799E}" type="presOf" srcId="{AD43F70E-C1FA-4BE1-A79D-2A69420E4E0A}" destId="{F4E427A7-A4CF-43C9-B3BE-3B2F49797BD4}" srcOrd="0" destOrd="0" presId="urn:microsoft.com/office/officeart/2005/8/layout/list1"/>
    <dgm:cxn modelId="{D361E14F-1DC4-45AD-AB45-2D6ED70EFC78}" type="presParOf" srcId="{F4E427A7-A4CF-43C9-B3BE-3B2F49797BD4}" destId="{3F6B3DC1-B530-4F05-8D0A-4802C32D0E32}" srcOrd="0" destOrd="0" presId="urn:microsoft.com/office/officeart/2005/8/layout/list1"/>
    <dgm:cxn modelId="{802E08A6-24F7-42E4-8195-3B891F980E1C}" type="presParOf" srcId="{3F6B3DC1-B530-4F05-8D0A-4802C32D0E32}" destId="{2326D701-CBCF-4FAF-928C-F648B10B26E7}" srcOrd="0" destOrd="0" presId="urn:microsoft.com/office/officeart/2005/8/layout/list1"/>
    <dgm:cxn modelId="{F8131B2E-C503-472A-A012-BCF71DAA88F6}" type="presParOf" srcId="{3F6B3DC1-B530-4F05-8D0A-4802C32D0E32}" destId="{2C243DF3-0365-49EE-9EB2-F994DA7645C7}" srcOrd="1" destOrd="0" presId="urn:microsoft.com/office/officeart/2005/8/layout/list1"/>
    <dgm:cxn modelId="{ED303F44-937A-4C20-8BBD-32B262FF1ED9}" type="presParOf" srcId="{F4E427A7-A4CF-43C9-B3BE-3B2F49797BD4}" destId="{BB73B880-E79E-486C-BE85-604889A94A2B}" srcOrd="1" destOrd="0" presId="urn:microsoft.com/office/officeart/2005/8/layout/list1"/>
    <dgm:cxn modelId="{28F307F7-7F61-4958-9DE0-B8F24F719BF6}" type="presParOf" srcId="{F4E427A7-A4CF-43C9-B3BE-3B2F49797BD4}" destId="{96B24622-3DBB-4704-B992-E2CDC6F674FE}" srcOrd="2" destOrd="0" presId="urn:microsoft.com/office/officeart/2005/8/layout/list1"/>
    <dgm:cxn modelId="{58B35630-9DA1-4B5A-9175-B12DE2B55DA1}" type="presParOf" srcId="{F4E427A7-A4CF-43C9-B3BE-3B2F49797BD4}" destId="{4C213FA2-FC8E-421C-82F0-9AE8459F250D}" srcOrd="3" destOrd="0" presId="urn:microsoft.com/office/officeart/2005/8/layout/list1"/>
    <dgm:cxn modelId="{A2BCD589-CF64-4F11-A782-074F5B208872}" type="presParOf" srcId="{F4E427A7-A4CF-43C9-B3BE-3B2F49797BD4}" destId="{D96D3D59-D5E9-4738-82E0-1BD7DC91549F}" srcOrd="4" destOrd="0" presId="urn:microsoft.com/office/officeart/2005/8/layout/list1"/>
    <dgm:cxn modelId="{5F673584-61FE-48FE-9115-6A77CA0D7E33}" type="presParOf" srcId="{D96D3D59-D5E9-4738-82E0-1BD7DC91549F}" destId="{933EFC8B-492A-45EB-845C-006C67DF1744}" srcOrd="0" destOrd="0" presId="urn:microsoft.com/office/officeart/2005/8/layout/list1"/>
    <dgm:cxn modelId="{D215EC50-E1FE-4918-AB8B-47D6B88F35DA}" type="presParOf" srcId="{D96D3D59-D5E9-4738-82E0-1BD7DC91549F}" destId="{7D411C53-8323-4816-87BE-C668E14C6E81}" srcOrd="1" destOrd="0" presId="urn:microsoft.com/office/officeart/2005/8/layout/list1"/>
    <dgm:cxn modelId="{29469660-0F79-4199-80C6-DA588E50610A}" type="presParOf" srcId="{F4E427A7-A4CF-43C9-B3BE-3B2F49797BD4}" destId="{0D2C9246-76CE-4303-832A-7C869DE1C0CE}" srcOrd="5" destOrd="0" presId="urn:microsoft.com/office/officeart/2005/8/layout/list1"/>
    <dgm:cxn modelId="{AD840F0E-754B-49CB-A69B-7ACFDADA215A}" type="presParOf" srcId="{F4E427A7-A4CF-43C9-B3BE-3B2F49797BD4}" destId="{7CE685AE-2737-418C-A148-70D53781C58B}" srcOrd="6" destOrd="0" presId="urn:microsoft.com/office/officeart/2005/8/layout/list1"/>
    <dgm:cxn modelId="{87FA63EB-2D88-4CE8-953F-374B54E1F72B}" type="presParOf" srcId="{F4E427A7-A4CF-43C9-B3BE-3B2F49797BD4}" destId="{265E26C0-8D38-43AF-8119-50E62AE07A7E}" srcOrd="7" destOrd="0" presId="urn:microsoft.com/office/officeart/2005/8/layout/list1"/>
    <dgm:cxn modelId="{7A4AB71D-0A85-4C0C-AFB7-DE4F950F893C}" type="presParOf" srcId="{F4E427A7-A4CF-43C9-B3BE-3B2F49797BD4}" destId="{EC9C217C-1598-4398-ABC0-46532B6CE548}" srcOrd="8" destOrd="0" presId="urn:microsoft.com/office/officeart/2005/8/layout/list1"/>
    <dgm:cxn modelId="{4B14BA7B-8B89-4978-8E69-2B821EF43F09}" type="presParOf" srcId="{EC9C217C-1598-4398-ABC0-46532B6CE548}" destId="{048FFAC0-7294-4142-BE70-A1C5F67FEE47}" srcOrd="0" destOrd="0" presId="urn:microsoft.com/office/officeart/2005/8/layout/list1"/>
    <dgm:cxn modelId="{E367E05D-494A-4B8F-84F3-413D0F06ACEB}" type="presParOf" srcId="{EC9C217C-1598-4398-ABC0-46532B6CE548}" destId="{57C5B764-B99E-4C94-ADFE-4836D9CA61F8}" srcOrd="1" destOrd="0" presId="urn:microsoft.com/office/officeart/2005/8/layout/list1"/>
    <dgm:cxn modelId="{A5D33FE9-0C18-48E3-B535-37112B611835}" type="presParOf" srcId="{F4E427A7-A4CF-43C9-B3BE-3B2F49797BD4}" destId="{7C99B0CF-BFF2-4E76-8307-0D7654A8AAC7}" srcOrd="9" destOrd="0" presId="urn:microsoft.com/office/officeart/2005/8/layout/list1"/>
    <dgm:cxn modelId="{58D73D57-7661-48EB-9FB9-2562A15209C7}" type="presParOf" srcId="{F4E427A7-A4CF-43C9-B3BE-3B2F49797BD4}" destId="{1B69153D-FB7E-4C02-8536-7B0F5692D9C7}" srcOrd="10" destOrd="0" presId="urn:microsoft.com/office/officeart/2005/8/layout/list1"/>
    <dgm:cxn modelId="{33B999D5-1A75-4C41-82D2-2CE07E0F0185}" type="presParOf" srcId="{F4E427A7-A4CF-43C9-B3BE-3B2F49797BD4}" destId="{CFE27C1C-E305-4977-9BD5-9C3342E2BC15}" srcOrd="11" destOrd="0" presId="urn:microsoft.com/office/officeart/2005/8/layout/list1"/>
    <dgm:cxn modelId="{B9DCFE85-1983-4018-A0E7-03650D3A02BC}" type="presParOf" srcId="{F4E427A7-A4CF-43C9-B3BE-3B2F49797BD4}" destId="{9CE41565-CE6E-4475-9004-D079B2CF63EB}" srcOrd="12" destOrd="0" presId="urn:microsoft.com/office/officeart/2005/8/layout/list1"/>
    <dgm:cxn modelId="{07EF7D3C-2742-48B5-B486-ADE97BF4F619}" type="presParOf" srcId="{9CE41565-CE6E-4475-9004-D079B2CF63EB}" destId="{E083D8E6-76BF-4E1E-A0F7-F1047A794D5B}" srcOrd="0" destOrd="0" presId="urn:microsoft.com/office/officeart/2005/8/layout/list1"/>
    <dgm:cxn modelId="{C243A8DA-48ED-40B7-8F48-77DB0B775422}" type="presParOf" srcId="{9CE41565-CE6E-4475-9004-D079B2CF63EB}" destId="{81CDC548-5E82-40CC-84F4-290CD4D44A60}" srcOrd="1" destOrd="0" presId="urn:microsoft.com/office/officeart/2005/8/layout/list1"/>
    <dgm:cxn modelId="{CB332E51-5E67-47DD-99F0-5B005393D33C}" type="presParOf" srcId="{F4E427A7-A4CF-43C9-B3BE-3B2F49797BD4}" destId="{6956D5DB-85F1-4D99-9914-A04E1CD1A9CE}" srcOrd="13" destOrd="0" presId="urn:microsoft.com/office/officeart/2005/8/layout/list1"/>
    <dgm:cxn modelId="{1D68A46B-E10C-4795-8129-7FDA96AD73FF}" type="presParOf" srcId="{F4E427A7-A4CF-43C9-B3BE-3B2F49797BD4}" destId="{56A0155B-1FE7-410F-A5D8-35680E5E8312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D43F70E-C1FA-4BE1-A79D-2A69420E4E0A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40BFE97-586B-4EBF-AFD7-9E47D0847071}">
      <dgm:prSet phldrT="[Text]"/>
      <dgm:spPr/>
      <dgm:t>
        <a:bodyPr/>
        <a:lstStyle/>
        <a:p>
          <a:r>
            <a:rPr lang="en-US" altLang="en-US" b="1" dirty="0">
              <a:solidFill>
                <a:schemeClr val="bg1"/>
              </a:solidFill>
            </a:rPr>
            <a:t>Mutual Exclusion</a:t>
          </a:r>
          <a:r>
            <a:rPr lang="en-US" altLang="en-US" dirty="0">
              <a:solidFill>
                <a:schemeClr val="bg1"/>
              </a:solidFill>
            </a:rPr>
            <a:t>:</a:t>
          </a:r>
          <a:endParaRPr lang="en-US" dirty="0">
            <a:solidFill>
              <a:schemeClr val="bg1"/>
            </a:solidFill>
          </a:endParaRPr>
        </a:p>
      </dgm:t>
    </dgm:pt>
    <dgm:pt modelId="{BF42C24E-00B7-4348-9397-9043A49E657B}" type="parTrans" cxnId="{ADE68004-A349-420C-BDEE-81AE63883D27}">
      <dgm:prSet/>
      <dgm:spPr/>
      <dgm:t>
        <a:bodyPr/>
        <a:lstStyle/>
        <a:p>
          <a:endParaRPr lang="en-US"/>
        </a:p>
      </dgm:t>
    </dgm:pt>
    <dgm:pt modelId="{529CA64D-8150-42B4-8AB5-2548CD04BCA6}" type="sibTrans" cxnId="{ADE68004-A349-420C-BDEE-81AE63883D27}">
      <dgm:prSet/>
      <dgm:spPr/>
      <dgm:t>
        <a:bodyPr/>
        <a:lstStyle/>
        <a:p>
          <a:endParaRPr lang="en-US"/>
        </a:p>
      </dgm:t>
    </dgm:pt>
    <dgm:pt modelId="{C4DF41A7-042F-4E4B-BD40-04B8A95E26A3}">
      <dgm:prSet/>
      <dgm:spPr/>
      <dgm:t>
        <a:bodyPr/>
        <a:lstStyle/>
        <a:p>
          <a:r>
            <a:rPr lang="en-US" altLang="en-US" b="1" dirty="0">
              <a:solidFill>
                <a:schemeClr val="bg1"/>
              </a:solidFill>
            </a:rPr>
            <a:t>Bounded Wait:</a:t>
          </a:r>
        </a:p>
      </dgm:t>
    </dgm:pt>
    <dgm:pt modelId="{A14DCA2D-3126-4C51-B827-20D6C3C36355}" type="parTrans" cxnId="{667899C3-CC7C-430D-9455-11A97BF2632F}">
      <dgm:prSet/>
      <dgm:spPr/>
      <dgm:t>
        <a:bodyPr/>
        <a:lstStyle/>
        <a:p>
          <a:endParaRPr lang="en-US"/>
        </a:p>
      </dgm:t>
    </dgm:pt>
    <dgm:pt modelId="{877C3048-1FB5-4288-B824-56862EABE2F2}" type="sibTrans" cxnId="{667899C3-CC7C-430D-9455-11A97BF2632F}">
      <dgm:prSet/>
      <dgm:spPr/>
      <dgm:t>
        <a:bodyPr/>
        <a:lstStyle/>
        <a:p>
          <a:endParaRPr lang="en-US"/>
        </a:p>
      </dgm:t>
    </dgm:pt>
    <dgm:pt modelId="{55756C74-7A60-4767-A830-AA28F99DE9A9}">
      <dgm:prSet/>
      <dgm:spPr/>
      <dgm:t>
        <a:bodyPr/>
        <a:lstStyle/>
        <a:p>
          <a:r>
            <a:rPr lang="en-US" altLang="en-US" b="1" dirty="0">
              <a:solidFill>
                <a:schemeClr val="bg1"/>
              </a:solidFill>
            </a:rPr>
            <a:t>Independence:</a:t>
          </a:r>
        </a:p>
      </dgm:t>
    </dgm:pt>
    <dgm:pt modelId="{0F579B38-CEFB-4E2C-9C04-D5BFACA0744D}" type="parTrans" cxnId="{7DB5502F-7CFE-4870-B3B7-3699C6FBC56B}">
      <dgm:prSet/>
      <dgm:spPr/>
      <dgm:t>
        <a:bodyPr/>
        <a:lstStyle/>
        <a:p>
          <a:endParaRPr lang="en-US"/>
        </a:p>
      </dgm:t>
    </dgm:pt>
    <dgm:pt modelId="{6BE5D9FD-7459-4506-93C7-7489B31DFBC6}" type="sibTrans" cxnId="{7DB5502F-7CFE-4870-B3B7-3699C6FBC56B}">
      <dgm:prSet/>
      <dgm:spPr/>
      <dgm:t>
        <a:bodyPr/>
        <a:lstStyle/>
        <a:p>
          <a:endParaRPr lang="en-US"/>
        </a:p>
      </dgm:t>
    </dgm:pt>
    <dgm:pt modelId="{87C2298B-9F6A-4BAA-AC97-24F97CB60E8A}">
      <dgm:prSet/>
      <dgm:spPr/>
      <dgm:t>
        <a:bodyPr/>
        <a:lstStyle/>
        <a:p>
          <a:r>
            <a:rPr lang="en-US" altLang="en-US" b="1" dirty="0">
              <a:solidFill>
                <a:schemeClr val="bg1"/>
              </a:solidFill>
            </a:rPr>
            <a:t>Progress:</a:t>
          </a:r>
        </a:p>
      </dgm:t>
    </dgm:pt>
    <dgm:pt modelId="{B5D4722E-BB85-4D2A-95F3-3336F61DA3DA}" type="sibTrans" cxnId="{8FD3D289-B365-4C77-8C11-26849FB7E496}">
      <dgm:prSet/>
      <dgm:spPr/>
      <dgm:t>
        <a:bodyPr/>
        <a:lstStyle/>
        <a:p>
          <a:endParaRPr lang="en-US"/>
        </a:p>
      </dgm:t>
    </dgm:pt>
    <dgm:pt modelId="{F2580493-3EF7-4B0A-9F4A-675C04887A62}" type="parTrans" cxnId="{8FD3D289-B365-4C77-8C11-26849FB7E496}">
      <dgm:prSet/>
      <dgm:spPr/>
      <dgm:t>
        <a:bodyPr/>
        <a:lstStyle/>
        <a:p>
          <a:endParaRPr lang="en-US"/>
        </a:p>
      </dgm:t>
    </dgm:pt>
    <dgm:pt modelId="{F4E427A7-A4CF-43C9-B3BE-3B2F49797BD4}" type="pres">
      <dgm:prSet presAssocID="{AD43F70E-C1FA-4BE1-A79D-2A69420E4E0A}" presName="linear" presStyleCnt="0">
        <dgm:presLayoutVars>
          <dgm:dir/>
          <dgm:animLvl val="lvl"/>
          <dgm:resizeHandles val="exact"/>
        </dgm:presLayoutVars>
      </dgm:prSet>
      <dgm:spPr/>
    </dgm:pt>
    <dgm:pt modelId="{3F6B3DC1-B530-4F05-8D0A-4802C32D0E32}" type="pres">
      <dgm:prSet presAssocID="{040BFE97-586B-4EBF-AFD7-9E47D0847071}" presName="parentLin" presStyleCnt="0"/>
      <dgm:spPr/>
    </dgm:pt>
    <dgm:pt modelId="{2326D701-CBCF-4FAF-928C-F648B10B26E7}" type="pres">
      <dgm:prSet presAssocID="{040BFE97-586B-4EBF-AFD7-9E47D0847071}" presName="parentLeftMargin" presStyleLbl="node1" presStyleIdx="0" presStyleCnt="4"/>
      <dgm:spPr/>
    </dgm:pt>
    <dgm:pt modelId="{2C243DF3-0365-49EE-9EB2-F994DA7645C7}" type="pres">
      <dgm:prSet presAssocID="{040BFE97-586B-4EBF-AFD7-9E47D084707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B73B880-E79E-486C-BE85-604889A94A2B}" type="pres">
      <dgm:prSet presAssocID="{040BFE97-586B-4EBF-AFD7-9E47D0847071}" presName="negativeSpace" presStyleCnt="0"/>
      <dgm:spPr/>
    </dgm:pt>
    <dgm:pt modelId="{96B24622-3DBB-4704-B992-E2CDC6F674FE}" type="pres">
      <dgm:prSet presAssocID="{040BFE97-586B-4EBF-AFD7-9E47D0847071}" presName="childText" presStyleLbl="conFgAcc1" presStyleIdx="0" presStyleCnt="4">
        <dgm:presLayoutVars>
          <dgm:bulletEnabled val="1"/>
        </dgm:presLayoutVars>
      </dgm:prSet>
      <dgm:spPr/>
    </dgm:pt>
    <dgm:pt modelId="{4C213FA2-FC8E-421C-82F0-9AE8459F250D}" type="pres">
      <dgm:prSet presAssocID="{529CA64D-8150-42B4-8AB5-2548CD04BCA6}" presName="spaceBetweenRectangles" presStyleCnt="0"/>
      <dgm:spPr/>
    </dgm:pt>
    <dgm:pt modelId="{D96D3D59-D5E9-4738-82E0-1BD7DC91549F}" type="pres">
      <dgm:prSet presAssocID="{87C2298B-9F6A-4BAA-AC97-24F97CB60E8A}" presName="parentLin" presStyleCnt="0"/>
      <dgm:spPr/>
    </dgm:pt>
    <dgm:pt modelId="{933EFC8B-492A-45EB-845C-006C67DF1744}" type="pres">
      <dgm:prSet presAssocID="{87C2298B-9F6A-4BAA-AC97-24F97CB60E8A}" presName="parentLeftMargin" presStyleLbl="node1" presStyleIdx="0" presStyleCnt="4"/>
      <dgm:spPr/>
    </dgm:pt>
    <dgm:pt modelId="{7D411C53-8323-4816-87BE-C668E14C6E81}" type="pres">
      <dgm:prSet presAssocID="{87C2298B-9F6A-4BAA-AC97-24F97CB60E8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D2C9246-76CE-4303-832A-7C869DE1C0CE}" type="pres">
      <dgm:prSet presAssocID="{87C2298B-9F6A-4BAA-AC97-24F97CB60E8A}" presName="negativeSpace" presStyleCnt="0"/>
      <dgm:spPr/>
    </dgm:pt>
    <dgm:pt modelId="{7CE685AE-2737-418C-A148-70D53781C58B}" type="pres">
      <dgm:prSet presAssocID="{87C2298B-9F6A-4BAA-AC97-24F97CB60E8A}" presName="childText" presStyleLbl="conFgAcc1" presStyleIdx="1" presStyleCnt="4">
        <dgm:presLayoutVars>
          <dgm:bulletEnabled val="1"/>
        </dgm:presLayoutVars>
      </dgm:prSet>
      <dgm:spPr/>
    </dgm:pt>
    <dgm:pt modelId="{265E26C0-8D38-43AF-8119-50E62AE07A7E}" type="pres">
      <dgm:prSet presAssocID="{B5D4722E-BB85-4D2A-95F3-3336F61DA3DA}" presName="spaceBetweenRectangles" presStyleCnt="0"/>
      <dgm:spPr/>
    </dgm:pt>
    <dgm:pt modelId="{EC9C217C-1598-4398-ABC0-46532B6CE548}" type="pres">
      <dgm:prSet presAssocID="{C4DF41A7-042F-4E4B-BD40-04B8A95E26A3}" presName="parentLin" presStyleCnt="0"/>
      <dgm:spPr/>
    </dgm:pt>
    <dgm:pt modelId="{048FFAC0-7294-4142-BE70-A1C5F67FEE47}" type="pres">
      <dgm:prSet presAssocID="{C4DF41A7-042F-4E4B-BD40-04B8A95E26A3}" presName="parentLeftMargin" presStyleLbl="node1" presStyleIdx="1" presStyleCnt="4"/>
      <dgm:spPr/>
    </dgm:pt>
    <dgm:pt modelId="{57C5B764-B99E-4C94-ADFE-4836D9CA61F8}" type="pres">
      <dgm:prSet presAssocID="{C4DF41A7-042F-4E4B-BD40-04B8A95E26A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C99B0CF-BFF2-4E76-8307-0D7654A8AAC7}" type="pres">
      <dgm:prSet presAssocID="{C4DF41A7-042F-4E4B-BD40-04B8A95E26A3}" presName="negativeSpace" presStyleCnt="0"/>
      <dgm:spPr/>
    </dgm:pt>
    <dgm:pt modelId="{1B69153D-FB7E-4C02-8536-7B0F5692D9C7}" type="pres">
      <dgm:prSet presAssocID="{C4DF41A7-042F-4E4B-BD40-04B8A95E26A3}" presName="childText" presStyleLbl="conFgAcc1" presStyleIdx="2" presStyleCnt="4">
        <dgm:presLayoutVars>
          <dgm:bulletEnabled val="1"/>
        </dgm:presLayoutVars>
      </dgm:prSet>
      <dgm:spPr/>
    </dgm:pt>
    <dgm:pt modelId="{CFE27C1C-E305-4977-9BD5-9C3342E2BC15}" type="pres">
      <dgm:prSet presAssocID="{877C3048-1FB5-4288-B824-56862EABE2F2}" presName="spaceBetweenRectangles" presStyleCnt="0"/>
      <dgm:spPr/>
    </dgm:pt>
    <dgm:pt modelId="{9CE41565-CE6E-4475-9004-D079B2CF63EB}" type="pres">
      <dgm:prSet presAssocID="{55756C74-7A60-4767-A830-AA28F99DE9A9}" presName="parentLin" presStyleCnt="0"/>
      <dgm:spPr/>
    </dgm:pt>
    <dgm:pt modelId="{E083D8E6-76BF-4E1E-A0F7-F1047A794D5B}" type="pres">
      <dgm:prSet presAssocID="{55756C74-7A60-4767-A830-AA28F99DE9A9}" presName="parentLeftMargin" presStyleLbl="node1" presStyleIdx="2" presStyleCnt="4"/>
      <dgm:spPr/>
    </dgm:pt>
    <dgm:pt modelId="{81CDC548-5E82-40CC-84F4-290CD4D44A60}" type="pres">
      <dgm:prSet presAssocID="{55756C74-7A60-4767-A830-AA28F99DE9A9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6956D5DB-85F1-4D99-9914-A04E1CD1A9CE}" type="pres">
      <dgm:prSet presAssocID="{55756C74-7A60-4767-A830-AA28F99DE9A9}" presName="negativeSpace" presStyleCnt="0"/>
      <dgm:spPr/>
    </dgm:pt>
    <dgm:pt modelId="{56A0155B-1FE7-410F-A5D8-35680E5E8312}" type="pres">
      <dgm:prSet presAssocID="{55756C74-7A60-4767-A830-AA28F99DE9A9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6C0B6103-79FD-4F6B-B2A0-8AD40FC034EC}" type="presOf" srcId="{C4DF41A7-042F-4E4B-BD40-04B8A95E26A3}" destId="{57C5B764-B99E-4C94-ADFE-4836D9CA61F8}" srcOrd="1" destOrd="0" presId="urn:microsoft.com/office/officeart/2005/8/layout/list1"/>
    <dgm:cxn modelId="{ADE68004-A349-420C-BDEE-81AE63883D27}" srcId="{AD43F70E-C1FA-4BE1-A79D-2A69420E4E0A}" destId="{040BFE97-586B-4EBF-AFD7-9E47D0847071}" srcOrd="0" destOrd="0" parTransId="{BF42C24E-00B7-4348-9397-9043A49E657B}" sibTransId="{529CA64D-8150-42B4-8AB5-2548CD04BCA6}"/>
    <dgm:cxn modelId="{7DB5502F-7CFE-4870-B3B7-3699C6FBC56B}" srcId="{AD43F70E-C1FA-4BE1-A79D-2A69420E4E0A}" destId="{55756C74-7A60-4767-A830-AA28F99DE9A9}" srcOrd="3" destOrd="0" parTransId="{0F579B38-CEFB-4E2C-9C04-D5BFACA0744D}" sibTransId="{6BE5D9FD-7459-4506-93C7-7489B31DFBC6}"/>
    <dgm:cxn modelId="{4EA5B534-00C6-4824-82ED-CC466FC937BF}" type="presOf" srcId="{87C2298B-9F6A-4BAA-AC97-24F97CB60E8A}" destId="{7D411C53-8323-4816-87BE-C668E14C6E81}" srcOrd="1" destOrd="0" presId="urn:microsoft.com/office/officeart/2005/8/layout/list1"/>
    <dgm:cxn modelId="{3ED7B56F-C6E8-47C2-A229-799B96E3864E}" type="presOf" srcId="{C4DF41A7-042F-4E4B-BD40-04B8A95E26A3}" destId="{048FFAC0-7294-4142-BE70-A1C5F67FEE47}" srcOrd="0" destOrd="0" presId="urn:microsoft.com/office/officeart/2005/8/layout/list1"/>
    <dgm:cxn modelId="{8FD3D289-B365-4C77-8C11-26849FB7E496}" srcId="{AD43F70E-C1FA-4BE1-A79D-2A69420E4E0A}" destId="{87C2298B-9F6A-4BAA-AC97-24F97CB60E8A}" srcOrd="1" destOrd="0" parTransId="{F2580493-3EF7-4B0A-9F4A-675C04887A62}" sibTransId="{B5D4722E-BB85-4D2A-95F3-3336F61DA3DA}"/>
    <dgm:cxn modelId="{E983729A-B3D3-44AC-BB85-C549280EBF5E}" type="presOf" srcId="{55756C74-7A60-4767-A830-AA28F99DE9A9}" destId="{E083D8E6-76BF-4E1E-A0F7-F1047A794D5B}" srcOrd="0" destOrd="0" presId="urn:microsoft.com/office/officeart/2005/8/layout/list1"/>
    <dgm:cxn modelId="{8BD296A1-25F6-446B-B2A6-736A0756504C}" type="presOf" srcId="{87C2298B-9F6A-4BAA-AC97-24F97CB60E8A}" destId="{933EFC8B-492A-45EB-845C-006C67DF1744}" srcOrd="0" destOrd="0" presId="urn:microsoft.com/office/officeart/2005/8/layout/list1"/>
    <dgm:cxn modelId="{AB84C1B2-5D22-4291-9276-D2E4AF1AD20E}" type="presOf" srcId="{040BFE97-586B-4EBF-AFD7-9E47D0847071}" destId="{2326D701-CBCF-4FAF-928C-F648B10B26E7}" srcOrd="0" destOrd="0" presId="urn:microsoft.com/office/officeart/2005/8/layout/list1"/>
    <dgm:cxn modelId="{CC05BDBA-7100-443F-9A58-DFB57E1F3DFA}" type="presOf" srcId="{040BFE97-586B-4EBF-AFD7-9E47D0847071}" destId="{2C243DF3-0365-49EE-9EB2-F994DA7645C7}" srcOrd="1" destOrd="0" presId="urn:microsoft.com/office/officeart/2005/8/layout/list1"/>
    <dgm:cxn modelId="{472033C2-25CB-45E1-B775-37AA25123EFC}" type="presOf" srcId="{55756C74-7A60-4767-A830-AA28F99DE9A9}" destId="{81CDC548-5E82-40CC-84F4-290CD4D44A60}" srcOrd="1" destOrd="0" presId="urn:microsoft.com/office/officeart/2005/8/layout/list1"/>
    <dgm:cxn modelId="{667899C3-CC7C-430D-9455-11A97BF2632F}" srcId="{AD43F70E-C1FA-4BE1-A79D-2A69420E4E0A}" destId="{C4DF41A7-042F-4E4B-BD40-04B8A95E26A3}" srcOrd="2" destOrd="0" parTransId="{A14DCA2D-3126-4C51-B827-20D6C3C36355}" sibTransId="{877C3048-1FB5-4288-B824-56862EABE2F2}"/>
    <dgm:cxn modelId="{085AC9CE-D901-431D-A97A-1C53AC560763}" type="presOf" srcId="{AD43F70E-C1FA-4BE1-A79D-2A69420E4E0A}" destId="{F4E427A7-A4CF-43C9-B3BE-3B2F49797BD4}" srcOrd="0" destOrd="0" presId="urn:microsoft.com/office/officeart/2005/8/layout/list1"/>
    <dgm:cxn modelId="{5EFD676B-10AB-47DD-AF73-1DD08B03E65C}" type="presParOf" srcId="{F4E427A7-A4CF-43C9-B3BE-3B2F49797BD4}" destId="{3F6B3DC1-B530-4F05-8D0A-4802C32D0E32}" srcOrd="0" destOrd="0" presId="urn:microsoft.com/office/officeart/2005/8/layout/list1"/>
    <dgm:cxn modelId="{758E3378-A260-4C7A-B1E6-5A1433354F03}" type="presParOf" srcId="{3F6B3DC1-B530-4F05-8D0A-4802C32D0E32}" destId="{2326D701-CBCF-4FAF-928C-F648B10B26E7}" srcOrd="0" destOrd="0" presId="urn:microsoft.com/office/officeart/2005/8/layout/list1"/>
    <dgm:cxn modelId="{F30FF579-B3B9-4BF5-BEEE-74BF81136C08}" type="presParOf" srcId="{3F6B3DC1-B530-4F05-8D0A-4802C32D0E32}" destId="{2C243DF3-0365-49EE-9EB2-F994DA7645C7}" srcOrd="1" destOrd="0" presId="urn:microsoft.com/office/officeart/2005/8/layout/list1"/>
    <dgm:cxn modelId="{1A1676B0-3937-4544-8AB4-1697E2CAD5EF}" type="presParOf" srcId="{F4E427A7-A4CF-43C9-B3BE-3B2F49797BD4}" destId="{BB73B880-E79E-486C-BE85-604889A94A2B}" srcOrd="1" destOrd="0" presId="urn:microsoft.com/office/officeart/2005/8/layout/list1"/>
    <dgm:cxn modelId="{FDCA5FF7-6A71-4B06-BA1A-2342866F5715}" type="presParOf" srcId="{F4E427A7-A4CF-43C9-B3BE-3B2F49797BD4}" destId="{96B24622-3DBB-4704-B992-E2CDC6F674FE}" srcOrd="2" destOrd="0" presId="urn:microsoft.com/office/officeart/2005/8/layout/list1"/>
    <dgm:cxn modelId="{508CF034-6E90-4F42-B284-C009F9B7BD5D}" type="presParOf" srcId="{F4E427A7-A4CF-43C9-B3BE-3B2F49797BD4}" destId="{4C213FA2-FC8E-421C-82F0-9AE8459F250D}" srcOrd="3" destOrd="0" presId="urn:microsoft.com/office/officeart/2005/8/layout/list1"/>
    <dgm:cxn modelId="{69EC5631-553B-4D20-A7F1-915248E85487}" type="presParOf" srcId="{F4E427A7-A4CF-43C9-B3BE-3B2F49797BD4}" destId="{D96D3D59-D5E9-4738-82E0-1BD7DC91549F}" srcOrd="4" destOrd="0" presId="urn:microsoft.com/office/officeart/2005/8/layout/list1"/>
    <dgm:cxn modelId="{2FE55515-17B8-4477-8D30-5863B5148180}" type="presParOf" srcId="{D96D3D59-D5E9-4738-82E0-1BD7DC91549F}" destId="{933EFC8B-492A-45EB-845C-006C67DF1744}" srcOrd="0" destOrd="0" presId="urn:microsoft.com/office/officeart/2005/8/layout/list1"/>
    <dgm:cxn modelId="{BCD4A230-4D5E-4C9D-961C-0548646F476A}" type="presParOf" srcId="{D96D3D59-D5E9-4738-82E0-1BD7DC91549F}" destId="{7D411C53-8323-4816-87BE-C668E14C6E81}" srcOrd="1" destOrd="0" presId="urn:microsoft.com/office/officeart/2005/8/layout/list1"/>
    <dgm:cxn modelId="{A2ED9247-8BEF-48CF-8039-78130BD029E7}" type="presParOf" srcId="{F4E427A7-A4CF-43C9-B3BE-3B2F49797BD4}" destId="{0D2C9246-76CE-4303-832A-7C869DE1C0CE}" srcOrd="5" destOrd="0" presId="urn:microsoft.com/office/officeart/2005/8/layout/list1"/>
    <dgm:cxn modelId="{3F59C3F2-B12F-4C4F-9CB3-EEC06CBDDC7E}" type="presParOf" srcId="{F4E427A7-A4CF-43C9-B3BE-3B2F49797BD4}" destId="{7CE685AE-2737-418C-A148-70D53781C58B}" srcOrd="6" destOrd="0" presId="urn:microsoft.com/office/officeart/2005/8/layout/list1"/>
    <dgm:cxn modelId="{C2A786D8-18E6-4588-A30D-1D6BEF0A43B0}" type="presParOf" srcId="{F4E427A7-A4CF-43C9-B3BE-3B2F49797BD4}" destId="{265E26C0-8D38-43AF-8119-50E62AE07A7E}" srcOrd="7" destOrd="0" presId="urn:microsoft.com/office/officeart/2005/8/layout/list1"/>
    <dgm:cxn modelId="{910EF94E-2716-46A1-A63D-089922088AA7}" type="presParOf" srcId="{F4E427A7-A4CF-43C9-B3BE-3B2F49797BD4}" destId="{EC9C217C-1598-4398-ABC0-46532B6CE548}" srcOrd="8" destOrd="0" presId="urn:microsoft.com/office/officeart/2005/8/layout/list1"/>
    <dgm:cxn modelId="{F4480C30-4C85-48B3-AA73-68A19DE65696}" type="presParOf" srcId="{EC9C217C-1598-4398-ABC0-46532B6CE548}" destId="{048FFAC0-7294-4142-BE70-A1C5F67FEE47}" srcOrd="0" destOrd="0" presId="urn:microsoft.com/office/officeart/2005/8/layout/list1"/>
    <dgm:cxn modelId="{96DB9FDD-84C2-4A88-8F4C-CBC185017858}" type="presParOf" srcId="{EC9C217C-1598-4398-ABC0-46532B6CE548}" destId="{57C5B764-B99E-4C94-ADFE-4836D9CA61F8}" srcOrd="1" destOrd="0" presId="urn:microsoft.com/office/officeart/2005/8/layout/list1"/>
    <dgm:cxn modelId="{43E013F8-2562-4C57-85DE-8BAE80E8FB20}" type="presParOf" srcId="{F4E427A7-A4CF-43C9-B3BE-3B2F49797BD4}" destId="{7C99B0CF-BFF2-4E76-8307-0D7654A8AAC7}" srcOrd="9" destOrd="0" presId="urn:microsoft.com/office/officeart/2005/8/layout/list1"/>
    <dgm:cxn modelId="{C88C9CEE-BF36-4674-B98A-5F032E048E07}" type="presParOf" srcId="{F4E427A7-A4CF-43C9-B3BE-3B2F49797BD4}" destId="{1B69153D-FB7E-4C02-8536-7B0F5692D9C7}" srcOrd="10" destOrd="0" presId="urn:microsoft.com/office/officeart/2005/8/layout/list1"/>
    <dgm:cxn modelId="{977C17A7-58AA-4869-8216-75A5015CCA75}" type="presParOf" srcId="{F4E427A7-A4CF-43C9-B3BE-3B2F49797BD4}" destId="{CFE27C1C-E305-4977-9BD5-9C3342E2BC15}" srcOrd="11" destOrd="0" presId="urn:microsoft.com/office/officeart/2005/8/layout/list1"/>
    <dgm:cxn modelId="{7A80679B-A1B9-4DF0-9634-9BCB293973AE}" type="presParOf" srcId="{F4E427A7-A4CF-43C9-B3BE-3B2F49797BD4}" destId="{9CE41565-CE6E-4475-9004-D079B2CF63EB}" srcOrd="12" destOrd="0" presId="urn:microsoft.com/office/officeart/2005/8/layout/list1"/>
    <dgm:cxn modelId="{38E93863-88A3-4B8C-8597-7A019AE27C88}" type="presParOf" srcId="{9CE41565-CE6E-4475-9004-D079B2CF63EB}" destId="{E083D8E6-76BF-4E1E-A0F7-F1047A794D5B}" srcOrd="0" destOrd="0" presId="urn:microsoft.com/office/officeart/2005/8/layout/list1"/>
    <dgm:cxn modelId="{063163EE-6924-4B3E-BAA7-40906BE129BF}" type="presParOf" srcId="{9CE41565-CE6E-4475-9004-D079B2CF63EB}" destId="{81CDC548-5E82-40CC-84F4-290CD4D44A60}" srcOrd="1" destOrd="0" presId="urn:microsoft.com/office/officeart/2005/8/layout/list1"/>
    <dgm:cxn modelId="{20927390-5D68-4AA5-BB24-E8D1B46FE59C}" type="presParOf" srcId="{F4E427A7-A4CF-43C9-B3BE-3B2F49797BD4}" destId="{6956D5DB-85F1-4D99-9914-A04E1CD1A9CE}" srcOrd="13" destOrd="0" presId="urn:microsoft.com/office/officeart/2005/8/layout/list1"/>
    <dgm:cxn modelId="{34F15303-5420-4216-9200-C3EEE7E1A899}" type="presParOf" srcId="{F4E427A7-A4CF-43C9-B3BE-3B2F49797BD4}" destId="{56A0155B-1FE7-410F-A5D8-35680E5E8312}" srcOrd="14" destOrd="0" presId="urn:microsoft.com/office/officeart/2005/8/layout/list1"/>
  </dgm:cxnLst>
  <dgm:bg/>
  <dgm:whole>
    <a:ln w="9525" cap="flat" cmpd="sng" algn="ctr">
      <a:noFill/>
      <a:prstDash val="solid"/>
      <a:round/>
      <a:headEnd type="none" w="med" len="med"/>
      <a:tailEnd type="none" w="med" len="med"/>
    </a:ln>
  </dgm:whole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B24622-3DBB-4704-B992-E2CDC6F674FE}">
      <dsp:nvSpPr>
        <dsp:cNvPr id="0" name=""/>
        <dsp:cNvSpPr/>
      </dsp:nvSpPr>
      <dsp:spPr>
        <a:xfrm>
          <a:off x="0" y="281579"/>
          <a:ext cx="8153400" cy="963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2794" tIns="354076" rIns="63279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700" kern="1200" dirty="0"/>
            <a:t>If process </a:t>
          </a:r>
          <a:r>
            <a:rPr lang="en-US" altLang="en-US" sz="1700" b="1" kern="1200" dirty="0">
              <a:latin typeface="Courier New" pitchFamily="49" charset="0"/>
            </a:rPr>
            <a:t>P</a:t>
          </a:r>
          <a:r>
            <a:rPr lang="en-US" altLang="en-US" sz="1700" b="1" kern="1200" baseline="-25000" dirty="0">
              <a:latin typeface="Courier New" pitchFamily="49" charset="0"/>
            </a:rPr>
            <a:t>i</a:t>
          </a:r>
          <a:r>
            <a:rPr lang="en-US" altLang="en-US" sz="1700" kern="1200" dirty="0"/>
            <a:t> is executing in critical section, all other processes are prevented from entering the critical section.</a:t>
          </a:r>
        </a:p>
      </dsp:txBody>
      <dsp:txXfrm>
        <a:off x="0" y="281579"/>
        <a:ext cx="8153400" cy="963900"/>
      </dsp:txXfrm>
    </dsp:sp>
    <dsp:sp modelId="{2C243DF3-0365-49EE-9EB2-F994DA7645C7}">
      <dsp:nvSpPr>
        <dsp:cNvPr id="0" name=""/>
        <dsp:cNvSpPr/>
      </dsp:nvSpPr>
      <dsp:spPr>
        <a:xfrm>
          <a:off x="407670" y="30659"/>
          <a:ext cx="3230890" cy="5018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725" tIns="0" rIns="2157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700" b="1" kern="1200">
              <a:solidFill>
                <a:schemeClr val="bg1"/>
              </a:solidFill>
            </a:rPr>
            <a:t>Mutual Exclusion</a:t>
          </a:r>
          <a:r>
            <a:rPr lang="en-US" altLang="en-US" sz="1700" kern="1200">
              <a:solidFill>
                <a:schemeClr val="bg1"/>
              </a:solidFill>
            </a:rPr>
            <a:t>:</a:t>
          </a:r>
          <a:endParaRPr lang="en-US" sz="1700" kern="1200" dirty="0">
            <a:solidFill>
              <a:schemeClr val="bg1"/>
            </a:solidFill>
          </a:endParaRPr>
        </a:p>
      </dsp:txBody>
      <dsp:txXfrm>
        <a:off x="432168" y="55157"/>
        <a:ext cx="3181894" cy="452844"/>
      </dsp:txXfrm>
    </dsp:sp>
    <dsp:sp modelId="{7CE685AE-2737-418C-A148-70D53781C58B}">
      <dsp:nvSpPr>
        <dsp:cNvPr id="0" name=""/>
        <dsp:cNvSpPr/>
      </dsp:nvSpPr>
      <dsp:spPr>
        <a:xfrm>
          <a:off x="0" y="1588199"/>
          <a:ext cx="8153400" cy="937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4673100"/>
              <a:satOff val="6871"/>
              <a:lumOff val="58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2794" tIns="354076" rIns="63279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700" kern="1200" dirty="0"/>
            <a:t>If no process is in a critical section, one of the waiting processes should be granted access.</a:t>
          </a:r>
        </a:p>
      </dsp:txBody>
      <dsp:txXfrm>
        <a:off x="0" y="1588199"/>
        <a:ext cx="8153400" cy="937125"/>
      </dsp:txXfrm>
    </dsp:sp>
    <dsp:sp modelId="{7D411C53-8323-4816-87BE-C668E14C6E81}">
      <dsp:nvSpPr>
        <dsp:cNvPr id="0" name=""/>
        <dsp:cNvSpPr/>
      </dsp:nvSpPr>
      <dsp:spPr>
        <a:xfrm>
          <a:off x="407670" y="1337279"/>
          <a:ext cx="3230890" cy="501840"/>
        </a:xfrm>
        <a:prstGeom prst="roundRect">
          <a:avLst/>
        </a:prstGeom>
        <a:solidFill>
          <a:schemeClr val="accent5">
            <a:hueOff val="-4673100"/>
            <a:satOff val="6871"/>
            <a:lumOff val="588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725" tIns="0" rIns="2157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700" b="1" kern="1200">
              <a:solidFill>
                <a:schemeClr val="bg1"/>
              </a:solidFill>
            </a:rPr>
            <a:t>Progress:</a:t>
          </a:r>
          <a:endParaRPr lang="en-US" altLang="en-US" sz="1700" b="1" kern="1200" dirty="0">
            <a:solidFill>
              <a:schemeClr val="bg1"/>
            </a:solidFill>
          </a:endParaRPr>
        </a:p>
      </dsp:txBody>
      <dsp:txXfrm>
        <a:off x="432168" y="1361777"/>
        <a:ext cx="3181894" cy="452844"/>
      </dsp:txXfrm>
    </dsp:sp>
    <dsp:sp modelId="{1B69153D-FB7E-4C02-8536-7B0F5692D9C7}">
      <dsp:nvSpPr>
        <dsp:cNvPr id="0" name=""/>
        <dsp:cNvSpPr/>
      </dsp:nvSpPr>
      <dsp:spPr>
        <a:xfrm>
          <a:off x="0" y="2868044"/>
          <a:ext cx="8153400" cy="1204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9346199"/>
              <a:satOff val="13742"/>
              <a:lumOff val="117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2794" tIns="354076" rIns="63279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700" kern="1200" dirty="0"/>
            <a:t>After process </a:t>
          </a:r>
          <a:r>
            <a:rPr lang="en-US" altLang="en-US" sz="1700" b="1" kern="1200" dirty="0">
              <a:latin typeface="Courier New" pitchFamily="49" charset="0"/>
            </a:rPr>
            <a:t>P</a:t>
          </a:r>
          <a:r>
            <a:rPr lang="en-US" altLang="en-US" sz="1700" b="1" kern="1200" baseline="-25000" dirty="0">
              <a:latin typeface="Courier New" pitchFamily="49" charset="0"/>
            </a:rPr>
            <a:t>i</a:t>
          </a:r>
          <a:r>
            <a:rPr lang="en-US" altLang="en-US" sz="1700" kern="1200" dirty="0"/>
            <a:t> request to enter critical section, there exists an </a:t>
          </a:r>
          <a:r>
            <a:rPr lang="en-US" altLang="en-US" sz="1700" kern="1200" dirty="0" err="1"/>
            <a:t>upperbound</a:t>
          </a:r>
          <a:r>
            <a:rPr lang="en-US" altLang="en-US" sz="1700" kern="1200" dirty="0"/>
            <a:t> of number of times other processes can enter the critical section before </a:t>
          </a:r>
          <a:r>
            <a:rPr lang="en-US" altLang="en-US" sz="1700" b="1" kern="1200" dirty="0">
              <a:latin typeface="Courier New" pitchFamily="49" charset="0"/>
            </a:rPr>
            <a:t>P</a:t>
          </a:r>
          <a:r>
            <a:rPr lang="en-US" altLang="en-US" sz="1700" b="1" kern="1200" baseline="-25000" dirty="0">
              <a:latin typeface="Courier New" pitchFamily="49" charset="0"/>
            </a:rPr>
            <a:t>i.</a:t>
          </a:r>
        </a:p>
      </dsp:txBody>
      <dsp:txXfrm>
        <a:off x="0" y="2868044"/>
        <a:ext cx="8153400" cy="1204875"/>
      </dsp:txXfrm>
    </dsp:sp>
    <dsp:sp modelId="{57C5B764-B99E-4C94-ADFE-4836D9CA61F8}">
      <dsp:nvSpPr>
        <dsp:cNvPr id="0" name=""/>
        <dsp:cNvSpPr/>
      </dsp:nvSpPr>
      <dsp:spPr>
        <a:xfrm>
          <a:off x="407670" y="2617124"/>
          <a:ext cx="3230890" cy="501840"/>
        </a:xfrm>
        <a:prstGeom prst="roundRect">
          <a:avLst/>
        </a:prstGeom>
        <a:solidFill>
          <a:schemeClr val="accent5">
            <a:hueOff val="-9346199"/>
            <a:satOff val="13742"/>
            <a:lumOff val="1176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725" tIns="0" rIns="2157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700" b="1" kern="1200">
              <a:solidFill>
                <a:schemeClr val="bg1"/>
              </a:solidFill>
            </a:rPr>
            <a:t>Bounded Wait:</a:t>
          </a:r>
          <a:endParaRPr lang="en-US" altLang="en-US" sz="1700" b="1" kern="1200" dirty="0">
            <a:solidFill>
              <a:schemeClr val="bg1"/>
            </a:solidFill>
          </a:endParaRPr>
        </a:p>
      </dsp:txBody>
      <dsp:txXfrm>
        <a:off x="432168" y="2641622"/>
        <a:ext cx="3181894" cy="452844"/>
      </dsp:txXfrm>
    </dsp:sp>
    <dsp:sp modelId="{56A0155B-1FE7-410F-A5D8-35680E5E8312}">
      <dsp:nvSpPr>
        <dsp:cNvPr id="0" name=""/>
        <dsp:cNvSpPr/>
      </dsp:nvSpPr>
      <dsp:spPr>
        <a:xfrm>
          <a:off x="0" y="4415640"/>
          <a:ext cx="8153400" cy="963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14019298"/>
              <a:satOff val="20613"/>
              <a:lumOff val="176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2794" tIns="354076" rIns="63279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en-US" sz="1700" kern="1200" dirty="0"/>
            <a:t>Process </a:t>
          </a:r>
          <a:r>
            <a:rPr lang="en-US" altLang="en-US" sz="1700" b="1" kern="1200" dirty="0"/>
            <a:t>not </a:t>
          </a:r>
          <a:r>
            <a:rPr lang="en-US" altLang="en-US" sz="1700" kern="1200" dirty="0"/>
            <a:t>executing in critical section should never block other process.</a:t>
          </a:r>
          <a:endParaRPr lang="en-US" altLang="en-US" sz="1700" b="1" kern="1200" baseline="-25000" dirty="0">
            <a:latin typeface="Courier New" pitchFamily="49" charset="0"/>
          </a:endParaRPr>
        </a:p>
      </dsp:txBody>
      <dsp:txXfrm>
        <a:off x="0" y="4415640"/>
        <a:ext cx="8153400" cy="963900"/>
      </dsp:txXfrm>
    </dsp:sp>
    <dsp:sp modelId="{81CDC548-5E82-40CC-84F4-290CD4D44A60}">
      <dsp:nvSpPr>
        <dsp:cNvPr id="0" name=""/>
        <dsp:cNvSpPr/>
      </dsp:nvSpPr>
      <dsp:spPr>
        <a:xfrm>
          <a:off x="407670" y="4164719"/>
          <a:ext cx="3230890" cy="501840"/>
        </a:xfrm>
        <a:prstGeom prst="roundRect">
          <a:avLst/>
        </a:prstGeom>
        <a:solidFill>
          <a:schemeClr val="accent5">
            <a:hueOff val="-14019298"/>
            <a:satOff val="20613"/>
            <a:lumOff val="1764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725" tIns="0" rIns="215725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700" b="1" kern="1200">
              <a:solidFill>
                <a:schemeClr val="bg1"/>
              </a:solidFill>
            </a:rPr>
            <a:t>Independence:</a:t>
          </a:r>
          <a:endParaRPr lang="en-US" altLang="en-US" sz="1700" b="1" kern="1200" dirty="0">
            <a:solidFill>
              <a:schemeClr val="bg1"/>
            </a:solidFill>
          </a:endParaRPr>
        </a:p>
      </dsp:txBody>
      <dsp:txXfrm>
        <a:off x="432168" y="4189217"/>
        <a:ext cx="3181894" cy="4528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B24622-3DBB-4704-B992-E2CDC6F674FE}">
      <dsp:nvSpPr>
        <dsp:cNvPr id="0" name=""/>
        <dsp:cNvSpPr/>
      </dsp:nvSpPr>
      <dsp:spPr>
        <a:xfrm>
          <a:off x="0" y="432243"/>
          <a:ext cx="215641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243DF3-0365-49EE-9EB2-F994DA7645C7}">
      <dsp:nvSpPr>
        <dsp:cNvPr id="0" name=""/>
        <dsp:cNvSpPr/>
      </dsp:nvSpPr>
      <dsp:spPr>
        <a:xfrm>
          <a:off x="107820" y="210843"/>
          <a:ext cx="1509490" cy="442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055" tIns="0" rIns="5705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500" b="1" kern="1200" dirty="0">
              <a:solidFill>
                <a:schemeClr val="bg1"/>
              </a:solidFill>
            </a:rPr>
            <a:t>Mutual Exclusion</a:t>
          </a:r>
          <a:r>
            <a:rPr lang="en-US" altLang="en-US" sz="1500" kern="1200" dirty="0">
              <a:solidFill>
                <a:schemeClr val="bg1"/>
              </a:solidFill>
            </a:rPr>
            <a:t>:</a:t>
          </a:r>
          <a:endParaRPr lang="en-US" sz="1500" kern="1200" dirty="0">
            <a:solidFill>
              <a:schemeClr val="bg1"/>
            </a:solidFill>
          </a:endParaRPr>
        </a:p>
      </dsp:txBody>
      <dsp:txXfrm>
        <a:off x="129436" y="232459"/>
        <a:ext cx="1466258" cy="399568"/>
      </dsp:txXfrm>
    </dsp:sp>
    <dsp:sp modelId="{7CE685AE-2737-418C-A148-70D53781C58B}">
      <dsp:nvSpPr>
        <dsp:cNvPr id="0" name=""/>
        <dsp:cNvSpPr/>
      </dsp:nvSpPr>
      <dsp:spPr>
        <a:xfrm>
          <a:off x="0" y="1112643"/>
          <a:ext cx="215641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4673100"/>
              <a:satOff val="6871"/>
              <a:lumOff val="58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411C53-8323-4816-87BE-C668E14C6E81}">
      <dsp:nvSpPr>
        <dsp:cNvPr id="0" name=""/>
        <dsp:cNvSpPr/>
      </dsp:nvSpPr>
      <dsp:spPr>
        <a:xfrm>
          <a:off x="107820" y="891243"/>
          <a:ext cx="1509490" cy="442800"/>
        </a:xfrm>
        <a:prstGeom prst="roundRect">
          <a:avLst/>
        </a:prstGeom>
        <a:solidFill>
          <a:schemeClr val="accent5">
            <a:hueOff val="-4673100"/>
            <a:satOff val="6871"/>
            <a:lumOff val="588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055" tIns="0" rIns="5705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500" b="1" kern="1200" dirty="0">
              <a:solidFill>
                <a:schemeClr val="bg1"/>
              </a:solidFill>
            </a:rPr>
            <a:t>Progress:</a:t>
          </a:r>
        </a:p>
      </dsp:txBody>
      <dsp:txXfrm>
        <a:off x="129436" y="912859"/>
        <a:ext cx="1466258" cy="399568"/>
      </dsp:txXfrm>
    </dsp:sp>
    <dsp:sp modelId="{1B69153D-FB7E-4C02-8536-7B0F5692D9C7}">
      <dsp:nvSpPr>
        <dsp:cNvPr id="0" name=""/>
        <dsp:cNvSpPr/>
      </dsp:nvSpPr>
      <dsp:spPr>
        <a:xfrm>
          <a:off x="0" y="1793043"/>
          <a:ext cx="215641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9346199"/>
              <a:satOff val="13742"/>
              <a:lumOff val="117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C5B764-B99E-4C94-ADFE-4836D9CA61F8}">
      <dsp:nvSpPr>
        <dsp:cNvPr id="0" name=""/>
        <dsp:cNvSpPr/>
      </dsp:nvSpPr>
      <dsp:spPr>
        <a:xfrm>
          <a:off x="107820" y="1571643"/>
          <a:ext cx="1509490" cy="442800"/>
        </a:xfrm>
        <a:prstGeom prst="roundRect">
          <a:avLst/>
        </a:prstGeom>
        <a:solidFill>
          <a:schemeClr val="accent5">
            <a:hueOff val="-9346199"/>
            <a:satOff val="13742"/>
            <a:lumOff val="1176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055" tIns="0" rIns="5705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500" b="1" kern="1200" dirty="0">
              <a:solidFill>
                <a:schemeClr val="bg1"/>
              </a:solidFill>
            </a:rPr>
            <a:t>Bounded Wait:</a:t>
          </a:r>
        </a:p>
      </dsp:txBody>
      <dsp:txXfrm>
        <a:off x="129436" y="1593259"/>
        <a:ext cx="1466258" cy="399568"/>
      </dsp:txXfrm>
    </dsp:sp>
    <dsp:sp modelId="{56A0155B-1FE7-410F-A5D8-35680E5E8312}">
      <dsp:nvSpPr>
        <dsp:cNvPr id="0" name=""/>
        <dsp:cNvSpPr/>
      </dsp:nvSpPr>
      <dsp:spPr>
        <a:xfrm>
          <a:off x="0" y="2473443"/>
          <a:ext cx="215641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14019298"/>
              <a:satOff val="20613"/>
              <a:lumOff val="176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CDC548-5E82-40CC-84F4-290CD4D44A60}">
      <dsp:nvSpPr>
        <dsp:cNvPr id="0" name=""/>
        <dsp:cNvSpPr/>
      </dsp:nvSpPr>
      <dsp:spPr>
        <a:xfrm>
          <a:off x="107820" y="2252043"/>
          <a:ext cx="1509490" cy="442800"/>
        </a:xfrm>
        <a:prstGeom prst="roundRect">
          <a:avLst/>
        </a:prstGeom>
        <a:solidFill>
          <a:schemeClr val="accent5">
            <a:hueOff val="-14019298"/>
            <a:satOff val="20613"/>
            <a:lumOff val="1764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055" tIns="0" rIns="5705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500" b="1" kern="1200" dirty="0">
              <a:solidFill>
                <a:schemeClr val="bg1"/>
              </a:solidFill>
            </a:rPr>
            <a:t>Independence:</a:t>
          </a:r>
        </a:p>
      </dsp:txBody>
      <dsp:txXfrm>
        <a:off x="129436" y="2273659"/>
        <a:ext cx="1466258" cy="3995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B24622-3DBB-4704-B992-E2CDC6F674FE}">
      <dsp:nvSpPr>
        <dsp:cNvPr id="0" name=""/>
        <dsp:cNvSpPr/>
      </dsp:nvSpPr>
      <dsp:spPr>
        <a:xfrm>
          <a:off x="0" y="432243"/>
          <a:ext cx="215641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243DF3-0365-49EE-9EB2-F994DA7645C7}">
      <dsp:nvSpPr>
        <dsp:cNvPr id="0" name=""/>
        <dsp:cNvSpPr/>
      </dsp:nvSpPr>
      <dsp:spPr>
        <a:xfrm>
          <a:off x="107820" y="210843"/>
          <a:ext cx="1509490" cy="442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055" tIns="0" rIns="5705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500" b="1" kern="1200" dirty="0">
              <a:solidFill>
                <a:schemeClr val="bg1"/>
              </a:solidFill>
            </a:rPr>
            <a:t>Mutual Exclusion</a:t>
          </a:r>
          <a:r>
            <a:rPr lang="en-US" altLang="en-US" sz="1500" kern="1200" dirty="0">
              <a:solidFill>
                <a:schemeClr val="bg1"/>
              </a:solidFill>
            </a:rPr>
            <a:t>:</a:t>
          </a:r>
          <a:endParaRPr lang="en-US" sz="1500" kern="1200" dirty="0">
            <a:solidFill>
              <a:schemeClr val="bg1"/>
            </a:solidFill>
          </a:endParaRPr>
        </a:p>
      </dsp:txBody>
      <dsp:txXfrm>
        <a:off x="129436" y="232459"/>
        <a:ext cx="1466258" cy="399568"/>
      </dsp:txXfrm>
    </dsp:sp>
    <dsp:sp modelId="{7CE685AE-2737-418C-A148-70D53781C58B}">
      <dsp:nvSpPr>
        <dsp:cNvPr id="0" name=""/>
        <dsp:cNvSpPr/>
      </dsp:nvSpPr>
      <dsp:spPr>
        <a:xfrm>
          <a:off x="0" y="1112643"/>
          <a:ext cx="215641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4673100"/>
              <a:satOff val="6871"/>
              <a:lumOff val="58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411C53-8323-4816-87BE-C668E14C6E81}">
      <dsp:nvSpPr>
        <dsp:cNvPr id="0" name=""/>
        <dsp:cNvSpPr/>
      </dsp:nvSpPr>
      <dsp:spPr>
        <a:xfrm>
          <a:off x="107820" y="891243"/>
          <a:ext cx="1509490" cy="442800"/>
        </a:xfrm>
        <a:prstGeom prst="roundRect">
          <a:avLst/>
        </a:prstGeom>
        <a:solidFill>
          <a:schemeClr val="accent5">
            <a:hueOff val="-4673100"/>
            <a:satOff val="6871"/>
            <a:lumOff val="588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055" tIns="0" rIns="5705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500" b="1" kern="1200" dirty="0">
              <a:solidFill>
                <a:schemeClr val="bg1"/>
              </a:solidFill>
            </a:rPr>
            <a:t>Progress:</a:t>
          </a:r>
        </a:p>
      </dsp:txBody>
      <dsp:txXfrm>
        <a:off x="129436" y="912859"/>
        <a:ext cx="1466258" cy="399568"/>
      </dsp:txXfrm>
    </dsp:sp>
    <dsp:sp modelId="{1B69153D-FB7E-4C02-8536-7B0F5692D9C7}">
      <dsp:nvSpPr>
        <dsp:cNvPr id="0" name=""/>
        <dsp:cNvSpPr/>
      </dsp:nvSpPr>
      <dsp:spPr>
        <a:xfrm>
          <a:off x="0" y="1793043"/>
          <a:ext cx="215641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9346199"/>
              <a:satOff val="13742"/>
              <a:lumOff val="117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C5B764-B99E-4C94-ADFE-4836D9CA61F8}">
      <dsp:nvSpPr>
        <dsp:cNvPr id="0" name=""/>
        <dsp:cNvSpPr/>
      </dsp:nvSpPr>
      <dsp:spPr>
        <a:xfrm>
          <a:off x="107820" y="1571643"/>
          <a:ext cx="1509490" cy="442800"/>
        </a:xfrm>
        <a:prstGeom prst="roundRect">
          <a:avLst/>
        </a:prstGeom>
        <a:solidFill>
          <a:schemeClr val="accent5">
            <a:hueOff val="-9346199"/>
            <a:satOff val="13742"/>
            <a:lumOff val="1176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055" tIns="0" rIns="5705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500" b="1" kern="1200" dirty="0">
              <a:solidFill>
                <a:schemeClr val="bg1"/>
              </a:solidFill>
            </a:rPr>
            <a:t>Bounded Wait:</a:t>
          </a:r>
        </a:p>
      </dsp:txBody>
      <dsp:txXfrm>
        <a:off x="129436" y="1593259"/>
        <a:ext cx="1466258" cy="399568"/>
      </dsp:txXfrm>
    </dsp:sp>
    <dsp:sp modelId="{56A0155B-1FE7-410F-A5D8-35680E5E8312}">
      <dsp:nvSpPr>
        <dsp:cNvPr id="0" name=""/>
        <dsp:cNvSpPr/>
      </dsp:nvSpPr>
      <dsp:spPr>
        <a:xfrm>
          <a:off x="0" y="2473443"/>
          <a:ext cx="215641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14019298"/>
              <a:satOff val="20613"/>
              <a:lumOff val="176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CDC548-5E82-40CC-84F4-290CD4D44A60}">
      <dsp:nvSpPr>
        <dsp:cNvPr id="0" name=""/>
        <dsp:cNvSpPr/>
      </dsp:nvSpPr>
      <dsp:spPr>
        <a:xfrm>
          <a:off x="107820" y="2252043"/>
          <a:ext cx="1509490" cy="442800"/>
        </a:xfrm>
        <a:prstGeom prst="roundRect">
          <a:avLst/>
        </a:prstGeom>
        <a:solidFill>
          <a:schemeClr val="accent5">
            <a:hueOff val="-14019298"/>
            <a:satOff val="20613"/>
            <a:lumOff val="1764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055" tIns="0" rIns="5705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500" b="1" kern="1200" dirty="0">
              <a:solidFill>
                <a:schemeClr val="bg1"/>
              </a:solidFill>
            </a:rPr>
            <a:t>Independence:</a:t>
          </a:r>
        </a:p>
      </dsp:txBody>
      <dsp:txXfrm>
        <a:off x="129436" y="2273659"/>
        <a:ext cx="1466258" cy="3995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B24622-3DBB-4704-B992-E2CDC6F674FE}">
      <dsp:nvSpPr>
        <dsp:cNvPr id="0" name=""/>
        <dsp:cNvSpPr/>
      </dsp:nvSpPr>
      <dsp:spPr>
        <a:xfrm>
          <a:off x="0" y="432243"/>
          <a:ext cx="215641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243DF3-0365-49EE-9EB2-F994DA7645C7}">
      <dsp:nvSpPr>
        <dsp:cNvPr id="0" name=""/>
        <dsp:cNvSpPr/>
      </dsp:nvSpPr>
      <dsp:spPr>
        <a:xfrm>
          <a:off x="107820" y="210843"/>
          <a:ext cx="1509490" cy="442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055" tIns="0" rIns="5705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500" b="1" kern="1200" dirty="0">
              <a:solidFill>
                <a:schemeClr val="bg1"/>
              </a:solidFill>
            </a:rPr>
            <a:t>Mutual Exclusion</a:t>
          </a:r>
          <a:r>
            <a:rPr lang="en-US" altLang="en-US" sz="1500" kern="1200" dirty="0">
              <a:solidFill>
                <a:schemeClr val="bg1"/>
              </a:solidFill>
            </a:rPr>
            <a:t>:</a:t>
          </a:r>
          <a:endParaRPr lang="en-US" sz="1500" kern="1200" dirty="0">
            <a:solidFill>
              <a:schemeClr val="bg1"/>
            </a:solidFill>
          </a:endParaRPr>
        </a:p>
      </dsp:txBody>
      <dsp:txXfrm>
        <a:off x="129436" y="232459"/>
        <a:ext cx="1466258" cy="399568"/>
      </dsp:txXfrm>
    </dsp:sp>
    <dsp:sp modelId="{7CE685AE-2737-418C-A148-70D53781C58B}">
      <dsp:nvSpPr>
        <dsp:cNvPr id="0" name=""/>
        <dsp:cNvSpPr/>
      </dsp:nvSpPr>
      <dsp:spPr>
        <a:xfrm>
          <a:off x="0" y="1112643"/>
          <a:ext cx="215641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4673100"/>
              <a:satOff val="6871"/>
              <a:lumOff val="58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411C53-8323-4816-87BE-C668E14C6E81}">
      <dsp:nvSpPr>
        <dsp:cNvPr id="0" name=""/>
        <dsp:cNvSpPr/>
      </dsp:nvSpPr>
      <dsp:spPr>
        <a:xfrm>
          <a:off x="107820" y="891243"/>
          <a:ext cx="1509490" cy="442800"/>
        </a:xfrm>
        <a:prstGeom prst="roundRect">
          <a:avLst/>
        </a:prstGeom>
        <a:solidFill>
          <a:schemeClr val="accent5">
            <a:hueOff val="-4673100"/>
            <a:satOff val="6871"/>
            <a:lumOff val="588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055" tIns="0" rIns="5705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500" b="1" kern="1200" dirty="0">
              <a:solidFill>
                <a:schemeClr val="bg1"/>
              </a:solidFill>
            </a:rPr>
            <a:t>Progress:</a:t>
          </a:r>
        </a:p>
      </dsp:txBody>
      <dsp:txXfrm>
        <a:off x="129436" y="912859"/>
        <a:ext cx="1466258" cy="399568"/>
      </dsp:txXfrm>
    </dsp:sp>
    <dsp:sp modelId="{1B69153D-FB7E-4C02-8536-7B0F5692D9C7}">
      <dsp:nvSpPr>
        <dsp:cNvPr id="0" name=""/>
        <dsp:cNvSpPr/>
      </dsp:nvSpPr>
      <dsp:spPr>
        <a:xfrm>
          <a:off x="0" y="1793043"/>
          <a:ext cx="215641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9346199"/>
              <a:satOff val="13742"/>
              <a:lumOff val="117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C5B764-B99E-4C94-ADFE-4836D9CA61F8}">
      <dsp:nvSpPr>
        <dsp:cNvPr id="0" name=""/>
        <dsp:cNvSpPr/>
      </dsp:nvSpPr>
      <dsp:spPr>
        <a:xfrm>
          <a:off x="107820" y="1571643"/>
          <a:ext cx="1509490" cy="442800"/>
        </a:xfrm>
        <a:prstGeom prst="roundRect">
          <a:avLst/>
        </a:prstGeom>
        <a:solidFill>
          <a:schemeClr val="accent5">
            <a:hueOff val="-9346199"/>
            <a:satOff val="13742"/>
            <a:lumOff val="1176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055" tIns="0" rIns="5705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500" b="1" kern="1200" dirty="0">
              <a:solidFill>
                <a:schemeClr val="bg1"/>
              </a:solidFill>
            </a:rPr>
            <a:t>Bounded Wait:</a:t>
          </a:r>
        </a:p>
      </dsp:txBody>
      <dsp:txXfrm>
        <a:off x="129436" y="1593259"/>
        <a:ext cx="1466258" cy="399568"/>
      </dsp:txXfrm>
    </dsp:sp>
    <dsp:sp modelId="{56A0155B-1FE7-410F-A5D8-35680E5E8312}">
      <dsp:nvSpPr>
        <dsp:cNvPr id="0" name=""/>
        <dsp:cNvSpPr/>
      </dsp:nvSpPr>
      <dsp:spPr>
        <a:xfrm>
          <a:off x="0" y="2473443"/>
          <a:ext cx="215641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14019298"/>
              <a:satOff val="20613"/>
              <a:lumOff val="176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CDC548-5E82-40CC-84F4-290CD4D44A60}">
      <dsp:nvSpPr>
        <dsp:cNvPr id="0" name=""/>
        <dsp:cNvSpPr/>
      </dsp:nvSpPr>
      <dsp:spPr>
        <a:xfrm>
          <a:off x="107820" y="2252043"/>
          <a:ext cx="1509490" cy="442800"/>
        </a:xfrm>
        <a:prstGeom prst="roundRect">
          <a:avLst/>
        </a:prstGeom>
        <a:solidFill>
          <a:schemeClr val="accent5">
            <a:hueOff val="-14019298"/>
            <a:satOff val="20613"/>
            <a:lumOff val="1764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055" tIns="0" rIns="5705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500" b="1" kern="1200" dirty="0">
              <a:solidFill>
                <a:schemeClr val="bg1"/>
              </a:solidFill>
            </a:rPr>
            <a:t>Independence:</a:t>
          </a:r>
        </a:p>
      </dsp:txBody>
      <dsp:txXfrm>
        <a:off x="129436" y="2273659"/>
        <a:ext cx="1466258" cy="39956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B24622-3DBB-4704-B992-E2CDC6F674FE}">
      <dsp:nvSpPr>
        <dsp:cNvPr id="0" name=""/>
        <dsp:cNvSpPr/>
      </dsp:nvSpPr>
      <dsp:spPr>
        <a:xfrm>
          <a:off x="0" y="367155"/>
          <a:ext cx="215641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243DF3-0365-49EE-9EB2-F994DA7645C7}">
      <dsp:nvSpPr>
        <dsp:cNvPr id="0" name=""/>
        <dsp:cNvSpPr/>
      </dsp:nvSpPr>
      <dsp:spPr>
        <a:xfrm>
          <a:off x="107820" y="145755"/>
          <a:ext cx="1509490" cy="442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055" tIns="0" rIns="5705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500" b="1" kern="1200" dirty="0">
              <a:solidFill>
                <a:schemeClr val="bg1"/>
              </a:solidFill>
            </a:rPr>
            <a:t>Mutual Exclusion</a:t>
          </a:r>
          <a:r>
            <a:rPr lang="en-US" altLang="en-US" sz="1500" kern="1200" dirty="0">
              <a:solidFill>
                <a:schemeClr val="bg1"/>
              </a:solidFill>
            </a:rPr>
            <a:t>:</a:t>
          </a:r>
          <a:endParaRPr lang="en-US" sz="1500" kern="1200" dirty="0">
            <a:solidFill>
              <a:schemeClr val="bg1"/>
            </a:solidFill>
          </a:endParaRPr>
        </a:p>
      </dsp:txBody>
      <dsp:txXfrm>
        <a:off x="129436" y="167371"/>
        <a:ext cx="1466258" cy="399568"/>
      </dsp:txXfrm>
    </dsp:sp>
    <dsp:sp modelId="{7CE685AE-2737-418C-A148-70D53781C58B}">
      <dsp:nvSpPr>
        <dsp:cNvPr id="0" name=""/>
        <dsp:cNvSpPr/>
      </dsp:nvSpPr>
      <dsp:spPr>
        <a:xfrm>
          <a:off x="0" y="1047555"/>
          <a:ext cx="215641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4673100"/>
              <a:satOff val="6871"/>
              <a:lumOff val="58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411C53-8323-4816-87BE-C668E14C6E81}">
      <dsp:nvSpPr>
        <dsp:cNvPr id="0" name=""/>
        <dsp:cNvSpPr/>
      </dsp:nvSpPr>
      <dsp:spPr>
        <a:xfrm>
          <a:off x="107820" y="826155"/>
          <a:ext cx="1509490" cy="442800"/>
        </a:xfrm>
        <a:prstGeom prst="roundRect">
          <a:avLst/>
        </a:prstGeom>
        <a:solidFill>
          <a:schemeClr val="accent5">
            <a:hueOff val="-4673100"/>
            <a:satOff val="6871"/>
            <a:lumOff val="588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055" tIns="0" rIns="5705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500" b="1" kern="1200" dirty="0">
              <a:solidFill>
                <a:schemeClr val="bg1"/>
              </a:solidFill>
            </a:rPr>
            <a:t>Progress:</a:t>
          </a:r>
        </a:p>
      </dsp:txBody>
      <dsp:txXfrm>
        <a:off x="129436" y="847771"/>
        <a:ext cx="1466258" cy="399568"/>
      </dsp:txXfrm>
    </dsp:sp>
    <dsp:sp modelId="{1B69153D-FB7E-4C02-8536-7B0F5692D9C7}">
      <dsp:nvSpPr>
        <dsp:cNvPr id="0" name=""/>
        <dsp:cNvSpPr/>
      </dsp:nvSpPr>
      <dsp:spPr>
        <a:xfrm>
          <a:off x="0" y="1727956"/>
          <a:ext cx="215641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9346199"/>
              <a:satOff val="13742"/>
              <a:lumOff val="117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C5B764-B99E-4C94-ADFE-4836D9CA61F8}">
      <dsp:nvSpPr>
        <dsp:cNvPr id="0" name=""/>
        <dsp:cNvSpPr/>
      </dsp:nvSpPr>
      <dsp:spPr>
        <a:xfrm>
          <a:off x="107820" y="1506555"/>
          <a:ext cx="1509490" cy="442800"/>
        </a:xfrm>
        <a:prstGeom prst="roundRect">
          <a:avLst/>
        </a:prstGeom>
        <a:solidFill>
          <a:schemeClr val="accent5">
            <a:hueOff val="-9346199"/>
            <a:satOff val="13742"/>
            <a:lumOff val="1176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055" tIns="0" rIns="5705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500" b="1" kern="1200" dirty="0">
              <a:solidFill>
                <a:schemeClr val="bg1"/>
              </a:solidFill>
            </a:rPr>
            <a:t>Bounded Wait:</a:t>
          </a:r>
        </a:p>
      </dsp:txBody>
      <dsp:txXfrm>
        <a:off x="129436" y="1528171"/>
        <a:ext cx="1466258" cy="399568"/>
      </dsp:txXfrm>
    </dsp:sp>
    <dsp:sp modelId="{56A0155B-1FE7-410F-A5D8-35680E5E8312}">
      <dsp:nvSpPr>
        <dsp:cNvPr id="0" name=""/>
        <dsp:cNvSpPr/>
      </dsp:nvSpPr>
      <dsp:spPr>
        <a:xfrm>
          <a:off x="0" y="2408356"/>
          <a:ext cx="215641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14019298"/>
              <a:satOff val="20613"/>
              <a:lumOff val="176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CDC548-5E82-40CC-84F4-290CD4D44A60}">
      <dsp:nvSpPr>
        <dsp:cNvPr id="0" name=""/>
        <dsp:cNvSpPr/>
      </dsp:nvSpPr>
      <dsp:spPr>
        <a:xfrm>
          <a:off x="107820" y="2186956"/>
          <a:ext cx="1509490" cy="442800"/>
        </a:xfrm>
        <a:prstGeom prst="roundRect">
          <a:avLst/>
        </a:prstGeom>
        <a:solidFill>
          <a:schemeClr val="accent5">
            <a:hueOff val="-14019298"/>
            <a:satOff val="20613"/>
            <a:lumOff val="1764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055" tIns="0" rIns="5705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500" b="1" kern="1200" dirty="0">
              <a:solidFill>
                <a:schemeClr val="bg1"/>
              </a:solidFill>
            </a:rPr>
            <a:t>Independence:</a:t>
          </a:r>
        </a:p>
      </dsp:txBody>
      <dsp:txXfrm>
        <a:off x="129436" y="2208572"/>
        <a:ext cx="1466258" cy="39956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B24622-3DBB-4704-B992-E2CDC6F674FE}">
      <dsp:nvSpPr>
        <dsp:cNvPr id="0" name=""/>
        <dsp:cNvSpPr/>
      </dsp:nvSpPr>
      <dsp:spPr>
        <a:xfrm>
          <a:off x="0" y="432243"/>
          <a:ext cx="215641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243DF3-0365-49EE-9EB2-F994DA7645C7}">
      <dsp:nvSpPr>
        <dsp:cNvPr id="0" name=""/>
        <dsp:cNvSpPr/>
      </dsp:nvSpPr>
      <dsp:spPr>
        <a:xfrm>
          <a:off x="107820" y="210843"/>
          <a:ext cx="1509490" cy="4428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055" tIns="0" rIns="5705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500" b="1" kern="1200" dirty="0">
              <a:solidFill>
                <a:schemeClr val="bg1"/>
              </a:solidFill>
            </a:rPr>
            <a:t>Mutual Exclusion</a:t>
          </a:r>
          <a:r>
            <a:rPr lang="en-US" altLang="en-US" sz="1500" kern="1200" dirty="0">
              <a:solidFill>
                <a:schemeClr val="bg1"/>
              </a:solidFill>
            </a:rPr>
            <a:t>:</a:t>
          </a:r>
          <a:endParaRPr lang="en-US" sz="1500" kern="1200" dirty="0">
            <a:solidFill>
              <a:schemeClr val="bg1"/>
            </a:solidFill>
          </a:endParaRPr>
        </a:p>
      </dsp:txBody>
      <dsp:txXfrm>
        <a:off x="129436" y="232459"/>
        <a:ext cx="1466258" cy="399568"/>
      </dsp:txXfrm>
    </dsp:sp>
    <dsp:sp modelId="{7CE685AE-2737-418C-A148-70D53781C58B}">
      <dsp:nvSpPr>
        <dsp:cNvPr id="0" name=""/>
        <dsp:cNvSpPr/>
      </dsp:nvSpPr>
      <dsp:spPr>
        <a:xfrm>
          <a:off x="0" y="1112643"/>
          <a:ext cx="215641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4673100"/>
              <a:satOff val="6871"/>
              <a:lumOff val="58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411C53-8323-4816-87BE-C668E14C6E81}">
      <dsp:nvSpPr>
        <dsp:cNvPr id="0" name=""/>
        <dsp:cNvSpPr/>
      </dsp:nvSpPr>
      <dsp:spPr>
        <a:xfrm>
          <a:off x="107820" y="891243"/>
          <a:ext cx="1509490" cy="442800"/>
        </a:xfrm>
        <a:prstGeom prst="roundRect">
          <a:avLst/>
        </a:prstGeom>
        <a:solidFill>
          <a:schemeClr val="accent5">
            <a:hueOff val="-4673100"/>
            <a:satOff val="6871"/>
            <a:lumOff val="588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055" tIns="0" rIns="5705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500" b="1" kern="1200" dirty="0">
              <a:solidFill>
                <a:schemeClr val="bg1"/>
              </a:solidFill>
            </a:rPr>
            <a:t>Progress:</a:t>
          </a:r>
        </a:p>
      </dsp:txBody>
      <dsp:txXfrm>
        <a:off x="129436" y="912859"/>
        <a:ext cx="1466258" cy="399568"/>
      </dsp:txXfrm>
    </dsp:sp>
    <dsp:sp modelId="{1B69153D-FB7E-4C02-8536-7B0F5692D9C7}">
      <dsp:nvSpPr>
        <dsp:cNvPr id="0" name=""/>
        <dsp:cNvSpPr/>
      </dsp:nvSpPr>
      <dsp:spPr>
        <a:xfrm>
          <a:off x="0" y="1793043"/>
          <a:ext cx="215641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9346199"/>
              <a:satOff val="13742"/>
              <a:lumOff val="1176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C5B764-B99E-4C94-ADFE-4836D9CA61F8}">
      <dsp:nvSpPr>
        <dsp:cNvPr id="0" name=""/>
        <dsp:cNvSpPr/>
      </dsp:nvSpPr>
      <dsp:spPr>
        <a:xfrm>
          <a:off x="107820" y="1571643"/>
          <a:ext cx="1509490" cy="442800"/>
        </a:xfrm>
        <a:prstGeom prst="roundRect">
          <a:avLst/>
        </a:prstGeom>
        <a:solidFill>
          <a:schemeClr val="accent5">
            <a:hueOff val="-9346199"/>
            <a:satOff val="13742"/>
            <a:lumOff val="1176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055" tIns="0" rIns="5705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500" b="1" kern="1200" dirty="0">
              <a:solidFill>
                <a:schemeClr val="bg1"/>
              </a:solidFill>
            </a:rPr>
            <a:t>Bounded Wait:</a:t>
          </a:r>
        </a:p>
      </dsp:txBody>
      <dsp:txXfrm>
        <a:off x="129436" y="1593259"/>
        <a:ext cx="1466258" cy="399568"/>
      </dsp:txXfrm>
    </dsp:sp>
    <dsp:sp modelId="{56A0155B-1FE7-410F-A5D8-35680E5E8312}">
      <dsp:nvSpPr>
        <dsp:cNvPr id="0" name=""/>
        <dsp:cNvSpPr/>
      </dsp:nvSpPr>
      <dsp:spPr>
        <a:xfrm>
          <a:off x="0" y="2473443"/>
          <a:ext cx="2156415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14019298"/>
              <a:satOff val="20613"/>
              <a:lumOff val="176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CDC548-5E82-40CC-84F4-290CD4D44A60}">
      <dsp:nvSpPr>
        <dsp:cNvPr id="0" name=""/>
        <dsp:cNvSpPr/>
      </dsp:nvSpPr>
      <dsp:spPr>
        <a:xfrm>
          <a:off x="107820" y="2252043"/>
          <a:ext cx="1509490" cy="442800"/>
        </a:xfrm>
        <a:prstGeom prst="roundRect">
          <a:avLst/>
        </a:prstGeom>
        <a:solidFill>
          <a:schemeClr val="accent5">
            <a:hueOff val="-14019298"/>
            <a:satOff val="20613"/>
            <a:lumOff val="1764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055" tIns="0" rIns="5705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500" b="1" kern="1200" dirty="0">
              <a:solidFill>
                <a:schemeClr val="bg1"/>
              </a:solidFill>
            </a:rPr>
            <a:t>Independence:</a:t>
          </a:r>
        </a:p>
      </dsp:txBody>
      <dsp:txXfrm>
        <a:off x="129436" y="2273659"/>
        <a:ext cx="1466258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CDC7FB6C-B648-4D79-B731-7A80C14E89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42636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6119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1574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78296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5478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2492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55700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Other processes are prevented to enter</a:t>
            </a:r>
            <a:r>
              <a:rPr lang="en-SG" baseline="0" dirty="0"/>
              <a:t> the critical section at the same time.</a:t>
            </a:r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12677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99458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https://en.wikipedia.org/wiki/Compare-and-swap</a:t>
            </a:r>
          </a:p>
          <a:p>
            <a:r>
              <a:rPr lang="en-US" dirty="0"/>
              <a:t>https://en.wikipedia.org/wiki/Load-link/store-conditional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24386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</a:t>
            </a:r>
            <a:r>
              <a:rPr lang="en-US" baseline="0" dirty="0"/>
              <a:t> “</a:t>
            </a:r>
            <a:r>
              <a:rPr lang="en-US" baseline="0" dirty="0" err="1"/>
              <a:t>EnterCS</a:t>
            </a:r>
            <a:r>
              <a:rPr lang="en-US" baseline="0" dirty="0"/>
              <a:t>”, “</a:t>
            </a:r>
            <a:r>
              <a:rPr lang="en-US" baseline="0" dirty="0" err="1"/>
              <a:t>ExitCS</a:t>
            </a:r>
            <a:r>
              <a:rPr lang="en-US" baseline="0" dirty="0"/>
              <a:t>”</a:t>
            </a:r>
          </a:p>
          <a:p>
            <a:endParaRPr lang="en-US" baseline="0" dirty="0"/>
          </a:p>
          <a:p>
            <a:r>
              <a:rPr lang="en-US" baseline="0" dirty="0"/>
              <a:t>ME = false</a:t>
            </a:r>
          </a:p>
          <a:p>
            <a:r>
              <a:rPr lang="en-US" baseline="0" dirty="0"/>
              <a:t>P = true</a:t>
            </a:r>
          </a:p>
          <a:p>
            <a:r>
              <a:rPr lang="en-US" baseline="0" dirty="0"/>
              <a:t>BW = fair scheduling </a:t>
            </a:r>
          </a:p>
          <a:p>
            <a:r>
              <a:rPr lang="en-US" baseline="0" dirty="0"/>
              <a:t>I = true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52925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</a:t>
            </a:r>
            <a:r>
              <a:rPr lang="en-US" baseline="0" dirty="0"/>
              <a:t> “</a:t>
            </a:r>
            <a:r>
              <a:rPr lang="en-US" baseline="0" dirty="0" err="1"/>
              <a:t>EnterCS</a:t>
            </a:r>
            <a:r>
              <a:rPr lang="en-US" baseline="0" dirty="0"/>
              <a:t>”, “</a:t>
            </a:r>
            <a:r>
              <a:rPr lang="en-US" baseline="0" dirty="0" err="1"/>
              <a:t>ExitCS</a:t>
            </a:r>
            <a:r>
              <a:rPr lang="en-US" baseline="0" dirty="0"/>
              <a:t>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42435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 = true</a:t>
            </a:r>
          </a:p>
          <a:p>
            <a:r>
              <a:rPr lang="en-US" dirty="0"/>
              <a:t>P = false (Independence</a:t>
            </a:r>
            <a:r>
              <a:rPr lang="en-US" baseline="0" dirty="0"/>
              <a:t> failure </a:t>
            </a:r>
            <a:r>
              <a:rPr lang="en-US" baseline="0" dirty="0">
                <a:sym typeface="Wingdings" panose="05000000000000000000" pitchFamily="2" charset="2"/>
              </a:rPr>
              <a:t> no progress)</a:t>
            </a:r>
          </a:p>
          <a:p>
            <a:r>
              <a:rPr lang="en-US" baseline="0" dirty="0">
                <a:sym typeface="Wingdings" panose="05000000000000000000" pitchFamily="2" charset="2"/>
              </a:rPr>
              <a:t>BW = true (impossible for a process to enter more than once consecutively)</a:t>
            </a:r>
          </a:p>
          <a:p>
            <a:r>
              <a:rPr lang="en-US" baseline="0" dirty="0">
                <a:sym typeface="Wingdings" panose="05000000000000000000" pitchFamily="2" charset="2"/>
              </a:rPr>
              <a:t>I = false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35849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 = true</a:t>
            </a:r>
          </a:p>
          <a:p>
            <a:r>
              <a:rPr lang="en-US" dirty="0"/>
              <a:t>P = false</a:t>
            </a:r>
            <a:r>
              <a:rPr lang="en-US" baseline="0" dirty="0"/>
              <a:t> (deadlock </a:t>
            </a:r>
            <a:r>
              <a:rPr lang="en-US" baseline="0" dirty="0">
                <a:sym typeface="Wingdings" panose="05000000000000000000" pitchFamily="2" charset="2"/>
              </a:rPr>
              <a:t> no progress)</a:t>
            </a:r>
          </a:p>
          <a:p>
            <a:r>
              <a:rPr lang="en-US" baseline="0" dirty="0">
                <a:sym typeface="Wingdings" panose="05000000000000000000" pitchFamily="2" charset="2"/>
              </a:rPr>
              <a:t>BW = true (no process is bypassed)</a:t>
            </a:r>
          </a:p>
          <a:p>
            <a:r>
              <a:rPr lang="en-US" baseline="0" dirty="0">
                <a:sym typeface="Wingdings" panose="05000000000000000000" pitchFamily="2" charset="2"/>
              </a:rPr>
              <a:t>I = true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73991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69B9B2E-EE55-44CB-B547-6CF44D7D86FC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70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9688" cy="3838575"/>
          </a:xfrm>
          <a:ln/>
        </p:spPr>
      </p:sp>
      <p:sp>
        <p:nvSpPr>
          <p:cNvPr id="70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96633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59023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66508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653E1B7-6512-4CAD-A3C9-598C9891ED0B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67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9688" cy="3838575"/>
          </a:xfrm>
          <a:ln/>
        </p:spPr>
      </p:sp>
      <p:sp>
        <p:nvSpPr>
          <p:cNvPr id="67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0925"/>
            <a:ext cx="5680075" cy="4606925"/>
          </a:xfrm>
        </p:spPr>
        <p:txBody>
          <a:bodyPr/>
          <a:lstStyle/>
          <a:p>
            <a:r>
              <a:rPr lang="en-US" altLang="en-US" dirty="0"/>
              <a:t>FIFO bounded buffer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6073700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multiple</a:t>
            </a:r>
            <a:r>
              <a:rPr lang="en-US" baseline="0" dirty="0"/>
              <a:t> processes</a:t>
            </a:r>
          </a:p>
          <a:p>
            <a:pPr lvl="1"/>
            <a:r>
              <a:rPr lang="en-US" altLang="en-US" sz="2000" b="1" dirty="0">
                <a:latin typeface="Courier New" pitchFamily="49" charset="0"/>
              </a:rPr>
              <a:t>count = in = out = 0 </a:t>
            </a:r>
          </a:p>
          <a:p>
            <a:pPr lvl="1"/>
            <a:r>
              <a:rPr lang="en-US" altLang="en-US" sz="2000" b="1" dirty="0" err="1">
                <a:latin typeface="Courier New" pitchFamily="49" charset="0"/>
              </a:rPr>
              <a:t>buf</a:t>
            </a:r>
            <a:r>
              <a:rPr lang="en-US" altLang="en-US" sz="2000" b="1" dirty="0">
                <a:latin typeface="Courier New" pitchFamily="49" charset="0"/>
              </a:rPr>
              <a:t> = S(1) </a:t>
            </a:r>
            <a:r>
              <a:rPr lang="en-US" altLang="en-US" sz="2000" dirty="0"/>
              <a:t>//semaphore with initial value 1</a:t>
            </a:r>
          </a:p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09595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en-US" sz="2000" b="1" dirty="0">
                <a:latin typeface="Courier New" pitchFamily="49" charset="0"/>
              </a:rPr>
              <a:t>count = in = out = 0 </a:t>
            </a:r>
          </a:p>
          <a:p>
            <a:pPr lvl="1"/>
            <a:r>
              <a:rPr lang="en-US" altLang="en-US" sz="2000" b="1" dirty="0" err="1">
                <a:latin typeface="Courier New" pitchFamily="49" charset="0"/>
              </a:rPr>
              <a:t>buf</a:t>
            </a:r>
            <a:r>
              <a:rPr lang="en-US" altLang="en-US" sz="2000" b="1" dirty="0">
                <a:latin typeface="Courier New" pitchFamily="49" charset="0"/>
              </a:rPr>
              <a:t> = S(1), </a:t>
            </a:r>
            <a:r>
              <a:rPr lang="en-US" altLang="en-US" sz="2000" b="1" dirty="0" err="1">
                <a:latin typeface="Courier New" pitchFamily="49" charset="0"/>
              </a:rPr>
              <a:t>notFull</a:t>
            </a:r>
            <a:r>
              <a:rPr lang="en-US" altLang="en-US" sz="2000" b="1" dirty="0">
                <a:latin typeface="Courier New" pitchFamily="49" charset="0"/>
              </a:rPr>
              <a:t> = S(K), </a:t>
            </a:r>
            <a:r>
              <a:rPr lang="en-US" altLang="en-US" sz="2000" b="1" dirty="0" err="1">
                <a:latin typeface="Courier New" pitchFamily="49" charset="0"/>
              </a:rPr>
              <a:t>notEmpty</a:t>
            </a:r>
            <a:r>
              <a:rPr lang="en-US" altLang="en-US" sz="2000" b="1" dirty="0">
                <a:latin typeface="Courier New" pitchFamily="49" charset="0"/>
              </a:rPr>
              <a:t> = S(0)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14696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68999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en-US" sz="2000" b="1" dirty="0" err="1">
                <a:latin typeface="Courier New" pitchFamily="49" charset="0"/>
              </a:rPr>
              <a:t>roomEmpty</a:t>
            </a:r>
            <a:r>
              <a:rPr lang="en-US" altLang="en-US" sz="2000" b="1" dirty="0">
                <a:latin typeface="Courier New" pitchFamily="49" charset="0"/>
              </a:rPr>
              <a:t> = S(1)</a:t>
            </a:r>
          </a:p>
          <a:p>
            <a:pPr lvl="1"/>
            <a:r>
              <a:rPr lang="en-US" altLang="en-US" sz="2000" b="1" dirty="0" err="1">
                <a:latin typeface="Courier New" pitchFamily="49" charset="0"/>
              </a:rPr>
              <a:t>mutex</a:t>
            </a:r>
            <a:r>
              <a:rPr lang="en-US" altLang="en-US" sz="2000" b="1" dirty="0">
                <a:latin typeface="Courier New" pitchFamily="49" charset="0"/>
              </a:rPr>
              <a:t> = S(1)</a:t>
            </a:r>
          </a:p>
          <a:p>
            <a:pPr lvl="1"/>
            <a:r>
              <a:rPr lang="en-US" altLang="en-US" sz="2000" b="1" dirty="0" err="1">
                <a:latin typeface="Courier New" pitchFamily="49" charset="0"/>
              </a:rPr>
              <a:t>nReader</a:t>
            </a:r>
            <a:r>
              <a:rPr lang="en-US" altLang="en-US" sz="2000" b="1" dirty="0">
                <a:latin typeface="Courier New" pitchFamily="49" charset="0"/>
              </a:rPr>
              <a:t> = 0</a:t>
            </a:r>
          </a:p>
          <a:p>
            <a:pPr lvl="0"/>
            <a:r>
              <a:rPr lang="en-US" altLang="en-US" sz="2000" b="1" dirty="0">
                <a:latin typeface="Courier New" pitchFamily="49" charset="0"/>
              </a:rPr>
              <a:t>Problem:</a:t>
            </a:r>
            <a:r>
              <a:rPr lang="en-US" altLang="en-US" sz="2000" b="1" baseline="0" dirty="0">
                <a:latin typeface="Courier New" pitchFamily="49" charset="0"/>
              </a:rPr>
              <a:t> Writer can get stuck if reader keep coming in.</a:t>
            </a:r>
            <a:endParaRPr lang="en-US" altLang="en-US" sz="2000" b="1" dirty="0">
              <a:latin typeface="Courier New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71716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s[N]</a:t>
            </a:r>
            <a:r>
              <a:rPr lang="en-US" baseline="0" dirty="0"/>
              <a:t> = {0};</a:t>
            </a:r>
          </a:p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47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87780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en-US" sz="2000" b="1" kern="0" dirty="0">
                <a:latin typeface="Courier New" pitchFamily="49" charset="0"/>
              </a:rPr>
              <a:t>seats = S(4)</a:t>
            </a:r>
          </a:p>
          <a:p>
            <a:pPr lvl="1"/>
            <a:r>
              <a:rPr lang="en-US" altLang="en-US" sz="2000" b="1" kern="0" dirty="0">
                <a:latin typeface="Courier New" pitchFamily="49" charset="0"/>
              </a:rPr>
              <a:t>fork = S(1)[5]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50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84210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FB6C-B648-4D79-B731-7A80C14E892D}" type="slidenum">
              <a:rPr lang="en-US" altLang="en-US" smtClean="0"/>
              <a:pPr/>
              <a:t>61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5208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r"/>
            <a:fld id="{16C1FCC8-FA36-41FF-9F51-7AE14A6866E7}" type="slidenum">
              <a:rPr lang="en-US" altLang="en-US" sz="1400" b="1">
                <a:latin typeface="Garamond" pitchFamily="18" charset="0"/>
              </a:rPr>
              <a:pPr algn="r"/>
              <a:t>‹#›</a:t>
            </a:fld>
            <a:endParaRPr lang="en-US" altLang="en-US" sz="1400" b="1">
              <a:latin typeface="Garamond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58469A4-C7F5-42FF-8F2E-C62C8C03436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L6 -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21448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E7B2A14-CFC8-473E-8C77-48351E3F49F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L6 - AY1819S1 ]</a:t>
            </a:r>
          </a:p>
        </p:txBody>
      </p:sp>
    </p:spTree>
    <p:extLst>
      <p:ext uri="{BB962C8B-B14F-4D97-AF65-F5344CB8AC3E}">
        <p14:creationId xmlns:p14="http://schemas.microsoft.com/office/powerpoint/2010/main" val="3056214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B5E2939-3BE2-4936-8AC1-BDE9A14CBB2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L6 -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99680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1F39AB6-C668-47D3-9001-494C06E2D43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L6 - AY1819S1 ]</a:t>
            </a:r>
          </a:p>
        </p:txBody>
      </p:sp>
    </p:spTree>
    <p:extLst>
      <p:ext uri="{BB962C8B-B14F-4D97-AF65-F5344CB8AC3E}">
        <p14:creationId xmlns:p14="http://schemas.microsoft.com/office/powerpoint/2010/main" val="685132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7992921-E8D1-4F63-8B4B-BBDB7C33087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L6 - AY1819S1 ]</a:t>
            </a:r>
          </a:p>
        </p:txBody>
      </p:sp>
    </p:spTree>
    <p:extLst>
      <p:ext uri="{BB962C8B-B14F-4D97-AF65-F5344CB8AC3E}">
        <p14:creationId xmlns:p14="http://schemas.microsoft.com/office/powerpoint/2010/main" val="1594241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E6F211-BC41-4ED1-890B-E54CA3E97DA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L6 - AY1819S1 ]</a:t>
            </a:r>
          </a:p>
        </p:txBody>
      </p:sp>
    </p:spTree>
    <p:extLst>
      <p:ext uri="{BB962C8B-B14F-4D97-AF65-F5344CB8AC3E}">
        <p14:creationId xmlns:p14="http://schemas.microsoft.com/office/powerpoint/2010/main" val="3391348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3298642-FAC3-44D3-AECD-F3CEB9038C1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L6 - AY1819S1 ]</a:t>
            </a:r>
          </a:p>
        </p:txBody>
      </p:sp>
    </p:spTree>
    <p:extLst>
      <p:ext uri="{BB962C8B-B14F-4D97-AF65-F5344CB8AC3E}">
        <p14:creationId xmlns:p14="http://schemas.microsoft.com/office/powerpoint/2010/main" val="1244149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D9C6624-AF88-47E7-8D01-20435D977E1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L6 - AY1819S1 ]</a:t>
            </a:r>
          </a:p>
        </p:txBody>
      </p:sp>
    </p:spTree>
    <p:extLst>
      <p:ext uri="{BB962C8B-B14F-4D97-AF65-F5344CB8AC3E}">
        <p14:creationId xmlns:p14="http://schemas.microsoft.com/office/powerpoint/2010/main" val="2419874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18D15E9-12D2-4AF7-8582-19867986D8D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L6 - AY1819S1 ]</a:t>
            </a:r>
          </a:p>
        </p:txBody>
      </p:sp>
    </p:spTree>
    <p:extLst>
      <p:ext uri="{BB962C8B-B14F-4D97-AF65-F5344CB8AC3E}">
        <p14:creationId xmlns:p14="http://schemas.microsoft.com/office/powerpoint/2010/main" val="1502729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EFB2A9B-4A28-462A-95D9-803E8792E71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L6 - AY1819S1 ]</a:t>
            </a:r>
          </a:p>
        </p:txBody>
      </p:sp>
    </p:spTree>
    <p:extLst>
      <p:ext uri="{BB962C8B-B14F-4D97-AF65-F5344CB8AC3E}">
        <p14:creationId xmlns:p14="http://schemas.microsoft.com/office/powerpoint/2010/main" val="3228312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846C3B52-913A-46E1-9898-C28782944A26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22098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/>
              <a:t>[ CS2106 L6 - AY1819S1 ]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texas.edu/users/EWD/ewd01xx/EWD123.PDF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image" Target="../media/image15.wmf"/><Relationship Id="rId7" Type="http://schemas.openxmlformats.org/officeDocument/2006/relationships/diagramData" Target="../diagrams/data6.xml"/><Relationship Id="rId12" Type="http://schemas.openxmlformats.org/officeDocument/2006/relationships/image" Target="../media/image19.png"/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11" Type="http://schemas.microsoft.com/office/2007/relationships/diagramDrawing" Target="../diagrams/drawing6.xml"/><Relationship Id="rId5" Type="http://schemas.openxmlformats.org/officeDocument/2006/relationships/image" Target="../media/image17.wmf"/><Relationship Id="rId10" Type="http://schemas.openxmlformats.org/officeDocument/2006/relationships/diagramColors" Target="../diagrams/colors6.xml"/><Relationship Id="rId4" Type="http://schemas.openxmlformats.org/officeDocument/2006/relationships/image" Target="../media/image16.wmf"/><Relationship Id="rId9" Type="http://schemas.openxmlformats.org/officeDocument/2006/relationships/diagramQuickStyle" Target="../diagrams/quickStyle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sz="3200" dirty="0">
                <a:solidFill>
                  <a:schemeClr val="tx1"/>
                </a:solidFill>
              </a:rPr>
              <a:t>Process Management</a:t>
            </a:r>
            <a:br>
              <a:rPr lang="en-US" altLang="en-US" sz="5400" dirty="0"/>
            </a:br>
            <a:r>
              <a:rPr lang="en-US" altLang="en-US" sz="5400" b="1" dirty="0">
                <a:solidFill>
                  <a:srgbClr val="C00000"/>
                </a:solidFill>
              </a:rPr>
              <a:t>Synchronization</a:t>
            </a:r>
            <a:endParaRPr lang="en-US" altLang="en-US" b="1" dirty="0">
              <a:solidFill>
                <a:srgbClr val="C00000"/>
              </a:solidFill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Lecture 6 </a:t>
            </a:r>
            <a:r>
              <a:rPr lang="en-US" dirty="0"/>
              <a:t>(</a:t>
            </a:r>
            <a:r>
              <a:rPr lang="en-US" b="1" dirty="0">
                <a:solidFill>
                  <a:srgbClr val="660066"/>
                </a:solidFill>
              </a:rPr>
              <a:t>L</a:t>
            </a:r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006600"/>
                </a:solidFill>
              </a:rPr>
              <a:t>v</a:t>
            </a:r>
            <a:r>
              <a:rPr lang="en-US" b="1" dirty="0">
                <a:solidFill>
                  <a:srgbClr val="0070C0"/>
                </a:solidFill>
              </a:rPr>
              <a:t>e</a:t>
            </a:r>
            <a:r>
              <a:rPr lang="en-US" b="1" dirty="0"/>
              <a:t> Version</a:t>
            </a:r>
            <a:r>
              <a:rPr lang="en-US" dirty="0"/>
              <a:t>)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Overview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Race Condition</a:t>
            </a:r>
          </a:p>
          <a:p>
            <a:pPr lvl="1"/>
            <a:r>
              <a:rPr lang="en-US" altLang="en-US" dirty="0"/>
              <a:t>Problems with concurrent execution </a:t>
            </a:r>
          </a:p>
          <a:p>
            <a:r>
              <a:rPr lang="en-US" altLang="en-US" b="1" dirty="0">
                <a:solidFill>
                  <a:srgbClr val="003300"/>
                </a:solidFill>
              </a:rPr>
              <a:t>Critical Section</a:t>
            </a:r>
          </a:p>
          <a:p>
            <a:pPr lvl="1"/>
            <a:r>
              <a:rPr lang="en-US" altLang="en-US" dirty="0"/>
              <a:t>Properties of correct implementation</a:t>
            </a:r>
          </a:p>
          <a:p>
            <a:pPr lvl="1"/>
            <a:r>
              <a:rPr lang="en-US" altLang="en-US" dirty="0"/>
              <a:t>Symptoms of incorrect implementation</a:t>
            </a:r>
          </a:p>
          <a:p>
            <a:r>
              <a:rPr lang="en-US" altLang="en-US" b="1" dirty="0">
                <a:solidFill>
                  <a:srgbClr val="660066"/>
                </a:solidFill>
              </a:rPr>
              <a:t>Implementations of Critical Section</a:t>
            </a:r>
          </a:p>
          <a:p>
            <a:pPr lvl="1"/>
            <a:r>
              <a:rPr lang="en-US" altLang="en-US" dirty="0"/>
              <a:t>Low level</a:t>
            </a:r>
          </a:p>
          <a:p>
            <a:pPr lvl="1"/>
            <a:r>
              <a:rPr lang="en-US" altLang="en-US" dirty="0"/>
              <a:t>High level language</a:t>
            </a:r>
          </a:p>
          <a:p>
            <a:pPr lvl="1"/>
            <a:r>
              <a:rPr lang="en-US" altLang="en-US" dirty="0"/>
              <a:t>High level abstraction</a:t>
            </a:r>
          </a:p>
          <a:p>
            <a:r>
              <a:rPr lang="en-US" altLang="en-US" b="1" dirty="0">
                <a:solidFill>
                  <a:schemeClr val="accent2"/>
                </a:solidFill>
              </a:rPr>
              <a:t>Classical synchronization problems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Problems </a:t>
            </a:r>
            <a:r>
              <a:rPr lang="en-US" altLang="en-US" sz="3800" b="1" dirty="0"/>
              <a:t>with Concurrent Execution</a:t>
            </a:r>
          </a:p>
        </p:txBody>
      </p:sp>
      <p:sp>
        <p:nvSpPr>
          <p:cNvPr id="636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When two or more processes: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Execute concurrently in interleaving fashion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Share a modifiable resource</a:t>
            </a:r>
            <a:endParaRPr lang="en-US" altLang="en-US" dirty="0">
              <a:solidFill>
                <a:srgbClr val="C00000"/>
              </a:solidFill>
            </a:endParaRPr>
          </a:p>
          <a:p>
            <a:pPr lvl="1">
              <a:lnSpc>
                <a:spcPct val="90000"/>
              </a:lnSpc>
              <a:buFont typeface="Wingdings" pitchFamily="2" charset="2"/>
              <a:buChar char="è"/>
            </a:pPr>
            <a:r>
              <a:rPr lang="en-US" altLang="en-US" b="1" dirty="0">
                <a:sym typeface="Wingdings" pitchFamily="2" charset="2"/>
              </a:rPr>
              <a:t>Can cause </a:t>
            </a:r>
            <a:r>
              <a:rPr lang="en-US" altLang="en-US" b="1" dirty="0">
                <a:solidFill>
                  <a:srgbClr val="C00000"/>
                </a:solidFill>
                <a:sym typeface="Wingdings" pitchFamily="2" charset="2"/>
              </a:rPr>
              <a:t>synchronization problems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è"/>
            </a:pPr>
            <a:endParaRPr lang="en-US" altLang="en-US" b="1" dirty="0">
              <a:sym typeface="Wingdings" pitchFamily="2" charset="2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sym typeface="Wingdings" pitchFamily="2" charset="2"/>
              </a:rPr>
              <a:t>Execution of a single sequential process is </a:t>
            </a:r>
            <a:r>
              <a:rPr lang="en-US" altLang="en-US" b="1" i="1" dirty="0">
                <a:solidFill>
                  <a:srgbClr val="006600"/>
                </a:solidFill>
                <a:sym typeface="Wingdings" pitchFamily="2" charset="2"/>
              </a:rPr>
              <a:t>deterministic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Wingdings" pitchFamily="2" charset="2"/>
              </a:rPr>
              <a:t>Repeated execution gives the same result</a:t>
            </a:r>
          </a:p>
          <a:p>
            <a:pPr marL="344487" lvl="1" indent="0">
              <a:lnSpc>
                <a:spcPct val="90000"/>
              </a:lnSpc>
              <a:buNone/>
            </a:pPr>
            <a:endParaRPr lang="en-US" altLang="en-US" dirty="0">
              <a:sym typeface="Wingdings" pitchFamily="2" charset="2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sym typeface="Wingdings" pitchFamily="2" charset="2"/>
              </a:rPr>
              <a:t>Execution of concurrent processes may be 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 pitchFamily="2" charset="2"/>
              </a:rPr>
              <a:t>non-deterministic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Wingdings" pitchFamily="2" charset="2"/>
              </a:rPr>
              <a:t>Execution outcome depends on the order in which the shared resource is access/modified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Wingdings" pitchFamily="2" charset="2"/>
              </a:rPr>
              <a:t>known as </a:t>
            </a:r>
            <a:r>
              <a:rPr lang="en-US" altLang="en-US" b="1" dirty="0">
                <a:solidFill>
                  <a:schemeClr val="accent2"/>
                </a:solidFill>
                <a:sym typeface="Wingdings" pitchFamily="2" charset="2"/>
              </a:rPr>
              <a:t>race conditions</a:t>
            </a:r>
            <a:endParaRPr lang="en-US" altLang="en-US" dirty="0">
              <a:solidFill>
                <a:schemeClr val="accent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Race Condition</a:t>
            </a:r>
            <a:r>
              <a:rPr lang="en-US" altLang="en-US" sz="3800" dirty="0"/>
              <a:t>: Illustration</a:t>
            </a:r>
          </a:p>
        </p:txBody>
      </p:sp>
      <p:sp>
        <p:nvSpPr>
          <p:cNvPr id="637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505200"/>
            <a:ext cx="8229600" cy="2971800"/>
          </a:xfrm>
        </p:spPr>
        <p:txBody>
          <a:bodyPr/>
          <a:lstStyle/>
          <a:p>
            <a:pPr marL="571500" indent="-571500"/>
            <a:r>
              <a:rPr lang="en-US" altLang="en-US" sz="2600" dirty="0"/>
              <a:t>Process </a:t>
            </a:r>
            <a:r>
              <a:rPr lang="en-US" altLang="en-US" sz="2600" b="1" dirty="0">
                <a:latin typeface="Courier New" pitchFamily="49" charset="0"/>
              </a:rPr>
              <a:t>P1</a:t>
            </a:r>
            <a:r>
              <a:rPr lang="en-US" altLang="en-US" sz="2600" dirty="0"/>
              <a:t> and </a:t>
            </a:r>
            <a:r>
              <a:rPr lang="en-US" altLang="en-US" sz="2600" b="1" dirty="0">
                <a:latin typeface="Courier New" pitchFamily="49" charset="0"/>
              </a:rPr>
              <a:t>P2</a:t>
            </a:r>
            <a:r>
              <a:rPr lang="en-US" altLang="en-US" sz="2600" dirty="0"/>
              <a:t> shares a variable </a:t>
            </a:r>
            <a:r>
              <a:rPr lang="en-US" altLang="en-US" sz="2600" b="1" dirty="0">
                <a:latin typeface="Courier New" pitchFamily="49" charset="0"/>
              </a:rPr>
              <a:t>X</a:t>
            </a:r>
          </a:p>
          <a:p>
            <a:pPr marL="0" indent="0">
              <a:buNone/>
            </a:pPr>
            <a:endParaRPr lang="en-US" altLang="en-US" sz="1200" b="1" dirty="0">
              <a:latin typeface="Courier New" pitchFamily="49" charset="0"/>
            </a:endParaRPr>
          </a:p>
          <a:p>
            <a:pPr marL="571500" indent="-571500"/>
            <a:r>
              <a:rPr lang="en-US" altLang="en-US" sz="2600" dirty="0"/>
              <a:t>Rough translation for </a:t>
            </a:r>
            <a:r>
              <a:rPr lang="en-US" altLang="en-US" sz="2600" b="1" dirty="0">
                <a:latin typeface="Courier New" pitchFamily="49" charset="0"/>
              </a:rPr>
              <a:t>X = X + 1000</a:t>
            </a:r>
            <a:r>
              <a:rPr lang="en-US" altLang="en-US" sz="2600" dirty="0"/>
              <a:t>:</a:t>
            </a:r>
          </a:p>
          <a:p>
            <a:pPr marL="839788" lvl="1" indent="-495300">
              <a:buSzPct val="80000"/>
              <a:buFont typeface="Wingdings" pitchFamily="2" charset="2"/>
              <a:buAutoNum type="arabicPeriod"/>
            </a:pPr>
            <a:r>
              <a:rPr lang="en-US" altLang="en-US" sz="22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Load</a:t>
            </a:r>
            <a:r>
              <a:rPr lang="en-US" altLang="en-US" sz="2200" b="1" dirty="0">
                <a:latin typeface="Courier New" pitchFamily="49" charset="0"/>
              </a:rPr>
              <a:t> X </a:t>
            </a:r>
            <a:r>
              <a:rPr lang="en-US" altLang="en-US" sz="2200" b="1" dirty="0">
                <a:latin typeface="Courier New" pitchFamily="49" charset="0"/>
                <a:sym typeface="Wingdings" pitchFamily="2" charset="2"/>
              </a:rPr>
              <a:t> Register1</a:t>
            </a:r>
          </a:p>
          <a:p>
            <a:pPr marL="839788" lvl="1" indent="-495300">
              <a:buSzPct val="80000"/>
              <a:buFont typeface="Wingdings" pitchFamily="2" charset="2"/>
              <a:buAutoNum type="arabicPeriod"/>
            </a:pPr>
            <a:r>
              <a:rPr lang="en-US" altLang="en-US" sz="22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sym typeface="Wingdings" pitchFamily="2" charset="2"/>
              </a:rPr>
              <a:t>Add</a:t>
            </a:r>
            <a:r>
              <a:rPr lang="en-US" altLang="en-US" sz="2200" b="1" dirty="0">
                <a:latin typeface="Courier New" pitchFamily="49" charset="0"/>
                <a:sym typeface="Wingdings" pitchFamily="2" charset="2"/>
              </a:rPr>
              <a:t> 1000 to Register1</a:t>
            </a:r>
          </a:p>
          <a:p>
            <a:pPr marL="839788" lvl="1" indent="-495300">
              <a:buSzPct val="80000"/>
              <a:buFont typeface="Wingdings" pitchFamily="2" charset="2"/>
              <a:buAutoNum type="arabicPeriod"/>
            </a:pPr>
            <a:r>
              <a:rPr lang="en-US" altLang="en-US" sz="22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sym typeface="Wingdings" pitchFamily="2" charset="2"/>
              </a:rPr>
              <a:t>Store</a:t>
            </a:r>
            <a:r>
              <a:rPr lang="en-US" altLang="en-US" sz="2200" b="1" dirty="0">
                <a:latin typeface="Courier New" pitchFamily="49" charset="0"/>
                <a:sym typeface="Wingdings" pitchFamily="2" charset="2"/>
              </a:rPr>
              <a:t> Register1  X</a:t>
            </a:r>
            <a:endParaRPr lang="en-US" altLang="en-US" sz="2200" b="1" dirty="0">
              <a:latin typeface="Courier New" pitchFamily="49" charset="0"/>
            </a:endParaRPr>
          </a:p>
        </p:txBody>
      </p:sp>
      <p:grpSp>
        <p:nvGrpSpPr>
          <p:cNvPr id="637963" name="Group 11"/>
          <p:cNvGrpSpPr>
            <a:grpSpLocks/>
          </p:cNvGrpSpPr>
          <p:nvPr/>
        </p:nvGrpSpPr>
        <p:grpSpPr bwMode="auto">
          <a:xfrm>
            <a:off x="914400" y="2438400"/>
            <a:ext cx="2514600" cy="823913"/>
            <a:chOff x="576" y="1440"/>
            <a:chExt cx="1584" cy="519"/>
          </a:xfrm>
        </p:grpSpPr>
        <p:sp>
          <p:nvSpPr>
            <p:cNvPr id="637959" name="Text Box 7"/>
            <p:cNvSpPr txBox="1">
              <a:spLocks noChangeArrowheads="1"/>
            </p:cNvSpPr>
            <p:nvPr/>
          </p:nvSpPr>
          <p:spPr bwMode="auto">
            <a:xfrm>
              <a:off x="576" y="1440"/>
              <a:ext cx="1584" cy="28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en-US" sz="2400" b="1" dirty="0">
                  <a:latin typeface="Courier New" pitchFamily="49" charset="0"/>
                </a:rPr>
                <a:t>X = X + 1000</a:t>
              </a:r>
              <a:endParaRPr lang="en-US" altLang="en-US" sz="2400" dirty="0">
                <a:latin typeface="Courier New" pitchFamily="49" charset="0"/>
              </a:endParaRPr>
            </a:p>
          </p:txBody>
        </p:sp>
        <p:sp>
          <p:nvSpPr>
            <p:cNvPr id="637961" name="Text Box 9"/>
            <p:cNvSpPr txBox="1">
              <a:spLocks noChangeArrowheads="1"/>
            </p:cNvSpPr>
            <p:nvPr/>
          </p:nvSpPr>
          <p:spPr bwMode="auto">
            <a:xfrm>
              <a:off x="768" y="1728"/>
              <a:ext cx="11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Process </a:t>
              </a:r>
              <a:r>
                <a:rPr lang="en-US" altLang="en-US" b="1"/>
                <a:t>P1</a:t>
              </a:r>
            </a:p>
          </p:txBody>
        </p:sp>
      </p:grpSp>
      <p:grpSp>
        <p:nvGrpSpPr>
          <p:cNvPr id="637964" name="Group 12"/>
          <p:cNvGrpSpPr>
            <a:grpSpLocks/>
          </p:cNvGrpSpPr>
          <p:nvPr/>
        </p:nvGrpSpPr>
        <p:grpSpPr bwMode="auto">
          <a:xfrm>
            <a:off x="5638800" y="2438400"/>
            <a:ext cx="2514600" cy="823913"/>
            <a:chOff x="3552" y="1440"/>
            <a:chExt cx="1584" cy="519"/>
          </a:xfrm>
        </p:grpSpPr>
        <p:sp>
          <p:nvSpPr>
            <p:cNvPr id="637960" name="Text Box 8"/>
            <p:cNvSpPr txBox="1">
              <a:spLocks noChangeArrowheads="1"/>
            </p:cNvSpPr>
            <p:nvPr/>
          </p:nvSpPr>
          <p:spPr bwMode="auto">
            <a:xfrm>
              <a:off x="3552" y="1440"/>
              <a:ext cx="1584" cy="28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altLang="en-US" sz="2400" b="1" dirty="0">
                  <a:latin typeface="Courier New" pitchFamily="49" charset="0"/>
                </a:rPr>
                <a:t>X = X + 1000</a:t>
              </a:r>
              <a:endParaRPr lang="en-US" altLang="en-US" sz="2400" dirty="0">
                <a:latin typeface="Courier New" pitchFamily="49" charset="0"/>
              </a:endParaRPr>
            </a:p>
          </p:txBody>
        </p:sp>
        <p:sp>
          <p:nvSpPr>
            <p:cNvPr id="637962" name="Text Box 10"/>
            <p:cNvSpPr txBox="1">
              <a:spLocks noChangeArrowheads="1"/>
            </p:cNvSpPr>
            <p:nvPr/>
          </p:nvSpPr>
          <p:spPr bwMode="auto">
            <a:xfrm>
              <a:off x="3744" y="1728"/>
              <a:ext cx="11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Process </a:t>
              </a:r>
              <a:r>
                <a:rPr lang="en-US" altLang="en-US" b="1"/>
                <a:t>P2</a:t>
              </a: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2895600" y="1143000"/>
            <a:ext cx="2971800" cy="1066800"/>
            <a:chOff x="2895600" y="1143000"/>
            <a:chExt cx="2971800" cy="1066800"/>
          </a:xfrm>
        </p:grpSpPr>
        <p:grpSp>
          <p:nvGrpSpPr>
            <p:cNvPr id="637958" name="Group 6"/>
            <p:cNvGrpSpPr>
              <a:grpSpLocks/>
            </p:cNvGrpSpPr>
            <p:nvPr/>
          </p:nvGrpSpPr>
          <p:grpSpPr bwMode="auto">
            <a:xfrm>
              <a:off x="3200400" y="1143000"/>
              <a:ext cx="1752600" cy="533400"/>
              <a:chOff x="2016" y="672"/>
              <a:chExt cx="1104" cy="336"/>
            </a:xfrm>
          </p:grpSpPr>
          <p:sp>
            <p:nvSpPr>
              <p:cNvPr id="637956" name="Rectangle 4"/>
              <p:cNvSpPr>
                <a:spLocks noChangeArrowheads="1"/>
              </p:cNvSpPr>
              <p:nvPr/>
            </p:nvSpPr>
            <p:spPr bwMode="auto">
              <a:xfrm>
                <a:off x="2352" y="672"/>
                <a:ext cx="768" cy="336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en-US" sz="2400" b="1">
                    <a:latin typeface="Courier New" pitchFamily="49" charset="0"/>
                  </a:rPr>
                  <a:t>345</a:t>
                </a:r>
              </a:p>
            </p:txBody>
          </p:sp>
          <p:sp>
            <p:nvSpPr>
              <p:cNvPr id="637957" name="Rectangle 5"/>
              <p:cNvSpPr>
                <a:spLocks noChangeArrowheads="1"/>
              </p:cNvSpPr>
              <p:nvPr/>
            </p:nvSpPr>
            <p:spPr bwMode="auto">
              <a:xfrm>
                <a:off x="2016" y="672"/>
                <a:ext cx="336" cy="33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/>
                <a:r>
                  <a:rPr lang="en-US" altLang="en-US" sz="2400" b="1">
                    <a:latin typeface="Courier New" pitchFamily="49" charset="0"/>
                  </a:rPr>
                  <a:t>X</a:t>
                </a:r>
              </a:p>
            </p:txBody>
          </p:sp>
        </p:grpSp>
        <p:sp>
          <p:nvSpPr>
            <p:cNvPr id="637965" name="AutoShape 13"/>
            <p:cNvSpPr>
              <a:spLocks noChangeArrowheads="1"/>
            </p:cNvSpPr>
            <p:nvPr/>
          </p:nvSpPr>
          <p:spPr bwMode="auto">
            <a:xfrm rot="-2169491">
              <a:off x="2895600" y="1905000"/>
              <a:ext cx="1143000" cy="304800"/>
            </a:xfrm>
            <a:prstGeom prst="rightArrow">
              <a:avLst>
                <a:gd name="adj1" fmla="val 50000"/>
                <a:gd name="adj2" fmla="val 93750"/>
              </a:avLst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637966" name="AutoShape 14"/>
            <p:cNvSpPr>
              <a:spLocks noChangeArrowheads="1"/>
            </p:cNvSpPr>
            <p:nvPr/>
          </p:nvSpPr>
          <p:spPr bwMode="auto">
            <a:xfrm rot="-8626595">
              <a:off x="4724400" y="1905000"/>
              <a:ext cx="1143000" cy="304800"/>
            </a:xfrm>
            <a:prstGeom prst="rightArrow">
              <a:avLst>
                <a:gd name="adj1" fmla="val 50000"/>
                <a:gd name="adj2" fmla="val 93750"/>
              </a:avLst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18" name="Text Box 7"/>
          <p:cNvSpPr txBox="1">
            <a:spLocks noChangeArrowheads="1"/>
          </p:cNvSpPr>
          <p:nvPr/>
        </p:nvSpPr>
        <p:spPr bwMode="auto">
          <a:xfrm>
            <a:off x="4274820" y="4213860"/>
            <a:ext cx="2514600" cy="457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/>
            <a:r>
              <a:rPr lang="en-US" altLang="en-US" sz="2400" b="1" dirty="0">
                <a:latin typeface="Courier New" pitchFamily="49" charset="0"/>
              </a:rPr>
              <a:t>X = X + 1000</a:t>
            </a:r>
            <a:endParaRPr lang="en-US" altLang="en-US" sz="2400" dirty="0">
              <a:latin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7955" grpId="0" uiExpand="1" build="p"/>
      <p:bldP spid="1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39068" name="Group 9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569720"/>
              </p:ext>
            </p:extLst>
          </p:nvPr>
        </p:nvGraphicFramePr>
        <p:xfrm>
          <a:off x="457200" y="1066800"/>
          <a:ext cx="8077200" cy="3338513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Value of 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</a:rPr>
                        <a:t>Load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X 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sym typeface="Wingdings" pitchFamily="2" charset="2"/>
                        </a:rPr>
                        <a:t> Reg1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495300" indent="-495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63588" indent="-419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052513" indent="-3810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366838" indent="-342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684338" indent="-3429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41538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598738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55938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13138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495300" marR="0" lvl="0" indent="-4953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  <a:ea typeface="+mn-ea"/>
                          <a:cs typeface="+mn-cs"/>
                          <a:sym typeface="Wingdings" pitchFamily="2" charset="2"/>
                        </a:rPr>
                        <a:t>Add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sym typeface="Wingdings" pitchFamily="2" charset="2"/>
                        </a:rPr>
                        <a:t> 1000 to </a:t>
                      </a:r>
                      <a:r>
                        <a:rPr kumimoji="0" lang="en-US" alt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sym typeface="Wingdings" pitchFamily="2" charset="2"/>
                        </a:rPr>
                        <a:t>Reg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sym typeface="Wingdings" pitchFamily="2" charset="2"/>
                        </a:rPr>
                        <a:t> 1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  <a:ea typeface="+mn-ea"/>
                          <a:cs typeface="+mn-cs"/>
                          <a:sym typeface="Wingdings" pitchFamily="2" charset="2"/>
                        </a:rPr>
                        <a:t>Store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sym typeface="Wingdings" pitchFamily="2" charset="2"/>
                        </a:rPr>
                        <a:t> Reg1  X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  <a:ea typeface="+mn-ea"/>
                          <a:cs typeface="+mn-cs"/>
                        </a:rPr>
                        <a:t>Load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X 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sym typeface="Wingdings" pitchFamily="2" charset="2"/>
                        </a:rPr>
                        <a:t> Reg1'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  <a:ea typeface="+mn-ea"/>
                          <a:cs typeface="+mn-cs"/>
                          <a:sym typeface="Wingdings" pitchFamily="2" charset="2"/>
                        </a:rPr>
                        <a:t>Add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sym typeface="Wingdings" pitchFamily="2" charset="2"/>
                        </a:rPr>
                        <a:t> 1000 to Reg1'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  <a:ea typeface="+mn-ea"/>
                          <a:cs typeface="+mn-cs"/>
                          <a:sym typeface="Wingdings" pitchFamily="2" charset="2"/>
                        </a:rPr>
                        <a:t>Store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sym typeface="Wingdings" pitchFamily="2" charset="2"/>
                        </a:rPr>
                        <a:t> Reg1'  X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38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Race Condition: </a:t>
            </a:r>
            <a:r>
              <a:rPr lang="en-US" altLang="en-US" sz="3800" b="1" dirty="0">
                <a:solidFill>
                  <a:srgbClr val="C00000"/>
                </a:solidFill>
              </a:rPr>
              <a:t>Good behavior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2819400" y="1709159"/>
            <a:ext cx="2667000" cy="3482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Rectangle 8"/>
          <p:cNvSpPr/>
          <p:nvPr/>
        </p:nvSpPr>
        <p:spPr>
          <a:xfrm>
            <a:off x="381000" y="2133600"/>
            <a:ext cx="8248116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Rectangle 9"/>
          <p:cNvSpPr/>
          <p:nvPr/>
        </p:nvSpPr>
        <p:spPr>
          <a:xfrm>
            <a:off x="304800" y="3048000"/>
            <a:ext cx="8248116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Rectangle 11"/>
          <p:cNvSpPr/>
          <p:nvPr/>
        </p:nvSpPr>
        <p:spPr>
          <a:xfrm>
            <a:off x="304800" y="3505200"/>
            <a:ext cx="8248116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Rectangle 12"/>
          <p:cNvSpPr/>
          <p:nvPr/>
        </p:nvSpPr>
        <p:spPr>
          <a:xfrm>
            <a:off x="286284" y="3962400"/>
            <a:ext cx="8400516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92921-E8D1-4F63-8B4B-BBDB7C330874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2" name="Rectangle 1"/>
          <p:cNvSpPr/>
          <p:nvPr/>
        </p:nvSpPr>
        <p:spPr>
          <a:xfrm>
            <a:off x="3718560" y="337559"/>
            <a:ext cx="3048000" cy="5768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8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Round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24000" y="2597655"/>
            <a:ext cx="914400" cy="3482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le 10"/>
          <p:cNvSpPr/>
          <p:nvPr/>
        </p:nvSpPr>
        <p:spPr>
          <a:xfrm>
            <a:off x="332874" y="2590800"/>
            <a:ext cx="8248116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0" grpId="0" animBg="1"/>
      <p:bldP spid="12" grpId="0" animBg="1"/>
      <p:bldP spid="13" grpId="0" animBg="1"/>
      <p:bldP spid="2" grpId="0" animBg="1"/>
      <p:bldP spid="14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0048" name="Group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052948"/>
              </p:ext>
            </p:extLst>
          </p:nvPr>
        </p:nvGraphicFramePr>
        <p:xfrm>
          <a:off x="457200" y="1066800"/>
          <a:ext cx="8077200" cy="3338513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Time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Value of 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</a:rPr>
                        <a:t>Load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X 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sym typeface="Wingdings" pitchFamily="2" charset="2"/>
                        </a:rPr>
                        <a:t> Reg1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495300" indent="-4953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63588" indent="-4191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052513" indent="-3810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366838" indent="-3429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684338" indent="-34290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141538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598738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055938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513138" indent="-342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495300" marR="0" lvl="0" indent="-4953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  <a:ea typeface="+mn-ea"/>
                          <a:cs typeface="+mn-cs"/>
                          <a:sym typeface="Wingdings" pitchFamily="2" charset="2"/>
                        </a:rPr>
                        <a:t>Add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sym typeface="Wingdings" pitchFamily="2" charset="2"/>
                        </a:rPr>
                        <a:t> 1000 to Reg1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  <a:ea typeface="+mn-ea"/>
                          <a:cs typeface="+mn-cs"/>
                        </a:rPr>
                        <a:t>Load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</a:rPr>
                        <a:t> X 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sym typeface="Wingdings" pitchFamily="2" charset="2"/>
                        </a:rPr>
                        <a:t> Reg1'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  <a:ea typeface="+mn-ea"/>
                          <a:cs typeface="+mn-cs"/>
                          <a:sym typeface="Wingdings" pitchFamily="2" charset="2"/>
                        </a:rPr>
                        <a:t>Add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sym typeface="Wingdings" pitchFamily="2" charset="2"/>
                        </a:rPr>
                        <a:t> 1000 to Reg1'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  <a:ea typeface="+mn-ea"/>
                          <a:cs typeface="+mn-cs"/>
                          <a:sym typeface="Wingdings" pitchFamily="2" charset="2"/>
                        </a:rPr>
                        <a:t>Store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sym typeface="Wingdings" pitchFamily="2" charset="2"/>
                        </a:rPr>
                        <a:t> Reg1  X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6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0000"/>
                        <a:buFont typeface="Wingdings" pitchFamily="2" charset="2"/>
                        <a:defRPr sz="22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671513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02393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13414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17986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2558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27130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170238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5000"/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en-US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660066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itchFamily="49" charset="0"/>
                          <a:ea typeface="+mn-ea"/>
                          <a:cs typeface="+mn-cs"/>
                          <a:sym typeface="Wingdings" pitchFamily="2" charset="2"/>
                        </a:rPr>
                        <a:t>Store</a:t>
                      </a:r>
                      <a:r>
                        <a:rPr kumimoji="0" lang="en-US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sym typeface="Wingdings" pitchFamily="2" charset="2"/>
                        </a:rPr>
                        <a:t> Reg1'  X</a:t>
                      </a:r>
                      <a:endParaRPr kumimoji="0" lang="en-US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40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Race Condition: </a:t>
            </a:r>
            <a:r>
              <a:rPr lang="en-US" altLang="en-US" sz="3800" b="1" dirty="0">
                <a:solidFill>
                  <a:srgbClr val="C00000"/>
                </a:solidFill>
              </a:rPr>
              <a:t>Bad behavior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62484" y="2582779"/>
            <a:ext cx="8248116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Rectangle 8"/>
          <p:cNvSpPr/>
          <p:nvPr/>
        </p:nvSpPr>
        <p:spPr>
          <a:xfrm>
            <a:off x="320842" y="3035969"/>
            <a:ext cx="8248116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Rectangle 9"/>
          <p:cNvSpPr/>
          <p:nvPr/>
        </p:nvSpPr>
        <p:spPr>
          <a:xfrm>
            <a:off x="362484" y="3493169"/>
            <a:ext cx="8248116" cy="457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le 10"/>
          <p:cNvSpPr/>
          <p:nvPr/>
        </p:nvSpPr>
        <p:spPr>
          <a:xfrm>
            <a:off x="304800" y="3934327"/>
            <a:ext cx="8248116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92921-E8D1-4F63-8B4B-BBDB7C330874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12" name="Rectangle 11"/>
          <p:cNvSpPr/>
          <p:nvPr/>
        </p:nvSpPr>
        <p:spPr>
          <a:xfrm>
            <a:off x="3718560" y="337559"/>
            <a:ext cx="3048000" cy="5768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8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Round 2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29" y="4624137"/>
            <a:ext cx="6905625" cy="14844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Race Condition: </a:t>
            </a:r>
            <a:r>
              <a:rPr lang="en-US" altLang="en-US" sz="3800" b="1" dirty="0">
                <a:solidFill>
                  <a:srgbClr val="C00000"/>
                </a:solidFill>
              </a:rPr>
              <a:t>Solution</a:t>
            </a:r>
          </a:p>
        </p:txBody>
      </p:sp>
      <p:sp>
        <p:nvSpPr>
          <p:cNvPr id="641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971800"/>
            <a:ext cx="8229600" cy="3429000"/>
          </a:xfrm>
        </p:spPr>
        <p:txBody>
          <a:bodyPr/>
          <a:lstStyle/>
          <a:p>
            <a:r>
              <a:rPr lang="en-US" altLang="en-US" dirty="0"/>
              <a:t>Solution outline:</a:t>
            </a:r>
          </a:p>
          <a:p>
            <a:pPr lvl="1"/>
            <a:r>
              <a:rPr lang="en-US" altLang="en-US" dirty="0"/>
              <a:t>Designate code segment with race condition as </a:t>
            </a:r>
            <a:r>
              <a:rPr lang="en-US" altLang="en-US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critical section</a:t>
            </a:r>
          </a:p>
          <a:p>
            <a:pPr marL="344487" lvl="1" indent="0">
              <a:buNone/>
            </a:pPr>
            <a:endParaRPr lang="en-US" altLang="en-US" b="1" dirty="0">
              <a:solidFill>
                <a:srgbClr val="66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altLang="en-US" dirty="0"/>
              <a:t>At any point in time, only </a:t>
            </a: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one process </a:t>
            </a:r>
            <a:r>
              <a:rPr lang="en-US" altLang="en-US" dirty="0"/>
              <a:t>can execute in the critical section</a:t>
            </a:r>
          </a:p>
          <a:p>
            <a:pPr>
              <a:buFont typeface="Wingdings" pitchFamily="2" charset="2"/>
              <a:buNone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2" name="Rounded Rectangle 1"/>
          <p:cNvSpPr/>
          <p:nvPr/>
        </p:nvSpPr>
        <p:spPr>
          <a:xfrm>
            <a:off x="499533" y="1066800"/>
            <a:ext cx="8187267" cy="1676400"/>
          </a:xfrm>
          <a:prstGeom prst="roundRect">
            <a:avLst>
              <a:gd name="adj" fmla="val 9091"/>
            </a:avLst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 sz="3600" dirty="0"/>
              <a:t>Incorrect execution is due to the </a:t>
            </a:r>
            <a:r>
              <a:rPr lang="en-US" altLang="en-US" sz="36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unsynchronized access</a:t>
            </a:r>
            <a:r>
              <a:rPr lang="en-US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sz="3600" b="1" dirty="0"/>
              <a:t>to a </a:t>
            </a:r>
            <a:r>
              <a:rPr lang="en-US" altLang="en-US" sz="36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shared modifiable resource</a:t>
            </a:r>
            <a:endParaRPr lang="en-SG" sz="3600" dirty="0">
              <a:solidFill>
                <a:srgbClr val="0066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C</a:t>
            </a:r>
            <a:r>
              <a:rPr lang="en-US" altLang="en-US" sz="3800" dirty="0">
                <a:solidFill>
                  <a:srgbClr val="C00000"/>
                </a:solidFill>
              </a:rPr>
              <a:t>ritical </a:t>
            </a:r>
            <a:r>
              <a:rPr lang="en-US" altLang="en-US" sz="3800" b="1" dirty="0">
                <a:solidFill>
                  <a:srgbClr val="C00000"/>
                </a:solidFill>
              </a:rPr>
              <a:t>S</a:t>
            </a:r>
            <a:r>
              <a:rPr lang="en-US" altLang="en-US" sz="3800" dirty="0">
                <a:solidFill>
                  <a:srgbClr val="C00000"/>
                </a:solidFill>
              </a:rPr>
              <a:t>ection (</a:t>
            </a:r>
            <a:r>
              <a:rPr lang="en-US" altLang="en-US" sz="3800" b="1" dirty="0">
                <a:solidFill>
                  <a:srgbClr val="C00000"/>
                </a:solidFill>
              </a:rPr>
              <a:t>CS</a:t>
            </a:r>
            <a:r>
              <a:rPr lang="en-US" altLang="en-US" sz="3800" dirty="0">
                <a:solidFill>
                  <a:srgbClr val="C00000"/>
                </a:solidFill>
              </a:rPr>
              <a:t>)</a:t>
            </a:r>
          </a:p>
        </p:txBody>
      </p:sp>
      <p:grpSp>
        <p:nvGrpSpPr>
          <p:cNvPr id="649229" name="Group 13"/>
          <p:cNvGrpSpPr>
            <a:grpSpLocks/>
          </p:cNvGrpSpPr>
          <p:nvPr/>
        </p:nvGrpSpPr>
        <p:grpSpPr bwMode="auto">
          <a:xfrm>
            <a:off x="4724400" y="4845050"/>
            <a:ext cx="3352800" cy="1357313"/>
            <a:chOff x="3024" y="3024"/>
            <a:chExt cx="2112" cy="855"/>
          </a:xfrm>
        </p:grpSpPr>
        <p:sp>
          <p:nvSpPr>
            <p:cNvPr id="649224" name="Text Box 8"/>
            <p:cNvSpPr txBox="1">
              <a:spLocks noChangeArrowheads="1"/>
            </p:cNvSpPr>
            <p:nvPr/>
          </p:nvSpPr>
          <p:spPr bwMode="auto">
            <a:xfrm>
              <a:off x="3024" y="3024"/>
              <a:ext cx="2112" cy="6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en-US" sz="2000" b="1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Enter CS</a:t>
              </a:r>
            </a:p>
            <a:p>
              <a:pPr eaLnBrk="0" hangingPunct="0"/>
              <a:r>
                <a:rPr lang="en-US" altLang="en-US" sz="2000" b="1" dirty="0">
                  <a:latin typeface="Courier New" pitchFamily="49" charset="0"/>
                </a:rPr>
                <a:t>	X = X + 1000</a:t>
              </a:r>
            </a:p>
            <a:p>
              <a:pPr eaLnBrk="0" hangingPunct="0"/>
              <a:r>
                <a:rPr lang="en-US" altLang="en-US" sz="2000" b="1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Exit CS</a:t>
              </a:r>
            </a:p>
          </p:txBody>
        </p:sp>
        <p:sp>
          <p:nvSpPr>
            <p:cNvPr id="649225" name="Text Box 9"/>
            <p:cNvSpPr txBox="1">
              <a:spLocks noChangeArrowheads="1"/>
            </p:cNvSpPr>
            <p:nvPr/>
          </p:nvSpPr>
          <p:spPr bwMode="auto">
            <a:xfrm>
              <a:off x="3504" y="3648"/>
              <a:ext cx="11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Process </a:t>
              </a:r>
              <a:r>
                <a:rPr lang="en-US" altLang="en-US" b="1"/>
                <a:t>P2</a:t>
              </a:r>
            </a:p>
          </p:txBody>
        </p:sp>
      </p:grpSp>
      <p:sp>
        <p:nvSpPr>
          <p:cNvPr id="649227" name="Text Box 11"/>
          <p:cNvSpPr txBox="1">
            <a:spLocks noChangeArrowheads="1"/>
          </p:cNvSpPr>
          <p:nvPr/>
        </p:nvSpPr>
        <p:spPr bwMode="auto">
          <a:xfrm>
            <a:off x="2590800" y="1334568"/>
            <a:ext cx="3962400" cy="1938992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40000"/>
                <a:lumOff val="60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400" b="1" dirty="0">
                <a:solidFill>
                  <a:srgbClr val="9900CC"/>
                </a:solidFill>
                <a:latin typeface="Courier New" pitchFamily="49" charset="0"/>
              </a:rPr>
              <a:t>     </a:t>
            </a:r>
            <a:r>
              <a:rPr lang="en-US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</a:rPr>
              <a:t>//Normal code</a:t>
            </a:r>
          </a:p>
          <a:p>
            <a:pPr eaLnBrk="0" hangingPunct="0"/>
            <a:endParaRPr lang="en-US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</a:endParaRPr>
          </a:p>
          <a:p>
            <a:pPr eaLnBrk="0" hangingPunct="0"/>
            <a:r>
              <a:rPr lang="en-US" altLang="en-US" sz="2400" b="1" dirty="0">
                <a:latin typeface="Courier New" pitchFamily="49" charset="0"/>
              </a:rPr>
              <a:t>	</a:t>
            </a:r>
            <a:r>
              <a:rPr lang="en-US" altLang="en-US" sz="2400" b="1" dirty="0">
                <a:solidFill>
                  <a:srgbClr val="FF0000"/>
                </a:solidFill>
                <a:latin typeface="Courier New" pitchFamily="49" charset="0"/>
              </a:rPr>
              <a:t>//Critical Work</a:t>
            </a:r>
          </a:p>
          <a:p>
            <a:pPr eaLnBrk="0" hangingPunct="0"/>
            <a:endParaRPr lang="en-US" altLang="en-US" sz="2400" b="1" dirty="0">
              <a:solidFill>
                <a:srgbClr val="FF0000"/>
              </a:solidFill>
              <a:latin typeface="Courier New" pitchFamily="49" charset="0"/>
            </a:endParaRPr>
          </a:p>
          <a:p>
            <a:pPr eaLnBrk="0" hangingPunct="0"/>
            <a:r>
              <a:rPr lang="en-US" altLang="en-US" sz="2400" b="1" dirty="0">
                <a:solidFill>
                  <a:srgbClr val="9900CC"/>
                </a:solidFill>
                <a:latin typeface="Courier New" pitchFamily="49" charset="0"/>
              </a:rPr>
              <a:t>	</a:t>
            </a:r>
            <a:r>
              <a:rPr lang="en-US" alt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</a:rPr>
              <a:t>//Normal code</a:t>
            </a:r>
          </a:p>
        </p:txBody>
      </p:sp>
      <p:grpSp>
        <p:nvGrpSpPr>
          <p:cNvPr id="649230" name="Group 14"/>
          <p:cNvGrpSpPr>
            <a:grpSpLocks/>
          </p:cNvGrpSpPr>
          <p:nvPr/>
        </p:nvGrpSpPr>
        <p:grpSpPr bwMode="auto">
          <a:xfrm>
            <a:off x="762000" y="4845050"/>
            <a:ext cx="3352800" cy="1357313"/>
            <a:chOff x="3024" y="3024"/>
            <a:chExt cx="2112" cy="855"/>
          </a:xfrm>
        </p:grpSpPr>
        <p:sp>
          <p:nvSpPr>
            <p:cNvPr id="649231" name="Text Box 15"/>
            <p:cNvSpPr txBox="1">
              <a:spLocks noChangeArrowheads="1"/>
            </p:cNvSpPr>
            <p:nvPr/>
          </p:nvSpPr>
          <p:spPr bwMode="auto">
            <a:xfrm>
              <a:off x="3024" y="3024"/>
              <a:ext cx="2112" cy="63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en-US" sz="2000" b="1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Enter CS</a:t>
              </a:r>
            </a:p>
            <a:p>
              <a:pPr eaLnBrk="0" hangingPunct="0"/>
              <a:r>
                <a:rPr lang="en-US" altLang="en-US" sz="2000" b="1" dirty="0">
                  <a:latin typeface="Courier New" pitchFamily="49" charset="0"/>
                </a:rPr>
                <a:t>	X = X + 1000</a:t>
              </a:r>
            </a:p>
            <a:p>
              <a:pPr eaLnBrk="0" hangingPunct="0"/>
              <a:r>
                <a:rPr lang="en-US" altLang="en-US" sz="2000" b="1" dirty="0">
                  <a:solidFill>
                    <a:srgbClr val="7030A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Exit CS</a:t>
              </a:r>
            </a:p>
          </p:txBody>
        </p:sp>
        <p:sp>
          <p:nvSpPr>
            <p:cNvPr id="649232" name="Text Box 16"/>
            <p:cNvSpPr txBox="1">
              <a:spLocks noChangeArrowheads="1"/>
            </p:cNvSpPr>
            <p:nvPr/>
          </p:nvSpPr>
          <p:spPr bwMode="auto">
            <a:xfrm>
              <a:off x="3504" y="3648"/>
              <a:ext cx="11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Process </a:t>
              </a:r>
              <a:r>
                <a:rPr lang="en-US" altLang="en-US" b="1"/>
                <a:t>P1</a:t>
              </a: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92921-E8D1-4F63-8B4B-BBDB7C330874}" type="slidenum">
              <a:rPr lang="en-US" altLang="en-US" smtClean="0"/>
              <a:pPr/>
              <a:t>8</a:t>
            </a:fld>
            <a:endParaRPr lang="en-US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724" y="1682410"/>
            <a:ext cx="5348151" cy="11569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800" dirty="0"/>
              <a:t>Properties of Correct CS Implementation</a:t>
            </a:r>
            <a:endParaRPr lang="en-US" sz="3800" dirty="0"/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1426642147"/>
              </p:ext>
            </p:extLst>
          </p:nvPr>
        </p:nvGraphicFramePr>
        <p:xfrm>
          <a:off x="457200" y="990600"/>
          <a:ext cx="81534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92921-E8D1-4F63-8B4B-BBDB7C330874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5180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Symptoms of </a:t>
            </a:r>
            <a:r>
              <a:rPr lang="en-US" altLang="en-US" sz="3800" b="1" dirty="0">
                <a:solidFill>
                  <a:srgbClr val="660066"/>
                </a:solidFill>
              </a:rPr>
              <a:t>Incorrect</a:t>
            </a:r>
            <a:r>
              <a:rPr lang="en-US" altLang="en-US" sz="3800" dirty="0">
                <a:solidFill>
                  <a:srgbClr val="660066"/>
                </a:solidFill>
              </a:rPr>
              <a:t> </a:t>
            </a:r>
            <a:r>
              <a:rPr lang="en-US" altLang="en-US" sz="3800" b="1" dirty="0">
                <a:solidFill>
                  <a:srgbClr val="660066"/>
                </a:solidFill>
              </a:rPr>
              <a:t>Synchronization</a:t>
            </a:r>
          </a:p>
        </p:txBody>
      </p:sp>
      <p:sp>
        <p:nvSpPr>
          <p:cNvPr id="64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486400"/>
          </a:xfrm>
        </p:spPr>
        <p:txBody>
          <a:bodyPr/>
          <a:lstStyle/>
          <a:p>
            <a:r>
              <a:rPr lang="en-US" altLang="en-US" sz="2700" b="1" dirty="0">
                <a:solidFill>
                  <a:srgbClr val="C00000"/>
                </a:solidFill>
              </a:rPr>
              <a:t>Deadlock: </a:t>
            </a:r>
          </a:p>
          <a:p>
            <a:pPr lvl="1"/>
            <a:r>
              <a:rPr lang="en-US" altLang="en-US" sz="2400" dirty="0"/>
              <a:t>All processes blocked </a:t>
            </a:r>
            <a:r>
              <a:rPr lang="en-US" altLang="en-US" sz="2400" dirty="0">
                <a:sym typeface="Wingdings" pitchFamily="2" charset="2"/>
              </a:rPr>
              <a:t> </a:t>
            </a:r>
            <a:r>
              <a:rPr lang="en-US" altLang="en-US" sz="24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 progress </a:t>
            </a:r>
          </a:p>
          <a:p>
            <a:pPr marL="344487" lvl="1" indent="0">
              <a:buNone/>
            </a:pPr>
            <a:endParaRPr lang="en-US" altLang="en-US" sz="2400" dirty="0"/>
          </a:p>
          <a:p>
            <a:r>
              <a:rPr lang="en-US" altLang="en-US" sz="2700" b="1" dirty="0" err="1">
                <a:solidFill>
                  <a:srgbClr val="002060"/>
                </a:solidFill>
              </a:rPr>
              <a:t>Livelock</a:t>
            </a:r>
            <a:r>
              <a:rPr lang="en-US" altLang="en-US" sz="2700" b="1" dirty="0">
                <a:solidFill>
                  <a:srgbClr val="002060"/>
                </a:solidFill>
              </a:rPr>
              <a:t>: </a:t>
            </a:r>
          </a:p>
          <a:p>
            <a:pPr lvl="1"/>
            <a:r>
              <a:rPr lang="en-US" altLang="en-US" sz="2400" dirty="0"/>
              <a:t>Usually related to </a:t>
            </a:r>
            <a:r>
              <a:rPr lang="en-US" altLang="en-US" sz="2400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deadlock avoidance </a:t>
            </a:r>
            <a:r>
              <a:rPr lang="en-US" altLang="en-US" sz="2400" dirty="0"/>
              <a:t>mechanism</a:t>
            </a:r>
          </a:p>
          <a:p>
            <a:pPr lvl="1"/>
            <a:r>
              <a:rPr lang="en-US" altLang="en-US" sz="2400" dirty="0"/>
              <a:t>Processes keep changing state to avoid deadlock and make no other progress</a:t>
            </a:r>
          </a:p>
          <a:p>
            <a:pPr lvl="1"/>
            <a:r>
              <a:rPr lang="en-US" altLang="en-US" sz="2400" dirty="0"/>
              <a:t>Typically process are not blocked</a:t>
            </a:r>
          </a:p>
          <a:p>
            <a:pPr marL="344487" lvl="1" indent="0">
              <a:buNone/>
            </a:pPr>
            <a:endParaRPr lang="en-US" altLang="en-US" sz="2400" dirty="0"/>
          </a:p>
          <a:p>
            <a:r>
              <a:rPr lang="en-US" altLang="en-US" sz="2700" b="1" dirty="0">
                <a:solidFill>
                  <a:srgbClr val="660066"/>
                </a:solidFill>
              </a:rPr>
              <a:t>Starvation: </a:t>
            </a:r>
          </a:p>
          <a:p>
            <a:pPr lvl="1"/>
            <a:r>
              <a:rPr lang="en-US" altLang="en-US" sz="2400" dirty="0"/>
              <a:t>Some processes are blocked forever </a:t>
            </a:r>
            <a:endParaRPr lang="en-US" altLang="en-US" sz="2400" dirty="0">
              <a:cs typeface="Arial" charset="0"/>
            </a:endParaRPr>
          </a:p>
          <a:p>
            <a:pPr lvl="1"/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CS Implementations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Assembly level </a:t>
            </a:r>
            <a:r>
              <a:rPr lang="en-US" b="1" dirty="0"/>
              <a:t>implementations:</a:t>
            </a:r>
          </a:p>
          <a:p>
            <a:pPr lvl="1"/>
            <a:r>
              <a:rPr lang="en-US" dirty="0"/>
              <a:t>Mechanisms provided by the processor</a:t>
            </a:r>
          </a:p>
          <a:p>
            <a:pPr lvl="1"/>
            <a:endParaRPr lang="en-US" dirty="0"/>
          </a:p>
          <a:p>
            <a:r>
              <a:rPr lang="en-US" b="1" dirty="0">
                <a:solidFill>
                  <a:srgbClr val="660066"/>
                </a:solidFill>
              </a:rPr>
              <a:t>High level language </a:t>
            </a:r>
            <a:r>
              <a:rPr lang="en-US" b="1" dirty="0"/>
              <a:t>implementations:</a:t>
            </a:r>
          </a:p>
          <a:p>
            <a:pPr lvl="1"/>
            <a:r>
              <a:rPr lang="en-US" dirty="0"/>
              <a:t>Utilizes only normal programming constructs</a:t>
            </a:r>
          </a:p>
          <a:p>
            <a:pPr lvl="1"/>
            <a:endParaRPr lang="en-US" dirty="0"/>
          </a:p>
          <a:p>
            <a:r>
              <a:rPr lang="en-US" b="1" dirty="0">
                <a:solidFill>
                  <a:srgbClr val="003300"/>
                </a:solidFill>
              </a:rPr>
              <a:t>High level abstractions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Provide abstracted mechanisms that provide additional useful features</a:t>
            </a:r>
          </a:p>
          <a:p>
            <a:pPr lvl="1"/>
            <a:r>
              <a:rPr lang="en-US" dirty="0"/>
              <a:t>Commonly implemented by assembly level mechanisms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9843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assembly level </a:t>
            </a:r>
            <a:r>
              <a:rPr lang="en-US" dirty="0"/>
              <a:t>Implementation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worry! The processor has all the answers!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7B2A14-CFC8-473E-8C77-48351E3F49FF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84501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C00000"/>
                </a:solidFill>
              </a:rPr>
              <a:t>Test and Set</a:t>
            </a:r>
            <a:r>
              <a:rPr lang="en-US" sz="4000" dirty="0"/>
              <a:t>: An </a:t>
            </a:r>
            <a:r>
              <a:rPr lang="en-US" sz="40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Atomic</a:t>
            </a:r>
            <a:r>
              <a:rPr lang="en-US" sz="4000" dirty="0"/>
              <a:t> </a:t>
            </a:r>
            <a:r>
              <a:rPr lang="en-US" sz="40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Instruction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426720" y="1143000"/>
            <a:ext cx="8229600" cy="685800"/>
          </a:xfrm>
        </p:spPr>
        <p:txBody>
          <a:bodyPr/>
          <a:lstStyle/>
          <a:p>
            <a:r>
              <a:rPr lang="en-US" dirty="0"/>
              <a:t>Machine instruction to aid synchronization</a:t>
            </a: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904430" y="2051086"/>
            <a:ext cx="6629400" cy="461665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40000"/>
                <a:lumOff val="60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4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Courier New" pitchFamily="49" charset="0"/>
              </a:rPr>
              <a:t>TestAndSet</a:t>
            </a:r>
            <a:r>
              <a:rPr lang="en-US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itchFamily="49" charset="0"/>
              </a:rPr>
              <a:t> </a:t>
            </a:r>
            <a:r>
              <a:rPr lang="en-US" altLang="en-US" sz="2400" b="1" dirty="0">
                <a:solidFill>
                  <a:srgbClr val="C00000"/>
                </a:solidFill>
                <a:latin typeface="Courier New" pitchFamily="49" charset="0"/>
              </a:rPr>
              <a:t>Register</a:t>
            </a:r>
            <a:r>
              <a:rPr lang="en-US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ourier New" pitchFamily="49" charset="0"/>
              </a:rPr>
              <a:t>, </a:t>
            </a:r>
            <a:r>
              <a:rPr lang="en-US" altLang="en-US" sz="2400" b="1" dirty="0" err="1">
                <a:solidFill>
                  <a:srgbClr val="C00000"/>
                </a:solidFill>
                <a:latin typeface="Courier New" pitchFamily="49" charset="0"/>
              </a:rPr>
              <a:t>MemoryLocation</a:t>
            </a:r>
            <a:endParaRPr lang="en-US" altLang="en-US" sz="2400" b="1" dirty="0">
              <a:solidFill>
                <a:srgbClr val="C00000"/>
              </a:solidFill>
              <a:latin typeface="Courier New" pitchFamily="49" charset="0"/>
            </a:endParaRPr>
          </a:p>
        </p:txBody>
      </p:sp>
      <p:sp>
        <p:nvSpPr>
          <p:cNvPr id="9" name="Content Placeholder 6"/>
          <p:cNvSpPr txBox="1">
            <a:spLocks/>
          </p:cNvSpPr>
          <p:nvPr/>
        </p:nvSpPr>
        <p:spPr bwMode="auto">
          <a:xfrm>
            <a:off x="426720" y="3048000"/>
            <a:ext cx="8229600" cy="3473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b="1" kern="0" dirty="0"/>
              <a:t>Behavior: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kern="0" dirty="0"/>
              <a:t>Load the current content at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</a:rPr>
              <a:t>MemoryLocation</a:t>
            </a:r>
            <a:r>
              <a:rPr lang="en-US" kern="0" dirty="0"/>
              <a:t> into </a:t>
            </a:r>
            <a:r>
              <a:rPr lang="en-US" b="1" kern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Register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kern="0" dirty="0"/>
              <a:t>Stores a </a:t>
            </a:r>
            <a:r>
              <a:rPr lang="en-US" b="1" u="sng" kern="0" dirty="0"/>
              <a:t>1</a:t>
            </a:r>
            <a:r>
              <a:rPr lang="en-US" kern="0" dirty="0"/>
              <a:t> into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</a:rPr>
              <a:t>MemoryLocation</a:t>
            </a:r>
            <a:endParaRPr lang="en-US" b="1" dirty="0">
              <a:solidFill>
                <a:srgbClr val="C00000"/>
              </a:solidFill>
              <a:latin typeface="Courier New" pitchFamily="49" charset="0"/>
            </a:endParaRPr>
          </a:p>
          <a:p>
            <a:pPr marL="344487" lvl="1" indent="0">
              <a:buNone/>
            </a:pPr>
            <a:endParaRPr lang="en-US" b="1" dirty="0">
              <a:solidFill>
                <a:srgbClr val="C00000"/>
              </a:solidFill>
              <a:latin typeface="Courier New" pitchFamily="49" charset="0"/>
            </a:endParaRPr>
          </a:p>
          <a:p>
            <a:pPr lvl="1"/>
            <a:r>
              <a:rPr lang="en-US" kern="0" dirty="0"/>
              <a:t>Important: The above is performed as a </a:t>
            </a:r>
            <a:r>
              <a:rPr lang="en-US" b="1" kern="0" dirty="0"/>
              <a:t>single machine operation</a:t>
            </a:r>
            <a:r>
              <a:rPr lang="en-US" kern="0" dirty="0"/>
              <a:t>, i.e. </a:t>
            </a:r>
            <a:r>
              <a:rPr lang="en-US" b="1" kern="0" dirty="0"/>
              <a:t>atomic</a:t>
            </a:r>
            <a:endParaRPr lang="en-US" kern="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3668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660066"/>
                </a:solidFill>
              </a:rPr>
              <a:t>Using Test and Set</a:t>
            </a: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452846" y="1029192"/>
            <a:ext cx="5715000" cy="1323439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40000"/>
                <a:lumOff val="60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006600"/>
                </a:solidFill>
                <a:latin typeface="Courier New" pitchFamily="49" charset="0"/>
              </a:rPr>
              <a:t>void</a:t>
            </a:r>
            <a:r>
              <a:rPr lang="en-US" altLang="en-US" sz="2000" b="1" dirty="0">
                <a:latin typeface="Courier New" pitchFamily="49" charset="0"/>
              </a:rPr>
              <a:t> </a:t>
            </a:r>
            <a:r>
              <a:rPr lang="en-US" altLang="en-US" sz="2000" b="1" i="1" dirty="0" err="1">
                <a:solidFill>
                  <a:srgbClr val="C00000"/>
                </a:solidFill>
                <a:latin typeface="Courier New" pitchFamily="49" charset="0"/>
              </a:rPr>
              <a:t>EnterCS</a:t>
            </a:r>
            <a:r>
              <a:rPr lang="en-US" altLang="en-US" sz="2000" b="1" dirty="0">
                <a:latin typeface="Courier New" pitchFamily="49" charset="0"/>
              </a:rPr>
              <a:t>( </a:t>
            </a:r>
            <a:r>
              <a:rPr lang="en-US" altLang="en-US" sz="2000" b="1" dirty="0" err="1">
                <a:solidFill>
                  <a:srgbClr val="0066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* Lock )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</a:t>
            </a:r>
            <a:r>
              <a:rPr lang="en-US" altLang="en-US" sz="2000" b="1" dirty="0">
                <a:solidFill>
                  <a:srgbClr val="7030A0"/>
                </a:solidFill>
                <a:latin typeface="Courier New" pitchFamily="49" charset="0"/>
              </a:rPr>
              <a:t>while</a:t>
            </a:r>
            <a:r>
              <a:rPr lang="en-US" altLang="en-US" sz="2000" b="1" dirty="0">
                <a:latin typeface="Courier New" pitchFamily="49" charset="0"/>
              </a:rPr>
              <a:t>( </a:t>
            </a:r>
            <a:r>
              <a:rPr lang="en-US" altLang="en-US" sz="2000" b="1" i="1" dirty="0" err="1">
                <a:solidFill>
                  <a:srgbClr val="C00000"/>
                </a:solidFill>
                <a:latin typeface="Courier New" pitchFamily="49" charset="0"/>
              </a:rPr>
              <a:t>TestAndSet</a:t>
            </a:r>
            <a:r>
              <a:rPr lang="en-US" altLang="en-US" sz="2000" b="1" dirty="0">
                <a:latin typeface="Courier New" pitchFamily="49" charset="0"/>
              </a:rPr>
              <a:t>( Lock ) == 1);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}</a:t>
            </a: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433251" y="5038102"/>
            <a:ext cx="5715000" cy="1323439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40000"/>
                <a:lumOff val="60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006600"/>
                </a:solidFill>
                <a:latin typeface="Courier New" pitchFamily="49" charset="0"/>
              </a:rPr>
              <a:t>void</a:t>
            </a:r>
            <a:r>
              <a:rPr lang="en-US" altLang="en-US" sz="2000" b="1" i="1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altLang="en-US" sz="2000" b="1" i="1" dirty="0" err="1">
                <a:solidFill>
                  <a:srgbClr val="C00000"/>
                </a:solidFill>
                <a:latin typeface="Courier New" pitchFamily="49" charset="0"/>
              </a:rPr>
              <a:t>ExitCS</a:t>
            </a:r>
            <a:r>
              <a:rPr lang="en-US" altLang="en-US" sz="2000" b="1" dirty="0">
                <a:latin typeface="Courier New" pitchFamily="49" charset="0"/>
              </a:rPr>
              <a:t>( </a:t>
            </a:r>
            <a:r>
              <a:rPr lang="en-US" altLang="en-US" sz="2000" b="1" dirty="0" err="1">
                <a:solidFill>
                  <a:srgbClr val="006600"/>
                </a:solidFill>
                <a:latin typeface="Courier New" pitchFamily="49" charset="0"/>
              </a:rPr>
              <a:t>int</a:t>
            </a:r>
            <a:r>
              <a:rPr lang="en-US" altLang="en-US" sz="2000" b="1" dirty="0">
                <a:latin typeface="Courier New" pitchFamily="49" charset="0"/>
              </a:rPr>
              <a:t>* Lock )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{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*Lock = 0;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}</a:t>
            </a:r>
          </a:p>
        </p:txBody>
      </p:sp>
      <p:grpSp>
        <p:nvGrpSpPr>
          <p:cNvPr id="10" name="Group 15"/>
          <p:cNvGrpSpPr>
            <a:grpSpLocks/>
          </p:cNvGrpSpPr>
          <p:nvPr/>
        </p:nvGrpSpPr>
        <p:grpSpPr bwMode="auto">
          <a:xfrm>
            <a:off x="6400800" y="2552033"/>
            <a:ext cx="2133600" cy="533400"/>
            <a:chOff x="1872" y="720"/>
            <a:chExt cx="1344" cy="336"/>
          </a:xfrm>
        </p:grpSpPr>
        <p:sp>
          <p:nvSpPr>
            <p:cNvPr id="11" name="Rectangle 5"/>
            <p:cNvSpPr>
              <a:spLocks noChangeArrowheads="1"/>
            </p:cNvSpPr>
            <p:nvPr/>
          </p:nvSpPr>
          <p:spPr bwMode="auto">
            <a:xfrm>
              <a:off x="2400" y="720"/>
              <a:ext cx="816" cy="33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 dirty="0">
                <a:latin typeface="Courier New" pitchFamily="49" charset="0"/>
              </a:endParaRPr>
            </a:p>
          </p:txBody>
        </p:sp>
        <p:sp>
          <p:nvSpPr>
            <p:cNvPr id="12" name="Rectangle 6"/>
            <p:cNvSpPr>
              <a:spLocks noChangeArrowheads="1"/>
            </p:cNvSpPr>
            <p:nvPr/>
          </p:nvSpPr>
          <p:spPr bwMode="auto">
            <a:xfrm>
              <a:off x="1872" y="720"/>
              <a:ext cx="526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400" b="1" dirty="0">
                  <a:latin typeface="Courier New" pitchFamily="49" charset="0"/>
                </a:rPr>
                <a:t>Lock</a:t>
              </a:r>
            </a:p>
          </p:txBody>
        </p:sp>
      </p:grpSp>
      <p:grpSp>
        <p:nvGrpSpPr>
          <p:cNvPr id="13" name="Group 14"/>
          <p:cNvGrpSpPr>
            <a:grpSpLocks/>
          </p:cNvGrpSpPr>
          <p:nvPr/>
        </p:nvGrpSpPr>
        <p:grpSpPr bwMode="auto">
          <a:xfrm>
            <a:off x="422365" y="3289299"/>
            <a:ext cx="2320925" cy="1358901"/>
            <a:chOff x="3024" y="3024"/>
            <a:chExt cx="1462" cy="856"/>
          </a:xfrm>
        </p:grpSpPr>
        <p:sp>
          <p:nvSpPr>
            <p:cNvPr id="14" name="Text Box 15"/>
            <p:cNvSpPr txBox="1">
              <a:spLocks noChangeArrowheads="1"/>
            </p:cNvSpPr>
            <p:nvPr/>
          </p:nvSpPr>
          <p:spPr bwMode="auto">
            <a:xfrm>
              <a:off x="3024" y="3024"/>
              <a:ext cx="1462" cy="6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altLang="en-US" sz="2000" b="1" dirty="0" err="1">
                  <a:solidFill>
                    <a:srgbClr val="7030A0"/>
                  </a:solidFill>
                  <a:latin typeface="Courier New" pitchFamily="49" charset="0"/>
                </a:rPr>
                <a:t>EnterCS</a:t>
              </a:r>
              <a:r>
                <a:rPr lang="en-US" altLang="en-US" sz="2000" b="1" dirty="0">
                  <a:latin typeface="Courier New" pitchFamily="49" charset="0"/>
                </a:rPr>
                <a:t>()</a:t>
              </a:r>
            </a:p>
            <a:p>
              <a:pPr eaLnBrk="0" hangingPunct="0"/>
              <a:r>
                <a:rPr lang="en-US" altLang="en-US" sz="2000" b="1" dirty="0">
                  <a:solidFill>
                    <a:srgbClr val="7030A0"/>
                  </a:solidFill>
                  <a:latin typeface="Courier New" pitchFamily="49" charset="0"/>
                </a:rPr>
                <a:t>  </a:t>
              </a:r>
              <a:r>
                <a:rPr lang="en-US" altLang="en-US" sz="2000" b="1" dirty="0">
                  <a:latin typeface="Courier New" pitchFamily="49" charset="0"/>
                </a:rPr>
                <a:t>X = X + 1000</a:t>
              </a:r>
            </a:p>
            <a:p>
              <a:pPr eaLnBrk="0" hangingPunct="0"/>
              <a:r>
                <a:rPr lang="en-US" altLang="en-US" sz="2000" b="1" dirty="0" err="1">
                  <a:solidFill>
                    <a:srgbClr val="7030A0"/>
                  </a:solidFill>
                  <a:latin typeface="Courier New" pitchFamily="49" charset="0"/>
                </a:rPr>
                <a:t>ExitCS</a:t>
              </a:r>
              <a:r>
                <a:rPr lang="en-US" altLang="en-US" sz="2000" b="1" dirty="0">
                  <a:latin typeface="Courier New" pitchFamily="49" charset="0"/>
                </a:rPr>
                <a:t>()</a:t>
              </a:r>
            </a:p>
          </p:txBody>
        </p:sp>
        <p:sp>
          <p:nvSpPr>
            <p:cNvPr id="15" name="Text Box 16"/>
            <p:cNvSpPr txBox="1">
              <a:spLocks noChangeArrowheads="1"/>
            </p:cNvSpPr>
            <p:nvPr/>
          </p:nvSpPr>
          <p:spPr bwMode="auto">
            <a:xfrm>
              <a:off x="3142" y="3649"/>
              <a:ext cx="11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dirty="0"/>
                <a:t>Process </a:t>
              </a:r>
              <a:r>
                <a:rPr lang="en-US" altLang="en-US" b="1" dirty="0"/>
                <a:t>P0</a:t>
              </a:r>
            </a:p>
          </p:txBody>
        </p:sp>
      </p:grpSp>
      <p:grpSp>
        <p:nvGrpSpPr>
          <p:cNvPr id="16" name="Group 14"/>
          <p:cNvGrpSpPr>
            <a:grpSpLocks/>
          </p:cNvGrpSpPr>
          <p:nvPr/>
        </p:nvGrpSpPr>
        <p:grpSpPr bwMode="auto">
          <a:xfrm>
            <a:off x="3629387" y="3289299"/>
            <a:ext cx="2320925" cy="1358901"/>
            <a:chOff x="3024" y="3024"/>
            <a:chExt cx="1462" cy="856"/>
          </a:xfrm>
        </p:grpSpPr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3024" y="3024"/>
              <a:ext cx="1462" cy="64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altLang="en-US" sz="2000" b="1" dirty="0" err="1">
                  <a:solidFill>
                    <a:srgbClr val="7030A0"/>
                  </a:solidFill>
                  <a:latin typeface="Courier New" pitchFamily="49" charset="0"/>
                </a:rPr>
                <a:t>EnterCS</a:t>
              </a:r>
              <a:r>
                <a:rPr lang="en-US" altLang="en-US" sz="2000" b="1" dirty="0">
                  <a:latin typeface="Courier New" pitchFamily="49" charset="0"/>
                </a:rPr>
                <a:t>()</a:t>
              </a:r>
            </a:p>
            <a:p>
              <a:pPr eaLnBrk="0" hangingPunct="0"/>
              <a:r>
                <a:rPr lang="en-US" altLang="en-US" sz="2000" b="1" dirty="0">
                  <a:solidFill>
                    <a:srgbClr val="7030A0"/>
                  </a:solidFill>
                  <a:latin typeface="Courier New" pitchFamily="49" charset="0"/>
                </a:rPr>
                <a:t>  </a:t>
              </a:r>
              <a:r>
                <a:rPr lang="en-US" altLang="en-US" sz="2000" b="1" dirty="0">
                  <a:latin typeface="Courier New" pitchFamily="49" charset="0"/>
                </a:rPr>
                <a:t>X = X + 1000</a:t>
              </a:r>
            </a:p>
            <a:p>
              <a:pPr eaLnBrk="0" hangingPunct="0"/>
              <a:r>
                <a:rPr lang="en-US" altLang="en-US" sz="2000" b="1" dirty="0" err="1">
                  <a:solidFill>
                    <a:srgbClr val="7030A0"/>
                  </a:solidFill>
                  <a:latin typeface="Courier New" pitchFamily="49" charset="0"/>
                </a:rPr>
                <a:t>ExitCS</a:t>
              </a:r>
              <a:r>
                <a:rPr lang="en-US" altLang="en-US" sz="2000" b="1" dirty="0">
                  <a:latin typeface="Courier New" pitchFamily="49" charset="0"/>
                </a:rPr>
                <a:t>()</a:t>
              </a:r>
            </a:p>
          </p:txBody>
        </p:sp>
        <p:sp>
          <p:nvSpPr>
            <p:cNvPr id="18" name="Text Box 16"/>
            <p:cNvSpPr txBox="1">
              <a:spLocks noChangeArrowheads="1"/>
            </p:cNvSpPr>
            <p:nvPr/>
          </p:nvSpPr>
          <p:spPr bwMode="auto">
            <a:xfrm>
              <a:off x="3142" y="3649"/>
              <a:ext cx="11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dirty="0"/>
                <a:t>Process </a:t>
              </a:r>
              <a:r>
                <a:rPr lang="en-US" altLang="en-US" b="1" dirty="0"/>
                <a:t>P1</a:t>
              </a:r>
            </a:p>
          </p:txBody>
        </p:sp>
      </p:grpSp>
      <p:graphicFrame>
        <p:nvGraphicFramePr>
          <p:cNvPr id="19" name="Diagram 18"/>
          <p:cNvGraphicFramePr/>
          <p:nvPr>
            <p:extLst>
              <p:ext uri="{D42A27DB-BD31-4B8C-83A1-F6EECF244321}">
                <p14:modId xmlns:p14="http://schemas.microsoft.com/office/powerpoint/2010/main" val="1512655365"/>
              </p:ext>
            </p:extLst>
          </p:nvPr>
        </p:nvGraphicFramePr>
        <p:xfrm>
          <a:off x="6736125" y="3338513"/>
          <a:ext cx="2156415" cy="30622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Thumbs Up Png Clipart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914400"/>
            <a:ext cx="1143000" cy="112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Slide Number Placeholder 2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92921-E8D1-4F63-8B4B-BBDB7C330874}" type="slidenum">
              <a:rPr lang="en-US" altLang="en-US" smtClean="0"/>
              <a:pPr/>
              <a:t>14</a:t>
            </a:fld>
            <a:endParaRPr lang="en-US" altLang="en-US"/>
          </a:p>
        </p:txBody>
      </p:sp>
      <p:grpSp>
        <p:nvGrpSpPr>
          <p:cNvPr id="22" name="Group 15"/>
          <p:cNvGrpSpPr>
            <a:grpSpLocks/>
          </p:cNvGrpSpPr>
          <p:nvPr/>
        </p:nvGrpSpPr>
        <p:grpSpPr bwMode="auto">
          <a:xfrm>
            <a:off x="516027" y="2552033"/>
            <a:ext cx="2133600" cy="533400"/>
            <a:chOff x="1872" y="720"/>
            <a:chExt cx="1344" cy="336"/>
          </a:xfrm>
        </p:grpSpPr>
        <p:sp>
          <p:nvSpPr>
            <p:cNvPr id="23" name="Rectangle 5"/>
            <p:cNvSpPr>
              <a:spLocks noChangeArrowheads="1"/>
            </p:cNvSpPr>
            <p:nvPr/>
          </p:nvSpPr>
          <p:spPr bwMode="auto">
            <a:xfrm>
              <a:off x="2400" y="720"/>
              <a:ext cx="816" cy="3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 dirty="0">
                <a:latin typeface="Courier New" pitchFamily="49" charset="0"/>
              </a:endParaRPr>
            </a:p>
          </p:txBody>
        </p:sp>
        <p:sp>
          <p:nvSpPr>
            <p:cNvPr id="24" name="Rectangle 6"/>
            <p:cNvSpPr>
              <a:spLocks noChangeArrowheads="1"/>
            </p:cNvSpPr>
            <p:nvPr/>
          </p:nvSpPr>
          <p:spPr bwMode="auto">
            <a:xfrm>
              <a:off x="1872" y="720"/>
              <a:ext cx="526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400" b="1" dirty="0">
                  <a:latin typeface="Courier New" pitchFamily="49" charset="0"/>
                </a:rPr>
                <a:t>$</a:t>
              </a:r>
              <a:r>
                <a:rPr lang="en-US" altLang="en-US" sz="2400" b="1" dirty="0" err="1">
                  <a:latin typeface="Courier New" pitchFamily="49" charset="0"/>
                </a:rPr>
                <a:t>reg</a:t>
              </a:r>
              <a:endParaRPr lang="en-US" altLang="en-US" sz="2400" b="1" dirty="0">
                <a:latin typeface="Courier New" pitchFamily="49" charset="0"/>
              </a:endParaRPr>
            </a:p>
          </p:txBody>
        </p:sp>
      </p:grpSp>
      <p:grpSp>
        <p:nvGrpSpPr>
          <p:cNvPr id="25" name="Group 15"/>
          <p:cNvGrpSpPr>
            <a:grpSpLocks/>
          </p:cNvGrpSpPr>
          <p:nvPr/>
        </p:nvGrpSpPr>
        <p:grpSpPr bwMode="auto">
          <a:xfrm>
            <a:off x="3626212" y="2552033"/>
            <a:ext cx="2133600" cy="533400"/>
            <a:chOff x="1872" y="720"/>
            <a:chExt cx="1344" cy="336"/>
          </a:xfrm>
        </p:grpSpPr>
        <p:sp>
          <p:nvSpPr>
            <p:cNvPr id="26" name="Rectangle 5"/>
            <p:cNvSpPr>
              <a:spLocks noChangeArrowheads="1"/>
            </p:cNvSpPr>
            <p:nvPr/>
          </p:nvSpPr>
          <p:spPr bwMode="auto">
            <a:xfrm>
              <a:off x="2400" y="720"/>
              <a:ext cx="816" cy="33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 dirty="0">
                <a:latin typeface="Courier New" pitchFamily="49" charset="0"/>
              </a:endParaRPr>
            </a:p>
          </p:txBody>
        </p:sp>
        <p:sp>
          <p:nvSpPr>
            <p:cNvPr id="27" name="Rectangle 6"/>
            <p:cNvSpPr>
              <a:spLocks noChangeArrowheads="1"/>
            </p:cNvSpPr>
            <p:nvPr/>
          </p:nvSpPr>
          <p:spPr bwMode="auto">
            <a:xfrm>
              <a:off x="1872" y="720"/>
              <a:ext cx="526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400" b="1" dirty="0">
                  <a:latin typeface="Courier New" pitchFamily="49" charset="0"/>
                </a:rPr>
                <a:t>$</a:t>
              </a:r>
              <a:r>
                <a:rPr lang="en-US" altLang="en-US" sz="2400" b="1" dirty="0" err="1">
                  <a:latin typeface="Courier New" pitchFamily="49" charset="0"/>
                </a:rPr>
                <a:t>reg</a:t>
              </a:r>
              <a:endParaRPr lang="en-US" altLang="en-US" sz="2400" b="1" dirty="0">
                <a:latin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44838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Graphic spid="19" grpId="0">
        <p:bldAsOne/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Observations and 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implementation </a:t>
            </a:r>
            <a:r>
              <a:rPr lang="en-US" b="1" dirty="0"/>
              <a:t>works</a:t>
            </a:r>
            <a:r>
              <a:rPr lang="en-US" dirty="0"/>
              <a:t>!</a:t>
            </a:r>
          </a:p>
          <a:p>
            <a:pPr lvl="1"/>
            <a:r>
              <a:rPr lang="en-US" dirty="0"/>
              <a:t>However, it employs </a:t>
            </a:r>
            <a:r>
              <a:rPr lang="en-US" b="1" dirty="0">
                <a:solidFill>
                  <a:srgbClr val="C00000"/>
                </a:solidFill>
              </a:rPr>
              <a:t>busy waiting</a:t>
            </a:r>
            <a:r>
              <a:rPr lang="en-US" dirty="0">
                <a:solidFill>
                  <a:srgbClr val="C00000"/>
                </a:solidFill>
              </a:rPr>
              <a:t> </a:t>
            </a:r>
          </a:p>
          <a:p>
            <a:pPr marL="344487" lvl="1" indent="0">
              <a:buNone/>
            </a:pPr>
            <a:r>
              <a:rPr lang="en-US" dirty="0">
                <a:sym typeface="Wingdings" panose="05000000000000000000" pitchFamily="2" charset="2"/>
              </a:rPr>
              <a:t> Wasteful use of processing power</a:t>
            </a:r>
          </a:p>
          <a:p>
            <a:pPr marL="344487" lvl="1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Variants of this instruction exists on most processors:</a:t>
            </a:r>
          </a:p>
          <a:p>
            <a:pPr lvl="1"/>
            <a:r>
              <a:rPr lang="en-US" b="1" dirty="0">
                <a:solidFill>
                  <a:srgbClr val="660066"/>
                </a:solidFill>
                <a:sym typeface="Wingdings" panose="05000000000000000000" pitchFamily="2" charset="2"/>
              </a:rPr>
              <a:t>Compare and Exchange</a:t>
            </a:r>
          </a:p>
          <a:p>
            <a:pPr lvl="1"/>
            <a:r>
              <a:rPr lang="en-US" b="1" dirty="0">
                <a:solidFill>
                  <a:srgbClr val="003300"/>
                </a:solidFill>
                <a:sym typeface="Wingdings" panose="05000000000000000000" pitchFamily="2" charset="2"/>
              </a:rPr>
              <a:t>Atomic Swap</a:t>
            </a:r>
          </a:p>
          <a:p>
            <a:pPr lvl="1"/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Load Link / Store Conditional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pPr lvl="1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5034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High level Language </a:t>
            </a:r>
            <a:r>
              <a:rPr lang="en-US" dirty="0"/>
              <a:t>Implementation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only your brain power….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7B2A14-CFC8-473E-8C77-48351E3F49FF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8723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09600" y="1981200"/>
            <a:ext cx="3197225" cy="1662113"/>
            <a:chOff x="609600" y="1981200"/>
            <a:chExt cx="3197225" cy="1662113"/>
          </a:xfrm>
        </p:grpSpPr>
        <p:grpSp>
          <p:nvGrpSpPr>
            <p:cNvPr id="14" name="Group 16"/>
            <p:cNvGrpSpPr>
              <a:grpSpLocks/>
            </p:cNvGrpSpPr>
            <p:nvPr/>
          </p:nvGrpSpPr>
          <p:grpSpPr bwMode="auto">
            <a:xfrm>
              <a:off x="685800" y="1981200"/>
              <a:ext cx="3048000" cy="1662113"/>
              <a:chOff x="432" y="1536"/>
              <a:chExt cx="1920" cy="1047"/>
            </a:xfrm>
          </p:grpSpPr>
          <p:sp>
            <p:nvSpPr>
              <p:cNvPr id="15" name="Text Box 8"/>
              <p:cNvSpPr txBox="1">
                <a:spLocks noChangeArrowheads="1"/>
              </p:cNvSpPr>
              <p:nvPr/>
            </p:nvSpPr>
            <p:spPr bwMode="auto">
              <a:xfrm>
                <a:off x="432" y="1536"/>
                <a:ext cx="1920" cy="834"/>
              </a:xfrm>
              <a:prstGeom prst="rect">
                <a:avLst/>
              </a:prstGeom>
              <a:solidFill>
                <a:srgbClr val="FFFFCC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eaLnBrk="0" hangingPunct="0"/>
                <a:r>
                  <a:rPr lang="en-US" altLang="en-US" sz="2000" b="1" dirty="0">
                    <a:latin typeface="Courier New" pitchFamily="49" charset="0"/>
                  </a:rPr>
                  <a:t>while (</a:t>
                </a:r>
                <a:r>
                  <a:rPr lang="en-US" altLang="en-US" sz="2000" b="1" dirty="0">
                    <a:solidFill>
                      <a:srgbClr val="C00000"/>
                    </a:solidFill>
                    <a:latin typeface="Courier New" pitchFamily="49" charset="0"/>
                  </a:rPr>
                  <a:t>Lock</a:t>
                </a:r>
                <a:r>
                  <a:rPr lang="en-US" altLang="en-US" sz="2000" b="1" dirty="0">
                    <a:latin typeface="Courier New" pitchFamily="49" charset="0"/>
                  </a:rPr>
                  <a:t> != 0);</a:t>
                </a:r>
              </a:p>
              <a:p>
                <a:pPr eaLnBrk="0" hangingPunct="0"/>
                <a:r>
                  <a:rPr lang="en-US" altLang="en-US" sz="2000" b="1" dirty="0">
                    <a:solidFill>
                      <a:srgbClr val="C00000"/>
                    </a:solidFill>
                    <a:latin typeface="Courier New" pitchFamily="49" charset="0"/>
                  </a:rPr>
                  <a:t>Lock</a:t>
                </a:r>
                <a:r>
                  <a:rPr lang="en-US" altLang="en-US" sz="2000" b="1" dirty="0">
                    <a:latin typeface="Courier New" pitchFamily="49" charset="0"/>
                  </a:rPr>
                  <a:t> = 1;</a:t>
                </a:r>
              </a:p>
              <a:p>
                <a:pPr eaLnBrk="0" hangingPunct="0"/>
                <a:r>
                  <a:rPr lang="en-US" altLang="en-US" sz="2000" b="1" dirty="0">
                    <a:solidFill>
                      <a:srgbClr val="9900CC"/>
                    </a:solidFill>
                    <a:latin typeface="Courier New" pitchFamily="49" charset="0"/>
                  </a:rPr>
                  <a:t> </a:t>
                </a:r>
              </a:p>
              <a:p>
                <a:pPr eaLnBrk="0" hangingPunct="0"/>
                <a:r>
                  <a:rPr lang="en-US" altLang="en-US" sz="2000" b="1" dirty="0">
                    <a:solidFill>
                      <a:srgbClr val="C00000"/>
                    </a:solidFill>
                    <a:latin typeface="Courier New" pitchFamily="49" charset="0"/>
                  </a:rPr>
                  <a:t>Lock</a:t>
                </a:r>
                <a:r>
                  <a:rPr lang="en-US" altLang="en-US" sz="2000" b="1" dirty="0">
                    <a:latin typeface="Courier New" pitchFamily="49" charset="0"/>
                  </a:rPr>
                  <a:t> = 0;</a:t>
                </a:r>
              </a:p>
            </p:txBody>
          </p:sp>
          <p:sp>
            <p:nvSpPr>
              <p:cNvPr id="16" name="Text Box 9"/>
              <p:cNvSpPr txBox="1">
                <a:spLocks noChangeArrowheads="1"/>
              </p:cNvSpPr>
              <p:nvPr/>
            </p:nvSpPr>
            <p:spPr bwMode="auto">
              <a:xfrm>
                <a:off x="912" y="2352"/>
                <a:ext cx="11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dirty="0"/>
                  <a:t>Process </a:t>
                </a:r>
                <a:r>
                  <a:rPr lang="en-US" altLang="en-US" b="1" dirty="0"/>
                  <a:t>P0</a:t>
                </a:r>
              </a:p>
            </p:txBody>
          </p:sp>
        </p:grpSp>
        <p:sp>
          <p:nvSpPr>
            <p:cNvPr id="23" name="Rounded Rectangle 22"/>
            <p:cNvSpPr/>
            <p:nvPr/>
          </p:nvSpPr>
          <p:spPr>
            <a:xfrm>
              <a:off x="609600" y="2629991"/>
              <a:ext cx="3197225" cy="316908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  <a:alpha val="25000"/>
              </a:schemeClr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Critical Section</a:t>
              </a: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802187" y="1981201"/>
            <a:ext cx="3197225" cy="1676401"/>
            <a:chOff x="4802187" y="1981201"/>
            <a:chExt cx="3197225" cy="1676401"/>
          </a:xfrm>
        </p:grpSpPr>
        <p:grpSp>
          <p:nvGrpSpPr>
            <p:cNvPr id="8" name="Group 17"/>
            <p:cNvGrpSpPr>
              <a:grpSpLocks/>
            </p:cNvGrpSpPr>
            <p:nvPr/>
          </p:nvGrpSpPr>
          <p:grpSpPr bwMode="auto">
            <a:xfrm>
              <a:off x="4876800" y="1981201"/>
              <a:ext cx="3048000" cy="1676401"/>
              <a:chOff x="432" y="1536"/>
              <a:chExt cx="1920" cy="1056"/>
            </a:xfrm>
          </p:grpSpPr>
          <p:sp>
            <p:nvSpPr>
              <p:cNvPr id="9" name="Text Box 18"/>
              <p:cNvSpPr txBox="1">
                <a:spLocks noChangeArrowheads="1"/>
              </p:cNvSpPr>
              <p:nvPr/>
            </p:nvSpPr>
            <p:spPr bwMode="auto">
              <a:xfrm>
                <a:off x="432" y="1536"/>
                <a:ext cx="1920" cy="83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lvl="0" eaLnBrk="0" hangingPunct="0"/>
                <a:r>
                  <a:rPr lang="en-US" altLang="en-US" sz="2000" b="1" dirty="0">
                    <a:solidFill>
                      <a:prstClr val="black"/>
                    </a:solidFill>
                    <a:latin typeface="Courier New" pitchFamily="49" charset="0"/>
                  </a:rPr>
                  <a:t>while (</a:t>
                </a:r>
                <a:r>
                  <a:rPr lang="en-US" altLang="en-US" sz="2000" b="1" dirty="0">
                    <a:solidFill>
                      <a:srgbClr val="C00000"/>
                    </a:solidFill>
                    <a:latin typeface="Courier New" pitchFamily="49" charset="0"/>
                  </a:rPr>
                  <a:t>Lock</a:t>
                </a:r>
                <a:r>
                  <a:rPr lang="en-US" altLang="en-US" sz="2000" b="1" dirty="0">
                    <a:solidFill>
                      <a:prstClr val="black"/>
                    </a:solidFill>
                    <a:latin typeface="Courier New" pitchFamily="49" charset="0"/>
                  </a:rPr>
                  <a:t> != 0);</a:t>
                </a:r>
              </a:p>
              <a:p>
                <a:pPr lvl="0" eaLnBrk="0" hangingPunct="0"/>
                <a:r>
                  <a:rPr lang="en-US" altLang="en-US" sz="2000" b="1" dirty="0">
                    <a:solidFill>
                      <a:srgbClr val="C00000"/>
                    </a:solidFill>
                    <a:latin typeface="Courier New" pitchFamily="49" charset="0"/>
                  </a:rPr>
                  <a:t>Lock</a:t>
                </a:r>
                <a:r>
                  <a:rPr lang="en-US" altLang="en-US" sz="2000" b="1" dirty="0">
                    <a:solidFill>
                      <a:prstClr val="black"/>
                    </a:solidFill>
                    <a:latin typeface="Courier New" pitchFamily="49" charset="0"/>
                  </a:rPr>
                  <a:t> = 1;</a:t>
                </a:r>
              </a:p>
              <a:p>
                <a:pPr lvl="0" eaLnBrk="0" hangingPunct="0"/>
                <a:r>
                  <a:rPr lang="en-US" altLang="en-US" sz="2000" b="1" dirty="0">
                    <a:solidFill>
                      <a:srgbClr val="9900CC"/>
                    </a:solidFill>
                    <a:latin typeface="Courier New" pitchFamily="49" charset="0"/>
                  </a:rPr>
                  <a:t> </a:t>
                </a:r>
              </a:p>
              <a:p>
                <a:pPr lvl="0" eaLnBrk="0" hangingPunct="0"/>
                <a:r>
                  <a:rPr lang="en-US" altLang="en-US" sz="2000" b="1" dirty="0">
                    <a:solidFill>
                      <a:srgbClr val="C00000"/>
                    </a:solidFill>
                    <a:latin typeface="Courier New" pitchFamily="49" charset="0"/>
                  </a:rPr>
                  <a:t>Lock</a:t>
                </a:r>
                <a:r>
                  <a:rPr lang="en-US" altLang="en-US" sz="2000" b="1" dirty="0">
                    <a:solidFill>
                      <a:prstClr val="black"/>
                    </a:solidFill>
                    <a:latin typeface="Courier New" pitchFamily="49" charset="0"/>
                  </a:rPr>
                  <a:t> = 0;</a:t>
                </a:r>
              </a:p>
            </p:txBody>
          </p:sp>
          <p:sp>
            <p:nvSpPr>
              <p:cNvPr id="10" name="Text Box 19"/>
              <p:cNvSpPr txBox="1">
                <a:spLocks noChangeArrowheads="1"/>
              </p:cNvSpPr>
              <p:nvPr/>
            </p:nvSpPr>
            <p:spPr bwMode="auto">
              <a:xfrm>
                <a:off x="912" y="2361"/>
                <a:ext cx="11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/>
                  <a:t>Process </a:t>
                </a:r>
                <a:r>
                  <a:rPr lang="en-US" altLang="en-US" b="1"/>
                  <a:t>P1</a:t>
                </a:r>
              </a:p>
            </p:txBody>
          </p:sp>
        </p:grpSp>
        <p:sp>
          <p:nvSpPr>
            <p:cNvPr id="26" name="Rounded Rectangle 25"/>
            <p:cNvSpPr/>
            <p:nvPr/>
          </p:nvSpPr>
          <p:spPr>
            <a:xfrm>
              <a:off x="4802187" y="2628106"/>
              <a:ext cx="3197225" cy="316908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  <a:alpha val="25000"/>
              </a:schemeClr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Critical Section</a:t>
              </a:r>
            </a:p>
          </p:txBody>
        </p:sp>
      </p:grp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400" dirty="0"/>
              <a:t>Using HLL: </a:t>
            </a:r>
            <a:r>
              <a:rPr lang="en-US" altLang="en-US" sz="4400" b="1" dirty="0">
                <a:solidFill>
                  <a:srgbClr val="C00000"/>
                </a:solidFill>
              </a:rPr>
              <a:t>Attempt 1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11" name="Group 15"/>
          <p:cNvGrpSpPr>
            <a:grpSpLocks/>
          </p:cNvGrpSpPr>
          <p:nvPr/>
        </p:nvGrpSpPr>
        <p:grpSpPr bwMode="auto">
          <a:xfrm>
            <a:off x="2971800" y="1143000"/>
            <a:ext cx="2133600" cy="533400"/>
            <a:chOff x="1872" y="720"/>
            <a:chExt cx="1344" cy="336"/>
          </a:xfrm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2400" y="720"/>
              <a:ext cx="816" cy="33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latin typeface="Courier New" pitchFamily="49" charset="0"/>
                </a:rPr>
                <a:t>0</a:t>
              </a:r>
            </a:p>
          </p:txBody>
        </p:sp>
        <p:sp>
          <p:nvSpPr>
            <p:cNvPr id="13" name="Rectangle 6"/>
            <p:cNvSpPr>
              <a:spLocks noChangeArrowheads="1"/>
            </p:cNvSpPr>
            <p:nvPr/>
          </p:nvSpPr>
          <p:spPr bwMode="auto">
            <a:xfrm>
              <a:off x="1872" y="720"/>
              <a:ext cx="526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400" b="1" dirty="0">
                  <a:solidFill>
                    <a:srgbClr val="C00000"/>
                  </a:solidFill>
                  <a:latin typeface="Courier New" pitchFamily="49" charset="0"/>
                </a:rPr>
                <a:t>Lock</a:t>
              </a:r>
            </a:p>
          </p:txBody>
        </p:sp>
      </p:grpSp>
      <p:sp>
        <p:nvSpPr>
          <p:cNvPr id="21" name="Text Box 8"/>
          <p:cNvSpPr txBox="1">
            <a:spLocks noChangeArrowheads="1"/>
          </p:cNvSpPr>
          <p:nvPr/>
        </p:nvSpPr>
        <p:spPr bwMode="auto">
          <a:xfrm>
            <a:off x="1153886" y="2351088"/>
            <a:ext cx="2960914" cy="1938992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while (</a:t>
            </a:r>
            <a:r>
              <a:rPr lang="en-US" altLang="en-US" sz="2000" b="1" dirty="0">
                <a:solidFill>
                  <a:srgbClr val="C00000"/>
                </a:solidFill>
                <a:latin typeface="Courier New" pitchFamily="49" charset="0"/>
              </a:rPr>
              <a:t>Lock</a:t>
            </a:r>
            <a:r>
              <a:rPr lang="en-US" altLang="en-US" sz="2000" b="1" dirty="0">
                <a:latin typeface="Courier New" pitchFamily="49" charset="0"/>
              </a:rPr>
              <a:t> != 0);</a:t>
            </a:r>
          </a:p>
          <a:p>
            <a:pPr eaLnBrk="0" hangingPunct="0"/>
            <a:endParaRPr lang="en-US" altLang="en-US" sz="20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2000" b="1" dirty="0">
                <a:solidFill>
                  <a:srgbClr val="C00000"/>
                </a:solidFill>
                <a:latin typeface="Courier New" pitchFamily="49" charset="0"/>
              </a:rPr>
              <a:t>Lock</a:t>
            </a:r>
            <a:r>
              <a:rPr lang="en-US" altLang="en-US" sz="2000" b="1" dirty="0">
                <a:latin typeface="Courier New" pitchFamily="49" charset="0"/>
              </a:rPr>
              <a:t> = 1;</a:t>
            </a:r>
          </a:p>
          <a:p>
            <a:pPr eaLnBrk="0" hangingPunct="0"/>
            <a:endParaRPr lang="en-US" altLang="en-US" sz="2000" b="1" dirty="0">
              <a:latin typeface="Courier New" pitchFamily="49" charset="0"/>
            </a:endParaRPr>
          </a:p>
          <a:p>
            <a:pPr eaLnBrk="0" hangingPunct="0"/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</a:rPr>
              <a:t> </a:t>
            </a:r>
          </a:p>
          <a:p>
            <a:pPr eaLnBrk="0" hangingPunct="0"/>
            <a:endParaRPr lang="en-US" altLang="en-US" sz="2000" b="1" dirty="0">
              <a:latin typeface="Courier New" pitchFamily="49" charset="0"/>
            </a:endParaRPr>
          </a:p>
        </p:txBody>
      </p:sp>
      <p:sp>
        <p:nvSpPr>
          <p:cNvPr id="22" name="Text Box 9"/>
          <p:cNvSpPr txBox="1">
            <a:spLocks noChangeArrowheads="1"/>
          </p:cNvSpPr>
          <p:nvPr/>
        </p:nvSpPr>
        <p:spPr bwMode="auto">
          <a:xfrm>
            <a:off x="1830978" y="4293255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dirty="0"/>
              <a:t>Process </a:t>
            </a:r>
            <a:r>
              <a:rPr lang="en-US" altLang="en-US" b="1" dirty="0"/>
              <a:t>P0</a:t>
            </a:r>
          </a:p>
        </p:txBody>
      </p:sp>
      <p:sp>
        <p:nvSpPr>
          <p:cNvPr id="24" name="Text Box 18"/>
          <p:cNvSpPr txBox="1">
            <a:spLocks noChangeArrowheads="1"/>
          </p:cNvSpPr>
          <p:nvPr/>
        </p:nvSpPr>
        <p:spPr bwMode="auto">
          <a:xfrm>
            <a:off x="4360817" y="2351088"/>
            <a:ext cx="2954383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lvl="0" eaLnBrk="0" hangingPunct="0"/>
            <a:endParaRPr lang="en-US" altLang="en-US" sz="2000" b="1" dirty="0">
              <a:solidFill>
                <a:prstClr val="black"/>
              </a:solidFill>
              <a:latin typeface="Courier New" pitchFamily="49" charset="0"/>
            </a:endParaRPr>
          </a:p>
          <a:p>
            <a:pPr lvl="0" eaLnBrk="0" hangingPunct="0"/>
            <a:r>
              <a:rPr lang="en-US" altLang="en-US" sz="2000" b="1" dirty="0">
                <a:solidFill>
                  <a:prstClr val="black"/>
                </a:solidFill>
                <a:latin typeface="Courier New" pitchFamily="49" charset="0"/>
              </a:rPr>
              <a:t>while (</a:t>
            </a:r>
            <a:r>
              <a:rPr lang="en-US" altLang="en-US" sz="2000" b="1" dirty="0">
                <a:solidFill>
                  <a:srgbClr val="C00000"/>
                </a:solidFill>
                <a:latin typeface="Courier New" pitchFamily="49" charset="0"/>
              </a:rPr>
              <a:t>Lock</a:t>
            </a:r>
            <a:r>
              <a:rPr lang="en-US" altLang="en-US" sz="2000" b="1" dirty="0">
                <a:solidFill>
                  <a:prstClr val="black"/>
                </a:solidFill>
                <a:latin typeface="Courier New" pitchFamily="49" charset="0"/>
              </a:rPr>
              <a:t> != 0);</a:t>
            </a:r>
          </a:p>
          <a:p>
            <a:pPr lvl="0" eaLnBrk="0" hangingPunct="0"/>
            <a:endParaRPr lang="en-US" altLang="en-US" sz="2000" b="1" dirty="0">
              <a:solidFill>
                <a:prstClr val="black"/>
              </a:solidFill>
              <a:latin typeface="Courier New" pitchFamily="49" charset="0"/>
            </a:endParaRPr>
          </a:p>
          <a:p>
            <a:pPr lvl="0" eaLnBrk="0" hangingPunct="0"/>
            <a:r>
              <a:rPr lang="en-US" altLang="en-US" sz="2000" b="1" dirty="0">
                <a:solidFill>
                  <a:srgbClr val="C00000"/>
                </a:solidFill>
                <a:latin typeface="Courier New" pitchFamily="49" charset="0"/>
              </a:rPr>
              <a:t>Lock</a:t>
            </a:r>
            <a:r>
              <a:rPr lang="en-US" altLang="en-US" sz="2000" b="1" dirty="0">
                <a:solidFill>
                  <a:prstClr val="black"/>
                </a:solidFill>
                <a:latin typeface="Courier New" pitchFamily="49" charset="0"/>
              </a:rPr>
              <a:t> = 1;</a:t>
            </a:r>
          </a:p>
          <a:p>
            <a:pPr lvl="0" eaLnBrk="0" hangingPunct="0"/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</a:rPr>
              <a:t> </a:t>
            </a:r>
          </a:p>
          <a:p>
            <a:pPr lvl="0" eaLnBrk="0" hangingPunct="0"/>
            <a:endParaRPr lang="en-US" altLang="en-US" sz="2000" b="1" dirty="0">
              <a:solidFill>
                <a:srgbClr val="9900CC"/>
              </a:solidFill>
              <a:latin typeface="Courier New" pitchFamily="49" charset="0"/>
            </a:endParaRPr>
          </a:p>
        </p:txBody>
      </p:sp>
      <p:sp>
        <p:nvSpPr>
          <p:cNvPr id="25" name="Text Box 19"/>
          <p:cNvSpPr txBox="1">
            <a:spLocks noChangeArrowheads="1"/>
          </p:cNvSpPr>
          <p:nvPr/>
        </p:nvSpPr>
        <p:spPr bwMode="auto">
          <a:xfrm>
            <a:off x="5007429" y="4293254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dirty="0"/>
              <a:t>Process </a:t>
            </a:r>
            <a:r>
              <a:rPr lang="en-US" altLang="en-US" b="1" dirty="0"/>
              <a:t>P1</a:t>
            </a:r>
          </a:p>
        </p:txBody>
      </p:sp>
      <p:graphicFrame>
        <p:nvGraphicFramePr>
          <p:cNvPr id="27" name="Diagram 26"/>
          <p:cNvGraphicFramePr/>
          <p:nvPr>
            <p:extLst>
              <p:ext uri="{D42A27DB-BD31-4B8C-83A1-F6EECF244321}">
                <p14:modId xmlns:p14="http://schemas.microsoft.com/office/powerpoint/2010/main" val="387071269"/>
              </p:ext>
            </p:extLst>
          </p:nvPr>
        </p:nvGraphicFramePr>
        <p:xfrm>
          <a:off x="7404463" y="-121444"/>
          <a:ext cx="2156415" cy="30622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92921-E8D1-4F63-8B4B-BBDB7C330874}" type="slidenum">
              <a:rPr lang="en-US" altLang="en-US" smtClean="0"/>
              <a:pPr/>
              <a:t>17</a:t>
            </a:fld>
            <a:endParaRPr lang="en-US" altLang="en-US"/>
          </a:p>
        </p:txBody>
      </p:sp>
      <p:sp>
        <p:nvSpPr>
          <p:cNvPr id="2" name="Isosceles Triangle 1"/>
          <p:cNvSpPr/>
          <p:nvPr/>
        </p:nvSpPr>
        <p:spPr>
          <a:xfrm>
            <a:off x="85344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1035730" y="3624448"/>
            <a:ext cx="3197225" cy="316908"/>
          </a:xfrm>
          <a:prstGeom prst="roundRect">
            <a:avLst/>
          </a:prstGeom>
          <a:solidFill>
            <a:schemeClr val="accent5">
              <a:lumMod val="20000"/>
              <a:lumOff val="80000"/>
              <a:alpha val="2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Critical Section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87734" y="3627223"/>
            <a:ext cx="3197225" cy="316908"/>
          </a:xfrm>
          <a:prstGeom prst="roundRect">
            <a:avLst/>
          </a:prstGeom>
          <a:solidFill>
            <a:schemeClr val="accent5">
              <a:lumMod val="20000"/>
              <a:lumOff val="80000"/>
              <a:alpha val="2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Critical Section</a:t>
            </a:r>
          </a:p>
        </p:txBody>
      </p:sp>
      <p:pic>
        <p:nvPicPr>
          <p:cNvPr id="5122" name="Picture 2" descr="http://www.homebeachmedia.com.au/wp-content/uploads/2013/10/Thumbs_Down.pn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7278" y="3474245"/>
            <a:ext cx="2527303" cy="2487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6204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uiExpand="1" build="p" animBg="1"/>
      <p:bldP spid="22" grpId="0"/>
      <p:bldP spid="24" grpId="0" uiExpand="1" build="p" animBg="1"/>
      <p:bldP spid="25" grpId="0"/>
      <p:bldGraphic spid="27" grpId="0">
        <p:bldAsOne/>
      </p:bldGraphic>
      <p:bldP spid="2" grpId="0" animBg="1"/>
      <p:bldP spid="28" grpId="0" animBg="1"/>
      <p:bldP spid="2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ttp://orig05.deviantart.net/d283/f/2010/332/5/2/trollface_by_sam743-d33ugip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4076717"/>
            <a:ext cx="2538412" cy="231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http://www.rwinamusic.sitew.com/fs/Root/7f2rm-Troll_face_1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3728689"/>
            <a:ext cx="2587625" cy="2852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400" dirty="0"/>
              <a:t>Using HLL : </a:t>
            </a:r>
            <a:r>
              <a:rPr lang="en-US" altLang="en-US" sz="4400" b="1" dirty="0">
                <a:solidFill>
                  <a:srgbClr val="C00000"/>
                </a:solidFill>
              </a:rPr>
              <a:t>Attempt 1 Fixed*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11" name="Group 15"/>
          <p:cNvGrpSpPr>
            <a:grpSpLocks/>
          </p:cNvGrpSpPr>
          <p:nvPr/>
        </p:nvGrpSpPr>
        <p:grpSpPr bwMode="auto">
          <a:xfrm>
            <a:off x="2971800" y="1143000"/>
            <a:ext cx="2133600" cy="533400"/>
            <a:chOff x="1872" y="720"/>
            <a:chExt cx="1344" cy="336"/>
          </a:xfrm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2400" y="720"/>
              <a:ext cx="816" cy="33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latin typeface="Courier New" pitchFamily="49" charset="0"/>
                </a:rPr>
                <a:t>0</a:t>
              </a:r>
            </a:p>
          </p:txBody>
        </p:sp>
        <p:sp>
          <p:nvSpPr>
            <p:cNvPr id="13" name="Rectangle 6"/>
            <p:cNvSpPr>
              <a:spLocks noChangeArrowheads="1"/>
            </p:cNvSpPr>
            <p:nvPr/>
          </p:nvSpPr>
          <p:spPr bwMode="auto">
            <a:xfrm>
              <a:off x="1872" y="720"/>
              <a:ext cx="526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400" b="1" dirty="0">
                  <a:latin typeface="Courier New" pitchFamily="49" charset="0"/>
                </a:rPr>
                <a:t>Lock</a:t>
              </a:r>
            </a:p>
          </p:txBody>
        </p:sp>
      </p:grpSp>
      <p:grpSp>
        <p:nvGrpSpPr>
          <p:cNvPr id="14" name="Group 16"/>
          <p:cNvGrpSpPr>
            <a:grpSpLocks/>
          </p:cNvGrpSpPr>
          <p:nvPr/>
        </p:nvGrpSpPr>
        <p:grpSpPr bwMode="auto">
          <a:xfrm>
            <a:off x="684212" y="2232025"/>
            <a:ext cx="3287713" cy="2078038"/>
            <a:chOff x="431" y="1790"/>
            <a:chExt cx="2071" cy="1309"/>
          </a:xfrm>
        </p:grpSpPr>
        <p:sp>
          <p:nvSpPr>
            <p:cNvPr id="15" name="Text Box 8"/>
            <p:cNvSpPr txBox="1">
              <a:spLocks noChangeArrowheads="1"/>
            </p:cNvSpPr>
            <p:nvPr/>
          </p:nvSpPr>
          <p:spPr bwMode="auto">
            <a:xfrm>
              <a:off x="431" y="1790"/>
              <a:ext cx="2071" cy="83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altLang="en-US" sz="2000" b="1" dirty="0">
                  <a:latin typeface="Courier New" pitchFamily="49" charset="0"/>
                </a:rPr>
                <a:t>while (Lock != 0);</a:t>
              </a:r>
            </a:p>
            <a:p>
              <a:pPr eaLnBrk="0" hangingPunct="0"/>
              <a:r>
                <a:rPr lang="en-US" altLang="en-US" sz="2000" b="1" dirty="0">
                  <a:latin typeface="Courier New" pitchFamily="49" charset="0"/>
                </a:rPr>
                <a:t>Lock = 1; </a:t>
              </a:r>
            </a:p>
            <a:p>
              <a:pPr eaLnBrk="0" hangingPunct="0"/>
              <a:endParaRPr lang="en-US" altLang="en-US" sz="2000" b="1" dirty="0">
                <a:solidFill>
                  <a:srgbClr val="9900CC"/>
                </a:solidFill>
                <a:latin typeface="Courier New" pitchFamily="49" charset="0"/>
              </a:endParaRPr>
            </a:p>
            <a:p>
              <a:pPr eaLnBrk="0" hangingPunct="0"/>
              <a:r>
                <a:rPr lang="en-US" altLang="en-US" sz="2000" b="1" dirty="0">
                  <a:latin typeface="Courier New" pitchFamily="49" charset="0"/>
                </a:rPr>
                <a:t>Lock = 0;</a:t>
              </a:r>
            </a:p>
          </p:txBody>
        </p:sp>
        <p:sp>
          <p:nvSpPr>
            <p:cNvPr id="16" name="Text Box 9"/>
            <p:cNvSpPr txBox="1">
              <a:spLocks noChangeArrowheads="1"/>
            </p:cNvSpPr>
            <p:nvPr/>
          </p:nvSpPr>
          <p:spPr bwMode="auto">
            <a:xfrm>
              <a:off x="914" y="2868"/>
              <a:ext cx="11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dirty="0"/>
                <a:t>Process </a:t>
              </a:r>
              <a:r>
                <a:rPr lang="en-US" altLang="en-US" b="1" dirty="0"/>
                <a:t>P0</a:t>
              </a:r>
            </a:p>
          </p:txBody>
        </p:sp>
      </p:grp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684212" y="1839535"/>
            <a:ext cx="3287713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C00000"/>
                </a:solidFill>
                <a:latin typeface="Courier New" pitchFamily="49" charset="0"/>
              </a:rPr>
              <a:t>//Disable Interrupts</a:t>
            </a:r>
          </a:p>
        </p:txBody>
      </p:sp>
      <p:sp>
        <p:nvSpPr>
          <p:cNvPr id="24" name="Text Box 8"/>
          <p:cNvSpPr txBox="1">
            <a:spLocks noChangeArrowheads="1"/>
          </p:cNvSpPr>
          <p:nvPr/>
        </p:nvSpPr>
        <p:spPr bwMode="auto">
          <a:xfrm>
            <a:off x="684212" y="3565495"/>
            <a:ext cx="3287713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000" b="1" dirty="0">
                <a:solidFill>
                  <a:srgbClr val="C00000"/>
                </a:solidFill>
                <a:latin typeface="Courier New" pitchFamily="49" charset="0"/>
              </a:rPr>
              <a:t>//Enable Interrupts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4953000" y="1830977"/>
            <a:ext cx="3287713" cy="2470528"/>
            <a:chOff x="4953000" y="1830977"/>
            <a:chExt cx="3287713" cy="2470528"/>
          </a:xfrm>
        </p:grpSpPr>
        <p:grpSp>
          <p:nvGrpSpPr>
            <p:cNvPr id="25" name="Group 16"/>
            <p:cNvGrpSpPr>
              <a:grpSpLocks/>
            </p:cNvGrpSpPr>
            <p:nvPr/>
          </p:nvGrpSpPr>
          <p:grpSpPr bwMode="auto">
            <a:xfrm>
              <a:off x="4953000" y="2223467"/>
              <a:ext cx="3287713" cy="2078038"/>
              <a:chOff x="431" y="1790"/>
              <a:chExt cx="2071" cy="1309"/>
            </a:xfrm>
          </p:grpSpPr>
          <p:sp>
            <p:nvSpPr>
              <p:cNvPr id="26" name="Text Box 8"/>
              <p:cNvSpPr txBox="1">
                <a:spLocks noChangeArrowheads="1"/>
              </p:cNvSpPr>
              <p:nvPr/>
            </p:nvSpPr>
            <p:spPr bwMode="auto">
              <a:xfrm>
                <a:off x="431" y="1790"/>
                <a:ext cx="2071" cy="83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eaLnBrk="0" hangingPunct="0"/>
                <a:r>
                  <a:rPr lang="en-US" altLang="en-US" sz="2000" b="1" dirty="0">
                    <a:latin typeface="Courier New" pitchFamily="49" charset="0"/>
                  </a:rPr>
                  <a:t>while (Lock != 0);</a:t>
                </a:r>
              </a:p>
              <a:p>
                <a:pPr eaLnBrk="0" hangingPunct="0"/>
                <a:r>
                  <a:rPr lang="en-US" altLang="en-US" sz="2000" b="1" dirty="0">
                    <a:latin typeface="Courier New" pitchFamily="49" charset="0"/>
                  </a:rPr>
                  <a:t>Lock = 1;</a:t>
                </a:r>
              </a:p>
              <a:p>
                <a:pPr eaLnBrk="0" hangingPunct="0"/>
                <a:r>
                  <a:rPr lang="en-US" altLang="en-US" sz="2000" b="1" dirty="0">
                    <a:solidFill>
                      <a:srgbClr val="9900CC"/>
                    </a:solidFill>
                    <a:latin typeface="Courier New" pitchFamily="49" charset="0"/>
                  </a:rPr>
                  <a:t> </a:t>
                </a:r>
              </a:p>
              <a:p>
                <a:pPr eaLnBrk="0" hangingPunct="0"/>
                <a:r>
                  <a:rPr lang="en-US" altLang="en-US" sz="2000" b="1" dirty="0">
                    <a:latin typeface="Courier New" pitchFamily="49" charset="0"/>
                  </a:rPr>
                  <a:t>Lock = 0;</a:t>
                </a:r>
              </a:p>
            </p:txBody>
          </p:sp>
          <p:sp>
            <p:nvSpPr>
              <p:cNvPr id="27" name="Text Box 9"/>
              <p:cNvSpPr txBox="1">
                <a:spLocks noChangeArrowheads="1"/>
              </p:cNvSpPr>
              <p:nvPr/>
            </p:nvSpPr>
            <p:spPr bwMode="auto">
              <a:xfrm>
                <a:off x="914" y="2868"/>
                <a:ext cx="110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en-US" dirty="0"/>
                  <a:t>Process </a:t>
                </a:r>
                <a:r>
                  <a:rPr lang="en-US" altLang="en-US" b="1" dirty="0"/>
                  <a:t>P1</a:t>
                </a:r>
              </a:p>
            </p:txBody>
          </p:sp>
        </p:grpSp>
        <p:sp>
          <p:nvSpPr>
            <p:cNvPr id="28" name="Text Box 8"/>
            <p:cNvSpPr txBox="1">
              <a:spLocks noChangeArrowheads="1"/>
            </p:cNvSpPr>
            <p:nvPr/>
          </p:nvSpPr>
          <p:spPr bwMode="auto">
            <a:xfrm>
              <a:off x="4953000" y="1830977"/>
              <a:ext cx="3287713" cy="4001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altLang="en-US" sz="2000" b="1" dirty="0">
                  <a:solidFill>
                    <a:srgbClr val="C00000"/>
                  </a:solidFill>
                  <a:latin typeface="Courier New" pitchFamily="49" charset="0"/>
                </a:rPr>
                <a:t>//Disable Interrupts</a:t>
              </a:r>
            </a:p>
          </p:txBody>
        </p:sp>
        <p:sp>
          <p:nvSpPr>
            <p:cNvPr id="29" name="Text Box 8"/>
            <p:cNvSpPr txBox="1">
              <a:spLocks noChangeArrowheads="1"/>
            </p:cNvSpPr>
            <p:nvPr/>
          </p:nvSpPr>
          <p:spPr bwMode="auto">
            <a:xfrm>
              <a:off x="4953000" y="3556937"/>
              <a:ext cx="3287713" cy="4001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0" hangingPunct="0"/>
              <a:r>
                <a:rPr lang="en-US" altLang="en-US" sz="2000" b="1" dirty="0">
                  <a:solidFill>
                    <a:srgbClr val="C00000"/>
                  </a:solidFill>
                  <a:latin typeface="Courier New" pitchFamily="49" charset="0"/>
                </a:rPr>
                <a:t>//Enable Interrupts</a:t>
              </a:r>
            </a:p>
          </p:txBody>
        </p:sp>
      </p:grpSp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92921-E8D1-4F63-8B4B-BBDB7C330874}" type="slidenum">
              <a:rPr lang="en-US" altLang="en-US" smtClean="0"/>
              <a:pPr/>
              <a:t>18</a:t>
            </a:fld>
            <a:endParaRPr lang="en-US" altLang="en-US"/>
          </a:p>
        </p:txBody>
      </p:sp>
      <p:sp>
        <p:nvSpPr>
          <p:cNvPr id="21" name="Rounded Rectangle 20"/>
          <p:cNvSpPr/>
          <p:nvPr/>
        </p:nvSpPr>
        <p:spPr>
          <a:xfrm>
            <a:off x="603522" y="2894012"/>
            <a:ext cx="3435078" cy="316908"/>
          </a:xfrm>
          <a:prstGeom prst="roundRect">
            <a:avLst/>
          </a:prstGeom>
          <a:solidFill>
            <a:schemeClr val="accent5">
              <a:lumMod val="20000"/>
              <a:lumOff val="80000"/>
              <a:alpha val="2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Critical Section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56298" y="2860378"/>
            <a:ext cx="3481115" cy="316908"/>
          </a:xfrm>
          <a:prstGeom prst="roundRect">
            <a:avLst/>
          </a:prstGeom>
          <a:solidFill>
            <a:schemeClr val="accent5">
              <a:lumMod val="20000"/>
              <a:lumOff val="80000"/>
              <a:alpha val="2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Critical Section</a:t>
            </a:r>
          </a:p>
        </p:txBody>
      </p:sp>
    </p:spTree>
    <p:extLst>
      <p:ext uri="{BB962C8B-B14F-4D97-AF65-F5344CB8AC3E}">
        <p14:creationId xmlns:p14="http://schemas.microsoft.com/office/powerpoint/2010/main" val="2873993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4" grpId="0" animBg="1"/>
      <p:bldP spid="2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7185" name="Group 17"/>
          <p:cNvGrpSpPr>
            <a:grpSpLocks/>
          </p:cNvGrpSpPr>
          <p:nvPr/>
        </p:nvGrpSpPr>
        <p:grpSpPr bwMode="auto">
          <a:xfrm>
            <a:off x="4876800" y="1981200"/>
            <a:ext cx="3581400" cy="1509713"/>
            <a:chOff x="432" y="1536"/>
            <a:chExt cx="2256" cy="951"/>
          </a:xfrm>
        </p:grpSpPr>
        <p:sp>
          <p:nvSpPr>
            <p:cNvPr id="647186" name="Text Box 18"/>
            <p:cNvSpPr txBox="1">
              <a:spLocks noChangeArrowheads="1"/>
            </p:cNvSpPr>
            <p:nvPr/>
          </p:nvSpPr>
          <p:spPr bwMode="auto">
            <a:xfrm>
              <a:off x="432" y="1536"/>
              <a:ext cx="2256" cy="75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en-US" sz="2400" b="1" dirty="0">
                  <a:latin typeface="Courier New" pitchFamily="49" charset="0"/>
                </a:rPr>
                <a:t>while (</a:t>
              </a:r>
              <a:r>
                <a:rPr lang="en-US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Turn</a:t>
              </a:r>
              <a:r>
                <a:rPr lang="en-US" altLang="en-US" sz="2400" b="1" dirty="0">
                  <a:latin typeface="Courier New" pitchFamily="49" charset="0"/>
                </a:rPr>
                <a:t> != 1);</a:t>
              </a:r>
            </a:p>
            <a:p>
              <a:pPr eaLnBrk="0" hangingPunct="0"/>
              <a:r>
                <a:rPr lang="en-US" altLang="en-US" sz="2400" b="1" dirty="0">
                  <a:solidFill>
                    <a:srgbClr val="9900CC"/>
                  </a:solidFill>
                  <a:latin typeface="Courier New" pitchFamily="49" charset="0"/>
                </a:rPr>
                <a:t> </a:t>
              </a:r>
            </a:p>
            <a:p>
              <a:pPr eaLnBrk="0" hangingPunct="0"/>
              <a:r>
                <a:rPr lang="en-US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Turn</a:t>
              </a:r>
              <a:r>
                <a:rPr lang="en-US" altLang="en-US" sz="2400" b="1" dirty="0">
                  <a:latin typeface="Courier New" pitchFamily="49" charset="0"/>
                </a:rPr>
                <a:t> = 0;</a:t>
              </a:r>
              <a:endParaRPr lang="en-US" altLang="en-US" sz="2400" dirty="0">
                <a:latin typeface="Courier New" pitchFamily="49" charset="0"/>
              </a:endParaRPr>
            </a:p>
          </p:txBody>
        </p:sp>
        <p:sp>
          <p:nvSpPr>
            <p:cNvPr id="647187" name="Text Box 19"/>
            <p:cNvSpPr txBox="1">
              <a:spLocks noChangeArrowheads="1"/>
            </p:cNvSpPr>
            <p:nvPr/>
          </p:nvSpPr>
          <p:spPr bwMode="auto">
            <a:xfrm>
              <a:off x="912" y="2256"/>
              <a:ext cx="11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Process </a:t>
              </a:r>
              <a:r>
                <a:rPr lang="en-US" altLang="en-US" b="1"/>
                <a:t>P1</a:t>
              </a:r>
            </a:p>
          </p:txBody>
        </p:sp>
      </p:grpSp>
      <p:sp>
        <p:nvSpPr>
          <p:cNvPr id="64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400" dirty="0"/>
              <a:t>Using High Level Language: </a:t>
            </a:r>
            <a:r>
              <a:rPr lang="en-US" altLang="en-US" sz="3400" b="1" dirty="0">
                <a:solidFill>
                  <a:srgbClr val="C00000"/>
                </a:solidFill>
              </a:rPr>
              <a:t>Attempt 2</a:t>
            </a:r>
          </a:p>
        </p:txBody>
      </p:sp>
      <p:grpSp>
        <p:nvGrpSpPr>
          <p:cNvPr id="647183" name="Group 15"/>
          <p:cNvGrpSpPr>
            <a:grpSpLocks/>
          </p:cNvGrpSpPr>
          <p:nvPr/>
        </p:nvGrpSpPr>
        <p:grpSpPr bwMode="auto">
          <a:xfrm>
            <a:off x="2971800" y="1143000"/>
            <a:ext cx="2133600" cy="533400"/>
            <a:chOff x="1872" y="720"/>
            <a:chExt cx="1344" cy="336"/>
          </a:xfrm>
        </p:grpSpPr>
        <p:sp>
          <p:nvSpPr>
            <p:cNvPr id="647173" name="Rectangle 5"/>
            <p:cNvSpPr>
              <a:spLocks noChangeArrowheads="1"/>
            </p:cNvSpPr>
            <p:nvPr/>
          </p:nvSpPr>
          <p:spPr bwMode="auto">
            <a:xfrm>
              <a:off x="2400" y="720"/>
              <a:ext cx="816" cy="33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 dirty="0">
                <a:latin typeface="Courier New" pitchFamily="49" charset="0"/>
              </a:endParaRPr>
            </a:p>
          </p:txBody>
        </p:sp>
        <p:sp>
          <p:nvSpPr>
            <p:cNvPr id="647174" name="Rectangle 6"/>
            <p:cNvSpPr>
              <a:spLocks noChangeArrowheads="1"/>
            </p:cNvSpPr>
            <p:nvPr/>
          </p:nvSpPr>
          <p:spPr bwMode="auto">
            <a:xfrm>
              <a:off x="1872" y="720"/>
              <a:ext cx="526" cy="3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Turn</a:t>
              </a:r>
            </a:p>
          </p:txBody>
        </p:sp>
      </p:grpSp>
      <p:grpSp>
        <p:nvGrpSpPr>
          <p:cNvPr id="647184" name="Group 16"/>
          <p:cNvGrpSpPr>
            <a:grpSpLocks/>
          </p:cNvGrpSpPr>
          <p:nvPr/>
        </p:nvGrpSpPr>
        <p:grpSpPr bwMode="auto">
          <a:xfrm>
            <a:off x="685800" y="1981200"/>
            <a:ext cx="3581400" cy="1509713"/>
            <a:chOff x="432" y="1536"/>
            <a:chExt cx="2256" cy="951"/>
          </a:xfrm>
        </p:grpSpPr>
        <p:sp>
          <p:nvSpPr>
            <p:cNvPr id="647176" name="Text Box 8"/>
            <p:cNvSpPr txBox="1">
              <a:spLocks noChangeArrowheads="1"/>
            </p:cNvSpPr>
            <p:nvPr/>
          </p:nvSpPr>
          <p:spPr bwMode="auto">
            <a:xfrm>
              <a:off x="432" y="1536"/>
              <a:ext cx="2256" cy="756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en-US" sz="2400" b="1" dirty="0">
                  <a:latin typeface="Courier New" pitchFamily="49" charset="0"/>
                </a:rPr>
                <a:t>while (</a:t>
              </a:r>
              <a:r>
                <a:rPr lang="en-US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Turn</a:t>
              </a:r>
              <a:r>
                <a:rPr lang="en-US" altLang="en-US" sz="2400" b="1" dirty="0">
                  <a:latin typeface="Courier New" pitchFamily="49" charset="0"/>
                </a:rPr>
                <a:t> != 0);</a:t>
              </a:r>
            </a:p>
            <a:p>
              <a:pPr eaLnBrk="0" hangingPunct="0"/>
              <a:r>
                <a:rPr lang="en-US" altLang="en-US" sz="2400" b="1" dirty="0">
                  <a:solidFill>
                    <a:srgbClr val="9900CC"/>
                  </a:solidFill>
                  <a:latin typeface="Courier New" pitchFamily="49" charset="0"/>
                </a:rPr>
                <a:t> </a:t>
              </a:r>
            </a:p>
            <a:p>
              <a:pPr eaLnBrk="0" hangingPunct="0"/>
              <a:r>
                <a:rPr lang="en-US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Turn</a:t>
              </a:r>
              <a:r>
                <a:rPr lang="en-US" altLang="en-US" sz="2400" b="1" dirty="0">
                  <a:latin typeface="Courier New" pitchFamily="49" charset="0"/>
                </a:rPr>
                <a:t> = 1;</a:t>
              </a:r>
              <a:endParaRPr lang="en-US" altLang="en-US" sz="2400" dirty="0">
                <a:latin typeface="Courier New" pitchFamily="49" charset="0"/>
              </a:endParaRPr>
            </a:p>
          </p:txBody>
        </p:sp>
        <p:sp>
          <p:nvSpPr>
            <p:cNvPr id="647177" name="Text Box 9"/>
            <p:cNvSpPr txBox="1">
              <a:spLocks noChangeArrowheads="1"/>
            </p:cNvSpPr>
            <p:nvPr/>
          </p:nvSpPr>
          <p:spPr bwMode="auto">
            <a:xfrm>
              <a:off x="912" y="2256"/>
              <a:ext cx="11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Process </a:t>
              </a:r>
              <a:r>
                <a:rPr lang="en-US" altLang="en-US" b="1"/>
                <a:t>P0</a:t>
              </a:r>
            </a:p>
          </p:txBody>
        </p:sp>
      </p:grpSp>
      <p:graphicFrame>
        <p:nvGraphicFramePr>
          <p:cNvPr id="18" name="Diagram 17"/>
          <p:cNvGraphicFramePr/>
          <p:nvPr>
            <p:extLst>
              <p:ext uri="{D42A27DB-BD31-4B8C-83A1-F6EECF244321}">
                <p14:modId xmlns:p14="http://schemas.microsoft.com/office/powerpoint/2010/main" val="1706203958"/>
              </p:ext>
            </p:extLst>
          </p:nvPr>
        </p:nvGraphicFramePr>
        <p:xfrm>
          <a:off x="3493792" y="3573463"/>
          <a:ext cx="2156415" cy="30622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19</a:t>
            </a:fld>
            <a:endParaRPr lang="en-US" altLang="en-US"/>
          </a:p>
        </p:txBody>
      </p:sp>
      <p:sp>
        <p:nvSpPr>
          <p:cNvPr id="15" name="Rounded Rectangle 14"/>
          <p:cNvSpPr/>
          <p:nvPr/>
        </p:nvSpPr>
        <p:spPr>
          <a:xfrm>
            <a:off x="609600" y="2412274"/>
            <a:ext cx="3733800" cy="375375"/>
          </a:xfrm>
          <a:prstGeom prst="roundRect">
            <a:avLst/>
          </a:prstGeom>
          <a:solidFill>
            <a:schemeClr val="accent5">
              <a:lumMod val="20000"/>
              <a:lumOff val="80000"/>
              <a:alpha val="2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Critical Section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2417469"/>
            <a:ext cx="3733800" cy="375375"/>
          </a:xfrm>
          <a:prstGeom prst="roundRect">
            <a:avLst/>
          </a:prstGeom>
          <a:solidFill>
            <a:schemeClr val="accent5">
              <a:lumMod val="20000"/>
              <a:lumOff val="80000"/>
              <a:alpha val="2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Critical Section</a:t>
            </a:r>
          </a:p>
        </p:txBody>
      </p:sp>
      <p:sp>
        <p:nvSpPr>
          <p:cNvPr id="17" name="Isosceles Triangle 16"/>
          <p:cNvSpPr/>
          <p:nvPr/>
        </p:nvSpPr>
        <p:spPr>
          <a:xfrm>
            <a:off x="85344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8" grpId="0">
        <p:bldAsOne/>
      </p:bldGraphic>
      <p:bldP spid="15" grpId="0" animBg="1"/>
      <p:bldP spid="16" grpId="0" animBg="1"/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24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400" dirty="0"/>
              <a:t>Using High Level Language: </a:t>
            </a:r>
            <a:r>
              <a:rPr lang="en-US" altLang="en-US" sz="3400" b="1" dirty="0">
                <a:solidFill>
                  <a:srgbClr val="C00000"/>
                </a:solidFill>
              </a:rPr>
              <a:t>Attempt 3</a:t>
            </a:r>
            <a:endParaRPr lang="en-US" altLang="en-US" sz="3400" dirty="0">
              <a:solidFill>
                <a:srgbClr val="C00000"/>
              </a:solidFill>
            </a:endParaRPr>
          </a:p>
        </p:txBody>
      </p:sp>
      <p:grpSp>
        <p:nvGrpSpPr>
          <p:cNvPr id="650260" name="Group 20"/>
          <p:cNvGrpSpPr>
            <a:grpSpLocks/>
          </p:cNvGrpSpPr>
          <p:nvPr/>
        </p:nvGrpSpPr>
        <p:grpSpPr bwMode="auto">
          <a:xfrm>
            <a:off x="4953000" y="2133600"/>
            <a:ext cx="3581400" cy="1890713"/>
            <a:chOff x="432" y="1344"/>
            <a:chExt cx="2256" cy="1191"/>
          </a:xfrm>
        </p:grpSpPr>
        <p:sp>
          <p:nvSpPr>
            <p:cNvPr id="650261" name="Text Box 21"/>
            <p:cNvSpPr txBox="1">
              <a:spLocks noChangeArrowheads="1"/>
            </p:cNvSpPr>
            <p:nvPr/>
          </p:nvSpPr>
          <p:spPr bwMode="auto">
            <a:xfrm>
              <a:off x="432" y="1344"/>
              <a:ext cx="2256" cy="98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Want</a:t>
              </a:r>
              <a:r>
                <a:rPr lang="en-US" altLang="en-US" sz="2400" b="1" dirty="0">
                  <a:latin typeface="Courier New" pitchFamily="49" charset="0"/>
                </a:rPr>
                <a:t>[1] = 1; </a:t>
              </a:r>
            </a:p>
            <a:p>
              <a:pPr eaLnBrk="0" hangingPunct="0"/>
              <a:r>
                <a:rPr lang="en-US" altLang="en-US" sz="2400" b="1" dirty="0">
                  <a:latin typeface="Courier New" pitchFamily="49" charset="0"/>
                </a:rPr>
                <a:t>while (</a:t>
              </a:r>
              <a:r>
                <a:rPr lang="en-US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Want</a:t>
              </a:r>
              <a:r>
                <a:rPr lang="en-US" altLang="en-US" sz="2400" b="1" dirty="0">
                  <a:latin typeface="Courier New" pitchFamily="49" charset="0"/>
                </a:rPr>
                <a:t>[0]);</a:t>
              </a:r>
            </a:p>
            <a:p>
              <a:pPr eaLnBrk="0" hangingPunct="0"/>
              <a:r>
                <a:rPr lang="en-US" altLang="en-US" sz="2400" b="1" dirty="0">
                  <a:solidFill>
                    <a:srgbClr val="9900CC"/>
                  </a:solidFill>
                  <a:latin typeface="Courier New" pitchFamily="49" charset="0"/>
                </a:rPr>
                <a:t> </a:t>
              </a:r>
            </a:p>
            <a:p>
              <a:pPr eaLnBrk="0" hangingPunct="0"/>
              <a:r>
                <a:rPr lang="en-US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Want</a:t>
              </a:r>
              <a:r>
                <a:rPr lang="en-US" altLang="en-US" sz="2400" b="1" dirty="0">
                  <a:latin typeface="Courier New" pitchFamily="49" charset="0"/>
                </a:rPr>
                <a:t>[1] = 0;</a:t>
              </a:r>
              <a:endParaRPr lang="en-US" altLang="en-US" sz="2400" dirty="0">
                <a:latin typeface="Courier New" pitchFamily="49" charset="0"/>
              </a:endParaRPr>
            </a:p>
          </p:txBody>
        </p:sp>
        <p:sp>
          <p:nvSpPr>
            <p:cNvPr id="650262" name="Text Box 22"/>
            <p:cNvSpPr txBox="1">
              <a:spLocks noChangeArrowheads="1"/>
            </p:cNvSpPr>
            <p:nvPr/>
          </p:nvSpPr>
          <p:spPr bwMode="auto">
            <a:xfrm>
              <a:off x="912" y="2304"/>
              <a:ext cx="11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Process </a:t>
              </a:r>
              <a:r>
                <a:rPr lang="en-US" altLang="en-US" b="1"/>
                <a:t>P1</a:t>
              </a:r>
            </a:p>
          </p:txBody>
        </p:sp>
      </p:grpSp>
      <p:sp>
        <p:nvSpPr>
          <p:cNvPr id="650251" name="Text Box 11"/>
          <p:cNvSpPr txBox="1">
            <a:spLocks noChangeArrowheads="1"/>
          </p:cNvSpPr>
          <p:nvPr/>
        </p:nvSpPr>
        <p:spPr bwMode="auto">
          <a:xfrm>
            <a:off x="685800" y="2133600"/>
            <a:ext cx="3581400" cy="1570038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Want</a:t>
            </a:r>
            <a:r>
              <a:rPr lang="en-US" altLang="en-US" sz="2400" b="1" dirty="0">
                <a:latin typeface="Courier New" pitchFamily="49" charset="0"/>
              </a:rPr>
              <a:t>[0] = 1; </a:t>
            </a:r>
          </a:p>
          <a:p>
            <a:pPr eaLnBrk="0" hangingPunct="0"/>
            <a:r>
              <a:rPr lang="en-US" altLang="en-US" sz="2400" b="1" dirty="0">
                <a:latin typeface="Courier New" pitchFamily="49" charset="0"/>
              </a:rPr>
              <a:t>while (</a:t>
            </a:r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Want</a:t>
            </a:r>
            <a:r>
              <a:rPr lang="en-US" altLang="en-US" sz="2400" b="1" dirty="0">
                <a:latin typeface="Courier New" pitchFamily="49" charset="0"/>
              </a:rPr>
              <a:t>[1]);</a:t>
            </a:r>
          </a:p>
          <a:p>
            <a:pPr eaLnBrk="0" hangingPunct="0"/>
            <a:r>
              <a:rPr lang="en-US" altLang="en-US" sz="2400" b="1" dirty="0">
                <a:solidFill>
                  <a:srgbClr val="9900CC"/>
                </a:solidFill>
                <a:latin typeface="Courier New" pitchFamily="49" charset="0"/>
              </a:rPr>
              <a:t> </a:t>
            </a:r>
          </a:p>
          <a:p>
            <a:pPr eaLnBrk="0" hangingPunct="0"/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Want</a:t>
            </a:r>
            <a:r>
              <a:rPr lang="en-US" altLang="en-US" sz="2400" b="1" dirty="0">
                <a:latin typeface="Courier New" pitchFamily="49" charset="0"/>
              </a:rPr>
              <a:t>[0] = 0;</a:t>
            </a:r>
            <a:endParaRPr lang="en-US" altLang="en-US" sz="2400" dirty="0">
              <a:latin typeface="Courier New" pitchFamily="49" charset="0"/>
            </a:endParaRPr>
          </a:p>
        </p:txBody>
      </p:sp>
      <p:sp>
        <p:nvSpPr>
          <p:cNvPr id="650252" name="Text Box 12"/>
          <p:cNvSpPr txBox="1">
            <a:spLocks noChangeArrowheads="1"/>
          </p:cNvSpPr>
          <p:nvPr/>
        </p:nvSpPr>
        <p:spPr bwMode="auto">
          <a:xfrm>
            <a:off x="1447800" y="3657600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/>
              <a:t>Process </a:t>
            </a:r>
            <a:r>
              <a:rPr lang="en-US" altLang="en-US" b="1"/>
              <a:t>P0</a:t>
            </a:r>
          </a:p>
        </p:txBody>
      </p:sp>
      <p:grpSp>
        <p:nvGrpSpPr>
          <p:cNvPr id="650255" name="Group 15"/>
          <p:cNvGrpSpPr>
            <a:grpSpLocks/>
          </p:cNvGrpSpPr>
          <p:nvPr/>
        </p:nvGrpSpPr>
        <p:grpSpPr bwMode="auto">
          <a:xfrm>
            <a:off x="3268134" y="1058334"/>
            <a:ext cx="2133600" cy="381000"/>
            <a:chOff x="1872" y="720"/>
            <a:chExt cx="1344" cy="240"/>
          </a:xfrm>
        </p:grpSpPr>
        <p:sp>
          <p:nvSpPr>
            <p:cNvPr id="650248" name="Rectangle 8"/>
            <p:cNvSpPr>
              <a:spLocks noChangeArrowheads="1"/>
            </p:cNvSpPr>
            <p:nvPr/>
          </p:nvSpPr>
          <p:spPr bwMode="auto">
            <a:xfrm>
              <a:off x="2400" y="720"/>
              <a:ext cx="816" cy="24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 dirty="0">
                <a:latin typeface="Courier New" pitchFamily="49" charset="0"/>
              </a:endParaRPr>
            </a:p>
          </p:txBody>
        </p:sp>
        <p:sp>
          <p:nvSpPr>
            <p:cNvPr id="650249" name="Rectangle 9"/>
            <p:cNvSpPr>
              <a:spLocks noChangeArrowheads="1"/>
            </p:cNvSpPr>
            <p:nvPr/>
          </p:nvSpPr>
          <p:spPr bwMode="auto">
            <a:xfrm>
              <a:off x="1872" y="720"/>
              <a:ext cx="52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Want</a:t>
              </a:r>
              <a:r>
                <a:rPr lang="en-US" altLang="en-US" sz="2400" b="1" dirty="0">
                  <a:latin typeface="Courier New" pitchFamily="49" charset="0"/>
                </a:rPr>
                <a:t>[0]</a:t>
              </a:r>
            </a:p>
          </p:txBody>
        </p:sp>
      </p:grpSp>
      <p:grpSp>
        <p:nvGrpSpPr>
          <p:cNvPr id="650256" name="Group 16"/>
          <p:cNvGrpSpPr>
            <a:grpSpLocks/>
          </p:cNvGrpSpPr>
          <p:nvPr/>
        </p:nvGrpSpPr>
        <p:grpSpPr bwMode="auto">
          <a:xfrm>
            <a:off x="3268134" y="1439334"/>
            <a:ext cx="2133600" cy="381000"/>
            <a:chOff x="1872" y="720"/>
            <a:chExt cx="1344" cy="240"/>
          </a:xfrm>
        </p:grpSpPr>
        <p:sp>
          <p:nvSpPr>
            <p:cNvPr id="650257" name="Rectangle 17"/>
            <p:cNvSpPr>
              <a:spLocks noChangeArrowheads="1"/>
            </p:cNvSpPr>
            <p:nvPr/>
          </p:nvSpPr>
          <p:spPr bwMode="auto">
            <a:xfrm>
              <a:off x="2400" y="720"/>
              <a:ext cx="816" cy="24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 dirty="0">
                <a:latin typeface="Courier New" pitchFamily="49" charset="0"/>
              </a:endParaRPr>
            </a:p>
          </p:txBody>
        </p:sp>
        <p:sp>
          <p:nvSpPr>
            <p:cNvPr id="650258" name="Rectangle 18"/>
            <p:cNvSpPr>
              <a:spLocks noChangeArrowheads="1"/>
            </p:cNvSpPr>
            <p:nvPr/>
          </p:nvSpPr>
          <p:spPr bwMode="auto">
            <a:xfrm>
              <a:off x="1872" y="720"/>
              <a:ext cx="52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Want</a:t>
              </a:r>
              <a:r>
                <a:rPr lang="en-US" altLang="en-US" sz="2400" b="1" dirty="0">
                  <a:latin typeface="Courier New" pitchFamily="49" charset="0"/>
                </a:rPr>
                <a:t>[1]</a:t>
              </a:r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92921-E8D1-4F63-8B4B-BBDB7C330874}" type="slidenum">
              <a:rPr lang="en-US" altLang="en-US" smtClean="0"/>
              <a:pPr/>
              <a:t>20</a:t>
            </a:fld>
            <a:endParaRPr lang="en-US" altLang="en-US"/>
          </a:p>
        </p:txBody>
      </p:sp>
      <p:graphicFrame>
        <p:nvGraphicFramePr>
          <p:cNvPr id="17" name="Diagram 16"/>
          <p:cNvGraphicFramePr/>
          <p:nvPr>
            <p:extLst>
              <p:ext uri="{D42A27DB-BD31-4B8C-83A1-F6EECF244321}">
                <p14:modId xmlns:p14="http://schemas.microsoft.com/office/powerpoint/2010/main" val="2617748396"/>
              </p:ext>
            </p:extLst>
          </p:nvPr>
        </p:nvGraphicFramePr>
        <p:xfrm>
          <a:off x="3558585" y="3722154"/>
          <a:ext cx="2156415" cy="29321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609600" y="2898412"/>
            <a:ext cx="3733800" cy="375375"/>
          </a:xfrm>
          <a:prstGeom prst="roundRect">
            <a:avLst/>
          </a:prstGeom>
          <a:solidFill>
            <a:schemeClr val="accent5">
              <a:lumMod val="20000"/>
              <a:lumOff val="80000"/>
              <a:alpha val="2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Critical Section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76800" y="2898412"/>
            <a:ext cx="3733800" cy="375375"/>
          </a:xfrm>
          <a:prstGeom prst="roundRect">
            <a:avLst/>
          </a:prstGeom>
          <a:solidFill>
            <a:schemeClr val="accent5">
              <a:lumMod val="20000"/>
              <a:lumOff val="80000"/>
              <a:alpha val="2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Critical Section</a:t>
            </a:r>
          </a:p>
        </p:txBody>
      </p:sp>
      <p:sp>
        <p:nvSpPr>
          <p:cNvPr id="20" name="Isosceles Triangle 19"/>
          <p:cNvSpPr/>
          <p:nvPr/>
        </p:nvSpPr>
        <p:spPr>
          <a:xfrm>
            <a:off x="8534400" y="6629400"/>
            <a:ext cx="152400" cy="2286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7" grpId="0">
        <p:bldAsOne/>
      </p:bldGraphic>
      <p:bldP spid="18" grpId="0" animBg="1"/>
      <p:bldP spid="19" grpId="0" animBg="1"/>
      <p:bldP spid="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Peterson's Algorithm</a:t>
            </a:r>
          </a:p>
        </p:txBody>
      </p:sp>
      <p:grpSp>
        <p:nvGrpSpPr>
          <p:cNvPr id="652292" name="Group 4"/>
          <p:cNvGrpSpPr>
            <a:grpSpLocks/>
          </p:cNvGrpSpPr>
          <p:nvPr/>
        </p:nvGrpSpPr>
        <p:grpSpPr bwMode="auto">
          <a:xfrm>
            <a:off x="3276600" y="1371600"/>
            <a:ext cx="2133600" cy="381000"/>
            <a:chOff x="1872" y="720"/>
            <a:chExt cx="1344" cy="240"/>
          </a:xfrm>
        </p:grpSpPr>
        <p:sp>
          <p:nvSpPr>
            <p:cNvPr id="652293" name="Rectangle 5"/>
            <p:cNvSpPr>
              <a:spLocks noChangeArrowheads="1"/>
            </p:cNvSpPr>
            <p:nvPr/>
          </p:nvSpPr>
          <p:spPr bwMode="auto">
            <a:xfrm>
              <a:off x="2400" y="720"/>
              <a:ext cx="816" cy="24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 dirty="0">
                <a:latin typeface="Courier New" pitchFamily="49" charset="0"/>
              </a:endParaRPr>
            </a:p>
          </p:txBody>
        </p:sp>
        <p:sp>
          <p:nvSpPr>
            <p:cNvPr id="652294" name="Rectangle 6"/>
            <p:cNvSpPr>
              <a:spLocks noChangeArrowheads="1"/>
            </p:cNvSpPr>
            <p:nvPr/>
          </p:nvSpPr>
          <p:spPr bwMode="auto">
            <a:xfrm>
              <a:off x="1872" y="720"/>
              <a:ext cx="52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400" b="1" dirty="0">
                  <a:solidFill>
                    <a:srgbClr val="0033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Want</a:t>
              </a:r>
              <a:r>
                <a:rPr lang="en-US" altLang="en-US" sz="2400" b="1" dirty="0">
                  <a:latin typeface="Courier New" pitchFamily="49" charset="0"/>
                </a:rPr>
                <a:t>[0]</a:t>
              </a:r>
            </a:p>
          </p:txBody>
        </p:sp>
      </p:grpSp>
      <p:sp>
        <p:nvSpPr>
          <p:cNvPr id="652296" name="Text Box 8"/>
          <p:cNvSpPr txBox="1">
            <a:spLocks noChangeArrowheads="1"/>
          </p:cNvSpPr>
          <p:nvPr/>
        </p:nvSpPr>
        <p:spPr bwMode="auto">
          <a:xfrm>
            <a:off x="457200" y="2362200"/>
            <a:ext cx="3810000" cy="2677656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en-US" sz="24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Want</a:t>
            </a:r>
            <a:r>
              <a:rPr lang="en-US" altLang="en-US" sz="2400" b="1" dirty="0">
                <a:latin typeface="Courier New" pitchFamily="49" charset="0"/>
              </a:rPr>
              <a:t>[0] = 1; </a:t>
            </a:r>
          </a:p>
          <a:p>
            <a:pPr eaLnBrk="0" hangingPunct="0"/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Turn</a:t>
            </a:r>
            <a:r>
              <a:rPr lang="en-US" altLang="en-US" sz="2400" b="1" dirty="0">
                <a:latin typeface="Courier New" pitchFamily="49" charset="0"/>
              </a:rPr>
              <a:t> = 1;</a:t>
            </a:r>
          </a:p>
          <a:p>
            <a:pPr eaLnBrk="0" hangingPunct="0"/>
            <a:r>
              <a:rPr lang="en-US" altLang="en-US" sz="2400" b="1" dirty="0">
                <a:latin typeface="Courier New" pitchFamily="49" charset="0"/>
              </a:rPr>
              <a:t>while (</a:t>
            </a:r>
            <a:r>
              <a:rPr lang="en-US" altLang="en-US" sz="24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Want</a:t>
            </a:r>
            <a:r>
              <a:rPr lang="en-US" altLang="en-US" sz="2400" b="1" dirty="0">
                <a:latin typeface="Courier New" pitchFamily="49" charset="0"/>
              </a:rPr>
              <a:t>[1] &amp;&amp; </a:t>
            </a:r>
            <a:br>
              <a:rPr lang="en-US" altLang="en-US" sz="2400" b="1" dirty="0">
                <a:latin typeface="Courier New" pitchFamily="49" charset="0"/>
              </a:rPr>
            </a:br>
            <a:r>
              <a:rPr lang="en-US" altLang="en-US" sz="2400" b="1" dirty="0">
                <a:latin typeface="Courier New" pitchFamily="49" charset="0"/>
              </a:rPr>
              <a:t>        </a:t>
            </a:r>
            <a:r>
              <a:rPr lang="en-US" altLang="en-US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Turn</a:t>
            </a:r>
            <a:r>
              <a:rPr lang="en-US" altLang="en-US" sz="2400" b="1" dirty="0">
                <a:latin typeface="Courier New" pitchFamily="49" charset="0"/>
              </a:rPr>
              <a:t> == 1);</a:t>
            </a:r>
          </a:p>
          <a:p>
            <a:pPr eaLnBrk="0" hangingPunct="0"/>
            <a:endParaRPr lang="en-US" altLang="en-US" sz="2400" b="1" dirty="0">
              <a:solidFill>
                <a:srgbClr val="9900CC"/>
              </a:solidFill>
              <a:latin typeface="Courier New" pitchFamily="49" charset="0"/>
            </a:endParaRPr>
          </a:p>
          <a:p>
            <a:pPr eaLnBrk="0" hangingPunct="0"/>
            <a:endParaRPr lang="en-US" altLang="en-US" sz="2400" b="1" dirty="0">
              <a:solidFill>
                <a:srgbClr val="9900CC"/>
              </a:solidFill>
              <a:latin typeface="Courier New" pitchFamily="49" charset="0"/>
            </a:endParaRPr>
          </a:p>
          <a:p>
            <a:pPr eaLnBrk="0" hangingPunct="0"/>
            <a:r>
              <a:rPr lang="en-US" altLang="en-US" sz="24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Want</a:t>
            </a:r>
            <a:r>
              <a:rPr lang="en-US" altLang="en-US" sz="2400" b="1" dirty="0">
                <a:latin typeface="Courier New" pitchFamily="49" charset="0"/>
              </a:rPr>
              <a:t>[0] = 0;</a:t>
            </a:r>
            <a:endParaRPr lang="en-US" altLang="en-US" sz="2400" dirty="0">
              <a:latin typeface="Courier New" pitchFamily="49" charset="0"/>
            </a:endParaRPr>
          </a:p>
        </p:txBody>
      </p:sp>
      <p:sp>
        <p:nvSpPr>
          <p:cNvPr id="652297" name="Text Box 9"/>
          <p:cNvSpPr txBox="1">
            <a:spLocks noChangeArrowheads="1"/>
          </p:cNvSpPr>
          <p:nvPr/>
        </p:nvSpPr>
        <p:spPr bwMode="auto">
          <a:xfrm>
            <a:off x="1447800" y="5064126"/>
            <a:ext cx="1752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dirty="0"/>
              <a:t>Process </a:t>
            </a:r>
            <a:r>
              <a:rPr lang="en-US" altLang="en-US" b="1" dirty="0"/>
              <a:t>P0</a:t>
            </a:r>
          </a:p>
        </p:txBody>
      </p:sp>
      <p:grpSp>
        <p:nvGrpSpPr>
          <p:cNvPr id="652299" name="Group 11"/>
          <p:cNvGrpSpPr>
            <a:grpSpLocks/>
          </p:cNvGrpSpPr>
          <p:nvPr/>
        </p:nvGrpSpPr>
        <p:grpSpPr bwMode="auto">
          <a:xfrm>
            <a:off x="3276600" y="1752600"/>
            <a:ext cx="2133600" cy="381000"/>
            <a:chOff x="1872" y="720"/>
            <a:chExt cx="1344" cy="240"/>
          </a:xfrm>
        </p:grpSpPr>
        <p:sp>
          <p:nvSpPr>
            <p:cNvPr id="652300" name="Rectangle 12"/>
            <p:cNvSpPr>
              <a:spLocks noChangeArrowheads="1"/>
            </p:cNvSpPr>
            <p:nvPr/>
          </p:nvSpPr>
          <p:spPr bwMode="auto">
            <a:xfrm>
              <a:off x="2400" y="720"/>
              <a:ext cx="816" cy="24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 dirty="0">
                <a:latin typeface="Courier New" pitchFamily="49" charset="0"/>
              </a:endParaRPr>
            </a:p>
          </p:txBody>
        </p:sp>
        <p:sp>
          <p:nvSpPr>
            <p:cNvPr id="652301" name="Rectangle 13"/>
            <p:cNvSpPr>
              <a:spLocks noChangeArrowheads="1"/>
            </p:cNvSpPr>
            <p:nvPr/>
          </p:nvSpPr>
          <p:spPr bwMode="auto">
            <a:xfrm>
              <a:off x="1872" y="720"/>
              <a:ext cx="52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400" b="1" dirty="0">
                  <a:solidFill>
                    <a:srgbClr val="0033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Want</a:t>
              </a:r>
              <a:r>
                <a:rPr lang="en-US" altLang="en-US" sz="2400" b="1" dirty="0">
                  <a:latin typeface="Courier New" pitchFamily="49" charset="0"/>
                </a:rPr>
                <a:t>[1]</a:t>
              </a:r>
            </a:p>
          </p:txBody>
        </p:sp>
      </p:grpSp>
      <p:grpSp>
        <p:nvGrpSpPr>
          <p:cNvPr id="652306" name="Group 18"/>
          <p:cNvGrpSpPr>
            <a:grpSpLocks/>
          </p:cNvGrpSpPr>
          <p:nvPr/>
        </p:nvGrpSpPr>
        <p:grpSpPr bwMode="auto">
          <a:xfrm>
            <a:off x="3276600" y="990600"/>
            <a:ext cx="2133600" cy="381000"/>
            <a:chOff x="1872" y="720"/>
            <a:chExt cx="1344" cy="240"/>
          </a:xfrm>
        </p:grpSpPr>
        <p:sp>
          <p:nvSpPr>
            <p:cNvPr id="652307" name="Rectangle 19"/>
            <p:cNvSpPr>
              <a:spLocks noChangeArrowheads="1"/>
            </p:cNvSpPr>
            <p:nvPr/>
          </p:nvSpPr>
          <p:spPr bwMode="auto">
            <a:xfrm>
              <a:off x="2400" y="720"/>
              <a:ext cx="816" cy="24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 dirty="0">
                <a:latin typeface="Courier New" pitchFamily="49" charset="0"/>
              </a:endParaRPr>
            </a:p>
          </p:txBody>
        </p:sp>
        <p:sp>
          <p:nvSpPr>
            <p:cNvPr id="652308" name="Rectangle 20"/>
            <p:cNvSpPr>
              <a:spLocks noChangeArrowheads="1"/>
            </p:cNvSpPr>
            <p:nvPr/>
          </p:nvSpPr>
          <p:spPr bwMode="auto">
            <a:xfrm>
              <a:off x="1872" y="720"/>
              <a:ext cx="52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Turn</a:t>
              </a:r>
            </a:p>
          </p:txBody>
        </p:sp>
      </p:grpSp>
      <p:grpSp>
        <p:nvGrpSpPr>
          <p:cNvPr id="652310" name="Group 22"/>
          <p:cNvGrpSpPr>
            <a:grpSpLocks/>
          </p:cNvGrpSpPr>
          <p:nvPr/>
        </p:nvGrpSpPr>
        <p:grpSpPr bwMode="auto">
          <a:xfrm>
            <a:off x="4876800" y="2362200"/>
            <a:ext cx="3810000" cy="3068638"/>
            <a:chOff x="288" y="1440"/>
            <a:chExt cx="2400" cy="1933"/>
          </a:xfrm>
        </p:grpSpPr>
        <p:sp>
          <p:nvSpPr>
            <p:cNvPr id="652311" name="Text Box 23"/>
            <p:cNvSpPr txBox="1">
              <a:spLocks noChangeArrowheads="1"/>
            </p:cNvSpPr>
            <p:nvPr/>
          </p:nvSpPr>
          <p:spPr bwMode="auto">
            <a:xfrm>
              <a:off x="288" y="1440"/>
              <a:ext cx="2400" cy="168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en-US" sz="2400" b="1" dirty="0">
                  <a:solidFill>
                    <a:srgbClr val="0033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Want</a:t>
              </a:r>
              <a:r>
                <a:rPr lang="en-US" altLang="en-US" sz="2400" b="1" dirty="0">
                  <a:latin typeface="Courier New" pitchFamily="49" charset="0"/>
                </a:rPr>
                <a:t>[1] = 1; </a:t>
              </a:r>
            </a:p>
            <a:p>
              <a:pPr eaLnBrk="0" hangingPunct="0"/>
              <a:r>
                <a:rPr lang="en-US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Turn</a:t>
              </a:r>
              <a:r>
                <a:rPr lang="en-US" altLang="en-US" sz="2400" b="1" dirty="0">
                  <a:latin typeface="Courier New" pitchFamily="49" charset="0"/>
                </a:rPr>
                <a:t> = 0;</a:t>
              </a:r>
            </a:p>
            <a:p>
              <a:pPr eaLnBrk="0" hangingPunct="0"/>
              <a:r>
                <a:rPr lang="en-US" altLang="en-US" sz="2400" b="1" dirty="0">
                  <a:latin typeface="Courier New" pitchFamily="49" charset="0"/>
                </a:rPr>
                <a:t>while (</a:t>
              </a:r>
              <a:r>
                <a:rPr lang="en-US" altLang="en-US" sz="2400" b="1" dirty="0">
                  <a:solidFill>
                    <a:srgbClr val="0033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Want</a:t>
              </a:r>
              <a:r>
                <a:rPr lang="en-US" altLang="en-US" sz="2400" b="1" dirty="0">
                  <a:latin typeface="Courier New" pitchFamily="49" charset="0"/>
                </a:rPr>
                <a:t>[0] &amp;&amp; </a:t>
              </a:r>
              <a:br>
                <a:rPr lang="en-US" altLang="en-US" sz="2400" b="1" dirty="0">
                  <a:latin typeface="Courier New" pitchFamily="49" charset="0"/>
                </a:rPr>
              </a:br>
              <a:r>
                <a:rPr lang="en-US" altLang="en-US" sz="2400" b="1" dirty="0">
                  <a:latin typeface="Courier New" pitchFamily="49" charset="0"/>
                </a:rPr>
                <a:t>        </a:t>
              </a:r>
              <a:r>
                <a:rPr lang="en-US" altLang="en-US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Turn</a:t>
              </a:r>
              <a:r>
                <a:rPr lang="en-US" altLang="en-US" sz="2400" b="1" dirty="0">
                  <a:latin typeface="Courier New" pitchFamily="49" charset="0"/>
                </a:rPr>
                <a:t> == 0);</a:t>
              </a:r>
            </a:p>
            <a:p>
              <a:pPr eaLnBrk="0" hangingPunct="0"/>
              <a:r>
                <a:rPr lang="en-US" altLang="en-US" sz="2400" b="1" dirty="0">
                  <a:solidFill>
                    <a:srgbClr val="9900CC"/>
                  </a:solidFill>
                  <a:latin typeface="Courier New" pitchFamily="49" charset="0"/>
                </a:rPr>
                <a:t> </a:t>
              </a:r>
            </a:p>
            <a:p>
              <a:pPr eaLnBrk="0" hangingPunct="0"/>
              <a:endParaRPr lang="en-US" altLang="en-US" sz="2400" b="1" dirty="0">
                <a:solidFill>
                  <a:srgbClr val="9900CC"/>
                </a:solidFill>
                <a:latin typeface="Courier New" pitchFamily="49" charset="0"/>
              </a:endParaRPr>
            </a:p>
            <a:p>
              <a:pPr eaLnBrk="0" hangingPunct="0"/>
              <a:r>
                <a:rPr lang="en-US" altLang="en-US" sz="2400" b="1" dirty="0">
                  <a:solidFill>
                    <a:srgbClr val="0033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urier New" pitchFamily="49" charset="0"/>
                </a:rPr>
                <a:t>Want</a:t>
              </a:r>
              <a:r>
                <a:rPr lang="en-US" altLang="en-US" sz="2400" b="1" dirty="0">
                  <a:latin typeface="Courier New" pitchFamily="49" charset="0"/>
                </a:rPr>
                <a:t>[1] = 0;</a:t>
              </a:r>
              <a:endParaRPr lang="en-US" altLang="en-US" sz="2400" dirty="0">
                <a:latin typeface="Courier New" pitchFamily="49" charset="0"/>
              </a:endParaRPr>
            </a:p>
          </p:txBody>
        </p:sp>
        <p:sp>
          <p:nvSpPr>
            <p:cNvPr id="652312" name="Text Box 24"/>
            <p:cNvSpPr txBox="1">
              <a:spLocks noChangeArrowheads="1"/>
            </p:cNvSpPr>
            <p:nvPr/>
          </p:nvSpPr>
          <p:spPr bwMode="auto">
            <a:xfrm>
              <a:off x="912" y="3142"/>
              <a:ext cx="110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dirty="0"/>
                <a:t>Process </a:t>
              </a:r>
              <a:r>
                <a:rPr lang="en-US" altLang="en-US" b="1" dirty="0"/>
                <a:t>P1</a:t>
              </a:r>
            </a:p>
          </p:txBody>
        </p:sp>
      </p:grpSp>
      <p:pic>
        <p:nvPicPr>
          <p:cNvPr id="24" name="Picture 2" descr="Thumbs Up Png Clipar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897" y="3962400"/>
            <a:ext cx="2234206" cy="2199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92921-E8D1-4F63-8B4B-BBDB7C330874}" type="slidenum">
              <a:rPr lang="en-US" altLang="en-US" smtClean="0"/>
              <a:pPr/>
              <a:t>21</a:t>
            </a:fld>
            <a:endParaRPr lang="en-US" altLang="en-US"/>
          </a:p>
        </p:txBody>
      </p:sp>
      <p:sp>
        <p:nvSpPr>
          <p:cNvPr id="20" name="Rounded Rectangle 19"/>
          <p:cNvSpPr/>
          <p:nvPr/>
        </p:nvSpPr>
        <p:spPr>
          <a:xfrm>
            <a:off x="381000" y="3850912"/>
            <a:ext cx="3962400" cy="721088"/>
          </a:xfrm>
          <a:prstGeom prst="roundRect">
            <a:avLst/>
          </a:prstGeom>
          <a:solidFill>
            <a:schemeClr val="accent5">
              <a:lumMod val="20000"/>
              <a:lumOff val="80000"/>
              <a:alpha val="2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Critical Section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00600" y="3851865"/>
            <a:ext cx="3962400" cy="720135"/>
          </a:xfrm>
          <a:prstGeom prst="roundRect">
            <a:avLst/>
          </a:prstGeom>
          <a:solidFill>
            <a:schemeClr val="accent5">
              <a:lumMod val="20000"/>
              <a:lumOff val="80000"/>
              <a:alpha val="2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Critical Section</a:t>
            </a:r>
          </a:p>
        </p:txBody>
      </p:sp>
      <p:sp>
        <p:nvSpPr>
          <p:cNvPr id="22" name="Rectangle 2"/>
          <p:cNvSpPr txBox="1">
            <a:spLocks noChangeArrowheads="1"/>
          </p:cNvSpPr>
          <p:nvPr/>
        </p:nvSpPr>
        <p:spPr bwMode="auto">
          <a:xfrm>
            <a:off x="457200" y="277813"/>
            <a:ext cx="8229600" cy="71278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Garamond" pitchFamily="18" charset="0"/>
              </a:defRPr>
            </a:lvl9pPr>
          </a:lstStyle>
          <a:p>
            <a:r>
              <a:rPr lang="en-US" altLang="en-US" sz="3400" kern="0" dirty="0">
                <a:solidFill>
                  <a:srgbClr val="323232"/>
                </a:solidFill>
              </a:rPr>
              <a:t>Using High Level Language: </a:t>
            </a:r>
            <a:r>
              <a:rPr lang="en-US" altLang="en-US" sz="3400" b="1" kern="0" dirty="0">
                <a:solidFill>
                  <a:srgbClr val="C00000"/>
                </a:solidFill>
              </a:rPr>
              <a:t>Attempt 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523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523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523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Peterson's Algorithm: </a:t>
            </a:r>
            <a:r>
              <a:rPr lang="en-US" altLang="en-US" sz="3800" b="1" dirty="0">
                <a:solidFill>
                  <a:srgbClr val="C00000"/>
                </a:solidFill>
              </a:rPr>
              <a:t>Disadvantages</a:t>
            </a:r>
          </a:p>
        </p:txBody>
      </p:sp>
      <p:sp>
        <p:nvSpPr>
          <p:cNvPr id="68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</a:rPr>
              <a:t>Busy Waiting: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The waiting process repeatedly test the while-loop condition instead of going into blocked state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Low level: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Higher-level programming construct is desirable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chemeClr val="accent4">
                    <a:lumMod val="50000"/>
                  </a:schemeClr>
                </a:solidFill>
              </a:rPr>
              <a:t>Not general: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General synchronization mechanism is desirable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High Level </a:t>
            </a:r>
            <a:r>
              <a:rPr lang="en-US" dirty="0"/>
              <a:t>Abstraction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7B2A14-CFC8-473E-8C77-48351E3F49FF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76991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660066"/>
                </a:solidFill>
              </a:rPr>
              <a:t>Semaphore:</a:t>
            </a:r>
          </a:p>
          <a:p>
            <a:pPr lvl="1"/>
            <a:r>
              <a:rPr lang="en-US" altLang="en-US" dirty="0"/>
              <a:t>An generalized synchronization mechanism</a:t>
            </a:r>
          </a:p>
          <a:p>
            <a:pPr lvl="1"/>
            <a:r>
              <a:rPr lang="en-US" altLang="en-US" b="1" dirty="0">
                <a:solidFill>
                  <a:srgbClr val="C00000"/>
                </a:solidFill>
              </a:rPr>
              <a:t>Only behaviors are specified </a:t>
            </a:r>
            <a:r>
              <a:rPr lang="en-US" altLang="en-US" dirty="0">
                <a:sym typeface="Wingdings" pitchFamily="2" charset="2"/>
              </a:rPr>
              <a:t> can have different implementations</a:t>
            </a:r>
            <a:endParaRPr lang="en-US" altLang="en-US" dirty="0"/>
          </a:p>
          <a:p>
            <a:pPr lvl="1"/>
            <a:r>
              <a:rPr lang="en-US" altLang="en-US" dirty="0"/>
              <a:t>Provides</a:t>
            </a:r>
          </a:p>
          <a:p>
            <a:pPr lvl="2"/>
            <a:r>
              <a:rPr lang="en-US" altLang="en-US" b="1" dirty="0"/>
              <a:t>A way to block </a:t>
            </a:r>
            <a:r>
              <a:rPr lang="en-US" altLang="en-US" dirty="0"/>
              <a:t>a number of processes</a:t>
            </a:r>
          </a:p>
          <a:p>
            <a:pPr lvl="3"/>
            <a:r>
              <a:rPr lang="en-US" altLang="en-US" dirty="0"/>
              <a:t>Known as </a:t>
            </a:r>
            <a:r>
              <a:rPr lang="en-US" altLang="en-US" b="1" dirty="0"/>
              <a:t>sleeping process</a:t>
            </a:r>
          </a:p>
          <a:p>
            <a:pPr lvl="2"/>
            <a:r>
              <a:rPr lang="en-US" altLang="en-US" b="1" dirty="0"/>
              <a:t>A way to unblock/wake up </a:t>
            </a:r>
            <a:r>
              <a:rPr lang="en-US" altLang="en-US" dirty="0"/>
              <a:t>one or more sleeping process</a:t>
            </a:r>
          </a:p>
          <a:p>
            <a:pPr lvl="2">
              <a:buFont typeface="Wingdings" pitchFamily="2" charset="2"/>
              <a:buNone/>
            </a:pPr>
            <a:endParaRPr lang="en-US" altLang="en-US" dirty="0"/>
          </a:p>
          <a:p>
            <a:r>
              <a:rPr lang="en-US" altLang="en-US" dirty="0"/>
              <a:t>History:</a:t>
            </a:r>
          </a:p>
          <a:p>
            <a:pPr lvl="1"/>
            <a:r>
              <a:rPr lang="en-US" altLang="en-US" dirty="0"/>
              <a:t>Proposed by </a:t>
            </a:r>
            <a:r>
              <a:rPr lang="en-US" altLang="en-US" b="1" dirty="0">
                <a:solidFill>
                  <a:srgbClr val="006600"/>
                </a:solidFill>
              </a:rPr>
              <a:t>Edgar W. </a:t>
            </a:r>
            <a:r>
              <a:rPr lang="en-US" altLang="en-US" b="1" dirty="0" err="1">
                <a:solidFill>
                  <a:srgbClr val="006600"/>
                </a:solidFill>
              </a:rPr>
              <a:t>Dijkstra</a:t>
            </a:r>
            <a:r>
              <a:rPr lang="en-US" altLang="en-US" b="1" dirty="0">
                <a:solidFill>
                  <a:srgbClr val="006600"/>
                </a:solidFill>
              </a:rPr>
              <a:t> </a:t>
            </a:r>
            <a:r>
              <a:rPr lang="en-US" altLang="en-US" dirty="0"/>
              <a:t>in 1965</a:t>
            </a:r>
          </a:p>
          <a:p>
            <a:pPr lvl="1"/>
            <a:endParaRPr lang="en-US" altLang="en-US" dirty="0"/>
          </a:p>
        </p:txBody>
      </p:sp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3800" b="1" dirty="0"/>
              <a:t>High Level Synchronization Mechanism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5621"/>
            <a:ext cx="5181600" cy="690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AutoShape 5"/>
          <p:cNvSpPr>
            <a:spLocks noChangeArrowheads="1"/>
          </p:cNvSpPr>
          <p:nvPr/>
        </p:nvSpPr>
        <p:spPr bwMode="auto">
          <a:xfrm>
            <a:off x="4419600" y="1107191"/>
            <a:ext cx="4495800" cy="1595618"/>
          </a:xfrm>
          <a:prstGeom prst="wedgeRoundRectCallout">
            <a:avLst>
              <a:gd name="adj1" fmla="val -53321"/>
              <a:gd name="adj2" fmla="val 72410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altLang="en-US" sz="3200" dirty="0">
                <a:latin typeface="+mn-lt"/>
                <a:ea typeface="Dotum" panose="020B0600000101010101" pitchFamily="34" charset="-127"/>
              </a:rPr>
              <a:t>One does not simply </a:t>
            </a:r>
            <a:r>
              <a:rPr lang="en-US" altLang="en-US" sz="3200" b="1" dirty="0">
                <a:latin typeface="+mn-lt"/>
                <a:ea typeface="Dotum" panose="020B0600000101010101" pitchFamily="34" charset="-127"/>
              </a:rPr>
              <a:t>synchronize</a:t>
            </a:r>
            <a:r>
              <a:rPr lang="en-US" altLang="en-US" sz="3200" dirty="0">
                <a:latin typeface="+mn-lt"/>
                <a:ea typeface="Dotum" panose="020B0600000101010101" pitchFamily="34" charset="-127"/>
              </a:rPr>
              <a:t>!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24</a:t>
            </a:fld>
            <a:endParaRPr lang="en-US" altLang="en-US"/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4453467" y="1676400"/>
            <a:ext cx="3987800" cy="986018"/>
          </a:xfrm>
          <a:prstGeom prst="wedgeRoundRectCallout">
            <a:avLst>
              <a:gd name="adj1" fmla="val -53983"/>
              <a:gd name="adj2" fmla="val 91629"/>
              <a:gd name="adj3" fmla="val 16667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altLang="en-US" sz="3600" dirty="0">
                <a:latin typeface="+mn-lt"/>
                <a:ea typeface="Dotum" panose="020B0600000101010101" pitchFamily="34" charset="-127"/>
              </a:rPr>
              <a:t>Btw, I'm </a:t>
            </a:r>
            <a:r>
              <a:rPr lang="en-US" altLang="en-US" sz="3600" b="1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Dotum" panose="020B0600000101010101" pitchFamily="34" charset="-127"/>
              </a:rPr>
              <a:t>Dutch</a:t>
            </a:r>
            <a:r>
              <a:rPr lang="en-US" altLang="en-US" sz="3600" dirty="0">
                <a:latin typeface="+mn-lt"/>
                <a:ea typeface="Dotum" panose="020B0600000101010101" pitchFamily="34" charset="-127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1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animBg="1"/>
      <p:bldP spid="7" grpId="1" build="allAtOnce" animBg="1"/>
      <p:bldP spid="8" grpId="0" uiExpand="1" build="p" animBg="1"/>
      <p:bldP spid="8" grpId="1" uiExpand="1" build="allAtOnce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Semaphore: </a:t>
            </a:r>
            <a:r>
              <a:rPr lang="en-US" altLang="en-US" sz="3800" b="1" dirty="0">
                <a:solidFill>
                  <a:srgbClr val="C00000"/>
                </a:solidFill>
              </a:rPr>
              <a:t>Wait</a:t>
            </a:r>
            <a:r>
              <a:rPr lang="en-US" altLang="en-US" sz="3800" dirty="0"/>
              <a:t>( ) and </a:t>
            </a:r>
            <a:r>
              <a:rPr lang="en-US" altLang="en-US" sz="3800" b="1" dirty="0">
                <a:solidFill>
                  <a:srgbClr val="003300"/>
                </a:solidFill>
              </a:rPr>
              <a:t>Signal</a:t>
            </a:r>
            <a:r>
              <a:rPr lang="en-US" altLang="en-US" sz="3800" dirty="0"/>
              <a:t>( )</a:t>
            </a:r>
          </a:p>
        </p:txBody>
      </p:sp>
      <p:sp>
        <p:nvSpPr>
          <p:cNvPr id="69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1143000"/>
          </a:xfrm>
        </p:spPr>
        <p:txBody>
          <a:bodyPr>
            <a:normAutofit fontScale="92500"/>
          </a:bodyPr>
          <a:lstStyle/>
          <a:p>
            <a:r>
              <a:rPr lang="en-US" altLang="en-US" dirty="0"/>
              <a:t>A semaphore </a:t>
            </a:r>
            <a:r>
              <a:rPr lang="en-US" altLang="en-US" b="1" dirty="0"/>
              <a:t>S </a:t>
            </a:r>
            <a:r>
              <a:rPr lang="en-US" altLang="en-US" dirty="0"/>
              <a:t>contains an integer value</a:t>
            </a:r>
          </a:p>
          <a:p>
            <a:pPr lvl="1"/>
            <a:r>
              <a:rPr lang="en-US" altLang="en-US" dirty="0"/>
              <a:t>Can be initialized to any non-negative values initially</a:t>
            </a:r>
          </a:p>
          <a:p>
            <a:endParaRPr lang="en-US" altLang="en-US" b="1" dirty="0"/>
          </a:p>
          <a:p>
            <a:endParaRPr lang="en-US" altLang="en-US" b="1" dirty="0"/>
          </a:p>
          <a:p>
            <a:endParaRPr lang="en-US" altLang="en-US" b="1" dirty="0"/>
          </a:p>
          <a:p>
            <a:endParaRPr lang="en-US" altLang="en-US" b="1" dirty="0"/>
          </a:p>
          <a:p>
            <a:endParaRPr lang="en-US" altLang="en-US" b="1" dirty="0"/>
          </a:p>
          <a:p>
            <a:endParaRPr lang="en-US" altLang="en-US" b="1" dirty="0"/>
          </a:p>
          <a:p>
            <a:endParaRPr lang="en-US" altLang="en-US" b="1" dirty="0"/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468086" y="3324538"/>
            <a:ext cx="3886200" cy="31023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212725" indent="-325438">
              <a:spcBef>
                <a:spcPct val="20000"/>
              </a:spcBef>
              <a:buClr>
                <a:srgbClr val="9F2936"/>
              </a:buClr>
              <a:buSzPct val="60000"/>
              <a:buFont typeface="Wingdings" pitchFamily="2" charset="2"/>
              <a:buChar char="q"/>
            </a:pPr>
            <a:r>
              <a:rPr lang="en-US" altLang="en-US" sz="2400" b="1" kern="0" dirty="0">
                <a:solidFill>
                  <a:srgbClr val="C00000"/>
                </a:solidFill>
                <a:latin typeface="Courier New" pitchFamily="49" charset="0"/>
              </a:rPr>
              <a:t>Wait( S )</a:t>
            </a:r>
          </a:p>
          <a:p>
            <a:pPr marL="565150" lvl="1" indent="-350838">
              <a:spcBef>
                <a:spcPct val="20000"/>
              </a:spcBef>
              <a:buClr>
                <a:srgbClr val="F07F09"/>
              </a:buClr>
              <a:buSzPct val="65000"/>
              <a:buFont typeface="Wingdings" pitchFamily="2" charset="2"/>
              <a:buChar char="n"/>
            </a:pPr>
            <a:r>
              <a:rPr lang="en-US" altLang="en-US" sz="2200" b="1" kern="0" dirty="0">
                <a:solidFill>
                  <a:prstClr val="black"/>
                </a:solidFill>
                <a:latin typeface="Arial"/>
              </a:rPr>
              <a:t>If </a:t>
            </a:r>
            <a:r>
              <a:rPr lang="en-US" altLang="en-US" sz="2200" b="1" kern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en-US" sz="2200" b="1" kern="0" dirty="0">
                <a:solidFill>
                  <a:prstClr val="black"/>
                </a:solidFill>
                <a:latin typeface="Arial"/>
              </a:rPr>
              <a:t> &lt;= 0, blocks </a:t>
            </a:r>
            <a:r>
              <a:rPr lang="en-US" altLang="en-US" sz="2200" kern="0" dirty="0">
                <a:solidFill>
                  <a:prstClr val="black"/>
                </a:solidFill>
                <a:latin typeface="Arial"/>
              </a:rPr>
              <a:t>(go to sleep)</a:t>
            </a:r>
          </a:p>
          <a:p>
            <a:pPr marL="565150" lvl="1" indent="-350838">
              <a:spcBef>
                <a:spcPct val="20000"/>
              </a:spcBef>
              <a:buClr>
                <a:srgbClr val="F07F09"/>
              </a:buClr>
              <a:buSzPct val="65000"/>
              <a:buFont typeface="Wingdings" pitchFamily="2" charset="2"/>
              <a:buChar char="n"/>
            </a:pPr>
            <a:r>
              <a:rPr lang="en-US" altLang="en-US" sz="2200" b="1" kern="0" dirty="0">
                <a:solidFill>
                  <a:prstClr val="black"/>
                </a:solidFill>
                <a:latin typeface="Arial"/>
              </a:rPr>
              <a:t>Decrement </a:t>
            </a:r>
            <a:r>
              <a:rPr lang="en-US" altLang="en-US" sz="2200" b="1" kern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pPr marL="214312" lvl="1">
              <a:spcBef>
                <a:spcPct val="20000"/>
              </a:spcBef>
              <a:buClr>
                <a:srgbClr val="F07F09"/>
              </a:buClr>
              <a:buSzPct val="65000"/>
            </a:pPr>
            <a:endParaRPr lang="en-US" altLang="en-US" sz="2200" kern="0" dirty="0">
              <a:solidFill>
                <a:prstClr val="black"/>
              </a:solidFill>
              <a:latin typeface="Arial"/>
            </a:endParaRPr>
          </a:p>
          <a:p>
            <a:pPr marL="565150" lvl="1" indent="-350838">
              <a:spcBef>
                <a:spcPct val="20000"/>
              </a:spcBef>
              <a:buClr>
                <a:srgbClr val="F07F09"/>
              </a:buClr>
              <a:buSzPct val="65000"/>
              <a:buFont typeface="Wingdings" pitchFamily="2" charset="2"/>
              <a:buChar char="n"/>
            </a:pPr>
            <a:endParaRPr lang="en-US" altLang="en-US" sz="2200" kern="0" dirty="0">
              <a:solidFill>
                <a:prstClr val="black"/>
              </a:solidFill>
              <a:latin typeface="Arial"/>
            </a:endParaRPr>
          </a:p>
          <a:p>
            <a:pPr marL="565150" lvl="1" indent="-350838">
              <a:spcBef>
                <a:spcPct val="20000"/>
              </a:spcBef>
              <a:buClr>
                <a:srgbClr val="F07F09"/>
              </a:buClr>
              <a:buSzPct val="65000"/>
              <a:buFont typeface="Wingdings" pitchFamily="2" charset="2"/>
              <a:buChar char="n"/>
            </a:pPr>
            <a:r>
              <a:rPr lang="en-US" altLang="en-US" sz="2200" kern="0" dirty="0">
                <a:solidFill>
                  <a:prstClr val="black"/>
                </a:solidFill>
                <a:latin typeface="Arial"/>
              </a:rPr>
              <a:t>Also known as </a:t>
            </a:r>
            <a:r>
              <a:rPr lang="en-US" altLang="en-US" sz="2000" b="1" kern="0" dirty="0">
                <a:solidFill>
                  <a:prstClr val="black"/>
                </a:solidFill>
                <a:latin typeface="Courier New" pitchFamily="49" charset="0"/>
              </a:rPr>
              <a:t>P()</a:t>
            </a:r>
            <a:r>
              <a:rPr lang="en-US" altLang="en-US" sz="2200" kern="0" dirty="0">
                <a:solidFill>
                  <a:prstClr val="black"/>
                </a:solidFill>
                <a:latin typeface="Arial"/>
              </a:rPr>
              <a:t> or</a:t>
            </a:r>
            <a:r>
              <a:rPr lang="en-US" altLang="en-US" sz="2000" b="1" kern="0" dirty="0">
                <a:solidFill>
                  <a:prstClr val="black"/>
                </a:solidFill>
                <a:latin typeface="Courier New" pitchFamily="49" charset="0"/>
              </a:rPr>
              <a:t> Down()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4600304" y="3324538"/>
            <a:ext cx="3962400" cy="310238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212725" indent="-325438">
              <a:spcBef>
                <a:spcPct val="20000"/>
              </a:spcBef>
              <a:buClr>
                <a:srgbClr val="9F2936"/>
              </a:buClr>
              <a:buSzPct val="60000"/>
              <a:buFont typeface="Wingdings" pitchFamily="2" charset="2"/>
              <a:buChar char="q"/>
            </a:pPr>
            <a:r>
              <a:rPr lang="en-US" altLang="en-US" sz="2400" b="1" kern="0" dirty="0">
                <a:solidFill>
                  <a:srgbClr val="003300"/>
                </a:solidFill>
                <a:latin typeface="Courier New" pitchFamily="49" charset="0"/>
              </a:rPr>
              <a:t>Signal( S )</a:t>
            </a:r>
          </a:p>
          <a:p>
            <a:pPr marL="565150" lvl="1" indent="-350838">
              <a:spcBef>
                <a:spcPct val="20000"/>
              </a:spcBef>
              <a:buClr>
                <a:srgbClr val="F07F09"/>
              </a:buClr>
              <a:buSzPct val="65000"/>
              <a:buFont typeface="Wingdings" pitchFamily="2" charset="2"/>
              <a:buChar char="n"/>
            </a:pPr>
            <a:r>
              <a:rPr lang="en-US" altLang="en-US" sz="2200" b="1" kern="0" dirty="0">
                <a:solidFill>
                  <a:prstClr val="black"/>
                </a:solidFill>
                <a:latin typeface="Arial"/>
              </a:rPr>
              <a:t>Increments </a:t>
            </a:r>
            <a:r>
              <a:rPr lang="en-US" altLang="en-US" sz="2200" b="1" kern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pPr marL="565150" lvl="1" indent="-350838">
              <a:spcBef>
                <a:spcPct val="20000"/>
              </a:spcBef>
              <a:buClr>
                <a:srgbClr val="F07F09"/>
              </a:buClr>
              <a:buSzPct val="65000"/>
              <a:buFont typeface="Wingdings" pitchFamily="2" charset="2"/>
              <a:buChar char="n"/>
            </a:pPr>
            <a:r>
              <a:rPr lang="en-US" altLang="en-US" sz="2200" kern="0" dirty="0">
                <a:solidFill>
                  <a:prstClr val="black"/>
                </a:solidFill>
                <a:latin typeface="Arial"/>
              </a:rPr>
              <a:t>Wakes up one sleeping process if any</a:t>
            </a:r>
          </a:p>
          <a:p>
            <a:pPr marL="565150" lvl="1" indent="-350838">
              <a:spcBef>
                <a:spcPct val="20000"/>
              </a:spcBef>
              <a:buClr>
                <a:srgbClr val="F07F09"/>
              </a:buClr>
              <a:buSzPct val="65000"/>
              <a:buFont typeface="Wingdings" pitchFamily="2" charset="2"/>
              <a:buChar char="n"/>
            </a:pPr>
            <a:r>
              <a:rPr lang="en-US" altLang="en-US" sz="2200" kern="0" dirty="0">
                <a:solidFill>
                  <a:prstClr val="black"/>
                </a:solidFill>
                <a:latin typeface="Arial"/>
              </a:rPr>
              <a:t>This operation </a:t>
            </a:r>
            <a:r>
              <a:rPr lang="en-US" altLang="en-US" sz="2200" b="1" kern="0" dirty="0">
                <a:solidFill>
                  <a:prstClr val="black"/>
                </a:solidFill>
                <a:latin typeface="Arial"/>
              </a:rPr>
              <a:t>never </a:t>
            </a:r>
            <a:r>
              <a:rPr lang="en-US" altLang="en-US" sz="2200" kern="0" dirty="0">
                <a:solidFill>
                  <a:prstClr val="black"/>
                </a:solidFill>
                <a:latin typeface="Arial"/>
              </a:rPr>
              <a:t>blocks</a:t>
            </a:r>
          </a:p>
          <a:p>
            <a:pPr marL="565150" lvl="1" indent="-350838">
              <a:spcBef>
                <a:spcPct val="20000"/>
              </a:spcBef>
              <a:buClr>
                <a:srgbClr val="F07F09"/>
              </a:buClr>
              <a:buSzPct val="65000"/>
              <a:buFont typeface="Wingdings" pitchFamily="2" charset="2"/>
              <a:buChar char="n"/>
            </a:pPr>
            <a:r>
              <a:rPr lang="en-US" altLang="en-US" sz="2200" kern="0" dirty="0">
                <a:solidFill>
                  <a:prstClr val="black"/>
                </a:solidFill>
                <a:latin typeface="Arial"/>
              </a:rPr>
              <a:t>Also known as </a:t>
            </a:r>
            <a:r>
              <a:rPr lang="en-US" altLang="en-US" sz="2000" b="1" kern="0" dirty="0">
                <a:solidFill>
                  <a:prstClr val="black"/>
                </a:solidFill>
                <a:latin typeface="Courier New" pitchFamily="49" charset="0"/>
              </a:rPr>
              <a:t>V()</a:t>
            </a:r>
            <a:r>
              <a:rPr lang="en-US" altLang="en-US" sz="2200" kern="0" dirty="0">
                <a:solidFill>
                  <a:prstClr val="black"/>
                </a:solidFill>
                <a:latin typeface="Arial"/>
              </a:rPr>
              <a:t> or </a:t>
            </a:r>
            <a:r>
              <a:rPr lang="en-US" altLang="en-US" sz="2000" b="1" kern="0" dirty="0">
                <a:solidFill>
                  <a:prstClr val="black"/>
                </a:solidFill>
                <a:latin typeface="Courier New" pitchFamily="49" charset="0"/>
              </a:rPr>
              <a:t>Up()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564674" y="1980524"/>
            <a:ext cx="3579223" cy="1143676"/>
            <a:chOff x="4191000" y="3425284"/>
            <a:chExt cx="3579223" cy="1379217"/>
          </a:xfrm>
        </p:grpSpPr>
        <p:sp>
          <p:nvSpPr>
            <p:cNvPr id="9" name="Rounded Rectangle 8"/>
            <p:cNvSpPr/>
            <p:nvPr/>
          </p:nvSpPr>
          <p:spPr>
            <a:xfrm>
              <a:off x="4191000" y="3585301"/>
              <a:ext cx="3505200" cy="1219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6170023" y="3425284"/>
              <a:ext cx="1600200" cy="369887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Semaphore S</a:t>
              </a: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4343400" y="3886200"/>
              <a:ext cx="838200" cy="76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dirty="0"/>
                <a:t>Integer</a:t>
              </a: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5181600" y="4572000"/>
              <a:ext cx="2133600" cy="76200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5334000" y="4000500"/>
              <a:ext cx="2286000" cy="762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dirty="0"/>
                <a:t>List of processes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564674" y="1980524"/>
            <a:ext cx="3579223" cy="1143676"/>
            <a:chOff x="4191000" y="3425284"/>
            <a:chExt cx="3579223" cy="1379217"/>
          </a:xfrm>
        </p:grpSpPr>
        <p:sp>
          <p:nvSpPr>
            <p:cNvPr id="15" name="Rounded Rectangle 14"/>
            <p:cNvSpPr/>
            <p:nvPr/>
          </p:nvSpPr>
          <p:spPr>
            <a:xfrm>
              <a:off x="4191000" y="3585301"/>
              <a:ext cx="3505200" cy="1219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6170023" y="3425284"/>
              <a:ext cx="1600200" cy="369887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Semaphore S</a:t>
              </a:r>
            </a:p>
          </p:txBody>
        </p:sp>
        <p:sp>
          <p:nvSpPr>
            <p:cNvPr id="17" name="Rectangle 11"/>
            <p:cNvSpPr>
              <a:spLocks noChangeArrowheads="1"/>
            </p:cNvSpPr>
            <p:nvPr/>
          </p:nvSpPr>
          <p:spPr bwMode="auto">
            <a:xfrm>
              <a:off x="4343400" y="3886200"/>
              <a:ext cx="838200" cy="76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8" name="Rectangle 12"/>
            <p:cNvSpPr>
              <a:spLocks noChangeArrowheads="1"/>
            </p:cNvSpPr>
            <p:nvPr/>
          </p:nvSpPr>
          <p:spPr bwMode="auto">
            <a:xfrm>
              <a:off x="5181600" y="4572000"/>
              <a:ext cx="2133600" cy="76200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25</a:t>
            </a:fld>
            <a:endParaRPr lang="en-US" alt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644" y="1954075"/>
            <a:ext cx="5795075" cy="457267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 rot="265346">
            <a:off x="5024049" y="3333812"/>
            <a:ext cx="1533524" cy="93246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4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Text Box 8"/>
          <p:cNvSpPr txBox="1">
            <a:spLocks noChangeArrowheads="1"/>
          </p:cNvSpPr>
          <p:nvPr/>
        </p:nvSpPr>
        <p:spPr bwMode="auto">
          <a:xfrm>
            <a:off x="41362" y="21812"/>
            <a:ext cx="3886200" cy="16083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pPr marL="212725" indent="-325438">
              <a:spcBef>
                <a:spcPct val="20000"/>
              </a:spcBef>
              <a:buClr>
                <a:srgbClr val="9F2936"/>
              </a:buClr>
              <a:buSzPct val="60000"/>
              <a:buFont typeface="Wingdings" pitchFamily="2" charset="2"/>
              <a:buChar char="q"/>
            </a:pPr>
            <a:r>
              <a:rPr lang="en-US" altLang="en-US" sz="2400" b="1" kern="0" dirty="0">
                <a:solidFill>
                  <a:srgbClr val="C00000"/>
                </a:solidFill>
                <a:latin typeface="Courier New" pitchFamily="49" charset="0"/>
              </a:rPr>
              <a:t>Wait( S )</a:t>
            </a:r>
          </a:p>
          <a:p>
            <a:pPr marL="565150" lvl="1" indent="-350838">
              <a:spcBef>
                <a:spcPct val="20000"/>
              </a:spcBef>
              <a:buClr>
                <a:srgbClr val="F07F09"/>
              </a:buClr>
              <a:buSzPct val="65000"/>
              <a:buFont typeface="Wingdings" pitchFamily="2" charset="2"/>
              <a:buChar char="n"/>
            </a:pPr>
            <a:r>
              <a:rPr lang="en-US" altLang="en-US" sz="2200" b="1" kern="0" dirty="0">
                <a:solidFill>
                  <a:prstClr val="black"/>
                </a:solidFill>
                <a:latin typeface="Arial"/>
              </a:rPr>
              <a:t>If </a:t>
            </a:r>
            <a:r>
              <a:rPr lang="en-US" altLang="en-US" sz="2200" b="1" kern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en-US" sz="2200" b="1" kern="0" dirty="0">
                <a:solidFill>
                  <a:prstClr val="black"/>
                </a:solidFill>
                <a:latin typeface="Arial"/>
              </a:rPr>
              <a:t> &lt;= 0, </a:t>
            </a:r>
            <a:r>
              <a:rPr lang="en-US" altLang="en-US" sz="2200" b="1" kern="0" dirty="0">
                <a:solidFill>
                  <a:srgbClr val="66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</a:rPr>
              <a:t>blocks</a:t>
            </a:r>
            <a:r>
              <a:rPr lang="en-US" altLang="en-US" sz="2200" b="1" kern="0" dirty="0">
                <a:solidFill>
                  <a:prstClr val="black"/>
                </a:solidFill>
                <a:latin typeface="Arial"/>
              </a:rPr>
              <a:t> </a:t>
            </a:r>
            <a:r>
              <a:rPr lang="en-US" altLang="en-US" sz="2200" kern="0" dirty="0">
                <a:solidFill>
                  <a:prstClr val="black"/>
                </a:solidFill>
                <a:latin typeface="Arial"/>
              </a:rPr>
              <a:t>(go to sleep)</a:t>
            </a:r>
          </a:p>
          <a:p>
            <a:pPr marL="565150" lvl="1" indent="-350838">
              <a:spcBef>
                <a:spcPct val="20000"/>
              </a:spcBef>
              <a:buClr>
                <a:srgbClr val="F07F09"/>
              </a:buClr>
              <a:buSzPct val="65000"/>
              <a:buFont typeface="Wingdings" pitchFamily="2" charset="2"/>
              <a:buChar char="n"/>
            </a:pPr>
            <a:r>
              <a:rPr lang="en-US" altLang="en-US" sz="2200" b="1" kern="0" dirty="0">
                <a:solidFill>
                  <a:prstClr val="black"/>
                </a:solidFill>
                <a:latin typeface="Arial"/>
              </a:rPr>
              <a:t>Decrement </a:t>
            </a:r>
            <a:r>
              <a:rPr lang="en-US" altLang="en-US" sz="2200" b="1" kern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</p:txBody>
      </p:sp>
      <p:sp>
        <p:nvSpPr>
          <p:cNvPr id="23" name="Text Box 8"/>
          <p:cNvSpPr txBox="1">
            <a:spLocks noChangeArrowheads="1"/>
          </p:cNvSpPr>
          <p:nvPr/>
        </p:nvSpPr>
        <p:spPr bwMode="auto">
          <a:xfrm>
            <a:off x="5171192" y="19616"/>
            <a:ext cx="3931446" cy="161274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212725" indent="-325438">
              <a:spcBef>
                <a:spcPct val="20000"/>
              </a:spcBef>
              <a:buClr>
                <a:srgbClr val="9F2936"/>
              </a:buClr>
              <a:buSzPct val="60000"/>
              <a:buFont typeface="Wingdings" pitchFamily="2" charset="2"/>
              <a:buChar char="q"/>
            </a:pPr>
            <a:r>
              <a:rPr lang="en-US" altLang="en-US" sz="2400" b="1" kern="0" dirty="0">
                <a:solidFill>
                  <a:srgbClr val="003300"/>
                </a:solidFill>
                <a:latin typeface="Courier New" pitchFamily="49" charset="0"/>
              </a:rPr>
              <a:t>Signal( S )</a:t>
            </a:r>
          </a:p>
          <a:p>
            <a:pPr marL="565150" lvl="1" indent="-350838">
              <a:spcBef>
                <a:spcPct val="20000"/>
              </a:spcBef>
              <a:buClr>
                <a:srgbClr val="F07F09"/>
              </a:buClr>
              <a:buSzPct val="65000"/>
              <a:buFont typeface="Wingdings" pitchFamily="2" charset="2"/>
              <a:buChar char="n"/>
            </a:pPr>
            <a:r>
              <a:rPr lang="en-US" altLang="en-US" sz="2200" b="1" kern="0" dirty="0">
                <a:solidFill>
                  <a:prstClr val="black"/>
                </a:solidFill>
                <a:latin typeface="Arial"/>
              </a:rPr>
              <a:t>Increments </a:t>
            </a:r>
            <a:r>
              <a:rPr lang="en-US" altLang="en-US" sz="2200" b="1" kern="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</a:p>
          <a:p>
            <a:pPr marL="565150" lvl="1" indent="-350838">
              <a:spcBef>
                <a:spcPct val="20000"/>
              </a:spcBef>
              <a:buClr>
                <a:srgbClr val="F07F09"/>
              </a:buClr>
              <a:buSzPct val="65000"/>
              <a:buFont typeface="Wingdings" pitchFamily="2" charset="2"/>
              <a:buChar char="n"/>
            </a:pPr>
            <a:r>
              <a:rPr lang="en-US" altLang="en-US" sz="2200" kern="0" dirty="0">
                <a:solidFill>
                  <a:prstClr val="black"/>
                </a:solidFill>
                <a:latin typeface="Arial"/>
              </a:rPr>
              <a:t>Wakes up one sleeping process if any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animBg="1"/>
      <p:bldP spid="7" grpId="0" uiExpand="1" build="p" animBg="1"/>
      <p:bldP spid="4" grpId="0" animBg="1"/>
      <p:bldP spid="4" grpId="1" animBg="1"/>
      <p:bldP spid="22" grpId="0" uiExpand="1" build="p" animBg="1"/>
      <p:bldP spid="22" grpId="1" build="allAtOnce" animBg="1"/>
      <p:bldP spid="23" grpId="0" uiExpand="1" build="p" animBg="1"/>
      <p:bldP spid="23" grpId="1" build="allAtOnce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Semaphore: </a:t>
            </a:r>
            <a:r>
              <a:rPr lang="en-US" altLang="en-US" sz="4400" b="1" dirty="0">
                <a:solidFill>
                  <a:srgbClr val="C00000"/>
                </a:solidFill>
              </a:rPr>
              <a:t>Visualization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2895600"/>
          </a:xfrm>
        </p:spPr>
        <p:txBody>
          <a:bodyPr/>
          <a:lstStyle/>
          <a:p>
            <a:r>
              <a:rPr lang="en-US" dirty="0"/>
              <a:t>To aid understanding, you can visualize semaphore as:</a:t>
            </a:r>
          </a:p>
          <a:p>
            <a:pPr lvl="1"/>
            <a:r>
              <a:rPr lang="en-US" dirty="0"/>
              <a:t>A protected integer</a:t>
            </a:r>
          </a:p>
          <a:p>
            <a:pPr lvl="1"/>
            <a:r>
              <a:rPr lang="en-US" dirty="0"/>
              <a:t>A list to keep track of </a:t>
            </a:r>
            <a:br>
              <a:rPr lang="en-US" dirty="0"/>
            </a:br>
            <a:r>
              <a:rPr lang="en-US" dirty="0"/>
              <a:t>waiting processes</a:t>
            </a:r>
          </a:p>
          <a:p>
            <a:r>
              <a:rPr lang="en-US" dirty="0"/>
              <a:t>Example: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5033554" y="1972551"/>
            <a:ext cx="3579223" cy="1379217"/>
            <a:chOff x="4191000" y="3425284"/>
            <a:chExt cx="3579223" cy="1379217"/>
          </a:xfrm>
        </p:grpSpPr>
        <p:sp>
          <p:nvSpPr>
            <p:cNvPr id="12" name="Rounded Rectangle 11"/>
            <p:cNvSpPr/>
            <p:nvPr/>
          </p:nvSpPr>
          <p:spPr>
            <a:xfrm>
              <a:off x="4191000" y="3585301"/>
              <a:ext cx="3505200" cy="1219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10"/>
            <p:cNvSpPr>
              <a:spLocks noChangeArrowheads="1"/>
            </p:cNvSpPr>
            <p:nvPr/>
          </p:nvSpPr>
          <p:spPr bwMode="auto">
            <a:xfrm>
              <a:off x="6170023" y="3425284"/>
              <a:ext cx="1600200" cy="369887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Semaphore S</a:t>
              </a:r>
            </a:p>
          </p:txBody>
        </p:sp>
        <p:sp>
          <p:nvSpPr>
            <p:cNvPr id="10" name="Rectangle 11"/>
            <p:cNvSpPr>
              <a:spLocks noChangeArrowheads="1"/>
            </p:cNvSpPr>
            <p:nvPr/>
          </p:nvSpPr>
          <p:spPr bwMode="auto">
            <a:xfrm>
              <a:off x="4343400" y="3886200"/>
              <a:ext cx="838200" cy="76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dirty="0"/>
                <a:t>Integer</a:t>
              </a:r>
            </a:p>
          </p:txBody>
        </p:sp>
        <p:sp>
          <p:nvSpPr>
            <p:cNvPr id="8" name="Rectangle 12"/>
            <p:cNvSpPr>
              <a:spLocks noChangeArrowheads="1"/>
            </p:cNvSpPr>
            <p:nvPr/>
          </p:nvSpPr>
          <p:spPr bwMode="auto">
            <a:xfrm>
              <a:off x="5181600" y="4572000"/>
              <a:ext cx="2133600" cy="76200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5334000" y="4000500"/>
              <a:ext cx="2286000" cy="762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dirty="0"/>
                <a:t>List of processes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550815" y="4005360"/>
            <a:ext cx="1676402" cy="1032185"/>
            <a:chOff x="761999" y="4005360"/>
            <a:chExt cx="1676402" cy="1032185"/>
          </a:xfrm>
        </p:grpSpPr>
        <p:sp>
          <p:nvSpPr>
            <p:cNvPr id="15" name="Rounded Rectangle 14"/>
            <p:cNvSpPr/>
            <p:nvPr/>
          </p:nvSpPr>
          <p:spPr>
            <a:xfrm>
              <a:off x="761999" y="4156301"/>
              <a:ext cx="1600201" cy="88124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2026921" y="4005360"/>
              <a:ext cx="411480" cy="369887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S</a:t>
              </a:r>
            </a:p>
          </p:txBody>
        </p:sp>
        <p:sp>
          <p:nvSpPr>
            <p:cNvPr id="17" name="Rectangle 11"/>
            <p:cNvSpPr>
              <a:spLocks noChangeArrowheads="1"/>
            </p:cNvSpPr>
            <p:nvPr/>
          </p:nvSpPr>
          <p:spPr bwMode="auto">
            <a:xfrm>
              <a:off x="838198" y="4402408"/>
              <a:ext cx="489857" cy="49634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/>
                <a:t>1</a:t>
              </a:r>
            </a:p>
          </p:txBody>
        </p:sp>
        <p:sp>
          <p:nvSpPr>
            <p:cNvPr id="18" name="Rectangle 12"/>
            <p:cNvSpPr>
              <a:spLocks noChangeArrowheads="1"/>
            </p:cNvSpPr>
            <p:nvPr/>
          </p:nvSpPr>
          <p:spPr bwMode="auto">
            <a:xfrm>
              <a:off x="1328056" y="4783409"/>
              <a:ext cx="872489" cy="115343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>
              <a:off x="1328056" y="4402407"/>
              <a:ext cx="872490" cy="3810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21" name="Right Arrow 20"/>
          <p:cNvSpPr/>
          <p:nvPr/>
        </p:nvSpPr>
        <p:spPr>
          <a:xfrm>
            <a:off x="2325187" y="4461416"/>
            <a:ext cx="304800" cy="321993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27014" y="5235155"/>
            <a:ext cx="1362348" cy="85899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After initialization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34192" y="5250395"/>
            <a:ext cx="1900647" cy="85899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After P</a:t>
            </a:r>
            <a:r>
              <a:rPr lang="en-US" sz="1600" b="1" baseline="-25000" dirty="0">
                <a:solidFill>
                  <a:schemeClr val="tx1"/>
                </a:solidFill>
              </a:rPr>
              <a:t>1</a:t>
            </a:r>
            <a:r>
              <a:rPr lang="en-US" sz="1600" b="1" dirty="0">
                <a:solidFill>
                  <a:schemeClr val="tx1"/>
                </a:solidFill>
              </a:rPr>
              <a:t> wait(S)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P</a:t>
            </a:r>
            <a:r>
              <a:rPr lang="en-US" sz="1600" b="1" baseline="-25000" dirty="0">
                <a:solidFill>
                  <a:schemeClr val="tx1"/>
                </a:solidFill>
              </a:rPr>
              <a:t>1</a:t>
            </a:r>
            <a:r>
              <a:rPr lang="en-US" sz="1600" b="1" dirty="0">
                <a:solidFill>
                  <a:schemeClr val="tx1"/>
                </a:solidFill>
              </a:rPr>
              <a:t> proceeds 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2684416" y="4005360"/>
            <a:ext cx="1676402" cy="1032185"/>
            <a:chOff x="761999" y="4005360"/>
            <a:chExt cx="1676402" cy="1032185"/>
          </a:xfrm>
        </p:grpSpPr>
        <p:sp>
          <p:nvSpPr>
            <p:cNvPr id="32" name="Rounded Rectangle 31"/>
            <p:cNvSpPr/>
            <p:nvPr/>
          </p:nvSpPr>
          <p:spPr>
            <a:xfrm>
              <a:off x="761999" y="4156301"/>
              <a:ext cx="1600201" cy="88124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10"/>
            <p:cNvSpPr>
              <a:spLocks noChangeArrowheads="1"/>
            </p:cNvSpPr>
            <p:nvPr/>
          </p:nvSpPr>
          <p:spPr bwMode="auto">
            <a:xfrm>
              <a:off x="2026921" y="4005360"/>
              <a:ext cx="411480" cy="369887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S</a:t>
              </a:r>
            </a:p>
          </p:txBody>
        </p:sp>
        <p:sp>
          <p:nvSpPr>
            <p:cNvPr id="34" name="Rectangle 11"/>
            <p:cNvSpPr>
              <a:spLocks noChangeArrowheads="1"/>
            </p:cNvSpPr>
            <p:nvPr/>
          </p:nvSpPr>
          <p:spPr bwMode="auto">
            <a:xfrm>
              <a:off x="838198" y="4402408"/>
              <a:ext cx="489857" cy="49634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/>
                <a:t>0</a:t>
              </a:r>
            </a:p>
          </p:txBody>
        </p:sp>
        <p:sp>
          <p:nvSpPr>
            <p:cNvPr id="35" name="Rectangle 12"/>
            <p:cNvSpPr>
              <a:spLocks noChangeArrowheads="1"/>
            </p:cNvSpPr>
            <p:nvPr/>
          </p:nvSpPr>
          <p:spPr bwMode="auto">
            <a:xfrm>
              <a:off x="1328056" y="4783409"/>
              <a:ext cx="872489" cy="115343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Rectangle 11"/>
            <p:cNvSpPr>
              <a:spLocks noChangeArrowheads="1"/>
            </p:cNvSpPr>
            <p:nvPr/>
          </p:nvSpPr>
          <p:spPr bwMode="auto">
            <a:xfrm>
              <a:off x="1328056" y="4402407"/>
              <a:ext cx="872490" cy="3810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</p:grpSp>
      <p:sp>
        <p:nvSpPr>
          <p:cNvPr id="37" name="Right Arrow 36"/>
          <p:cNvSpPr/>
          <p:nvPr/>
        </p:nvSpPr>
        <p:spPr>
          <a:xfrm>
            <a:off x="4371702" y="4461416"/>
            <a:ext cx="304800" cy="321993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4580707" y="5250395"/>
            <a:ext cx="1900647" cy="85899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After P</a:t>
            </a:r>
            <a:r>
              <a:rPr lang="en-US" sz="1600" b="1" baseline="-25000" dirty="0">
                <a:solidFill>
                  <a:schemeClr val="tx1"/>
                </a:solidFill>
              </a:rPr>
              <a:t>2</a:t>
            </a:r>
            <a:r>
              <a:rPr lang="en-US" sz="1600" b="1" dirty="0">
                <a:solidFill>
                  <a:schemeClr val="tx1"/>
                </a:solidFill>
              </a:rPr>
              <a:t> wait(S)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P</a:t>
            </a:r>
            <a:r>
              <a:rPr lang="en-US" sz="1600" b="1" baseline="-25000" dirty="0">
                <a:solidFill>
                  <a:schemeClr val="tx1"/>
                </a:solidFill>
              </a:rPr>
              <a:t>2</a:t>
            </a:r>
            <a:r>
              <a:rPr lang="en-US" sz="1600" b="1" dirty="0">
                <a:solidFill>
                  <a:schemeClr val="tx1"/>
                </a:solidFill>
              </a:rPr>
              <a:t> suspended 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</p:txBody>
      </p:sp>
      <p:grpSp>
        <p:nvGrpSpPr>
          <p:cNvPr id="45" name="Group 44"/>
          <p:cNvGrpSpPr/>
          <p:nvPr/>
        </p:nvGrpSpPr>
        <p:grpSpPr>
          <a:xfrm>
            <a:off x="4730931" y="4005360"/>
            <a:ext cx="1676402" cy="1032185"/>
            <a:chOff x="4942115" y="4005360"/>
            <a:chExt cx="1676402" cy="1032185"/>
          </a:xfrm>
        </p:grpSpPr>
        <p:sp>
          <p:nvSpPr>
            <p:cNvPr id="40" name="Rounded Rectangle 39"/>
            <p:cNvSpPr/>
            <p:nvPr/>
          </p:nvSpPr>
          <p:spPr>
            <a:xfrm>
              <a:off x="4942115" y="4156301"/>
              <a:ext cx="1600201" cy="88124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10"/>
            <p:cNvSpPr>
              <a:spLocks noChangeArrowheads="1"/>
            </p:cNvSpPr>
            <p:nvPr/>
          </p:nvSpPr>
          <p:spPr bwMode="auto">
            <a:xfrm>
              <a:off x="6207037" y="4005360"/>
              <a:ext cx="411480" cy="369887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S</a:t>
              </a:r>
            </a:p>
          </p:txBody>
        </p:sp>
        <p:sp>
          <p:nvSpPr>
            <p:cNvPr id="42" name="Rectangle 11"/>
            <p:cNvSpPr>
              <a:spLocks noChangeArrowheads="1"/>
            </p:cNvSpPr>
            <p:nvPr/>
          </p:nvSpPr>
          <p:spPr bwMode="auto">
            <a:xfrm>
              <a:off x="5018314" y="4402408"/>
              <a:ext cx="489857" cy="49634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/>
                <a:t>0</a:t>
              </a:r>
            </a:p>
          </p:txBody>
        </p:sp>
        <p:sp>
          <p:nvSpPr>
            <p:cNvPr id="43" name="Rectangle 12"/>
            <p:cNvSpPr>
              <a:spLocks noChangeArrowheads="1"/>
            </p:cNvSpPr>
            <p:nvPr/>
          </p:nvSpPr>
          <p:spPr bwMode="auto">
            <a:xfrm>
              <a:off x="5508172" y="4783409"/>
              <a:ext cx="872489" cy="115343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Rectangle 11"/>
            <p:cNvSpPr>
              <a:spLocks noChangeArrowheads="1"/>
            </p:cNvSpPr>
            <p:nvPr/>
          </p:nvSpPr>
          <p:spPr bwMode="auto">
            <a:xfrm>
              <a:off x="5508172" y="4402407"/>
              <a:ext cx="872490" cy="3810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b="1" dirty="0"/>
                <a:t>P</a:t>
              </a:r>
              <a:r>
                <a:rPr lang="en-US" b="1" baseline="-25000" dirty="0"/>
                <a:t>2</a:t>
              </a:r>
            </a:p>
          </p:txBody>
        </p:sp>
      </p:grpSp>
      <p:sp>
        <p:nvSpPr>
          <p:cNvPr id="46" name="Rectangle 45"/>
          <p:cNvSpPr/>
          <p:nvPr/>
        </p:nvSpPr>
        <p:spPr>
          <a:xfrm>
            <a:off x="6481355" y="5111265"/>
            <a:ext cx="2205446" cy="1410186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After P</a:t>
            </a:r>
            <a:r>
              <a:rPr lang="en-US" sz="1600" b="1" baseline="-25000" dirty="0">
                <a:solidFill>
                  <a:schemeClr val="tx1"/>
                </a:solidFill>
              </a:rPr>
              <a:t>3</a:t>
            </a:r>
            <a:r>
              <a:rPr lang="en-US" sz="1600" b="1" dirty="0">
                <a:solidFill>
                  <a:schemeClr val="tx1"/>
                </a:solidFill>
              </a:rPr>
              <a:t> signal(S)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P</a:t>
            </a:r>
            <a:r>
              <a:rPr lang="en-US" sz="1600" b="1" baseline="-25000" dirty="0">
                <a:solidFill>
                  <a:schemeClr val="tx1"/>
                </a:solidFill>
              </a:rPr>
              <a:t>3</a:t>
            </a:r>
            <a:r>
              <a:rPr lang="en-US" sz="1600" b="1" dirty="0">
                <a:solidFill>
                  <a:schemeClr val="tx1"/>
                </a:solidFill>
              </a:rPr>
              <a:t> proceeds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P</a:t>
            </a:r>
            <a:r>
              <a:rPr lang="en-US" sz="1600" b="1" baseline="-25000" dirty="0">
                <a:solidFill>
                  <a:schemeClr val="tx1"/>
                </a:solidFill>
              </a:rPr>
              <a:t>2</a:t>
            </a:r>
            <a:r>
              <a:rPr lang="en-US" sz="1600" b="1" dirty="0">
                <a:solidFill>
                  <a:schemeClr val="tx1"/>
                </a:solidFill>
              </a:rPr>
              <a:t> wakes up, decreases S and proceeds</a:t>
            </a:r>
          </a:p>
          <a:p>
            <a:pPr algn="ctr"/>
            <a:endParaRPr lang="en-US" sz="1600" b="1" dirty="0">
              <a:solidFill>
                <a:schemeClr val="tx1"/>
              </a:solidFill>
            </a:endParaRPr>
          </a:p>
        </p:txBody>
      </p:sp>
      <p:grpSp>
        <p:nvGrpSpPr>
          <p:cNvPr id="47" name="Group 46"/>
          <p:cNvGrpSpPr/>
          <p:nvPr/>
        </p:nvGrpSpPr>
        <p:grpSpPr>
          <a:xfrm>
            <a:off x="6783977" y="3991970"/>
            <a:ext cx="1676402" cy="1032185"/>
            <a:chOff x="4942115" y="4005360"/>
            <a:chExt cx="1676402" cy="1032185"/>
          </a:xfrm>
        </p:grpSpPr>
        <p:sp>
          <p:nvSpPr>
            <p:cNvPr id="48" name="Rounded Rectangle 47"/>
            <p:cNvSpPr/>
            <p:nvPr/>
          </p:nvSpPr>
          <p:spPr>
            <a:xfrm>
              <a:off x="4942115" y="4156301"/>
              <a:ext cx="1600201" cy="88124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10"/>
            <p:cNvSpPr>
              <a:spLocks noChangeArrowheads="1"/>
            </p:cNvSpPr>
            <p:nvPr/>
          </p:nvSpPr>
          <p:spPr bwMode="auto">
            <a:xfrm>
              <a:off x="6207037" y="4005360"/>
              <a:ext cx="411480" cy="369887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S</a:t>
              </a:r>
            </a:p>
          </p:txBody>
        </p:sp>
        <p:sp>
          <p:nvSpPr>
            <p:cNvPr id="50" name="Rectangle 11"/>
            <p:cNvSpPr>
              <a:spLocks noChangeArrowheads="1"/>
            </p:cNvSpPr>
            <p:nvPr/>
          </p:nvSpPr>
          <p:spPr bwMode="auto">
            <a:xfrm>
              <a:off x="5018314" y="4402408"/>
              <a:ext cx="489857" cy="49634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b="1" dirty="0"/>
                <a:t>0</a:t>
              </a:r>
            </a:p>
          </p:txBody>
        </p:sp>
        <p:sp>
          <p:nvSpPr>
            <p:cNvPr id="51" name="Rectangle 12"/>
            <p:cNvSpPr>
              <a:spLocks noChangeArrowheads="1"/>
            </p:cNvSpPr>
            <p:nvPr/>
          </p:nvSpPr>
          <p:spPr bwMode="auto">
            <a:xfrm>
              <a:off x="5508172" y="4783409"/>
              <a:ext cx="872489" cy="115343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Rectangle 11"/>
            <p:cNvSpPr>
              <a:spLocks noChangeArrowheads="1"/>
            </p:cNvSpPr>
            <p:nvPr/>
          </p:nvSpPr>
          <p:spPr bwMode="auto">
            <a:xfrm>
              <a:off x="5508172" y="4402407"/>
              <a:ext cx="872490" cy="3810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b="1" baseline="-25000" dirty="0"/>
            </a:p>
          </p:txBody>
        </p:sp>
      </p:grpSp>
      <p:sp>
        <p:nvSpPr>
          <p:cNvPr id="53" name="Right Arrow 52"/>
          <p:cNvSpPr/>
          <p:nvPr/>
        </p:nvSpPr>
        <p:spPr>
          <a:xfrm>
            <a:off x="6402976" y="4462356"/>
            <a:ext cx="304800" cy="321993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85317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Semaphores: </a:t>
            </a:r>
            <a:r>
              <a:rPr lang="en-US" altLang="en-US" sz="3800" b="1" dirty="0">
                <a:solidFill>
                  <a:srgbClr val="C00000"/>
                </a:solidFill>
              </a:rPr>
              <a:t>Properties</a:t>
            </a:r>
            <a:endParaRPr lang="en-US" altLang="en-US" sz="3800" dirty="0"/>
          </a:p>
        </p:txBody>
      </p:sp>
      <p:sp>
        <p:nvSpPr>
          <p:cNvPr id="69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2667000"/>
          </a:xfrm>
        </p:spPr>
        <p:txBody>
          <a:bodyPr/>
          <a:lstStyle/>
          <a:p>
            <a:r>
              <a:rPr lang="en-US" altLang="en-US" dirty="0"/>
              <a:t>Given: </a:t>
            </a:r>
          </a:p>
          <a:p>
            <a:pPr lvl="1"/>
            <a:r>
              <a:rPr lang="en-US" altLang="en-US" b="1" dirty="0" err="1">
                <a:solidFill>
                  <a:srgbClr val="C00000"/>
                </a:solidFill>
                <a:latin typeface="Courier New" pitchFamily="49" charset="0"/>
              </a:rPr>
              <a:t>S</a:t>
            </a:r>
            <a:r>
              <a:rPr lang="en-US" altLang="en-US" sz="2000" b="1" baseline="-25000" dirty="0" err="1">
                <a:solidFill>
                  <a:srgbClr val="C00000"/>
                </a:solidFill>
                <a:latin typeface="Courier New" pitchFamily="49" charset="0"/>
                <a:cs typeface="Arial" charset="0"/>
              </a:rPr>
              <a:t>Initial</a:t>
            </a:r>
            <a:r>
              <a:rPr lang="en-US" altLang="en-US" b="1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altLang="en-US" b="1" dirty="0">
                <a:solidFill>
                  <a:srgbClr val="C00000"/>
                </a:solidFill>
                <a:latin typeface="Courier New" pitchFamily="49" charset="0"/>
                <a:cs typeface="Arial" charset="0"/>
              </a:rPr>
              <a:t>≥ 0</a:t>
            </a:r>
            <a:r>
              <a:rPr lang="en-US" altLang="en-US" dirty="0">
                <a:solidFill>
                  <a:srgbClr val="C00000"/>
                </a:solidFill>
                <a:cs typeface="Arial" charset="0"/>
              </a:rPr>
              <a:t> </a:t>
            </a:r>
          </a:p>
          <a:p>
            <a:pPr lvl="1">
              <a:buFont typeface="Wingdings" pitchFamily="2" charset="2"/>
              <a:buNone/>
            </a:pPr>
            <a:endParaRPr lang="en-US" altLang="en-US" dirty="0">
              <a:cs typeface="Arial" charset="0"/>
            </a:endParaRPr>
          </a:p>
          <a:p>
            <a:r>
              <a:rPr lang="en-US" altLang="en-US" dirty="0">
                <a:cs typeface="Arial" charset="0"/>
              </a:rPr>
              <a:t>Then, the following </a:t>
            </a:r>
            <a:r>
              <a:rPr lang="en-US" altLang="en-US" b="1" dirty="0">
                <a:cs typeface="Arial" charset="0"/>
              </a:rPr>
              <a:t>invariant</a:t>
            </a:r>
            <a:r>
              <a:rPr lang="en-US" altLang="en-US" dirty="0">
                <a:cs typeface="Arial" charset="0"/>
              </a:rPr>
              <a:t> must be true:</a:t>
            </a:r>
          </a:p>
          <a:p>
            <a:pPr>
              <a:buFont typeface="Wingdings" pitchFamily="2" charset="2"/>
              <a:buNone/>
            </a:pPr>
            <a:r>
              <a:rPr lang="en-US" altLang="en-US" dirty="0">
                <a:cs typeface="Arial" charset="0"/>
              </a:rPr>
              <a:t>	 </a:t>
            </a:r>
            <a:r>
              <a:rPr lang="en-US" altLang="en-US" b="1" dirty="0" err="1">
                <a:solidFill>
                  <a:srgbClr val="660066"/>
                </a:solidFill>
                <a:latin typeface="Courier New" pitchFamily="49" charset="0"/>
              </a:rPr>
              <a:t>S</a:t>
            </a:r>
            <a:r>
              <a:rPr lang="en-US" altLang="en-US" sz="2400" b="1" baseline="-25000" dirty="0" err="1">
                <a:solidFill>
                  <a:srgbClr val="660066"/>
                </a:solidFill>
                <a:latin typeface="Courier New" pitchFamily="49" charset="0"/>
                <a:cs typeface="Arial" charset="0"/>
              </a:rPr>
              <a:t>current</a:t>
            </a:r>
            <a:r>
              <a:rPr lang="en-US" altLang="en-US" sz="2400" b="1" dirty="0">
                <a:latin typeface="Courier New" pitchFamily="49" charset="0"/>
                <a:cs typeface="Arial" charset="0"/>
              </a:rPr>
              <a:t> = </a:t>
            </a:r>
            <a:r>
              <a:rPr lang="en-US" altLang="en-US" b="1" dirty="0" err="1">
                <a:solidFill>
                  <a:srgbClr val="C00000"/>
                </a:solidFill>
                <a:latin typeface="Courier New" pitchFamily="49" charset="0"/>
              </a:rPr>
              <a:t>S</a:t>
            </a:r>
            <a:r>
              <a:rPr lang="en-US" altLang="en-US" sz="2400" b="1" baseline="-25000" dirty="0" err="1">
                <a:solidFill>
                  <a:srgbClr val="C00000"/>
                </a:solidFill>
                <a:latin typeface="Courier New" pitchFamily="49" charset="0"/>
                <a:cs typeface="Arial" charset="0"/>
              </a:rPr>
              <a:t>Initial</a:t>
            </a:r>
            <a:r>
              <a:rPr lang="en-US" altLang="en-US" sz="2400" b="1" dirty="0">
                <a:latin typeface="Courier New" pitchFamily="49" charset="0"/>
                <a:cs typeface="Arial" charset="0"/>
              </a:rPr>
              <a:t> + </a:t>
            </a:r>
            <a:r>
              <a:rPr lang="en-US" altLang="en-US" sz="2400" b="1" dirty="0">
                <a:solidFill>
                  <a:srgbClr val="003300"/>
                </a:solidFill>
                <a:latin typeface="Courier New" pitchFamily="49" charset="0"/>
                <a:cs typeface="Arial" charset="0"/>
              </a:rPr>
              <a:t>#signal(S) </a:t>
            </a:r>
            <a:r>
              <a:rPr lang="en-US" altLang="en-US" sz="2400" b="1" dirty="0">
                <a:latin typeface="Courier New" pitchFamily="49" charset="0"/>
                <a:cs typeface="Arial" charset="0"/>
              </a:rPr>
              <a:t>- </a:t>
            </a:r>
            <a:r>
              <a:rPr lang="en-US" altLang="en-US" sz="2400" b="1" dirty="0">
                <a:solidFill>
                  <a:schemeClr val="accent5"/>
                </a:solidFill>
                <a:latin typeface="Courier New" pitchFamily="49" charset="0"/>
                <a:cs typeface="Arial" charset="0"/>
              </a:rPr>
              <a:t>#wait(S)</a:t>
            </a:r>
          </a:p>
          <a:p>
            <a:pPr>
              <a:buFont typeface="Wingdings" pitchFamily="2" charset="2"/>
              <a:buNone/>
            </a:pPr>
            <a:endParaRPr lang="en-US" altLang="en-US" sz="2400" b="1" dirty="0">
              <a:latin typeface="Courier New" pitchFamily="49" charset="0"/>
              <a:cs typeface="Arial" charset="0"/>
            </a:endParaRPr>
          </a:p>
          <a:p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27</a:t>
            </a:fld>
            <a:endParaRPr lang="en-US" altLang="en-US"/>
          </a:p>
        </p:txBody>
      </p:sp>
      <p:sp>
        <p:nvSpPr>
          <p:cNvPr id="11" name="Rounded Rectangle 10"/>
          <p:cNvSpPr/>
          <p:nvPr/>
        </p:nvSpPr>
        <p:spPr>
          <a:xfrm>
            <a:off x="440267" y="3158067"/>
            <a:ext cx="8458200" cy="762000"/>
          </a:xfrm>
          <a:prstGeom prst="roundRect">
            <a:avLst>
              <a:gd name="adj" fmla="val 9091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Font typeface="Wingdings" pitchFamily="2" charset="2"/>
              <a:buNone/>
            </a:pPr>
            <a:r>
              <a:rPr lang="en-US" altLang="en-US" sz="2800" b="1" dirty="0" err="1">
                <a:solidFill>
                  <a:srgbClr val="660066"/>
                </a:solidFill>
                <a:latin typeface="Courier New" pitchFamily="49" charset="0"/>
              </a:rPr>
              <a:t>S</a:t>
            </a:r>
            <a:r>
              <a:rPr lang="en-US" altLang="en-US" sz="2800" b="1" baseline="-25000" dirty="0" err="1">
                <a:solidFill>
                  <a:srgbClr val="660066"/>
                </a:solidFill>
                <a:latin typeface="Courier New" pitchFamily="49" charset="0"/>
                <a:cs typeface="Arial" charset="0"/>
              </a:rPr>
              <a:t>current</a:t>
            </a:r>
            <a:r>
              <a:rPr lang="en-US" altLang="en-US" sz="2800" b="1" dirty="0">
                <a:latin typeface="Courier New" pitchFamily="49" charset="0"/>
                <a:cs typeface="Arial" charset="0"/>
              </a:rPr>
              <a:t> = </a:t>
            </a:r>
            <a:r>
              <a:rPr lang="en-US" altLang="en-US" sz="2800" b="1" dirty="0" err="1">
                <a:solidFill>
                  <a:srgbClr val="C00000"/>
                </a:solidFill>
                <a:latin typeface="Courier New" pitchFamily="49" charset="0"/>
              </a:rPr>
              <a:t>S</a:t>
            </a:r>
            <a:r>
              <a:rPr lang="en-US" altLang="en-US" sz="2800" b="1" baseline="-25000" dirty="0" err="1">
                <a:solidFill>
                  <a:srgbClr val="C00000"/>
                </a:solidFill>
                <a:latin typeface="Courier New" pitchFamily="49" charset="0"/>
                <a:cs typeface="Arial" charset="0"/>
              </a:rPr>
              <a:t>Initial</a:t>
            </a:r>
            <a:r>
              <a:rPr lang="en-US" altLang="en-US" sz="2800" b="1" dirty="0">
                <a:latin typeface="Courier New" pitchFamily="49" charset="0"/>
                <a:cs typeface="Arial" charset="0"/>
              </a:rPr>
              <a:t> + </a:t>
            </a:r>
            <a:r>
              <a:rPr lang="en-US" altLang="en-US" sz="2800" b="1" dirty="0">
                <a:solidFill>
                  <a:srgbClr val="006600"/>
                </a:solidFill>
                <a:latin typeface="Courier New" pitchFamily="49" charset="0"/>
                <a:cs typeface="Arial" charset="0"/>
              </a:rPr>
              <a:t>#signal(S) </a:t>
            </a:r>
            <a:r>
              <a:rPr lang="en-US" altLang="en-US" sz="2800" b="1" dirty="0">
                <a:latin typeface="Courier New" pitchFamily="49" charset="0"/>
                <a:cs typeface="Arial" charset="0"/>
              </a:rPr>
              <a:t>- </a:t>
            </a:r>
            <a:r>
              <a:rPr lang="en-US" altLang="en-US" sz="2800" b="1" dirty="0">
                <a:solidFill>
                  <a:schemeClr val="accent5"/>
                </a:solidFill>
                <a:latin typeface="Courier New" pitchFamily="49" charset="0"/>
                <a:cs typeface="Arial" charset="0"/>
              </a:rPr>
              <a:t>#wait(S)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General and Binary Semaphores</a:t>
            </a:r>
          </a:p>
        </p:txBody>
      </p:sp>
      <p:sp>
        <p:nvSpPr>
          <p:cNvPr id="70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5410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C00000"/>
                </a:solidFill>
                <a:cs typeface="Arial" charset="0"/>
              </a:rPr>
              <a:t>General semaphore</a:t>
            </a:r>
            <a:r>
              <a:rPr lang="en-US" altLang="en-US" dirty="0">
                <a:solidFill>
                  <a:srgbClr val="C00000"/>
                </a:solidFill>
              </a:rPr>
              <a:t> </a:t>
            </a:r>
            <a:r>
              <a:rPr lang="en-US" altLang="en-US" dirty="0"/>
              <a:t>S: 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/>
              <a:t>S </a:t>
            </a:r>
            <a:r>
              <a:rPr lang="en-US" altLang="en-US" b="1" dirty="0">
                <a:cs typeface="Arial" charset="0"/>
              </a:rPr>
              <a:t>≥ 0 (S = 0, 1, 2, 3, ....)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cs typeface="Arial" charset="0"/>
              </a:rPr>
              <a:t>also called </a:t>
            </a:r>
            <a:r>
              <a:rPr lang="en-US" altLang="en-US" dirty="0">
                <a:solidFill>
                  <a:srgbClr val="C00000"/>
                </a:solidFill>
                <a:cs typeface="Arial" charset="0"/>
              </a:rPr>
              <a:t>counting semaphores</a:t>
            </a:r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endParaRPr lang="en-US" altLang="en-US" dirty="0"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3300"/>
                </a:solidFill>
                <a:cs typeface="Arial" charset="0"/>
              </a:rPr>
              <a:t>Binary semaphore</a:t>
            </a:r>
            <a:r>
              <a:rPr lang="en-US" altLang="en-US" dirty="0">
                <a:solidFill>
                  <a:srgbClr val="003300"/>
                </a:solidFill>
                <a:cs typeface="Arial" charset="0"/>
              </a:rPr>
              <a:t> </a:t>
            </a:r>
            <a:r>
              <a:rPr lang="en-US" altLang="en-US" dirty="0">
                <a:cs typeface="Arial" charset="0"/>
              </a:rPr>
              <a:t>S: 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cs typeface="Arial" charset="0"/>
              </a:rPr>
              <a:t>S = 0 </a:t>
            </a:r>
            <a:r>
              <a:rPr lang="en-US" altLang="en-US" dirty="0">
                <a:cs typeface="Arial" charset="0"/>
              </a:rPr>
              <a:t>or</a:t>
            </a:r>
            <a:r>
              <a:rPr lang="en-US" altLang="en-US" b="1" dirty="0">
                <a:cs typeface="Arial" charset="0"/>
              </a:rPr>
              <a:t> 1</a:t>
            </a:r>
          </a:p>
          <a:p>
            <a:pPr lvl="1">
              <a:lnSpc>
                <a:spcPct val="90000"/>
              </a:lnSpc>
            </a:pPr>
            <a:endParaRPr lang="en-US" altLang="en-US" dirty="0">
              <a:cs typeface="Arial" charset="0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cs typeface="Arial" charset="0"/>
              </a:rPr>
              <a:t>General semaphore is provided for convenience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cs typeface="Arial" charset="0"/>
              </a:rPr>
              <a:t>Binary semaphore is sufficient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cs typeface="Arial" charset="0"/>
              </a:rPr>
              <a:t>i.e. general semaphore can be mimicked by binary semaphores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Semaphore Example: </a:t>
            </a:r>
            <a:r>
              <a:rPr lang="en-US" altLang="en-US" sz="3800" b="1" dirty="0">
                <a:solidFill>
                  <a:srgbClr val="C00000"/>
                </a:solidFill>
              </a:rPr>
              <a:t>Critical Section</a:t>
            </a:r>
          </a:p>
        </p:txBody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679271"/>
          </a:xfrm>
        </p:spPr>
        <p:txBody>
          <a:bodyPr/>
          <a:lstStyle/>
          <a:p>
            <a:r>
              <a:rPr lang="en-US" altLang="en-US" dirty="0"/>
              <a:t>Binary semaphore </a:t>
            </a:r>
            <a:r>
              <a:rPr lang="en-US" altLang="en-US" sz="2800" b="1" dirty="0">
                <a:solidFill>
                  <a:srgbClr val="C00000"/>
                </a:solidFill>
                <a:latin typeface="Courier New" pitchFamily="49" charset="0"/>
              </a:rPr>
              <a:t>S = 1</a:t>
            </a:r>
          </a:p>
        </p:txBody>
      </p:sp>
      <p:sp>
        <p:nvSpPr>
          <p:cNvPr id="692229" name="Text Box 5"/>
          <p:cNvSpPr txBox="1">
            <a:spLocks noChangeArrowheads="1"/>
          </p:cNvSpPr>
          <p:nvPr/>
        </p:nvSpPr>
        <p:spPr bwMode="auto">
          <a:xfrm>
            <a:off x="603310" y="1919832"/>
            <a:ext cx="3810000" cy="1569660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en-US" altLang="en-US" sz="2400" b="1" dirty="0">
                <a:solidFill>
                  <a:srgbClr val="C00000"/>
                </a:solidFill>
                <a:latin typeface="Courier New" pitchFamily="49" charset="0"/>
              </a:rPr>
              <a:t>Wait( s );</a:t>
            </a:r>
          </a:p>
          <a:p>
            <a:pPr eaLnBrk="0" hangingPunct="0"/>
            <a:r>
              <a:rPr lang="en-US" altLang="en-US" sz="2400" b="1" dirty="0">
                <a:solidFill>
                  <a:srgbClr val="6600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eaLnBrk="0" hangingPunct="0"/>
            <a:endParaRPr lang="en-US" altLang="en-US" sz="2400" b="1" dirty="0">
              <a:solidFill>
                <a:srgbClr val="66006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hangingPunct="0"/>
            <a:r>
              <a:rPr lang="en-US" altLang="en-US" sz="2400" b="1" dirty="0">
                <a:solidFill>
                  <a:srgbClr val="003300"/>
                </a:solidFill>
                <a:latin typeface="Courier New" pitchFamily="49" charset="0"/>
              </a:rPr>
              <a:t>Signal( s );</a:t>
            </a:r>
          </a:p>
        </p:txBody>
      </p:sp>
      <p:sp>
        <p:nvSpPr>
          <p:cNvPr id="692231" name="Rectangle 7"/>
          <p:cNvSpPr>
            <a:spLocks noChangeArrowheads="1"/>
          </p:cNvSpPr>
          <p:nvPr/>
        </p:nvSpPr>
        <p:spPr bwMode="auto">
          <a:xfrm>
            <a:off x="457200" y="4192202"/>
            <a:ext cx="8229600" cy="2056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Arial" charset="0"/>
              </a:defRPr>
            </a:lvl1pPr>
            <a:lvl2pPr marL="669925" indent="-325438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Arial" charset="0"/>
              </a:defRPr>
            </a:lvl2pPr>
            <a:lvl3pPr marL="1022350" indent="-350838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Arial" charset="0"/>
              </a:defRPr>
            </a:lvl3pPr>
            <a:lvl4pPr marL="1339850" indent="-315913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Arial" charset="0"/>
              </a:defRPr>
            </a:lvl4pPr>
            <a:lvl5pPr marL="1681163" indent="-339725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1383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5955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0527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509963" indent="-339725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altLang="en-US" dirty="0"/>
              <a:t>In this case, </a:t>
            </a:r>
            <a:r>
              <a:rPr lang="en-US" altLang="en-US" b="1" dirty="0"/>
              <a:t>S can only be 0 </a:t>
            </a:r>
            <a:r>
              <a:rPr lang="en-US" altLang="en-US" dirty="0"/>
              <a:t>or</a:t>
            </a:r>
            <a:r>
              <a:rPr lang="en-US" altLang="en-US" b="1" dirty="0"/>
              <a:t> 1</a:t>
            </a:r>
          </a:p>
          <a:p>
            <a:endParaRPr lang="en-US" altLang="en-US" dirty="0"/>
          </a:p>
          <a:p>
            <a:r>
              <a:rPr lang="en-US" altLang="en-US" dirty="0"/>
              <a:t>This semaphore is commonly known as </a:t>
            </a:r>
            <a:r>
              <a:rPr lang="en-US" altLang="en-US" b="1" dirty="0" err="1">
                <a:solidFill>
                  <a:srgbClr val="C00000"/>
                </a:solidFill>
              </a:rPr>
              <a:t>mutex</a:t>
            </a:r>
            <a:r>
              <a:rPr lang="en-US" altLang="en-US" b="1" dirty="0"/>
              <a:t> </a:t>
            </a:r>
            <a:r>
              <a:rPr lang="en-US" altLang="en-US" dirty="0"/>
              <a:t>(</a:t>
            </a:r>
            <a:r>
              <a:rPr lang="en-US" altLang="en-US" b="1" dirty="0"/>
              <a:t>mut</a:t>
            </a:r>
            <a:r>
              <a:rPr lang="en-US" altLang="en-US" dirty="0"/>
              <a:t>ual </a:t>
            </a:r>
            <a:r>
              <a:rPr lang="en-US" altLang="en-US" b="1" dirty="0"/>
              <a:t>ex</a:t>
            </a:r>
            <a:r>
              <a:rPr lang="en-US" altLang="en-US" dirty="0"/>
              <a:t>clusion)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5007428" y="2260814"/>
            <a:ext cx="3579223" cy="1143676"/>
            <a:chOff x="4191000" y="3425284"/>
            <a:chExt cx="3579223" cy="1379217"/>
          </a:xfrm>
        </p:grpSpPr>
        <p:sp>
          <p:nvSpPr>
            <p:cNvPr id="9" name="Rounded Rectangle 8"/>
            <p:cNvSpPr/>
            <p:nvPr/>
          </p:nvSpPr>
          <p:spPr>
            <a:xfrm>
              <a:off x="4191000" y="3585301"/>
              <a:ext cx="3505200" cy="1219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6170023" y="3425284"/>
              <a:ext cx="1600200" cy="369887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Semaphore S</a:t>
              </a: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4343400" y="3886200"/>
              <a:ext cx="838200" cy="76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5181600" y="4572000"/>
              <a:ext cx="2133600" cy="76200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29</a:t>
            </a:fld>
            <a:endParaRPr lang="en-US" altLang="en-US"/>
          </a:p>
        </p:txBody>
      </p:sp>
      <p:sp>
        <p:nvSpPr>
          <p:cNvPr id="13" name="Rounded Rectangle 12"/>
          <p:cNvSpPr/>
          <p:nvPr/>
        </p:nvSpPr>
        <p:spPr>
          <a:xfrm>
            <a:off x="448733" y="2363680"/>
            <a:ext cx="4114800" cy="721088"/>
          </a:xfrm>
          <a:prstGeom prst="roundRect">
            <a:avLst/>
          </a:prstGeom>
          <a:solidFill>
            <a:schemeClr val="accent5">
              <a:lumMod val="20000"/>
              <a:lumOff val="80000"/>
              <a:alpha val="2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Critical Section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22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 err="1"/>
              <a:t>Mutex</a:t>
            </a:r>
            <a:r>
              <a:rPr lang="en-US" altLang="en-US" sz="3800" dirty="0"/>
              <a:t>: Correct CS - Informal Proof</a:t>
            </a:r>
          </a:p>
        </p:txBody>
      </p:sp>
      <p:sp>
        <p:nvSpPr>
          <p:cNvPr id="69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458200" cy="5486400"/>
          </a:xfrm>
        </p:spPr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Mutual Exclusion:</a:t>
            </a:r>
          </a:p>
          <a:p>
            <a:pPr lvl="1"/>
            <a:r>
              <a:rPr lang="en-US" altLang="en-US" sz="2400" b="1" dirty="0">
                <a:latin typeface="Courier New" pitchFamily="49" charset="0"/>
              </a:rPr>
              <a:t>N</a:t>
            </a:r>
            <a:r>
              <a:rPr lang="en-US" altLang="en-US" sz="2400" b="1" baseline="-25000" dirty="0">
                <a:latin typeface="Courier New" pitchFamily="49" charset="0"/>
              </a:rPr>
              <a:t>CS</a:t>
            </a:r>
            <a:r>
              <a:rPr lang="en-US" altLang="en-US" baseline="-25000" dirty="0"/>
              <a:t> </a:t>
            </a:r>
            <a:r>
              <a:rPr lang="en-US" altLang="en-US" dirty="0"/>
              <a:t>= Number of process in critical section</a:t>
            </a:r>
          </a:p>
          <a:p>
            <a:pPr lvl="1">
              <a:buFont typeface="Wingdings" pitchFamily="2" charset="2"/>
              <a:buNone/>
            </a:pPr>
            <a:r>
              <a:rPr lang="en-US" altLang="en-US" dirty="0"/>
              <a:t>         = Process that completed </a:t>
            </a:r>
            <a:r>
              <a:rPr lang="en-US" altLang="en-US" sz="2400" b="1" dirty="0">
                <a:latin typeface="Courier New" pitchFamily="49" charset="0"/>
              </a:rPr>
              <a:t>wait()</a:t>
            </a:r>
            <a:r>
              <a:rPr lang="en-US" altLang="en-US" dirty="0"/>
              <a:t> but not 		           </a:t>
            </a:r>
          </a:p>
          <a:p>
            <a:pPr lvl="1">
              <a:buFont typeface="Wingdings" pitchFamily="2" charset="2"/>
              <a:buNone/>
            </a:pPr>
            <a:r>
              <a:rPr lang="en-US" altLang="en-US" sz="2400" b="1" dirty="0">
                <a:latin typeface="Courier New" pitchFamily="49" charset="0"/>
              </a:rPr>
              <a:t>      signal()</a:t>
            </a:r>
          </a:p>
          <a:p>
            <a:pPr lvl="1">
              <a:buNone/>
            </a:pPr>
            <a:r>
              <a:rPr lang="en-US" altLang="en-US" dirty="0"/>
              <a:t> </a:t>
            </a:r>
            <a:r>
              <a:rPr lang="en-US" altLang="en-US" sz="2400" b="1" dirty="0">
                <a:solidFill>
                  <a:srgbClr val="660066"/>
                </a:solidFill>
                <a:latin typeface="Courier New" pitchFamily="49" charset="0"/>
                <a:ea typeface="+mn-ea"/>
                <a:cs typeface="+mn-cs"/>
              </a:rPr>
              <a:t>N</a:t>
            </a:r>
            <a:r>
              <a:rPr lang="en-US" altLang="en-US" sz="2400" b="1" baseline="-25000" dirty="0">
                <a:solidFill>
                  <a:srgbClr val="660066"/>
                </a:solidFill>
                <a:latin typeface="Courier New" pitchFamily="49" charset="0"/>
                <a:ea typeface="+mn-ea"/>
                <a:cs typeface="+mn-cs"/>
              </a:rPr>
              <a:t>CS</a:t>
            </a:r>
            <a:r>
              <a:rPr lang="en-US" altLang="en-US" dirty="0">
                <a:solidFill>
                  <a:srgbClr val="660066"/>
                </a:solidFill>
              </a:rPr>
              <a:t>  = </a:t>
            </a:r>
            <a:r>
              <a:rPr lang="en-US" altLang="en-US" sz="2400" b="1" dirty="0">
                <a:solidFill>
                  <a:srgbClr val="660066"/>
                </a:solidFill>
                <a:latin typeface="Courier New" pitchFamily="49" charset="0"/>
              </a:rPr>
              <a:t>#Wait( S )</a:t>
            </a:r>
            <a:r>
              <a:rPr lang="en-US" altLang="en-US" dirty="0">
                <a:solidFill>
                  <a:srgbClr val="660066"/>
                </a:solidFill>
              </a:rPr>
              <a:t> - </a:t>
            </a:r>
            <a:r>
              <a:rPr lang="en-US" altLang="en-US" sz="2400" b="1" dirty="0">
                <a:solidFill>
                  <a:srgbClr val="660066"/>
                </a:solidFill>
                <a:latin typeface="Courier New" pitchFamily="49" charset="0"/>
              </a:rPr>
              <a:t>#Signal( S )</a:t>
            </a:r>
          </a:p>
          <a:p>
            <a:pPr lvl="1"/>
            <a:r>
              <a:rPr lang="en-US" altLang="en-US" b="1" dirty="0" err="1">
                <a:latin typeface="Courier New" pitchFamily="49" charset="0"/>
              </a:rPr>
              <a:t>S</a:t>
            </a:r>
            <a:r>
              <a:rPr lang="en-US" altLang="en-US" sz="2000" b="1" baseline="-25000" dirty="0" err="1">
                <a:latin typeface="Courier New" pitchFamily="49" charset="0"/>
                <a:cs typeface="Arial" charset="0"/>
              </a:rPr>
              <a:t>Initial</a:t>
            </a:r>
            <a:r>
              <a:rPr lang="en-US" altLang="en-US" sz="2000" baseline="-25000" dirty="0">
                <a:latin typeface="Courier New" pitchFamily="49" charset="0"/>
                <a:cs typeface="Arial" charset="0"/>
              </a:rPr>
              <a:t> </a:t>
            </a:r>
            <a:r>
              <a:rPr lang="en-US" altLang="en-US" sz="2400" b="1" dirty="0">
                <a:latin typeface="Courier New" pitchFamily="49" charset="0"/>
              </a:rPr>
              <a:t>= 1</a:t>
            </a:r>
          </a:p>
          <a:p>
            <a:pPr lvl="1"/>
            <a:r>
              <a:rPr lang="en-US" altLang="en-US" b="1" dirty="0" err="1">
                <a:latin typeface="Courier New" pitchFamily="49" charset="0"/>
              </a:rPr>
              <a:t>S</a:t>
            </a:r>
            <a:r>
              <a:rPr lang="en-US" altLang="en-US" sz="2000" b="1" baseline="-25000" dirty="0" err="1">
                <a:latin typeface="Courier New" pitchFamily="49" charset="0"/>
                <a:cs typeface="Arial" charset="0"/>
              </a:rPr>
              <a:t>current</a:t>
            </a:r>
            <a:r>
              <a:rPr lang="en-US" altLang="en-US" sz="2000" baseline="-25000" dirty="0">
                <a:latin typeface="Courier New" pitchFamily="49" charset="0"/>
                <a:cs typeface="Arial" charset="0"/>
              </a:rPr>
              <a:t> </a:t>
            </a:r>
            <a:r>
              <a:rPr lang="en-US" altLang="en-US" sz="2400" b="1" dirty="0">
                <a:latin typeface="Courier New" pitchFamily="49" charset="0"/>
              </a:rPr>
              <a:t>= 1 + #Signal( S ) - #Wait( S )</a:t>
            </a:r>
          </a:p>
          <a:p>
            <a:pPr lvl="1"/>
            <a:endParaRPr lang="en-US" altLang="en-US" sz="2400" b="1" dirty="0">
              <a:latin typeface="Courier New" pitchFamily="49" charset="0"/>
            </a:endParaRPr>
          </a:p>
          <a:p>
            <a:pPr marL="344487" lvl="1" indent="0">
              <a:buNone/>
            </a:pPr>
            <a:endParaRPr lang="en-US" altLang="en-US" sz="2400" b="1" dirty="0">
              <a:latin typeface="Courier New" pitchFamily="49" charset="0"/>
            </a:endParaRPr>
          </a:p>
          <a:p>
            <a:pPr lvl="1"/>
            <a:endParaRPr lang="en-US" altLang="en-US" sz="2400" b="1" dirty="0">
              <a:latin typeface="Courier New" pitchFamily="49" charset="0"/>
            </a:endParaRPr>
          </a:p>
          <a:p>
            <a:pPr lvl="1"/>
            <a:r>
              <a:rPr lang="en-US" altLang="en-US" b="1" dirty="0"/>
              <a:t>Since </a:t>
            </a:r>
            <a:r>
              <a:rPr lang="en-US" altLang="en-US" b="1" dirty="0" err="1">
                <a:latin typeface="Courier New" pitchFamily="49" charset="0"/>
              </a:rPr>
              <a:t>S</a:t>
            </a:r>
            <a:r>
              <a:rPr lang="en-US" altLang="en-US" sz="2000" b="1" baseline="-25000" dirty="0" err="1">
                <a:latin typeface="Courier New" pitchFamily="49" charset="0"/>
                <a:cs typeface="Arial" charset="0"/>
              </a:rPr>
              <a:t>current</a:t>
            </a:r>
            <a:r>
              <a:rPr lang="en-US" altLang="en-US" sz="2000" b="1" baseline="-25000" dirty="0">
                <a:latin typeface="Courier New" pitchFamily="49" charset="0"/>
                <a:cs typeface="Arial" charset="0"/>
              </a:rPr>
              <a:t> </a:t>
            </a:r>
            <a:r>
              <a:rPr lang="en-US" altLang="en-US" b="1" dirty="0">
                <a:cs typeface="Arial" charset="0"/>
              </a:rPr>
              <a:t>≥ 0 </a:t>
            </a:r>
            <a:r>
              <a:rPr lang="en-US" altLang="en-US" b="1" dirty="0">
                <a:cs typeface="Arial" charset="0"/>
                <a:sym typeface="Wingdings" pitchFamily="2" charset="2"/>
              </a:rPr>
              <a:t></a:t>
            </a:r>
            <a:r>
              <a:rPr lang="en-US" altLang="en-US" b="1" dirty="0">
                <a:cs typeface="Arial" charset="0"/>
              </a:rPr>
              <a:t> </a:t>
            </a:r>
            <a:r>
              <a:rPr lang="en-US" altLang="en-US" b="1" dirty="0"/>
              <a:t> N</a:t>
            </a:r>
            <a:r>
              <a:rPr lang="en-US" altLang="en-US" b="1" baseline="-25000" dirty="0"/>
              <a:t>CS </a:t>
            </a:r>
            <a:r>
              <a:rPr lang="en-US" altLang="en-US" b="1" dirty="0">
                <a:cs typeface="Arial" charset="0"/>
                <a:sym typeface="Symbol" pitchFamily="18" charset="2"/>
              </a:rPr>
              <a:t> 1</a:t>
            </a:r>
            <a:r>
              <a:rPr lang="en-US" altLang="en-US" b="1" i="1" dirty="0">
                <a:solidFill>
                  <a:schemeClr val="accent2"/>
                </a:solidFill>
                <a:cs typeface="Arial" charset="0"/>
                <a:sym typeface="Symbol" pitchFamily="18" charset="2"/>
              </a:rPr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990600" y="4572000"/>
            <a:ext cx="4800600" cy="7620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en-US" altLang="en-US" sz="36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S</a:t>
            </a:r>
            <a:r>
              <a:rPr lang="en-US" altLang="en-US" sz="3600" baseline="-250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Arial" charset="0"/>
              </a:rPr>
              <a:t>current</a:t>
            </a:r>
            <a:r>
              <a:rPr lang="en-US" altLang="en-US" sz="3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+ N</a:t>
            </a:r>
            <a:r>
              <a:rPr lang="en-US" altLang="en-US" sz="3600" b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CS</a:t>
            </a:r>
            <a:r>
              <a:rPr lang="en-US" alt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 =  1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30</a:t>
            </a:fld>
            <a:endParaRPr lang="en-US" altLang="en-US"/>
          </a:p>
        </p:txBody>
      </p:sp>
      <p:grpSp>
        <p:nvGrpSpPr>
          <p:cNvPr id="2" name="Group 1"/>
          <p:cNvGrpSpPr/>
          <p:nvPr/>
        </p:nvGrpSpPr>
        <p:grpSpPr>
          <a:xfrm>
            <a:off x="5943601" y="76199"/>
            <a:ext cx="3158067" cy="1323439"/>
            <a:chOff x="5092279" y="76200"/>
            <a:chExt cx="4017854" cy="1323439"/>
          </a:xfrm>
        </p:grpSpPr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5181600" y="76200"/>
              <a:ext cx="3810000" cy="1323439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en-US" sz="2000" b="1" dirty="0">
                  <a:solidFill>
                    <a:srgbClr val="C00000"/>
                  </a:solidFill>
                  <a:latin typeface="Courier New" pitchFamily="49" charset="0"/>
                </a:rPr>
                <a:t>Wait( s ); </a:t>
              </a:r>
            </a:p>
            <a:p>
              <a:pPr eaLnBrk="0" hangingPunct="0"/>
              <a:endParaRPr lang="en-US" altLang="en-US" sz="2000" b="1" dirty="0">
                <a:solidFill>
                  <a:srgbClr val="C00000"/>
                </a:solidFill>
                <a:latin typeface="Courier New" pitchFamily="49" charset="0"/>
              </a:endParaRPr>
            </a:p>
            <a:p>
              <a:pPr eaLnBrk="0" hangingPunct="0"/>
              <a:endParaRPr lang="en-US" altLang="en-US" sz="2000" dirty="0">
                <a:latin typeface="Courier New" pitchFamily="49" charset="0"/>
              </a:endParaRPr>
            </a:p>
            <a:p>
              <a:pPr eaLnBrk="0" hangingPunct="0"/>
              <a:r>
                <a:rPr lang="en-US" altLang="en-US" sz="2000" b="1" dirty="0">
                  <a:solidFill>
                    <a:srgbClr val="003300"/>
                  </a:solidFill>
                  <a:latin typeface="Courier New" pitchFamily="49" charset="0"/>
                </a:rPr>
                <a:t>Signal( s );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092279" y="450529"/>
              <a:ext cx="4017854" cy="540072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  <a:alpha val="25000"/>
              </a:schemeClr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Critical Section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b="1" dirty="0" err="1"/>
              <a:t>Mutex</a:t>
            </a:r>
            <a:r>
              <a:rPr lang="en-US" altLang="en-US" sz="3600" dirty="0"/>
              <a:t>: Correct CS - Informal Proof (</a:t>
            </a:r>
            <a:r>
              <a:rPr lang="en-US" altLang="en-US" sz="3600" dirty="0" err="1"/>
              <a:t>cont</a:t>
            </a:r>
            <a:r>
              <a:rPr lang="en-US" altLang="en-US" sz="3600" dirty="0"/>
              <a:t>)</a:t>
            </a:r>
          </a:p>
        </p:txBody>
      </p:sp>
      <p:sp>
        <p:nvSpPr>
          <p:cNvPr id="69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  <a:sym typeface="Symbol" pitchFamily="18" charset="2"/>
              </a:rPr>
              <a:t>Deadlock:</a:t>
            </a:r>
          </a:p>
          <a:p>
            <a:pPr lvl="1"/>
            <a:r>
              <a:rPr lang="en-US" altLang="en-US" sz="2200" dirty="0">
                <a:cs typeface="Arial" charset="0"/>
                <a:sym typeface="Symbol" pitchFamily="18" charset="2"/>
              </a:rPr>
              <a:t>Deadlock means </a:t>
            </a:r>
            <a:r>
              <a:rPr lang="en-US" altLang="en-US" sz="2200" b="1" dirty="0">
                <a:cs typeface="Arial" charset="0"/>
                <a:sym typeface="Symbol" pitchFamily="18" charset="2"/>
              </a:rPr>
              <a:t>all </a:t>
            </a:r>
            <a:r>
              <a:rPr lang="en-US" altLang="en-US" sz="2200" dirty="0">
                <a:cs typeface="Arial" charset="0"/>
                <a:sym typeface="Symbol" pitchFamily="18" charset="2"/>
              </a:rPr>
              <a:t>processes stuck at </a:t>
            </a:r>
            <a:r>
              <a:rPr lang="en-US" altLang="en-US" sz="2000" b="1" dirty="0">
                <a:latin typeface="Courier New" pitchFamily="49" charset="0"/>
                <a:cs typeface="Arial" charset="0"/>
                <a:sym typeface="Symbol" pitchFamily="18" charset="2"/>
              </a:rPr>
              <a:t>wait( S )</a:t>
            </a:r>
          </a:p>
          <a:p>
            <a:pPr>
              <a:buFont typeface="Wingdings" pitchFamily="2" charset="2"/>
              <a:buNone/>
            </a:pPr>
            <a:r>
              <a:rPr lang="en-US" altLang="en-US" sz="2600" dirty="0">
                <a:cs typeface="Arial" charset="0"/>
                <a:sym typeface="Symbol" pitchFamily="18" charset="2"/>
              </a:rPr>
              <a:t>		</a:t>
            </a:r>
            <a:r>
              <a:rPr lang="en-US" altLang="en-US" sz="2600" dirty="0">
                <a:cs typeface="Arial" charset="0"/>
                <a:sym typeface="Wingdings" pitchFamily="2" charset="2"/>
              </a:rPr>
              <a:t></a:t>
            </a:r>
            <a:r>
              <a:rPr lang="en-US" altLang="en-US" sz="2600" dirty="0">
                <a:cs typeface="Arial" charset="0"/>
                <a:sym typeface="Symbol" pitchFamily="18" charset="2"/>
              </a:rPr>
              <a:t> </a:t>
            </a:r>
            <a:r>
              <a:rPr lang="en-US" altLang="en-US" sz="2600" b="1" dirty="0" err="1">
                <a:latin typeface="Courier New" pitchFamily="49" charset="0"/>
              </a:rPr>
              <a:t>S</a:t>
            </a:r>
            <a:r>
              <a:rPr lang="en-US" altLang="en-US" sz="2000" b="1" baseline="-25000" dirty="0" err="1">
                <a:latin typeface="Courier New" pitchFamily="49" charset="0"/>
                <a:cs typeface="Arial" charset="0"/>
              </a:rPr>
              <a:t>current</a:t>
            </a:r>
            <a:r>
              <a:rPr lang="en-US" altLang="en-US" sz="2600" b="1" dirty="0">
                <a:cs typeface="Arial" charset="0"/>
                <a:sym typeface="Symbol" pitchFamily="18" charset="2"/>
              </a:rPr>
              <a:t> = 0</a:t>
            </a:r>
            <a:r>
              <a:rPr lang="en-US" altLang="en-US" sz="2600" dirty="0">
                <a:cs typeface="Arial" charset="0"/>
                <a:sym typeface="Symbol" pitchFamily="18" charset="2"/>
              </a:rPr>
              <a:t> and </a:t>
            </a:r>
            <a:r>
              <a:rPr lang="en-US" altLang="en-US" sz="2400" b="1" dirty="0">
                <a:latin typeface="Courier New" pitchFamily="49" charset="0"/>
              </a:rPr>
              <a:t>N</a:t>
            </a:r>
            <a:r>
              <a:rPr lang="en-US" altLang="en-US" sz="2400" b="1" baseline="-25000" dirty="0">
                <a:latin typeface="Courier New" pitchFamily="49" charset="0"/>
              </a:rPr>
              <a:t>CS</a:t>
            </a:r>
            <a:r>
              <a:rPr lang="en-US" altLang="en-US" sz="2600" b="1" dirty="0">
                <a:cs typeface="Arial" charset="0"/>
                <a:sym typeface="Symbol" pitchFamily="18" charset="2"/>
              </a:rPr>
              <a:t> = 0</a:t>
            </a:r>
          </a:p>
          <a:p>
            <a:pPr lvl="1"/>
            <a:endParaRPr lang="en-US" altLang="en-US" sz="2200" dirty="0">
              <a:cs typeface="Arial" charset="0"/>
              <a:sym typeface="Wingdings" pitchFamily="2" charset="2"/>
            </a:endParaRPr>
          </a:p>
          <a:p>
            <a:pPr lvl="1"/>
            <a:endParaRPr lang="en-US" altLang="en-US" sz="2200" dirty="0">
              <a:cs typeface="Arial" charset="0"/>
              <a:sym typeface="Wingdings" pitchFamily="2" charset="2"/>
            </a:endParaRPr>
          </a:p>
          <a:p>
            <a:pPr lvl="1"/>
            <a:r>
              <a:rPr lang="en-US" altLang="en-US" sz="2200" dirty="0">
                <a:cs typeface="Arial" charset="0"/>
                <a:sym typeface="Wingdings" pitchFamily="2" charset="2"/>
              </a:rPr>
              <a:t> ( contradiction)</a:t>
            </a:r>
            <a:r>
              <a:rPr lang="en-US" altLang="en-US" sz="2200" dirty="0">
                <a:cs typeface="Arial" charset="0"/>
                <a:sym typeface="Symbol" pitchFamily="18" charset="2"/>
              </a:rPr>
              <a:t> </a:t>
            </a:r>
          </a:p>
          <a:p>
            <a:pPr>
              <a:buFont typeface="Wingdings" pitchFamily="2" charset="2"/>
              <a:buNone/>
            </a:pPr>
            <a:endParaRPr lang="en-US" altLang="en-US" sz="2600" dirty="0">
              <a:cs typeface="Arial" charset="0"/>
              <a:sym typeface="Symbol" pitchFamily="18" charset="2"/>
            </a:endParaRPr>
          </a:p>
          <a:p>
            <a:r>
              <a:rPr lang="en-US" altLang="en-US" sz="2600" b="1" dirty="0">
                <a:solidFill>
                  <a:srgbClr val="00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charset="0"/>
                <a:sym typeface="Symbol" pitchFamily="18" charset="2"/>
              </a:rPr>
              <a:t>Starvation:</a:t>
            </a:r>
          </a:p>
          <a:p>
            <a:pPr lvl="1"/>
            <a:r>
              <a:rPr lang="en-US" altLang="en-US" sz="2200" dirty="0">
                <a:cs typeface="Arial" charset="0"/>
                <a:sym typeface="Symbol" pitchFamily="18" charset="2"/>
              </a:rPr>
              <a:t>Suppose </a:t>
            </a:r>
            <a:r>
              <a:rPr lang="en-US" altLang="en-US" sz="2200" b="1" dirty="0">
                <a:latin typeface="Courier New" pitchFamily="49" charset="0"/>
                <a:cs typeface="Arial" charset="0"/>
                <a:sym typeface="Symbol" pitchFamily="18" charset="2"/>
              </a:rPr>
              <a:t>P1</a:t>
            </a:r>
            <a:r>
              <a:rPr lang="en-US" altLang="en-US" sz="2200" dirty="0">
                <a:cs typeface="Arial" charset="0"/>
                <a:sym typeface="Symbol" pitchFamily="18" charset="2"/>
              </a:rPr>
              <a:t> is blocked at </a:t>
            </a:r>
            <a:r>
              <a:rPr lang="en-US" altLang="en-US" sz="2200" b="1" dirty="0">
                <a:latin typeface="Courier New" pitchFamily="49" charset="0"/>
                <a:cs typeface="Arial" charset="0"/>
                <a:sym typeface="Symbol" pitchFamily="18" charset="2"/>
              </a:rPr>
              <a:t>wait( S )</a:t>
            </a:r>
          </a:p>
          <a:p>
            <a:pPr lvl="1"/>
            <a:r>
              <a:rPr lang="en-US" altLang="en-US" sz="2200" b="1" dirty="0">
                <a:latin typeface="Courier New" pitchFamily="49" charset="0"/>
                <a:cs typeface="Arial" charset="0"/>
                <a:sym typeface="Symbol" pitchFamily="18" charset="2"/>
              </a:rPr>
              <a:t>P2</a:t>
            </a:r>
            <a:r>
              <a:rPr lang="en-US" altLang="en-US" sz="2200" dirty="0">
                <a:cs typeface="Arial" charset="0"/>
                <a:sym typeface="Symbol" pitchFamily="18" charset="2"/>
              </a:rPr>
              <a:t> is in CS, exits CS with </a:t>
            </a:r>
            <a:r>
              <a:rPr lang="en-US" altLang="en-US" sz="2200" b="1" dirty="0">
                <a:latin typeface="Courier New" pitchFamily="49" charset="0"/>
                <a:cs typeface="Arial" charset="0"/>
                <a:sym typeface="Symbol" pitchFamily="18" charset="2"/>
              </a:rPr>
              <a:t>signal( S )</a:t>
            </a:r>
          </a:p>
          <a:p>
            <a:pPr marL="1128712" lvl="2" indent="-457200">
              <a:buClr>
                <a:srgbClr val="C00000"/>
              </a:buClr>
              <a:buSzPct val="95000"/>
              <a:buFont typeface="+mj-lt"/>
              <a:buAutoNum type="alphaLcPeriod"/>
            </a:pPr>
            <a:r>
              <a:rPr lang="en-US" altLang="en-US" sz="2000" dirty="0">
                <a:cs typeface="Arial" charset="0"/>
                <a:sym typeface="Symbol" pitchFamily="18" charset="2"/>
              </a:rPr>
              <a:t>If no other process sleeping, </a:t>
            </a:r>
            <a:r>
              <a:rPr lang="en-US" altLang="en-US" sz="2000" b="1" dirty="0">
                <a:latin typeface="Courier New" pitchFamily="49" charset="0"/>
                <a:cs typeface="Arial" charset="0"/>
                <a:sym typeface="Symbol" pitchFamily="18" charset="2"/>
              </a:rPr>
              <a:t>P1</a:t>
            </a:r>
            <a:r>
              <a:rPr lang="en-US" altLang="en-US" sz="2000" dirty="0">
                <a:cs typeface="Arial" charset="0"/>
                <a:sym typeface="Symbol" pitchFamily="18" charset="2"/>
              </a:rPr>
              <a:t> wakes up</a:t>
            </a:r>
          </a:p>
          <a:p>
            <a:pPr marL="1128712" lvl="2" indent="-457200">
              <a:buClr>
                <a:srgbClr val="C00000"/>
              </a:buClr>
              <a:buSzPct val="95000"/>
              <a:buFont typeface="+mj-lt"/>
              <a:buAutoNum type="alphaLcPeriod"/>
            </a:pPr>
            <a:r>
              <a:rPr lang="en-US" altLang="en-US" sz="2000" dirty="0">
                <a:cs typeface="Arial" charset="0"/>
                <a:sym typeface="Symbol" pitchFamily="18" charset="2"/>
              </a:rPr>
              <a:t>If there are other process, </a:t>
            </a:r>
            <a:r>
              <a:rPr lang="en-US" altLang="en-US" sz="2000" b="1" dirty="0">
                <a:latin typeface="Courier New" pitchFamily="49" charset="0"/>
                <a:cs typeface="Arial" charset="0"/>
                <a:sym typeface="Symbol" pitchFamily="18" charset="2"/>
              </a:rPr>
              <a:t>P1</a:t>
            </a:r>
            <a:r>
              <a:rPr lang="en-US" altLang="en-US" sz="2000" dirty="0">
                <a:cs typeface="Arial" charset="0"/>
                <a:sym typeface="Symbol" pitchFamily="18" charset="2"/>
              </a:rPr>
              <a:t> eventually wakes up (assuming fair scheduling)</a:t>
            </a:r>
            <a:endParaRPr lang="en-US" altLang="en-US" sz="2600" dirty="0"/>
          </a:p>
        </p:txBody>
      </p:sp>
      <p:sp>
        <p:nvSpPr>
          <p:cNvPr id="6" name="Rectangle 5"/>
          <p:cNvSpPr/>
          <p:nvPr/>
        </p:nvSpPr>
        <p:spPr>
          <a:xfrm>
            <a:off x="1447800" y="2362200"/>
            <a:ext cx="4343400" cy="6096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en-US" altLang="en-US" sz="32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S</a:t>
            </a:r>
            <a:r>
              <a:rPr lang="en-US" altLang="en-US" sz="3200" baseline="-25000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Arial" charset="0"/>
              </a:rPr>
              <a:t>current</a:t>
            </a:r>
            <a:r>
              <a:rPr lang="en-US" altLang="en-US" sz="32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+ N</a:t>
            </a:r>
            <a:r>
              <a:rPr lang="en-US" altLang="en-US" sz="3200" b="1" baseline="-250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CS</a:t>
            </a:r>
            <a:r>
              <a:rPr lang="en-US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 =  1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31</a:t>
            </a:fld>
            <a:endParaRPr lang="en-US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5031377" y="3276600"/>
            <a:ext cx="3579223" cy="1143676"/>
            <a:chOff x="4191000" y="3425284"/>
            <a:chExt cx="3579223" cy="1379217"/>
          </a:xfrm>
        </p:grpSpPr>
        <p:sp>
          <p:nvSpPr>
            <p:cNvPr id="8" name="Rounded Rectangle 7"/>
            <p:cNvSpPr/>
            <p:nvPr/>
          </p:nvSpPr>
          <p:spPr>
            <a:xfrm>
              <a:off x="4191000" y="3585301"/>
              <a:ext cx="3505200" cy="1219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10"/>
            <p:cNvSpPr>
              <a:spLocks noChangeArrowheads="1"/>
            </p:cNvSpPr>
            <p:nvPr/>
          </p:nvSpPr>
          <p:spPr bwMode="auto">
            <a:xfrm>
              <a:off x="6170023" y="3425284"/>
              <a:ext cx="1600200" cy="369887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Semaphore S</a:t>
              </a:r>
            </a:p>
          </p:txBody>
        </p:sp>
        <p:sp>
          <p:nvSpPr>
            <p:cNvPr id="10" name="Rectangle 11"/>
            <p:cNvSpPr>
              <a:spLocks noChangeArrowheads="1"/>
            </p:cNvSpPr>
            <p:nvPr/>
          </p:nvSpPr>
          <p:spPr bwMode="auto">
            <a:xfrm>
              <a:off x="4343400" y="3886200"/>
              <a:ext cx="838200" cy="76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1" name="Rectangle 12"/>
            <p:cNvSpPr>
              <a:spLocks noChangeArrowheads="1"/>
            </p:cNvSpPr>
            <p:nvPr/>
          </p:nvSpPr>
          <p:spPr bwMode="auto">
            <a:xfrm>
              <a:off x="5181600" y="4572000"/>
              <a:ext cx="2133600" cy="76200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Incorrect Use of Semaphore: </a:t>
            </a:r>
            <a:r>
              <a:rPr lang="en-US" altLang="en-US" sz="3800" b="1" dirty="0">
                <a:solidFill>
                  <a:srgbClr val="C00000"/>
                </a:solidFill>
              </a:rPr>
              <a:t>Deadlock</a:t>
            </a:r>
          </a:p>
        </p:txBody>
      </p:sp>
      <p:sp>
        <p:nvSpPr>
          <p:cNvPr id="69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2286000"/>
          </a:xfrm>
        </p:spPr>
        <p:txBody>
          <a:bodyPr/>
          <a:lstStyle/>
          <a:p>
            <a:r>
              <a:rPr lang="en-US" altLang="en-US" dirty="0"/>
              <a:t>Deadlock is still possible with </a:t>
            </a:r>
            <a:r>
              <a:rPr lang="en-US" altLang="en-US" b="1" dirty="0">
                <a:solidFill>
                  <a:srgbClr val="660066"/>
                </a:solidFill>
              </a:rPr>
              <a:t>incorrect use of semaphore</a:t>
            </a:r>
          </a:p>
          <a:p>
            <a:endParaRPr lang="en-US" altLang="en-US" b="1" dirty="0"/>
          </a:p>
          <a:p>
            <a:r>
              <a:rPr lang="en-US" altLang="en-US" dirty="0"/>
              <a:t>Example: Semaphore </a:t>
            </a:r>
            <a:r>
              <a:rPr lang="en-US" altLang="en-US" b="1" dirty="0"/>
              <a:t>P = 1</a:t>
            </a:r>
            <a:r>
              <a:rPr lang="en-US" altLang="en-US" dirty="0"/>
              <a:t>, </a:t>
            </a:r>
            <a:r>
              <a:rPr lang="en-US" altLang="en-US" b="1" dirty="0"/>
              <a:t>Q = 1</a:t>
            </a:r>
            <a:r>
              <a:rPr lang="en-US" altLang="en-US" dirty="0"/>
              <a:t> initially</a:t>
            </a:r>
          </a:p>
        </p:txBody>
      </p:sp>
      <p:grpSp>
        <p:nvGrpSpPr>
          <p:cNvPr id="695306" name="Group 10"/>
          <p:cNvGrpSpPr>
            <a:grpSpLocks/>
          </p:cNvGrpSpPr>
          <p:nvPr/>
        </p:nvGrpSpPr>
        <p:grpSpPr bwMode="auto">
          <a:xfrm>
            <a:off x="990600" y="3276601"/>
            <a:ext cx="2743200" cy="2674939"/>
            <a:chOff x="384" y="2016"/>
            <a:chExt cx="1728" cy="1685"/>
          </a:xfrm>
        </p:grpSpPr>
        <p:sp>
          <p:nvSpPr>
            <p:cNvPr id="695301" name="Text Box 5"/>
            <p:cNvSpPr txBox="1">
              <a:spLocks noChangeArrowheads="1"/>
            </p:cNvSpPr>
            <p:nvPr/>
          </p:nvSpPr>
          <p:spPr bwMode="auto">
            <a:xfrm>
              <a:off x="384" y="2016"/>
              <a:ext cx="1728" cy="145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en-US" sz="2400" b="1" dirty="0">
                  <a:latin typeface="Courier New" pitchFamily="49" charset="0"/>
                </a:rPr>
                <a:t>Wait( P )</a:t>
              </a:r>
            </a:p>
            <a:p>
              <a:pPr eaLnBrk="0" hangingPunct="0"/>
              <a:r>
                <a:rPr lang="en-US" altLang="en-US" sz="2400" b="1" dirty="0">
                  <a:latin typeface="Courier New" pitchFamily="49" charset="0"/>
                </a:rPr>
                <a:t>Wait( Q )</a:t>
              </a:r>
            </a:p>
            <a:p>
              <a:pPr eaLnBrk="0" hangingPunct="0"/>
              <a:endParaRPr lang="en-US" altLang="en-US" sz="2400" b="1" dirty="0">
                <a:latin typeface="Courier New" pitchFamily="49" charset="0"/>
              </a:endParaRPr>
            </a:p>
            <a:p>
              <a:pPr eaLnBrk="0" hangingPunct="0"/>
              <a:r>
                <a:rPr lang="en-US" altLang="en-US" sz="2400" b="1" dirty="0">
                  <a:solidFill>
                    <a:srgbClr val="9900CC"/>
                  </a:solidFill>
                  <a:latin typeface="Courier New" pitchFamily="49" charset="0"/>
                </a:rPr>
                <a:t> </a:t>
              </a:r>
            </a:p>
            <a:p>
              <a:pPr eaLnBrk="0" hangingPunct="0"/>
              <a:r>
                <a:rPr lang="en-US" altLang="en-US" sz="2400" b="1" dirty="0">
                  <a:latin typeface="Courier New" pitchFamily="49" charset="0"/>
                </a:rPr>
                <a:t>Signal( Q )</a:t>
              </a:r>
            </a:p>
            <a:p>
              <a:pPr eaLnBrk="0" hangingPunct="0"/>
              <a:r>
                <a:rPr lang="en-US" altLang="en-US" sz="2400" b="1" dirty="0">
                  <a:latin typeface="Courier New" pitchFamily="49" charset="0"/>
                </a:rPr>
                <a:t>Signal( P )</a:t>
              </a:r>
            </a:p>
          </p:txBody>
        </p:sp>
        <p:sp>
          <p:nvSpPr>
            <p:cNvPr id="695302" name="Text Box 6"/>
            <p:cNvSpPr txBox="1">
              <a:spLocks noChangeArrowheads="1"/>
            </p:cNvSpPr>
            <p:nvPr/>
          </p:nvSpPr>
          <p:spPr bwMode="auto">
            <a:xfrm>
              <a:off x="552" y="3470"/>
              <a:ext cx="12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Process </a:t>
              </a:r>
              <a:r>
                <a:rPr lang="en-US" altLang="en-US" b="1"/>
                <a:t>P0</a:t>
              </a:r>
            </a:p>
          </p:txBody>
        </p:sp>
      </p:grpSp>
      <p:grpSp>
        <p:nvGrpSpPr>
          <p:cNvPr id="695307" name="Group 11"/>
          <p:cNvGrpSpPr>
            <a:grpSpLocks/>
          </p:cNvGrpSpPr>
          <p:nvPr/>
        </p:nvGrpSpPr>
        <p:grpSpPr bwMode="auto">
          <a:xfrm>
            <a:off x="5029200" y="3288166"/>
            <a:ext cx="2743200" cy="2684464"/>
            <a:chOff x="384" y="2016"/>
            <a:chExt cx="1728" cy="1691"/>
          </a:xfrm>
        </p:grpSpPr>
        <p:sp>
          <p:nvSpPr>
            <p:cNvPr id="695308" name="Text Box 12"/>
            <p:cNvSpPr txBox="1">
              <a:spLocks noChangeArrowheads="1"/>
            </p:cNvSpPr>
            <p:nvPr/>
          </p:nvSpPr>
          <p:spPr bwMode="auto">
            <a:xfrm>
              <a:off x="384" y="2016"/>
              <a:ext cx="1728" cy="145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r>
                <a:rPr lang="en-US" altLang="en-US" sz="2400" b="1" dirty="0">
                  <a:latin typeface="Courier New" pitchFamily="49" charset="0"/>
                </a:rPr>
                <a:t>Wait( Q )</a:t>
              </a:r>
            </a:p>
            <a:p>
              <a:pPr eaLnBrk="0" hangingPunct="0"/>
              <a:r>
                <a:rPr lang="en-US" altLang="en-US" sz="2400" b="1" dirty="0">
                  <a:latin typeface="Courier New" pitchFamily="49" charset="0"/>
                </a:rPr>
                <a:t>Wait( P )</a:t>
              </a:r>
            </a:p>
            <a:p>
              <a:pPr eaLnBrk="0" hangingPunct="0"/>
              <a:endParaRPr lang="en-US" altLang="en-US" sz="2400" b="1" dirty="0">
                <a:latin typeface="Courier New" pitchFamily="49" charset="0"/>
              </a:endParaRPr>
            </a:p>
            <a:p>
              <a:pPr eaLnBrk="0" hangingPunct="0"/>
              <a:endParaRPr lang="en-US" altLang="en-US" sz="2400" b="1" dirty="0">
                <a:latin typeface="Courier New" pitchFamily="49" charset="0"/>
              </a:endParaRPr>
            </a:p>
            <a:p>
              <a:pPr eaLnBrk="0" hangingPunct="0"/>
              <a:r>
                <a:rPr lang="en-US" altLang="en-US" sz="2400" b="1" dirty="0">
                  <a:latin typeface="Courier New" pitchFamily="49" charset="0"/>
                </a:rPr>
                <a:t>Signal( P )</a:t>
              </a:r>
            </a:p>
            <a:p>
              <a:pPr eaLnBrk="0" hangingPunct="0"/>
              <a:r>
                <a:rPr lang="en-US" altLang="en-US" sz="2400" b="1" dirty="0">
                  <a:latin typeface="Courier New" pitchFamily="49" charset="0"/>
                </a:rPr>
                <a:t>Signal( Q )</a:t>
              </a:r>
            </a:p>
          </p:txBody>
        </p:sp>
        <p:sp>
          <p:nvSpPr>
            <p:cNvPr id="695309" name="Text Box 13"/>
            <p:cNvSpPr txBox="1">
              <a:spLocks noChangeArrowheads="1"/>
            </p:cNvSpPr>
            <p:nvPr/>
          </p:nvSpPr>
          <p:spPr bwMode="auto">
            <a:xfrm>
              <a:off x="600" y="3476"/>
              <a:ext cx="12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/>
                <a:t>Process </a:t>
              </a:r>
              <a:r>
                <a:rPr lang="en-US" altLang="en-US" b="1"/>
                <a:t>P1</a:t>
              </a: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32</a:t>
            </a:fld>
            <a:endParaRPr lang="en-US" altLang="en-US"/>
          </a:p>
        </p:txBody>
      </p:sp>
      <p:sp>
        <p:nvSpPr>
          <p:cNvPr id="12" name="Rounded Rectangle 11"/>
          <p:cNvSpPr/>
          <p:nvPr/>
        </p:nvSpPr>
        <p:spPr>
          <a:xfrm>
            <a:off x="914400" y="4045407"/>
            <a:ext cx="2895600" cy="721088"/>
          </a:xfrm>
          <a:prstGeom prst="roundRect">
            <a:avLst/>
          </a:prstGeom>
          <a:solidFill>
            <a:schemeClr val="accent5">
              <a:lumMod val="20000"/>
              <a:lumOff val="80000"/>
              <a:alpha val="2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Some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53000" y="4081735"/>
            <a:ext cx="2895600" cy="721088"/>
          </a:xfrm>
          <a:prstGeom prst="roundRect">
            <a:avLst/>
          </a:prstGeom>
          <a:solidFill>
            <a:schemeClr val="accent5">
              <a:lumMod val="20000"/>
              <a:lumOff val="80000"/>
              <a:alpha val="25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Some Code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High Level Abstractions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Semaphore is </a:t>
            </a:r>
            <a:r>
              <a:rPr lang="en-US" b="1" dirty="0">
                <a:solidFill>
                  <a:srgbClr val="C00000"/>
                </a:solidFill>
              </a:rPr>
              <a:t>very powerful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There are no known unsolvable synchronization problem with semaphore (so far </a:t>
            </a:r>
            <a:r>
              <a:rPr lang="en-US" dirty="0">
                <a:sym typeface="Wingdings" panose="05000000000000000000" pitchFamily="2" charset="2"/>
              </a:rPr>
              <a:t>)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Other high level abstractions essentially provide extended features</a:t>
            </a:r>
          </a:p>
          <a:p>
            <a:pPr lvl="1"/>
            <a:endParaRPr lang="en-US" dirty="0"/>
          </a:p>
          <a:p>
            <a:r>
              <a:rPr lang="en-US" dirty="0"/>
              <a:t>Common alternative: </a:t>
            </a:r>
            <a:r>
              <a:rPr lang="en-US" b="1" dirty="0">
                <a:solidFill>
                  <a:srgbClr val="C00000"/>
                </a:solidFill>
              </a:rPr>
              <a:t>Conditional Variable</a:t>
            </a:r>
          </a:p>
          <a:p>
            <a:pPr lvl="1"/>
            <a:r>
              <a:rPr lang="en-US" dirty="0"/>
              <a:t>Allow a task to wait for certain event to happens</a:t>
            </a:r>
          </a:p>
          <a:p>
            <a:pPr lvl="1"/>
            <a:r>
              <a:rPr lang="en-US" dirty="0"/>
              <a:t>Has the ability to </a:t>
            </a:r>
            <a:r>
              <a:rPr lang="en-US" b="1" i="1" dirty="0"/>
              <a:t>broadcast</a:t>
            </a:r>
            <a:r>
              <a:rPr lang="en-US" dirty="0"/>
              <a:t>, i.e. wakes up all waiting tasks</a:t>
            </a:r>
          </a:p>
          <a:p>
            <a:pPr lvl="1"/>
            <a:r>
              <a:rPr lang="en-US" dirty="0"/>
              <a:t>related to </a:t>
            </a:r>
            <a:r>
              <a:rPr lang="en-US" b="1" dirty="0"/>
              <a:t>monitor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213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468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800" dirty="0">
                <a:solidFill>
                  <a:srgbClr val="003300"/>
                </a:solidFill>
              </a:rPr>
              <a:t>Classical </a:t>
            </a:r>
            <a:r>
              <a:rPr lang="en-US" altLang="en-US" sz="4800" dirty="0">
                <a:solidFill>
                  <a:srgbClr val="C00000"/>
                </a:solidFill>
              </a:rPr>
              <a:t>Synchronization</a:t>
            </a:r>
            <a:r>
              <a:rPr lang="en-US" altLang="en-US" sz="4800" dirty="0"/>
              <a:t>  </a:t>
            </a:r>
            <a:r>
              <a:rPr lang="en-US" altLang="en-US" sz="4800" dirty="0">
                <a:solidFill>
                  <a:srgbClr val="660066"/>
                </a:solidFill>
              </a:rPr>
              <a:t>Problems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Killing brain cells of generations of students…..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7B2A14-CFC8-473E-8C77-48351E3F49FF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Producer Consumer</a:t>
            </a:r>
            <a:r>
              <a:rPr lang="en-US" altLang="en-US" dirty="0"/>
              <a:t>: Specification</a:t>
            </a:r>
          </a:p>
        </p:txBody>
      </p:sp>
      <p:sp>
        <p:nvSpPr>
          <p:cNvPr id="67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229600" cy="2470150"/>
          </a:xfrm>
        </p:spPr>
        <p:txBody>
          <a:bodyPr/>
          <a:lstStyle/>
          <a:p>
            <a:r>
              <a:rPr lang="en-US" altLang="en-US" dirty="0"/>
              <a:t>Processes share a bounded buffer of size </a:t>
            </a:r>
            <a:r>
              <a:rPr lang="en-US" altLang="en-US" b="1" dirty="0"/>
              <a:t>K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</a:rPr>
              <a:t>Producers</a:t>
            </a:r>
            <a:r>
              <a:rPr lang="en-US" altLang="en-US" dirty="0"/>
              <a:t> produce items to insert in buffer</a:t>
            </a:r>
          </a:p>
          <a:p>
            <a:pPr lvl="2"/>
            <a:r>
              <a:rPr lang="en-US" altLang="en-US" dirty="0"/>
              <a:t>Only when the buffer is </a:t>
            </a:r>
            <a:r>
              <a:rPr lang="en-US" altLang="en-US" b="1" dirty="0"/>
              <a:t>not full </a:t>
            </a:r>
            <a:r>
              <a:rPr lang="en-US" altLang="en-US" dirty="0"/>
              <a:t>( &lt; K items)</a:t>
            </a:r>
            <a:endParaRPr lang="en-US" altLang="en-US" b="1" dirty="0"/>
          </a:p>
          <a:p>
            <a:pPr lvl="1"/>
            <a:r>
              <a:rPr lang="en-US" altLang="en-US" b="1" dirty="0">
                <a:solidFill>
                  <a:srgbClr val="C00000"/>
                </a:solidFill>
              </a:rPr>
              <a:t>Consumers</a:t>
            </a:r>
            <a:r>
              <a:rPr lang="en-US" altLang="en-US" dirty="0"/>
              <a:t> remove items from buffer</a:t>
            </a:r>
          </a:p>
          <a:p>
            <a:pPr lvl="2"/>
            <a:r>
              <a:rPr lang="en-US" altLang="en-US" dirty="0"/>
              <a:t>Only when the buffer is </a:t>
            </a:r>
            <a:r>
              <a:rPr lang="en-US" altLang="en-US" b="1" dirty="0"/>
              <a:t>not empty </a:t>
            </a:r>
            <a:r>
              <a:rPr lang="en-US" altLang="en-US" dirty="0"/>
              <a:t>( &gt; 0 items)</a:t>
            </a:r>
            <a:endParaRPr lang="en-US" altLang="en-US" b="1" dirty="0"/>
          </a:p>
        </p:txBody>
      </p:sp>
      <p:sp>
        <p:nvSpPr>
          <p:cNvPr id="675851" name="Oval 11"/>
          <p:cNvSpPr>
            <a:spLocks noChangeArrowheads="1"/>
          </p:cNvSpPr>
          <p:nvPr/>
        </p:nvSpPr>
        <p:spPr bwMode="auto">
          <a:xfrm>
            <a:off x="2911475" y="4856162"/>
            <a:ext cx="525462" cy="557213"/>
          </a:xfrm>
          <a:prstGeom prst="ellipse">
            <a:avLst/>
          </a:prstGeom>
          <a:solidFill>
            <a:srgbClr val="FFCC99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 anchor="ctr"/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altLang="en-US" b="1"/>
              <a:t>P3</a:t>
            </a:r>
          </a:p>
        </p:txBody>
      </p:sp>
      <p:sp>
        <p:nvSpPr>
          <p:cNvPr id="675852" name="Oval 12"/>
          <p:cNvSpPr>
            <a:spLocks noChangeArrowheads="1"/>
          </p:cNvSpPr>
          <p:nvPr/>
        </p:nvSpPr>
        <p:spPr bwMode="auto">
          <a:xfrm>
            <a:off x="2319337" y="5343525"/>
            <a:ext cx="525463" cy="557212"/>
          </a:xfrm>
          <a:prstGeom prst="ellipse">
            <a:avLst/>
          </a:prstGeom>
          <a:solidFill>
            <a:srgbClr val="FFCC99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 anchor="ctr"/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altLang="en-US" b="1"/>
              <a:t>P2</a:t>
            </a:r>
          </a:p>
        </p:txBody>
      </p:sp>
      <p:sp>
        <p:nvSpPr>
          <p:cNvPr id="675854" name="Oval 14"/>
          <p:cNvSpPr>
            <a:spLocks noChangeArrowheads="1"/>
          </p:cNvSpPr>
          <p:nvPr/>
        </p:nvSpPr>
        <p:spPr bwMode="auto">
          <a:xfrm>
            <a:off x="4487862" y="4994275"/>
            <a:ext cx="525463" cy="558800"/>
          </a:xfrm>
          <a:prstGeom prst="ellipse">
            <a:avLst/>
          </a:prstGeom>
          <a:solidFill>
            <a:srgbClr val="99FF33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 anchor="ctr"/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altLang="en-US" b="1"/>
              <a:t>C1</a:t>
            </a:r>
          </a:p>
        </p:txBody>
      </p:sp>
      <p:sp>
        <p:nvSpPr>
          <p:cNvPr id="675856" name="Oval 16"/>
          <p:cNvSpPr>
            <a:spLocks noChangeArrowheads="1"/>
          </p:cNvSpPr>
          <p:nvPr/>
        </p:nvSpPr>
        <p:spPr bwMode="auto">
          <a:xfrm>
            <a:off x="5735637" y="5133975"/>
            <a:ext cx="525463" cy="557212"/>
          </a:xfrm>
          <a:prstGeom prst="ellipse">
            <a:avLst/>
          </a:prstGeom>
          <a:solidFill>
            <a:srgbClr val="99FF33"/>
          </a:solidFill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0815" tIns="40407" rIns="80815" bIns="40407" anchor="ctr"/>
          <a:lstStyle>
            <a:lvl1pPr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404813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808038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212850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1616075" defTabSz="904875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0732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5304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29876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444875" defTabSz="90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en-US" altLang="en-US" b="1"/>
              <a:t>C3</a:t>
            </a:r>
          </a:p>
        </p:txBody>
      </p:sp>
      <p:sp>
        <p:nvSpPr>
          <p:cNvPr id="675857" name="Line 17"/>
          <p:cNvSpPr>
            <a:spLocks noChangeShapeType="1"/>
          </p:cNvSpPr>
          <p:nvPr/>
        </p:nvSpPr>
        <p:spPr bwMode="auto">
          <a:xfrm>
            <a:off x="3765550" y="4297362"/>
            <a:ext cx="1247775" cy="3492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grpSp>
        <p:nvGrpSpPr>
          <p:cNvPr id="4" name="Group 3"/>
          <p:cNvGrpSpPr/>
          <p:nvPr/>
        </p:nvGrpSpPr>
        <p:grpSpPr>
          <a:xfrm>
            <a:off x="941387" y="4856162"/>
            <a:ext cx="1247775" cy="981075"/>
            <a:chOff x="941387" y="4856162"/>
            <a:chExt cx="1247775" cy="981075"/>
          </a:xfrm>
        </p:grpSpPr>
        <p:sp>
          <p:nvSpPr>
            <p:cNvPr id="675850" name="Oval 10"/>
            <p:cNvSpPr>
              <a:spLocks noChangeArrowheads="1"/>
            </p:cNvSpPr>
            <p:nvPr/>
          </p:nvSpPr>
          <p:spPr bwMode="auto">
            <a:xfrm>
              <a:off x="1663700" y="4856162"/>
              <a:ext cx="525462" cy="557213"/>
            </a:xfrm>
            <a:prstGeom prst="ellipse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 anchor="ctr"/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US" altLang="en-US" b="1"/>
                <a:t>P1</a:t>
              </a:r>
            </a:p>
          </p:txBody>
        </p:sp>
        <p:sp>
          <p:nvSpPr>
            <p:cNvPr id="675858" name="Text Box 18"/>
            <p:cNvSpPr txBox="1">
              <a:spLocks noChangeArrowheads="1"/>
            </p:cNvSpPr>
            <p:nvPr/>
          </p:nvSpPr>
          <p:spPr bwMode="auto">
            <a:xfrm>
              <a:off x="941387" y="5483225"/>
              <a:ext cx="1203325" cy="3540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dirty="0"/>
                <a:t>Producers</a:t>
              </a:r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5013325" y="4576762"/>
            <a:ext cx="2774950" cy="1050925"/>
            <a:chOff x="5013325" y="4576762"/>
            <a:chExt cx="2774950" cy="1050925"/>
          </a:xfrm>
        </p:grpSpPr>
        <p:sp>
          <p:nvSpPr>
            <p:cNvPr id="675855" name="Oval 15"/>
            <p:cNvSpPr>
              <a:spLocks noChangeArrowheads="1"/>
            </p:cNvSpPr>
            <p:nvPr/>
          </p:nvSpPr>
          <p:spPr bwMode="auto">
            <a:xfrm>
              <a:off x="5013325" y="4576762"/>
              <a:ext cx="525462" cy="557213"/>
            </a:xfrm>
            <a:prstGeom prst="ellipse">
              <a:avLst/>
            </a:prstGeom>
            <a:solidFill>
              <a:srgbClr val="99FF33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 anchor="ctr"/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US" altLang="en-US" b="1"/>
                <a:t>C2</a:t>
              </a:r>
            </a:p>
          </p:txBody>
        </p:sp>
        <p:sp>
          <p:nvSpPr>
            <p:cNvPr id="675859" name="Text Box 19"/>
            <p:cNvSpPr txBox="1">
              <a:spLocks noChangeArrowheads="1"/>
            </p:cNvSpPr>
            <p:nvPr/>
          </p:nvSpPr>
          <p:spPr bwMode="auto">
            <a:xfrm>
              <a:off x="6457950" y="5273675"/>
              <a:ext cx="1330325" cy="3540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/>
                <a:t>Consumers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254250" y="3810000"/>
            <a:ext cx="6324172" cy="417512"/>
            <a:chOff x="2254250" y="3810000"/>
            <a:chExt cx="6324172" cy="417512"/>
          </a:xfrm>
        </p:grpSpPr>
        <p:sp>
          <p:nvSpPr>
            <p:cNvPr id="675844" name="Rectangle 4"/>
            <p:cNvSpPr>
              <a:spLocks noChangeArrowheads="1"/>
            </p:cNvSpPr>
            <p:nvPr/>
          </p:nvSpPr>
          <p:spPr bwMode="auto">
            <a:xfrm>
              <a:off x="2254250" y="3879850"/>
              <a:ext cx="525462" cy="347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675845" name="Rectangle 5"/>
            <p:cNvSpPr>
              <a:spLocks noChangeArrowheads="1"/>
            </p:cNvSpPr>
            <p:nvPr/>
          </p:nvSpPr>
          <p:spPr bwMode="auto">
            <a:xfrm>
              <a:off x="2779712" y="3879850"/>
              <a:ext cx="525463" cy="347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675846" name="Rectangle 6"/>
            <p:cNvSpPr>
              <a:spLocks noChangeArrowheads="1"/>
            </p:cNvSpPr>
            <p:nvPr/>
          </p:nvSpPr>
          <p:spPr bwMode="auto">
            <a:xfrm>
              <a:off x="3305175" y="3879850"/>
              <a:ext cx="525462" cy="347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675847" name="Rectangle 7"/>
            <p:cNvSpPr>
              <a:spLocks noChangeArrowheads="1"/>
            </p:cNvSpPr>
            <p:nvPr/>
          </p:nvSpPr>
          <p:spPr bwMode="auto">
            <a:xfrm>
              <a:off x="3830637" y="3879850"/>
              <a:ext cx="525463" cy="347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675848" name="Rectangle 8"/>
            <p:cNvSpPr>
              <a:spLocks noChangeArrowheads="1"/>
            </p:cNvSpPr>
            <p:nvPr/>
          </p:nvSpPr>
          <p:spPr bwMode="auto">
            <a:xfrm>
              <a:off x="4356100" y="3879850"/>
              <a:ext cx="525462" cy="347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675849" name="Rectangle 9"/>
            <p:cNvSpPr>
              <a:spLocks noChangeArrowheads="1"/>
            </p:cNvSpPr>
            <p:nvPr/>
          </p:nvSpPr>
          <p:spPr bwMode="auto">
            <a:xfrm>
              <a:off x="4881562" y="3879850"/>
              <a:ext cx="525463" cy="347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675860" name="Text Box 20"/>
            <p:cNvSpPr txBox="1">
              <a:spLocks noChangeArrowheads="1"/>
            </p:cNvSpPr>
            <p:nvPr/>
          </p:nvSpPr>
          <p:spPr bwMode="auto">
            <a:xfrm>
              <a:off x="5867400" y="3810000"/>
              <a:ext cx="2711022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dirty="0"/>
                <a:t>Bounded Buffer (max: </a:t>
              </a:r>
              <a:r>
                <a:rPr lang="en-US" altLang="en-US" b="1" dirty="0"/>
                <a:t>K</a:t>
              </a:r>
              <a:r>
                <a:rPr lang="en-US" altLang="en-US" dirty="0"/>
                <a:t>)</a:t>
              </a:r>
            </a:p>
          </p:txBody>
        </p:sp>
      </p:grpSp>
      <p:sp>
        <p:nvSpPr>
          <p:cNvPr id="675861" name="Line 21"/>
          <p:cNvSpPr>
            <a:spLocks noChangeShapeType="1"/>
          </p:cNvSpPr>
          <p:nvPr/>
        </p:nvSpPr>
        <p:spPr bwMode="auto">
          <a:xfrm flipV="1">
            <a:off x="2517775" y="4367212"/>
            <a:ext cx="65087" cy="90646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75862" name="Line 22"/>
          <p:cNvSpPr>
            <a:spLocks noChangeShapeType="1"/>
          </p:cNvSpPr>
          <p:nvPr/>
        </p:nvSpPr>
        <p:spPr bwMode="auto">
          <a:xfrm>
            <a:off x="2714625" y="4367212"/>
            <a:ext cx="1773237" cy="55721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grpSp>
        <p:nvGrpSpPr>
          <p:cNvPr id="5" name="Group 4"/>
          <p:cNvGrpSpPr/>
          <p:nvPr/>
        </p:nvGrpSpPr>
        <p:grpSpPr>
          <a:xfrm>
            <a:off x="2122487" y="3879850"/>
            <a:ext cx="1708150" cy="1044574"/>
            <a:chOff x="2122487" y="3879850"/>
            <a:chExt cx="1708150" cy="1044574"/>
          </a:xfrm>
        </p:grpSpPr>
        <p:sp>
          <p:nvSpPr>
            <p:cNvPr id="675853" name="Line 13"/>
            <p:cNvSpPr>
              <a:spLocks noChangeShapeType="1"/>
            </p:cNvSpPr>
            <p:nvPr/>
          </p:nvSpPr>
          <p:spPr bwMode="auto">
            <a:xfrm flipV="1">
              <a:off x="2122487" y="4297361"/>
              <a:ext cx="1314450" cy="6270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26" name="Rectangle 6"/>
            <p:cNvSpPr>
              <a:spLocks noChangeArrowheads="1"/>
            </p:cNvSpPr>
            <p:nvPr/>
          </p:nvSpPr>
          <p:spPr bwMode="auto">
            <a:xfrm>
              <a:off x="3305175" y="3879850"/>
              <a:ext cx="525462" cy="347662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  <a:shade val="30000"/>
                    <a:satMod val="115000"/>
                  </a:schemeClr>
                </a:gs>
                <a:gs pos="50000">
                  <a:schemeClr val="accent2">
                    <a:lumMod val="40000"/>
                    <a:lumOff val="60000"/>
                    <a:shade val="67500"/>
                    <a:satMod val="115000"/>
                  </a:schemeClr>
                </a:gs>
                <a:gs pos="100000">
                  <a:schemeClr val="accent2">
                    <a:lumMod val="40000"/>
                    <a:lumOff val="60000"/>
                    <a:shade val="100000"/>
                    <a:satMod val="11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</p:grp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35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51" grpId="0" animBg="1"/>
      <p:bldP spid="675852" grpId="0" animBg="1"/>
      <p:bldP spid="675854" grpId="0" animBg="1"/>
      <p:bldP spid="675856" grpId="0" animBg="1"/>
      <p:bldP spid="675857" grpId="0" animBg="1"/>
      <p:bldP spid="675861" grpId="0" animBg="1"/>
      <p:bldP spid="67586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520" name="Text Box 8"/>
          <p:cNvSpPr txBox="1">
            <a:spLocks noChangeArrowheads="1"/>
          </p:cNvSpPr>
          <p:nvPr/>
        </p:nvSpPr>
        <p:spPr bwMode="auto">
          <a:xfrm>
            <a:off x="4648200" y="2364815"/>
            <a:ext cx="4038600" cy="39764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solidFill>
                  <a:srgbClr val="660066"/>
                </a:solidFill>
                <a:latin typeface="Courier New" pitchFamily="49" charset="0"/>
                <a:cs typeface="Courier New" panose="02070309020205020404" pitchFamily="49" charset="0"/>
              </a:rPr>
              <a:t>while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(TRUE) {</a:t>
            </a:r>
            <a:r>
              <a:rPr lang="en-US" altLang="en-US" i="1" dirty="0">
                <a:latin typeface="Courier New" pitchFamily="49" charset="0"/>
                <a:cs typeface="Courier New" panose="02070309020205020404" pitchFamily="49" charset="0"/>
              </a:rPr>
              <a:t>	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</a:t>
            </a:r>
            <a:r>
              <a:rPr lang="en-US" altLang="en-US" b="1" dirty="0">
                <a:solidFill>
                  <a:srgbClr val="660066"/>
                </a:solidFill>
                <a:latin typeface="Courier New" pitchFamily="49" charset="0"/>
                <a:cs typeface="Courier New" panose="02070309020205020404" pitchFamily="49" charset="0"/>
              </a:rPr>
              <a:t>while</a:t>
            </a: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(!</a:t>
            </a:r>
            <a:r>
              <a:rPr lang="en-US" altLang="en-US" b="1" dirty="0" err="1">
                <a:solidFill>
                  <a:srgbClr val="0033CC"/>
                </a:solidFill>
                <a:latin typeface="Courier New" pitchFamily="49" charset="0"/>
                <a:cs typeface="Courier New" panose="02070309020205020404" pitchFamily="49" charset="0"/>
              </a:rPr>
              <a:t>canConsume</a:t>
            </a: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);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anose="02070309020205020404" pitchFamily="49" charset="0"/>
              </a:rPr>
              <a:t>wait</a:t>
            </a:r>
            <a:r>
              <a:rPr lang="en-US" altLang="en-US" sz="2000" b="1" dirty="0">
                <a:latin typeface="Courier New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 err="1">
                <a:solidFill>
                  <a:srgbClr val="9900CC"/>
                </a:solidFill>
                <a:latin typeface="Courier New" pitchFamily="49" charset="0"/>
                <a:cs typeface="Courier New" panose="02070309020205020404" pitchFamily="49" charset="0"/>
              </a:rPr>
              <a:t>mutex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Courier New" panose="02070309020205020404" pitchFamily="49" charset="0"/>
              </a:rPr>
              <a:t>);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</a:t>
            </a:r>
            <a:r>
              <a:rPr lang="en-US" altLang="en-US" dirty="0">
                <a:solidFill>
                  <a:srgbClr val="660066"/>
                </a:solidFill>
                <a:latin typeface="Courier New" pitchFamily="49" charset="0"/>
                <a:cs typeface="Courier New" panose="02070309020205020404" pitchFamily="49" charset="0"/>
              </a:rPr>
              <a:t>if</a:t>
            </a: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(count &gt; 0) 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   item = buffer[out];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   out = (out+1) % K;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i="1" dirty="0">
                <a:latin typeface="Courier New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count--;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b="1" dirty="0" err="1">
                <a:solidFill>
                  <a:schemeClr val="tx2"/>
                </a:solidFill>
                <a:latin typeface="Courier New" pitchFamily="49" charset="0"/>
                <a:cs typeface="Courier New" panose="02070309020205020404" pitchFamily="49" charset="0"/>
              </a:rPr>
              <a:t>canProduce</a:t>
            </a: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= TRUE;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} </a:t>
            </a:r>
            <a:r>
              <a:rPr lang="en-US" altLang="en-US" dirty="0">
                <a:solidFill>
                  <a:srgbClr val="660066"/>
                </a:solidFill>
                <a:latin typeface="Courier New" pitchFamily="49" charset="0"/>
                <a:cs typeface="Courier New" panose="02070309020205020404" pitchFamily="49" charset="0"/>
              </a:rPr>
              <a:t>else</a:t>
            </a: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b="1" dirty="0" err="1">
                <a:solidFill>
                  <a:srgbClr val="0033CC"/>
                </a:solidFill>
                <a:latin typeface="Courier New" pitchFamily="49" charset="0"/>
                <a:cs typeface="Courier New" panose="02070309020205020404" pitchFamily="49" charset="0"/>
              </a:rPr>
              <a:t>canConsume</a:t>
            </a: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= FALSE;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anose="02070309020205020404" pitchFamily="49" charset="0"/>
              </a:rPr>
              <a:t>signal</a:t>
            </a:r>
            <a:r>
              <a:rPr lang="en-US" altLang="en-US" sz="2000" b="1" dirty="0">
                <a:latin typeface="Courier New" pitchFamily="49" charset="0"/>
                <a:cs typeface="Courier New" panose="02070309020205020404" pitchFamily="49" charset="0"/>
              </a:rPr>
              <a:t>( </a:t>
            </a:r>
            <a:r>
              <a:rPr lang="en-US" altLang="en-US" sz="2000" b="1" dirty="0" err="1">
                <a:solidFill>
                  <a:srgbClr val="9900CC"/>
                </a:solidFill>
                <a:latin typeface="Courier New" pitchFamily="49" charset="0"/>
                <a:cs typeface="Courier New" panose="02070309020205020404" pitchFamily="49" charset="0"/>
              </a:rPr>
              <a:t>mutex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</a:t>
            </a:r>
            <a:r>
              <a:rPr lang="en-US" altLang="en-US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anose="02070309020205020404" pitchFamily="49" charset="0"/>
              </a:rPr>
              <a:t>Consume Item;</a:t>
            </a:r>
            <a:endParaRPr lang="en-US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Courier New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dirty="0">
              <a:latin typeface="Courier New" pitchFamily="49" charset="0"/>
              <a:cs typeface="Courier New" panose="02070309020205020404" pitchFamily="49" charset="0"/>
            </a:endParaRPr>
          </a:p>
        </p:txBody>
      </p:sp>
      <p:sp>
        <p:nvSpPr>
          <p:cNvPr id="704517" name="Text Box 5"/>
          <p:cNvSpPr txBox="1">
            <a:spLocks noChangeArrowheads="1"/>
          </p:cNvSpPr>
          <p:nvPr/>
        </p:nvSpPr>
        <p:spPr bwMode="auto">
          <a:xfrm>
            <a:off x="242751" y="2351293"/>
            <a:ext cx="4090468" cy="4007251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solidFill>
                  <a:srgbClr val="660066"/>
                </a:solidFill>
                <a:latin typeface="Courier New" pitchFamily="49" charset="0"/>
                <a:cs typeface="Courier New" panose="02070309020205020404" pitchFamily="49" charset="0"/>
              </a:rPr>
              <a:t>while</a:t>
            </a: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(TRUE) 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</a:t>
            </a:r>
            <a:r>
              <a:rPr lang="en-US" altLang="en-US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itchFamily="49" charset="0"/>
                <a:cs typeface="Courier New" panose="02070309020205020404" pitchFamily="49" charset="0"/>
              </a:rPr>
              <a:t>Produce Item;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b="1" dirty="0">
                <a:solidFill>
                  <a:srgbClr val="660066"/>
                </a:solidFill>
                <a:latin typeface="Courier New" pitchFamily="49" charset="0"/>
                <a:cs typeface="Courier New" panose="02070309020205020404" pitchFamily="49" charset="0"/>
              </a:rPr>
              <a:t>while</a:t>
            </a: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(!</a:t>
            </a:r>
            <a:r>
              <a:rPr lang="en-US" altLang="en-US" b="1" dirty="0" err="1">
                <a:solidFill>
                  <a:srgbClr val="003300"/>
                </a:solidFill>
                <a:latin typeface="Courier New" pitchFamily="49" charset="0"/>
                <a:cs typeface="Courier New" panose="02070309020205020404" pitchFamily="49" charset="0"/>
              </a:rPr>
              <a:t>canProduce</a:t>
            </a: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);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anose="02070309020205020404" pitchFamily="49" charset="0"/>
              </a:rPr>
              <a:t>wait</a:t>
            </a:r>
            <a:r>
              <a:rPr lang="en-US" altLang="en-US" sz="2000" b="1" dirty="0">
                <a:latin typeface="Courier New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 err="1">
                <a:solidFill>
                  <a:srgbClr val="9900CC"/>
                </a:solidFill>
                <a:latin typeface="Courier New" pitchFamily="49" charset="0"/>
                <a:cs typeface="Courier New" panose="02070309020205020404" pitchFamily="49" charset="0"/>
              </a:rPr>
              <a:t>mutex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Courier New" panose="02070309020205020404" pitchFamily="49" charset="0"/>
              </a:rPr>
              <a:t>);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</a:t>
            </a:r>
            <a:r>
              <a:rPr lang="en-US" altLang="en-US" dirty="0">
                <a:solidFill>
                  <a:srgbClr val="660066"/>
                </a:solidFill>
                <a:latin typeface="Courier New" pitchFamily="49" charset="0"/>
                <a:cs typeface="Courier New" panose="02070309020205020404" pitchFamily="49" charset="0"/>
              </a:rPr>
              <a:t>if</a:t>
            </a: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(count &lt; K) 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    buffer[in] = item;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    in = (in+1) % K;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i="1" dirty="0">
                <a:latin typeface="Courier New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count++;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b="1" dirty="0" err="1">
                <a:solidFill>
                  <a:srgbClr val="0033CC"/>
                </a:solidFill>
                <a:latin typeface="Courier New" pitchFamily="49" charset="0"/>
                <a:cs typeface="Courier New" panose="02070309020205020404" pitchFamily="49" charset="0"/>
              </a:rPr>
              <a:t>canConsume</a:t>
            </a: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= TRUE;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} </a:t>
            </a:r>
            <a:r>
              <a:rPr lang="en-US" altLang="en-US" dirty="0">
                <a:solidFill>
                  <a:srgbClr val="660066"/>
                </a:solidFill>
                <a:latin typeface="Courier New" pitchFamily="49" charset="0"/>
                <a:cs typeface="Courier New" panose="02070309020205020404" pitchFamily="49" charset="0"/>
              </a:rPr>
              <a:t>else</a:t>
            </a: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    </a:t>
            </a:r>
            <a:r>
              <a:rPr lang="en-US" altLang="en-US" b="1" dirty="0" err="1">
                <a:solidFill>
                  <a:srgbClr val="003300"/>
                </a:solidFill>
                <a:latin typeface="Courier New" pitchFamily="49" charset="0"/>
                <a:cs typeface="Courier New" panose="02070309020205020404" pitchFamily="49" charset="0"/>
              </a:rPr>
              <a:t>canProduce</a:t>
            </a: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= FALSE;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cs typeface="Courier New" panose="02070309020205020404" pitchFamily="49" charset="0"/>
              </a:rPr>
              <a:t>signal</a:t>
            </a:r>
            <a:r>
              <a:rPr lang="en-US" altLang="en-US" sz="2000" b="1" dirty="0">
                <a:latin typeface="Courier New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 err="1">
                <a:solidFill>
                  <a:srgbClr val="9900CC"/>
                </a:solidFill>
                <a:latin typeface="Courier New" pitchFamily="49" charset="0"/>
                <a:cs typeface="Courier New" panose="02070309020205020404" pitchFamily="49" charset="0"/>
              </a:rPr>
              <a:t>mutex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>
                <a:latin typeface="Courier New" pitchFamily="49" charset="0"/>
                <a:cs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dirty="0">
              <a:latin typeface="Courier New" pitchFamily="49" charset="0"/>
              <a:cs typeface="Courier New" panose="02070309020205020404" pitchFamily="49" charset="0"/>
            </a:endParaRPr>
          </a:p>
        </p:txBody>
      </p:sp>
      <p:sp>
        <p:nvSpPr>
          <p:cNvPr id="70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432889" y="188688"/>
            <a:ext cx="8229600" cy="712787"/>
          </a:xfrm>
        </p:spPr>
        <p:txBody>
          <a:bodyPr/>
          <a:lstStyle/>
          <a:p>
            <a:r>
              <a:rPr lang="en-US" altLang="en-US" sz="3800" dirty="0"/>
              <a:t>Producer Consumer: </a:t>
            </a:r>
            <a:r>
              <a:rPr lang="en-US" altLang="en-US" sz="3800" b="1" dirty="0">
                <a:solidFill>
                  <a:srgbClr val="C00000"/>
                </a:solidFill>
              </a:rPr>
              <a:t>Busy Waiting</a:t>
            </a:r>
          </a:p>
        </p:txBody>
      </p:sp>
      <p:sp>
        <p:nvSpPr>
          <p:cNvPr id="704518" name="Text Box 6"/>
          <p:cNvSpPr txBox="1">
            <a:spLocks noChangeArrowheads="1"/>
          </p:cNvSpPr>
          <p:nvPr/>
        </p:nvSpPr>
        <p:spPr bwMode="auto">
          <a:xfrm>
            <a:off x="2819400" y="6098615"/>
            <a:ext cx="1409700" cy="3762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 dirty="0"/>
              <a:t>Producer</a:t>
            </a:r>
          </a:p>
        </p:txBody>
      </p:sp>
      <p:sp>
        <p:nvSpPr>
          <p:cNvPr id="704521" name="Text Box 9"/>
          <p:cNvSpPr txBox="1">
            <a:spLocks noChangeArrowheads="1"/>
          </p:cNvSpPr>
          <p:nvPr/>
        </p:nvSpPr>
        <p:spPr bwMode="auto">
          <a:xfrm>
            <a:off x="7239000" y="6098615"/>
            <a:ext cx="1371600" cy="37623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 dirty="0"/>
              <a:t>Consumer</a:t>
            </a:r>
          </a:p>
        </p:txBody>
      </p:sp>
      <p:grpSp>
        <p:nvGrpSpPr>
          <p:cNvPr id="11" name="Group 22"/>
          <p:cNvGrpSpPr>
            <a:grpSpLocks/>
          </p:cNvGrpSpPr>
          <p:nvPr/>
        </p:nvGrpSpPr>
        <p:grpSpPr bwMode="auto">
          <a:xfrm>
            <a:off x="661851" y="1035125"/>
            <a:ext cx="1600200" cy="1143000"/>
            <a:chOff x="1872" y="624"/>
            <a:chExt cx="1008" cy="720"/>
          </a:xfrm>
        </p:grpSpPr>
        <p:sp>
          <p:nvSpPr>
            <p:cNvPr id="12" name="Rectangle 14"/>
            <p:cNvSpPr>
              <a:spLocks noChangeArrowheads="1"/>
            </p:cNvSpPr>
            <p:nvPr/>
          </p:nvSpPr>
          <p:spPr bwMode="auto">
            <a:xfrm>
              <a:off x="2400" y="864"/>
              <a:ext cx="480" cy="24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anose="02070309020205020404" pitchFamily="49" charset="0"/>
              </a:endParaRPr>
            </a:p>
          </p:txBody>
        </p:sp>
        <p:sp>
          <p:nvSpPr>
            <p:cNvPr id="13" name="Rectangle 15"/>
            <p:cNvSpPr>
              <a:spLocks noChangeArrowheads="1"/>
            </p:cNvSpPr>
            <p:nvPr/>
          </p:nvSpPr>
          <p:spPr bwMode="auto">
            <a:xfrm>
              <a:off x="1872" y="864"/>
              <a:ext cx="52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400" b="1">
                  <a:latin typeface="Courier New" panose="02070309020205020404" pitchFamily="49" charset="0"/>
                </a:rPr>
                <a:t>in</a:t>
              </a:r>
            </a:p>
          </p:txBody>
        </p:sp>
        <p:sp>
          <p:nvSpPr>
            <p:cNvPr id="14" name="Rectangle 17"/>
            <p:cNvSpPr>
              <a:spLocks noChangeArrowheads="1"/>
            </p:cNvSpPr>
            <p:nvPr/>
          </p:nvSpPr>
          <p:spPr bwMode="auto">
            <a:xfrm>
              <a:off x="2400" y="1104"/>
              <a:ext cx="480" cy="24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anose="02070309020205020404" pitchFamily="49" charset="0"/>
              </a:endParaRPr>
            </a:p>
          </p:txBody>
        </p:sp>
        <p:sp>
          <p:nvSpPr>
            <p:cNvPr id="15" name="Rectangle 18"/>
            <p:cNvSpPr>
              <a:spLocks noChangeArrowheads="1"/>
            </p:cNvSpPr>
            <p:nvPr/>
          </p:nvSpPr>
          <p:spPr bwMode="auto">
            <a:xfrm>
              <a:off x="1872" y="1104"/>
              <a:ext cx="52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400" b="1">
                  <a:latin typeface="Courier New" panose="02070309020205020404" pitchFamily="49" charset="0"/>
                </a:rPr>
                <a:t>out</a:t>
              </a:r>
            </a:p>
          </p:txBody>
        </p:sp>
        <p:sp>
          <p:nvSpPr>
            <p:cNvPr id="16" name="Rectangle 20"/>
            <p:cNvSpPr>
              <a:spLocks noChangeArrowheads="1"/>
            </p:cNvSpPr>
            <p:nvPr/>
          </p:nvSpPr>
          <p:spPr bwMode="auto">
            <a:xfrm>
              <a:off x="2400" y="624"/>
              <a:ext cx="480" cy="24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anose="02070309020205020404" pitchFamily="49" charset="0"/>
              </a:endParaRPr>
            </a:p>
          </p:txBody>
        </p:sp>
        <p:sp>
          <p:nvSpPr>
            <p:cNvPr id="17" name="Rectangle 21"/>
            <p:cNvSpPr>
              <a:spLocks noChangeArrowheads="1"/>
            </p:cNvSpPr>
            <p:nvPr/>
          </p:nvSpPr>
          <p:spPr bwMode="auto">
            <a:xfrm>
              <a:off x="1872" y="624"/>
              <a:ext cx="52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400" b="1" dirty="0">
                  <a:latin typeface="Courier New" panose="02070309020205020404" pitchFamily="49" charset="0"/>
                </a:rPr>
                <a:t>count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877889" y="1365150"/>
            <a:ext cx="3579222" cy="859765"/>
            <a:chOff x="4191000" y="3425284"/>
            <a:chExt cx="3579222" cy="1379217"/>
          </a:xfrm>
        </p:grpSpPr>
        <p:sp>
          <p:nvSpPr>
            <p:cNvPr id="19" name="Rounded Rectangle 18"/>
            <p:cNvSpPr/>
            <p:nvPr/>
          </p:nvSpPr>
          <p:spPr>
            <a:xfrm>
              <a:off x="4191000" y="3585301"/>
              <a:ext cx="3505200" cy="1219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0"/>
            <p:cNvSpPr>
              <a:spLocks noChangeArrowheads="1"/>
            </p:cNvSpPr>
            <p:nvPr/>
          </p:nvSpPr>
          <p:spPr bwMode="auto">
            <a:xfrm>
              <a:off x="6671731" y="3425284"/>
              <a:ext cx="1098491" cy="460916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 err="1"/>
                <a:t>Mutex</a:t>
              </a:r>
              <a:endParaRPr lang="en-US" altLang="en-US" b="1" dirty="0"/>
            </a:p>
          </p:txBody>
        </p:sp>
        <p:sp>
          <p:nvSpPr>
            <p:cNvPr id="21" name="Rectangle 11"/>
            <p:cNvSpPr>
              <a:spLocks noChangeArrowheads="1"/>
            </p:cNvSpPr>
            <p:nvPr/>
          </p:nvSpPr>
          <p:spPr bwMode="auto">
            <a:xfrm>
              <a:off x="4343400" y="3886200"/>
              <a:ext cx="838200" cy="76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2" name="Rectangle 12"/>
            <p:cNvSpPr>
              <a:spLocks noChangeArrowheads="1"/>
            </p:cNvSpPr>
            <p:nvPr/>
          </p:nvSpPr>
          <p:spPr bwMode="auto">
            <a:xfrm>
              <a:off x="5181600" y="4572000"/>
              <a:ext cx="2133600" cy="76200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3" name="Group 22"/>
          <p:cNvGrpSpPr>
            <a:grpSpLocks/>
          </p:cNvGrpSpPr>
          <p:nvPr/>
        </p:nvGrpSpPr>
        <p:grpSpPr bwMode="auto">
          <a:xfrm>
            <a:off x="2948940" y="1414033"/>
            <a:ext cx="1600200" cy="762000"/>
            <a:chOff x="1872" y="864"/>
            <a:chExt cx="1008" cy="480"/>
          </a:xfrm>
        </p:grpSpPr>
        <p:sp>
          <p:nvSpPr>
            <p:cNvPr id="24" name="Rectangle 14"/>
            <p:cNvSpPr>
              <a:spLocks noChangeArrowheads="1"/>
            </p:cNvSpPr>
            <p:nvPr/>
          </p:nvSpPr>
          <p:spPr bwMode="auto">
            <a:xfrm>
              <a:off x="2400" y="864"/>
              <a:ext cx="480" cy="2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anose="02070309020205020404" pitchFamily="49" charset="0"/>
              </a:endParaRPr>
            </a:p>
          </p:txBody>
        </p:sp>
        <p:sp>
          <p:nvSpPr>
            <p:cNvPr id="25" name="Rectangle 15"/>
            <p:cNvSpPr>
              <a:spLocks noChangeArrowheads="1"/>
            </p:cNvSpPr>
            <p:nvPr/>
          </p:nvSpPr>
          <p:spPr bwMode="auto">
            <a:xfrm>
              <a:off x="1872" y="864"/>
              <a:ext cx="52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400" b="1" dirty="0" err="1">
                  <a:latin typeface="Courier New" panose="02070309020205020404" pitchFamily="49" charset="0"/>
                </a:rPr>
                <a:t>canProd</a:t>
              </a:r>
              <a:endParaRPr lang="en-US" altLang="en-US" sz="2400" b="1" dirty="0">
                <a:latin typeface="Courier New" panose="02070309020205020404" pitchFamily="49" charset="0"/>
              </a:endParaRPr>
            </a:p>
          </p:txBody>
        </p:sp>
        <p:sp>
          <p:nvSpPr>
            <p:cNvPr id="26" name="Rectangle 17"/>
            <p:cNvSpPr>
              <a:spLocks noChangeArrowheads="1"/>
            </p:cNvSpPr>
            <p:nvPr/>
          </p:nvSpPr>
          <p:spPr bwMode="auto">
            <a:xfrm>
              <a:off x="2400" y="1104"/>
              <a:ext cx="480" cy="2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anose="02070309020205020404" pitchFamily="49" charset="0"/>
              </a:endParaRPr>
            </a:p>
          </p:txBody>
        </p:sp>
        <p:sp>
          <p:nvSpPr>
            <p:cNvPr id="27" name="Rectangle 18"/>
            <p:cNvSpPr>
              <a:spLocks noChangeArrowheads="1"/>
            </p:cNvSpPr>
            <p:nvPr/>
          </p:nvSpPr>
          <p:spPr bwMode="auto">
            <a:xfrm>
              <a:off x="1872" y="1104"/>
              <a:ext cx="52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400" b="1" dirty="0" err="1">
                  <a:latin typeface="Courier New" panose="02070309020205020404" pitchFamily="49" charset="0"/>
                </a:rPr>
                <a:t>canCons</a:t>
              </a:r>
              <a:endParaRPr lang="en-US" altLang="en-US" sz="2400" b="1" dirty="0">
                <a:latin typeface="Courier New" panose="02070309020205020404" pitchFamily="49" charset="0"/>
              </a:endParaRP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92921-E8D1-4F63-8B4B-BBDB7C330874}" type="slidenum">
              <a:rPr lang="en-US" altLang="en-US" smtClean="0"/>
              <a:pPr/>
              <a:t>36</a:t>
            </a:fld>
            <a:endParaRPr lang="en-US" altLang="en-US"/>
          </a:p>
        </p:txBody>
      </p:sp>
      <p:sp>
        <p:nvSpPr>
          <p:cNvPr id="2" name="Rectangle 1"/>
          <p:cNvSpPr/>
          <p:nvPr/>
        </p:nvSpPr>
        <p:spPr>
          <a:xfrm>
            <a:off x="-242" y="2324665"/>
            <a:ext cx="8839200" cy="4235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grpSp>
        <p:nvGrpSpPr>
          <p:cNvPr id="28" name="Group 27"/>
          <p:cNvGrpSpPr/>
          <p:nvPr/>
        </p:nvGrpSpPr>
        <p:grpSpPr>
          <a:xfrm>
            <a:off x="215636" y="2347018"/>
            <a:ext cx="4117583" cy="2806922"/>
            <a:chOff x="259684" y="3751600"/>
            <a:chExt cx="4038600" cy="2806922"/>
          </a:xfrm>
        </p:grpSpPr>
        <p:sp>
          <p:nvSpPr>
            <p:cNvPr id="29" name="Text Box 5"/>
            <p:cNvSpPr txBox="1">
              <a:spLocks noChangeArrowheads="1"/>
            </p:cNvSpPr>
            <p:nvPr/>
          </p:nvSpPr>
          <p:spPr bwMode="auto">
            <a:xfrm>
              <a:off x="259684" y="3751600"/>
              <a:ext cx="4038600" cy="2806922"/>
            </a:xfrm>
            <a:prstGeom prst="rect">
              <a:avLst/>
            </a:prstGeom>
            <a:solidFill>
              <a:srgbClr val="FFFFCC"/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r>
                <a:rPr lang="en-US" altLang="en-US" b="1" dirty="0">
                  <a:solidFill>
                    <a:srgbClr val="660066"/>
                  </a:solidFill>
                  <a:latin typeface="Courier New" pitchFamily="49" charset="0"/>
                  <a:cs typeface="Courier New" panose="02070309020205020404" pitchFamily="49" charset="0"/>
                </a:rPr>
                <a:t>while</a:t>
              </a: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 (</a:t>
              </a:r>
              <a:r>
                <a:rPr lang="en-US" altLang="en-US" b="1" dirty="0">
                  <a:solidFill>
                    <a:srgbClr val="0070C0"/>
                  </a:solidFill>
                  <a:latin typeface="Courier New" pitchFamily="49" charset="0"/>
                  <a:cs typeface="Courier New" panose="02070309020205020404" pitchFamily="49" charset="0"/>
                </a:rPr>
                <a:t>TRUE</a:t>
              </a: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) {</a:t>
              </a: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endParaRPr lang="en-US" altLang="en-US" b="1" dirty="0">
                <a:latin typeface="Courier New" pitchFamily="49" charset="0"/>
                <a:cs typeface="Courier New" panose="02070309020205020404" pitchFamily="49" charset="0"/>
              </a:endParaRP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</a:pP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   </a:t>
              </a:r>
              <a:r>
                <a:rPr lang="en-US" altLang="en-US" b="1" i="1" dirty="0">
                  <a:latin typeface="Courier New" pitchFamily="49" charset="0"/>
                  <a:cs typeface="Courier New" panose="02070309020205020404" pitchFamily="49" charset="0"/>
                </a:rPr>
                <a:t>Produce Item;</a:t>
              </a: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   </a:t>
              </a:r>
              <a:r>
                <a:rPr lang="en-US" altLang="en-US" b="1" dirty="0">
                  <a:solidFill>
                    <a:srgbClr val="660066"/>
                  </a:solidFill>
                  <a:latin typeface="Courier New" pitchFamily="49" charset="0"/>
                  <a:cs typeface="Courier New" panose="02070309020205020404" pitchFamily="49" charset="0"/>
                </a:rPr>
                <a:t>if</a:t>
              </a: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 (count &lt; K) {</a:t>
              </a: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       buffer[in] = item;</a:t>
              </a: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       in = (in+1) % K;</a:t>
              </a: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r>
                <a:rPr lang="en-US" altLang="en-US" b="1" i="1" dirty="0">
                  <a:latin typeface="Courier New" pitchFamily="49" charset="0"/>
                  <a:cs typeface="Courier New" panose="02070309020205020404" pitchFamily="49" charset="0"/>
                </a:rPr>
                <a:t>	</a:t>
              </a: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count++;</a:t>
              </a: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   }</a:t>
              </a: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endParaRPr lang="en-US" altLang="en-US" b="1" dirty="0">
                <a:latin typeface="Courier New" pitchFamily="49" charset="0"/>
                <a:cs typeface="Courier New" panose="02070309020205020404" pitchFamily="49" charset="0"/>
              </a:endParaRP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sp>
          <p:nvSpPr>
            <p:cNvPr id="30" name="Text Box 6"/>
            <p:cNvSpPr txBox="1">
              <a:spLocks noChangeArrowheads="1"/>
            </p:cNvSpPr>
            <p:nvPr/>
          </p:nvSpPr>
          <p:spPr bwMode="auto">
            <a:xfrm>
              <a:off x="2819400" y="6095471"/>
              <a:ext cx="1409700" cy="3762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prstDash val="dash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 dirty="0"/>
                <a:t>Producer</a:t>
              </a:r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4638020" y="2347018"/>
            <a:ext cx="4038600" cy="2837700"/>
            <a:chOff x="4682067" y="3751600"/>
            <a:chExt cx="4038600" cy="2837700"/>
          </a:xfrm>
        </p:grpSpPr>
        <p:sp>
          <p:nvSpPr>
            <p:cNvPr id="32" name="Text Box 8"/>
            <p:cNvSpPr txBox="1">
              <a:spLocks noChangeArrowheads="1"/>
            </p:cNvSpPr>
            <p:nvPr/>
          </p:nvSpPr>
          <p:spPr bwMode="auto">
            <a:xfrm>
              <a:off x="4682067" y="3751600"/>
              <a:ext cx="4038600" cy="283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  <a:effectLst/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r>
                <a:rPr lang="en-US" altLang="en-US" b="1" dirty="0">
                  <a:solidFill>
                    <a:srgbClr val="660066"/>
                  </a:solidFill>
                  <a:latin typeface="Courier New" pitchFamily="49" charset="0"/>
                  <a:cs typeface="Courier New" panose="02070309020205020404" pitchFamily="49" charset="0"/>
                </a:rPr>
                <a:t>while</a:t>
              </a:r>
              <a:r>
                <a:rPr lang="en-US" alt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 (</a:t>
              </a:r>
              <a:r>
                <a:rPr lang="en-US" altLang="en-US" b="1" dirty="0">
                  <a:solidFill>
                    <a:srgbClr val="0070C0"/>
                  </a:solidFill>
                  <a:latin typeface="Courier New" pitchFamily="49" charset="0"/>
                  <a:cs typeface="Courier New" panose="02070309020205020404" pitchFamily="49" charset="0"/>
                </a:rPr>
                <a:t>TRUE</a:t>
              </a:r>
              <a:r>
                <a:rPr lang="en-US" alt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) {</a:t>
              </a: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r>
                <a:rPr lang="en-US" altLang="en-US" b="1" i="1" dirty="0">
                  <a:latin typeface="Courier New" pitchFamily="49" charset="0"/>
                  <a:cs typeface="Courier New" panose="02070309020205020404" pitchFamily="49" charset="0"/>
                </a:rPr>
                <a:t>	</a:t>
              </a: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    </a:t>
              </a:r>
              <a:r>
                <a:rPr lang="en-US" altLang="en-US" b="1" dirty="0">
                  <a:solidFill>
                    <a:srgbClr val="660066"/>
                  </a:solidFill>
                  <a:latin typeface="Courier New" pitchFamily="49" charset="0"/>
                  <a:cs typeface="Courier New" panose="02070309020205020404" pitchFamily="49" charset="0"/>
                </a:rPr>
                <a:t>if</a:t>
              </a: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 (count &gt; 0) {</a:t>
              </a: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      item = buffer[out];</a:t>
              </a: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      out = (out+1) % K;</a:t>
              </a: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r>
                <a:rPr lang="en-US" altLang="en-US" b="1" i="1" dirty="0">
                  <a:latin typeface="Courier New" pitchFamily="49" charset="0"/>
                  <a:cs typeface="Courier New" panose="02070309020205020404" pitchFamily="49" charset="0"/>
                </a:rPr>
                <a:t>      </a:t>
              </a: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count--;</a:t>
              </a: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   }</a:t>
              </a: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endParaRPr lang="en-US" altLang="en-US" sz="2000" b="1" dirty="0">
                <a:solidFill>
                  <a:srgbClr val="9900CC"/>
                </a:solidFill>
                <a:latin typeface="Courier New" pitchFamily="49" charset="0"/>
                <a:cs typeface="Courier New" panose="02070309020205020404" pitchFamily="49" charset="0"/>
              </a:endParaRP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   </a:t>
              </a:r>
              <a:r>
                <a:rPr lang="en-US" altLang="en-US" b="1" i="1" dirty="0">
                  <a:latin typeface="Courier New" pitchFamily="49" charset="0"/>
                  <a:cs typeface="Courier New" panose="02070309020205020404" pitchFamily="49" charset="0"/>
                </a:rPr>
                <a:t>Consume Item;</a:t>
              </a:r>
              <a:endParaRPr lang="en-US" altLang="en-US" b="1" dirty="0">
                <a:latin typeface="Courier New" pitchFamily="49" charset="0"/>
                <a:cs typeface="Courier New" panose="02070309020205020404" pitchFamily="49" charset="0"/>
              </a:endParaRPr>
            </a:p>
            <a:p>
              <a:pPr>
                <a:lnSpc>
                  <a:spcPct val="80000"/>
                </a:lnSpc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itchFamily="2" charset="2"/>
                <a:buNone/>
              </a:pPr>
              <a:r>
                <a:rPr lang="en-US" altLang="en-US" b="1" dirty="0">
                  <a:latin typeface="Courier New" pitchFamily="49" charset="0"/>
                  <a:cs typeface="Courier New" panose="02070309020205020404" pitchFamily="49" charset="0"/>
                </a:rPr>
                <a:t>}</a:t>
              </a:r>
            </a:p>
          </p:txBody>
        </p:sp>
        <p:sp>
          <p:nvSpPr>
            <p:cNvPr id="33" name="Text Box 9"/>
            <p:cNvSpPr txBox="1">
              <a:spLocks noChangeArrowheads="1"/>
            </p:cNvSpPr>
            <p:nvPr/>
          </p:nvSpPr>
          <p:spPr bwMode="auto">
            <a:xfrm>
              <a:off x="7239000" y="6143626"/>
              <a:ext cx="1371600" cy="37623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prstDash val="dashDot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 dirty="0"/>
                <a:t>Consumer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3171964" y="946423"/>
            <a:ext cx="4799403" cy="358602"/>
            <a:chOff x="2254250" y="3873500"/>
            <a:chExt cx="4799403" cy="358602"/>
          </a:xfrm>
        </p:grpSpPr>
        <p:sp>
          <p:nvSpPr>
            <p:cNvPr id="35" name="Rectangle 4"/>
            <p:cNvSpPr>
              <a:spLocks noChangeArrowheads="1"/>
            </p:cNvSpPr>
            <p:nvPr/>
          </p:nvSpPr>
          <p:spPr bwMode="auto">
            <a:xfrm>
              <a:off x="2254250" y="3879850"/>
              <a:ext cx="525462" cy="347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36" name="Rectangle 5"/>
            <p:cNvSpPr>
              <a:spLocks noChangeArrowheads="1"/>
            </p:cNvSpPr>
            <p:nvPr/>
          </p:nvSpPr>
          <p:spPr bwMode="auto">
            <a:xfrm>
              <a:off x="2779712" y="3879850"/>
              <a:ext cx="525463" cy="347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37" name="Rectangle 6"/>
            <p:cNvSpPr>
              <a:spLocks noChangeArrowheads="1"/>
            </p:cNvSpPr>
            <p:nvPr/>
          </p:nvSpPr>
          <p:spPr bwMode="auto">
            <a:xfrm>
              <a:off x="3305175" y="3879850"/>
              <a:ext cx="525462" cy="347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38" name="Rectangle 7"/>
            <p:cNvSpPr>
              <a:spLocks noChangeArrowheads="1"/>
            </p:cNvSpPr>
            <p:nvPr/>
          </p:nvSpPr>
          <p:spPr bwMode="auto">
            <a:xfrm>
              <a:off x="3830637" y="3879850"/>
              <a:ext cx="525463" cy="347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39" name="Rectangle 8"/>
            <p:cNvSpPr>
              <a:spLocks noChangeArrowheads="1"/>
            </p:cNvSpPr>
            <p:nvPr/>
          </p:nvSpPr>
          <p:spPr bwMode="auto">
            <a:xfrm>
              <a:off x="4356100" y="3879850"/>
              <a:ext cx="525462" cy="347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40" name="Rectangle 9"/>
            <p:cNvSpPr>
              <a:spLocks noChangeArrowheads="1"/>
            </p:cNvSpPr>
            <p:nvPr/>
          </p:nvSpPr>
          <p:spPr bwMode="auto">
            <a:xfrm>
              <a:off x="4881562" y="3879850"/>
              <a:ext cx="525463" cy="347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41" name="Text Box 20"/>
            <p:cNvSpPr txBox="1">
              <a:spLocks noChangeArrowheads="1"/>
            </p:cNvSpPr>
            <p:nvPr/>
          </p:nvSpPr>
          <p:spPr bwMode="auto">
            <a:xfrm>
              <a:off x="5407025" y="3873500"/>
              <a:ext cx="1646628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dirty="0"/>
                <a:t>Buffer (max </a:t>
              </a:r>
              <a:r>
                <a:rPr lang="en-US" altLang="en-US" b="1" dirty="0">
                  <a:solidFill>
                    <a:srgbClr val="C00000"/>
                  </a:solidFill>
                </a:rPr>
                <a:t>K</a:t>
              </a:r>
              <a:r>
                <a:rPr lang="en-US" altLang="en-US" dirty="0"/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8637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5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Producer Consumer: </a:t>
            </a:r>
            <a:r>
              <a:rPr lang="en-US" altLang="en-US" sz="3800" b="1" dirty="0">
                <a:solidFill>
                  <a:srgbClr val="C00000"/>
                </a:solidFill>
              </a:rPr>
              <a:t>Busy Waiting</a:t>
            </a:r>
          </a:p>
        </p:txBody>
      </p:sp>
      <p:sp>
        <p:nvSpPr>
          <p:cNvPr id="70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b="1" dirty="0" err="1">
                <a:solidFill>
                  <a:srgbClr val="0033CC"/>
                </a:solidFill>
                <a:latin typeface="Courier New" pitchFamily="49" charset="0"/>
              </a:rPr>
              <a:t>canConsume</a:t>
            </a:r>
            <a:r>
              <a:rPr lang="en-US" altLang="en-US" sz="2600" dirty="0"/>
              <a:t>: </a:t>
            </a:r>
          </a:p>
          <a:p>
            <a:pPr lvl="1"/>
            <a:r>
              <a:rPr lang="en-US" altLang="en-US" sz="2200" dirty="0"/>
              <a:t>Triggers consumer to </a:t>
            </a:r>
            <a:r>
              <a:rPr lang="en-US" altLang="en-US" sz="2200" i="1" dirty="0"/>
              <a:t>try </a:t>
            </a:r>
            <a:r>
              <a:rPr lang="en-US" altLang="en-US" sz="2200" dirty="0"/>
              <a:t>to get item</a:t>
            </a:r>
          </a:p>
          <a:p>
            <a:r>
              <a:rPr lang="en-US" altLang="en-US" sz="2400" b="1" dirty="0" err="1">
                <a:solidFill>
                  <a:schemeClr val="tx2"/>
                </a:solidFill>
                <a:latin typeface="Courier New" pitchFamily="49" charset="0"/>
              </a:rPr>
              <a:t>canProduce</a:t>
            </a:r>
            <a:r>
              <a:rPr lang="en-US" altLang="en-US" sz="2600" dirty="0"/>
              <a:t>: </a:t>
            </a:r>
          </a:p>
          <a:p>
            <a:pPr lvl="1"/>
            <a:r>
              <a:rPr lang="en-US" altLang="en-US" sz="2200" dirty="0"/>
              <a:t>Triggers producer to </a:t>
            </a:r>
            <a:r>
              <a:rPr lang="en-US" altLang="en-US" sz="2200" i="1" dirty="0"/>
              <a:t>try </a:t>
            </a:r>
            <a:r>
              <a:rPr lang="en-US" altLang="en-US" sz="2200" dirty="0"/>
              <a:t>to produce item</a:t>
            </a:r>
          </a:p>
          <a:p>
            <a:endParaRPr lang="en-US" altLang="en-US" sz="2400" b="1" dirty="0">
              <a:solidFill>
                <a:srgbClr val="9900CC"/>
              </a:solidFill>
              <a:latin typeface="Courier New" pitchFamily="49" charset="0"/>
            </a:endParaRPr>
          </a:p>
          <a:p>
            <a:r>
              <a:rPr lang="en-US" altLang="en-US" sz="2400" b="1" dirty="0">
                <a:solidFill>
                  <a:srgbClr val="9900CC"/>
                </a:solidFill>
                <a:latin typeface="Courier New" pitchFamily="49" charset="0"/>
              </a:rPr>
              <a:t>wait(</a:t>
            </a:r>
            <a:r>
              <a:rPr lang="en-US" altLang="en-US" sz="2400" b="1" dirty="0" err="1">
                <a:solidFill>
                  <a:srgbClr val="9900CC"/>
                </a:solidFill>
                <a:latin typeface="Courier New" pitchFamily="49" charset="0"/>
              </a:rPr>
              <a:t>mutex</a:t>
            </a:r>
            <a:r>
              <a:rPr lang="en-US" altLang="en-US" sz="2400" b="1" dirty="0">
                <a:solidFill>
                  <a:srgbClr val="9900CC"/>
                </a:solidFill>
                <a:latin typeface="Courier New" pitchFamily="49" charset="0"/>
              </a:rPr>
              <a:t>) + signal(</a:t>
            </a:r>
            <a:r>
              <a:rPr lang="en-US" altLang="en-US" sz="2400" b="1" dirty="0" err="1">
                <a:solidFill>
                  <a:srgbClr val="9900CC"/>
                </a:solidFill>
                <a:latin typeface="Courier New" pitchFamily="49" charset="0"/>
              </a:rPr>
              <a:t>mutex</a:t>
            </a:r>
            <a:r>
              <a:rPr lang="en-US" altLang="en-US" sz="2400" b="1" dirty="0">
                <a:solidFill>
                  <a:srgbClr val="9900CC"/>
                </a:solidFill>
                <a:latin typeface="Courier New" pitchFamily="49" charset="0"/>
              </a:rPr>
              <a:t>)</a:t>
            </a:r>
            <a:r>
              <a:rPr lang="en-US" altLang="en-US" sz="2600" dirty="0"/>
              <a:t> : Creates a CS</a:t>
            </a:r>
          </a:p>
          <a:p>
            <a:r>
              <a:rPr lang="en-US" altLang="en-US" sz="2400" b="1" dirty="0">
                <a:solidFill>
                  <a:srgbClr val="003300"/>
                </a:solidFill>
                <a:latin typeface="Courier New" pitchFamily="49" charset="0"/>
              </a:rPr>
              <a:t>in  = (in+1) % K</a:t>
            </a:r>
            <a:r>
              <a:rPr lang="en-US" altLang="en-US" sz="2600" dirty="0">
                <a:solidFill>
                  <a:srgbClr val="003300"/>
                </a:solidFill>
              </a:rPr>
              <a:t>  </a:t>
            </a:r>
            <a:r>
              <a:rPr lang="en-US" altLang="en-US" sz="2600" dirty="0"/>
              <a:t>: </a:t>
            </a:r>
          </a:p>
          <a:p>
            <a:pPr>
              <a:buNone/>
            </a:pPr>
            <a:r>
              <a:rPr lang="en-US" altLang="en-US" sz="2600" dirty="0"/>
              <a:t>    </a:t>
            </a:r>
            <a:r>
              <a:rPr lang="en-US" altLang="en-US" sz="2400" b="1" dirty="0">
                <a:solidFill>
                  <a:srgbClr val="003300"/>
                </a:solidFill>
                <a:latin typeface="Courier New" pitchFamily="49" charset="0"/>
              </a:rPr>
              <a:t>out = (out+1)% K</a:t>
            </a:r>
            <a:r>
              <a:rPr lang="en-US" altLang="en-US" sz="2600" dirty="0">
                <a:solidFill>
                  <a:srgbClr val="003300"/>
                </a:solidFill>
              </a:rPr>
              <a:t>  </a:t>
            </a:r>
            <a:r>
              <a:rPr lang="en-US" altLang="en-US" sz="2600" dirty="0"/>
              <a:t>: Wraps around, circular array</a:t>
            </a:r>
          </a:p>
          <a:p>
            <a:pPr>
              <a:buNone/>
            </a:pPr>
            <a:endParaRPr lang="en-US" altLang="en-US" sz="2600" i="1" dirty="0"/>
          </a:p>
          <a:p>
            <a:r>
              <a:rPr lang="en-US" altLang="en-US" sz="2600" dirty="0"/>
              <a:t>Evaluation:</a:t>
            </a:r>
          </a:p>
          <a:p>
            <a:pPr lvl="1"/>
            <a:r>
              <a:rPr lang="en-US" altLang="en-US" sz="2200" dirty="0"/>
              <a:t>The code </a:t>
            </a:r>
            <a:r>
              <a:rPr lang="en-US" altLang="en-US" sz="2200" b="1" dirty="0"/>
              <a:t>correctly solve </a:t>
            </a:r>
            <a:r>
              <a:rPr lang="en-US" altLang="en-US" sz="2200" dirty="0"/>
              <a:t>the problem</a:t>
            </a:r>
          </a:p>
          <a:p>
            <a:pPr lvl="1"/>
            <a:r>
              <a:rPr lang="en-US" altLang="en-US" sz="2200" dirty="0"/>
              <a:t>However, </a:t>
            </a:r>
            <a:r>
              <a:rPr lang="en-US" altLang="en-US" sz="2200" b="1" dirty="0"/>
              <a:t>busy-waiting </a:t>
            </a:r>
            <a:r>
              <a:rPr lang="en-US" altLang="en-US" sz="2200" dirty="0"/>
              <a:t>is used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37</a:t>
            </a:fld>
            <a:endParaRPr lang="en-US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Producer Consumer: </a:t>
            </a:r>
            <a:r>
              <a:rPr lang="en-US" altLang="en-US" sz="3800" b="1" dirty="0">
                <a:solidFill>
                  <a:srgbClr val="C00000"/>
                </a:solidFill>
              </a:rPr>
              <a:t>Blocking Version</a:t>
            </a:r>
          </a:p>
        </p:txBody>
      </p:sp>
      <p:sp>
        <p:nvSpPr>
          <p:cNvPr id="708612" name="Text Box 4"/>
          <p:cNvSpPr txBox="1">
            <a:spLocks noChangeArrowheads="1"/>
          </p:cNvSpPr>
          <p:nvPr/>
        </p:nvSpPr>
        <p:spPr bwMode="auto">
          <a:xfrm>
            <a:off x="381000" y="2731180"/>
            <a:ext cx="4038600" cy="3727450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while (TRUE) 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	</a:t>
            </a:r>
            <a:r>
              <a:rPr lang="en-US" altLang="en-US" b="1" i="1" dirty="0">
                <a:latin typeface="Courier New" pitchFamily="49" charset="0"/>
              </a:rPr>
              <a:t>Produce Item;	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i="1" dirty="0">
                <a:latin typeface="Courier New" pitchFamily="49" charset="0"/>
              </a:rPr>
              <a:t>	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i="1" dirty="0">
                <a:latin typeface="Courier New" pitchFamily="49" charset="0"/>
              </a:rPr>
              <a:t>	</a:t>
            </a:r>
            <a:r>
              <a:rPr lang="en-US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wait</a:t>
            </a:r>
            <a:r>
              <a:rPr lang="en-US" altLang="en-US" sz="2000" b="1" dirty="0">
                <a:latin typeface="Courier New" pitchFamily="49" charset="0"/>
              </a:rPr>
              <a:t>(</a:t>
            </a:r>
            <a:r>
              <a:rPr lang="en-US" altLang="en-US" sz="2000" b="1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altLang="en-US" sz="2000" b="1" dirty="0" err="1">
                <a:solidFill>
                  <a:srgbClr val="660066"/>
                </a:solidFill>
                <a:latin typeface="Courier New" pitchFamily="49" charset="0"/>
              </a:rPr>
              <a:t>notFull</a:t>
            </a:r>
            <a:r>
              <a:rPr lang="en-US" altLang="en-US" sz="2000" b="1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altLang="en-US" sz="2000" b="1" dirty="0"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	</a:t>
            </a:r>
            <a:r>
              <a:rPr lang="en-US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wait</a:t>
            </a:r>
            <a:r>
              <a:rPr lang="en-US" altLang="en-US" sz="2000" b="1" dirty="0">
                <a:latin typeface="Courier New" pitchFamily="49" charset="0"/>
              </a:rPr>
              <a:t>(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</a:rPr>
              <a:t> </a:t>
            </a:r>
            <a:r>
              <a:rPr lang="en-US" altLang="en-US" sz="2000" b="1" dirty="0" err="1">
                <a:solidFill>
                  <a:srgbClr val="660066"/>
                </a:solidFill>
                <a:latin typeface="Courier New" pitchFamily="49" charset="0"/>
              </a:rPr>
              <a:t>mutex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</a:rPr>
              <a:t> </a:t>
            </a:r>
            <a:r>
              <a:rPr lang="en-US" altLang="en-US" sz="2000" b="1" dirty="0">
                <a:latin typeface="Courier New" pitchFamily="49" charset="0"/>
              </a:rPr>
              <a:t>);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</a:rPr>
              <a:t>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	buffer[in] = item;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	in = (in+1) % K;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	count++;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	</a:t>
            </a:r>
            <a:r>
              <a:rPr lang="en-US" altLang="en-US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signal</a:t>
            </a:r>
            <a:r>
              <a:rPr lang="en-US" altLang="en-US" sz="2000" b="1" dirty="0">
                <a:latin typeface="Courier New" pitchFamily="49" charset="0"/>
              </a:rPr>
              <a:t>( </a:t>
            </a:r>
            <a:r>
              <a:rPr lang="en-US" altLang="en-US" sz="2000" b="1" dirty="0" err="1">
                <a:solidFill>
                  <a:srgbClr val="660066"/>
                </a:solidFill>
                <a:latin typeface="Courier New" pitchFamily="49" charset="0"/>
              </a:rPr>
              <a:t>mutex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</a:rPr>
              <a:t> </a:t>
            </a:r>
            <a:r>
              <a:rPr lang="en-US" altLang="en-US" sz="2000" b="1" dirty="0"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</a:rPr>
              <a:t>	</a:t>
            </a:r>
            <a:r>
              <a:rPr lang="en-US" altLang="en-US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signal</a:t>
            </a:r>
            <a:r>
              <a:rPr lang="en-US" altLang="en-US" sz="2000" b="1" dirty="0">
                <a:latin typeface="Courier New" pitchFamily="49" charset="0"/>
              </a:rPr>
              <a:t>(</a:t>
            </a:r>
            <a:r>
              <a:rPr lang="en-US" altLang="en-US" sz="2000" b="1" dirty="0">
                <a:solidFill>
                  <a:srgbClr val="0033CC"/>
                </a:solidFill>
                <a:latin typeface="Courier New" pitchFamily="49" charset="0"/>
              </a:rPr>
              <a:t> </a:t>
            </a:r>
            <a:r>
              <a:rPr lang="en-US" altLang="en-US" sz="2000" b="1" dirty="0" err="1">
                <a:solidFill>
                  <a:srgbClr val="660066"/>
                </a:solidFill>
                <a:latin typeface="Courier New" pitchFamily="49" charset="0"/>
              </a:rPr>
              <a:t>notEmpty</a:t>
            </a:r>
            <a:r>
              <a:rPr lang="en-US" altLang="en-US" sz="2000" b="1" dirty="0">
                <a:solidFill>
                  <a:srgbClr val="0033CC"/>
                </a:solidFill>
                <a:latin typeface="Courier New" pitchFamily="49" charset="0"/>
              </a:rPr>
              <a:t> </a:t>
            </a:r>
            <a:r>
              <a:rPr lang="en-US" altLang="en-US" sz="2000" b="1" dirty="0"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dirty="0">
              <a:latin typeface="Courier New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dirty="0">
              <a:latin typeface="Courier New" pitchFamily="49" charset="0"/>
            </a:endParaRPr>
          </a:p>
        </p:txBody>
      </p:sp>
      <p:sp>
        <p:nvSpPr>
          <p:cNvPr id="708613" name="Text Box 5"/>
          <p:cNvSpPr txBox="1">
            <a:spLocks noChangeArrowheads="1"/>
          </p:cNvSpPr>
          <p:nvPr/>
        </p:nvSpPr>
        <p:spPr bwMode="auto">
          <a:xfrm>
            <a:off x="3200400" y="6007780"/>
            <a:ext cx="1143000" cy="3762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dirty="0"/>
              <a:t>Producer</a:t>
            </a:r>
            <a:endParaRPr lang="en-US" altLang="en-US" b="1" dirty="0"/>
          </a:p>
        </p:txBody>
      </p:sp>
      <p:sp>
        <p:nvSpPr>
          <p:cNvPr id="708614" name="Text Box 6"/>
          <p:cNvSpPr txBox="1">
            <a:spLocks noChangeArrowheads="1"/>
          </p:cNvSpPr>
          <p:nvPr/>
        </p:nvSpPr>
        <p:spPr bwMode="auto">
          <a:xfrm>
            <a:off x="4800600" y="2731180"/>
            <a:ext cx="4038600" cy="37576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while (TRUE) 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i="1" dirty="0">
                <a:latin typeface="Courier New" pitchFamily="49" charset="0"/>
              </a:rPr>
              <a:t>	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i="1" dirty="0">
                <a:latin typeface="Courier New" pitchFamily="49" charset="0"/>
              </a:rPr>
              <a:t>	</a:t>
            </a:r>
            <a:r>
              <a:rPr lang="en-US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wait</a:t>
            </a:r>
            <a:r>
              <a:rPr lang="en-US" altLang="en-US" sz="2000" b="1" dirty="0">
                <a:latin typeface="Courier New" pitchFamily="49" charset="0"/>
              </a:rPr>
              <a:t>(</a:t>
            </a:r>
            <a:r>
              <a:rPr lang="en-US" altLang="en-US" sz="2000" b="1" dirty="0">
                <a:solidFill>
                  <a:srgbClr val="0033CC"/>
                </a:solidFill>
                <a:latin typeface="Courier New" pitchFamily="49" charset="0"/>
              </a:rPr>
              <a:t> </a:t>
            </a:r>
            <a:r>
              <a:rPr lang="en-US" altLang="en-US" sz="2000" b="1" dirty="0" err="1">
                <a:solidFill>
                  <a:srgbClr val="660066"/>
                </a:solidFill>
                <a:latin typeface="Courier New" pitchFamily="49" charset="0"/>
              </a:rPr>
              <a:t>notEmpty</a:t>
            </a:r>
            <a:r>
              <a:rPr lang="en-US" altLang="en-US" sz="2000" b="1" dirty="0">
                <a:solidFill>
                  <a:srgbClr val="0033CC"/>
                </a:solidFill>
                <a:latin typeface="Courier New" pitchFamily="49" charset="0"/>
              </a:rPr>
              <a:t> </a:t>
            </a:r>
            <a:r>
              <a:rPr lang="en-US" altLang="en-US" sz="2000" b="1" dirty="0"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	</a:t>
            </a:r>
            <a:r>
              <a:rPr lang="en-US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wait</a:t>
            </a:r>
            <a:r>
              <a:rPr lang="en-US" altLang="en-US" sz="2000" b="1" dirty="0">
                <a:latin typeface="Courier New" pitchFamily="49" charset="0"/>
              </a:rPr>
              <a:t>( </a:t>
            </a:r>
            <a:r>
              <a:rPr lang="en-US" altLang="en-US" sz="2000" b="1" dirty="0" err="1">
                <a:solidFill>
                  <a:srgbClr val="660066"/>
                </a:solidFill>
                <a:latin typeface="Courier New" pitchFamily="49" charset="0"/>
              </a:rPr>
              <a:t>mutex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</a:rPr>
              <a:t> </a:t>
            </a:r>
            <a:r>
              <a:rPr lang="en-US" altLang="en-US" sz="2000" b="1" dirty="0">
                <a:latin typeface="Courier New" pitchFamily="49" charset="0"/>
              </a:rPr>
              <a:t>);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</a:rPr>
              <a:t>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	item = buffer[out];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	out = (out+1) % K;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	count--;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</a:rPr>
              <a:t>	</a:t>
            </a:r>
            <a:r>
              <a:rPr lang="en-US" altLang="en-US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signal</a:t>
            </a:r>
            <a:r>
              <a:rPr lang="en-US" altLang="en-US" sz="2000" b="1" dirty="0">
                <a:latin typeface="Courier New" pitchFamily="49" charset="0"/>
              </a:rPr>
              <a:t>( </a:t>
            </a:r>
            <a:r>
              <a:rPr lang="en-US" altLang="en-US" sz="2000" b="1" dirty="0" err="1">
                <a:solidFill>
                  <a:srgbClr val="660066"/>
                </a:solidFill>
                <a:latin typeface="Courier New" pitchFamily="49" charset="0"/>
              </a:rPr>
              <a:t>mutex</a:t>
            </a:r>
            <a:r>
              <a:rPr lang="en-US" altLang="en-US" sz="2000" b="1" dirty="0">
                <a:solidFill>
                  <a:srgbClr val="9900CC"/>
                </a:solidFill>
                <a:latin typeface="Courier New" pitchFamily="49" charset="0"/>
              </a:rPr>
              <a:t> </a:t>
            </a:r>
            <a:r>
              <a:rPr lang="en-US" altLang="en-US" sz="2000" b="1" dirty="0"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2000" b="1" dirty="0">
                <a:solidFill>
                  <a:schemeClr val="tx2"/>
                </a:solidFill>
                <a:latin typeface="Courier New" pitchFamily="49" charset="0"/>
              </a:rPr>
              <a:t>	</a:t>
            </a:r>
            <a:r>
              <a:rPr lang="en-US" altLang="en-US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signal</a:t>
            </a:r>
            <a:r>
              <a:rPr lang="en-US" altLang="en-US" sz="2000" b="1" dirty="0">
                <a:latin typeface="Courier New" pitchFamily="49" charset="0"/>
              </a:rPr>
              <a:t>(</a:t>
            </a:r>
            <a:r>
              <a:rPr lang="en-US" altLang="en-US" sz="2000" b="1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altLang="en-US" sz="2000" b="1" dirty="0" err="1">
                <a:solidFill>
                  <a:srgbClr val="660066"/>
                </a:solidFill>
                <a:latin typeface="Courier New" pitchFamily="49" charset="0"/>
              </a:rPr>
              <a:t>notFull</a:t>
            </a:r>
            <a:r>
              <a:rPr lang="en-US" altLang="en-US" sz="2000" b="1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altLang="en-US" sz="2000" b="1" dirty="0"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sz="2000" b="1" dirty="0">
              <a:solidFill>
                <a:srgbClr val="9900CC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	</a:t>
            </a:r>
            <a:r>
              <a:rPr lang="en-US" altLang="en-US" b="1" i="1" dirty="0">
                <a:latin typeface="Courier New" pitchFamily="49" charset="0"/>
              </a:rPr>
              <a:t>Consume Item;</a:t>
            </a:r>
            <a:endParaRPr lang="en-US" altLang="en-US" b="1" dirty="0">
              <a:latin typeface="Courier New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dirty="0">
              <a:latin typeface="Courier New" pitchFamily="49" charset="0"/>
            </a:endParaRPr>
          </a:p>
        </p:txBody>
      </p:sp>
      <p:sp>
        <p:nvSpPr>
          <p:cNvPr id="708615" name="Text Box 7"/>
          <p:cNvSpPr txBox="1">
            <a:spLocks noChangeArrowheads="1"/>
          </p:cNvSpPr>
          <p:nvPr/>
        </p:nvSpPr>
        <p:spPr bwMode="auto">
          <a:xfrm>
            <a:off x="7391400" y="6007780"/>
            <a:ext cx="1371600" cy="369332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dirty="0"/>
              <a:t>Consumer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457200" y="1040379"/>
            <a:ext cx="2287089" cy="859765"/>
            <a:chOff x="4191000" y="3425284"/>
            <a:chExt cx="3579222" cy="1379217"/>
          </a:xfrm>
        </p:grpSpPr>
        <p:sp>
          <p:nvSpPr>
            <p:cNvPr id="17" name="Rounded Rectangle 16"/>
            <p:cNvSpPr/>
            <p:nvPr/>
          </p:nvSpPr>
          <p:spPr>
            <a:xfrm>
              <a:off x="4191000" y="3585301"/>
              <a:ext cx="3505200" cy="1219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6468819" y="3425284"/>
              <a:ext cx="1301403" cy="460916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 err="1"/>
                <a:t>mutex</a:t>
              </a:r>
              <a:endParaRPr lang="en-US" altLang="en-US" b="1" dirty="0"/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>
              <a:off x="4343400" y="3886200"/>
              <a:ext cx="838200" cy="76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0" name="Rectangle 12"/>
            <p:cNvSpPr>
              <a:spLocks noChangeArrowheads="1"/>
            </p:cNvSpPr>
            <p:nvPr/>
          </p:nvSpPr>
          <p:spPr bwMode="auto">
            <a:xfrm>
              <a:off x="5181600" y="4572000"/>
              <a:ext cx="2133600" cy="76200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3276055" y="1051265"/>
            <a:ext cx="2287089" cy="859765"/>
            <a:chOff x="4191000" y="3425284"/>
            <a:chExt cx="3579222" cy="1379217"/>
          </a:xfrm>
        </p:grpSpPr>
        <p:sp>
          <p:nvSpPr>
            <p:cNvPr id="22" name="Rounded Rectangle 21"/>
            <p:cNvSpPr/>
            <p:nvPr/>
          </p:nvSpPr>
          <p:spPr>
            <a:xfrm>
              <a:off x="4191000" y="3585301"/>
              <a:ext cx="3505200" cy="1219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10"/>
            <p:cNvSpPr>
              <a:spLocks noChangeArrowheads="1"/>
            </p:cNvSpPr>
            <p:nvPr/>
          </p:nvSpPr>
          <p:spPr bwMode="auto">
            <a:xfrm>
              <a:off x="6730127" y="3425284"/>
              <a:ext cx="1040095" cy="460916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!Full</a:t>
              </a:r>
            </a:p>
          </p:txBody>
        </p:sp>
        <p:sp>
          <p:nvSpPr>
            <p:cNvPr id="24" name="Rectangle 11"/>
            <p:cNvSpPr>
              <a:spLocks noChangeArrowheads="1"/>
            </p:cNvSpPr>
            <p:nvPr/>
          </p:nvSpPr>
          <p:spPr bwMode="auto">
            <a:xfrm>
              <a:off x="4343400" y="3886200"/>
              <a:ext cx="838200" cy="76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5" name="Rectangle 12"/>
            <p:cNvSpPr>
              <a:spLocks noChangeArrowheads="1"/>
            </p:cNvSpPr>
            <p:nvPr/>
          </p:nvSpPr>
          <p:spPr bwMode="auto">
            <a:xfrm>
              <a:off x="5181600" y="4572000"/>
              <a:ext cx="2133600" cy="76200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6067118" y="1039685"/>
            <a:ext cx="2287089" cy="859765"/>
            <a:chOff x="4191000" y="3425284"/>
            <a:chExt cx="3579222" cy="1379217"/>
          </a:xfrm>
        </p:grpSpPr>
        <p:sp>
          <p:nvSpPr>
            <p:cNvPr id="27" name="Rounded Rectangle 26"/>
            <p:cNvSpPr/>
            <p:nvPr/>
          </p:nvSpPr>
          <p:spPr>
            <a:xfrm>
              <a:off x="4191000" y="3585301"/>
              <a:ext cx="3505200" cy="1219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10"/>
            <p:cNvSpPr>
              <a:spLocks noChangeArrowheads="1"/>
            </p:cNvSpPr>
            <p:nvPr/>
          </p:nvSpPr>
          <p:spPr bwMode="auto">
            <a:xfrm>
              <a:off x="6382710" y="3425284"/>
              <a:ext cx="1387512" cy="460916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!Empty</a:t>
              </a:r>
            </a:p>
          </p:txBody>
        </p:sp>
        <p:sp>
          <p:nvSpPr>
            <p:cNvPr id="29" name="Rectangle 11"/>
            <p:cNvSpPr>
              <a:spLocks noChangeArrowheads="1"/>
            </p:cNvSpPr>
            <p:nvPr/>
          </p:nvSpPr>
          <p:spPr bwMode="auto">
            <a:xfrm>
              <a:off x="4343400" y="3886200"/>
              <a:ext cx="838200" cy="76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30" name="Rectangle 12"/>
            <p:cNvSpPr>
              <a:spLocks noChangeArrowheads="1"/>
            </p:cNvSpPr>
            <p:nvPr/>
          </p:nvSpPr>
          <p:spPr bwMode="auto">
            <a:xfrm>
              <a:off x="5181600" y="4572000"/>
              <a:ext cx="2133600" cy="76200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92921-E8D1-4F63-8B4B-BBDB7C330874}" type="slidenum">
              <a:rPr lang="en-US" altLang="en-US" smtClean="0"/>
              <a:pPr/>
              <a:t>38</a:t>
            </a:fld>
            <a:endParaRPr lang="en-US" altLang="en-US"/>
          </a:p>
        </p:txBody>
      </p:sp>
      <p:grpSp>
        <p:nvGrpSpPr>
          <p:cNvPr id="31" name="Group 30"/>
          <p:cNvGrpSpPr/>
          <p:nvPr/>
        </p:nvGrpSpPr>
        <p:grpSpPr>
          <a:xfrm>
            <a:off x="2501529" y="2122131"/>
            <a:ext cx="4655045" cy="365481"/>
            <a:chOff x="2254250" y="3879850"/>
            <a:chExt cx="4655045" cy="365481"/>
          </a:xfrm>
        </p:grpSpPr>
        <p:sp>
          <p:nvSpPr>
            <p:cNvPr id="32" name="Rectangle 4"/>
            <p:cNvSpPr>
              <a:spLocks noChangeArrowheads="1"/>
            </p:cNvSpPr>
            <p:nvPr/>
          </p:nvSpPr>
          <p:spPr bwMode="auto">
            <a:xfrm>
              <a:off x="2254250" y="3879850"/>
              <a:ext cx="525462" cy="347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33" name="Rectangle 5"/>
            <p:cNvSpPr>
              <a:spLocks noChangeArrowheads="1"/>
            </p:cNvSpPr>
            <p:nvPr/>
          </p:nvSpPr>
          <p:spPr bwMode="auto">
            <a:xfrm>
              <a:off x="2779712" y="3879850"/>
              <a:ext cx="525463" cy="347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34" name="Rectangle 6"/>
            <p:cNvSpPr>
              <a:spLocks noChangeArrowheads="1"/>
            </p:cNvSpPr>
            <p:nvPr/>
          </p:nvSpPr>
          <p:spPr bwMode="auto">
            <a:xfrm>
              <a:off x="3305175" y="3879850"/>
              <a:ext cx="525462" cy="347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35" name="Rectangle 7"/>
            <p:cNvSpPr>
              <a:spLocks noChangeArrowheads="1"/>
            </p:cNvSpPr>
            <p:nvPr/>
          </p:nvSpPr>
          <p:spPr bwMode="auto">
            <a:xfrm>
              <a:off x="3830637" y="3879850"/>
              <a:ext cx="525463" cy="34766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38" name="Text Box 20"/>
            <p:cNvSpPr txBox="1">
              <a:spLocks noChangeArrowheads="1"/>
            </p:cNvSpPr>
            <p:nvPr/>
          </p:nvSpPr>
          <p:spPr bwMode="auto">
            <a:xfrm>
              <a:off x="4397046" y="3886729"/>
              <a:ext cx="2512249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dirty="0"/>
                <a:t>Example Buffer (</a:t>
              </a:r>
              <a:r>
                <a:rPr lang="en-US" altLang="en-US" b="1" dirty="0">
                  <a:solidFill>
                    <a:srgbClr val="C00000"/>
                  </a:solidFill>
                </a:rPr>
                <a:t>K = 4</a:t>
              </a:r>
              <a:r>
                <a:rPr lang="en-US" altLang="en-US" dirty="0"/>
                <a:t>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Producer Consumer: </a:t>
            </a:r>
            <a:r>
              <a:rPr lang="en-US" altLang="en-US" sz="3800" b="1" dirty="0">
                <a:solidFill>
                  <a:srgbClr val="C00000"/>
                </a:solidFill>
              </a:rPr>
              <a:t>Blocking Version</a:t>
            </a:r>
          </a:p>
        </p:txBody>
      </p:sp>
      <p:sp>
        <p:nvSpPr>
          <p:cNvPr id="7096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b="1">
                <a:solidFill>
                  <a:schemeClr val="tx2"/>
                </a:solidFill>
                <a:latin typeface="Courier New" pitchFamily="49" charset="0"/>
              </a:rPr>
              <a:t>wait( notFull )</a:t>
            </a:r>
            <a:r>
              <a:rPr lang="en-US" altLang="en-US" sz="2600"/>
              <a:t> : Forces producers to go to sleep</a:t>
            </a:r>
          </a:p>
          <a:p>
            <a:r>
              <a:rPr lang="en-US" altLang="en-US" sz="2400" b="1">
                <a:solidFill>
                  <a:srgbClr val="0033CC"/>
                </a:solidFill>
                <a:latin typeface="Courier New" pitchFamily="49" charset="0"/>
              </a:rPr>
              <a:t>wait( notEmpty )</a:t>
            </a:r>
            <a:r>
              <a:rPr lang="en-US" altLang="en-US" sz="2600"/>
              <a:t> : Forces consumers to go to sleep</a:t>
            </a:r>
          </a:p>
          <a:p>
            <a:r>
              <a:rPr lang="en-US" altLang="en-US" sz="2400" b="1">
                <a:solidFill>
                  <a:schemeClr val="tx2"/>
                </a:solidFill>
                <a:latin typeface="Courier New" pitchFamily="49" charset="0"/>
              </a:rPr>
              <a:t>signal( notFull )</a:t>
            </a:r>
            <a:r>
              <a:rPr lang="en-US" altLang="en-US" sz="2600"/>
              <a:t> : 1 consumer wakes up 1 producer</a:t>
            </a:r>
          </a:p>
          <a:p>
            <a:r>
              <a:rPr lang="en-US" altLang="en-US" sz="2400" b="1">
                <a:solidFill>
                  <a:srgbClr val="0033CC"/>
                </a:solidFill>
                <a:latin typeface="Courier New" pitchFamily="49" charset="0"/>
              </a:rPr>
              <a:t>signal( notEmpty )</a:t>
            </a:r>
            <a:r>
              <a:rPr lang="en-US" altLang="en-US" sz="2600"/>
              <a:t> : 1 producer wakes up 1 consumer</a:t>
            </a:r>
          </a:p>
          <a:p>
            <a:pPr>
              <a:buFont typeface="Wingdings" pitchFamily="2" charset="2"/>
              <a:buNone/>
            </a:pPr>
            <a:endParaRPr lang="en-US" altLang="en-US" sz="2600"/>
          </a:p>
          <a:p>
            <a:r>
              <a:rPr lang="en-US" altLang="en-US" sz="2600"/>
              <a:t>Evaluation:</a:t>
            </a:r>
          </a:p>
          <a:p>
            <a:pPr lvl="1"/>
            <a:r>
              <a:rPr lang="en-US" altLang="en-US" sz="2200"/>
              <a:t>This code correctly solve the problem</a:t>
            </a:r>
          </a:p>
          <a:p>
            <a:pPr lvl="1"/>
            <a:r>
              <a:rPr lang="en-US" altLang="en-US" sz="2200"/>
              <a:t>No busy-waiting, “unwanted” producer/consumer will go to sleep on respective semaphores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39</a:t>
            </a:fld>
            <a:endParaRPr lang="en-US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Readers Writers</a:t>
            </a:r>
            <a:r>
              <a:rPr lang="en-US" dirty="0"/>
              <a:t>: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2712720"/>
          </a:xfrm>
        </p:spPr>
        <p:txBody>
          <a:bodyPr/>
          <a:lstStyle/>
          <a:p>
            <a:r>
              <a:rPr lang="en-US" dirty="0"/>
              <a:t>Processes share a data structure </a:t>
            </a:r>
            <a:r>
              <a:rPr lang="en-US" b="1" dirty="0"/>
              <a:t>D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Reader: </a:t>
            </a:r>
            <a:r>
              <a:rPr lang="en-US" b="1" dirty="0">
                <a:solidFill>
                  <a:srgbClr val="003300"/>
                </a:solidFill>
              </a:rPr>
              <a:t>Retrieves</a:t>
            </a:r>
            <a:r>
              <a:rPr lang="en-US" b="1" dirty="0"/>
              <a:t> </a:t>
            </a:r>
            <a:r>
              <a:rPr lang="en-US" dirty="0"/>
              <a:t>information from </a:t>
            </a:r>
            <a:r>
              <a:rPr lang="en-US" b="1" dirty="0"/>
              <a:t>D</a:t>
            </a:r>
          </a:p>
          <a:p>
            <a:pPr lvl="1"/>
            <a:r>
              <a:rPr lang="en-US" dirty="0"/>
              <a:t>Writer: </a:t>
            </a:r>
            <a:r>
              <a:rPr lang="en-US" b="1" dirty="0">
                <a:solidFill>
                  <a:srgbClr val="C00000"/>
                </a:solidFill>
              </a:rPr>
              <a:t>Modifies</a:t>
            </a:r>
            <a:r>
              <a:rPr lang="en-US" dirty="0"/>
              <a:t> information in </a:t>
            </a:r>
            <a:r>
              <a:rPr lang="en-US" b="1" dirty="0"/>
              <a:t>D</a:t>
            </a:r>
          </a:p>
          <a:p>
            <a:r>
              <a:rPr lang="en-US" dirty="0"/>
              <a:t>Writer must have exclusive access to</a:t>
            </a:r>
            <a:r>
              <a:rPr lang="en-US" b="1" dirty="0"/>
              <a:t> D</a:t>
            </a:r>
          </a:p>
          <a:p>
            <a:r>
              <a:rPr lang="en-US" dirty="0"/>
              <a:t>Reader can access with other readers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2906495" y="3846687"/>
            <a:ext cx="3215326" cy="728488"/>
            <a:chOff x="2906495" y="3846687"/>
            <a:chExt cx="3215326" cy="728488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2906495" y="4227513"/>
              <a:ext cx="525462" cy="34766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3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3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3431957" y="4227513"/>
              <a:ext cx="525463" cy="34766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3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3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3957420" y="4227513"/>
              <a:ext cx="525462" cy="34766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3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3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4482882" y="4227513"/>
              <a:ext cx="525463" cy="34766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3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3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5008345" y="4227513"/>
              <a:ext cx="525462" cy="34766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3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3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5533807" y="4227513"/>
              <a:ext cx="525463" cy="347662"/>
            </a:xfrm>
            <a:prstGeom prst="rect">
              <a:avLst/>
            </a:prstGeom>
            <a:gradFill flip="none" rotWithShape="1">
              <a:gsLst>
                <a:gs pos="0">
                  <a:schemeClr val="accent3">
                    <a:lumMod val="20000"/>
                    <a:lumOff val="80000"/>
                    <a:shade val="30000"/>
                    <a:satMod val="115000"/>
                  </a:schemeClr>
                </a:gs>
                <a:gs pos="50000">
                  <a:schemeClr val="accent3">
                    <a:lumMod val="20000"/>
                    <a:lumOff val="80000"/>
                    <a:shade val="67500"/>
                    <a:satMod val="115000"/>
                  </a:schemeClr>
                </a:gs>
                <a:gs pos="100000">
                  <a:schemeClr val="accent3">
                    <a:lumMod val="20000"/>
                    <a:lumOff val="80000"/>
                    <a:shade val="100000"/>
                    <a:satMod val="115000"/>
                  </a:schemeClr>
                </a:gs>
              </a:gsLst>
              <a:lin ang="13500000" scaled="1"/>
              <a:tileRect/>
            </a:gra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SG"/>
            </a:p>
          </p:txBody>
        </p:sp>
        <p:sp>
          <p:nvSpPr>
            <p:cNvPr id="12" name="Text Box 20"/>
            <p:cNvSpPr txBox="1">
              <a:spLocks noChangeArrowheads="1"/>
            </p:cNvSpPr>
            <p:nvPr/>
          </p:nvSpPr>
          <p:spPr bwMode="auto">
            <a:xfrm>
              <a:off x="2906495" y="3846687"/>
              <a:ext cx="3215326" cy="3586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dirty="0"/>
                <a:t>Some kind of data structure </a:t>
              </a:r>
              <a:r>
                <a:rPr lang="en-US" altLang="en-US" b="1" dirty="0"/>
                <a:t>D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4449023" y="4875113"/>
            <a:ext cx="559321" cy="1327249"/>
            <a:chOff x="4449023" y="4875113"/>
            <a:chExt cx="559321" cy="1327249"/>
          </a:xfrm>
        </p:grpSpPr>
        <p:sp>
          <p:nvSpPr>
            <p:cNvPr id="13" name="Oval 14"/>
            <p:cNvSpPr>
              <a:spLocks noChangeArrowheads="1"/>
            </p:cNvSpPr>
            <p:nvPr/>
          </p:nvSpPr>
          <p:spPr bwMode="auto">
            <a:xfrm>
              <a:off x="4449023" y="5643562"/>
              <a:ext cx="525463" cy="558800"/>
            </a:xfrm>
            <a:prstGeom prst="ellipse">
              <a:avLst/>
            </a:prstGeom>
            <a:solidFill>
              <a:srgbClr val="99FF33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 anchor="ctr"/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US" altLang="en-US" b="1" dirty="0"/>
                <a:t>R1</a:t>
              </a:r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 flipH="1">
              <a:off x="4717831" y="4875113"/>
              <a:ext cx="290513" cy="724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206429" y="4786411"/>
            <a:ext cx="3242111" cy="1602483"/>
            <a:chOff x="5206429" y="4786411"/>
            <a:chExt cx="3242111" cy="1602483"/>
          </a:xfrm>
        </p:grpSpPr>
        <p:sp>
          <p:nvSpPr>
            <p:cNvPr id="14" name="Oval 15"/>
            <p:cNvSpPr>
              <a:spLocks noChangeArrowheads="1"/>
            </p:cNvSpPr>
            <p:nvPr/>
          </p:nvSpPr>
          <p:spPr bwMode="auto">
            <a:xfrm>
              <a:off x="5714350" y="5086349"/>
              <a:ext cx="525462" cy="557213"/>
            </a:xfrm>
            <a:prstGeom prst="ellipse">
              <a:avLst/>
            </a:prstGeom>
            <a:solidFill>
              <a:srgbClr val="99FF33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 anchor="ctr"/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US" altLang="en-US" b="1" dirty="0"/>
                <a:t>R2</a:t>
              </a:r>
            </a:p>
          </p:txBody>
        </p:sp>
        <p:sp>
          <p:nvSpPr>
            <p:cNvPr id="15" name="Oval 16"/>
            <p:cNvSpPr>
              <a:spLocks noChangeArrowheads="1"/>
            </p:cNvSpPr>
            <p:nvPr/>
          </p:nvSpPr>
          <p:spPr bwMode="auto">
            <a:xfrm>
              <a:off x="5582137" y="5831682"/>
              <a:ext cx="525463" cy="557212"/>
            </a:xfrm>
            <a:prstGeom prst="ellipse">
              <a:avLst/>
            </a:prstGeom>
            <a:solidFill>
              <a:srgbClr val="99FF33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 anchor="ctr"/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US" altLang="en-US" b="1" dirty="0"/>
                <a:t>R3</a:t>
              </a:r>
            </a:p>
          </p:txBody>
        </p:sp>
        <p:sp>
          <p:nvSpPr>
            <p:cNvPr id="16" name="Text Box 19"/>
            <p:cNvSpPr txBox="1">
              <a:spLocks noChangeArrowheads="1"/>
            </p:cNvSpPr>
            <p:nvPr/>
          </p:nvSpPr>
          <p:spPr bwMode="auto">
            <a:xfrm>
              <a:off x="6246312" y="5525293"/>
              <a:ext cx="2202228" cy="635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dirty="0"/>
                <a:t>Readers </a:t>
              </a:r>
            </a:p>
            <a:p>
              <a:r>
                <a:rPr lang="en-US" altLang="en-US" dirty="0"/>
                <a:t>(can read </a:t>
              </a:r>
              <a:r>
                <a:rPr lang="en-US" altLang="en-US" b="1" dirty="0"/>
                <a:t>together</a:t>
              </a:r>
              <a:r>
                <a:rPr lang="en-US" altLang="en-US" dirty="0"/>
                <a:t>)</a:t>
              </a:r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5378153" y="4786411"/>
              <a:ext cx="400843" cy="3685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>
              <a:off x="5206429" y="4875113"/>
              <a:ext cx="403667" cy="99265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2438400" y="4786410"/>
            <a:ext cx="1285273" cy="857151"/>
            <a:chOff x="2438400" y="4786410"/>
            <a:chExt cx="1285273" cy="857151"/>
          </a:xfrm>
        </p:grpSpPr>
        <p:sp>
          <p:nvSpPr>
            <p:cNvPr id="20" name="Oval 10"/>
            <p:cNvSpPr>
              <a:spLocks noChangeArrowheads="1"/>
            </p:cNvSpPr>
            <p:nvPr/>
          </p:nvSpPr>
          <p:spPr bwMode="auto">
            <a:xfrm>
              <a:off x="2438400" y="5086348"/>
              <a:ext cx="525462" cy="557213"/>
            </a:xfrm>
            <a:prstGeom prst="ellipse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 anchor="ctr"/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US" altLang="en-US" b="1" dirty="0"/>
                <a:t>W1</a:t>
              </a:r>
            </a:p>
          </p:txBody>
        </p:sp>
        <p:sp>
          <p:nvSpPr>
            <p:cNvPr id="23" name="Line 17"/>
            <p:cNvSpPr>
              <a:spLocks noChangeShapeType="1"/>
            </p:cNvSpPr>
            <p:nvPr/>
          </p:nvSpPr>
          <p:spPr bwMode="auto">
            <a:xfrm flipV="1">
              <a:off x="2906495" y="4786410"/>
              <a:ext cx="817178" cy="3685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1541110" y="4875113"/>
            <a:ext cx="2372600" cy="1348805"/>
            <a:chOff x="1541110" y="4875113"/>
            <a:chExt cx="2372600" cy="1348805"/>
          </a:xfrm>
        </p:grpSpPr>
        <p:sp>
          <p:nvSpPr>
            <p:cNvPr id="22" name="Oval 12"/>
            <p:cNvSpPr>
              <a:spLocks noChangeArrowheads="1"/>
            </p:cNvSpPr>
            <p:nvPr/>
          </p:nvSpPr>
          <p:spPr bwMode="auto">
            <a:xfrm>
              <a:off x="3198210" y="5525294"/>
              <a:ext cx="525463" cy="557212"/>
            </a:xfrm>
            <a:prstGeom prst="ellipse">
              <a:avLst/>
            </a:prstGeom>
            <a:solidFill>
              <a:srgbClr val="FFCC99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 anchor="ctr"/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/>
              <a:r>
                <a:rPr lang="en-US" altLang="en-US" b="1" dirty="0"/>
                <a:t>W2</a:t>
              </a:r>
            </a:p>
          </p:txBody>
        </p:sp>
        <p:sp>
          <p:nvSpPr>
            <p:cNvPr id="24" name="Line 17"/>
            <p:cNvSpPr>
              <a:spLocks noChangeShapeType="1"/>
            </p:cNvSpPr>
            <p:nvPr/>
          </p:nvSpPr>
          <p:spPr bwMode="auto">
            <a:xfrm flipV="1">
              <a:off x="3498632" y="4875113"/>
              <a:ext cx="415078" cy="6501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25" name="Text Box 19"/>
            <p:cNvSpPr txBox="1">
              <a:spLocks noChangeArrowheads="1"/>
            </p:cNvSpPr>
            <p:nvPr/>
          </p:nvSpPr>
          <p:spPr bwMode="auto">
            <a:xfrm>
              <a:off x="1541110" y="5588317"/>
              <a:ext cx="1518388" cy="6356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0815" tIns="40407" rIns="80815" bIns="40407">
              <a:spAutoFit/>
            </a:bodyPr>
            <a:lstStyle>
              <a:lvl1pPr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404813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808038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212850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1616075" defTabSz="904875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0732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5304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29876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444875" defTabSz="904875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dirty="0"/>
                <a:t>Writers </a:t>
              </a:r>
            </a:p>
            <a:p>
              <a:r>
                <a:rPr lang="en-US" altLang="en-US" dirty="0"/>
                <a:t>(Write </a:t>
              </a:r>
              <a:r>
                <a:rPr lang="en-US" altLang="en-US" b="1" dirty="0"/>
                <a:t>alone</a:t>
              </a:r>
              <a:r>
                <a:rPr lang="en-US" altLang="en-US" dirty="0"/>
                <a:t>)</a:t>
              </a:r>
            </a:p>
          </p:txBody>
        </p:sp>
      </p:grpSp>
      <p:sp>
        <p:nvSpPr>
          <p:cNvPr id="31" name="Slide Number Placeholder 3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477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Readers Writers: </a:t>
            </a:r>
            <a:r>
              <a:rPr lang="en-US" altLang="en-US" sz="3800" b="1" dirty="0">
                <a:solidFill>
                  <a:srgbClr val="C00000"/>
                </a:solidFill>
              </a:rPr>
              <a:t>Simple Version</a:t>
            </a:r>
          </a:p>
        </p:txBody>
      </p:sp>
      <p:sp>
        <p:nvSpPr>
          <p:cNvPr id="708612" name="Text Box 4"/>
          <p:cNvSpPr txBox="1">
            <a:spLocks noChangeArrowheads="1"/>
          </p:cNvSpPr>
          <p:nvPr/>
        </p:nvSpPr>
        <p:spPr bwMode="auto">
          <a:xfrm>
            <a:off x="370114" y="990600"/>
            <a:ext cx="4038600" cy="2930033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dirty="0">
              <a:latin typeface="Courier New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while (TRUE) 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	</a:t>
            </a:r>
            <a:endParaRPr lang="en-US" altLang="en-US" i="1" dirty="0">
              <a:latin typeface="Courier New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i="1" dirty="0">
                <a:latin typeface="Courier New" pitchFamily="49" charset="0"/>
              </a:rPr>
              <a:t>   </a:t>
            </a:r>
            <a:r>
              <a:rPr lang="en-US" altLang="en-US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 </a:t>
            </a:r>
            <a:r>
              <a:rPr lang="en-US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wait</a:t>
            </a:r>
            <a:r>
              <a:rPr lang="en-US" altLang="en-US" sz="2000" b="1" dirty="0">
                <a:latin typeface="Courier New" pitchFamily="49" charset="0"/>
              </a:rPr>
              <a:t>(</a:t>
            </a:r>
            <a:r>
              <a:rPr lang="en-US" altLang="en-US" sz="2000" b="1" dirty="0">
                <a:solidFill>
                  <a:srgbClr val="0033CC"/>
                </a:solidFill>
                <a:latin typeface="Courier New" pitchFamily="49" charset="0"/>
              </a:rPr>
              <a:t> </a:t>
            </a:r>
            <a:r>
              <a:rPr lang="en-US" altLang="en-US" sz="2000" b="1" dirty="0" err="1">
                <a:solidFill>
                  <a:srgbClr val="660066"/>
                </a:solidFill>
                <a:latin typeface="Courier New" pitchFamily="49" charset="0"/>
              </a:rPr>
              <a:t>roomEmpty</a:t>
            </a:r>
            <a:r>
              <a:rPr lang="en-US" altLang="en-US" sz="2000" b="1" dirty="0">
                <a:solidFill>
                  <a:srgbClr val="0033CC"/>
                </a:solidFill>
                <a:latin typeface="Courier New" pitchFamily="49" charset="0"/>
              </a:rPr>
              <a:t> </a:t>
            </a:r>
            <a:r>
              <a:rPr lang="en-US" altLang="en-US" sz="2000" b="1" dirty="0"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sz="2000" b="1" dirty="0">
              <a:solidFill>
                <a:schemeClr val="tx2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sz="2000" b="1" i="1" dirty="0">
                <a:solidFill>
                  <a:schemeClr val="tx2"/>
                </a:solidFill>
                <a:latin typeface="Courier New" pitchFamily="49" charset="0"/>
              </a:rPr>
              <a:t>    </a:t>
            </a:r>
            <a:r>
              <a:rPr lang="en-US" altLang="en-US" b="1" i="1" dirty="0">
                <a:latin typeface="Courier New" pitchFamily="49" charset="0"/>
              </a:rPr>
              <a:t>Modifies data</a:t>
            </a:r>
            <a:endParaRPr lang="en-US" altLang="en-US" sz="2000" b="1" dirty="0">
              <a:solidFill>
                <a:srgbClr val="9900CC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dirty="0">
              <a:latin typeface="Courier New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    </a:t>
            </a:r>
            <a:r>
              <a:rPr lang="en-US" altLang="en-US" sz="2000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signal</a:t>
            </a:r>
            <a:r>
              <a:rPr lang="en-US" altLang="en-US" sz="2000" b="1" dirty="0">
                <a:latin typeface="Courier New" pitchFamily="49" charset="0"/>
              </a:rPr>
              <a:t>(</a:t>
            </a:r>
            <a:r>
              <a:rPr lang="en-US" altLang="en-US" sz="2000" b="1" dirty="0">
                <a:solidFill>
                  <a:srgbClr val="0033CC"/>
                </a:solidFill>
                <a:latin typeface="Courier New" pitchFamily="49" charset="0"/>
              </a:rPr>
              <a:t> </a:t>
            </a:r>
            <a:r>
              <a:rPr lang="en-US" altLang="en-US" sz="2000" b="1" dirty="0" err="1">
                <a:solidFill>
                  <a:srgbClr val="660066"/>
                </a:solidFill>
                <a:latin typeface="Courier New" pitchFamily="49" charset="0"/>
              </a:rPr>
              <a:t>roomEmpty</a:t>
            </a:r>
            <a:r>
              <a:rPr lang="en-US" altLang="en-US" sz="2000" b="1" dirty="0">
                <a:solidFill>
                  <a:srgbClr val="0033CC"/>
                </a:solidFill>
                <a:latin typeface="Courier New" pitchFamily="49" charset="0"/>
              </a:rPr>
              <a:t> </a:t>
            </a:r>
            <a:r>
              <a:rPr lang="en-US" altLang="en-US" sz="2000" b="1" dirty="0"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dirty="0">
              <a:latin typeface="Courier New" pitchFamily="49" charset="0"/>
            </a:endParaRPr>
          </a:p>
        </p:txBody>
      </p:sp>
      <p:sp>
        <p:nvSpPr>
          <p:cNvPr id="708613" name="Text Box 5"/>
          <p:cNvSpPr txBox="1">
            <a:spLocks noChangeArrowheads="1"/>
          </p:cNvSpPr>
          <p:nvPr/>
        </p:nvSpPr>
        <p:spPr bwMode="auto">
          <a:xfrm>
            <a:off x="3505200" y="3479549"/>
            <a:ext cx="838200" cy="3762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dirty="0"/>
              <a:t>Writer</a:t>
            </a:r>
            <a:endParaRPr lang="en-US" altLang="en-US" b="1" dirty="0"/>
          </a:p>
        </p:txBody>
      </p:sp>
      <p:sp>
        <p:nvSpPr>
          <p:cNvPr id="708614" name="Text Box 6"/>
          <p:cNvSpPr txBox="1">
            <a:spLocks noChangeArrowheads="1"/>
          </p:cNvSpPr>
          <p:nvPr/>
        </p:nvSpPr>
        <p:spPr bwMode="auto">
          <a:xfrm>
            <a:off x="4635138" y="990600"/>
            <a:ext cx="4220391" cy="50229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while (TRUE) 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i="1" dirty="0">
                <a:latin typeface="Courier New" pitchFamily="49" charset="0"/>
              </a:rPr>
              <a:t>	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i="1" dirty="0">
                <a:latin typeface="Courier New" pitchFamily="49" charset="0"/>
              </a:rPr>
              <a:t>    </a:t>
            </a: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wait</a:t>
            </a:r>
            <a:r>
              <a:rPr lang="en-US" altLang="en-US" b="1" dirty="0">
                <a:latin typeface="Courier New" pitchFamily="49" charset="0"/>
              </a:rPr>
              <a:t>(</a:t>
            </a:r>
            <a:r>
              <a:rPr lang="en-US" altLang="en-US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altLang="en-US" b="1" dirty="0" err="1">
                <a:solidFill>
                  <a:srgbClr val="660066"/>
                </a:solidFill>
                <a:latin typeface="Courier New" pitchFamily="49" charset="0"/>
              </a:rPr>
              <a:t>mutex</a:t>
            </a:r>
            <a:r>
              <a:rPr lang="en-US" altLang="en-US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altLang="en-US" b="1" dirty="0"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    </a:t>
            </a:r>
            <a:r>
              <a:rPr lang="en-US" altLang="en-US" b="1" dirty="0" err="1">
                <a:latin typeface="Courier New" pitchFamily="49" charset="0"/>
              </a:rPr>
              <a:t>nReader</a:t>
            </a:r>
            <a:r>
              <a:rPr lang="en-US" altLang="en-US" dirty="0">
                <a:latin typeface="Courier New" pitchFamily="49" charset="0"/>
              </a:rPr>
              <a:t>++;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    if (</a:t>
            </a:r>
            <a:r>
              <a:rPr lang="en-US" altLang="en-US" b="1" dirty="0" err="1">
                <a:latin typeface="Courier New" pitchFamily="49" charset="0"/>
              </a:rPr>
              <a:t>nReader</a:t>
            </a:r>
            <a:r>
              <a:rPr lang="en-US" altLang="en-US" dirty="0">
                <a:latin typeface="Courier New" pitchFamily="49" charset="0"/>
              </a:rPr>
              <a:t> == 1)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	  </a:t>
            </a: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wait</a:t>
            </a:r>
            <a:r>
              <a:rPr lang="en-US" altLang="en-US" b="1" dirty="0">
                <a:latin typeface="Courier New" pitchFamily="49" charset="0"/>
              </a:rPr>
              <a:t>(</a:t>
            </a:r>
            <a:r>
              <a:rPr lang="en-US" altLang="en-US" b="1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altLang="en-US" b="1" dirty="0" err="1">
                <a:solidFill>
                  <a:srgbClr val="660066"/>
                </a:solidFill>
                <a:latin typeface="Courier New" pitchFamily="49" charset="0"/>
              </a:rPr>
              <a:t>roomEmpty</a:t>
            </a:r>
            <a:r>
              <a:rPr lang="en-US" altLang="en-US" b="1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altLang="en-US" b="1" dirty="0"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b="1" dirty="0">
                <a:solidFill>
                  <a:srgbClr val="9900CC"/>
                </a:solidFill>
                <a:latin typeface="Courier New" pitchFamily="49" charset="0"/>
              </a:rPr>
              <a:t>    </a:t>
            </a:r>
            <a:r>
              <a:rPr lang="en-US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signal</a:t>
            </a:r>
            <a:r>
              <a:rPr lang="en-US" altLang="en-US" b="1" dirty="0">
                <a:latin typeface="Courier New" pitchFamily="49" charset="0"/>
              </a:rPr>
              <a:t>(</a:t>
            </a:r>
            <a:r>
              <a:rPr lang="en-US" altLang="en-US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altLang="en-US" b="1" dirty="0" err="1">
                <a:solidFill>
                  <a:srgbClr val="660066"/>
                </a:solidFill>
                <a:latin typeface="Courier New" pitchFamily="49" charset="0"/>
              </a:rPr>
              <a:t>mutex</a:t>
            </a:r>
            <a:r>
              <a:rPr lang="en-US" altLang="en-US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altLang="en-US" b="1" dirty="0"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b="1" dirty="0">
              <a:solidFill>
                <a:srgbClr val="9900CC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b="1" dirty="0">
                <a:solidFill>
                  <a:srgbClr val="9900CC"/>
                </a:solidFill>
                <a:latin typeface="Courier New" pitchFamily="49" charset="0"/>
              </a:rPr>
              <a:t>    </a:t>
            </a:r>
            <a:r>
              <a:rPr lang="en-US" altLang="en-US" i="1" dirty="0">
                <a:latin typeface="Courier New" pitchFamily="49" charset="0"/>
              </a:rPr>
              <a:t>Reads data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b="1" i="1" dirty="0">
              <a:solidFill>
                <a:srgbClr val="9900CC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b="1" dirty="0">
                <a:solidFill>
                  <a:srgbClr val="0033CC"/>
                </a:solidFill>
                <a:latin typeface="Courier New" pitchFamily="49" charset="0"/>
              </a:rPr>
              <a:t>    </a:t>
            </a: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wait</a:t>
            </a:r>
            <a:r>
              <a:rPr lang="en-US" altLang="en-US" b="1" dirty="0">
                <a:latin typeface="Courier New" pitchFamily="49" charset="0"/>
              </a:rPr>
              <a:t>( </a:t>
            </a:r>
            <a:r>
              <a:rPr lang="en-US" altLang="en-US" b="1" dirty="0" err="1">
                <a:solidFill>
                  <a:srgbClr val="660066"/>
                </a:solidFill>
                <a:latin typeface="Courier New" pitchFamily="49" charset="0"/>
              </a:rPr>
              <a:t>mutex</a:t>
            </a:r>
            <a:r>
              <a:rPr lang="en-US" altLang="en-US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altLang="en-US" b="1" dirty="0"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    </a:t>
            </a:r>
            <a:r>
              <a:rPr lang="en-US" altLang="en-US" b="1" dirty="0" err="1">
                <a:latin typeface="Courier New" pitchFamily="49" charset="0"/>
              </a:rPr>
              <a:t>nReader</a:t>
            </a:r>
            <a:r>
              <a:rPr lang="en-US" altLang="en-US" dirty="0">
                <a:latin typeface="Courier New" pitchFamily="49" charset="0"/>
              </a:rPr>
              <a:t>--;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    if (</a:t>
            </a:r>
            <a:r>
              <a:rPr lang="en-US" altLang="en-US" b="1" dirty="0" err="1">
                <a:latin typeface="Courier New" pitchFamily="49" charset="0"/>
              </a:rPr>
              <a:t>nReader</a:t>
            </a:r>
            <a:r>
              <a:rPr lang="en-US" altLang="en-US" dirty="0">
                <a:latin typeface="Courier New" pitchFamily="49" charset="0"/>
              </a:rPr>
              <a:t> == 0)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	  </a:t>
            </a:r>
            <a:r>
              <a:rPr lang="en-US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signal</a:t>
            </a:r>
            <a:r>
              <a:rPr lang="en-US" altLang="en-US" b="1" dirty="0">
                <a:latin typeface="Courier New" pitchFamily="49" charset="0"/>
              </a:rPr>
              <a:t>(</a:t>
            </a:r>
            <a:r>
              <a:rPr lang="en-US" altLang="en-US" b="1" dirty="0">
                <a:solidFill>
                  <a:srgbClr val="C00000"/>
                </a:solidFill>
                <a:latin typeface="Courier New" pitchFamily="49" charset="0"/>
              </a:rPr>
              <a:t> </a:t>
            </a:r>
            <a:r>
              <a:rPr lang="en-US" altLang="en-US" b="1" dirty="0" err="1">
                <a:solidFill>
                  <a:srgbClr val="660066"/>
                </a:solidFill>
                <a:latin typeface="Courier New" pitchFamily="49" charset="0"/>
              </a:rPr>
              <a:t>roomEmpty</a:t>
            </a:r>
            <a:r>
              <a:rPr lang="en-US" altLang="en-US" b="1" dirty="0"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b="1" dirty="0">
                <a:solidFill>
                  <a:srgbClr val="9900CC"/>
                </a:solidFill>
                <a:latin typeface="Courier New" pitchFamily="49" charset="0"/>
              </a:rPr>
              <a:t>    </a:t>
            </a:r>
            <a:r>
              <a:rPr lang="en-US" altLang="en-US" b="1" dirty="0">
                <a:solidFill>
                  <a:srgbClr val="0066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signal</a:t>
            </a:r>
            <a:r>
              <a:rPr lang="en-US" altLang="en-US" b="1" dirty="0">
                <a:latin typeface="Courier New" pitchFamily="49" charset="0"/>
              </a:rPr>
              <a:t>(</a:t>
            </a:r>
            <a:r>
              <a:rPr lang="en-US" altLang="en-US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altLang="en-US" b="1" dirty="0" err="1">
                <a:solidFill>
                  <a:srgbClr val="660066"/>
                </a:solidFill>
                <a:latin typeface="Courier New" pitchFamily="49" charset="0"/>
              </a:rPr>
              <a:t>mutex</a:t>
            </a:r>
            <a:r>
              <a:rPr lang="en-US" altLang="en-US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altLang="en-US" b="1" dirty="0">
                <a:latin typeface="Courier New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b="1" i="1" dirty="0">
              <a:solidFill>
                <a:srgbClr val="9900CC"/>
              </a:solidFill>
              <a:latin typeface="Courier New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US" altLang="en-US" dirty="0">
                <a:latin typeface="Courier New" pitchFamily="49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US" altLang="en-US" dirty="0">
              <a:latin typeface="Courier New" pitchFamily="49" charset="0"/>
            </a:endParaRPr>
          </a:p>
        </p:txBody>
      </p:sp>
      <p:sp>
        <p:nvSpPr>
          <p:cNvPr id="708615" name="Text Box 7"/>
          <p:cNvSpPr txBox="1">
            <a:spLocks noChangeArrowheads="1"/>
          </p:cNvSpPr>
          <p:nvPr/>
        </p:nvSpPr>
        <p:spPr bwMode="auto">
          <a:xfrm>
            <a:off x="7772400" y="5552484"/>
            <a:ext cx="977538" cy="37623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dirty="0"/>
              <a:t>Reader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454842" y="5546798"/>
            <a:ext cx="2287089" cy="859765"/>
            <a:chOff x="4191000" y="3425284"/>
            <a:chExt cx="3579222" cy="1379217"/>
          </a:xfrm>
        </p:grpSpPr>
        <p:sp>
          <p:nvSpPr>
            <p:cNvPr id="12" name="Rounded Rectangle 11"/>
            <p:cNvSpPr/>
            <p:nvPr/>
          </p:nvSpPr>
          <p:spPr>
            <a:xfrm>
              <a:off x="4191000" y="3585301"/>
              <a:ext cx="3505200" cy="1219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5535946" y="3425284"/>
              <a:ext cx="2234276" cy="460916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 err="1"/>
                <a:t>roomEmpty</a:t>
              </a:r>
              <a:endParaRPr lang="en-US" altLang="en-US" b="1" dirty="0"/>
            </a:p>
          </p:txBody>
        </p:sp>
        <p:sp>
          <p:nvSpPr>
            <p:cNvPr id="14" name="Rectangle 11"/>
            <p:cNvSpPr>
              <a:spLocks noChangeArrowheads="1"/>
            </p:cNvSpPr>
            <p:nvPr/>
          </p:nvSpPr>
          <p:spPr bwMode="auto">
            <a:xfrm>
              <a:off x="4343400" y="3886200"/>
              <a:ext cx="838200" cy="76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5" name="Rectangle 12"/>
            <p:cNvSpPr>
              <a:spLocks noChangeArrowheads="1"/>
            </p:cNvSpPr>
            <p:nvPr/>
          </p:nvSpPr>
          <p:spPr bwMode="auto">
            <a:xfrm>
              <a:off x="5181600" y="4572000"/>
              <a:ext cx="2133600" cy="76200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454842" y="4593305"/>
            <a:ext cx="2287090" cy="859765"/>
            <a:chOff x="4191000" y="3425284"/>
            <a:chExt cx="3579224" cy="1379217"/>
          </a:xfrm>
        </p:grpSpPr>
        <p:sp>
          <p:nvSpPr>
            <p:cNvPr id="17" name="Rounded Rectangle 16"/>
            <p:cNvSpPr/>
            <p:nvPr/>
          </p:nvSpPr>
          <p:spPr>
            <a:xfrm>
              <a:off x="4191000" y="3585301"/>
              <a:ext cx="3505200" cy="1219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6347733" y="3425284"/>
              <a:ext cx="1422491" cy="460916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 err="1"/>
                <a:t>mutex</a:t>
              </a:r>
              <a:endParaRPr lang="en-US" altLang="en-US" b="1" dirty="0"/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>
              <a:off x="4343400" y="3886200"/>
              <a:ext cx="838200" cy="76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0" name="Rectangle 12"/>
            <p:cNvSpPr>
              <a:spLocks noChangeArrowheads="1"/>
            </p:cNvSpPr>
            <p:nvPr/>
          </p:nvSpPr>
          <p:spPr bwMode="auto">
            <a:xfrm>
              <a:off x="5181600" y="4572000"/>
              <a:ext cx="2133600" cy="76200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1" name="Group 22"/>
          <p:cNvGrpSpPr>
            <a:grpSpLocks/>
          </p:cNvGrpSpPr>
          <p:nvPr/>
        </p:nvGrpSpPr>
        <p:grpSpPr bwMode="auto">
          <a:xfrm>
            <a:off x="990601" y="4116344"/>
            <a:ext cx="1751013" cy="381000"/>
            <a:chOff x="1872" y="1104"/>
            <a:chExt cx="1103" cy="240"/>
          </a:xfrm>
        </p:grpSpPr>
        <p:sp>
          <p:nvSpPr>
            <p:cNvPr id="24" name="Rectangle 17"/>
            <p:cNvSpPr>
              <a:spLocks noChangeArrowheads="1"/>
            </p:cNvSpPr>
            <p:nvPr/>
          </p:nvSpPr>
          <p:spPr bwMode="auto">
            <a:xfrm>
              <a:off x="2400" y="1104"/>
              <a:ext cx="575" cy="24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anose="02070309020205020404" pitchFamily="49" charset="0"/>
              </a:endParaRPr>
            </a:p>
          </p:txBody>
        </p:sp>
        <p:sp>
          <p:nvSpPr>
            <p:cNvPr id="25" name="Rectangle 18"/>
            <p:cNvSpPr>
              <a:spLocks noChangeArrowheads="1"/>
            </p:cNvSpPr>
            <p:nvPr/>
          </p:nvSpPr>
          <p:spPr bwMode="auto">
            <a:xfrm>
              <a:off x="1872" y="1104"/>
              <a:ext cx="52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sz="2000" b="1" dirty="0" err="1">
                  <a:latin typeface="Courier New" panose="02070309020205020404" pitchFamily="49" charset="0"/>
                </a:rPr>
                <a:t>nReader</a:t>
              </a:r>
              <a:endParaRPr lang="en-US" altLang="en-US" sz="2000" b="1" dirty="0">
                <a:latin typeface="Courier New" panose="02070309020205020404" pitchFamily="49" charset="0"/>
              </a:endParaRPr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92921-E8D1-4F63-8B4B-BBDB7C330874}" type="slidenum">
              <a:rPr lang="en-US" altLang="en-US" smtClean="0"/>
              <a:pPr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8649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Readers Writers: </a:t>
            </a:r>
            <a:r>
              <a:rPr lang="en-US" altLang="en-US" sz="4400" b="1" dirty="0">
                <a:solidFill>
                  <a:srgbClr val="C00000"/>
                </a:solidFill>
              </a:rPr>
              <a:t>Evaluation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Convince yourself that the solution satisfies the specification</a:t>
            </a:r>
          </a:p>
          <a:p>
            <a:endParaRPr lang="en-US" dirty="0"/>
          </a:p>
          <a:p>
            <a:r>
              <a:rPr lang="en-US" dirty="0"/>
              <a:t>However:</a:t>
            </a:r>
          </a:p>
          <a:p>
            <a:pPr lvl="1"/>
            <a:r>
              <a:rPr lang="en-US" dirty="0"/>
              <a:t>It has one problem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(hint: Something to do with writer….)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11865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Dining Philosophers</a:t>
            </a:r>
            <a:r>
              <a:rPr lang="en-US" altLang="en-US" sz="3800" dirty="0"/>
              <a:t>: Specification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524000" y="1143000"/>
            <a:ext cx="5714999" cy="4724400"/>
            <a:chOff x="2603403" y="1371600"/>
            <a:chExt cx="3035397" cy="2362200"/>
          </a:xfrm>
        </p:grpSpPr>
        <p:sp>
          <p:nvSpPr>
            <p:cNvPr id="710660" name="AutoShape 4"/>
            <p:cNvSpPr>
              <a:spLocks noChangeArrowheads="1"/>
            </p:cNvSpPr>
            <p:nvPr/>
          </p:nvSpPr>
          <p:spPr bwMode="auto">
            <a:xfrm>
              <a:off x="3733800" y="1371600"/>
              <a:ext cx="762000" cy="609600"/>
            </a:xfrm>
            <a:prstGeom prst="smileyFace">
              <a:avLst>
                <a:gd name="adj" fmla="val 4653"/>
              </a:avLst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710661" name="AutoShape 5"/>
            <p:cNvSpPr>
              <a:spLocks noChangeArrowheads="1"/>
            </p:cNvSpPr>
            <p:nvPr/>
          </p:nvSpPr>
          <p:spPr bwMode="auto">
            <a:xfrm>
              <a:off x="2603403" y="2032576"/>
              <a:ext cx="762000" cy="609600"/>
            </a:xfrm>
            <a:prstGeom prst="smileyFace">
              <a:avLst>
                <a:gd name="adj" fmla="val 4653"/>
              </a:avLst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710662" name="AutoShape 6"/>
            <p:cNvSpPr>
              <a:spLocks noChangeArrowheads="1"/>
            </p:cNvSpPr>
            <p:nvPr/>
          </p:nvSpPr>
          <p:spPr bwMode="auto">
            <a:xfrm>
              <a:off x="4876800" y="2006024"/>
              <a:ext cx="762000" cy="609600"/>
            </a:xfrm>
            <a:prstGeom prst="smileyFace">
              <a:avLst>
                <a:gd name="adj" fmla="val 4653"/>
              </a:avLst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710663" name="AutoShape 7"/>
            <p:cNvSpPr>
              <a:spLocks noChangeArrowheads="1"/>
            </p:cNvSpPr>
            <p:nvPr/>
          </p:nvSpPr>
          <p:spPr bwMode="auto">
            <a:xfrm>
              <a:off x="2971800" y="3048000"/>
              <a:ext cx="762000" cy="609600"/>
            </a:xfrm>
            <a:prstGeom prst="smileyFace">
              <a:avLst>
                <a:gd name="adj" fmla="val 4653"/>
              </a:avLst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710664" name="AutoShape 8"/>
            <p:cNvSpPr>
              <a:spLocks noChangeArrowheads="1"/>
            </p:cNvSpPr>
            <p:nvPr/>
          </p:nvSpPr>
          <p:spPr bwMode="auto">
            <a:xfrm>
              <a:off x="4495800" y="3048000"/>
              <a:ext cx="762000" cy="609600"/>
            </a:xfrm>
            <a:prstGeom prst="smileyFace">
              <a:avLst>
                <a:gd name="adj" fmla="val 4653"/>
              </a:avLst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10673" name="Group 17"/>
            <p:cNvGrpSpPr>
              <a:grpSpLocks/>
            </p:cNvGrpSpPr>
            <p:nvPr/>
          </p:nvGrpSpPr>
          <p:grpSpPr bwMode="auto">
            <a:xfrm>
              <a:off x="2743200" y="1524000"/>
              <a:ext cx="2743200" cy="2209800"/>
              <a:chOff x="1872" y="720"/>
              <a:chExt cx="1728" cy="1392"/>
            </a:xfrm>
          </p:grpSpPr>
          <p:sp>
            <p:nvSpPr>
              <p:cNvPr id="710665" name="AutoShape 9"/>
              <p:cNvSpPr>
                <a:spLocks noChangeArrowheads="1"/>
              </p:cNvSpPr>
              <p:nvPr/>
            </p:nvSpPr>
            <p:spPr bwMode="auto">
              <a:xfrm rot="1800000">
                <a:off x="3072" y="720"/>
                <a:ext cx="48" cy="480"/>
              </a:xfrm>
              <a:prstGeom prst="cube">
                <a:avLst>
                  <a:gd name="adj" fmla="val 25000"/>
                </a:avLst>
              </a:prstGeom>
              <a:solidFill>
                <a:srgbClr val="99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0666" name="AutoShape 10"/>
              <p:cNvSpPr>
                <a:spLocks noChangeArrowheads="1"/>
              </p:cNvSpPr>
              <p:nvPr/>
            </p:nvSpPr>
            <p:spPr bwMode="auto">
              <a:xfrm>
                <a:off x="2736" y="1632"/>
                <a:ext cx="48" cy="480"/>
              </a:xfrm>
              <a:prstGeom prst="cube">
                <a:avLst>
                  <a:gd name="adj" fmla="val 25000"/>
                </a:avLst>
              </a:prstGeom>
              <a:solidFill>
                <a:srgbClr val="99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0667" name="AutoShape 11"/>
              <p:cNvSpPr>
                <a:spLocks noChangeArrowheads="1"/>
              </p:cNvSpPr>
              <p:nvPr/>
            </p:nvSpPr>
            <p:spPr bwMode="auto">
              <a:xfrm rot="19500000">
                <a:off x="2352" y="768"/>
                <a:ext cx="48" cy="480"/>
              </a:xfrm>
              <a:prstGeom prst="cube">
                <a:avLst>
                  <a:gd name="adj" fmla="val 25000"/>
                </a:avLst>
              </a:prstGeom>
              <a:solidFill>
                <a:srgbClr val="99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0668" name="AutoShape 12"/>
              <p:cNvSpPr>
                <a:spLocks noChangeArrowheads="1"/>
              </p:cNvSpPr>
              <p:nvPr/>
            </p:nvSpPr>
            <p:spPr bwMode="auto">
              <a:xfrm rot="4800000">
                <a:off x="2088" y="1320"/>
                <a:ext cx="48" cy="480"/>
              </a:xfrm>
              <a:prstGeom prst="cube">
                <a:avLst>
                  <a:gd name="adj" fmla="val 25000"/>
                </a:avLst>
              </a:prstGeom>
              <a:solidFill>
                <a:srgbClr val="99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0669" name="AutoShape 13"/>
              <p:cNvSpPr>
                <a:spLocks noChangeArrowheads="1"/>
              </p:cNvSpPr>
              <p:nvPr/>
            </p:nvSpPr>
            <p:spPr bwMode="auto">
              <a:xfrm rot="16800000">
                <a:off x="3336" y="1320"/>
                <a:ext cx="48" cy="480"/>
              </a:xfrm>
              <a:prstGeom prst="cube">
                <a:avLst>
                  <a:gd name="adj" fmla="val 25000"/>
                </a:avLst>
              </a:prstGeom>
              <a:solidFill>
                <a:srgbClr val="99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109" y="956766"/>
            <a:ext cx="1653052" cy="1676400"/>
          </a:xfrm>
          <a:prstGeom prst="ellipse">
            <a:avLst/>
          </a:prstGeom>
          <a:ln w="22225" cap="rnd">
            <a:solidFill>
              <a:schemeClr val="accent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553" y="2170548"/>
            <a:ext cx="1600200" cy="1657350"/>
          </a:xfrm>
          <a:prstGeom prst="ellipse">
            <a:avLst/>
          </a:prstGeom>
          <a:ln w="22225" cap="rnd">
            <a:solidFill>
              <a:schemeClr val="accent5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1558" y="2095500"/>
            <a:ext cx="1600199" cy="1600200"/>
          </a:xfrm>
          <a:prstGeom prst="ellipse">
            <a:avLst/>
          </a:prstGeom>
          <a:ln w="22225" cap="rnd">
            <a:solidFill>
              <a:schemeClr val="accent4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2" name="Picture 16" descr="http://blog-imgs-51.fc2.com/y/a/r/yaraon/1369579690768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4918" y="4401702"/>
            <a:ext cx="1680069" cy="1674767"/>
          </a:xfrm>
          <a:prstGeom prst="ellipse">
            <a:avLst/>
          </a:prstGeom>
          <a:ln w="22225" cap="rnd">
            <a:solidFill>
              <a:schemeClr val="accent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92921-E8D1-4F63-8B4B-BBDB7C330874}" type="slidenum">
              <a:rPr lang="en-US" altLang="en-US" smtClean="0"/>
              <a:pPr/>
              <a:t>43</a:t>
            </a:fld>
            <a:endParaRPr lang="en-US" altLang="en-US"/>
          </a:p>
        </p:txBody>
      </p:sp>
      <p:sp>
        <p:nvSpPr>
          <p:cNvPr id="2" name="Cloud Callout 1"/>
          <p:cNvSpPr/>
          <p:nvPr/>
        </p:nvSpPr>
        <p:spPr>
          <a:xfrm>
            <a:off x="5501894" y="829081"/>
            <a:ext cx="1508506" cy="523421"/>
          </a:xfrm>
          <a:prstGeom prst="cloudCallout">
            <a:avLst>
              <a:gd name="adj1" fmla="val -67790"/>
              <a:gd name="adj2" fmla="val 74653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Think</a:t>
            </a:r>
          </a:p>
        </p:txBody>
      </p:sp>
      <p:sp>
        <p:nvSpPr>
          <p:cNvPr id="24" name="Cloud Callout 23"/>
          <p:cNvSpPr/>
          <p:nvPr/>
        </p:nvSpPr>
        <p:spPr>
          <a:xfrm>
            <a:off x="7368794" y="1514021"/>
            <a:ext cx="1508506" cy="523421"/>
          </a:xfrm>
          <a:prstGeom prst="cloudCallout">
            <a:avLst>
              <a:gd name="adj1" fmla="val -48287"/>
              <a:gd name="adj2" fmla="val 11718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Think</a:t>
            </a:r>
          </a:p>
        </p:txBody>
      </p:sp>
      <p:sp>
        <p:nvSpPr>
          <p:cNvPr id="25" name="Cloud Callout 24"/>
          <p:cNvSpPr/>
          <p:nvPr/>
        </p:nvSpPr>
        <p:spPr>
          <a:xfrm>
            <a:off x="7020339" y="4234089"/>
            <a:ext cx="1508506" cy="523421"/>
          </a:xfrm>
          <a:prstGeom prst="cloudCallout">
            <a:avLst>
              <a:gd name="adj1" fmla="val -67790"/>
              <a:gd name="adj2" fmla="val 74653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Think</a:t>
            </a:r>
          </a:p>
        </p:txBody>
      </p:sp>
      <p:sp>
        <p:nvSpPr>
          <p:cNvPr id="26" name="Cloud Callout 25"/>
          <p:cNvSpPr/>
          <p:nvPr/>
        </p:nvSpPr>
        <p:spPr>
          <a:xfrm>
            <a:off x="162382" y="1689032"/>
            <a:ext cx="1508506" cy="523421"/>
          </a:xfrm>
          <a:prstGeom prst="cloudCallout">
            <a:avLst>
              <a:gd name="adj1" fmla="val 27615"/>
              <a:gd name="adj2" fmla="val 11263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Think</a:t>
            </a:r>
          </a:p>
        </p:txBody>
      </p:sp>
      <p:sp>
        <p:nvSpPr>
          <p:cNvPr id="27" name="Cloud Callout 26"/>
          <p:cNvSpPr/>
          <p:nvPr/>
        </p:nvSpPr>
        <p:spPr>
          <a:xfrm>
            <a:off x="204204" y="4581979"/>
            <a:ext cx="1508506" cy="523421"/>
          </a:xfrm>
          <a:prstGeom prst="cloudCallout">
            <a:avLst>
              <a:gd name="adj1" fmla="val 59241"/>
              <a:gd name="adj2" fmla="val 91363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Think</a:t>
            </a:r>
          </a:p>
        </p:txBody>
      </p:sp>
      <p:sp>
        <p:nvSpPr>
          <p:cNvPr id="28" name="Cloud Callout 27"/>
          <p:cNvSpPr/>
          <p:nvPr/>
        </p:nvSpPr>
        <p:spPr>
          <a:xfrm>
            <a:off x="5495270" y="829081"/>
            <a:ext cx="1508506" cy="523421"/>
          </a:xfrm>
          <a:prstGeom prst="cloudCallout">
            <a:avLst>
              <a:gd name="adj1" fmla="val -67790"/>
              <a:gd name="adj2" fmla="val 7465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Hungry</a:t>
            </a:r>
          </a:p>
        </p:txBody>
      </p:sp>
      <p:sp>
        <p:nvSpPr>
          <p:cNvPr id="29" name="Cloud Callout 28"/>
          <p:cNvSpPr/>
          <p:nvPr/>
        </p:nvSpPr>
        <p:spPr>
          <a:xfrm>
            <a:off x="7362170" y="1514021"/>
            <a:ext cx="1508506" cy="523421"/>
          </a:xfrm>
          <a:prstGeom prst="cloudCallout">
            <a:avLst>
              <a:gd name="adj1" fmla="val -48287"/>
              <a:gd name="adj2" fmla="val 11718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Hungry</a:t>
            </a:r>
          </a:p>
        </p:txBody>
      </p:sp>
      <p:sp>
        <p:nvSpPr>
          <p:cNvPr id="30" name="Cloud Callout 29"/>
          <p:cNvSpPr/>
          <p:nvPr/>
        </p:nvSpPr>
        <p:spPr>
          <a:xfrm>
            <a:off x="7013715" y="4234089"/>
            <a:ext cx="1508506" cy="523421"/>
          </a:xfrm>
          <a:prstGeom prst="cloudCallout">
            <a:avLst>
              <a:gd name="adj1" fmla="val -67790"/>
              <a:gd name="adj2" fmla="val 7465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Hungry</a:t>
            </a:r>
          </a:p>
        </p:txBody>
      </p:sp>
      <p:sp>
        <p:nvSpPr>
          <p:cNvPr id="31" name="Cloud Callout 30"/>
          <p:cNvSpPr/>
          <p:nvPr/>
        </p:nvSpPr>
        <p:spPr>
          <a:xfrm>
            <a:off x="155758" y="1689032"/>
            <a:ext cx="1508506" cy="523421"/>
          </a:xfrm>
          <a:prstGeom prst="cloudCallout">
            <a:avLst>
              <a:gd name="adj1" fmla="val 27615"/>
              <a:gd name="adj2" fmla="val 11263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Hungry</a:t>
            </a:r>
          </a:p>
        </p:txBody>
      </p:sp>
      <p:sp>
        <p:nvSpPr>
          <p:cNvPr id="32" name="Cloud Callout 31"/>
          <p:cNvSpPr/>
          <p:nvPr/>
        </p:nvSpPr>
        <p:spPr>
          <a:xfrm>
            <a:off x="197580" y="4581979"/>
            <a:ext cx="1508506" cy="523421"/>
          </a:xfrm>
          <a:prstGeom prst="cloudCallout">
            <a:avLst>
              <a:gd name="adj1" fmla="val 59241"/>
              <a:gd name="adj2" fmla="val 91363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Hungry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8017" y="4330931"/>
            <a:ext cx="1752600" cy="1807298"/>
          </a:xfrm>
          <a:prstGeom prst="ellipse">
            <a:avLst/>
          </a:prstGeom>
          <a:ln w="22225" cap="rnd">
            <a:solidFill>
              <a:schemeClr val="accent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7" name="Group 6"/>
          <p:cNvGrpSpPr/>
          <p:nvPr/>
        </p:nvGrpSpPr>
        <p:grpSpPr>
          <a:xfrm>
            <a:off x="7368794" y="277813"/>
            <a:ext cx="1782926" cy="838200"/>
            <a:chOff x="7087750" y="5562600"/>
            <a:chExt cx="1782926" cy="838200"/>
          </a:xfrm>
        </p:grpSpPr>
        <p:sp>
          <p:nvSpPr>
            <p:cNvPr id="33" name="AutoShape 8"/>
            <p:cNvSpPr>
              <a:spLocks noChangeArrowheads="1"/>
            </p:cNvSpPr>
            <p:nvPr/>
          </p:nvSpPr>
          <p:spPr bwMode="auto">
            <a:xfrm>
              <a:off x="7696200" y="5791200"/>
              <a:ext cx="704224" cy="609600"/>
            </a:xfrm>
            <a:prstGeom prst="smileyFace">
              <a:avLst>
                <a:gd name="adj" fmla="val 4653"/>
              </a:avLst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" name="Rectangle 2"/>
            <p:cNvSpPr/>
            <p:nvPr/>
          </p:nvSpPr>
          <p:spPr>
            <a:xfrm>
              <a:off x="8248024" y="5562600"/>
              <a:ext cx="622652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L</a:t>
              </a:r>
              <a:r>
                <a:rPr lang="en-US" dirty="0">
                  <a:solidFill>
                    <a:schemeClr val="tx1"/>
                  </a:solidFill>
                </a:rPr>
                <a:t>eft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087750" y="5562600"/>
              <a:ext cx="775052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R</a:t>
              </a:r>
              <a:r>
                <a:rPr lang="en-US" dirty="0">
                  <a:solidFill>
                    <a:schemeClr val="tx1"/>
                  </a:solidFill>
                </a:rPr>
                <a:t>ight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2170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Dining Philosophers: </a:t>
            </a:r>
            <a:r>
              <a:rPr lang="en-US" altLang="en-US" sz="3800" b="1" dirty="0">
                <a:solidFill>
                  <a:srgbClr val="C00000"/>
                </a:solidFill>
              </a:rPr>
              <a:t>Attempt 1</a:t>
            </a:r>
          </a:p>
        </p:txBody>
      </p:sp>
      <p:sp>
        <p:nvSpPr>
          <p:cNvPr id="711684" name="Text Box 4"/>
          <p:cNvSpPr txBox="1">
            <a:spLocks noChangeArrowheads="1"/>
          </p:cNvSpPr>
          <p:nvPr/>
        </p:nvSpPr>
        <p:spPr bwMode="auto">
          <a:xfrm>
            <a:off x="498996" y="955584"/>
            <a:ext cx="4300196" cy="5518150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#define </a:t>
            </a:r>
            <a:r>
              <a:rPr lang="en-US" altLang="en-US" sz="2000" b="1" dirty="0">
                <a:latin typeface="Courier New" panose="02070309020205020404" pitchFamily="49" charset="0"/>
              </a:rPr>
              <a:t>N</a:t>
            </a:r>
            <a:r>
              <a:rPr lang="en-US" altLang="en-US" sz="2000" dirty="0">
                <a:latin typeface="Courier New" panose="02070309020205020404" pitchFamily="49" charset="0"/>
              </a:rPr>
              <a:t> 5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#define </a:t>
            </a:r>
            <a:r>
              <a:rPr lang="en-US" altLang="en-US" sz="2000" b="1" dirty="0">
                <a:latin typeface="Courier New" panose="02070309020205020404" pitchFamily="49" charset="0"/>
              </a:rPr>
              <a:t>LEFT</a:t>
            </a:r>
            <a:r>
              <a:rPr lang="en-US" altLang="en-US" sz="2000" dirty="0">
                <a:latin typeface="Courier New" panose="02070309020205020404" pitchFamily="49" charset="0"/>
              </a:rPr>
              <a:t> </a:t>
            </a:r>
            <a:r>
              <a:rPr lang="en-US" altLang="en-US" sz="2000" dirty="0" err="1">
                <a:latin typeface="Courier New" panose="02070309020205020404" pitchFamily="49" charset="0"/>
              </a:rPr>
              <a:t>i</a:t>
            </a:r>
            <a:endParaRPr lang="en-US" altLang="en-US" sz="2000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#define </a:t>
            </a:r>
            <a:r>
              <a:rPr lang="en-US" altLang="en-US" sz="2000" b="1" dirty="0">
                <a:latin typeface="Courier New" panose="02070309020205020404" pitchFamily="49" charset="0"/>
              </a:rPr>
              <a:t>RIGHT</a:t>
            </a:r>
            <a:r>
              <a:rPr lang="en-US" altLang="en-US" sz="2000" dirty="0">
                <a:latin typeface="Courier New" panose="02070309020205020404" pitchFamily="49" charset="0"/>
              </a:rPr>
              <a:t> ((i+1) % N)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en-US" altLang="en-US" sz="2000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//For philosopher </a:t>
            </a:r>
            <a:r>
              <a:rPr lang="en-US" altLang="en-US" sz="2000" dirty="0" err="1">
                <a:latin typeface="Courier New" panose="02070309020205020404" pitchFamily="49" charset="0"/>
              </a:rPr>
              <a:t>i</a:t>
            </a:r>
            <a:endParaRPr lang="en-US" altLang="en-US" sz="2000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660066"/>
                </a:solidFill>
                <a:latin typeface="Courier New" panose="02070309020205020404" pitchFamily="49" charset="0"/>
              </a:rPr>
              <a:t>while</a:t>
            </a:r>
            <a:r>
              <a:rPr lang="en-US" altLang="en-US" sz="2000" dirty="0">
                <a:latin typeface="Courier New" panose="02070309020205020404" pitchFamily="49" charset="0"/>
              </a:rPr>
              <a:t> (</a:t>
            </a:r>
            <a:r>
              <a:rPr lang="en-US" altLang="en-US" sz="2000" dirty="0">
                <a:solidFill>
                  <a:srgbClr val="0070C0"/>
                </a:solidFill>
                <a:latin typeface="Courier New" panose="02070309020205020404" pitchFamily="49" charset="0"/>
              </a:rPr>
              <a:t>TRUE</a:t>
            </a:r>
            <a:r>
              <a:rPr lang="en-US" altLang="en-US" sz="2000" dirty="0">
                <a:latin typeface="Courier New" panose="02070309020205020404" pitchFamily="49" charset="0"/>
              </a:rPr>
              <a:t>){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en-US" altLang="en-US" sz="2000" dirty="0">
              <a:solidFill>
                <a:srgbClr val="0033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003300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000" b="1" dirty="0">
                <a:solidFill>
                  <a:srgbClr val="002060"/>
                </a:solidFill>
                <a:latin typeface="Courier New" panose="02070309020205020404" pitchFamily="49" charset="0"/>
              </a:rPr>
              <a:t>Think</a:t>
            </a:r>
            <a:r>
              <a:rPr lang="en-US" altLang="en-US" sz="2000" b="1" dirty="0">
                <a:latin typeface="Courier New" panose="02070309020205020404" pitchFamily="49" charset="0"/>
              </a:rPr>
              <a:t>( 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	//hungry, need food!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	</a:t>
            </a:r>
            <a:r>
              <a:rPr lang="en-US" altLang="en-US" sz="2000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takeChpStck</a:t>
            </a:r>
            <a:r>
              <a:rPr lang="en-US" altLang="en-US" sz="2000" b="1" dirty="0">
                <a:latin typeface="Courier New" panose="02070309020205020404" pitchFamily="49" charset="0"/>
              </a:rPr>
              <a:t>(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</a:rPr>
              <a:t> LEFT </a:t>
            </a:r>
            <a:r>
              <a:rPr lang="en-US" altLang="en-US" sz="2000" b="1" dirty="0"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000" b="1" dirty="0" err="1">
                <a:solidFill>
                  <a:srgbClr val="660066"/>
                </a:solidFill>
                <a:latin typeface="Courier New" panose="02070309020205020404" pitchFamily="49" charset="0"/>
              </a:rPr>
              <a:t>takeChpStck</a:t>
            </a:r>
            <a:r>
              <a:rPr lang="en-US" altLang="en-US" sz="2000" b="1" dirty="0">
                <a:latin typeface="Courier New" panose="02070309020205020404" pitchFamily="49" charset="0"/>
              </a:rPr>
              <a:t>( </a:t>
            </a:r>
            <a:r>
              <a:rPr lang="en-US" altLang="en-US" sz="2000" b="1" dirty="0">
                <a:solidFill>
                  <a:srgbClr val="660066"/>
                </a:solidFill>
                <a:latin typeface="Courier New" panose="02070309020205020404" pitchFamily="49" charset="0"/>
              </a:rPr>
              <a:t>RIGHT </a:t>
            </a:r>
            <a:r>
              <a:rPr lang="en-US" altLang="en-US" sz="2000" b="1" dirty="0"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en-US" altLang="en-US" sz="2000" b="1" dirty="0">
              <a:solidFill>
                <a:srgbClr val="9900CC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	</a:t>
            </a:r>
            <a:r>
              <a:rPr lang="en-US" altLang="en-US" sz="2000" b="1" dirty="0">
                <a:solidFill>
                  <a:srgbClr val="002060"/>
                </a:solidFill>
                <a:latin typeface="Courier New" panose="02070309020205020404" pitchFamily="49" charset="0"/>
              </a:rPr>
              <a:t>Eat</a:t>
            </a:r>
            <a:r>
              <a:rPr lang="en-US" altLang="en-US" sz="2000" b="1" dirty="0">
                <a:latin typeface="Courier New" panose="02070309020205020404" pitchFamily="49" charset="0"/>
              </a:rPr>
              <a:t>(</a:t>
            </a:r>
            <a:r>
              <a:rPr lang="en-US" altLang="en-US" sz="2000" b="1" dirty="0">
                <a:solidFill>
                  <a:srgbClr val="00206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000" b="1" dirty="0"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en-US" altLang="en-US" sz="2000" b="1" dirty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	</a:t>
            </a:r>
            <a:r>
              <a:rPr lang="en-US" altLang="en-US" sz="2000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putChpStck</a:t>
            </a:r>
            <a:r>
              <a:rPr lang="en-US" altLang="en-US" sz="2000" b="1" dirty="0">
                <a:latin typeface="Courier New" panose="02070309020205020404" pitchFamily="49" charset="0"/>
              </a:rPr>
              <a:t>(</a:t>
            </a:r>
            <a:r>
              <a:rPr lang="en-US" altLang="en-US" sz="2000" b="1" dirty="0">
                <a:solidFill>
                  <a:srgbClr val="660066"/>
                </a:solidFill>
                <a:latin typeface="Courier New" panose="02070309020205020404" pitchFamily="49" charset="0"/>
              </a:rPr>
              <a:t> LEFT </a:t>
            </a:r>
            <a:r>
              <a:rPr lang="en-US" altLang="en-US" sz="2000" b="1" dirty="0"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2000" dirty="0">
                <a:solidFill>
                  <a:srgbClr val="660066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000" b="1" dirty="0" err="1">
                <a:solidFill>
                  <a:srgbClr val="660066"/>
                </a:solidFill>
                <a:latin typeface="Courier New" panose="02070309020205020404" pitchFamily="49" charset="0"/>
              </a:rPr>
              <a:t>putChpStck</a:t>
            </a:r>
            <a:r>
              <a:rPr lang="en-US" altLang="en-US" sz="2000" b="1" dirty="0">
                <a:latin typeface="Courier New" panose="02070309020205020404" pitchFamily="49" charset="0"/>
              </a:rPr>
              <a:t>(</a:t>
            </a:r>
            <a:r>
              <a:rPr lang="en-US" altLang="en-US" sz="2000" b="1" dirty="0">
                <a:solidFill>
                  <a:srgbClr val="660066"/>
                </a:solidFill>
                <a:latin typeface="Courier New" panose="02070309020205020404" pitchFamily="49" charset="0"/>
              </a:rPr>
              <a:t> RIGHT </a:t>
            </a:r>
            <a:r>
              <a:rPr lang="en-US" altLang="en-US" sz="2000" b="1" dirty="0"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en-US" altLang="en-US" sz="2000" dirty="0">
              <a:latin typeface="Courier New" panose="02070309020205020404" pitchFamily="49" charset="0"/>
            </a:endParaRPr>
          </a:p>
        </p:txBody>
      </p:sp>
      <p:grpSp>
        <p:nvGrpSpPr>
          <p:cNvPr id="711699" name="Group 19"/>
          <p:cNvGrpSpPr>
            <a:grpSpLocks/>
          </p:cNvGrpSpPr>
          <p:nvPr/>
        </p:nvGrpSpPr>
        <p:grpSpPr bwMode="auto">
          <a:xfrm>
            <a:off x="5181600" y="1828800"/>
            <a:ext cx="3200400" cy="2667000"/>
            <a:chOff x="1776" y="624"/>
            <a:chExt cx="1920" cy="1488"/>
          </a:xfrm>
        </p:grpSpPr>
        <p:sp>
          <p:nvSpPr>
            <p:cNvPr id="711688" name="AutoShape 8"/>
            <p:cNvSpPr>
              <a:spLocks noChangeArrowheads="1"/>
            </p:cNvSpPr>
            <p:nvPr/>
          </p:nvSpPr>
          <p:spPr bwMode="auto">
            <a:xfrm>
              <a:off x="2496" y="624"/>
              <a:ext cx="480" cy="384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1689" name="AutoShape 9"/>
            <p:cNvSpPr>
              <a:spLocks noChangeArrowheads="1"/>
            </p:cNvSpPr>
            <p:nvPr/>
          </p:nvSpPr>
          <p:spPr bwMode="auto">
            <a:xfrm>
              <a:off x="1776" y="1056"/>
              <a:ext cx="480" cy="384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1690" name="AutoShape 10"/>
            <p:cNvSpPr>
              <a:spLocks noChangeArrowheads="1"/>
            </p:cNvSpPr>
            <p:nvPr/>
          </p:nvSpPr>
          <p:spPr bwMode="auto">
            <a:xfrm>
              <a:off x="3216" y="1056"/>
              <a:ext cx="480" cy="384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1691" name="AutoShape 11"/>
            <p:cNvSpPr>
              <a:spLocks noChangeArrowheads="1"/>
            </p:cNvSpPr>
            <p:nvPr/>
          </p:nvSpPr>
          <p:spPr bwMode="auto">
            <a:xfrm>
              <a:off x="2016" y="1680"/>
              <a:ext cx="480" cy="384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1692" name="AutoShape 12"/>
            <p:cNvSpPr>
              <a:spLocks noChangeArrowheads="1"/>
            </p:cNvSpPr>
            <p:nvPr/>
          </p:nvSpPr>
          <p:spPr bwMode="auto">
            <a:xfrm>
              <a:off x="2976" y="1680"/>
              <a:ext cx="480" cy="384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11693" name="Group 13"/>
            <p:cNvGrpSpPr>
              <a:grpSpLocks/>
            </p:cNvGrpSpPr>
            <p:nvPr/>
          </p:nvGrpSpPr>
          <p:grpSpPr bwMode="auto">
            <a:xfrm>
              <a:off x="1872" y="720"/>
              <a:ext cx="1728" cy="1392"/>
              <a:chOff x="1872" y="720"/>
              <a:chExt cx="1728" cy="1392"/>
            </a:xfrm>
          </p:grpSpPr>
          <p:sp>
            <p:nvSpPr>
              <p:cNvPr id="711694" name="AutoShape 14"/>
              <p:cNvSpPr>
                <a:spLocks noChangeArrowheads="1"/>
              </p:cNvSpPr>
              <p:nvPr/>
            </p:nvSpPr>
            <p:spPr bwMode="auto">
              <a:xfrm rot="1800000">
                <a:off x="3072" y="720"/>
                <a:ext cx="48" cy="480"/>
              </a:xfrm>
              <a:prstGeom prst="cube">
                <a:avLst>
                  <a:gd name="adj" fmla="val 25000"/>
                </a:avLst>
              </a:prstGeom>
              <a:solidFill>
                <a:srgbClr val="99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1695" name="AutoShape 15"/>
              <p:cNvSpPr>
                <a:spLocks noChangeArrowheads="1"/>
              </p:cNvSpPr>
              <p:nvPr/>
            </p:nvSpPr>
            <p:spPr bwMode="auto">
              <a:xfrm>
                <a:off x="2736" y="1632"/>
                <a:ext cx="48" cy="480"/>
              </a:xfrm>
              <a:prstGeom prst="cube">
                <a:avLst>
                  <a:gd name="adj" fmla="val 25000"/>
                </a:avLst>
              </a:prstGeom>
              <a:solidFill>
                <a:srgbClr val="99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1696" name="AutoShape 16"/>
              <p:cNvSpPr>
                <a:spLocks noChangeArrowheads="1"/>
              </p:cNvSpPr>
              <p:nvPr/>
            </p:nvSpPr>
            <p:spPr bwMode="auto">
              <a:xfrm rot="19500000">
                <a:off x="2352" y="768"/>
                <a:ext cx="48" cy="480"/>
              </a:xfrm>
              <a:prstGeom prst="cube">
                <a:avLst>
                  <a:gd name="adj" fmla="val 25000"/>
                </a:avLst>
              </a:prstGeom>
              <a:solidFill>
                <a:srgbClr val="99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1697" name="AutoShape 17"/>
              <p:cNvSpPr>
                <a:spLocks noChangeArrowheads="1"/>
              </p:cNvSpPr>
              <p:nvPr/>
            </p:nvSpPr>
            <p:spPr bwMode="auto">
              <a:xfrm rot="4800000">
                <a:off x="2088" y="1320"/>
                <a:ext cx="48" cy="480"/>
              </a:xfrm>
              <a:prstGeom prst="cube">
                <a:avLst>
                  <a:gd name="adj" fmla="val 25000"/>
                </a:avLst>
              </a:prstGeom>
              <a:solidFill>
                <a:srgbClr val="99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1698" name="AutoShape 18"/>
              <p:cNvSpPr>
                <a:spLocks noChangeArrowheads="1"/>
              </p:cNvSpPr>
              <p:nvPr/>
            </p:nvSpPr>
            <p:spPr bwMode="auto">
              <a:xfrm rot="16800000">
                <a:off x="3336" y="1320"/>
                <a:ext cx="48" cy="480"/>
              </a:xfrm>
              <a:prstGeom prst="cube">
                <a:avLst>
                  <a:gd name="adj" fmla="val 25000"/>
                </a:avLst>
              </a:prstGeom>
              <a:solidFill>
                <a:srgbClr val="99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92921-E8D1-4F63-8B4B-BBDB7C330874}" type="slidenum">
              <a:rPr lang="en-US" altLang="en-US" smtClean="0"/>
              <a:pPr/>
              <a:t>44</a:t>
            </a:fld>
            <a:endParaRPr lang="en-US" altLang="en-US"/>
          </a:p>
        </p:txBody>
      </p:sp>
      <p:grpSp>
        <p:nvGrpSpPr>
          <p:cNvPr id="18" name="Group 17"/>
          <p:cNvGrpSpPr/>
          <p:nvPr/>
        </p:nvGrpSpPr>
        <p:grpSpPr>
          <a:xfrm>
            <a:off x="7368794" y="277813"/>
            <a:ext cx="1782926" cy="838200"/>
            <a:chOff x="7087750" y="5562600"/>
            <a:chExt cx="1782926" cy="838200"/>
          </a:xfrm>
        </p:grpSpPr>
        <p:sp>
          <p:nvSpPr>
            <p:cNvPr id="19" name="AutoShape 8"/>
            <p:cNvSpPr>
              <a:spLocks noChangeArrowheads="1"/>
            </p:cNvSpPr>
            <p:nvPr/>
          </p:nvSpPr>
          <p:spPr bwMode="auto">
            <a:xfrm>
              <a:off x="7696200" y="5791200"/>
              <a:ext cx="704224" cy="609600"/>
            </a:xfrm>
            <a:prstGeom prst="smileyFace">
              <a:avLst>
                <a:gd name="adj" fmla="val 4653"/>
              </a:avLst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8248024" y="5562600"/>
              <a:ext cx="622652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L</a:t>
              </a:r>
              <a:r>
                <a:rPr lang="en-US" dirty="0">
                  <a:solidFill>
                    <a:schemeClr val="tx1"/>
                  </a:solidFill>
                </a:rPr>
                <a:t>eft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087750" y="5562600"/>
              <a:ext cx="775052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R</a:t>
              </a:r>
              <a:r>
                <a:rPr lang="en-US" dirty="0">
                  <a:solidFill>
                    <a:schemeClr val="tx1"/>
                  </a:solidFill>
                </a:rPr>
                <a:t>ight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70275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Dining Philosophers: </a:t>
            </a:r>
            <a:r>
              <a:rPr lang="en-US" altLang="en-US" sz="3800" b="1" dirty="0">
                <a:solidFill>
                  <a:srgbClr val="C00000"/>
                </a:solidFill>
              </a:rPr>
              <a:t>Attempt 1</a:t>
            </a:r>
            <a:endParaRPr lang="en-US" altLang="en-US" sz="3800" dirty="0"/>
          </a:p>
        </p:txBody>
      </p:sp>
      <p:sp>
        <p:nvSpPr>
          <p:cNvPr id="71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C00000"/>
                </a:solidFill>
              </a:rPr>
              <a:t>Deadlock: </a:t>
            </a:r>
          </a:p>
          <a:p>
            <a:pPr lvl="1"/>
            <a:r>
              <a:rPr lang="en-US" altLang="en-US" dirty="0"/>
              <a:t>All philosopher simultaneously takes up the left chopstick, and none can proceed</a:t>
            </a:r>
          </a:p>
          <a:p>
            <a:endParaRPr lang="en-US" altLang="en-US" dirty="0"/>
          </a:p>
          <a:p>
            <a:r>
              <a:rPr lang="en-US" altLang="en-US" b="1" dirty="0"/>
              <a:t>Fix attempt:</a:t>
            </a:r>
          </a:p>
          <a:p>
            <a:pPr lvl="1"/>
            <a:r>
              <a:rPr lang="en-US" altLang="en-US" dirty="0"/>
              <a:t>Make the philosopher to put down the left chopstick if right chopstick cannot be acquired</a:t>
            </a:r>
          </a:p>
          <a:p>
            <a:pPr lvl="2"/>
            <a:r>
              <a:rPr lang="en-US" altLang="en-US" dirty="0"/>
              <a:t>Try again later</a:t>
            </a:r>
          </a:p>
          <a:p>
            <a:pPr lvl="1"/>
            <a:r>
              <a:rPr lang="en-US" altLang="en-US" b="1" dirty="0"/>
              <a:t>No deadlock:</a:t>
            </a:r>
          </a:p>
          <a:p>
            <a:pPr lvl="2"/>
            <a:r>
              <a:rPr lang="en-US" altLang="en-US" b="1" dirty="0" err="1">
                <a:solidFill>
                  <a:srgbClr val="660066"/>
                </a:solidFill>
              </a:rPr>
              <a:t>Livelock</a:t>
            </a:r>
            <a:r>
              <a:rPr lang="en-US" altLang="en-US" b="1" dirty="0">
                <a:solidFill>
                  <a:srgbClr val="660066"/>
                </a:solidFill>
              </a:rPr>
              <a:t>: </a:t>
            </a:r>
            <a:r>
              <a:rPr lang="en-US" altLang="en-US" dirty="0"/>
              <a:t>All philosopher take up left chopstick, put it down, take it up, put it down, ………</a:t>
            </a:r>
          </a:p>
          <a:p>
            <a:pPr lvl="1"/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2340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Dining Philosopher: </a:t>
            </a:r>
            <a:r>
              <a:rPr lang="en-US" altLang="en-US" sz="3800" b="1" dirty="0">
                <a:solidFill>
                  <a:srgbClr val="C00000"/>
                </a:solidFill>
              </a:rPr>
              <a:t>Attempt 2</a:t>
            </a:r>
          </a:p>
        </p:txBody>
      </p:sp>
      <p:sp>
        <p:nvSpPr>
          <p:cNvPr id="714756" name="Text Box 4"/>
          <p:cNvSpPr txBox="1">
            <a:spLocks noChangeArrowheads="1"/>
          </p:cNvSpPr>
          <p:nvPr/>
        </p:nvSpPr>
        <p:spPr bwMode="auto">
          <a:xfrm>
            <a:off x="578077" y="1085850"/>
            <a:ext cx="4038600" cy="5361468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#define N 5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#define </a:t>
            </a:r>
            <a:r>
              <a:rPr lang="en-US" altLang="en-US" b="1" dirty="0">
                <a:latin typeface="Courier New" panose="02070309020205020404" pitchFamily="49" charset="0"/>
              </a:rPr>
              <a:t>LEFT</a:t>
            </a:r>
            <a:r>
              <a:rPr lang="en-US" altLang="en-US" dirty="0">
                <a:latin typeface="Courier New" panose="02070309020205020404" pitchFamily="49" charset="0"/>
              </a:rPr>
              <a:t> </a:t>
            </a:r>
            <a:r>
              <a:rPr lang="en-US" altLang="en-US" dirty="0" err="1">
                <a:latin typeface="Courier New" panose="02070309020205020404" pitchFamily="49" charset="0"/>
              </a:rPr>
              <a:t>i</a:t>
            </a:r>
            <a:endParaRPr lang="en-US" altLang="en-US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#define </a:t>
            </a:r>
            <a:r>
              <a:rPr lang="en-US" altLang="en-US" b="1" dirty="0">
                <a:latin typeface="Courier New" panose="02070309020205020404" pitchFamily="49" charset="0"/>
              </a:rPr>
              <a:t>RIGHT</a:t>
            </a:r>
            <a:r>
              <a:rPr lang="en-US" altLang="en-US" dirty="0">
                <a:latin typeface="Courier New" panose="02070309020205020404" pitchFamily="49" charset="0"/>
              </a:rPr>
              <a:t> ((i+1) % N)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en-US" altLang="en-US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//For philosopher </a:t>
            </a:r>
            <a:r>
              <a:rPr lang="en-US" altLang="en-US" dirty="0" err="1">
                <a:latin typeface="Courier New" panose="02070309020205020404" pitchFamily="49" charset="0"/>
              </a:rPr>
              <a:t>i</a:t>
            </a:r>
            <a:endParaRPr lang="en-US" altLang="en-US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while (TRUE){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	Think( 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	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	</a:t>
            </a:r>
            <a:r>
              <a:rPr lang="en-US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wait( </a:t>
            </a:r>
            <a:r>
              <a:rPr lang="en-US" altLang="en-US" sz="20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mutex</a:t>
            </a: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 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en-US" altLang="en-US" b="1" dirty="0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	</a:t>
            </a:r>
            <a:r>
              <a:rPr lang="en-US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takeChpStck</a:t>
            </a:r>
            <a:r>
              <a:rPr lang="en-US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( LEFT 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	</a:t>
            </a:r>
            <a:r>
              <a:rPr lang="en-US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takeChpStck</a:t>
            </a:r>
            <a:r>
              <a:rPr lang="en-US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( RIGHT 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	</a:t>
            </a:r>
            <a:r>
              <a:rPr lang="en-US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Eat( 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	</a:t>
            </a:r>
            <a:r>
              <a:rPr lang="en-US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putChpStck</a:t>
            </a:r>
            <a:r>
              <a:rPr lang="en-US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( LEFT 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	</a:t>
            </a:r>
            <a:r>
              <a:rPr lang="en-US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putChpStck</a:t>
            </a:r>
            <a:r>
              <a:rPr lang="en-US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( RIGHT 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en-US" altLang="en-US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	</a:t>
            </a:r>
            <a:r>
              <a:rPr lang="en-US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signal( </a:t>
            </a:r>
            <a:r>
              <a:rPr lang="en-US" altLang="en-US" sz="20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mutex</a:t>
            </a:r>
            <a:r>
              <a:rPr lang="en-US" altLang="en-US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 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dirty="0"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en-US" altLang="en-US" dirty="0">
              <a:latin typeface="Courier New" panose="02070309020205020404" pitchFamily="49" charset="0"/>
            </a:endParaRPr>
          </a:p>
        </p:txBody>
      </p:sp>
      <p:grpSp>
        <p:nvGrpSpPr>
          <p:cNvPr id="714761" name="Group 9"/>
          <p:cNvGrpSpPr>
            <a:grpSpLocks/>
          </p:cNvGrpSpPr>
          <p:nvPr/>
        </p:nvGrpSpPr>
        <p:grpSpPr bwMode="auto">
          <a:xfrm>
            <a:off x="5181600" y="1143000"/>
            <a:ext cx="3048000" cy="2362200"/>
            <a:chOff x="1776" y="624"/>
            <a:chExt cx="1920" cy="1488"/>
          </a:xfrm>
        </p:grpSpPr>
        <p:sp>
          <p:nvSpPr>
            <p:cNvPr id="714762" name="AutoShape 10"/>
            <p:cNvSpPr>
              <a:spLocks noChangeArrowheads="1"/>
            </p:cNvSpPr>
            <p:nvPr/>
          </p:nvSpPr>
          <p:spPr bwMode="auto">
            <a:xfrm>
              <a:off x="2496" y="624"/>
              <a:ext cx="480" cy="384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4763" name="AutoShape 11"/>
            <p:cNvSpPr>
              <a:spLocks noChangeArrowheads="1"/>
            </p:cNvSpPr>
            <p:nvPr/>
          </p:nvSpPr>
          <p:spPr bwMode="auto">
            <a:xfrm>
              <a:off x="1776" y="1056"/>
              <a:ext cx="480" cy="384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4764" name="AutoShape 12"/>
            <p:cNvSpPr>
              <a:spLocks noChangeArrowheads="1"/>
            </p:cNvSpPr>
            <p:nvPr/>
          </p:nvSpPr>
          <p:spPr bwMode="auto">
            <a:xfrm>
              <a:off x="3216" y="1056"/>
              <a:ext cx="480" cy="384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4765" name="AutoShape 13"/>
            <p:cNvSpPr>
              <a:spLocks noChangeArrowheads="1"/>
            </p:cNvSpPr>
            <p:nvPr/>
          </p:nvSpPr>
          <p:spPr bwMode="auto">
            <a:xfrm>
              <a:off x="2016" y="1680"/>
              <a:ext cx="480" cy="384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4766" name="AutoShape 14"/>
            <p:cNvSpPr>
              <a:spLocks noChangeArrowheads="1"/>
            </p:cNvSpPr>
            <p:nvPr/>
          </p:nvSpPr>
          <p:spPr bwMode="auto">
            <a:xfrm>
              <a:off x="2976" y="1680"/>
              <a:ext cx="480" cy="384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14767" name="Group 15"/>
            <p:cNvGrpSpPr>
              <a:grpSpLocks/>
            </p:cNvGrpSpPr>
            <p:nvPr/>
          </p:nvGrpSpPr>
          <p:grpSpPr bwMode="auto">
            <a:xfrm>
              <a:off x="1872" y="720"/>
              <a:ext cx="1728" cy="1392"/>
              <a:chOff x="1872" y="720"/>
              <a:chExt cx="1728" cy="1392"/>
            </a:xfrm>
          </p:grpSpPr>
          <p:sp>
            <p:nvSpPr>
              <p:cNvPr id="714768" name="AutoShape 16"/>
              <p:cNvSpPr>
                <a:spLocks noChangeArrowheads="1"/>
              </p:cNvSpPr>
              <p:nvPr/>
            </p:nvSpPr>
            <p:spPr bwMode="auto">
              <a:xfrm rot="1800000">
                <a:off x="3072" y="720"/>
                <a:ext cx="48" cy="480"/>
              </a:xfrm>
              <a:prstGeom prst="cube">
                <a:avLst>
                  <a:gd name="adj" fmla="val 25000"/>
                </a:avLst>
              </a:prstGeom>
              <a:solidFill>
                <a:srgbClr val="99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4769" name="AutoShape 17"/>
              <p:cNvSpPr>
                <a:spLocks noChangeArrowheads="1"/>
              </p:cNvSpPr>
              <p:nvPr/>
            </p:nvSpPr>
            <p:spPr bwMode="auto">
              <a:xfrm>
                <a:off x="2736" y="1632"/>
                <a:ext cx="48" cy="480"/>
              </a:xfrm>
              <a:prstGeom prst="cube">
                <a:avLst>
                  <a:gd name="adj" fmla="val 25000"/>
                </a:avLst>
              </a:prstGeom>
              <a:solidFill>
                <a:srgbClr val="99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4770" name="AutoShape 18"/>
              <p:cNvSpPr>
                <a:spLocks noChangeArrowheads="1"/>
              </p:cNvSpPr>
              <p:nvPr/>
            </p:nvSpPr>
            <p:spPr bwMode="auto">
              <a:xfrm rot="19500000">
                <a:off x="2352" y="768"/>
                <a:ext cx="48" cy="480"/>
              </a:xfrm>
              <a:prstGeom prst="cube">
                <a:avLst>
                  <a:gd name="adj" fmla="val 25000"/>
                </a:avLst>
              </a:prstGeom>
              <a:solidFill>
                <a:srgbClr val="99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4771" name="AutoShape 19"/>
              <p:cNvSpPr>
                <a:spLocks noChangeArrowheads="1"/>
              </p:cNvSpPr>
              <p:nvPr/>
            </p:nvSpPr>
            <p:spPr bwMode="auto">
              <a:xfrm rot="4800000">
                <a:off x="2088" y="1320"/>
                <a:ext cx="48" cy="480"/>
              </a:xfrm>
              <a:prstGeom prst="cube">
                <a:avLst>
                  <a:gd name="adj" fmla="val 25000"/>
                </a:avLst>
              </a:prstGeom>
              <a:solidFill>
                <a:srgbClr val="99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4772" name="AutoShape 20"/>
              <p:cNvSpPr>
                <a:spLocks noChangeArrowheads="1"/>
              </p:cNvSpPr>
              <p:nvPr/>
            </p:nvSpPr>
            <p:spPr bwMode="auto">
              <a:xfrm rot="16800000">
                <a:off x="3336" y="1320"/>
                <a:ext cx="48" cy="480"/>
              </a:xfrm>
              <a:prstGeom prst="cube">
                <a:avLst>
                  <a:gd name="adj" fmla="val 25000"/>
                </a:avLst>
              </a:prstGeom>
              <a:solidFill>
                <a:srgbClr val="99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24" name="Group 23"/>
          <p:cNvGrpSpPr/>
          <p:nvPr/>
        </p:nvGrpSpPr>
        <p:grpSpPr>
          <a:xfrm>
            <a:off x="5031378" y="3869311"/>
            <a:ext cx="3579222" cy="859765"/>
            <a:chOff x="4191000" y="3425284"/>
            <a:chExt cx="3579222" cy="1379217"/>
          </a:xfrm>
        </p:grpSpPr>
        <p:sp>
          <p:nvSpPr>
            <p:cNvPr id="25" name="Rounded Rectangle 24"/>
            <p:cNvSpPr/>
            <p:nvPr/>
          </p:nvSpPr>
          <p:spPr>
            <a:xfrm>
              <a:off x="4191000" y="3585301"/>
              <a:ext cx="3505200" cy="1219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10"/>
            <p:cNvSpPr>
              <a:spLocks noChangeArrowheads="1"/>
            </p:cNvSpPr>
            <p:nvPr/>
          </p:nvSpPr>
          <p:spPr bwMode="auto">
            <a:xfrm>
              <a:off x="7010399" y="3425284"/>
              <a:ext cx="759823" cy="460916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 err="1"/>
                <a:t>Mutex</a:t>
              </a:r>
              <a:endParaRPr lang="en-US" altLang="en-US" b="1" dirty="0"/>
            </a:p>
          </p:txBody>
        </p:sp>
        <p:sp>
          <p:nvSpPr>
            <p:cNvPr id="27" name="Rectangle 11"/>
            <p:cNvSpPr>
              <a:spLocks noChangeArrowheads="1"/>
            </p:cNvSpPr>
            <p:nvPr/>
          </p:nvSpPr>
          <p:spPr bwMode="auto">
            <a:xfrm>
              <a:off x="4343400" y="3886200"/>
              <a:ext cx="838200" cy="76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8" name="Rectangle 12"/>
            <p:cNvSpPr>
              <a:spLocks noChangeArrowheads="1"/>
            </p:cNvSpPr>
            <p:nvPr/>
          </p:nvSpPr>
          <p:spPr bwMode="auto">
            <a:xfrm>
              <a:off x="5181600" y="4572000"/>
              <a:ext cx="2133600" cy="76200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92921-E8D1-4F63-8B4B-BBDB7C330874}" type="slidenum">
              <a:rPr lang="en-US" altLang="en-US" smtClean="0"/>
              <a:pPr/>
              <a:t>46</a:t>
            </a:fld>
            <a:endParaRPr lang="en-US" altLang="en-US"/>
          </a:p>
        </p:txBody>
      </p:sp>
      <p:grpSp>
        <p:nvGrpSpPr>
          <p:cNvPr id="23" name="Group 22"/>
          <p:cNvGrpSpPr/>
          <p:nvPr/>
        </p:nvGrpSpPr>
        <p:grpSpPr>
          <a:xfrm>
            <a:off x="7368794" y="277813"/>
            <a:ext cx="1782926" cy="838200"/>
            <a:chOff x="7087750" y="5562600"/>
            <a:chExt cx="1782926" cy="838200"/>
          </a:xfrm>
        </p:grpSpPr>
        <p:sp>
          <p:nvSpPr>
            <p:cNvPr id="29" name="AutoShape 8"/>
            <p:cNvSpPr>
              <a:spLocks noChangeArrowheads="1"/>
            </p:cNvSpPr>
            <p:nvPr/>
          </p:nvSpPr>
          <p:spPr bwMode="auto">
            <a:xfrm>
              <a:off x="7696200" y="5791200"/>
              <a:ext cx="704224" cy="609600"/>
            </a:xfrm>
            <a:prstGeom prst="smileyFace">
              <a:avLst>
                <a:gd name="adj" fmla="val 4653"/>
              </a:avLst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8248024" y="5562600"/>
              <a:ext cx="622652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L</a:t>
              </a:r>
              <a:r>
                <a:rPr lang="en-US" dirty="0">
                  <a:solidFill>
                    <a:schemeClr val="tx1"/>
                  </a:solidFill>
                </a:rPr>
                <a:t>eft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7087750" y="5562600"/>
              <a:ext cx="775052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R</a:t>
              </a:r>
              <a:r>
                <a:rPr lang="en-US" dirty="0">
                  <a:solidFill>
                    <a:schemeClr val="tx1"/>
                  </a:solidFill>
                </a:rPr>
                <a:t>ight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4359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458200" cy="712787"/>
          </a:xfrm>
        </p:spPr>
        <p:txBody>
          <a:bodyPr/>
          <a:lstStyle/>
          <a:p>
            <a:r>
              <a:rPr lang="en-US" altLang="en-US" sz="3800" dirty="0"/>
              <a:t>Dining Philosopher: </a:t>
            </a:r>
            <a:r>
              <a:rPr lang="en-US" altLang="en-US" sz="3800" b="1" dirty="0" err="1">
                <a:solidFill>
                  <a:srgbClr val="C00000"/>
                </a:solidFill>
              </a:rPr>
              <a:t>Tanenbaum</a:t>
            </a:r>
            <a:r>
              <a:rPr lang="en-US" altLang="en-US" sz="3800" b="1" dirty="0">
                <a:solidFill>
                  <a:srgbClr val="C00000"/>
                </a:solidFill>
              </a:rPr>
              <a:t> Solution</a:t>
            </a:r>
          </a:p>
        </p:txBody>
      </p:sp>
      <p:sp>
        <p:nvSpPr>
          <p:cNvPr id="716804" name="Text Box 4"/>
          <p:cNvSpPr txBox="1">
            <a:spLocks noChangeArrowheads="1"/>
          </p:cNvSpPr>
          <p:nvPr/>
        </p:nvSpPr>
        <p:spPr bwMode="auto">
          <a:xfrm>
            <a:off x="381000" y="990600"/>
            <a:ext cx="4038600" cy="5590761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#define N 5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#define LEFT ((i+N-1)% N)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#define RIGHT ((i+1) % N)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#define </a:t>
            </a:r>
            <a:r>
              <a:rPr lang="en-US" altLang="en-US" b="1" dirty="0">
                <a:solidFill>
                  <a:srgbClr val="003300"/>
                </a:solidFill>
                <a:latin typeface="Courier New" panose="02070309020205020404" pitchFamily="49" charset="0"/>
              </a:rPr>
              <a:t>THINKING</a:t>
            </a:r>
            <a:r>
              <a:rPr lang="en-US" altLang="en-US" b="1" dirty="0">
                <a:latin typeface="Courier New" panose="02070309020205020404" pitchFamily="49" charset="0"/>
              </a:rPr>
              <a:t> 0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#define </a:t>
            </a:r>
            <a:r>
              <a:rPr lang="en-US" altLang="en-US" b="1" dirty="0">
                <a:solidFill>
                  <a:srgbClr val="660066"/>
                </a:solidFill>
                <a:latin typeface="Courier New" panose="02070309020205020404" pitchFamily="49" charset="0"/>
              </a:rPr>
              <a:t>HUNGRY</a:t>
            </a:r>
            <a:r>
              <a:rPr lang="en-US" altLang="en-US" b="1" dirty="0">
                <a:latin typeface="Courier New" panose="02070309020205020404" pitchFamily="49" charset="0"/>
              </a:rPr>
              <a:t> 1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#define </a:t>
            </a:r>
            <a:r>
              <a:rPr lang="en-US" altLang="en-US" b="1" dirty="0">
                <a:solidFill>
                  <a:srgbClr val="C00000"/>
                </a:solidFill>
                <a:latin typeface="Courier New" panose="02070309020205020404" pitchFamily="49" charset="0"/>
              </a:rPr>
              <a:t>EATING</a:t>
            </a:r>
            <a:r>
              <a:rPr lang="en-US" altLang="en-US" b="1" dirty="0">
                <a:solidFill>
                  <a:srgbClr val="0033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>
                <a:latin typeface="Courier New" panose="02070309020205020404" pitchFamily="49" charset="0"/>
              </a:rPr>
              <a:t>2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 err="1">
                <a:solidFill>
                  <a:srgbClr val="660066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b="1" dirty="0">
                <a:latin typeface="Courier New" panose="02070309020205020404" pitchFamily="49" charset="0"/>
              </a:rPr>
              <a:t> state[N];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solidFill>
                  <a:srgbClr val="0070C0"/>
                </a:solidFill>
                <a:latin typeface="Courier New" panose="02070309020205020404" pitchFamily="49" charset="0"/>
              </a:rPr>
              <a:t>Semaphore</a:t>
            </a:r>
            <a:r>
              <a:rPr lang="en-US" altLang="en-US" b="1" dirty="0">
                <a:latin typeface="Courier New" panose="02070309020205020404" pitchFamily="49" charset="0"/>
              </a:rPr>
              <a:t> </a:t>
            </a:r>
            <a:r>
              <a:rPr lang="en-US" altLang="en-US" b="1" dirty="0" err="1">
                <a:latin typeface="Courier New" panose="02070309020205020404" pitchFamily="49" charset="0"/>
              </a:rPr>
              <a:t>mutex</a:t>
            </a:r>
            <a:r>
              <a:rPr lang="en-US" altLang="en-US" b="1" dirty="0">
                <a:latin typeface="Courier New" panose="02070309020205020404" pitchFamily="49" charset="0"/>
              </a:rPr>
              <a:t> = 1;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solidFill>
                  <a:srgbClr val="0070C0"/>
                </a:solidFill>
                <a:latin typeface="Courier New" panose="02070309020205020404" pitchFamily="49" charset="0"/>
              </a:rPr>
              <a:t>Semaphore</a:t>
            </a:r>
            <a:r>
              <a:rPr lang="en-US" altLang="en-US" b="1" dirty="0">
                <a:latin typeface="Courier New" panose="02070309020205020404" pitchFamily="49" charset="0"/>
              </a:rPr>
              <a:t> s[N];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solidFill>
                  <a:srgbClr val="006600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b="1" dirty="0">
                <a:latin typeface="Courier New" panose="02070309020205020404" pitchFamily="49" charset="0"/>
              </a:rPr>
              <a:t> </a:t>
            </a:r>
            <a:r>
              <a:rPr lang="en-US" altLang="en-US" b="1" i="1" dirty="0">
                <a:solidFill>
                  <a:srgbClr val="002060"/>
                </a:solidFill>
                <a:latin typeface="Courier New" panose="02070309020205020404" pitchFamily="49" charset="0"/>
              </a:rPr>
              <a:t>philosopher</a:t>
            </a:r>
            <a:r>
              <a:rPr lang="en-US" altLang="en-US" b="1" dirty="0">
                <a:latin typeface="Courier New" panose="02070309020205020404" pitchFamily="49" charset="0"/>
              </a:rPr>
              <a:t>( </a:t>
            </a:r>
            <a:r>
              <a:rPr lang="en-US" altLang="en-US" b="1" dirty="0" err="1">
                <a:latin typeface="Courier New" panose="02070309020205020404" pitchFamily="49" charset="0"/>
              </a:rPr>
              <a:t>int</a:t>
            </a:r>
            <a:r>
              <a:rPr lang="en-US" altLang="en-US" b="1" dirty="0">
                <a:latin typeface="Courier New" panose="02070309020205020404" pitchFamily="49" charset="0"/>
              </a:rPr>
              <a:t> </a:t>
            </a:r>
            <a:r>
              <a:rPr lang="en-US" altLang="en-US" b="1" dirty="0" err="1"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</a:rPr>
              <a:t> ){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</a:t>
            </a:r>
            <a:r>
              <a:rPr lang="en-US" altLang="en-US" b="1" dirty="0">
                <a:solidFill>
                  <a:srgbClr val="660066"/>
                </a:solidFill>
                <a:latin typeface="Courier New" panose="02070309020205020404" pitchFamily="49" charset="0"/>
              </a:rPr>
              <a:t>while</a:t>
            </a:r>
            <a:r>
              <a:rPr lang="en-US" altLang="en-US" b="1" dirty="0">
                <a:latin typeface="Courier New" panose="02070309020205020404" pitchFamily="49" charset="0"/>
              </a:rPr>
              <a:t> (</a:t>
            </a:r>
            <a:r>
              <a:rPr lang="en-US" altLang="en-US" b="1" dirty="0">
                <a:solidFill>
                  <a:srgbClr val="002060"/>
                </a:solidFill>
                <a:latin typeface="Courier New" panose="02070309020205020404" pitchFamily="49" charset="0"/>
              </a:rPr>
              <a:t>TRUE</a:t>
            </a:r>
            <a:r>
              <a:rPr lang="en-US" altLang="en-US" b="1" dirty="0">
                <a:latin typeface="Courier New" panose="02070309020205020404" pitchFamily="49" charset="0"/>
              </a:rPr>
              <a:t>){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Think( );</a:t>
            </a:r>
            <a:endParaRPr lang="en-US" altLang="en-US" b="1" dirty="0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</a:t>
            </a:r>
            <a:r>
              <a:rPr lang="en-US" altLang="en-US" b="1" i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takeChpStcks</a:t>
            </a:r>
            <a:r>
              <a:rPr lang="en-US" altLang="en-US" b="1" dirty="0">
                <a:solidFill>
                  <a:schemeClr val="tx2"/>
                </a:solidFill>
                <a:latin typeface="Courier New" panose="02070309020205020404" pitchFamily="49" charset="0"/>
              </a:rPr>
              <a:t>( </a:t>
            </a:r>
            <a:r>
              <a:rPr lang="en-US" altLang="en-US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solidFill>
                  <a:schemeClr val="tx2"/>
                </a:solidFill>
                <a:latin typeface="Courier New" panose="02070309020205020404" pitchFamily="49" charset="0"/>
              </a:rPr>
              <a:t> 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Eat( 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</a:t>
            </a:r>
            <a:r>
              <a:rPr lang="en-US" altLang="en-US" b="1" i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putChpStcks</a:t>
            </a:r>
            <a:r>
              <a:rPr lang="en-US" altLang="en-US" b="1" dirty="0">
                <a:solidFill>
                  <a:schemeClr val="tx2"/>
                </a:solidFill>
                <a:latin typeface="Courier New" panose="02070309020205020404" pitchFamily="49" charset="0"/>
              </a:rPr>
              <a:t>( </a:t>
            </a:r>
            <a:r>
              <a:rPr lang="en-US" altLang="en-US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solidFill>
                  <a:schemeClr val="tx2"/>
                </a:solidFill>
                <a:latin typeface="Courier New" panose="02070309020205020404" pitchFamily="49" charset="0"/>
              </a:rPr>
              <a:t> 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}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}</a:t>
            </a:r>
          </a:p>
        </p:txBody>
      </p:sp>
      <p:grpSp>
        <p:nvGrpSpPr>
          <p:cNvPr id="716822" name="Group 22"/>
          <p:cNvGrpSpPr>
            <a:grpSpLocks/>
          </p:cNvGrpSpPr>
          <p:nvPr/>
        </p:nvGrpSpPr>
        <p:grpSpPr bwMode="auto">
          <a:xfrm>
            <a:off x="5181600" y="2286000"/>
            <a:ext cx="3048000" cy="2362200"/>
            <a:chOff x="1776" y="624"/>
            <a:chExt cx="1920" cy="1488"/>
          </a:xfrm>
        </p:grpSpPr>
        <p:sp>
          <p:nvSpPr>
            <p:cNvPr id="716823" name="AutoShape 23"/>
            <p:cNvSpPr>
              <a:spLocks noChangeArrowheads="1"/>
            </p:cNvSpPr>
            <p:nvPr/>
          </p:nvSpPr>
          <p:spPr bwMode="auto">
            <a:xfrm>
              <a:off x="2496" y="624"/>
              <a:ext cx="480" cy="384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6824" name="AutoShape 24"/>
            <p:cNvSpPr>
              <a:spLocks noChangeArrowheads="1"/>
            </p:cNvSpPr>
            <p:nvPr/>
          </p:nvSpPr>
          <p:spPr bwMode="auto">
            <a:xfrm>
              <a:off x="1776" y="1056"/>
              <a:ext cx="480" cy="384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6825" name="AutoShape 25"/>
            <p:cNvSpPr>
              <a:spLocks noChangeArrowheads="1"/>
            </p:cNvSpPr>
            <p:nvPr/>
          </p:nvSpPr>
          <p:spPr bwMode="auto">
            <a:xfrm>
              <a:off x="3216" y="1056"/>
              <a:ext cx="480" cy="384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6826" name="AutoShape 26"/>
            <p:cNvSpPr>
              <a:spLocks noChangeArrowheads="1"/>
            </p:cNvSpPr>
            <p:nvPr/>
          </p:nvSpPr>
          <p:spPr bwMode="auto">
            <a:xfrm>
              <a:off x="2016" y="1680"/>
              <a:ext cx="480" cy="384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6827" name="AutoShape 27"/>
            <p:cNvSpPr>
              <a:spLocks noChangeArrowheads="1"/>
            </p:cNvSpPr>
            <p:nvPr/>
          </p:nvSpPr>
          <p:spPr bwMode="auto">
            <a:xfrm>
              <a:off x="2976" y="1680"/>
              <a:ext cx="480" cy="384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16828" name="Group 28"/>
            <p:cNvGrpSpPr>
              <a:grpSpLocks/>
            </p:cNvGrpSpPr>
            <p:nvPr/>
          </p:nvGrpSpPr>
          <p:grpSpPr bwMode="auto">
            <a:xfrm>
              <a:off x="1872" y="720"/>
              <a:ext cx="1728" cy="1392"/>
              <a:chOff x="1872" y="720"/>
              <a:chExt cx="1728" cy="1392"/>
            </a:xfrm>
          </p:grpSpPr>
          <p:sp>
            <p:nvSpPr>
              <p:cNvPr id="716829" name="AutoShape 29"/>
              <p:cNvSpPr>
                <a:spLocks noChangeArrowheads="1"/>
              </p:cNvSpPr>
              <p:nvPr/>
            </p:nvSpPr>
            <p:spPr bwMode="auto">
              <a:xfrm rot="1800000">
                <a:off x="3072" y="720"/>
                <a:ext cx="48" cy="480"/>
              </a:xfrm>
              <a:prstGeom prst="cube">
                <a:avLst>
                  <a:gd name="adj" fmla="val 25000"/>
                </a:avLst>
              </a:prstGeom>
              <a:solidFill>
                <a:srgbClr val="99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6830" name="AutoShape 30"/>
              <p:cNvSpPr>
                <a:spLocks noChangeArrowheads="1"/>
              </p:cNvSpPr>
              <p:nvPr/>
            </p:nvSpPr>
            <p:spPr bwMode="auto">
              <a:xfrm>
                <a:off x="2736" y="1632"/>
                <a:ext cx="48" cy="480"/>
              </a:xfrm>
              <a:prstGeom prst="cube">
                <a:avLst>
                  <a:gd name="adj" fmla="val 25000"/>
                </a:avLst>
              </a:prstGeom>
              <a:solidFill>
                <a:srgbClr val="99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6831" name="AutoShape 31"/>
              <p:cNvSpPr>
                <a:spLocks noChangeArrowheads="1"/>
              </p:cNvSpPr>
              <p:nvPr/>
            </p:nvSpPr>
            <p:spPr bwMode="auto">
              <a:xfrm rot="19500000">
                <a:off x="2352" y="768"/>
                <a:ext cx="48" cy="480"/>
              </a:xfrm>
              <a:prstGeom prst="cube">
                <a:avLst>
                  <a:gd name="adj" fmla="val 25000"/>
                </a:avLst>
              </a:prstGeom>
              <a:solidFill>
                <a:srgbClr val="99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6832" name="AutoShape 32"/>
              <p:cNvSpPr>
                <a:spLocks noChangeArrowheads="1"/>
              </p:cNvSpPr>
              <p:nvPr/>
            </p:nvSpPr>
            <p:spPr bwMode="auto">
              <a:xfrm rot="4800000">
                <a:off x="2088" y="1320"/>
                <a:ext cx="48" cy="480"/>
              </a:xfrm>
              <a:prstGeom prst="cube">
                <a:avLst>
                  <a:gd name="adj" fmla="val 25000"/>
                </a:avLst>
              </a:prstGeom>
              <a:solidFill>
                <a:srgbClr val="99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6833" name="AutoShape 33"/>
              <p:cNvSpPr>
                <a:spLocks noChangeArrowheads="1"/>
              </p:cNvSpPr>
              <p:nvPr/>
            </p:nvSpPr>
            <p:spPr bwMode="auto">
              <a:xfrm rot="16800000">
                <a:off x="3336" y="1320"/>
                <a:ext cx="48" cy="480"/>
              </a:xfrm>
              <a:prstGeom prst="cube">
                <a:avLst>
                  <a:gd name="adj" fmla="val 25000"/>
                </a:avLst>
              </a:prstGeom>
              <a:solidFill>
                <a:srgbClr val="99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716834" name="Group 34"/>
          <p:cNvGrpSpPr>
            <a:grpSpLocks/>
          </p:cNvGrpSpPr>
          <p:nvPr/>
        </p:nvGrpSpPr>
        <p:grpSpPr bwMode="auto">
          <a:xfrm>
            <a:off x="6096000" y="1524000"/>
            <a:ext cx="1295400" cy="762000"/>
            <a:chOff x="3696" y="864"/>
            <a:chExt cx="816" cy="480"/>
          </a:xfrm>
        </p:grpSpPr>
        <p:sp>
          <p:nvSpPr>
            <p:cNvPr id="716835" name="Rectangle 35"/>
            <p:cNvSpPr>
              <a:spLocks noChangeArrowheads="1"/>
            </p:cNvSpPr>
            <p:nvPr/>
          </p:nvSpPr>
          <p:spPr bwMode="auto">
            <a:xfrm>
              <a:off x="4224" y="864"/>
              <a:ext cx="288" cy="24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anose="02070309020205020404" pitchFamily="49" charset="0"/>
              </a:endParaRPr>
            </a:p>
          </p:txBody>
        </p:sp>
        <p:sp>
          <p:nvSpPr>
            <p:cNvPr id="716836" name="Rectangle 36"/>
            <p:cNvSpPr>
              <a:spLocks noChangeArrowheads="1"/>
            </p:cNvSpPr>
            <p:nvPr/>
          </p:nvSpPr>
          <p:spPr bwMode="auto">
            <a:xfrm>
              <a:off x="3696" y="864"/>
              <a:ext cx="52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b="1">
                  <a:latin typeface="Courier New" panose="02070309020205020404" pitchFamily="49" charset="0"/>
                </a:rPr>
                <a:t>St</a:t>
              </a:r>
            </a:p>
          </p:txBody>
        </p:sp>
        <p:sp>
          <p:nvSpPr>
            <p:cNvPr id="716837" name="Rectangle 37"/>
            <p:cNvSpPr>
              <a:spLocks noChangeArrowheads="1"/>
            </p:cNvSpPr>
            <p:nvPr/>
          </p:nvSpPr>
          <p:spPr bwMode="auto">
            <a:xfrm>
              <a:off x="4224" y="1104"/>
              <a:ext cx="288" cy="2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anose="02070309020205020404" pitchFamily="49" charset="0"/>
              </a:endParaRPr>
            </a:p>
          </p:txBody>
        </p:sp>
        <p:sp>
          <p:nvSpPr>
            <p:cNvPr id="716838" name="Rectangle 38"/>
            <p:cNvSpPr>
              <a:spLocks noChangeArrowheads="1"/>
            </p:cNvSpPr>
            <p:nvPr/>
          </p:nvSpPr>
          <p:spPr bwMode="auto">
            <a:xfrm>
              <a:off x="3840" y="1104"/>
              <a:ext cx="382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b="1">
                  <a:latin typeface="Courier New" panose="02070309020205020404" pitchFamily="49" charset="0"/>
                </a:rPr>
                <a:t>Sem</a:t>
              </a:r>
            </a:p>
          </p:txBody>
        </p:sp>
      </p:grpSp>
      <p:grpSp>
        <p:nvGrpSpPr>
          <p:cNvPr id="716839" name="Group 39"/>
          <p:cNvGrpSpPr>
            <a:grpSpLocks/>
          </p:cNvGrpSpPr>
          <p:nvPr/>
        </p:nvGrpSpPr>
        <p:grpSpPr bwMode="auto">
          <a:xfrm>
            <a:off x="7620000" y="2286000"/>
            <a:ext cx="1295400" cy="762000"/>
            <a:chOff x="3696" y="864"/>
            <a:chExt cx="816" cy="480"/>
          </a:xfrm>
        </p:grpSpPr>
        <p:sp>
          <p:nvSpPr>
            <p:cNvPr id="716840" name="Rectangle 40"/>
            <p:cNvSpPr>
              <a:spLocks noChangeArrowheads="1"/>
            </p:cNvSpPr>
            <p:nvPr/>
          </p:nvSpPr>
          <p:spPr bwMode="auto">
            <a:xfrm>
              <a:off x="4224" y="864"/>
              <a:ext cx="288" cy="24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anose="02070309020205020404" pitchFamily="49" charset="0"/>
              </a:endParaRPr>
            </a:p>
          </p:txBody>
        </p:sp>
        <p:sp>
          <p:nvSpPr>
            <p:cNvPr id="716841" name="Rectangle 41"/>
            <p:cNvSpPr>
              <a:spLocks noChangeArrowheads="1"/>
            </p:cNvSpPr>
            <p:nvPr/>
          </p:nvSpPr>
          <p:spPr bwMode="auto">
            <a:xfrm>
              <a:off x="3696" y="864"/>
              <a:ext cx="52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b="1">
                  <a:latin typeface="Courier New" panose="02070309020205020404" pitchFamily="49" charset="0"/>
                </a:rPr>
                <a:t>St</a:t>
              </a:r>
            </a:p>
          </p:txBody>
        </p:sp>
        <p:sp>
          <p:nvSpPr>
            <p:cNvPr id="716842" name="Rectangle 42"/>
            <p:cNvSpPr>
              <a:spLocks noChangeArrowheads="1"/>
            </p:cNvSpPr>
            <p:nvPr/>
          </p:nvSpPr>
          <p:spPr bwMode="auto">
            <a:xfrm>
              <a:off x="4224" y="1104"/>
              <a:ext cx="288" cy="2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anose="02070309020205020404" pitchFamily="49" charset="0"/>
              </a:endParaRPr>
            </a:p>
          </p:txBody>
        </p:sp>
        <p:sp>
          <p:nvSpPr>
            <p:cNvPr id="716843" name="Rectangle 43"/>
            <p:cNvSpPr>
              <a:spLocks noChangeArrowheads="1"/>
            </p:cNvSpPr>
            <p:nvPr/>
          </p:nvSpPr>
          <p:spPr bwMode="auto">
            <a:xfrm>
              <a:off x="3840" y="1104"/>
              <a:ext cx="382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b="1">
                  <a:latin typeface="Courier New" panose="02070309020205020404" pitchFamily="49" charset="0"/>
                </a:rPr>
                <a:t>Sem</a:t>
              </a:r>
            </a:p>
          </p:txBody>
        </p:sp>
      </p:grpSp>
      <p:grpSp>
        <p:nvGrpSpPr>
          <p:cNvPr id="716844" name="Group 44"/>
          <p:cNvGrpSpPr>
            <a:grpSpLocks/>
          </p:cNvGrpSpPr>
          <p:nvPr/>
        </p:nvGrpSpPr>
        <p:grpSpPr bwMode="auto">
          <a:xfrm>
            <a:off x="6934200" y="4648200"/>
            <a:ext cx="1295400" cy="762000"/>
            <a:chOff x="3696" y="864"/>
            <a:chExt cx="816" cy="480"/>
          </a:xfrm>
        </p:grpSpPr>
        <p:sp>
          <p:nvSpPr>
            <p:cNvPr id="716845" name="Rectangle 45"/>
            <p:cNvSpPr>
              <a:spLocks noChangeArrowheads="1"/>
            </p:cNvSpPr>
            <p:nvPr/>
          </p:nvSpPr>
          <p:spPr bwMode="auto">
            <a:xfrm>
              <a:off x="4224" y="864"/>
              <a:ext cx="288" cy="24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anose="02070309020205020404" pitchFamily="49" charset="0"/>
              </a:endParaRPr>
            </a:p>
          </p:txBody>
        </p:sp>
        <p:sp>
          <p:nvSpPr>
            <p:cNvPr id="716846" name="Rectangle 46"/>
            <p:cNvSpPr>
              <a:spLocks noChangeArrowheads="1"/>
            </p:cNvSpPr>
            <p:nvPr/>
          </p:nvSpPr>
          <p:spPr bwMode="auto">
            <a:xfrm>
              <a:off x="3696" y="864"/>
              <a:ext cx="52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b="1">
                  <a:latin typeface="Courier New" panose="02070309020205020404" pitchFamily="49" charset="0"/>
                </a:rPr>
                <a:t>St</a:t>
              </a:r>
            </a:p>
          </p:txBody>
        </p:sp>
        <p:sp>
          <p:nvSpPr>
            <p:cNvPr id="716847" name="Rectangle 47"/>
            <p:cNvSpPr>
              <a:spLocks noChangeArrowheads="1"/>
            </p:cNvSpPr>
            <p:nvPr/>
          </p:nvSpPr>
          <p:spPr bwMode="auto">
            <a:xfrm>
              <a:off x="4224" y="1104"/>
              <a:ext cx="288" cy="2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anose="02070309020205020404" pitchFamily="49" charset="0"/>
              </a:endParaRPr>
            </a:p>
          </p:txBody>
        </p:sp>
        <p:sp>
          <p:nvSpPr>
            <p:cNvPr id="716848" name="Rectangle 48"/>
            <p:cNvSpPr>
              <a:spLocks noChangeArrowheads="1"/>
            </p:cNvSpPr>
            <p:nvPr/>
          </p:nvSpPr>
          <p:spPr bwMode="auto">
            <a:xfrm>
              <a:off x="3840" y="1104"/>
              <a:ext cx="382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b="1">
                  <a:latin typeface="Courier New" panose="02070309020205020404" pitchFamily="49" charset="0"/>
                </a:rPr>
                <a:t>Sem</a:t>
              </a:r>
            </a:p>
          </p:txBody>
        </p:sp>
      </p:grpSp>
      <p:grpSp>
        <p:nvGrpSpPr>
          <p:cNvPr id="716849" name="Group 49"/>
          <p:cNvGrpSpPr>
            <a:grpSpLocks/>
          </p:cNvGrpSpPr>
          <p:nvPr/>
        </p:nvGrpSpPr>
        <p:grpSpPr bwMode="auto">
          <a:xfrm>
            <a:off x="4572000" y="4648200"/>
            <a:ext cx="1295400" cy="762000"/>
            <a:chOff x="3696" y="864"/>
            <a:chExt cx="816" cy="480"/>
          </a:xfrm>
        </p:grpSpPr>
        <p:sp>
          <p:nvSpPr>
            <p:cNvPr id="716850" name="Rectangle 50"/>
            <p:cNvSpPr>
              <a:spLocks noChangeArrowheads="1"/>
            </p:cNvSpPr>
            <p:nvPr/>
          </p:nvSpPr>
          <p:spPr bwMode="auto">
            <a:xfrm>
              <a:off x="4224" y="864"/>
              <a:ext cx="288" cy="24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anose="02070309020205020404" pitchFamily="49" charset="0"/>
              </a:endParaRPr>
            </a:p>
          </p:txBody>
        </p:sp>
        <p:sp>
          <p:nvSpPr>
            <p:cNvPr id="716851" name="Rectangle 51"/>
            <p:cNvSpPr>
              <a:spLocks noChangeArrowheads="1"/>
            </p:cNvSpPr>
            <p:nvPr/>
          </p:nvSpPr>
          <p:spPr bwMode="auto">
            <a:xfrm>
              <a:off x="3696" y="864"/>
              <a:ext cx="52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b="1">
                  <a:latin typeface="Courier New" panose="02070309020205020404" pitchFamily="49" charset="0"/>
                </a:rPr>
                <a:t>St</a:t>
              </a:r>
            </a:p>
          </p:txBody>
        </p:sp>
        <p:sp>
          <p:nvSpPr>
            <p:cNvPr id="716852" name="Rectangle 52"/>
            <p:cNvSpPr>
              <a:spLocks noChangeArrowheads="1"/>
            </p:cNvSpPr>
            <p:nvPr/>
          </p:nvSpPr>
          <p:spPr bwMode="auto">
            <a:xfrm>
              <a:off x="4224" y="1104"/>
              <a:ext cx="288" cy="2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anose="02070309020205020404" pitchFamily="49" charset="0"/>
              </a:endParaRPr>
            </a:p>
          </p:txBody>
        </p:sp>
        <p:sp>
          <p:nvSpPr>
            <p:cNvPr id="716853" name="Rectangle 53"/>
            <p:cNvSpPr>
              <a:spLocks noChangeArrowheads="1"/>
            </p:cNvSpPr>
            <p:nvPr/>
          </p:nvSpPr>
          <p:spPr bwMode="auto">
            <a:xfrm>
              <a:off x="3840" y="1104"/>
              <a:ext cx="382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b="1">
                  <a:latin typeface="Courier New" panose="02070309020205020404" pitchFamily="49" charset="0"/>
                </a:rPr>
                <a:t>Sem</a:t>
              </a:r>
            </a:p>
          </p:txBody>
        </p:sp>
      </p:grpSp>
      <p:grpSp>
        <p:nvGrpSpPr>
          <p:cNvPr id="716854" name="Group 54"/>
          <p:cNvGrpSpPr>
            <a:grpSpLocks/>
          </p:cNvGrpSpPr>
          <p:nvPr/>
        </p:nvGrpSpPr>
        <p:grpSpPr bwMode="auto">
          <a:xfrm>
            <a:off x="4191000" y="2133600"/>
            <a:ext cx="1295400" cy="762000"/>
            <a:chOff x="3696" y="864"/>
            <a:chExt cx="816" cy="480"/>
          </a:xfrm>
        </p:grpSpPr>
        <p:sp>
          <p:nvSpPr>
            <p:cNvPr id="716855" name="Rectangle 55"/>
            <p:cNvSpPr>
              <a:spLocks noChangeArrowheads="1"/>
            </p:cNvSpPr>
            <p:nvPr/>
          </p:nvSpPr>
          <p:spPr bwMode="auto">
            <a:xfrm>
              <a:off x="4224" y="864"/>
              <a:ext cx="288" cy="24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anose="02070309020205020404" pitchFamily="49" charset="0"/>
              </a:endParaRPr>
            </a:p>
          </p:txBody>
        </p:sp>
        <p:sp>
          <p:nvSpPr>
            <p:cNvPr id="716856" name="Rectangle 56"/>
            <p:cNvSpPr>
              <a:spLocks noChangeArrowheads="1"/>
            </p:cNvSpPr>
            <p:nvPr/>
          </p:nvSpPr>
          <p:spPr bwMode="auto">
            <a:xfrm>
              <a:off x="3696" y="864"/>
              <a:ext cx="526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b="1">
                  <a:latin typeface="Courier New" panose="02070309020205020404" pitchFamily="49" charset="0"/>
                </a:rPr>
                <a:t>St</a:t>
              </a:r>
            </a:p>
          </p:txBody>
        </p:sp>
        <p:sp>
          <p:nvSpPr>
            <p:cNvPr id="716857" name="Rectangle 57"/>
            <p:cNvSpPr>
              <a:spLocks noChangeArrowheads="1"/>
            </p:cNvSpPr>
            <p:nvPr/>
          </p:nvSpPr>
          <p:spPr bwMode="auto">
            <a:xfrm>
              <a:off x="4224" y="1104"/>
              <a:ext cx="288" cy="2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anose="02070309020205020404" pitchFamily="49" charset="0"/>
              </a:endParaRPr>
            </a:p>
          </p:txBody>
        </p:sp>
        <p:sp>
          <p:nvSpPr>
            <p:cNvPr id="716858" name="Rectangle 58"/>
            <p:cNvSpPr>
              <a:spLocks noChangeArrowheads="1"/>
            </p:cNvSpPr>
            <p:nvPr/>
          </p:nvSpPr>
          <p:spPr bwMode="auto">
            <a:xfrm>
              <a:off x="3840" y="1104"/>
              <a:ext cx="382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b="1">
                  <a:latin typeface="Courier New" panose="02070309020205020404" pitchFamily="49" charset="0"/>
                </a:rPr>
                <a:t>Sem</a:t>
              </a:r>
            </a:p>
          </p:txBody>
        </p:sp>
      </p:grp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47</a:t>
            </a:fld>
            <a:endParaRPr lang="en-US" altLang="en-US"/>
          </a:p>
        </p:txBody>
      </p:sp>
      <p:grpSp>
        <p:nvGrpSpPr>
          <p:cNvPr id="43" name="Group 42"/>
          <p:cNvGrpSpPr/>
          <p:nvPr/>
        </p:nvGrpSpPr>
        <p:grpSpPr>
          <a:xfrm>
            <a:off x="7446562" y="5739019"/>
            <a:ext cx="1668626" cy="713961"/>
            <a:chOff x="7087750" y="5562600"/>
            <a:chExt cx="1782926" cy="838200"/>
          </a:xfrm>
        </p:grpSpPr>
        <p:sp>
          <p:nvSpPr>
            <p:cNvPr id="44" name="AutoShape 8"/>
            <p:cNvSpPr>
              <a:spLocks noChangeArrowheads="1"/>
            </p:cNvSpPr>
            <p:nvPr/>
          </p:nvSpPr>
          <p:spPr bwMode="auto">
            <a:xfrm>
              <a:off x="7696200" y="5791200"/>
              <a:ext cx="704224" cy="609600"/>
            </a:xfrm>
            <a:prstGeom prst="smileyFace">
              <a:avLst>
                <a:gd name="adj" fmla="val 4653"/>
              </a:avLst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8248024" y="5562600"/>
              <a:ext cx="622652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L</a:t>
              </a:r>
              <a:r>
                <a:rPr lang="en-US" dirty="0">
                  <a:solidFill>
                    <a:schemeClr val="tx1"/>
                  </a:solidFill>
                </a:rPr>
                <a:t>eft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7087750" y="5562600"/>
              <a:ext cx="775052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R</a:t>
              </a:r>
              <a:r>
                <a:rPr lang="en-US" dirty="0">
                  <a:solidFill>
                    <a:schemeClr val="tx1"/>
                  </a:solidFill>
                </a:rPr>
                <a:t>ight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6376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Dining Philosopher: </a:t>
            </a:r>
            <a:r>
              <a:rPr lang="en-US" altLang="en-US" sz="3600" b="1" dirty="0" err="1">
                <a:solidFill>
                  <a:srgbClr val="C00000"/>
                </a:solidFill>
              </a:rPr>
              <a:t>Tanenbaum</a:t>
            </a:r>
            <a:r>
              <a:rPr lang="en-US" altLang="en-US" sz="3600" b="1" dirty="0">
                <a:solidFill>
                  <a:srgbClr val="C00000"/>
                </a:solidFill>
              </a:rPr>
              <a:t> Solution</a:t>
            </a:r>
            <a:endParaRPr lang="en-US" altLang="en-US" sz="3600" dirty="0"/>
          </a:p>
        </p:txBody>
      </p:sp>
      <p:sp>
        <p:nvSpPr>
          <p:cNvPr id="717827" name="Text Box 3"/>
          <p:cNvSpPr txBox="1">
            <a:spLocks noChangeArrowheads="1"/>
          </p:cNvSpPr>
          <p:nvPr/>
        </p:nvSpPr>
        <p:spPr bwMode="auto">
          <a:xfrm>
            <a:off x="403731" y="1016793"/>
            <a:ext cx="4038600" cy="2266774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void </a:t>
            </a:r>
            <a:r>
              <a:rPr lang="en-US" altLang="en-US" b="1" i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takeChpStcks</a:t>
            </a:r>
            <a:r>
              <a:rPr lang="en-US" altLang="en-US" b="1" dirty="0">
                <a:latin typeface="Courier New" panose="02070309020205020404" pitchFamily="49" charset="0"/>
              </a:rPr>
              <a:t>( </a:t>
            </a:r>
            <a:r>
              <a:rPr lang="en-US" altLang="en-US" b="1" dirty="0" err="1"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</a:rPr>
              <a:t> )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</a:t>
            </a:r>
            <a:r>
              <a:rPr lang="en-US" altLang="en-US" b="1" dirty="0">
                <a:solidFill>
                  <a:srgbClr val="9900CC"/>
                </a:solidFill>
                <a:latin typeface="Courier New" panose="02070309020205020404" pitchFamily="49" charset="0"/>
              </a:rPr>
              <a:t>wait</a:t>
            </a:r>
            <a:r>
              <a:rPr lang="en-US" altLang="en-US" b="1" dirty="0">
                <a:latin typeface="Courier New" panose="02070309020205020404" pitchFamily="49" charset="0"/>
              </a:rPr>
              <a:t>(</a:t>
            </a:r>
            <a:r>
              <a:rPr lang="en-US" altLang="en-US" b="1" dirty="0">
                <a:solidFill>
                  <a:srgbClr val="9900CC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9900CC"/>
                </a:solidFill>
                <a:latin typeface="Courier New" panose="02070309020205020404" pitchFamily="49" charset="0"/>
              </a:rPr>
              <a:t>mutex</a:t>
            </a:r>
            <a:r>
              <a:rPr lang="en-US" altLang="en-US" b="1" dirty="0">
                <a:solidFill>
                  <a:srgbClr val="9900CC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state[</a:t>
            </a:r>
            <a:r>
              <a:rPr lang="en-US" altLang="en-US" b="1" dirty="0" err="1"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</a:rPr>
              <a:t>] = </a:t>
            </a: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HUNGRY</a:t>
            </a:r>
            <a:r>
              <a:rPr lang="en-US" altLang="en-US" b="1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</a:t>
            </a:r>
            <a:r>
              <a:rPr lang="en-US" altLang="en-US" b="1" i="1" dirty="0" err="1">
                <a:solidFill>
                  <a:srgbClr val="006600"/>
                </a:solidFill>
                <a:latin typeface="Courier New" panose="02070309020205020404" pitchFamily="49" charset="0"/>
              </a:rPr>
              <a:t>safeToEat</a:t>
            </a:r>
            <a:r>
              <a:rPr lang="en-US" altLang="en-US" b="1" dirty="0">
                <a:latin typeface="Courier New" panose="02070309020205020404" pitchFamily="49" charset="0"/>
              </a:rPr>
              <a:t>( </a:t>
            </a:r>
            <a:r>
              <a:rPr lang="en-US" altLang="en-US" b="1" dirty="0" err="1"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</a:rPr>
              <a:t> 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</a:t>
            </a:r>
            <a:r>
              <a:rPr lang="en-US" altLang="en-US" b="1" dirty="0">
                <a:solidFill>
                  <a:srgbClr val="9900CC"/>
                </a:solidFill>
                <a:latin typeface="Courier New" panose="02070309020205020404" pitchFamily="49" charset="0"/>
              </a:rPr>
              <a:t>signal</a:t>
            </a:r>
            <a:r>
              <a:rPr lang="en-US" altLang="en-US" b="1" dirty="0">
                <a:latin typeface="Courier New" panose="02070309020205020404" pitchFamily="49" charset="0"/>
              </a:rPr>
              <a:t>(</a:t>
            </a:r>
            <a:r>
              <a:rPr lang="en-US" altLang="en-US" b="1" dirty="0">
                <a:solidFill>
                  <a:srgbClr val="9900CC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9900CC"/>
                </a:solidFill>
                <a:latin typeface="Courier New" panose="02070309020205020404" pitchFamily="49" charset="0"/>
              </a:rPr>
              <a:t>mutex</a:t>
            </a:r>
            <a:r>
              <a:rPr lang="en-US" altLang="en-US" b="1" dirty="0">
                <a:solidFill>
                  <a:srgbClr val="9900CC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</a:t>
            </a: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wait</a:t>
            </a:r>
            <a:r>
              <a:rPr lang="en-US" altLang="en-US" b="1" dirty="0">
                <a:latin typeface="Courier New" panose="02070309020205020404" pitchFamily="49" charset="0"/>
              </a:rPr>
              <a:t>(</a:t>
            </a: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 s[</a:t>
            </a:r>
            <a:r>
              <a:rPr lang="en-US" altLang="en-US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] </a:t>
            </a:r>
            <a:r>
              <a:rPr lang="en-US" altLang="en-US" b="1" dirty="0"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717832" name="Text Box 8"/>
          <p:cNvSpPr txBox="1">
            <a:spLocks noChangeArrowheads="1"/>
          </p:cNvSpPr>
          <p:nvPr/>
        </p:nvSpPr>
        <p:spPr bwMode="auto">
          <a:xfrm>
            <a:off x="421186" y="3658393"/>
            <a:ext cx="5102225" cy="28207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void </a:t>
            </a:r>
            <a:r>
              <a:rPr lang="en-US" altLang="en-US" b="1" i="1" dirty="0" err="1">
                <a:solidFill>
                  <a:srgbClr val="006600"/>
                </a:solidFill>
                <a:latin typeface="Courier New" panose="02070309020205020404" pitchFamily="49" charset="0"/>
              </a:rPr>
              <a:t>safeToEat</a:t>
            </a:r>
            <a:r>
              <a:rPr lang="en-US" altLang="en-US" b="1" dirty="0">
                <a:latin typeface="Courier New" panose="02070309020205020404" pitchFamily="49" charset="0"/>
              </a:rPr>
              <a:t>( </a:t>
            </a:r>
            <a:r>
              <a:rPr lang="en-US" altLang="en-US" b="1" dirty="0" err="1"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</a:rPr>
              <a:t> )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if( (state[</a:t>
            </a:r>
            <a:r>
              <a:rPr lang="en-US" altLang="en-US" b="1" dirty="0" err="1"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</a:rPr>
              <a:t>] == </a:t>
            </a: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HUNGRY</a:t>
            </a:r>
            <a:r>
              <a:rPr lang="en-US" altLang="en-US" b="1" dirty="0">
                <a:latin typeface="Courier New" panose="02070309020205020404" pitchFamily="49" charset="0"/>
              </a:rPr>
              <a:t>) &amp;&amp;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(state[LEFT] != </a:t>
            </a: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EATING</a:t>
            </a:r>
            <a:r>
              <a:rPr lang="en-US" altLang="en-US" b="1" dirty="0">
                <a:latin typeface="Courier New" panose="02070309020205020404" pitchFamily="49" charset="0"/>
              </a:rPr>
              <a:t>) &amp;&amp;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(state[RIGHT] != </a:t>
            </a: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EATING</a:t>
            </a:r>
            <a:r>
              <a:rPr lang="en-US" altLang="en-US" b="1" dirty="0">
                <a:latin typeface="Courier New" panose="02070309020205020404" pitchFamily="49" charset="0"/>
              </a:rPr>
              <a:t>) ) 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state[ </a:t>
            </a:r>
            <a:r>
              <a:rPr lang="en-US" altLang="en-US" b="1" dirty="0" err="1"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</a:rPr>
              <a:t> ] = </a:t>
            </a: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EATING</a:t>
            </a:r>
            <a:r>
              <a:rPr lang="en-US" altLang="en-US" b="1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     </a:t>
            </a: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signal( s[</a:t>
            </a:r>
            <a:r>
              <a:rPr lang="en-US" altLang="en-US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</a:rPr>
              <a:t>] 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}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}</a:t>
            </a:r>
          </a:p>
        </p:txBody>
      </p:sp>
      <p:grpSp>
        <p:nvGrpSpPr>
          <p:cNvPr id="717890" name="Group 66"/>
          <p:cNvGrpSpPr>
            <a:grpSpLocks/>
          </p:cNvGrpSpPr>
          <p:nvPr/>
        </p:nvGrpSpPr>
        <p:grpSpPr bwMode="auto">
          <a:xfrm>
            <a:off x="4267200" y="838200"/>
            <a:ext cx="4724400" cy="3886200"/>
            <a:chOff x="2688" y="528"/>
            <a:chExt cx="2976" cy="2448"/>
          </a:xfrm>
        </p:grpSpPr>
        <p:grpSp>
          <p:nvGrpSpPr>
            <p:cNvPr id="717853" name="Group 29"/>
            <p:cNvGrpSpPr>
              <a:grpSpLocks/>
            </p:cNvGrpSpPr>
            <p:nvPr/>
          </p:nvGrpSpPr>
          <p:grpSpPr bwMode="auto">
            <a:xfrm>
              <a:off x="3312" y="1008"/>
              <a:ext cx="1920" cy="1488"/>
              <a:chOff x="1776" y="624"/>
              <a:chExt cx="1920" cy="1488"/>
            </a:xfrm>
          </p:grpSpPr>
          <p:sp>
            <p:nvSpPr>
              <p:cNvPr id="717854" name="AutoShape 30"/>
              <p:cNvSpPr>
                <a:spLocks noChangeArrowheads="1"/>
              </p:cNvSpPr>
              <p:nvPr/>
            </p:nvSpPr>
            <p:spPr bwMode="auto">
              <a:xfrm>
                <a:off x="2496" y="624"/>
                <a:ext cx="480" cy="384"/>
              </a:xfrm>
              <a:prstGeom prst="smileyFace">
                <a:avLst>
                  <a:gd name="adj" fmla="val 4653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855" name="AutoShape 31"/>
              <p:cNvSpPr>
                <a:spLocks noChangeArrowheads="1"/>
              </p:cNvSpPr>
              <p:nvPr/>
            </p:nvSpPr>
            <p:spPr bwMode="auto">
              <a:xfrm>
                <a:off x="1776" y="1056"/>
                <a:ext cx="480" cy="384"/>
              </a:xfrm>
              <a:prstGeom prst="smileyFace">
                <a:avLst>
                  <a:gd name="adj" fmla="val 4653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856" name="AutoShape 32"/>
              <p:cNvSpPr>
                <a:spLocks noChangeArrowheads="1"/>
              </p:cNvSpPr>
              <p:nvPr/>
            </p:nvSpPr>
            <p:spPr bwMode="auto">
              <a:xfrm>
                <a:off x="3216" y="1056"/>
                <a:ext cx="480" cy="384"/>
              </a:xfrm>
              <a:prstGeom prst="smileyFace">
                <a:avLst>
                  <a:gd name="adj" fmla="val 4653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857" name="AutoShape 33"/>
              <p:cNvSpPr>
                <a:spLocks noChangeArrowheads="1"/>
              </p:cNvSpPr>
              <p:nvPr/>
            </p:nvSpPr>
            <p:spPr bwMode="auto">
              <a:xfrm>
                <a:off x="2016" y="1680"/>
                <a:ext cx="480" cy="384"/>
              </a:xfrm>
              <a:prstGeom prst="smileyFace">
                <a:avLst>
                  <a:gd name="adj" fmla="val 4653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858" name="AutoShape 34"/>
              <p:cNvSpPr>
                <a:spLocks noChangeArrowheads="1"/>
              </p:cNvSpPr>
              <p:nvPr/>
            </p:nvSpPr>
            <p:spPr bwMode="auto">
              <a:xfrm>
                <a:off x="2976" y="1680"/>
                <a:ext cx="480" cy="384"/>
              </a:xfrm>
              <a:prstGeom prst="smileyFace">
                <a:avLst>
                  <a:gd name="adj" fmla="val 4653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717859" name="Group 35"/>
              <p:cNvGrpSpPr>
                <a:grpSpLocks/>
              </p:cNvGrpSpPr>
              <p:nvPr/>
            </p:nvGrpSpPr>
            <p:grpSpPr bwMode="auto">
              <a:xfrm>
                <a:off x="1872" y="720"/>
                <a:ext cx="1728" cy="1392"/>
                <a:chOff x="1872" y="720"/>
                <a:chExt cx="1728" cy="1392"/>
              </a:xfrm>
            </p:grpSpPr>
            <p:sp>
              <p:nvSpPr>
                <p:cNvPr id="717860" name="AutoShape 36"/>
                <p:cNvSpPr>
                  <a:spLocks noChangeArrowheads="1"/>
                </p:cNvSpPr>
                <p:nvPr/>
              </p:nvSpPr>
              <p:spPr bwMode="auto">
                <a:xfrm rot="1800000">
                  <a:off x="3072" y="720"/>
                  <a:ext cx="48" cy="480"/>
                </a:xfrm>
                <a:prstGeom prst="cube">
                  <a:avLst>
                    <a:gd name="adj" fmla="val 25000"/>
                  </a:avLst>
                </a:prstGeom>
                <a:solidFill>
                  <a:srgbClr val="9933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7861" name="AutoShape 37"/>
                <p:cNvSpPr>
                  <a:spLocks noChangeArrowheads="1"/>
                </p:cNvSpPr>
                <p:nvPr/>
              </p:nvSpPr>
              <p:spPr bwMode="auto">
                <a:xfrm>
                  <a:off x="2736" y="1632"/>
                  <a:ext cx="48" cy="480"/>
                </a:xfrm>
                <a:prstGeom prst="cube">
                  <a:avLst>
                    <a:gd name="adj" fmla="val 25000"/>
                  </a:avLst>
                </a:prstGeom>
                <a:solidFill>
                  <a:srgbClr val="9933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7862" name="AutoShape 38"/>
                <p:cNvSpPr>
                  <a:spLocks noChangeArrowheads="1"/>
                </p:cNvSpPr>
                <p:nvPr/>
              </p:nvSpPr>
              <p:spPr bwMode="auto">
                <a:xfrm rot="19500000">
                  <a:off x="2352" y="768"/>
                  <a:ext cx="48" cy="480"/>
                </a:xfrm>
                <a:prstGeom prst="cube">
                  <a:avLst>
                    <a:gd name="adj" fmla="val 25000"/>
                  </a:avLst>
                </a:prstGeom>
                <a:solidFill>
                  <a:srgbClr val="9933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7863" name="AutoShape 39"/>
                <p:cNvSpPr>
                  <a:spLocks noChangeArrowheads="1"/>
                </p:cNvSpPr>
                <p:nvPr/>
              </p:nvSpPr>
              <p:spPr bwMode="auto">
                <a:xfrm rot="4800000">
                  <a:off x="2088" y="1320"/>
                  <a:ext cx="48" cy="480"/>
                </a:xfrm>
                <a:prstGeom prst="cube">
                  <a:avLst>
                    <a:gd name="adj" fmla="val 25000"/>
                  </a:avLst>
                </a:prstGeom>
                <a:solidFill>
                  <a:srgbClr val="9933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7864" name="AutoShape 40"/>
                <p:cNvSpPr>
                  <a:spLocks noChangeArrowheads="1"/>
                </p:cNvSpPr>
                <p:nvPr/>
              </p:nvSpPr>
              <p:spPr bwMode="auto">
                <a:xfrm rot="16800000">
                  <a:off x="3336" y="1320"/>
                  <a:ext cx="48" cy="480"/>
                </a:xfrm>
                <a:prstGeom prst="cube">
                  <a:avLst>
                    <a:gd name="adj" fmla="val 25000"/>
                  </a:avLst>
                </a:prstGeom>
                <a:solidFill>
                  <a:srgbClr val="9933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717865" name="Group 41"/>
            <p:cNvGrpSpPr>
              <a:grpSpLocks/>
            </p:cNvGrpSpPr>
            <p:nvPr/>
          </p:nvGrpSpPr>
          <p:grpSpPr bwMode="auto">
            <a:xfrm>
              <a:off x="3888" y="528"/>
              <a:ext cx="816" cy="480"/>
              <a:chOff x="3696" y="864"/>
              <a:chExt cx="816" cy="480"/>
            </a:xfrm>
          </p:grpSpPr>
          <p:sp>
            <p:nvSpPr>
              <p:cNvPr id="717866" name="Rectangle 42"/>
              <p:cNvSpPr>
                <a:spLocks noChangeArrowheads="1"/>
              </p:cNvSpPr>
              <p:nvPr/>
            </p:nvSpPr>
            <p:spPr bwMode="auto">
              <a:xfrm>
                <a:off x="4224" y="864"/>
                <a:ext cx="288" cy="2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717867" name="Rectangle 43"/>
              <p:cNvSpPr>
                <a:spLocks noChangeArrowheads="1"/>
              </p:cNvSpPr>
              <p:nvPr/>
            </p:nvSpPr>
            <p:spPr bwMode="auto">
              <a:xfrm>
                <a:off x="3696" y="864"/>
                <a:ext cx="526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/>
                <a:r>
                  <a:rPr lang="en-US" altLang="en-US" b="1">
                    <a:latin typeface="Courier New" panose="02070309020205020404" pitchFamily="49" charset="0"/>
                  </a:rPr>
                  <a:t>St</a:t>
                </a:r>
              </a:p>
            </p:txBody>
          </p:sp>
          <p:sp>
            <p:nvSpPr>
              <p:cNvPr id="717868" name="Rectangle 44"/>
              <p:cNvSpPr>
                <a:spLocks noChangeArrowheads="1"/>
              </p:cNvSpPr>
              <p:nvPr/>
            </p:nvSpPr>
            <p:spPr bwMode="auto">
              <a:xfrm>
                <a:off x="4224" y="1104"/>
                <a:ext cx="288" cy="2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717869" name="Rectangle 45"/>
              <p:cNvSpPr>
                <a:spLocks noChangeArrowheads="1"/>
              </p:cNvSpPr>
              <p:nvPr/>
            </p:nvSpPr>
            <p:spPr bwMode="auto">
              <a:xfrm>
                <a:off x="3840" y="1104"/>
                <a:ext cx="382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/>
                <a:r>
                  <a:rPr lang="en-US" altLang="en-US" b="1">
                    <a:latin typeface="Courier New" panose="02070309020205020404" pitchFamily="49" charset="0"/>
                  </a:rPr>
                  <a:t>Sem</a:t>
                </a:r>
              </a:p>
            </p:txBody>
          </p:sp>
        </p:grpSp>
        <p:grpSp>
          <p:nvGrpSpPr>
            <p:cNvPr id="717870" name="Group 46"/>
            <p:cNvGrpSpPr>
              <a:grpSpLocks/>
            </p:cNvGrpSpPr>
            <p:nvPr/>
          </p:nvGrpSpPr>
          <p:grpSpPr bwMode="auto">
            <a:xfrm>
              <a:off x="4848" y="1008"/>
              <a:ext cx="816" cy="480"/>
              <a:chOff x="3696" y="864"/>
              <a:chExt cx="816" cy="480"/>
            </a:xfrm>
          </p:grpSpPr>
          <p:sp>
            <p:nvSpPr>
              <p:cNvPr id="717871" name="Rectangle 47"/>
              <p:cNvSpPr>
                <a:spLocks noChangeArrowheads="1"/>
              </p:cNvSpPr>
              <p:nvPr/>
            </p:nvSpPr>
            <p:spPr bwMode="auto">
              <a:xfrm>
                <a:off x="4224" y="864"/>
                <a:ext cx="288" cy="2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717872" name="Rectangle 48"/>
              <p:cNvSpPr>
                <a:spLocks noChangeArrowheads="1"/>
              </p:cNvSpPr>
              <p:nvPr/>
            </p:nvSpPr>
            <p:spPr bwMode="auto">
              <a:xfrm>
                <a:off x="3696" y="864"/>
                <a:ext cx="526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/>
                <a:r>
                  <a:rPr lang="en-US" altLang="en-US" b="1">
                    <a:latin typeface="Courier New" panose="02070309020205020404" pitchFamily="49" charset="0"/>
                  </a:rPr>
                  <a:t>St</a:t>
                </a:r>
              </a:p>
            </p:txBody>
          </p:sp>
          <p:sp>
            <p:nvSpPr>
              <p:cNvPr id="717873" name="Rectangle 49"/>
              <p:cNvSpPr>
                <a:spLocks noChangeArrowheads="1"/>
              </p:cNvSpPr>
              <p:nvPr/>
            </p:nvSpPr>
            <p:spPr bwMode="auto">
              <a:xfrm>
                <a:off x="4224" y="1104"/>
                <a:ext cx="288" cy="2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717874" name="Rectangle 50"/>
              <p:cNvSpPr>
                <a:spLocks noChangeArrowheads="1"/>
              </p:cNvSpPr>
              <p:nvPr/>
            </p:nvSpPr>
            <p:spPr bwMode="auto">
              <a:xfrm>
                <a:off x="3840" y="1104"/>
                <a:ext cx="382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/>
                <a:r>
                  <a:rPr lang="en-US" altLang="en-US" b="1">
                    <a:latin typeface="Courier New" panose="02070309020205020404" pitchFamily="49" charset="0"/>
                  </a:rPr>
                  <a:t>Sem</a:t>
                </a:r>
              </a:p>
            </p:txBody>
          </p:sp>
        </p:grpSp>
        <p:grpSp>
          <p:nvGrpSpPr>
            <p:cNvPr id="717875" name="Group 51"/>
            <p:cNvGrpSpPr>
              <a:grpSpLocks/>
            </p:cNvGrpSpPr>
            <p:nvPr/>
          </p:nvGrpSpPr>
          <p:grpSpPr bwMode="auto">
            <a:xfrm>
              <a:off x="4416" y="2496"/>
              <a:ext cx="816" cy="480"/>
              <a:chOff x="3696" y="864"/>
              <a:chExt cx="816" cy="480"/>
            </a:xfrm>
          </p:grpSpPr>
          <p:sp>
            <p:nvSpPr>
              <p:cNvPr id="717876" name="Rectangle 52"/>
              <p:cNvSpPr>
                <a:spLocks noChangeArrowheads="1"/>
              </p:cNvSpPr>
              <p:nvPr/>
            </p:nvSpPr>
            <p:spPr bwMode="auto">
              <a:xfrm>
                <a:off x="4224" y="864"/>
                <a:ext cx="288" cy="2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717877" name="Rectangle 53"/>
              <p:cNvSpPr>
                <a:spLocks noChangeArrowheads="1"/>
              </p:cNvSpPr>
              <p:nvPr/>
            </p:nvSpPr>
            <p:spPr bwMode="auto">
              <a:xfrm>
                <a:off x="3696" y="864"/>
                <a:ext cx="526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/>
                <a:r>
                  <a:rPr lang="en-US" altLang="en-US" b="1">
                    <a:latin typeface="Courier New" panose="02070309020205020404" pitchFamily="49" charset="0"/>
                  </a:rPr>
                  <a:t>St</a:t>
                </a:r>
              </a:p>
            </p:txBody>
          </p:sp>
          <p:sp>
            <p:nvSpPr>
              <p:cNvPr id="717878" name="Rectangle 54"/>
              <p:cNvSpPr>
                <a:spLocks noChangeArrowheads="1"/>
              </p:cNvSpPr>
              <p:nvPr/>
            </p:nvSpPr>
            <p:spPr bwMode="auto">
              <a:xfrm>
                <a:off x="4224" y="1104"/>
                <a:ext cx="288" cy="2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717879" name="Rectangle 55"/>
              <p:cNvSpPr>
                <a:spLocks noChangeArrowheads="1"/>
              </p:cNvSpPr>
              <p:nvPr/>
            </p:nvSpPr>
            <p:spPr bwMode="auto">
              <a:xfrm>
                <a:off x="3840" y="1104"/>
                <a:ext cx="382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/>
                <a:r>
                  <a:rPr lang="en-US" altLang="en-US" b="1">
                    <a:latin typeface="Courier New" panose="02070309020205020404" pitchFamily="49" charset="0"/>
                  </a:rPr>
                  <a:t>Sem</a:t>
                </a:r>
              </a:p>
            </p:txBody>
          </p:sp>
        </p:grpSp>
        <p:grpSp>
          <p:nvGrpSpPr>
            <p:cNvPr id="717880" name="Group 56"/>
            <p:cNvGrpSpPr>
              <a:grpSpLocks/>
            </p:cNvGrpSpPr>
            <p:nvPr/>
          </p:nvGrpSpPr>
          <p:grpSpPr bwMode="auto">
            <a:xfrm>
              <a:off x="3360" y="2496"/>
              <a:ext cx="816" cy="480"/>
              <a:chOff x="3696" y="864"/>
              <a:chExt cx="816" cy="480"/>
            </a:xfrm>
          </p:grpSpPr>
          <p:sp>
            <p:nvSpPr>
              <p:cNvPr id="717881" name="Rectangle 57"/>
              <p:cNvSpPr>
                <a:spLocks noChangeArrowheads="1"/>
              </p:cNvSpPr>
              <p:nvPr/>
            </p:nvSpPr>
            <p:spPr bwMode="auto">
              <a:xfrm>
                <a:off x="4224" y="864"/>
                <a:ext cx="288" cy="2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717882" name="Rectangle 58"/>
              <p:cNvSpPr>
                <a:spLocks noChangeArrowheads="1"/>
              </p:cNvSpPr>
              <p:nvPr/>
            </p:nvSpPr>
            <p:spPr bwMode="auto">
              <a:xfrm>
                <a:off x="3696" y="864"/>
                <a:ext cx="526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/>
                <a:r>
                  <a:rPr lang="en-US" altLang="en-US" b="1">
                    <a:latin typeface="Courier New" panose="02070309020205020404" pitchFamily="49" charset="0"/>
                  </a:rPr>
                  <a:t>St</a:t>
                </a:r>
              </a:p>
            </p:txBody>
          </p:sp>
          <p:sp>
            <p:nvSpPr>
              <p:cNvPr id="717883" name="Rectangle 59"/>
              <p:cNvSpPr>
                <a:spLocks noChangeArrowheads="1"/>
              </p:cNvSpPr>
              <p:nvPr/>
            </p:nvSpPr>
            <p:spPr bwMode="auto">
              <a:xfrm>
                <a:off x="4224" y="1104"/>
                <a:ext cx="288" cy="2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717884" name="Rectangle 60"/>
              <p:cNvSpPr>
                <a:spLocks noChangeArrowheads="1"/>
              </p:cNvSpPr>
              <p:nvPr/>
            </p:nvSpPr>
            <p:spPr bwMode="auto">
              <a:xfrm>
                <a:off x="3840" y="1104"/>
                <a:ext cx="382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/>
                <a:r>
                  <a:rPr lang="en-US" altLang="en-US" b="1">
                    <a:latin typeface="Courier New" panose="02070309020205020404" pitchFamily="49" charset="0"/>
                  </a:rPr>
                  <a:t>Sem</a:t>
                </a:r>
              </a:p>
            </p:txBody>
          </p:sp>
        </p:grpSp>
        <p:grpSp>
          <p:nvGrpSpPr>
            <p:cNvPr id="717885" name="Group 61"/>
            <p:cNvGrpSpPr>
              <a:grpSpLocks/>
            </p:cNvGrpSpPr>
            <p:nvPr/>
          </p:nvGrpSpPr>
          <p:grpSpPr bwMode="auto">
            <a:xfrm>
              <a:off x="2688" y="912"/>
              <a:ext cx="816" cy="480"/>
              <a:chOff x="3696" y="864"/>
              <a:chExt cx="816" cy="480"/>
            </a:xfrm>
          </p:grpSpPr>
          <p:sp>
            <p:nvSpPr>
              <p:cNvPr id="717886" name="Rectangle 62"/>
              <p:cNvSpPr>
                <a:spLocks noChangeArrowheads="1"/>
              </p:cNvSpPr>
              <p:nvPr/>
            </p:nvSpPr>
            <p:spPr bwMode="auto">
              <a:xfrm>
                <a:off x="4224" y="864"/>
                <a:ext cx="288" cy="2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717887" name="Rectangle 63"/>
              <p:cNvSpPr>
                <a:spLocks noChangeArrowheads="1"/>
              </p:cNvSpPr>
              <p:nvPr/>
            </p:nvSpPr>
            <p:spPr bwMode="auto">
              <a:xfrm>
                <a:off x="3696" y="864"/>
                <a:ext cx="526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/>
                <a:r>
                  <a:rPr lang="en-US" altLang="en-US" b="1">
                    <a:latin typeface="Courier New" panose="02070309020205020404" pitchFamily="49" charset="0"/>
                  </a:rPr>
                  <a:t>St</a:t>
                </a:r>
              </a:p>
            </p:txBody>
          </p:sp>
          <p:sp>
            <p:nvSpPr>
              <p:cNvPr id="717888" name="Rectangle 64"/>
              <p:cNvSpPr>
                <a:spLocks noChangeArrowheads="1"/>
              </p:cNvSpPr>
              <p:nvPr/>
            </p:nvSpPr>
            <p:spPr bwMode="auto">
              <a:xfrm>
                <a:off x="4224" y="1104"/>
                <a:ext cx="288" cy="2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717889" name="Rectangle 65"/>
              <p:cNvSpPr>
                <a:spLocks noChangeArrowheads="1"/>
              </p:cNvSpPr>
              <p:nvPr/>
            </p:nvSpPr>
            <p:spPr bwMode="auto">
              <a:xfrm>
                <a:off x="3840" y="1104"/>
                <a:ext cx="382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/>
                <a:r>
                  <a:rPr lang="en-US" altLang="en-US" b="1">
                    <a:latin typeface="Courier New" panose="02070309020205020404" pitchFamily="49" charset="0"/>
                  </a:rPr>
                  <a:t>Sem</a:t>
                </a:r>
              </a:p>
            </p:txBody>
          </p:sp>
        </p:grpSp>
      </p:grp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48</a:t>
            </a:fld>
            <a:endParaRPr lang="en-US" altLang="en-US"/>
          </a:p>
        </p:txBody>
      </p:sp>
      <p:grpSp>
        <p:nvGrpSpPr>
          <p:cNvPr id="45" name="Group 44"/>
          <p:cNvGrpSpPr/>
          <p:nvPr/>
        </p:nvGrpSpPr>
        <p:grpSpPr>
          <a:xfrm>
            <a:off x="7446562" y="5739019"/>
            <a:ext cx="1668626" cy="713961"/>
            <a:chOff x="7087750" y="5562600"/>
            <a:chExt cx="1782926" cy="838200"/>
          </a:xfrm>
        </p:grpSpPr>
        <p:sp>
          <p:nvSpPr>
            <p:cNvPr id="46" name="AutoShape 8"/>
            <p:cNvSpPr>
              <a:spLocks noChangeArrowheads="1"/>
            </p:cNvSpPr>
            <p:nvPr/>
          </p:nvSpPr>
          <p:spPr bwMode="auto">
            <a:xfrm>
              <a:off x="7696200" y="5791200"/>
              <a:ext cx="704224" cy="609600"/>
            </a:xfrm>
            <a:prstGeom prst="smileyFace">
              <a:avLst>
                <a:gd name="adj" fmla="val 4653"/>
              </a:avLst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Rectangle 46"/>
            <p:cNvSpPr/>
            <p:nvPr/>
          </p:nvSpPr>
          <p:spPr>
            <a:xfrm>
              <a:off x="8248024" y="5562600"/>
              <a:ext cx="622652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L</a:t>
              </a:r>
              <a:r>
                <a:rPr lang="en-US" dirty="0">
                  <a:solidFill>
                    <a:schemeClr val="tx1"/>
                  </a:solidFill>
                </a:rPr>
                <a:t>eft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7087750" y="5562600"/>
              <a:ext cx="775052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R</a:t>
              </a:r>
              <a:r>
                <a:rPr lang="en-US" dirty="0">
                  <a:solidFill>
                    <a:schemeClr val="tx1"/>
                  </a:solidFill>
                </a:rPr>
                <a:t>ight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97921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832" grpId="0" uiExpand="1" build="p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Dining Philosopher: </a:t>
            </a:r>
            <a:r>
              <a:rPr lang="en-US" altLang="en-US" sz="3600" b="1" dirty="0" err="1">
                <a:solidFill>
                  <a:srgbClr val="C00000"/>
                </a:solidFill>
              </a:rPr>
              <a:t>Tanenbaum</a:t>
            </a:r>
            <a:r>
              <a:rPr lang="en-US" altLang="en-US" sz="3600" b="1" dirty="0">
                <a:solidFill>
                  <a:srgbClr val="C00000"/>
                </a:solidFill>
              </a:rPr>
              <a:t> Solution</a:t>
            </a:r>
            <a:endParaRPr lang="en-US" altLang="en-US" sz="3600" dirty="0"/>
          </a:p>
        </p:txBody>
      </p:sp>
      <p:sp>
        <p:nvSpPr>
          <p:cNvPr id="718853" name="Text Box 5"/>
          <p:cNvSpPr txBox="1">
            <a:spLocks noChangeArrowheads="1"/>
          </p:cNvSpPr>
          <p:nvPr/>
        </p:nvSpPr>
        <p:spPr bwMode="auto">
          <a:xfrm>
            <a:off x="386697" y="3363418"/>
            <a:ext cx="4038600" cy="2782888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void </a:t>
            </a:r>
            <a:r>
              <a:rPr lang="en-US" altLang="en-US" b="1" i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putChpStcks</a:t>
            </a:r>
            <a:r>
              <a:rPr lang="en-US" altLang="en-US" b="1" dirty="0">
                <a:latin typeface="Courier New" panose="02070309020205020404" pitchFamily="49" charset="0"/>
              </a:rPr>
              <a:t>( </a:t>
            </a:r>
            <a:r>
              <a:rPr lang="en-US" altLang="en-US" b="1" dirty="0" err="1"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</a:rPr>
              <a:t> )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</a:t>
            </a:r>
            <a:r>
              <a:rPr lang="en-US" altLang="en-US" b="1" dirty="0">
                <a:solidFill>
                  <a:srgbClr val="9900CC"/>
                </a:solidFill>
                <a:latin typeface="Courier New" panose="02070309020205020404" pitchFamily="49" charset="0"/>
              </a:rPr>
              <a:t>wait( </a:t>
            </a:r>
            <a:r>
              <a:rPr lang="en-US" altLang="en-US" b="1" dirty="0" err="1">
                <a:solidFill>
                  <a:srgbClr val="9900CC"/>
                </a:solidFill>
                <a:latin typeface="Courier New" panose="02070309020205020404" pitchFamily="49" charset="0"/>
              </a:rPr>
              <a:t>mutex</a:t>
            </a:r>
            <a:r>
              <a:rPr lang="en-US" altLang="en-US" b="1" dirty="0">
                <a:solidFill>
                  <a:srgbClr val="9900CC"/>
                </a:solidFill>
                <a:latin typeface="Courier New" panose="02070309020205020404" pitchFamily="49" charset="0"/>
              </a:rPr>
              <a:t> 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en-US" altLang="en-US" b="1" dirty="0">
              <a:solidFill>
                <a:srgbClr val="9900CC"/>
              </a:solidFill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state[</a:t>
            </a:r>
            <a:r>
              <a:rPr lang="en-US" altLang="en-US" b="1" dirty="0" err="1"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</a:rPr>
              <a:t>] = </a:t>
            </a:r>
            <a:r>
              <a:rPr lang="en-US" altLang="en-US" b="1" dirty="0">
                <a:solidFill>
                  <a:srgbClr val="008000"/>
                </a:solidFill>
                <a:latin typeface="Courier New" panose="02070309020205020404" pitchFamily="49" charset="0"/>
              </a:rPr>
              <a:t>THINKING</a:t>
            </a:r>
            <a:r>
              <a:rPr lang="en-US" altLang="en-US" b="1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</a:t>
            </a:r>
            <a:r>
              <a:rPr lang="en-US" altLang="en-US" b="1" i="1" dirty="0" err="1">
                <a:latin typeface="Courier New" panose="02070309020205020404" pitchFamily="49" charset="0"/>
              </a:rPr>
              <a:t>safeToEat</a:t>
            </a:r>
            <a:r>
              <a:rPr lang="en-US" altLang="en-US" b="1" dirty="0">
                <a:latin typeface="Courier New" panose="02070309020205020404" pitchFamily="49" charset="0"/>
              </a:rPr>
              <a:t>( LEFT 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</a:t>
            </a:r>
            <a:r>
              <a:rPr lang="en-US" altLang="en-US" b="1" i="1" dirty="0" err="1">
                <a:latin typeface="Courier New" panose="02070309020205020404" pitchFamily="49" charset="0"/>
              </a:rPr>
              <a:t>safeToEat</a:t>
            </a:r>
            <a:r>
              <a:rPr lang="en-US" altLang="en-US" b="1" dirty="0">
                <a:latin typeface="Courier New" panose="02070309020205020404" pitchFamily="49" charset="0"/>
              </a:rPr>
              <a:t>( RIGHT 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</a:t>
            </a:r>
            <a:r>
              <a:rPr lang="en-US" altLang="en-US" b="1" dirty="0">
                <a:solidFill>
                  <a:srgbClr val="9900CC"/>
                </a:solidFill>
                <a:latin typeface="Courier New" panose="02070309020205020404" pitchFamily="49" charset="0"/>
              </a:rPr>
              <a:t>signal( </a:t>
            </a:r>
            <a:r>
              <a:rPr lang="en-US" altLang="en-US" b="1" dirty="0" err="1">
                <a:solidFill>
                  <a:srgbClr val="9900CC"/>
                </a:solidFill>
                <a:latin typeface="Courier New" panose="02070309020205020404" pitchFamily="49" charset="0"/>
              </a:rPr>
              <a:t>mutex</a:t>
            </a:r>
            <a:r>
              <a:rPr lang="en-US" altLang="en-US" b="1" dirty="0">
                <a:solidFill>
                  <a:srgbClr val="9900CC"/>
                </a:solidFill>
                <a:latin typeface="Courier New" panose="02070309020205020404" pitchFamily="49" charset="0"/>
              </a:rPr>
              <a:t> 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}</a:t>
            </a:r>
          </a:p>
        </p:txBody>
      </p:sp>
      <p:grpSp>
        <p:nvGrpSpPr>
          <p:cNvPr id="718870" name="Group 22"/>
          <p:cNvGrpSpPr>
            <a:grpSpLocks/>
          </p:cNvGrpSpPr>
          <p:nvPr/>
        </p:nvGrpSpPr>
        <p:grpSpPr bwMode="auto">
          <a:xfrm>
            <a:off x="4191000" y="1219200"/>
            <a:ext cx="4724400" cy="3886200"/>
            <a:chOff x="2640" y="960"/>
            <a:chExt cx="2976" cy="2448"/>
          </a:xfrm>
        </p:grpSpPr>
        <p:grpSp>
          <p:nvGrpSpPr>
            <p:cNvPr id="718871" name="Group 23"/>
            <p:cNvGrpSpPr>
              <a:grpSpLocks/>
            </p:cNvGrpSpPr>
            <p:nvPr/>
          </p:nvGrpSpPr>
          <p:grpSpPr bwMode="auto">
            <a:xfrm>
              <a:off x="3264" y="1440"/>
              <a:ext cx="1920" cy="1488"/>
              <a:chOff x="1776" y="624"/>
              <a:chExt cx="1920" cy="1488"/>
            </a:xfrm>
          </p:grpSpPr>
          <p:sp>
            <p:nvSpPr>
              <p:cNvPr id="718872" name="AutoShape 24"/>
              <p:cNvSpPr>
                <a:spLocks noChangeArrowheads="1"/>
              </p:cNvSpPr>
              <p:nvPr/>
            </p:nvSpPr>
            <p:spPr bwMode="auto">
              <a:xfrm>
                <a:off x="2496" y="624"/>
                <a:ext cx="480" cy="384"/>
              </a:xfrm>
              <a:prstGeom prst="smileyFace">
                <a:avLst>
                  <a:gd name="adj" fmla="val 4653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8873" name="AutoShape 25"/>
              <p:cNvSpPr>
                <a:spLocks noChangeArrowheads="1"/>
              </p:cNvSpPr>
              <p:nvPr/>
            </p:nvSpPr>
            <p:spPr bwMode="auto">
              <a:xfrm>
                <a:off x="1776" y="1056"/>
                <a:ext cx="480" cy="384"/>
              </a:xfrm>
              <a:prstGeom prst="smileyFace">
                <a:avLst>
                  <a:gd name="adj" fmla="val 4653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8874" name="AutoShape 26"/>
              <p:cNvSpPr>
                <a:spLocks noChangeArrowheads="1"/>
              </p:cNvSpPr>
              <p:nvPr/>
            </p:nvSpPr>
            <p:spPr bwMode="auto">
              <a:xfrm>
                <a:off x="3216" y="1056"/>
                <a:ext cx="480" cy="384"/>
              </a:xfrm>
              <a:prstGeom prst="smileyFace">
                <a:avLst>
                  <a:gd name="adj" fmla="val 4653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8875" name="AutoShape 27"/>
              <p:cNvSpPr>
                <a:spLocks noChangeArrowheads="1"/>
              </p:cNvSpPr>
              <p:nvPr/>
            </p:nvSpPr>
            <p:spPr bwMode="auto">
              <a:xfrm>
                <a:off x="2016" y="1680"/>
                <a:ext cx="480" cy="384"/>
              </a:xfrm>
              <a:prstGeom prst="smileyFace">
                <a:avLst>
                  <a:gd name="adj" fmla="val 4653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8876" name="AutoShape 28"/>
              <p:cNvSpPr>
                <a:spLocks noChangeArrowheads="1"/>
              </p:cNvSpPr>
              <p:nvPr/>
            </p:nvSpPr>
            <p:spPr bwMode="auto">
              <a:xfrm>
                <a:off x="2976" y="1680"/>
                <a:ext cx="480" cy="384"/>
              </a:xfrm>
              <a:prstGeom prst="smileyFace">
                <a:avLst>
                  <a:gd name="adj" fmla="val 4653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718877" name="Group 29"/>
              <p:cNvGrpSpPr>
                <a:grpSpLocks/>
              </p:cNvGrpSpPr>
              <p:nvPr/>
            </p:nvGrpSpPr>
            <p:grpSpPr bwMode="auto">
              <a:xfrm>
                <a:off x="1872" y="720"/>
                <a:ext cx="1728" cy="1392"/>
                <a:chOff x="1872" y="720"/>
                <a:chExt cx="1728" cy="1392"/>
              </a:xfrm>
            </p:grpSpPr>
            <p:sp>
              <p:nvSpPr>
                <p:cNvPr id="718878" name="AutoShape 30"/>
                <p:cNvSpPr>
                  <a:spLocks noChangeArrowheads="1"/>
                </p:cNvSpPr>
                <p:nvPr/>
              </p:nvSpPr>
              <p:spPr bwMode="auto">
                <a:xfrm rot="1800000">
                  <a:off x="3072" y="720"/>
                  <a:ext cx="48" cy="480"/>
                </a:xfrm>
                <a:prstGeom prst="cube">
                  <a:avLst>
                    <a:gd name="adj" fmla="val 25000"/>
                  </a:avLst>
                </a:prstGeom>
                <a:solidFill>
                  <a:srgbClr val="9933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8879" name="AutoShape 31"/>
                <p:cNvSpPr>
                  <a:spLocks noChangeArrowheads="1"/>
                </p:cNvSpPr>
                <p:nvPr/>
              </p:nvSpPr>
              <p:spPr bwMode="auto">
                <a:xfrm>
                  <a:off x="2736" y="1632"/>
                  <a:ext cx="48" cy="480"/>
                </a:xfrm>
                <a:prstGeom prst="cube">
                  <a:avLst>
                    <a:gd name="adj" fmla="val 25000"/>
                  </a:avLst>
                </a:prstGeom>
                <a:solidFill>
                  <a:srgbClr val="9933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8880" name="AutoShape 32"/>
                <p:cNvSpPr>
                  <a:spLocks noChangeArrowheads="1"/>
                </p:cNvSpPr>
                <p:nvPr/>
              </p:nvSpPr>
              <p:spPr bwMode="auto">
                <a:xfrm rot="19500000">
                  <a:off x="2352" y="768"/>
                  <a:ext cx="48" cy="480"/>
                </a:xfrm>
                <a:prstGeom prst="cube">
                  <a:avLst>
                    <a:gd name="adj" fmla="val 25000"/>
                  </a:avLst>
                </a:prstGeom>
                <a:solidFill>
                  <a:srgbClr val="9933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8881" name="AutoShape 33"/>
                <p:cNvSpPr>
                  <a:spLocks noChangeArrowheads="1"/>
                </p:cNvSpPr>
                <p:nvPr/>
              </p:nvSpPr>
              <p:spPr bwMode="auto">
                <a:xfrm rot="4800000">
                  <a:off x="2088" y="1320"/>
                  <a:ext cx="48" cy="480"/>
                </a:xfrm>
                <a:prstGeom prst="cube">
                  <a:avLst>
                    <a:gd name="adj" fmla="val 25000"/>
                  </a:avLst>
                </a:prstGeom>
                <a:solidFill>
                  <a:srgbClr val="9933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8882" name="AutoShape 34"/>
                <p:cNvSpPr>
                  <a:spLocks noChangeArrowheads="1"/>
                </p:cNvSpPr>
                <p:nvPr/>
              </p:nvSpPr>
              <p:spPr bwMode="auto">
                <a:xfrm rot="16800000">
                  <a:off x="3336" y="1320"/>
                  <a:ext cx="48" cy="480"/>
                </a:xfrm>
                <a:prstGeom prst="cube">
                  <a:avLst>
                    <a:gd name="adj" fmla="val 25000"/>
                  </a:avLst>
                </a:prstGeom>
                <a:solidFill>
                  <a:srgbClr val="993300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718883" name="Group 35"/>
            <p:cNvGrpSpPr>
              <a:grpSpLocks/>
            </p:cNvGrpSpPr>
            <p:nvPr/>
          </p:nvGrpSpPr>
          <p:grpSpPr bwMode="auto">
            <a:xfrm>
              <a:off x="3840" y="960"/>
              <a:ext cx="816" cy="480"/>
              <a:chOff x="3696" y="864"/>
              <a:chExt cx="816" cy="480"/>
            </a:xfrm>
          </p:grpSpPr>
          <p:sp>
            <p:nvSpPr>
              <p:cNvPr id="718884" name="Rectangle 36"/>
              <p:cNvSpPr>
                <a:spLocks noChangeArrowheads="1"/>
              </p:cNvSpPr>
              <p:nvPr/>
            </p:nvSpPr>
            <p:spPr bwMode="auto">
              <a:xfrm>
                <a:off x="4224" y="864"/>
                <a:ext cx="288" cy="2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718885" name="Rectangle 37"/>
              <p:cNvSpPr>
                <a:spLocks noChangeArrowheads="1"/>
              </p:cNvSpPr>
              <p:nvPr/>
            </p:nvSpPr>
            <p:spPr bwMode="auto">
              <a:xfrm>
                <a:off x="3696" y="864"/>
                <a:ext cx="526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/>
                <a:r>
                  <a:rPr lang="en-US" altLang="en-US" b="1">
                    <a:latin typeface="Courier New" panose="02070309020205020404" pitchFamily="49" charset="0"/>
                  </a:rPr>
                  <a:t>St</a:t>
                </a:r>
              </a:p>
            </p:txBody>
          </p:sp>
          <p:sp>
            <p:nvSpPr>
              <p:cNvPr id="718886" name="Rectangle 38"/>
              <p:cNvSpPr>
                <a:spLocks noChangeArrowheads="1"/>
              </p:cNvSpPr>
              <p:nvPr/>
            </p:nvSpPr>
            <p:spPr bwMode="auto">
              <a:xfrm>
                <a:off x="4224" y="1104"/>
                <a:ext cx="288" cy="2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718887" name="Rectangle 39"/>
              <p:cNvSpPr>
                <a:spLocks noChangeArrowheads="1"/>
              </p:cNvSpPr>
              <p:nvPr/>
            </p:nvSpPr>
            <p:spPr bwMode="auto">
              <a:xfrm>
                <a:off x="3840" y="1104"/>
                <a:ext cx="382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/>
                <a:r>
                  <a:rPr lang="en-US" altLang="en-US" b="1">
                    <a:latin typeface="Courier New" panose="02070309020205020404" pitchFamily="49" charset="0"/>
                  </a:rPr>
                  <a:t>Sem</a:t>
                </a:r>
              </a:p>
            </p:txBody>
          </p:sp>
        </p:grpSp>
        <p:grpSp>
          <p:nvGrpSpPr>
            <p:cNvPr id="718888" name="Group 40"/>
            <p:cNvGrpSpPr>
              <a:grpSpLocks/>
            </p:cNvGrpSpPr>
            <p:nvPr/>
          </p:nvGrpSpPr>
          <p:grpSpPr bwMode="auto">
            <a:xfrm>
              <a:off x="4800" y="1440"/>
              <a:ext cx="816" cy="480"/>
              <a:chOff x="3696" y="864"/>
              <a:chExt cx="816" cy="480"/>
            </a:xfrm>
          </p:grpSpPr>
          <p:sp>
            <p:nvSpPr>
              <p:cNvPr id="718889" name="Rectangle 41"/>
              <p:cNvSpPr>
                <a:spLocks noChangeArrowheads="1"/>
              </p:cNvSpPr>
              <p:nvPr/>
            </p:nvSpPr>
            <p:spPr bwMode="auto">
              <a:xfrm>
                <a:off x="4224" y="864"/>
                <a:ext cx="288" cy="2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718890" name="Rectangle 42"/>
              <p:cNvSpPr>
                <a:spLocks noChangeArrowheads="1"/>
              </p:cNvSpPr>
              <p:nvPr/>
            </p:nvSpPr>
            <p:spPr bwMode="auto">
              <a:xfrm>
                <a:off x="3696" y="864"/>
                <a:ext cx="526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/>
                <a:r>
                  <a:rPr lang="en-US" altLang="en-US" b="1">
                    <a:latin typeface="Courier New" panose="02070309020205020404" pitchFamily="49" charset="0"/>
                  </a:rPr>
                  <a:t>St</a:t>
                </a:r>
              </a:p>
            </p:txBody>
          </p:sp>
          <p:sp>
            <p:nvSpPr>
              <p:cNvPr id="718891" name="Rectangle 43"/>
              <p:cNvSpPr>
                <a:spLocks noChangeArrowheads="1"/>
              </p:cNvSpPr>
              <p:nvPr/>
            </p:nvSpPr>
            <p:spPr bwMode="auto">
              <a:xfrm>
                <a:off x="4224" y="1104"/>
                <a:ext cx="288" cy="2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718892" name="Rectangle 44"/>
              <p:cNvSpPr>
                <a:spLocks noChangeArrowheads="1"/>
              </p:cNvSpPr>
              <p:nvPr/>
            </p:nvSpPr>
            <p:spPr bwMode="auto">
              <a:xfrm>
                <a:off x="3840" y="1104"/>
                <a:ext cx="382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/>
                <a:r>
                  <a:rPr lang="en-US" altLang="en-US" b="1">
                    <a:latin typeface="Courier New" panose="02070309020205020404" pitchFamily="49" charset="0"/>
                  </a:rPr>
                  <a:t>Sem</a:t>
                </a:r>
              </a:p>
            </p:txBody>
          </p:sp>
        </p:grpSp>
        <p:grpSp>
          <p:nvGrpSpPr>
            <p:cNvPr id="718893" name="Group 45"/>
            <p:cNvGrpSpPr>
              <a:grpSpLocks/>
            </p:cNvGrpSpPr>
            <p:nvPr/>
          </p:nvGrpSpPr>
          <p:grpSpPr bwMode="auto">
            <a:xfrm>
              <a:off x="4368" y="2928"/>
              <a:ext cx="816" cy="480"/>
              <a:chOff x="3696" y="864"/>
              <a:chExt cx="816" cy="480"/>
            </a:xfrm>
          </p:grpSpPr>
          <p:sp>
            <p:nvSpPr>
              <p:cNvPr id="718894" name="Rectangle 46"/>
              <p:cNvSpPr>
                <a:spLocks noChangeArrowheads="1"/>
              </p:cNvSpPr>
              <p:nvPr/>
            </p:nvSpPr>
            <p:spPr bwMode="auto">
              <a:xfrm>
                <a:off x="4224" y="864"/>
                <a:ext cx="288" cy="2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718895" name="Rectangle 47"/>
              <p:cNvSpPr>
                <a:spLocks noChangeArrowheads="1"/>
              </p:cNvSpPr>
              <p:nvPr/>
            </p:nvSpPr>
            <p:spPr bwMode="auto">
              <a:xfrm>
                <a:off x="3696" y="864"/>
                <a:ext cx="526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/>
                <a:r>
                  <a:rPr lang="en-US" altLang="en-US" b="1">
                    <a:latin typeface="Courier New" panose="02070309020205020404" pitchFamily="49" charset="0"/>
                  </a:rPr>
                  <a:t>St</a:t>
                </a:r>
              </a:p>
            </p:txBody>
          </p:sp>
          <p:sp>
            <p:nvSpPr>
              <p:cNvPr id="718896" name="Rectangle 48"/>
              <p:cNvSpPr>
                <a:spLocks noChangeArrowheads="1"/>
              </p:cNvSpPr>
              <p:nvPr/>
            </p:nvSpPr>
            <p:spPr bwMode="auto">
              <a:xfrm>
                <a:off x="4224" y="1104"/>
                <a:ext cx="288" cy="2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718897" name="Rectangle 49"/>
              <p:cNvSpPr>
                <a:spLocks noChangeArrowheads="1"/>
              </p:cNvSpPr>
              <p:nvPr/>
            </p:nvSpPr>
            <p:spPr bwMode="auto">
              <a:xfrm>
                <a:off x="3840" y="1104"/>
                <a:ext cx="382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/>
                <a:r>
                  <a:rPr lang="en-US" altLang="en-US" b="1">
                    <a:latin typeface="Courier New" panose="02070309020205020404" pitchFamily="49" charset="0"/>
                  </a:rPr>
                  <a:t>Sem</a:t>
                </a:r>
              </a:p>
            </p:txBody>
          </p:sp>
        </p:grpSp>
        <p:grpSp>
          <p:nvGrpSpPr>
            <p:cNvPr id="718898" name="Group 50"/>
            <p:cNvGrpSpPr>
              <a:grpSpLocks/>
            </p:cNvGrpSpPr>
            <p:nvPr/>
          </p:nvGrpSpPr>
          <p:grpSpPr bwMode="auto">
            <a:xfrm>
              <a:off x="2880" y="2928"/>
              <a:ext cx="816" cy="480"/>
              <a:chOff x="3696" y="864"/>
              <a:chExt cx="816" cy="480"/>
            </a:xfrm>
          </p:grpSpPr>
          <p:sp>
            <p:nvSpPr>
              <p:cNvPr id="718899" name="Rectangle 51"/>
              <p:cNvSpPr>
                <a:spLocks noChangeArrowheads="1"/>
              </p:cNvSpPr>
              <p:nvPr/>
            </p:nvSpPr>
            <p:spPr bwMode="auto">
              <a:xfrm>
                <a:off x="4224" y="864"/>
                <a:ext cx="288" cy="2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718900" name="Rectangle 52"/>
              <p:cNvSpPr>
                <a:spLocks noChangeArrowheads="1"/>
              </p:cNvSpPr>
              <p:nvPr/>
            </p:nvSpPr>
            <p:spPr bwMode="auto">
              <a:xfrm>
                <a:off x="3696" y="864"/>
                <a:ext cx="526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/>
                <a:r>
                  <a:rPr lang="en-US" altLang="en-US" b="1">
                    <a:latin typeface="Courier New" panose="02070309020205020404" pitchFamily="49" charset="0"/>
                  </a:rPr>
                  <a:t>St</a:t>
                </a:r>
              </a:p>
            </p:txBody>
          </p:sp>
          <p:sp>
            <p:nvSpPr>
              <p:cNvPr id="718901" name="Rectangle 53"/>
              <p:cNvSpPr>
                <a:spLocks noChangeArrowheads="1"/>
              </p:cNvSpPr>
              <p:nvPr/>
            </p:nvSpPr>
            <p:spPr bwMode="auto">
              <a:xfrm>
                <a:off x="4224" y="1104"/>
                <a:ext cx="288" cy="2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718902" name="Rectangle 54"/>
              <p:cNvSpPr>
                <a:spLocks noChangeArrowheads="1"/>
              </p:cNvSpPr>
              <p:nvPr/>
            </p:nvSpPr>
            <p:spPr bwMode="auto">
              <a:xfrm>
                <a:off x="3840" y="1104"/>
                <a:ext cx="382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/>
                <a:r>
                  <a:rPr lang="en-US" altLang="en-US" b="1">
                    <a:latin typeface="Courier New" panose="02070309020205020404" pitchFamily="49" charset="0"/>
                  </a:rPr>
                  <a:t>Sem</a:t>
                </a:r>
              </a:p>
            </p:txBody>
          </p:sp>
        </p:grpSp>
        <p:grpSp>
          <p:nvGrpSpPr>
            <p:cNvPr id="718903" name="Group 55"/>
            <p:cNvGrpSpPr>
              <a:grpSpLocks/>
            </p:cNvGrpSpPr>
            <p:nvPr/>
          </p:nvGrpSpPr>
          <p:grpSpPr bwMode="auto">
            <a:xfrm>
              <a:off x="2640" y="1344"/>
              <a:ext cx="816" cy="480"/>
              <a:chOff x="3696" y="864"/>
              <a:chExt cx="816" cy="480"/>
            </a:xfrm>
          </p:grpSpPr>
          <p:sp>
            <p:nvSpPr>
              <p:cNvPr id="718904" name="Rectangle 56"/>
              <p:cNvSpPr>
                <a:spLocks noChangeArrowheads="1"/>
              </p:cNvSpPr>
              <p:nvPr/>
            </p:nvSpPr>
            <p:spPr bwMode="auto">
              <a:xfrm>
                <a:off x="4224" y="864"/>
                <a:ext cx="288" cy="24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718905" name="Rectangle 57"/>
              <p:cNvSpPr>
                <a:spLocks noChangeArrowheads="1"/>
              </p:cNvSpPr>
              <p:nvPr/>
            </p:nvSpPr>
            <p:spPr bwMode="auto">
              <a:xfrm>
                <a:off x="3696" y="864"/>
                <a:ext cx="526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/>
                <a:r>
                  <a:rPr lang="en-US" altLang="en-US" b="1">
                    <a:latin typeface="Courier New" panose="02070309020205020404" pitchFamily="49" charset="0"/>
                  </a:rPr>
                  <a:t>St</a:t>
                </a:r>
              </a:p>
            </p:txBody>
          </p:sp>
          <p:sp>
            <p:nvSpPr>
              <p:cNvPr id="718906" name="Rectangle 58"/>
              <p:cNvSpPr>
                <a:spLocks noChangeArrowheads="1"/>
              </p:cNvSpPr>
              <p:nvPr/>
            </p:nvSpPr>
            <p:spPr bwMode="auto">
              <a:xfrm>
                <a:off x="4224" y="1104"/>
                <a:ext cx="288" cy="24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endParaRPr lang="en-US" altLang="en-US" sz="2400" b="1">
                  <a:latin typeface="Courier New" panose="02070309020205020404" pitchFamily="49" charset="0"/>
                </a:endParaRPr>
              </a:p>
            </p:txBody>
          </p:sp>
          <p:sp>
            <p:nvSpPr>
              <p:cNvPr id="718907" name="Rectangle 59"/>
              <p:cNvSpPr>
                <a:spLocks noChangeArrowheads="1"/>
              </p:cNvSpPr>
              <p:nvPr/>
            </p:nvSpPr>
            <p:spPr bwMode="auto">
              <a:xfrm>
                <a:off x="3840" y="1104"/>
                <a:ext cx="382" cy="24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99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r"/>
                <a:r>
                  <a:rPr lang="en-US" altLang="en-US" b="1">
                    <a:latin typeface="Courier New" panose="02070309020205020404" pitchFamily="49" charset="0"/>
                  </a:rPr>
                  <a:t>Sem</a:t>
                </a:r>
              </a:p>
            </p:txBody>
          </p:sp>
        </p:grpSp>
      </p:grp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49</a:t>
            </a:fld>
            <a:endParaRPr lang="en-US" altLang="en-US"/>
          </a:p>
        </p:txBody>
      </p:sp>
      <p:sp>
        <p:nvSpPr>
          <p:cNvPr id="44" name="Text Box 4"/>
          <p:cNvSpPr txBox="1">
            <a:spLocks noChangeArrowheads="1"/>
          </p:cNvSpPr>
          <p:nvPr/>
        </p:nvSpPr>
        <p:spPr bwMode="auto">
          <a:xfrm>
            <a:off x="386697" y="1023676"/>
            <a:ext cx="4038600" cy="2252924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txBody>
          <a:bodyPr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void </a:t>
            </a:r>
            <a:r>
              <a:rPr lang="en-US" altLang="en-US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philosopher</a:t>
            </a:r>
            <a:r>
              <a:rPr lang="en-US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( </a:t>
            </a:r>
            <a:r>
              <a:rPr lang="en-US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 ){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    while (TRUE){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	Think( 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	</a:t>
            </a:r>
            <a:r>
              <a:rPr lang="en-US" altLang="en-US" b="1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takeChpStcks</a:t>
            </a:r>
            <a:r>
              <a:rPr lang="en-US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( </a:t>
            </a:r>
            <a:r>
              <a:rPr lang="en-US" altLang="en-US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 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	Eat( 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	</a:t>
            </a:r>
            <a:r>
              <a:rPr lang="en-US" altLang="en-US" b="1" i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putChpStcks</a:t>
            </a:r>
            <a:r>
              <a:rPr lang="en-US" altLang="en-US" b="1" dirty="0">
                <a:solidFill>
                  <a:srgbClr val="C00000"/>
                </a:solidFill>
                <a:latin typeface="Courier New" panose="02070309020205020404" pitchFamily="49" charset="0"/>
              </a:rPr>
              <a:t>( </a:t>
            </a:r>
            <a:r>
              <a:rPr lang="en-US" altLang="en-US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solidFill>
                  <a:srgbClr val="C00000"/>
                </a:solidFill>
                <a:latin typeface="Courier New" panose="02070309020205020404" pitchFamily="49" charset="0"/>
              </a:rPr>
              <a:t> 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    }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45" name="Text Box 8"/>
          <p:cNvSpPr txBox="1">
            <a:spLocks noChangeArrowheads="1"/>
          </p:cNvSpPr>
          <p:nvPr/>
        </p:nvSpPr>
        <p:spPr bwMode="auto">
          <a:xfrm>
            <a:off x="386697" y="1023676"/>
            <a:ext cx="4074614" cy="220368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void </a:t>
            </a:r>
            <a:r>
              <a:rPr lang="en-US" altLang="en-US" sz="1400" b="1" i="1" dirty="0" err="1">
                <a:solidFill>
                  <a:srgbClr val="003300"/>
                </a:solidFill>
                <a:latin typeface="Courier New" panose="02070309020205020404" pitchFamily="49" charset="0"/>
              </a:rPr>
              <a:t>safeToEat</a:t>
            </a:r>
            <a:r>
              <a:rPr lang="en-US" altLang="en-US" sz="1400" b="1" dirty="0">
                <a:latin typeface="Courier New" panose="02070309020205020404" pitchFamily="49" charset="0"/>
              </a:rPr>
              <a:t>( </a:t>
            </a:r>
            <a:r>
              <a:rPr lang="en-US" altLang="en-US" sz="14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400" b="1" dirty="0">
                <a:latin typeface="Courier New" panose="02070309020205020404" pitchFamily="49" charset="0"/>
              </a:rPr>
              <a:t> )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    if( (state[</a:t>
            </a:r>
            <a:r>
              <a:rPr lang="en-US" altLang="en-US" sz="14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400" b="1" dirty="0">
                <a:latin typeface="Courier New" panose="02070309020205020404" pitchFamily="49" charset="0"/>
              </a:rPr>
              <a:t>] == </a:t>
            </a:r>
            <a:r>
              <a:rPr lang="en-US" altLang="en-US" sz="1400" b="1" dirty="0">
                <a:solidFill>
                  <a:srgbClr val="008000"/>
                </a:solidFill>
                <a:latin typeface="Courier New" panose="02070309020205020404" pitchFamily="49" charset="0"/>
              </a:rPr>
              <a:t>HUNGRY</a:t>
            </a:r>
            <a:r>
              <a:rPr lang="en-US" altLang="en-US" sz="1400" b="1" dirty="0">
                <a:latin typeface="Courier New" panose="02070309020205020404" pitchFamily="49" charset="0"/>
              </a:rPr>
              <a:t>) &amp;&amp;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        (state[LEFT] != </a:t>
            </a:r>
            <a:r>
              <a:rPr lang="en-US" altLang="en-US" sz="1400" b="1" dirty="0">
                <a:solidFill>
                  <a:srgbClr val="008000"/>
                </a:solidFill>
                <a:latin typeface="Courier New" panose="02070309020205020404" pitchFamily="49" charset="0"/>
              </a:rPr>
              <a:t>EATING</a:t>
            </a:r>
            <a:r>
              <a:rPr lang="en-US" altLang="en-US" sz="1400" b="1" dirty="0">
                <a:latin typeface="Courier New" panose="02070309020205020404" pitchFamily="49" charset="0"/>
              </a:rPr>
              <a:t>) &amp;&amp; 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        (state[RIGHT] != </a:t>
            </a:r>
            <a:r>
              <a:rPr lang="en-US" altLang="en-US" sz="1400" b="1" dirty="0">
                <a:solidFill>
                  <a:srgbClr val="008000"/>
                </a:solidFill>
                <a:latin typeface="Courier New" panose="02070309020205020404" pitchFamily="49" charset="0"/>
              </a:rPr>
              <a:t>EATING</a:t>
            </a:r>
            <a:r>
              <a:rPr lang="en-US" altLang="en-US" sz="1400" b="1" dirty="0">
                <a:latin typeface="Courier New" panose="02070309020205020404" pitchFamily="49" charset="0"/>
              </a:rPr>
              <a:t>) ) 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en-US" altLang="en-US" sz="1400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         state[ </a:t>
            </a:r>
            <a:r>
              <a:rPr lang="en-US" altLang="en-US" sz="14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400" b="1" dirty="0">
                <a:latin typeface="Courier New" panose="02070309020205020404" pitchFamily="49" charset="0"/>
              </a:rPr>
              <a:t> ] = </a:t>
            </a:r>
            <a:r>
              <a:rPr lang="en-US" altLang="en-US" sz="1400" b="1" dirty="0">
                <a:solidFill>
                  <a:srgbClr val="008000"/>
                </a:solidFill>
                <a:latin typeface="Courier New" panose="02070309020205020404" pitchFamily="49" charset="0"/>
              </a:rPr>
              <a:t>EATING</a:t>
            </a:r>
            <a:r>
              <a:rPr lang="en-US" altLang="en-US" sz="1400" b="1" dirty="0"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         </a:t>
            </a:r>
            <a:r>
              <a:rPr lang="en-US" altLang="en-US" sz="1400" b="1" dirty="0">
                <a:solidFill>
                  <a:schemeClr val="tx2"/>
                </a:solidFill>
                <a:latin typeface="Courier New" panose="02070309020205020404" pitchFamily="49" charset="0"/>
              </a:rPr>
              <a:t>signal( s[</a:t>
            </a:r>
            <a:r>
              <a:rPr lang="en-US" altLang="en-US" sz="14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1400" b="1" dirty="0">
                <a:solidFill>
                  <a:schemeClr val="tx2"/>
                </a:solidFill>
                <a:latin typeface="Courier New" panose="02070309020205020404" pitchFamily="49" charset="0"/>
              </a:rPr>
              <a:t>] 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    }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sz="1400" b="1" dirty="0">
                <a:latin typeface="Courier New" panose="02070309020205020404" pitchFamily="49" charset="0"/>
              </a:rPr>
              <a:t>}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7446562" y="5739019"/>
            <a:ext cx="1668626" cy="713961"/>
            <a:chOff x="7087750" y="5562600"/>
            <a:chExt cx="1782926" cy="838200"/>
          </a:xfrm>
        </p:grpSpPr>
        <p:sp>
          <p:nvSpPr>
            <p:cNvPr id="47" name="AutoShape 8"/>
            <p:cNvSpPr>
              <a:spLocks noChangeArrowheads="1"/>
            </p:cNvSpPr>
            <p:nvPr/>
          </p:nvSpPr>
          <p:spPr bwMode="auto">
            <a:xfrm>
              <a:off x="7696200" y="5791200"/>
              <a:ext cx="704224" cy="609600"/>
            </a:xfrm>
            <a:prstGeom prst="smileyFace">
              <a:avLst>
                <a:gd name="adj" fmla="val 4653"/>
              </a:avLst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8248024" y="5562600"/>
              <a:ext cx="622652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L</a:t>
              </a:r>
              <a:r>
                <a:rPr lang="en-US" dirty="0">
                  <a:solidFill>
                    <a:schemeClr val="tx1"/>
                  </a:solidFill>
                </a:rPr>
                <a:t>eft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7087750" y="5562600"/>
              <a:ext cx="775052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R</a:t>
              </a:r>
              <a:r>
                <a:rPr lang="en-US" dirty="0">
                  <a:solidFill>
                    <a:schemeClr val="tx1"/>
                  </a:solidFill>
                </a:rPr>
                <a:t>ight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7088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4" grpId="1" animBg="1"/>
      <p:bldP spid="4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19"/>
          <p:cNvGrpSpPr>
            <a:grpSpLocks/>
          </p:cNvGrpSpPr>
          <p:nvPr/>
        </p:nvGrpSpPr>
        <p:grpSpPr bwMode="auto">
          <a:xfrm>
            <a:off x="5521263" y="1683418"/>
            <a:ext cx="3048000" cy="2362200"/>
            <a:chOff x="1776" y="624"/>
            <a:chExt cx="1920" cy="1488"/>
          </a:xfrm>
        </p:grpSpPr>
        <p:sp>
          <p:nvSpPr>
            <p:cNvPr id="26" name="AutoShape 8"/>
            <p:cNvSpPr>
              <a:spLocks noChangeArrowheads="1"/>
            </p:cNvSpPr>
            <p:nvPr/>
          </p:nvSpPr>
          <p:spPr bwMode="auto">
            <a:xfrm>
              <a:off x="2496" y="624"/>
              <a:ext cx="480" cy="384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AutoShape 9"/>
            <p:cNvSpPr>
              <a:spLocks noChangeArrowheads="1"/>
            </p:cNvSpPr>
            <p:nvPr/>
          </p:nvSpPr>
          <p:spPr bwMode="auto">
            <a:xfrm>
              <a:off x="1776" y="1056"/>
              <a:ext cx="480" cy="384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AutoShape 10"/>
            <p:cNvSpPr>
              <a:spLocks noChangeArrowheads="1"/>
            </p:cNvSpPr>
            <p:nvPr/>
          </p:nvSpPr>
          <p:spPr bwMode="auto">
            <a:xfrm>
              <a:off x="3216" y="1056"/>
              <a:ext cx="480" cy="384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AutoShape 11"/>
            <p:cNvSpPr>
              <a:spLocks noChangeArrowheads="1"/>
            </p:cNvSpPr>
            <p:nvPr/>
          </p:nvSpPr>
          <p:spPr bwMode="auto">
            <a:xfrm>
              <a:off x="2016" y="1680"/>
              <a:ext cx="480" cy="384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AutoShape 12"/>
            <p:cNvSpPr>
              <a:spLocks noChangeArrowheads="1"/>
            </p:cNvSpPr>
            <p:nvPr/>
          </p:nvSpPr>
          <p:spPr bwMode="auto">
            <a:xfrm>
              <a:off x="2976" y="1680"/>
              <a:ext cx="480" cy="384"/>
            </a:xfrm>
            <a:prstGeom prst="smileyFace">
              <a:avLst>
                <a:gd name="adj" fmla="val 4653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1" name="Group 13"/>
            <p:cNvGrpSpPr>
              <a:grpSpLocks/>
            </p:cNvGrpSpPr>
            <p:nvPr/>
          </p:nvGrpSpPr>
          <p:grpSpPr bwMode="auto">
            <a:xfrm>
              <a:off x="1872" y="720"/>
              <a:ext cx="1728" cy="1392"/>
              <a:chOff x="1872" y="720"/>
              <a:chExt cx="1728" cy="1392"/>
            </a:xfrm>
          </p:grpSpPr>
          <p:sp>
            <p:nvSpPr>
              <p:cNvPr id="32" name="AutoShape 14"/>
              <p:cNvSpPr>
                <a:spLocks noChangeArrowheads="1"/>
              </p:cNvSpPr>
              <p:nvPr/>
            </p:nvSpPr>
            <p:spPr bwMode="auto">
              <a:xfrm rot="1800000">
                <a:off x="3072" y="720"/>
                <a:ext cx="48" cy="480"/>
              </a:xfrm>
              <a:prstGeom prst="cube">
                <a:avLst>
                  <a:gd name="adj" fmla="val 25000"/>
                </a:avLst>
              </a:prstGeom>
              <a:solidFill>
                <a:srgbClr val="99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" name="AutoShape 15"/>
              <p:cNvSpPr>
                <a:spLocks noChangeArrowheads="1"/>
              </p:cNvSpPr>
              <p:nvPr/>
            </p:nvSpPr>
            <p:spPr bwMode="auto">
              <a:xfrm>
                <a:off x="2736" y="1632"/>
                <a:ext cx="48" cy="480"/>
              </a:xfrm>
              <a:prstGeom prst="cube">
                <a:avLst>
                  <a:gd name="adj" fmla="val 25000"/>
                </a:avLst>
              </a:prstGeom>
              <a:solidFill>
                <a:srgbClr val="99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AutoShape 16"/>
              <p:cNvSpPr>
                <a:spLocks noChangeArrowheads="1"/>
              </p:cNvSpPr>
              <p:nvPr/>
            </p:nvSpPr>
            <p:spPr bwMode="auto">
              <a:xfrm rot="19500000">
                <a:off x="2352" y="768"/>
                <a:ext cx="48" cy="480"/>
              </a:xfrm>
              <a:prstGeom prst="cube">
                <a:avLst>
                  <a:gd name="adj" fmla="val 25000"/>
                </a:avLst>
              </a:prstGeom>
              <a:solidFill>
                <a:srgbClr val="99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AutoShape 17"/>
              <p:cNvSpPr>
                <a:spLocks noChangeArrowheads="1"/>
              </p:cNvSpPr>
              <p:nvPr/>
            </p:nvSpPr>
            <p:spPr bwMode="auto">
              <a:xfrm rot="4800000">
                <a:off x="2088" y="1320"/>
                <a:ext cx="48" cy="480"/>
              </a:xfrm>
              <a:prstGeom prst="cube">
                <a:avLst>
                  <a:gd name="adj" fmla="val 25000"/>
                </a:avLst>
              </a:prstGeom>
              <a:solidFill>
                <a:srgbClr val="99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AutoShape 18"/>
              <p:cNvSpPr>
                <a:spLocks noChangeArrowheads="1"/>
              </p:cNvSpPr>
              <p:nvPr/>
            </p:nvSpPr>
            <p:spPr bwMode="auto">
              <a:xfrm rot="16800000">
                <a:off x="3336" y="1320"/>
                <a:ext cx="48" cy="480"/>
              </a:xfrm>
              <a:prstGeom prst="cube">
                <a:avLst>
                  <a:gd name="adj" fmla="val 25000"/>
                </a:avLst>
              </a:prstGeom>
              <a:solidFill>
                <a:srgbClr val="9933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400" dirty="0"/>
              <a:t>Dining Philosopher: </a:t>
            </a:r>
            <a:r>
              <a:rPr lang="en-US" altLang="en-US" sz="4400" b="1" dirty="0">
                <a:solidFill>
                  <a:srgbClr val="C00000"/>
                </a:solidFill>
              </a:rPr>
              <a:t>Limited Eater</a:t>
            </a:r>
            <a:endParaRPr lang="en-US" dirty="0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381000" y="1201684"/>
            <a:ext cx="4527310" cy="3914918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50000"/>
              </a:schemeClr>
            </a:solidFill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solidFill>
                  <a:srgbClr val="006600"/>
                </a:solidFill>
                <a:latin typeface="Courier New" panose="02070309020205020404" pitchFamily="49" charset="0"/>
              </a:rPr>
              <a:t>void</a:t>
            </a:r>
            <a:r>
              <a:rPr lang="en-US" altLang="en-US" b="1" dirty="0">
                <a:latin typeface="Courier New" panose="02070309020205020404" pitchFamily="49" charset="0"/>
              </a:rPr>
              <a:t> </a:t>
            </a:r>
            <a:r>
              <a:rPr lang="en-US" altLang="en-US" b="1" i="1" dirty="0">
                <a:latin typeface="Courier New" panose="02070309020205020404" pitchFamily="49" charset="0"/>
              </a:rPr>
              <a:t>philosopher</a:t>
            </a:r>
            <a:r>
              <a:rPr lang="en-US" altLang="en-US" b="1" dirty="0">
                <a:latin typeface="Courier New" panose="02070309020205020404" pitchFamily="49" charset="0"/>
              </a:rPr>
              <a:t>( </a:t>
            </a:r>
            <a:r>
              <a:rPr lang="en-US" altLang="en-US" b="1" dirty="0" err="1">
                <a:solidFill>
                  <a:srgbClr val="00660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b="1" dirty="0">
                <a:latin typeface="Courier New" panose="02070309020205020404" pitchFamily="49" charset="0"/>
              </a:rPr>
              <a:t> </a:t>
            </a:r>
            <a:r>
              <a:rPr lang="en-US" altLang="en-US" b="1" dirty="0" err="1">
                <a:latin typeface="Courier New" panose="02070309020205020404" pitchFamily="49" charset="0"/>
              </a:rPr>
              <a:t>i</a:t>
            </a:r>
            <a:r>
              <a:rPr lang="en-US" altLang="en-US" b="1" dirty="0">
                <a:latin typeface="Courier New" panose="02070309020205020404" pitchFamily="49" charset="0"/>
              </a:rPr>
              <a:t> ){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</a:t>
            </a:r>
            <a:r>
              <a:rPr lang="en-US" altLang="en-US" b="1" dirty="0">
                <a:solidFill>
                  <a:srgbClr val="660066"/>
                </a:solidFill>
                <a:latin typeface="Courier New" panose="02070309020205020404" pitchFamily="49" charset="0"/>
              </a:rPr>
              <a:t> while </a:t>
            </a:r>
            <a:r>
              <a:rPr lang="en-US" altLang="en-US" b="1" dirty="0">
                <a:latin typeface="Courier New" panose="02070309020205020404" pitchFamily="49" charset="0"/>
              </a:rPr>
              <a:t>(</a:t>
            </a:r>
            <a:r>
              <a:rPr lang="en-US" altLang="en-US" b="1" dirty="0">
                <a:solidFill>
                  <a:srgbClr val="0070C0"/>
                </a:solidFill>
                <a:latin typeface="Courier New" panose="02070309020205020404" pitchFamily="49" charset="0"/>
              </a:rPr>
              <a:t>TRUE</a:t>
            </a:r>
            <a:r>
              <a:rPr lang="en-US" altLang="en-US" b="1" dirty="0">
                <a:latin typeface="Courier New" panose="02070309020205020404" pitchFamily="49" charset="0"/>
              </a:rPr>
              <a:t>){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</a:t>
            </a:r>
            <a:r>
              <a:rPr lang="en-US" altLang="en-US" b="1" i="1" dirty="0">
                <a:latin typeface="Courier New" panose="02070309020205020404" pitchFamily="49" charset="0"/>
              </a:rPr>
              <a:t>Think</a:t>
            </a:r>
            <a:r>
              <a:rPr lang="en-US" altLang="en-US" b="1" dirty="0">
                <a:latin typeface="Courier New" panose="02070309020205020404" pitchFamily="49" charset="0"/>
              </a:rPr>
              <a:t>( 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solidFill>
                  <a:schemeClr val="tx2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b="1" dirty="0">
                <a:solidFill>
                  <a:srgbClr val="C00000"/>
                </a:solidFill>
                <a:latin typeface="Courier New" panose="02070309020205020404" pitchFamily="49" charset="0"/>
              </a:rPr>
              <a:t>wait</a:t>
            </a:r>
            <a:r>
              <a:rPr lang="en-US" altLang="en-US" b="1" dirty="0">
                <a:latin typeface="Courier New" panose="02070309020205020404" pitchFamily="49" charset="0"/>
              </a:rPr>
              <a:t>(</a:t>
            </a:r>
            <a:r>
              <a:rPr lang="en-US" altLang="en-US" b="1" dirty="0">
                <a:solidFill>
                  <a:srgbClr val="C00000"/>
                </a:solidFill>
                <a:latin typeface="Courier New" panose="02070309020205020404" pitchFamily="49" charset="0"/>
              </a:rPr>
              <a:t> seats </a:t>
            </a:r>
            <a:r>
              <a:rPr lang="en-US" altLang="en-US" b="1" dirty="0"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solidFill>
                  <a:srgbClr val="C00000"/>
                </a:solidFill>
                <a:latin typeface="Courier New" panose="02070309020205020404" pitchFamily="49" charset="0"/>
              </a:rPr>
              <a:t>	wait</a:t>
            </a:r>
            <a:r>
              <a:rPr lang="en-US" altLang="en-US" b="1" dirty="0">
                <a:latin typeface="Courier New" panose="02070309020205020404" pitchFamily="49" charset="0"/>
              </a:rPr>
              <a:t>(</a:t>
            </a:r>
            <a:r>
              <a:rPr lang="en-US" altLang="en-US" b="1" dirty="0">
                <a:solidFill>
                  <a:srgbClr val="C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chpStck</a:t>
            </a:r>
            <a:r>
              <a:rPr lang="en-US" altLang="en-US" b="1" dirty="0">
                <a:solidFill>
                  <a:srgbClr val="C00000"/>
                </a:solidFill>
                <a:latin typeface="Courier New" panose="02070309020205020404" pitchFamily="49" charset="0"/>
              </a:rPr>
              <a:t>[LEFT] </a:t>
            </a:r>
            <a:r>
              <a:rPr lang="en-US" altLang="en-US" b="1" dirty="0"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solidFill>
                  <a:srgbClr val="C00000"/>
                </a:solidFill>
                <a:latin typeface="Courier New" panose="02070309020205020404" pitchFamily="49" charset="0"/>
              </a:rPr>
              <a:t>	wait</a:t>
            </a:r>
            <a:r>
              <a:rPr lang="en-US" altLang="en-US" b="1" dirty="0">
                <a:latin typeface="Courier New" panose="02070309020205020404" pitchFamily="49" charset="0"/>
              </a:rPr>
              <a:t>(</a:t>
            </a:r>
            <a:r>
              <a:rPr lang="en-US" altLang="en-US" b="1" dirty="0">
                <a:solidFill>
                  <a:srgbClr val="C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chpStck</a:t>
            </a:r>
            <a:r>
              <a:rPr lang="en-US" altLang="en-US" b="1" dirty="0">
                <a:solidFill>
                  <a:srgbClr val="C00000"/>
                </a:solidFill>
                <a:latin typeface="Courier New" panose="02070309020205020404" pitchFamily="49" charset="0"/>
              </a:rPr>
              <a:t>[RIGHT] </a:t>
            </a:r>
            <a:r>
              <a:rPr lang="en-US" altLang="en-US" b="1" dirty="0"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</a:t>
            </a:r>
            <a:r>
              <a:rPr lang="en-US" altLang="en-US" b="1" i="1" dirty="0">
                <a:latin typeface="Courier New" panose="02070309020205020404" pitchFamily="49" charset="0"/>
              </a:rPr>
              <a:t>Eat</a:t>
            </a:r>
            <a:r>
              <a:rPr lang="en-US" altLang="en-US" b="1" dirty="0">
                <a:latin typeface="Courier New" panose="02070309020205020404" pitchFamily="49" charset="0"/>
              </a:rPr>
              <a:t>( 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</a:t>
            </a:r>
            <a:r>
              <a:rPr lang="en-US" altLang="en-US" b="1" dirty="0">
                <a:solidFill>
                  <a:srgbClr val="660066"/>
                </a:solidFill>
                <a:latin typeface="Courier New" panose="02070309020205020404" pitchFamily="49" charset="0"/>
              </a:rPr>
              <a:t>signal</a:t>
            </a:r>
            <a:r>
              <a:rPr lang="en-US" altLang="en-US" b="1" dirty="0">
                <a:latin typeface="Courier New" panose="02070309020205020404" pitchFamily="49" charset="0"/>
              </a:rPr>
              <a:t>(</a:t>
            </a:r>
            <a:r>
              <a:rPr lang="en-US" altLang="en-US" b="1" dirty="0">
                <a:solidFill>
                  <a:srgbClr val="660066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chpStck</a:t>
            </a:r>
            <a:r>
              <a:rPr lang="en-US" altLang="en-US" b="1" dirty="0">
                <a:solidFill>
                  <a:srgbClr val="660066"/>
                </a:solidFill>
                <a:latin typeface="Courier New" panose="02070309020205020404" pitchFamily="49" charset="0"/>
              </a:rPr>
              <a:t>[LEFT] </a:t>
            </a:r>
            <a:r>
              <a:rPr lang="en-US" altLang="en-US" b="1" dirty="0"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</a:pPr>
            <a:r>
              <a:rPr lang="en-US" altLang="en-US" b="1" dirty="0">
                <a:solidFill>
                  <a:srgbClr val="660066"/>
                </a:solidFill>
                <a:latin typeface="Courier New" panose="02070309020205020404" pitchFamily="49" charset="0"/>
              </a:rPr>
              <a:t>	signal</a:t>
            </a:r>
            <a:r>
              <a:rPr lang="en-US" altLang="en-US" b="1" dirty="0">
                <a:latin typeface="Courier New" panose="02070309020205020404" pitchFamily="49" charset="0"/>
              </a:rPr>
              <a:t>(</a:t>
            </a:r>
            <a:r>
              <a:rPr lang="en-US" altLang="en-US" b="1" dirty="0">
                <a:solidFill>
                  <a:srgbClr val="660066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C00000"/>
                </a:solidFill>
                <a:latin typeface="Courier New" panose="02070309020205020404" pitchFamily="49" charset="0"/>
              </a:rPr>
              <a:t>chpStck</a:t>
            </a:r>
            <a:r>
              <a:rPr lang="en-US" altLang="en-US" b="1" dirty="0">
                <a:solidFill>
                  <a:srgbClr val="660066"/>
                </a:solidFill>
                <a:latin typeface="Courier New" panose="02070309020205020404" pitchFamily="49" charset="0"/>
              </a:rPr>
              <a:t>[RIGHT] </a:t>
            </a:r>
            <a:r>
              <a:rPr lang="en-US" altLang="en-US" b="1" dirty="0"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solidFill>
                  <a:srgbClr val="660066"/>
                </a:solidFill>
                <a:latin typeface="Courier New" panose="02070309020205020404" pitchFamily="49" charset="0"/>
              </a:rPr>
              <a:t>	signal</a:t>
            </a:r>
            <a:r>
              <a:rPr lang="en-US" altLang="en-US" b="1" dirty="0">
                <a:latin typeface="Courier New" panose="02070309020205020404" pitchFamily="49" charset="0"/>
              </a:rPr>
              <a:t>(</a:t>
            </a:r>
            <a:r>
              <a:rPr lang="en-US" altLang="en-US" b="1" dirty="0">
                <a:solidFill>
                  <a:srgbClr val="660066"/>
                </a:solidFill>
                <a:latin typeface="Courier New" panose="02070309020205020404" pitchFamily="49" charset="0"/>
              </a:rPr>
              <a:t> seats </a:t>
            </a:r>
            <a:r>
              <a:rPr lang="en-US" altLang="en-US" b="1" dirty="0"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    }</a:t>
            </a: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endParaRPr lang="en-US" altLang="en-US" b="1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}</a:t>
            </a:r>
          </a:p>
        </p:txBody>
      </p:sp>
      <p:grpSp>
        <p:nvGrpSpPr>
          <p:cNvPr id="15" name="Group 13"/>
          <p:cNvGrpSpPr>
            <a:grpSpLocks/>
          </p:cNvGrpSpPr>
          <p:nvPr/>
        </p:nvGrpSpPr>
        <p:grpSpPr bwMode="auto">
          <a:xfrm>
            <a:off x="5673663" y="1835331"/>
            <a:ext cx="2743200" cy="2209800"/>
            <a:chOff x="1872" y="720"/>
            <a:chExt cx="1728" cy="1392"/>
          </a:xfrm>
        </p:grpSpPr>
        <p:sp>
          <p:nvSpPr>
            <p:cNvPr id="16" name="AutoShape 14"/>
            <p:cNvSpPr>
              <a:spLocks noChangeArrowheads="1"/>
            </p:cNvSpPr>
            <p:nvPr/>
          </p:nvSpPr>
          <p:spPr bwMode="auto">
            <a:xfrm rot="1800000">
              <a:off x="3072" y="720"/>
              <a:ext cx="48" cy="480"/>
            </a:xfrm>
            <a:prstGeom prst="cube">
              <a:avLst>
                <a:gd name="adj" fmla="val 25000"/>
              </a:avLst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AutoShape 15"/>
            <p:cNvSpPr>
              <a:spLocks noChangeArrowheads="1"/>
            </p:cNvSpPr>
            <p:nvPr/>
          </p:nvSpPr>
          <p:spPr bwMode="auto">
            <a:xfrm>
              <a:off x="2736" y="1632"/>
              <a:ext cx="48" cy="480"/>
            </a:xfrm>
            <a:prstGeom prst="cube">
              <a:avLst>
                <a:gd name="adj" fmla="val 25000"/>
              </a:avLst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AutoShape 16"/>
            <p:cNvSpPr>
              <a:spLocks noChangeArrowheads="1"/>
            </p:cNvSpPr>
            <p:nvPr/>
          </p:nvSpPr>
          <p:spPr bwMode="auto">
            <a:xfrm rot="19500000">
              <a:off x="2352" y="768"/>
              <a:ext cx="48" cy="480"/>
            </a:xfrm>
            <a:prstGeom prst="cube">
              <a:avLst>
                <a:gd name="adj" fmla="val 25000"/>
              </a:avLst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AutoShape 17"/>
            <p:cNvSpPr>
              <a:spLocks noChangeArrowheads="1"/>
            </p:cNvSpPr>
            <p:nvPr/>
          </p:nvSpPr>
          <p:spPr bwMode="auto">
            <a:xfrm rot="4800000">
              <a:off x="2088" y="1320"/>
              <a:ext cx="48" cy="480"/>
            </a:xfrm>
            <a:prstGeom prst="cube">
              <a:avLst>
                <a:gd name="adj" fmla="val 25000"/>
              </a:avLst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AutoShape 18"/>
            <p:cNvSpPr>
              <a:spLocks noChangeArrowheads="1"/>
            </p:cNvSpPr>
            <p:nvPr/>
          </p:nvSpPr>
          <p:spPr bwMode="auto">
            <a:xfrm rot="16800000">
              <a:off x="3336" y="1320"/>
              <a:ext cx="48" cy="480"/>
            </a:xfrm>
            <a:prstGeom prst="cube">
              <a:avLst>
                <a:gd name="adj" fmla="val 25000"/>
              </a:avLst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5421482" y="1611692"/>
            <a:ext cx="3241186" cy="2357726"/>
            <a:chOff x="5421482" y="1611692"/>
            <a:chExt cx="3241186" cy="2357726"/>
          </a:xfrm>
        </p:grpSpPr>
        <p:sp>
          <p:nvSpPr>
            <p:cNvPr id="8" name="Flowchart: Magnetic Disk 7"/>
            <p:cNvSpPr/>
            <p:nvPr/>
          </p:nvSpPr>
          <p:spPr>
            <a:xfrm>
              <a:off x="6031082" y="3459759"/>
              <a:ext cx="861781" cy="509659"/>
            </a:xfrm>
            <a:prstGeom prst="flowChartMagneticDisk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</a:rPr>
                <a:t>Seat</a:t>
              </a:r>
            </a:p>
          </p:txBody>
        </p:sp>
        <p:sp>
          <p:nvSpPr>
            <p:cNvPr id="21" name="Flowchart: Magnetic Disk 20"/>
            <p:cNvSpPr/>
            <p:nvPr/>
          </p:nvSpPr>
          <p:spPr>
            <a:xfrm>
              <a:off x="7800887" y="2377858"/>
              <a:ext cx="861781" cy="509659"/>
            </a:xfrm>
            <a:prstGeom prst="flowChartMagneticDisk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</a:rPr>
                <a:t>Seat</a:t>
              </a:r>
            </a:p>
          </p:txBody>
        </p:sp>
        <p:sp>
          <p:nvSpPr>
            <p:cNvPr id="22" name="Flowchart: Magnetic Disk 21"/>
            <p:cNvSpPr/>
            <p:nvPr/>
          </p:nvSpPr>
          <p:spPr>
            <a:xfrm>
              <a:off x="5421482" y="2393681"/>
              <a:ext cx="861781" cy="509659"/>
            </a:xfrm>
            <a:prstGeom prst="flowChartMagneticDisk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</a:rPr>
                <a:t>Seat</a:t>
              </a:r>
            </a:p>
          </p:txBody>
        </p:sp>
        <p:sp>
          <p:nvSpPr>
            <p:cNvPr id="23" name="Flowchart: Magnetic Disk 22"/>
            <p:cNvSpPr/>
            <p:nvPr/>
          </p:nvSpPr>
          <p:spPr>
            <a:xfrm>
              <a:off x="6608175" y="1611692"/>
              <a:ext cx="861781" cy="509659"/>
            </a:xfrm>
            <a:prstGeom prst="flowChartMagneticDisk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accent5">
                      <a:lumMod val="50000"/>
                    </a:schemeClr>
                  </a:solidFill>
                </a:rPr>
                <a:t>Seat</a:t>
              </a:r>
            </a:p>
          </p:txBody>
        </p:sp>
      </p:grpSp>
      <p:grpSp>
        <p:nvGrpSpPr>
          <p:cNvPr id="37" name="Group 34"/>
          <p:cNvGrpSpPr>
            <a:grpSpLocks/>
          </p:cNvGrpSpPr>
          <p:nvPr/>
        </p:nvGrpSpPr>
        <p:grpSpPr bwMode="auto">
          <a:xfrm>
            <a:off x="5599486" y="1175804"/>
            <a:ext cx="606425" cy="762000"/>
            <a:chOff x="4161" y="864"/>
            <a:chExt cx="382" cy="480"/>
          </a:xfrm>
        </p:grpSpPr>
        <p:sp>
          <p:nvSpPr>
            <p:cNvPr id="40" name="Rectangle 37"/>
            <p:cNvSpPr>
              <a:spLocks noChangeArrowheads="1"/>
            </p:cNvSpPr>
            <p:nvPr/>
          </p:nvSpPr>
          <p:spPr bwMode="auto">
            <a:xfrm>
              <a:off x="4224" y="1104"/>
              <a:ext cx="288" cy="2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anose="02070309020205020404" pitchFamily="49" charset="0"/>
              </a:endParaRPr>
            </a:p>
          </p:txBody>
        </p:sp>
        <p:sp>
          <p:nvSpPr>
            <p:cNvPr id="41" name="Rectangle 38"/>
            <p:cNvSpPr>
              <a:spLocks noChangeArrowheads="1"/>
            </p:cNvSpPr>
            <p:nvPr/>
          </p:nvSpPr>
          <p:spPr bwMode="auto">
            <a:xfrm>
              <a:off x="4161" y="864"/>
              <a:ext cx="382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b="1" dirty="0" err="1">
                  <a:latin typeface="Courier New" panose="02070309020205020404" pitchFamily="49" charset="0"/>
                </a:rPr>
                <a:t>ChpStck</a:t>
              </a:r>
              <a:endParaRPr lang="en-US" altLang="en-US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42" name="Group 39"/>
          <p:cNvGrpSpPr>
            <a:grpSpLocks/>
          </p:cNvGrpSpPr>
          <p:nvPr/>
        </p:nvGrpSpPr>
        <p:grpSpPr bwMode="auto">
          <a:xfrm>
            <a:off x="7811266" y="1092146"/>
            <a:ext cx="606425" cy="762000"/>
            <a:chOff x="4177" y="864"/>
            <a:chExt cx="382" cy="480"/>
          </a:xfrm>
        </p:grpSpPr>
        <p:sp>
          <p:nvSpPr>
            <p:cNvPr id="45" name="Rectangle 42"/>
            <p:cNvSpPr>
              <a:spLocks noChangeArrowheads="1"/>
            </p:cNvSpPr>
            <p:nvPr/>
          </p:nvSpPr>
          <p:spPr bwMode="auto">
            <a:xfrm>
              <a:off x="4224" y="1104"/>
              <a:ext cx="288" cy="2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anose="02070309020205020404" pitchFamily="49" charset="0"/>
              </a:endParaRPr>
            </a:p>
          </p:txBody>
        </p:sp>
        <p:sp>
          <p:nvSpPr>
            <p:cNvPr id="46" name="Rectangle 43"/>
            <p:cNvSpPr>
              <a:spLocks noChangeArrowheads="1"/>
            </p:cNvSpPr>
            <p:nvPr/>
          </p:nvSpPr>
          <p:spPr bwMode="auto">
            <a:xfrm>
              <a:off x="4177" y="864"/>
              <a:ext cx="382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b="1" dirty="0" err="1">
                  <a:latin typeface="Courier New" panose="02070309020205020404" pitchFamily="49" charset="0"/>
                </a:rPr>
                <a:t>ChpStck</a:t>
              </a:r>
              <a:endParaRPr lang="en-US" altLang="en-US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47" name="Group 44"/>
          <p:cNvGrpSpPr>
            <a:grpSpLocks/>
          </p:cNvGrpSpPr>
          <p:nvPr/>
        </p:nvGrpSpPr>
        <p:grpSpPr bwMode="auto">
          <a:xfrm>
            <a:off x="8307660" y="3367657"/>
            <a:ext cx="682625" cy="719138"/>
            <a:chOff x="4099" y="1140"/>
            <a:chExt cx="430" cy="453"/>
          </a:xfrm>
        </p:grpSpPr>
        <p:sp>
          <p:nvSpPr>
            <p:cNvPr id="50" name="Rectangle 47"/>
            <p:cNvSpPr>
              <a:spLocks noChangeArrowheads="1"/>
            </p:cNvSpPr>
            <p:nvPr/>
          </p:nvSpPr>
          <p:spPr bwMode="auto">
            <a:xfrm>
              <a:off x="4099" y="1140"/>
              <a:ext cx="288" cy="2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anose="02070309020205020404" pitchFamily="49" charset="0"/>
              </a:endParaRPr>
            </a:p>
          </p:txBody>
        </p:sp>
        <p:sp>
          <p:nvSpPr>
            <p:cNvPr id="51" name="Rectangle 48"/>
            <p:cNvSpPr>
              <a:spLocks noChangeArrowheads="1"/>
            </p:cNvSpPr>
            <p:nvPr/>
          </p:nvSpPr>
          <p:spPr bwMode="auto">
            <a:xfrm>
              <a:off x="4147" y="1353"/>
              <a:ext cx="382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b="1" dirty="0" err="1">
                  <a:latin typeface="Courier New" panose="02070309020205020404" pitchFamily="49" charset="0"/>
                </a:rPr>
                <a:t>ChpStck</a:t>
              </a:r>
              <a:endParaRPr lang="en-US" altLang="en-US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2" name="Group 49"/>
          <p:cNvGrpSpPr>
            <a:grpSpLocks/>
          </p:cNvGrpSpPr>
          <p:nvPr/>
        </p:nvGrpSpPr>
        <p:grpSpPr bwMode="auto">
          <a:xfrm>
            <a:off x="6326467" y="4215048"/>
            <a:ext cx="1066800" cy="381000"/>
            <a:chOff x="3840" y="1104"/>
            <a:chExt cx="672" cy="240"/>
          </a:xfrm>
        </p:grpSpPr>
        <p:sp>
          <p:nvSpPr>
            <p:cNvPr id="55" name="Rectangle 52"/>
            <p:cNvSpPr>
              <a:spLocks noChangeArrowheads="1"/>
            </p:cNvSpPr>
            <p:nvPr/>
          </p:nvSpPr>
          <p:spPr bwMode="auto">
            <a:xfrm>
              <a:off x="4224" y="1104"/>
              <a:ext cx="288" cy="2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anose="02070309020205020404" pitchFamily="49" charset="0"/>
              </a:endParaRPr>
            </a:p>
          </p:txBody>
        </p:sp>
        <p:sp>
          <p:nvSpPr>
            <p:cNvPr id="56" name="Rectangle 53"/>
            <p:cNvSpPr>
              <a:spLocks noChangeArrowheads="1"/>
            </p:cNvSpPr>
            <p:nvPr/>
          </p:nvSpPr>
          <p:spPr bwMode="auto">
            <a:xfrm>
              <a:off x="3840" y="1104"/>
              <a:ext cx="382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b="1" dirty="0" err="1">
                  <a:latin typeface="Courier New" panose="02070309020205020404" pitchFamily="49" charset="0"/>
                </a:rPr>
                <a:t>ChpStck</a:t>
              </a:r>
              <a:endParaRPr lang="en-US" altLang="en-US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57" name="Group 54"/>
          <p:cNvGrpSpPr>
            <a:grpSpLocks/>
          </p:cNvGrpSpPr>
          <p:nvPr/>
        </p:nvGrpSpPr>
        <p:grpSpPr bwMode="auto">
          <a:xfrm>
            <a:off x="5136910" y="3230319"/>
            <a:ext cx="606425" cy="784225"/>
            <a:chOff x="4224" y="1104"/>
            <a:chExt cx="382" cy="494"/>
          </a:xfrm>
        </p:grpSpPr>
        <p:sp>
          <p:nvSpPr>
            <p:cNvPr id="60" name="Rectangle 57"/>
            <p:cNvSpPr>
              <a:spLocks noChangeArrowheads="1"/>
            </p:cNvSpPr>
            <p:nvPr/>
          </p:nvSpPr>
          <p:spPr bwMode="auto">
            <a:xfrm>
              <a:off x="4224" y="1104"/>
              <a:ext cx="288" cy="24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anose="02070309020205020404" pitchFamily="49" charset="0"/>
              </a:endParaRPr>
            </a:p>
          </p:txBody>
        </p:sp>
        <p:sp>
          <p:nvSpPr>
            <p:cNvPr id="61" name="Rectangle 58"/>
            <p:cNvSpPr>
              <a:spLocks noChangeArrowheads="1"/>
            </p:cNvSpPr>
            <p:nvPr/>
          </p:nvSpPr>
          <p:spPr bwMode="auto">
            <a:xfrm>
              <a:off x="4224" y="1358"/>
              <a:ext cx="382" cy="24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/>
              <a:r>
                <a:rPr lang="en-US" altLang="en-US" b="1" dirty="0" err="1">
                  <a:latin typeface="Courier New" panose="02070309020205020404" pitchFamily="49" charset="0"/>
                </a:rPr>
                <a:t>ChpStck</a:t>
              </a:r>
              <a:endParaRPr lang="en-US" altLang="en-US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66" name="Group 65"/>
          <p:cNvGrpSpPr/>
          <p:nvPr/>
        </p:nvGrpSpPr>
        <p:grpSpPr>
          <a:xfrm>
            <a:off x="5107578" y="5359127"/>
            <a:ext cx="3579222" cy="859765"/>
            <a:chOff x="4191000" y="3425284"/>
            <a:chExt cx="3579222" cy="1379217"/>
          </a:xfrm>
        </p:grpSpPr>
        <p:sp>
          <p:nvSpPr>
            <p:cNvPr id="67" name="Rounded Rectangle 66"/>
            <p:cNvSpPr/>
            <p:nvPr/>
          </p:nvSpPr>
          <p:spPr>
            <a:xfrm>
              <a:off x="4191000" y="3585301"/>
              <a:ext cx="3505200" cy="1219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10"/>
            <p:cNvSpPr>
              <a:spLocks noChangeArrowheads="1"/>
            </p:cNvSpPr>
            <p:nvPr/>
          </p:nvSpPr>
          <p:spPr bwMode="auto">
            <a:xfrm>
              <a:off x="7010399" y="3425284"/>
              <a:ext cx="759823" cy="460916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/>
                <a:t>Seats</a:t>
              </a:r>
            </a:p>
          </p:txBody>
        </p:sp>
        <p:sp>
          <p:nvSpPr>
            <p:cNvPr id="69" name="Rectangle 11"/>
            <p:cNvSpPr>
              <a:spLocks noChangeArrowheads="1"/>
            </p:cNvSpPr>
            <p:nvPr/>
          </p:nvSpPr>
          <p:spPr bwMode="auto">
            <a:xfrm>
              <a:off x="4343400" y="3886200"/>
              <a:ext cx="838200" cy="762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70" name="Rectangle 12"/>
            <p:cNvSpPr>
              <a:spLocks noChangeArrowheads="1"/>
            </p:cNvSpPr>
            <p:nvPr/>
          </p:nvSpPr>
          <p:spPr bwMode="auto">
            <a:xfrm>
              <a:off x="5181600" y="4572000"/>
              <a:ext cx="2133600" cy="76200"/>
            </a:xfrm>
            <a:prstGeom prst="rect">
              <a:avLst/>
            </a:prstGeom>
            <a:solidFill>
              <a:srgbClr val="80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1" name="Slide Number Placehold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50</a:t>
            </a:fld>
            <a:endParaRPr lang="en-US" altLang="en-US"/>
          </a:p>
        </p:txBody>
      </p:sp>
      <p:grpSp>
        <p:nvGrpSpPr>
          <p:cNvPr id="49" name="Group 48"/>
          <p:cNvGrpSpPr/>
          <p:nvPr/>
        </p:nvGrpSpPr>
        <p:grpSpPr>
          <a:xfrm>
            <a:off x="49850" y="5646449"/>
            <a:ext cx="1668626" cy="713961"/>
            <a:chOff x="7087750" y="5562600"/>
            <a:chExt cx="1782926" cy="838200"/>
          </a:xfrm>
        </p:grpSpPr>
        <p:sp>
          <p:nvSpPr>
            <p:cNvPr id="53" name="AutoShape 8"/>
            <p:cNvSpPr>
              <a:spLocks noChangeArrowheads="1"/>
            </p:cNvSpPr>
            <p:nvPr/>
          </p:nvSpPr>
          <p:spPr bwMode="auto">
            <a:xfrm>
              <a:off x="7696200" y="5791200"/>
              <a:ext cx="704224" cy="609600"/>
            </a:xfrm>
            <a:prstGeom prst="smileyFace">
              <a:avLst>
                <a:gd name="adj" fmla="val 4653"/>
              </a:avLst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8248024" y="5562600"/>
              <a:ext cx="622652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L</a:t>
              </a:r>
              <a:r>
                <a:rPr lang="en-US" dirty="0">
                  <a:solidFill>
                    <a:schemeClr val="tx1"/>
                  </a:solidFill>
                </a:rPr>
                <a:t>eft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7087750" y="5562600"/>
              <a:ext cx="775052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R</a:t>
              </a:r>
              <a:r>
                <a:rPr lang="en-US" dirty="0">
                  <a:solidFill>
                    <a:schemeClr val="tx1"/>
                  </a:solidFill>
                </a:rPr>
                <a:t>ight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5589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40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Synchronization Implementations</a:t>
            </a:r>
          </a:p>
        </p:txBody>
      </p:sp>
      <p:sp>
        <p:nvSpPr>
          <p:cNvPr id="74240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Ahem….. lab 3…. ahem….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7B2A14-CFC8-473E-8C77-48351E3F49FF}" type="slidenum">
              <a:rPr lang="en-US" altLang="en-US" smtClean="0"/>
              <a:pPr/>
              <a:t>51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88988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POSIX Semaphore</a:t>
            </a:r>
          </a:p>
        </p:txBody>
      </p:sp>
      <p:sp>
        <p:nvSpPr>
          <p:cNvPr id="759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Popular implementation of semaphore under Unix</a:t>
            </a:r>
          </a:p>
          <a:p>
            <a:r>
              <a:rPr lang="en-US" altLang="en-US"/>
              <a:t>Header File:</a:t>
            </a:r>
          </a:p>
          <a:p>
            <a:pPr lvl="1"/>
            <a:r>
              <a:rPr lang="en-US" altLang="en-US" sz="2000" b="1">
                <a:solidFill>
                  <a:srgbClr val="0033CC"/>
                </a:solidFill>
                <a:latin typeface="Courier New" panose="02070309020205020404" pitchFamily="49" charset="0"/>
              </a:rPr>
              <a:t>#include &lt;semaphore.h&gt;</a:t>
            </a:r>
          </a:p>
          <a:p>
            <a:r>
              <a:rPr lang="en-US" altLang="en-US"/>
              <a:t>Compilation Flag:</a:t>
            </a:r>
          </a:p>
          <a:p>
            <a:pPr lvl="1"/>
            <a:r>
              <a:rPr lang="en-US" altLang="en-US" sz="2000" b="1">
                <a:latin typeface="Courier New" panose="02070309020205020404" pitchFamily="49" charset="0"/>
              </a:rPr>
              <a:t>gcc something.c</a:t>
            </a:r>
            <a:r>
              <a:rPr lang="en-US" altLang="en-US" sz="2000" b="1">
                <a:solidFill>
                  <a:schemeClr val="tx2"/>
                </a:solidFill>
                <a:latin typeface="Courier New" panose="02070309020205020404" pitchFamily="49" charset="0"/>
              </a:rPr>
              <a:t> –lrt</a:t>
            </a:r>
          </a:p>
          <a:p>
            <a:pPr lvl="1"/>
            <a:r>
              <a:rPr lang="en-US" altLang="en-US"/>
              <a:t>Stand for "real time library"</a:t>
            </a:r>
          </a:p>
          <a:p>
            <a:r>
              <a:rPr lang="en-US" altLang="en-US"/>
              <a:t>Basic Usage:</a:t>
            </a:r>
          </a:p>
          <a:p>
            <a:pPr lvl="1"/>
            <a:r>
              <a:rPr lang="en-US" altLang="en-US"/>
              <a:t>Initialize a semaphore</a:t>
            </a:r>
          </a:p>
          <a:p>
            <a:pPr lvl="1"/>
            <a:r>
              <a:rPr lang="en-US" altLang="en-US"/>
              <a:t>Perform </a:t>
            </a:r>
            <a:r>
              <a:rPr lang="en-US" altLang="en-US" b="1">
                <a:latin typeface="Courier New" panose="02070309020205020404" pitchFamily="49" charset="0"/>
              </a:rPr>
              <a:t>wait()</a:t>
            </a:r>
            <a:r>
              <a:rPr lang="en-US" altLang="en-US"/>
              <a:t> or </a:t>
            </a:r>
            <a:r>
              <a:rPr lang="en-US" altLang="en-US" b="1">
                <a:latin typeface="Courier New" panose="02070309020205020404" pitchFamily="49" charset="0"/>
              </a:rPr>
              <a:t>signal()</a:t>
            </a:r>
            <a:r>
              <a:rPr lang="en-US" altLang="en-US"/>
              <a:t> on semaphore</a:t>
            </a:r>
          </a:p>
          <a:p>
            <a:pPr lvl="1"/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52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73667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i="1" dirty="0" err="1"/>
              <a:t>pthread</a:t>
            </a:r>
            <a:r>
              <a:rPr lang="en-US" b="1" i="1" dirty="0"/>
              <a:t> </a:t>
            </a:r>
            <a:r>
              <a:rPr lang="en-US" dirty="0" err="1"/>
              <a:t>Mutex</a:t>
            </a:r>
            <a:r>
              <a:rPr lang="en-US" dirty="0"/>
              <a:t> and Conditional Variables</a:t>
            </a:r>
            <a:endParaRPr lang="en-US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Synchronization mechanisms for </a:t>
            </a:r>
            <a:r>
              <a:rPr lang="en-US" dirty="0" err="1"/>
              <a:t>pthreads</a:t>
            </a:r>
            <a:endParaRPr lang="en-US" dirty="0"/>
          </a:p>
          <a:p>
            <a:r>
              <a:rPr lang="en-US" dirty="0" err="1"/>
              <a:t>Mutex</a:t>
            </a:r>
            <a:r>
              <a:rPr lang="en-US" dirty="0"/>
              <a:t> (</a:t>
            </a:r>
            <a:r>
              <a:rPr lang="en-US" dirty="0" err="1"/>
              <a:t>pthread_mutex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Binary semaphore (i.e. equivalent Semaphore(1)).</a:t>
            </a:r>
          </a:p>
          <a:p>
            <a:pPr lvl="1"/>
            <a:r>
              <a:rPr lang="en-US" dirty="0"/>
              <a:t>Lock: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pthread_mutex_lock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dirty="0"/>
              <a:t>Unlock: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pthread_mutex_unlock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endParaRPr lang="en-US" dirty="0"/>
          </a:p>
          <a:p>
            <a:r>
              <a:rPr lang="en-US" dirty="0"/>
              <a:t>Conditional Variables( </a:t>
            </a:r>
            <a:r>
              <a:rPr lang="en-US" dirty="0" err="1"/>
              <a:t>pthread_cond</a:t>
            </a:r>
            <a:r>
              <a:rPr lang="en-US" dirty="0"/>
              <a:t> ):</a:t>
            </a:r>
          </a:p>
          <a:p>
            <a:pPr lvl="1"/>
            <a:r>
              <a:rPr lang="en-US" dirty="0"/>
              <a:t>Wait: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pthread_cond_wait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dirty="0"/>
              <a:t>Signal: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pthread_cond_signal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dirty="0"/>
              <a:t>Broadcast: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pthread_cond_broadcast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53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0122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Programming languages with thread support will have some forms of synchronization mechanism</a:t>
            </a:r>
          </a:p>
          <a:p>
            <a:endParaRPr lang="en-US" dirty="0"/>
          </a:p>
          <a:p>
            <a:r>
              <a:rPr lang="en-US" dirty="0"/>
              <a:t>Examples:</a:t>
            </a:r>
          </a:p>
          <a:p>
            <a:pPr lvl="1"/>
            <a:r>
              <a:rPr lang="en-US" b="1" dirty="0"/>
              <a:t>Java</a:t>
            </a:r>
            <a:r>
              <a:rPr lang="en-US" dirty="0"/>
              <a:t>: all object has built-in lock (</a:t>
            </a:r>
            <a:r>
              <a:rPr lang="en-US" dirty="0" err="1"/>
              <a:t>mutex</a:t>
            </a:r>
            <a:r>
              <a:rPr lang="en-US" dirty="0"/>
              <a:t>), </a:t>
            </a:r>
            <a:r>
              <a:rPr lang="en-US" b="1" dirty="0"/>
              <a:t>synchronized </a:t>
            </a:r>
            <a:r>
              <a:rPr lang="en-US" dirty="0"/>
              <a:t>method access, </a:t>
            </a:r>
            <a:r>
              <a:rPr lang="en-US" dirty="0" err="1"/>
              <a:t>etc</a:t>
            </a:r>
            <a:endParaRPr lang="en-US" dirty="0"/>
          </a:p>
          <a:p>
            <a:pPr marL="344487" lvl="1" indent="0">
              <a:buNone/>
            </a:pPr>
            <a:endParaRPr lang="en-US" dirty="0"/>
          </a:p>
          <a:p>
            <a:pPr lvl="1"/>
            <a:r>
              <a:rPr lang="en-US" b="1" dirty="0"/>
              <a:t>Python</a:t>
            </a:r>
            <a:r>
              <a:rPr lang="en-US" dirty="0"/>
              <a:t>: supports </a:t>
            </a:r>
            <a:r>
              <a:rPr lang="en-US" dirty="0" err="1"/>
              <a:t>mutex</a:t>
            </a:r>
            <a:r>
              <a:rPr lang="en-US" dirty="0"/>
              <a:t>, semaphore, conditional variable, </a:t>
            </a:r>
            <a:r>
              <a:rPr lang="en-US" dirty="0" err="1"/>
              <a:t>etc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b="1" dirty="0"/>
              <a:t>C++</a:t>
            </a:r>
            <a:r>
              <a:rPr lang="en-US" dirty="0"/>
              <a:t>: Added built-in thread in C++11; Support </a:t>
            </a:r>
            <a:r>
              <a:rPr lang="en-US" dirty="0" err="1"/>
              <a:t>mutex</a:t>
            </a:r>
            <a:r>
              <a:rPr lang="en-US" dirty="0"/>
              <a:t>, conditional variable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54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08335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Summary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600" dirty="0"/>
              <a:t>Synchronization:</a:t>
            </a:r>
          </a:p>
          <a:p>
            <a:pPr lvl="1"/>
            <a:r>
              <a:rPr lang="en-US" altLang="en-US" sz="2200" dirty="0"/>
              <a:t>Problem: Race condition</a:t>
            </a:r>
          </a:p>
          <a:p>
            <a:pPr lvl="1"/>
            <a:r>
              <a:rPr lang="en-US" altLang="en-US" sz="2200" dirty="0"/>
              <a:t>Solution: Critical Section</a:t>
            </a:r>
          </a:p>
          <a:p>
            <a:pPr lvl="1"/>
            <a:r>
              <a:rPr lang="en-US" altLang="en-US" sz="2200" dirty="0"/>
              <a:t>Criteria of good solution:</a:t>
            </a:r>
          </a:p>
          <a:p>
            <a:pPr lvl="2"/>
            <a:r>
              <a:rPr lang="en-US" altLang="en-US" sz="2000" dirty="0"/>
              <a:t>Mutual Exclusion, progress, bounded waiting time, independence</a:t>
            </a:r>
            <a:endParaRPr lang="en-US" altLang="en-US" sz="2200" dirty="0"/>
          </a:p>
          <a:p>
            <a:pPr lvl="1"/>
            <a:r>
              <a:rPr lang="en-US" altLang="en-US" sz="2200" dirty="0"/>
              <a:t>Important High Level Construct: Semaphore</a:t>
            </a:r>
          </a:p>
          <a:p>
            <a:pPr lvl="1"/>
            <a:endParaRPr lang="en-US" altLang="en-US" sz="2200" dirty="0"/>
          </a:p>
          <a:p>
            <a:r>
              <a:rPr lang="en-US" altLang="en-US" sz="2600" dirty="0"/>
              <a:t>Classic Synchronization problems:</a:t>
            </a:r>
          </a:p>
          <a:p>
            <a:pPr lvl="1"/>
            <a:r>
              <a:rPr lang="en-US" altLang="en-US" sz="2200" dirty="0"/>
              <a:t>Producer + Consumer</a:t>
            </a:r>
          </a:p>
          <a:p>
            <a:pPr lvl="1"/>
            <a:r>
              <a:rPr lang="en-US" altLang="en-US" sz="2200" dirty="0"/>
              <a:t>Reader + Writer</a:t>
            </a:r>
          </a:p>
          <a:p>
            <a:pPr lvl="1"/>
            <a:r>
              <a:rPr lang="en-US" altLang="en-US" sz="2200" dirty="0"/>
              <a:t>Dining Philosophers</a:t>
            </a:r>
          </a:p>
          <a:p>
            <a:pPr lvl="1">
              <a:buFont typeface="Wingdings" pitchFamily="2" charset="2"/>
              <a:buNone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55</a:t>
            </a:fld>
            <a:endParaRPr lang="en-US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Reference</a:t>
            </a:r>
          </a:p>
        </p:txBody>
      </p:sp>
      <p:sp>
        <p:nvSpPr>
          <p:cNvPr id="617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Modern Operating System (3</a:t>
            </a:r>
            <a:r>
              <a:rPr lang="en-US" altLang="en-US" baseline="30000" dirty="0"/>
              <a:t>rd</a:t>
            </a:r>
            <a:r>
              <a:rPr lang="en-US" altLang="en-US" dirty="0"/>
              <a:t> Edition)</a:t>
            </a:r>
          </a:p>
          <a:p>
            <a:pPr lvl="1"/>
            <a:r>
              <a:rPr lang="en-US" altLang="en-US" dirty="0"/>
              <a:t>Chapter 2.4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Operating System Concepts</a:t>
            </a:r>
            <a:r>
              <a:rPr lang="en-US" altLang="en-US" i="1" dirty="0"/>
              <a:t> </a:t>
            </a:r>
            <a:r>
              <a:rPr lang="en-US" altLang="en-US" dirty="0"/>
              <a:t>(7</a:t>
            </a:r>
            <a:r>
              <a:rPr lang="en-US" altLang="en-US" baseline="30000" dirty="0"/>
              <a:t>th</a:t>
            </a:r>
            <a:r>
              <a:rPr lang="en-US" altLang="en-US" dirty="0"/>
              <a:t>  Edition)</a:t>
            </a:r>
          </a:p>
          <a:p>
            <a:pPr lvl="1"/>
            <a:r>
              <a:rPr lang="en-US" altLang="en-US" dirty="0"/>
              <a:t>Chapter 5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Edgar W. </a:t>
            </a:r>
            <a:r>
              <a:rPr lang="en-US" altLang="en-US" dirty="0" err="1"/>
              <a:t>Dijkstra</a:t>
            </a:r>
            <a:r>
              <a:rPr lang="en-US" altLang="en-US" dirty="0"/>
              <a:t>,  “Note No.123: Cooperating Sequential Processes”</a:t>
            </a:r>
          </a:p>
          <a:p>
            <a:pPr lvl="1"/>
            <a:r>
              <a:rPr lang="en-US" altLang="en-US" dirty="0">
                <a:hlinkClick r:id="rId2"/>
              </a:rPr>
              <a:t>http://www.cs.utexas.edu/users/EWD/ewd01xx/EWD123.PDF</a:t>
            </a:r>
            <a:endParaRPr lang="en-US" altLang="en-US" dirty="0"/>
          </a:p>
          <a:p>
            <a:pPr lvl="1"/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56</a:t>
            </a:fld>
            <a:endParaRPr lang="en-US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Race Condition Solution</a:t>
            </a:r>
            <a:r>
              <a:rPr lang="en-US" altLang="en-US" sz="3800" dirty="0"/>
              <a:t>: "Illustration"</a:t>
            </a:r>
          </a:p>
        </p:txBody>
      </p:sp>
      <p:pic>
        <p:nvPicPr>
          <p:cNvPr id="719877" name="Picture 5" descr="MCj0290018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362200"/>
            <a:ext cx="2362200" cy="219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9878" name="Picture 6" descr="MCj0437563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447800"/>
            <a:ext cx="1417638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9879" name="Picture 7" descr="MCj04379800000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066800"/>
            <a:ext cx="1752600" cy="1268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9880" name="Picture 8" descr="MCj04244780000[1]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914400"/>
            <a:ext cx="1322388" cy="139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9881" name="Picture 9" descr="MCj04244780000[1]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0" y="1676400"/>
            <a:ext cx="1322388" cy="139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9882" name="Picture 10" descr="MCj04244780000[1]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752600"/>
            <a:ext cx="1322388" cy="139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9883" name="Picture 11" descr="MCj0437563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0631" y="3563688"/>
            <a:ext cx="1417638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9885" name="Rectangle 13" descr="Brown marble"/>
          <p:cNvSpPr>
            <a:spLocks noChangeArrowheads="1"/>
          </p:cNvSpPr>
          <p:nvPr/>
        </p:nvSpPr>
        <p:spPr bwMode="auto">
          <a:xfrm>
            <a:off x="4191000" y="838200"/>
            <a:ext cx="304800" cy="5683250"/>
          </a:xfrm>
          <a:prstGeom prst="rect">
            <a:avLst/>
          </a:prstGeom>
          <a:blipFill dpi="0" rotWithShape="1">
            <a:blip r:embed="rId6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719887" name="Picture 15" descr="MCj04244780000[1]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914400"/>
            <a:ext cx="1322388" cy="139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57</a:t>
            </a:fld>
            <a:endParaRPr lang="en-US" altLang="en-US"/>
          </a:p>
        </p:txBody>
      </p:sp>
      <p:graphicFrame>
        <p:nvGraphicFramePr>
          <p:cNvPr id="17" name="Diagram 16"/>
          <p:cNvGraphicFramePr/>
          <p:nvPr>
            <p:extLst>
              <p:ext uri="{D42A27DB-BD31-4B8C-83A1-F6EECF244321}">
                <p14:modId xmlns:p14="http://schemas.microsoft.com/office/powerpoint/2010/main" val="530594269"/>
              </p:ext>
            </p:extLst>
          </p:nvPr>
        </p:nvGraphicFramePr>
        <p:xfrm>
          <a:off x="129585" y="983456"/>
          <a:ext cx="2156415" cy="30622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719876" name="AutoShape 4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00000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lIns="0" tIns="228600" rIns="0" bIns="228600" anchor="ctr"/>
          <a:lstStyle/>
          <a:p>
            <a:pPr algn="ctr">
              <a:spcBef>
                <a:spcPct val="50000"/>
              </a:spcBef>
            </a:pPr>
            <a:r>
              <a:rPr lang="en-US" altLang="en-US" sz="2000" b="1"/>
              <a:t>E</a:t>
            </a:r>
          </a:p>
        </p:txBody>
      </p:sp>
      <p:pic>
        <p:nvPicPr>
          <p:cNvPr id="18" name="Picture 12" descr="MCj04314930000[1]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514600"/>
            <a:ext cx="1295400" cy="129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1" descr="MCj0437563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0631" y="5082927"/>
            <a:ext cx="1417638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0425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19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9885" grpId="0" animBg="1"/>
      <p:bldGraphic spid="17" grpId="0">
        <p:bldAsOne/>
      </p:bldGraphic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>
                <a:solidFill>
                  <a:srgbClr val="C00000"/>
                </a:solidFill>
              </a:rPr>
              <a:t>Deadlock</a:t>
            </a:r>
          </a:p>
        </p:txBody>
      </p:sp>
      <p:sp>
        <p:nvSpPr>
          <p:cNvPr id="720913" name="Rectangle 17"/>
          <p:cNvSpPr>
            <a:spLocks noChangeArrowheads="1"/>
          </p:cNvSpPr>
          <p:nvPr/>
        </p:nvSpPr>
        <p:spPr bwMode="auto">
          <a:xfrm>
            <a:off x="990600" y="1143000"/>
            <a:ext cx="7086600" cy="76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0914" name="Rectangle 18"/>
          <p:cNvSpPr>
            <a:spLocks noChangeArrowheads="1"/>
          </p:cNvSpPr>
          <p:nvPr/>
        </p:nvSpPr>
        <p:spPr bwMode="auto">
          <a:xfrm>
            <a:off x="990600" y="3962400"/>
            <a:ext cx="7086600" cy="76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20924" name="Group 28"/>
          <p:cNvGrpSpPr>
            <a:grpSpLocks/>
          </p:cNvGrpSpPr>
          <p:nvPr/>
        </p:nvGrpSpPr>
        <p:grpSpPr bwMode="auto">
          <a:xfrm>
            <a:off x="3048002" y="1323975"/>
            <a:ext cx="2971801" cy="1114425"/>
            <a:chOff x="1920" y="1458"/>
            <a:chExt cx="1872" cy="702"/>
          </a:xfrm>
        </p:grpSpPr>
        <p:pic>
          <p:nvPicPr>
            <p:cNvPr id="720917" name="Picture 21" descr="MCj04380020000[1]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0" y="1488"/>
              <a:ext cx="912" cy="6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20918" name="Picture 22" descr="MCj04380000000[1]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2" y="1458"/>
              <a:ext cx="960" cy="6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20919" name="AutoShape 23"/>
            <p:cNvSpPr>
              <a:spLocks noChangeArrowheads="1"/>
            </p:cNvSpPr>
            <p:nvPr/>
          </p:nvSpPr>
          <p:spPr bwMode="auto">
            <a:xfrm>
              <a:off x="2688" y="1584"/>
              <a:ext cx="384" cy="576"/>
            </a:xfrm>
            <a:prstGeom prst="irregularSeal1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20922" name="Group 26"/>
          <p:cNvGrpSpPr>
            <a:grpSpLocks/>
          </p:cNvGrpSpPr>
          <p:nvPr/>
        </p:nvGrpSpPr>
        <p:grpSpPr bwMode="auto">
          <a:xfrm>
            <a:off x="685800" y="1371600"/>
            <a:ext cx="3048000" cy="984250"/>
            <a:chOff x="624" y="864"/>
            <a:chExt cx="1920" cy="620"/>
          </a:xfrm>
        </p:grpSpPr>
        <p:pic>
          <p:nvPicPr>
            <p:cNvPr id="720915" name="Picture 19" descr="MCj04380020000[1]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2" y="864"/>
              <a:ext cx="912" cy="6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20920" name="AutoShape 24"/>
            <p:cNvSpPr>
              <a:spLocks noChangeArrowheads="1"/>
            </p:cNvSpPr>
            <p:nvPr/>
          </p:nvSpPr>
          <p:spPr bwMode="auto">
            <a:xfrm>
              <a:off x="624" y="1056"/>
              <a:ext cx="864" cy="288"/>
            </a:xfrm>
            <a:prstGeom prst="rightArrow">
              <a:avLst>
                <a:gd name="adj1" fmla="val 50000"/>
                <a:gd name="adj2" fmla="val 75000"/>
              </a:avLst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20923" name="Group 27"/>
          <p:cNvGrpSpPr>
            <a:grpSpLocks/>
          </p:cNvGrpSpPr>
          <p:nvPr/>
        </p:nvGrpSpPr>
        <p:grpSpPr bwMode="auto">
          <a:xfrm>
            <a:off x="5410200" y="1371600"/>
            <a:ext cx="3124200" cy="1038225"/>
            <a:chOff x="3168" y="864"/>
            <a:chExt cx="1968" cy="654"/>
          </a:xfrm>
        </p:grpSpPr>
        <p:pic>
          <p:nvPicPr>
            <p:cNvPr id="720916" name="Picture 20" descr="MCj04380000000[1]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8" y="864"/>
              <a:ext cx="960" cy="6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20921" name="AutoShape 25"/>
            <p:cNvSpPr>
              <a:spLocks noChangeArrowheads="1"/>
            </p:cNvSpPr>
            <p:nvPr/>
          </p:nvSpPr>
          <p:spPr bwMode="auto">
            <a:xfrm>
              <a:off x="4272" y="1104"/>
              <a:ext cx="864" cy="240"/>
            </a:xfrm>
            <a:prstGeom prst="leftArrow">
              <a:avLst>
                <a:gd name="adj1" fmla="val 50000"/>
                <a:gd name="adj2" fmla="val 90000"/>
              </a:avLst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58</a:t>
            </a:fld>
            <a:endParaRPr lang="en-US" altLang="en-US"/>
          </a:p>
        </p:txBody>
      </p:sp>
      <p:sp>
        <p:nvSpPr>
          <p:cNvPr id="720899" name="AutoShape 3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00000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lIns="0" tIns="228600" rIns="0" bIns="228600" anchor="ctr"/>
          <a:lstStyle/>
          <a:p>
            <a:pPr algn="ctr">
              <a:spcBef>
                <a:spcPct val="50000"/>
              </a:spcBef>
            </a:pPr>
            <a:r>
              <a:rPr lang="en-US" altLang="en-US" sz="2000" b="1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4138549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20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720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1928" name="Picture 8" descr="MCj0438000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333500"/>
            <a:ext cx="1524000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b="1" dirty="0" err="1">
                <a:solidFill>
                  <a:srgbClr val="002060"/>
                </a:solidFill>
              </a:rPr>
              <a:t>Livelock</a:t>
            </a:r>
            <a:endParaRPr lang="en-US" altLang="en-US" sz="3800" b="1" dirty="0">
              <a:solidFill>
                <a:srgbClr val="002060"/>
              </a:solidFill>
            </a:endParaRPr>
          </a:p>
        </p:txBody>
      </p:sp>
      <p:sp>
        <p:nvSpPr>
          <p:cNvPr id="721924" name="Rectangle 4"/>
          <p:cNvSpPr>
            <a:spLocks noChangeArrowheads="1"/>
          </p:cNvSpPr>
          <p:nvPr/>
        </p:nvSpPr>
        <p:spPr bwMode="auto">
          <a:xfrm>
            <a:off x="990600" y="1143000"/>
            <a:ext cx="7086600" cy="76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1925" name="Rectangle 5"/>
          <p:cNvSpPr>
            <a:spLocks noChangeArrowheads="1"/>
          </p:cNvSpPr>
          <p:nvPr/>
        </p:nvSpPr>
        <p:spPr bwMode="auto">
          <a:xfrm>
            <a:off x="990600" y="3962400"/>
            <a:ext cx="7086600" cy="76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721927" name="Picture 7" descr="MCj0438002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371600"/>
            <a:ext cx="1447800" cy="984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21930" name="Group 10"/>
          <p:cNvGrpSpPr>
            <a:grpSpLocks/>
          </p:cNvGrpSpPr>
          <p:nvPr/>
        </p:nvGrpSpPr>
        <p:grpSpPr bwMode="auto">
          <a:xfrm>
            <a:off x="685800" y="1371600"/>
            <a:ext cx="3048000" cy="984250"/>
            <a:chOff x="624" y="864"/>
            <a:chExt cx="1920" cy="620"/>
          </a:xfrm>
        </p:grpSpPr>
        <p:pic>
          <p:nvPicPr>
            <p:cNvPr id="721931" name="Picture 11" descr="MCj04380020000[1]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2" y="864"/>
              <a:ext cx="912" cy="6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21932" name="AutoShape 12"/>
            <p:cNvSpPr>
              <a:spLocks noChangeArrowheads="1"/>
            </p:cNvSpPr>
            <p:nvPr/>
          </p:nvSpPr>
          <p:spPr bwMode="auto">
            <a:xfrm>
              <a:off x="624" y="1056"/>
              <a:ext cx="864" cy="288"/>
            </a:xfrm>
            <a:prstGeom prst="rightArrow">
              <a:avLst>
                <a:gd name="adj1" fmla="val 50000"/>
                <a:gd name="adj2" fmla="val 75000"/>
              </a:avLst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21933" name="Group 13"/>
          <p:cNvGrpSpPr>
            <a:grpSpLocks/>
          </p:cNvGrpSpPr>
          <p:nvPr/>
        </p:nvGrpSpPr>
        <p:grpSpPr bwMode="auto">
          <a:xfrm>
            <a:off x="5410200" y="1371600"/>
            <a:ext cx="3124200" cy="1038225"/>
            <a:chOff x="3168" y="864"/>
            <a:chExt cx="1968" cy="654"/>
          </a:xfrm>
        </p:grpSpPr>
        <p:pic>
          <p:nvPicPr>
            <p:cNvPr id="721934" name="Picture 14" descr="MCj04380000000[1]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8" y="864"/>
              <a:ext cx="960" cy="6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21935" name="AutoShape 15"/>
            <p:cNvSpPr>
              <a:spLocks noChangeArrowheads="1"/>
            </p:cNvSpPr>
            <p:nvPr/>
          </p:nvSpPr>
          <p:spPr bwMode="auto">
            <a:xfrm>
              <a:off x="4272" y="1104"/>
              <a:ext cx="864" cy="240"/>
            </a:xfrm>
            <a:prstGeom prst="leftArrow">
              <a:avLst>
                <a:gd name="adj1" fmla="val 50000"/>
                <a:gd name="adj2" fmla="val 90000"/>
              </a:avLst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721947" name="Group 27"/>
          <p:cNvGrpSpPr>
            <a:grpSpLocks/>
          </p:cNvGrpSpPr>
          <p:nvPr/>
        </p:nvGrpSpPr>
        <p:grpSpPr bwMode="auto">
          <a:xfrm>
            <a:off x="3048000" y="2438400"/>
            <a:ext cx="1447800" cy="1441450"/>
            <a:chOff x="1920" y="1536"/>
            <a:chExt cx="912" cy="908"/>
          </a:xfrm>
        </p:grpSpPr>
        <p:pic>
          <p:nvPicPr>
            <p:cNvPr id="721936" name="Picture 16" descr="MCj04380020000[1]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0" y="1824"/>
              <a:ext cx="912" cy="6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21937" name="AutoShape 17"/>
            <p:cNvSpPr>
              <a:spLocks noChangeArrowheads="1"/>
            </p:cNvSpPr>
            <p:nvPr/>
          </p:nvSpPr>
          <p:spPr bwMode="auto">
            <a:xfrm>
              <a:off x="2160" y="1536"/>
              <a:ext cx="192" cy="288"/>
            </a:xfrm>
            <a:prstGeom prst="downArrow">
              <a:avLst>
                <a:gd name="adj1" fmla="val 50000"/>
                <a:gd name="adj2" fmla="val 37500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</p:grpSp>
      <p:grpSp>
        <p:nvGrpSpPr>
          <p:cNvPr id="721948" name="Group 28"/>
          <p:cNvGrpSpPr>
            <a:grpSpLocks/>
          </p:cNvGrpSpPr>
          <p:nvPr/>
        </p:nvGrpSpPr>
        <p:grpSpPr bwMode="auto">
          <a:xfrm>
            <a:off x="4508504" y="2392680"/>
            <a:ext cx="1524000" cy="1495425"/>
            <a:chOff x="2840" y="1536"/>
            <a:chExt cx="960" cy="942"/>
          </a:xfrm>
        </p:grpSpPr>
        <p:sp>
          <p:nvSpPr>
            <p:cNvPr id="721939" name="AutoShape 19"/>
            <p:cNvSpPr>
              <a:spLocks noChangeArrowheads="1"/>
            </p:cNvSpPr>
            <p:nvPr/>
          </p:nvSpPr>
          <p:spPr bwMode="auto">
            <a:xfrm>
              <a:off x="3360" y="1536"/>
              <a:ext cx="192" cy="288"/>
            </a:xfrm>
            <a:prstGeom prst="downArrow">
              <a:avLst>
                <a:gd name="adj1" fmla="val 50000"/>
                <a:gd name="adj2" fmla="val 37500"/>
              </a:avLst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  <p:pic>
          <p:nvPicPr>
            <p:cNvPr id="721940" name="Picture 20" descr="MCj04380000000[1]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40" y="1824"/>
              <a:ext cx="960" cy="6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21945" name="Group 25"/>
          <p:cNvGrpSpPr>
            <a:grpSpLocks/>
          </p:cNvGrpSpPr>
          <p:nvPr/>
        </p:nvGrpSpPr>
        <p:grpSpPr bwMode="auto">
          <a:xfrm>
            <a:off x="3048000" y="1371600"/>
            <a:ext cx="1447800" cy="1447800"/>
            <a:chOff x="1872" y="2640"/>
            <a:chExt cx="912" cy="912"/>
          </a:xfrm>
        </p:grpSpPr>
        <p:pic>
          <p:nvPicPr>
            <p:cNvPr id="721941" name="Picture 21" descr="MCj04380020000[1]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2" y="2640"/>
              <a:ext cx="912" cy="6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21943" name="AutoShape 23"/>
            <p:cNvSpPr>
              <a:spLocks noChangeArrowheads="1"/>
            </p:cNvSpPr>
            <p:nvPr/>
          </p:nvSpPr>
          <p:spPr bwMode="auto">
            <a:xfrm>
              <a:off x="2112" y="3264"/>
              <a:ext cx="192" cy="288"/>
            </a:xfrm>
            <a:prstGeom prst="upArrow">
              <a:avLst>
                <a:gd name="adj1" fmla="val 50000"/>
                <a:gd name="adj2" fmla="val 37500"/>
              </a:avLst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</p:grpSp>
      <p:grpSp>
        <p:nvGrpSpPr>
          <p:cNvPr id="721946" name="Group 26"/>
          <p:cNvGrpSpPr>
            <a:grpSpLocks/>
          </p:cNvGrpSpPr>
          <p:nvPr/>
        </p:nvGrpSpPr>
        <p:grpSpPr bwMode="auto">
          <a:xfrm>
            <a:off x="4495800" y="1371600"/>
            <a:ext cx="1447800" cy="1447800"/>
            <a:chOff x="2784" y="2640"/>
            <a:chExt cx="912" cy="912"/>
          </a:xfrm>
        </p:grpSpPr>
        <p:pic>
          <p:nvPicPr>
            <p:cNvPr id="721942" name="Picture 22" descr="MCj04380000000[1]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4" y="2640"/>
              <a:ext cx="912" cy="6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21944" name="AutoShape 24"/>
            <p:cNvSpPr>
              <a:spLocks noChangeArrowheads="1"/>
            </p:cNvSpPr>
            <p:nvPr/>
          </p:nvSpPr>
          <p:spPr bwMode="auto">
            <a:xfrm>
              <a:off x="3312" y="3264"/>
              <a:ext cx="192" cy="288"/>
            </a:xfrm>
            <a:prstGeom prst="upArrow">
              <a:avLst>
                <a:gd name="adj1" fmla="val 50000"/>
                <a:gd name="adj2" fmla="val 37500"/>
              </a:avLst>
            </a:prstGeom>
            <a:solidFill>
              <a:srgbClr val="FF99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none" anchor="ctr"/>
            <a:lstStyle/>
            <a:p>
              <a:endParaRPr lang="en-US"/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59</a:t>
            </a:fld>
            <a:endParaRPr lang="en-US" altLang="en-US"/>
          </a:p>
        </p:txBody>
      </p:sp>
      <p:sp>
        <p:nvSpPr>
          <p:cNvPr id="721923" name="AutoShape 3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00000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lIns="0" tIns="228600" rIns="0" bIns="228600" anchor="ctr"/>
          <a:lstStyle/>
          <a:p>
            <a:pPr algn="ctr">
              <a:spcBef>
                <a:spcPct val="50000"/>
              </a:spcBef>
            </a:pPr>
            <a:r>
              <a:rPr lang="en-US" altLang="en-US" sz="2000" b="1"/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4236703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2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721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721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1000"/>
                                        <p:tgtEl>
                                          <p:spTgt spid="721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1000"/>
                                        <p:tgtEl>
                                          <p:spTgt spid="721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1000"/>
                                        <p:tgtEl>
                                          <p:spTgt spid="721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Dining Philosopher: </a:t>
            </a:r>
            <a:r>
              <a:rPr lang="en-US" altLang="en-US" sz="4000" b="1" dirty="0">
                <a:solidFill>
                  <a:srgbClr val="C00000"/>
                </a:solidFill>
              </a:rPr>
              <a:t>Limited Eater</a:t>
            </a:r>
            <a:endParaRPr lang="en-US" altLang="en-US" sz="38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109" y="956766"/>
            <a:ext cx="1653052" cy="1676400"/>
          </a:xfrm>
          <a:prstGeom prst="ellipse">
            <a:avLst/>
          </a:prstGeom>
          <a:ln w="22225" cap="rnd">
            <a:solidFill>
              <a:schemeClr val="accent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553" y="2170548"/>
            <a:ext cx="1600200" cy="1657350"/>
          </a:xfrm>
          <a:prstGeom prst="ellipse">
            <a:avLst/>
          </a:prstGeom>
          <a:ln w="22225" cap="rnd">
            <a:solidFill>
              <a:schemeClr val="accent5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1558" y="2095500"/>
            <a:ext cx="1600199" cy="1600200"/>
          </a:xfrm>
          <a:prstGeom prst="ellipse">
            <a:avLst/>
          </a:prstGeom>
          <a:ln w="22225" cap="rnd">
            <a:solidFill>
              <a:schemeClr val="accent4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8017" y="4330931"/>
            <a:ext cx="1752600" cy="1807298"/>
          </a:xfrm>
          <a:prstGeom prst="ellipse">
            <a:avLst/>
          </a:prstGeom>
          <a:ln w="22225" cap="rnd">
            <a:solidFill>
              <a:schemeClr val="accent2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grpSp>
        <p:nvGrpSpPr>
          <p:cNvPr id="710673" name="Group 17"/>
          <p:cNvGrpSpPr>
            <a:grpSpLocks/>
          </p:cNvGrpSpPr>
          <p:nvPr/>
        </p:nvGrpSpPr>
        <p:grpSpPr bwMode="auto">
          <a:xfrm>
            <a:off x="1787209" y="1447800"/>
            <a:ext cx="5164855" cy="4419600"/>
            <a:chOff x="1872" y="720"/>
            <a:chExt cx="1728" cy="1392"/>
          </a:xfrm>
        </p:grpSpPr>
        <p:sp>
          <p:nvSpPr>
            <p:cNvPr id="710665" name="AutoShape 9"/>
            <p:cNvSpPr>
              <a:spLocks noChangeArrowheads="1"/>
            </p:cNvSpPr>
            <p:nvPr/>
          </p:nvSpPr>
          <p:spPr bwMode="auto">
            <a:xfrm rot="1800000">
              <a:off x="3072" y="720"/>
              <a:ext cx="48" cy="480"/>
            </a:xfrm>
            <a:prstGeom prst="cube">
              <a:avLst>
                <a:gd name="adj" fmla="val 25000"/>
              </a:avLst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0666" name="AutoShape 10"/>
            <p:cNvSpPr>
              <a:spLocks noChangeArrowheads="1"/>
            </p:cNvSpPr>
            <p:nvPr/>
          </p:nvSpPr>
          <p:spPr bwMode="auto">
            <a:xfrm>
              <a:off x="2736" y="1632"/>
              <a:ext cx="48" cy="480"/>
            </a:xfrm>
            <a:prstGeom prst="cube">
              <a:avLst>
                <a:gd name="adj" fmla="val 25000"/>
              </a:avLst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0667" name="AutoShape 11"/>
            <p:cNvSpPr>
              <a:spLocks noChangeArrowheads="1"/>
            </p:cNvSpPr>
            <p:nvPr/>
          </p:nvSpPr>
          <p:spPr bwMode="auto">
            <a:xfrm rot="19500000">
              <a:off x="2352" y="768"/>
              <a:ext cx="48" cy="480"/>
            </a:xfrm>
            <a:prstGeom prst="cube">
              <a:avLst>
                <a:gd name="adj" fmla="val 25000"/>
              </a:avLst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0668" name="AutoShape 12"/>
            <p:cNvSpPr>
              <a:spLocks noChangeArrowheads="1"/>
            </p:cNvSpPr>
            <p:nvPr/>
          </p:nvSpPr>
          <p:spPr bwMode="auto">
            <a:xfrm rot="4800000">
              <a:off x="2088" y="1320"/>
              <a:ext cx="48" cy="480"/>
            </a:xfrm>
            <a:prstGeom prst="cube">
              <a:avLst>
                <a:gd name="adj" fmla="val 25000"/>
              </a:avLst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0669" name="AutoShape 13"/>
            <p:cNvSpPr>
              <a:spLocks noChangeArrowheads="1"/>
            </p:cNvSpPr>
            <p:nvPr/>
          </p:nvSpPr>
          <p:spPr bwMode="auto">
            <a:xfrm rot="16800000">
              <a:off x="3336" y="1320"/>
              <a:ext cx="48" cy="480"/>
            </a:xfrm>
            <a:prstGeom prst="cube">
              <a:avLst>
                <a:gd name="adj" fmla="val 25000"/>
              </a:avLst>
            </a:prstGeom>
            <a:solidFill>
              <a:srgbClr val="9933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992921-E8D1-4F63-8B4B-BBDB7C330874}" type="slidenum">
              <a:rPr lang="en-US" altLang="en-US" smtClean="0"/>
              <a:pPr/>
              <a:t>60</a:t>
            </a:fld>
            <a:endParaRPr lang="en-US" altLang="en-US"/>
          </a:p>
        </p:txBody>
      </p:sp>
      <p:sp>
        <p:nvSpPr>
          <p:cNvPr id="26" name="AutoShape 3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00000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lIns="0" tIns="228600" rIns="0" bIns="228600" anchor="ctr"/>
          <a:lstStyle/>
          <a:p>
            <a:pPr algn="ctr">
              <a:spcBef>
                <a:spcPct val="50000"/>
              </a:spcBef>
            </a:pPr>
            <a:r>
              <a:rPr lang="en-US" altLang="en-US" sz="2000" b="1"/>
              <a:t>E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7166573" y="893117"/>
            <a:ext cx="1782926" cy="838200"/>
            <a:chOff x="7087750" y="5562600"/>
            <a:chExt cx="1782926" cy="838200"/>
          </a:xfrm>
        </p:grpSpPr>
        <p:sp>
          <p:nvSpPr>
            <p:cNvPr id="18" name="AutoShape 8"/>
            <p:cNvSpPr>
              <a:spLocks noChangeArrowheads="1"/>
            </p:cNvSpPr>
            <p:nvPr/>
          </p:nvSpPr>
          <p:spPr bwMode="auto">
            <a:xfrm>
              <a:off x="7696200" y="5791200"/>
              <a:ext cx="704224" cy="609600"/>
            </a:xfrm>
            <a:prstGeom prst="smileyFace">
              <a:avLst>
                <a:gd name="adj" fmla="val 4653"/>
              </a:avLst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8248024" y="5562600"/>
              <a:ext cx="622652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L</a:t>
              </a:r>
              <a:r>
                <a:rPr lang="en-US" dirty="0">
                  <a:solidFill>
                    <a:schemeClr val="tx1"/>
                  </a:solidFill>
                </a:rPr>
                <a:t>eft</a:t>
              </a: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7087750" y="5562600"/>
              <a:ext cx="775052" cy="381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R</a:t>
              </a:r>
              <a:r>
                <a:rPr lang="en-US" dirty="0">
                  <a:solidFill>
                    <a:schemeClr val="tx1"/>
                  </a:solidFill>
                </a:rPr>
                <a:t>ight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9482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9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534400" cy="712787"/>
          </a:xfrm>
        </p:spPr>
        <p:txBody>
          <a:bodyPr/>
          <a:lstStyle/>
          <a:p>
            <a:r>
              <a:rPr lang="en-US" altLang="en-US" sz="3800" b="1" dirty="0">
                <a:solidFill>
                  <a:schemeClr val="tx1"/>
                </a:solidFill>
              </a:rPr>
              <a:t>Recall this </a:t>
            </a:r>
            <a:r>
              <a:rPr lang="en-US" altLang="en-US" sz="3800" b="1" dirty="0">
                <a:solidFill>
                  <a:srgbClr val="C00000"/>
                </a:solidFill>
              </a:rPr>
              <a:t>strange code </a:t>
            </a:r>
            <a:r>
              <a:rPr lang="en-US" altLang="en-US" sz="3800" b="1" dirty="0">
                <a:solidFill>
                  <a:schemeClr val="tx1"/>
                </a:solidFill>
              </a:rPr>
              <a:t>from last week?</a:t>
            </a:r>
            <a:endParaRPr lang="en-US" altLang="en-US" sz="3800" dirty="0">
              <a:solidFill>
                <a:schemeClr val="tx1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81000" y="5562600"/>
            <a:ext cx="8229600" cy="9905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b="1" dirty="0" err="1">
                <a:solidFill>
                  <a:srgbClr val="C00000"/>
                </a:solidFill>
              </a:rPr>
              <a:t>globalVar</a:t>
            </a:r>
            <a:r>
              <a:rPr lang="en-US" dirty="0"/>
              <a:t> is much lesser than 250000 at the end after </a:t>
            </a:r>
            <a:r>
              <a:rPr lang="en-US" b="1" dirty="0"/>
              <a:t>all threads are done</a:t>
            </a:r>
            <a:r>
              <a:rPr lang="en-US" dirty="0"/>
              <a:t>…. </a:t>
            </a:r>
            <a:r>
              <a:rPr 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</a:t>
            </a:r>
            <a:r>
              <a:rPr lang="en-US" dirty="0"/>
              <a:t>?</a:t>
            </a:r>
          </a:p>
        </p:txBody>
      </p:sp>
      <p:sp>
        <p:nvSpPr>
          <p:cNvPr id="637956" name="Rectangle 4"/>
          <p:cNvSpPr>
            <a:spLocks noChangeArrowheads="1"/>
          </p:cNvSpPr>
          <p:nvPr/>
        </p:nvSpPr>
        <p:spPr bwMode="auto">
          <a:xfrm>
            <a:off x="3733800" y="1143000"/>
            <a:ext cx="1219200" cy="457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 dirty="0">
                <a:latin typeface="Courier New" pitchFamily="49" charset="0"/>
              </a:rPr>
              <a:t>0</a:t>
            </a:r>
          </a:p>
        </p:txBody>
      </p:sp>
      <p:sp>
        <p:nvSpPr>
          <p:cNvPr id="637957" name="Rectangle 5"/>
          <p:cNvSpPr>
            <a:spLocks noChangeArrowheads="1"/>
          </p:cNvSpPr>
          <p:nvPr/>
        </p:nvSpPr>
        <p:spPr bwMode="auto">
          <a:xfrm>
            <a:off x="1905000" y="1143000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en-US" sz="24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globalVar</a:t>
            </a:r>
            <a:endParaRPr lang="en-US" altLang="en-US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itchFamily="49" charset="0"/>
            </a:endParaRPr>
          </a:p>
        </p:txBody>
      </p:sp>
      <p:sp>
        <p:nvSpPr>
          <p:cNvPr id="637959" name="Text Box 7"/>
          <p:cNvSpPr txBox="1">
            <a:spLocks noChangeArrowheads="1"/>
          </p:cNvSpPr>
          <p:nvPr/>
        </p:nvSpPr>
        <p:spPr bwMode="auto">
          <a:xfrm>
            <a:off x="423333" y="1752600"/>
            <a:ext cx="4495800" cy="707886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for (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 = 0;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 &lt; 50000;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++)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</a:t>
            </a:r>
            <a:r>
              <a:rPr lang="en-US" altLang="en-US" sz="20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globalVar</a:t>
            </a:r>
            <a:r>
              <a:rPr lang="en-US" altLang="en-US" sz="2000" b="1" dirty="0">
                <a:latin typeface="Courier New" pitchFamily="49" charset="0"/>
              </a:rPr>
              <a:t>++;</a:t>
            </a:r>
            <a:endParaRPr lang="en-US" altLang="en-US" sz="2000" dirty="0">
              <a:latin typeface="Courier New" pitchFamily="49" charset="0"/>
            </a:endParaRPr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auto">
          <a:xfrm>
            <a:off x="228600" y="3649479"/>
            <a:ext cx="2218267" cy="1319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en-US" sz="2400" b="1" dirty="0">
                <a:solidFill>
                  <a:srgbClr val="C00000"/>
                </a:solidFill>
                <a:latin typeface="+mn-lt"/>
              </a:rPr>
              <a:t>5 x threads</a:t>
            </a:r>
          </a:p>
          <a:p>
            <a:pPr algn="r"/>
            <a:r>
              <a:rPr lang="en-US" altLang="en-US" sz="2400" b="1" dirty="0">
                <a:latin typeface="+mn-lt"/>
              </a:rPr>
              <a:t>running the </a:t>
            </a:r>
          </a:p>
          <a:p>
            <a:pPr algn="r"/>
            <a:r>
              <a:rPr lang="en-US" altLang="en-US" sz="2400" b="1" dirty="0">
                <a:latin typeface="+mn-lt"/>
              </a:rPr>
              <a:t>same code</a:t>
            </a:r>
          </a:p>
        </p:txBody>
      </p:sp>
      <p:sp>
        <p:nvSpPr>
          <p:cNvPr id="26" name="Text Box 7"/>
          <p:cNvSpPr txBox="1">
            <a:spLocks noChangeArrowheads="1"/>
          </p:cNvSpPr>
          <p:nvPr/>
        </p:nvSpPr>
        <p:spPr bwMode="auto">
          <a:xfrm>
            <a:off x="1545166" y="2478184"/>
            <a:ext cx="4495800" cy="707886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for (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 = 0;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 &lt; 50000;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++)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</a:t>
            </a:r>
            <a:r>
              <a:rPr lang="en-US" altLang="en-US" sz="20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globalVar</a:t>
            </a:r>
            <a:r>
              <a:rPr lang="en-US" altLang="en-US" sz="2000" b="1" dirty="0">
                <a:latin typeface="Courier New" pitchFamily="49" charset="0"/>
              </a:rPr>
              <a:t>++;</a:t>
            </a:r>
            <a:endParaRPr lang="en-US" altLang="en-US" sz="2000" dirty="0">
              <a:latin typeface="Courier New" pitchFamily="49" charset="0"/>
            </a:endParaRPr>
          </a:p>
        </p:txBody>
      </p:sp>
      <p:sp>
        <p:nvSpPr>
          <p:cNvPr id="27" name="Text Box 7"/>
          <p:cNvSpPr txBox="1">
            <a:spLocks noChangeArrowheads="1"/>
          </p:cNvSpPr>
          <p:nvPr/>
        </p:nvSpPr>
        <p:spPr bwMode="auto">
          <a:xfrm>
            <a:off x="2785533" y="3206633"/>
            <a:ext cx="4495800" cy="707886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for (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 = 0;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 &lt; 50000;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++)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</a:t>
            </a:r>
            <a:r>
              <a:rPr lang="en-US" altLang="en-US" sz="20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globalVar</a:t>
            </a:r>
            <a:r>
              <a:rPr lang="en-US" altLang="en-US" sz="2000" b="1" dirty="0">
                <a:latin typeface="Courier New" pitchFamily="49" charset="0"/>
              </a:rPr>
              <a:t>++;</a:t>
            </a:r>
            <a:endParaRPr lang="en-US" altLang="en-US" sz="2000" dirty="0">
              <a:latin typeface="Courier New" pitchFamily="49" charset="0"/>
            </a:endParaRPr>
          </a:p>
        </p:txBody>
      </p:sp>
      <p:sp>
        <p:nvSpPr>
          <p:cNvPr id="28" name="Text Box 7"/>
          <p:cNvSpPr txBox="1">
            <a:spLocks noChangeArrowheads="1"/>
          </p:cNvSpPr>
          <p:nvPr/>
        </p:nvSpPr>
        <p:spPr bwMode="auto">
          <a:xfrm>
            <a:off x="3776133" y="3955463"/>
            <a:ext cx="4495800" cy="707886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for (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 = 0;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 &lt; 50000;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++)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</a:t>
            </a:r>
            <a:r>
              <a:rPr lang="en-US" altLang="en-US" sz="20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globalVar</a:t>
            </a:r>
            <a:r>
              <a:rPr lang="en-US" altLang="en-US" sz="2000" b="1" dirty="0">
                <a:latin typeface="Courier New" pitchFamily="49" charset="0"/>
              </a:rPr>
              <a:t>++;</a:t>
            </a:r>
            <a:endParaRPr lang="en-US" altLang="en-US" sz="2000" dirty="0">
              <a:latin typeface="Courier New" pitchFamily="49" charset="0"/>
            </a:endParaRPr>
          </a:p>
        </p:txBody>
      </p:sp>
      <p:sp>
        <p:nvSpPr>
          <p:cNvPr id="29" name="Text Box 7"/>
          <p:cNvSpPr txBox="1">
            <a:spLocks noChangeArrowheads="1"/>
          </p:cNvSpPr>
          <p:nvPr/>
        </p:nvSpPr>
        <p:spPr bwMode="auto">
          <a:xfrm>
            <a:off x="4461933" y="4708413"/>
            <a:ext cx="4495800" cy="707886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for (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 = 0;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 &lt; 50000; </a:t>
            </a:r>
            <a:r>
              <a:rPr lang="en-US" altLang="en-US" sz="2000" b="1" dirty="0" err="1">
                <a:latin typeface="Courier New" pitchFamily="49" charset="0"/>
              </a:rPr>
              <a:t>i</a:t>
            </a:r>
            <a:r>
              <a:rPr lang="en-US" altLang="en-US" sz="2000" b="1" dirty="0">
                <a:latin typeface="Courier New" pitchFamily="49" charset="0"/>
              </a:rPr>
              <a:t>++)</a:t>
            </a:r>
          </a:p>
          <a:p>
            <a:pPr eaLnBrk="0" hangingPunct="0"/>
            <a:r>
              <a:rPr lang="en-US" altLang="en-US" sz="2000" b="1" dirty="0">
                <a:latin typeface="Courier New" pitchFamily="49" charset="0"/>
              </a:rPr>
              <a:t>    </a:t>
            </a:r>
            <a:r>
              <a:rPr lang="en-US" altLang="en-US" sz="20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</a:rPr>
              <a:t>globalVar</a:t>
            </a:r>
            <a:r>
              <a:rPr lang="en-US" altLang="en-US" sz="2000" b="1" dirty="0">
                <a:latin typeface="Courier New" pitchFamily="49" charset="0"/>
              </a:rPr>
              <a:t>++;</a:t>
            </a:r>
            <a:endParaRPr lang="en-US" altLang="en-US" sz="2000" dirty="0">
              <a:latin typeface="Courier New" pitchFamily="49" charset="0"/>
            </a:endParaRPr>
          </a:p>
        </p:txBody>
      </p:sp>
      <p:sp>
        <p:nvSpPr>
          <p:cNvPr id="13" name="AutoShape 3"/>
          <p:cNvSpPr>
            <a:spLocks noChangeArrowheads="1"/>
          </p:cNvSpPr>
          <p:nvPr/>
        </p:nvSpPr>
        <p:spPr bwMode="auto">
          <a:xfrm rot="16200000">
            <a:off x="8382000" y="6096000"/>
            <a:ext cx="762000" cy="762000"/>
          </a:xfrm>
          <a:prstGeom prst="rtTriangle">
            <a:avLst/>
          </a:prstGeom>
          <a:solidFill>
            <a:srgbClr val="C00000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eaVert" lIns="0" tIns="228600" rIns="0" bIns="228600" anchor="ctr"/>
          <a:lstStyle/>
          <a:p>
            <a:pPr algn="ctr">
              <a:spcBef>
                <a:spcPct val="50000"/>
              </a:spcBef>
            </a:pPr>
            <a:r>
              <a:rPr lang="en-US" altLang="en-US" sz="2000" b="1"/>
              <a:t>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996B8A-971F-7580-488C-ACAC171BCA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469A4-C7F5-42FF-8F2E-C62C8C034364}" type="slidenum">
              <a:rPr lang="en-US" altLang="en-US" smtClean="0"/>
              <a:pPr/>
              <a:t>61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4283856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CS2106 0809S2</Template>
  <TotalTime>10183</TotalTime>
  <Words>3977</Words>
  <Application>Microsoft Macintosh PowerPoint</Application>
  <PresentationFormat>On-screen Show (4:3)</PresentationFormat>
  <Paragraphs>1037</Paragraphs>
  <Slides>61</Slides>
  <Notes>24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  <vt:variant>
        <vt:lpstr>Custom Shows</vt:lpstr>
      </vt:variant>
      <vt:variant>
        <vt:i4>1</vt:i4>
      </vt:variant>
    </vt:vector>
  </HeadingPairs>
  <TitlesOfParts>
    <vt:vector size="67" baseType="lpstr">
      <vt:lpstr>Arial</vt:lpstr>
      <vt:lpstr>Courier New</vt:lpstr>
      <vt:lpstr>Garamond</vt:lpstr>
      <vt:lpstr>Wingdings</vt:lpstr>
      <vt:lpstr>Edge</vt:lpstr>
      <vt:lpstr>Process Management Synchronization</vt:lpstr>
      <vt:lpstr>Overview</vt:lpstr>
      <vt:lpstr>Problems with Concurrent Execution</vt:lpstr>
      <vt:lpstr>Race Condition: Illustration</vt:lpstr>
      <vt:lpstr>Race Condition: Good behavior</vt:lpstr>
      <vt:lpstr>Race Condition: Bad behavior</vt:lpstr>
      <vt:lpstr>Race Condition: Solution</vt:lpstr>
      <vt:lpstr>Critical Section (CS)</vt:lpstr>
      <vt:lpstr>Properties of Correct CS Implementation</vt:lpstr>
      <vt:lpstr>Symptoms of Incorrect Synchronization</vt:lpstr>
      <vt:lpstr>CS Implementations Overview</vt:lpstr>
      <vt:lpstr>assembly level Implementation</vt:lpstr>
      <vt:lpstr>Test and Set: An Atomic Instruction</vt:lpstr>
      <vt:lpstr>Using Test and Set</vt:lpstr>
      <vt:lpstr>Observations and Comments</vt:lpstr>
      <vt:lpstr>High level Language Implementation</vt:lpstr>
      <vt:lpstr>Using HLL: Attempt 1</vt:lpstr>
      <vt:lpstr>Using HLL : Attempt 1 Fixed*</vt:lpstr>
      <vt:lpstr>Using High Level Language: Attempt 2</vt:lpstr>
      <vt:lpstr>Using High Level Language: Attempt 3</vt:lpstr>
      <vt:lpstr>Peterson's Algorithm</vt:lpstr>
      <vt:lpstr>Peterson's Algorithm: Disadvantages</vt:lpstr>
      <vt:lpstr>High Level Abstraction</vt:lpstr>
      <vt:lpstr>High Level Synchronization Mechanism</vt:lpstr>
      <vt:lpstr>Semaphore: Wait( ) and Signal( )</vt:lpstr>
      <vt:lpstr>Semaphore: Visualization</vt:lpstr>
      <vt:lpstr>Semaphores: Properties</vt:lpstr>
      <vt:lpstr>General and Binary Semaphores</vt:lpstr>
      <vt:lpstr>Semaphore Example: Critical Section</vt:lpstr>
      <vt:lpstr>Mutex: Correct CS - Informal Proof</vt:lpstr>
      <vt:lpstr>Mutex: Correct CS - Informal Proof (cont)</vt:lpstr>
      <vt:lpstr>Incorrect Use of Semaphore: Deadlock</vt:lpstr>
      <vt:lpstr>Other High Level Abstractions</vt:lpstr>
      <vt:lpstr>Classical Synchronization  Problems</vt:lpstr>
      <vt:lpstr>Producer Consumer: Specification</vt:lpstr>
      <vt:lpstr>Producer Consumer: Busy Waiting</vt:lpstr>
      <vt:lpstr>Producer Consumer: Busy Waiting</vt:lpstr>
      <vt:lpstr>Producer Consumer: Blocking Version</vt:lpstr>
      <vt:lpstr>Producer Consumer: Blocking Version</vt:lpstr>
      <vt:lpstr>Readers Writers: Specification</vt:lpstr>
      <vt:lpstr>Readers Writers: Simple Version</vt:lpstr>
      <vt:lpstr>Readers Writers: Evaluation</vt:lpstr>
      <vt:lpstr>Dining Philosophers: Specification</vt:lpstr>
      <vt:lpstr>Dining Philosophers: Attempt 1</vt:lpstr>
      <vt:lpstr>Dining Philosophers: Attempt 1</vt:lpstr>
      <vt:lpstr>Dining Philosopher: Attempt 2</vt:lpstr>
      <vt:lpstr>Dining Philosopher: Tanenbaum Solution</vt:lpstr>
      <vt:lpstr>Dining Philosopher: Tanenbaum Solution</vt:lpstr>
      <vt:lpstr>Dining Philosopher: Tanenbaum Solution</vt:lpstr>
      <vt:lpstr>Dining Philosopher: Limited Eater</vt:lpstr>
      <vt:lpstr>Synchronization Implementations</vt:lpstr>
      <vt:lpstr>POSIX Semaphore</vt:lpstr>
      <vt:lpstr>pthread Mutex and Conditional Variables</vt:lpstr>
      <vt:lpstr>Others</vt:lpstr>
      <vt:lpstr>Summary</vt:lpstr>
      <vt:lpstr>Reference</vt:lpstr>
      <vt:lpstr>Race Condition Solution: "Illustration"</vt:lpstr>
      <vt:lpstr>Deadlock</vt:lpstr>
      <vt:lpstr>Livelock</vt:lpstr>
      <vt:lpstr>Dining Philosopher: Limited Eater</vt:lpstr>
      <vt:lpstr>Recall this strange code from last week?</vt:lpstr>
      <vt:lpstr>Live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Soo Yuen Jien</dc:creator>
  <cp:lastModifiedBy>Tan Keng Yan, Colin</cp:lastModifiedBy>
  <cp:revision>699</cp:revision>
  <cp:lastPrinted>2015-09-07T02:38:48Z</cp:lastPrinted>
  <dcterms:created xsi:type="dcterms:W3CDTF">1601-01-01T00:00:00Z</dcterms:created>
  <dcterms:modified xsi:type="dcterms:W3CDTF">2024-02-20T13:48:57Z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