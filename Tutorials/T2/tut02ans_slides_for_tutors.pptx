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1" r:id="rId1"/>
  </p:sldMasterIdLst>
  <p:notesMasterIdLst>
    <p:notesMasterId r:id="rId22"/>
  </p:notesMasterIdLst>
  <p:sldIdLst>
    <p:sldId id="256" r:id="rId2"/>
    <p:sldId id="301" r:id="rId3"/>
    <p:sldId id="624" r:id="rId4"/>
    <p:sldId id="625" r:id="rId5"/>
    <p:sldId id="620" r:id="rId6"/>
    <p:sldId id="629" r:id="rId7"/>
    <p:sldId id="630" r:id="rId8"/>
    <p:sldId id="631" r:id="rId9"/>
    <p:sldId id="641" r:id="rId10"/>
    <p:sldId id="642" r:id="rId11"/>
    <p:sldId id="643" r:id="rId12"/>
    <p:sldId id="644" r:id="rId13"/>
    <p:sldId id="645" r:id="rId14"/>
    <p:sldId id="619" r:id="rId15"/>
    <p:sldId id="635" r:id="rId16"/>
    <p:sldId id="626" r:id="rId17"/>
    <p:sldId id="636" r:id="rId18"/>
    <p:sldId id="637" r:id="rId19"/>
    <p:sldId id="638" r:id="rId20"/>
    <p:sldId id="639" r:id="rId21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  <a:srgbClr val="006600"/>
    <a:srgbClr val="0033CC"/>
    <a:srgbClr val="660066"/>
    <a:srgbClr val="E2F0D9"/>
    <a:srgbClr val="FBE5D6"/>
    <a:srgbClr val="0000FF"/>
    <a:srgbClr val="5B9BD5"/>
    <a:srgbClr val="C56F11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73" autoAdjust="0"/>
    <p:restoredTop sz="94052" autoAdjust="0"/>
  </p:normalViewPr>
  <p:slideViewPr>
    <p:cSldViewPr snapToGrid="0">
      <p:cViewPr varScale="1">
        <p:scale>
          <a:sx n="78" d="100"/>
          <a:sy n="78" d="100"/>
        </p:scale>
        <p:origin x="1104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80713-3F88-4B82-ACF8-E4F4A6D1B898}" type="datetimeFigureOut">
              <a:rPr lang="en-SG" smtClean="0"/>
              <a:t>8/9/25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3A57E-E920-4C34-91F5-3C46E07A96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094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0143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5495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34558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46562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0008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9246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2835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0318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9842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06457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60013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7346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9753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5509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20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90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DC82-B281-43D9-9782-FA94450D82A6}" type="datetime1">
              <a:rPr lang="en-SG" smtClean="0"/>
              <a:t>8/9/25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81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DE8A-7616-47CF-8468-064F48A2FEC3}" type="datetime1">
              <a:rPr lang="en-SG" smtClean="0"/>
              <a:t>8/9/25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923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0F12-918A-4DE3-B929-258B7DF1AC83}" type="datetime1">
              <a:rPr lang="en-SG" smtClean="0"/>
              <a:t>8/9/25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40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8A55-AAEB-4B09-8FFD-F64405585E2E}" type="datetime1">
              <a:rPr lang="en-SG" smtClean="0"/>
              <a:t>8/9/25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2160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44563-0501-48F5-B84D-A277E1048241}" type="datetime1">
              <a:rPr lang="en-SG" smtClean="0"/>
              <a:t>8/9/25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057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E53E-5454-4188-B811-AE20EFE2A1BD}" type="datetime1">
              <a:rPr lang="en-SG" smtClean="0"/>
              <a:t>8/9/25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744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10CA-D5DF-46D0-A127-3F1B60ED4D16}" type="datetime1">
              <a:rPr lang="en-SG" smtClean="0"/>
              <a:t>8/9/25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504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F311B8C-9507-4FC0-B68E-608D733D4E76}" type="datetime1">
              <a:rPr lang="en-SG" smtClean="0"/>
              <a:t>8/9/25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679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653C4-1483-49C3-B818-99CED61C6FB0}" type="datetime1">
              <a:rPr lang="en-SG" smtClean="0"/>
              <a:t>8/9/25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522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06DE-5440-4B55-85A5-23A3F03C9D77}" type="datetime1">
              <a:rPr lang="en-SG" smtClean="0"/>
              <a:t>8/9/25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1140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F006-2334-47FC-9F14-6A6CA1A19D6E}" type="datetime1">
              <a:rPr lang="en-SG" smtClean="0"/>
              <a:t>8/9/25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959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F1222CF-8AB8-4D71-B847-9594A2A4CEF4}" type="datetime1">
              <a:rPr lang="en-SG" smtClean="0"/>
              <a:t>8/9/25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80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1679448"/>
          </a:xfrm>
        </p:spPr>
        <p:txBody>
          <a:bodyPr/>
          <a:lstStyle/>
          <a:p>
            <a:r>
              <a:rPr lang="en-SG" dirty="0"/>
              <a:t>IT5002</a:t>
            </a:r>
            <a:br>
              <a:rPr lang="en-SG" dirty="0"/>
            </a:br>
            <a:endParaRPr lang="en-SG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361" y="2542032"/>
            <a:ext cx="9144000" cy="1803680"/>
          </a:xfrm>
        </p:spPr>
        <p:txBody>
          <a:bodyPr>
            <a:normAutofit lnSpcReduction="10000"/>
          </a:bodyPr>
          <a:lstStyle/>
          <a:p>
            <a:r>
              <a:rPr lang="en-SG" sz="3200" dirty="0"/>
              <a:t>Tutorial #2</a:t>
            </a:r>
          </a:p>
          <a:p>
            <a:r>
              <a:rPr lang="en-SG" sz="4400" dirty="0"/>
              <a:t>MIPS Assembly</a:t>
            </a:r>
          </a:p>
          <a:p>
            <a:r>
              <a:rPr lang="en-SG" dirty="0"/>
              <a:t>(Prepared by: Aaron Tan)</a:t>
            </a:r>
          </a:p>
        </p:txBody>
      </p:sp>
    </p:spTree>
    <p:extLst>
      <p:ext uri="{BB962C8B-B14F-4D97-AF65-F5344CB8AC3E}">
        <p14:creationId xmlns:p14="http://schemas.microsoft.com/office/powerpoint/2010/main" val="913513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2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Q1.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98286" y="260234"/>
            <a:ext cx="82622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SG" sz="3200" dirty="0"/>
              <a:t>(a) 	Set bits 2, 8, 9, 14 and 16 of </a:t>
            </a:r>
            <a:r>
              <a:rPr lang="en-SG" sz="3200" i="1" dirty="0"/>
              <a:t>b</a:t>
            </a:r>
            <a:r>
              <a:rPr lang="en-SG" sz="3200" dirty="0"/>
              <a:t> to 1. Leave the other bits unchanged.</a:t>
            </a:r>
            <a:endParaRPr lang="en-SG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33F4F-A0B8-412B-8A8E-8D5E4DB9BBB5}"/>
              </a:ext>
            </a:extLst>
          </p:cNvPr>
          <p:cNvSpPr txBox="1"/>
          <p:nvPr/>
        </p:nvSpPr>
        <p:spPr>
          <a:xfrm>
            <a:off x="1098286" y="1551980"/>
            <a:ext cx="86606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20713" algn="l"/>
              </a:tabLst>
            </a:pPr>
            <a:r>
              <a:rPr lang="en-SG" sz="3200" dirty="0"/>
              <a:t>Example: Before</a:t>
            </a:r>
          </a:p>
          <a:p>
            <a:pPr>
              <a:tabLst>
                <a:tab pos="620713" algn="l"/>
              </a:tabLst>
            </a:pPr>
            <a:r>
              <a:rPr lang="en-US" sz="3200" i="1" dirty="0"/>
              <a:t>b</a:t>
            </a:r>
            <a:r>
              <a:rPr lang="en-US" sz="3200" dirty="0"/>
              <a:t> = 001100000111000</a:t>
            </a:r>
            <a:r>
              <a:rPr lang="en-US" sz="3200" u="sng" dirty="0"/>
              <a:t>0</a:t>
            </a:r>
            <a:r>
              <a:rPr lang="en-US" sz="3200" dirty="0"/>
              <a:t>0</a:t>
            </a:r>
            <a:r>
              <a:rPr lang="en-US" sz="3200" u="sng" dirty="0"/>
              <a:t>1</a:t>
            </a:r>
            <a:r>
              <a:rPr lang="en-US" sz="3200" dirty="0"/>
              <a:t>1011</a:t>
            </a:r>
            <a:r>
              <a:rPr lang="en-US" sz="3200" u="sng" dirty="0"/>
              <a:t>01</a:t>
            </a:r>
            <a:r>
              <a:rPr lang="en-US" sz="3200" dirty="0"/>
              <a:t>00100</a:t>
            </a:r>
            <a:r>
              <a:rPr lang="en-US" sz="3200" u="sng" dirty="0"/>
              <a:t>0</a:t>
            </a:r>
            <a:r>
              <a:rPr lang="en-US" sz="3200" dirty="0"/>
              <a:t>01.</a:t>
            </a:r>
            <a:endParaRPr lang="en-SG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B33F4F-A0B8-412B-8A8E-8D5E4DB9BBB5}"/>
              </a:ext>
            </a:extLst>
          </p:cNvPr>
          <p:cNvSpPr txBox="1"/>
          <p:nvPr/>
        </p:nvSpPr>
        <p:spPr>
          <a:xfrm>
            <a:off x="2855286" y="2506827"/>
            <a:ext cx="6903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20713" algn="l"/>
              </a:tabLst>
            </a:pPr>
            <a:r>
              <a:rPr lang="en-US" sz="2800" dirty="0"/>
              <a:t>(Bits 2, 8, 9, 14 and 16 are underlined.)</a:t>
            </a:r>
            <a:endParaRPr lang="en-SG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B33F4F-A0B8-412B-8A8E-8D5E4DB9BBB5}"/>
              </a:ext>
            </a:extLst>
          </p:cNvPr>
          <p:cNvSpPr txBox="1"/>
          <p:nvPr/>
        </p:nvSpPr>
        <p:spPr>
          <a:xfrm>
            <a:off x="1175382" y="3430897"/>
            <a:ext cx="86606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20713" algn="l"/>
              </a:tabLst>
            </a:pPr>
            <a:r>
              <a:rPr lang="en-SG" sz="3200" dirty="0"/>
              <a:t>After</a:t>
            </a:r>
          </a:p>
          <a:p>
            <a:pPr>
              <a:tabLst>
                <a:tab pos="620713" algn="l"/>
              </a:tabLst>
            </a:pPr>
            <a:r>
              <a:rPr lang="en-US" sz="3200" i="1" dirty="0"/>
              <a:t>b</a:t>
            </a:r>
            <a:r>
              <a:rPr lang="en-US" sz="3200" dirty="0"/>
              <a:t> = 001100000111000</a:t>
            </a:r>
            <a:r>
              <a:rPr lang="en-US" sz="3200" u="sng" dirty="0">
                <a:solidFill>
                  <a:srgbClr val="C00000"/>
                </a:solidFill>
              </a:rPr>
              <a:t>1</a:t>
            </a:r>
            <a:r>
              <a:rPr lang="en-US" sz="3200" dirty="0"/>
              <a:t>0</a:t>
            </a:r>
            <a:r>
              <a:rPr lang="en-US" sz="3200" u="sng" dirty="0">
                <a:solidFill>
                  <a:srgbClr val="C00000"/>
                </a:solidFill>
              </a:rPr>
              <a:t>1</a:t>
            </a:r>
            <a:r>
              <a:rPr lang="en-US" sz="3200" dirty="0"/>
              <a:t>1011</a:t>
            </a:r>
            <a:r>
              <a:rPr lang="en-US" sz="3200" u="sng" dirty="0">
                <a:solidFill>
                  <a:srgbClr val="C00000"/>
                </a:solidFill>
              </a:rPr>
              <a:t>11</a:t>
            </a:r>
            <a:r>
              <a:rPr lang="en-US" sz="3200" dirty="0"/>
              <a:t>00100</a:t>
            </a:r>
            <a:r>
              <a:rPr lang="en-US" sz="3200" u="sng" dirty="0">
                <a:solidFill>
                  <a:srgbClr val="C00000"/>
                </a:solidFill>
              </a:rPr>
              <a:t>1</a:t>
            </a:r>
            <a:r>
              <a:rPr lang="en-US" sz="3200" dirty="0"/>
              <a:t>01.</a:t>
            </a:r>
            <a:endParaRPr lang="en-SG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1948118" y="4707994"/>
            <a:ext cx="69933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4516438" algn="l"/>
              </a:tabLst>
            </a:pPr>
            <a:r>
              <a:rPr lang="en-US" sz="2400" dirty="0" err="1">
                <a:solidFill>
                  <a:srgbClr val="0000FF"/>
                </a:solidFill>
              </a:rPr>
              <a:t>lui</a:t>
            </a:r>
            <a:r>
              <a:rPr lang="en-US" sz="2400" dirty="0">
                <a:solidFill>
                  <a:srgbClr val="0000FF"/>
                </a:solidFill>
              </a:rPr>
              <a:t>  $</a:t>
            </a:r>
            <a:r>
              <a:rPr lang="en-US" sz="2400" dirty="0" err="1">
                <a:solidFill>
                  <a:srgbClr val="0000FF"/>
                </a:solidFill>
              </a:rPr>
              <a:t>t0</a:t>
            </a:r>
            <a:r>
              <a:rPr lang="en-US" sz="2400" dirty="0">
                <a:solidFill>
                  <a:srgbClr val="0000FF"/>
                </a:solidFill>
              </a:rPr>
              <a:t>, 1	# set bit 16</a:t>
            </a:r>
          </a:p>
          <a:p>
            <a:pPr>
              <a:tabLst>
                <a:tab pos="2286000" algn="l"/>
                <a:tab pos="4462463" algn="l"/>
              </a:tabLst>
            </a:pPr>
            <a:r>
              <a:rPr lang="en-US" sz="2400" dirty="0" err="1">
                <a:solidFill>
                  <a:srgbClr val="0000FF"/>
                </a:solidFill>
              </a:rPr>
              <a:t>ori</a:t>
            </a:r>
            <a:r>
              <a:rPr lang="en-US" sz="2400" dirty="0">
                <a:solidFill>
                  <a:srgbClr val="0000FF"/>
                </a:solidFill>
              </a:rPr>
              <a:t> $</a:t>
            </a:r>
            <a:r>
              <a:rPr lang="en-US" sz="2400" dirty="0" err="1">
                <a:solidFill>
                  <a:srgbClr val="0000FF"/>
                </a:solidFill>
              </a:rPr>
              <a:t>t0</a:t>
            </a:r>
            <a:r>
              <a:rPr lang="en-US" sz="2400" dirty="0">
                <a:solidFill>
                  <a:srgbClr val="0000FF"/>
                </a:solidFill>
              </a:rPr>
              <a:t>, $</a:t>
            </a:r>
            <a:r>
              <a:rPr lang="en-US" sz="2400" dirty="0" err="1">
                <a:solidFill>
                  <a:srgbClr val="0000FF"/>
                </a:solidFill>
              </a:rPr>
              <a:t>t0</a:t>
            </a:r>
            <a:r>
              <a:rPr lang="en-US" sz="2400" dirty="0">
                <a:solidFill>
                  <a:srgbClr val="0000FF"/>
                </a:solidFill>
              </a:rPr>
              <a:t>, </a:t>
            </a:r>
            <a:r>
              <a:rPr lang="en-US" sz="2400" dirty="0" err="1">
                <a:solidFill>
                  <a:srgbClr val="0000FF"/>
                </a:solidFill>
              </a:rPr>
              <a:t>0b0100001100000100</a:t>
            </a:r>
            <a:r>
              <a:rPr lang="en-US" sz="2400" dirty="0">
                <a:solidFill>
                  <a:srgbClr val="0000FF"/>
                </a:solidFill>
              </a:rPr>
              <a:t>	# set bits 14,9,8,2.</a:t>
            </a:r>
          </a:p>
          <a:p>
            <a:pPr>
              <a:tabLst>
                <a:tab pos="2286000" algn="l"/>
                <a:tab pos="3886200" algn="l"/>
              </a:tabLst>
            </a:pPr>
            <a:r>
              <a:rPr lang="en-US" sz="2400" dirty="0"/>
              <a:t>or  $</a:t>
            </a:r>
            <a:r>
              <a:rPr lang="en-US" sz="2400" dirty="0" err="1"/>
              <a:t>s1</a:t>
            </a:r>
            <a:r>
              <a:rPr lang="en-US" sz="2400" dirty="0"/>
              <a:t>, $</a:t>
            </a:r>
            <a:r>
              <a:rPr lang="en-US" sz="2400" dirty="0" err="1"/>
              <a:t>s1</a:t>
            </a:r>
            <a:r>
              <a:rPr lang="en-US" sz="2400" dirty="0"/>
              <a:t>, $</a:t>
            </a:r>
            <a:r>
              <a:rPr lang="en-US" sz="2400" dirty="0" err="1"/>
              <a:t>t0</a:t>
            </a:r>
            <a:r>
              <a:rPr lang="en-US" sz="2400" dirty="0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2967" y="451493"/>
            <a:ext cx="1755593" cy="1200329"/>
          </a:xfrm>
          <a:prstGeom prst="rect">
            <a:avLst/>
          </a:prstGeom>
          <a:solidFill>
            <a:srgbClr val="CCECFF"/>
          </a:solidFill>
          <a:ln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Recall: </a:t>
            </a:r>
          </a:p>
          <a:p>
            <a:pPr marL="0" lvl="1">
              <a:tabLst>
                <a:tab pos="173038" algn="l"/>
              </a:tabLst>
            </a:pPr>
            <a:r>
              <a:rPr lang="en-US" sz="2400" dirty="0"/>
              <a:t>	</a:t>
            </a:r>
            <a:r>
              <a:rPr lang="en-US" sz="2400" i="1" dirty="0"/>
              <a:t>x</a:t>
            </a:r>
            <a:r>
              <a:rPr lang="en-US" sz="2400" dirty="0"/>
              <a:t> OR 0 = </a:t>
            </a:r>
            <a:r>
              <a:rPr lang="en-US" sz="2400" i="1" dirty="0"/>
              <a:t>x</a:t>
            </a:r>
          </a:p>
          <a:p>
            <a:pPr marL="0" lvl="1">
              <a:tabLst>
                <a:tab pos="173038" algn="l"/>
              </a:tabLst>
            </a:pPr>
            <a:r>
              <a:rPr lang="en-US" sz="2400" dirty="0"/>
              <a:t>	</a:t>
            </a:r>
            <a:r>
              <a:rPr lang="en-US" sz="2400" i="1" dirty="0"/>
              <a:t>x</a:t>
            </a:r>
            <a:r>
              <a:rPr lang="en-US" sz="2400" dirty="0"/>
              <a:t> OR 1 = 1</a:t>
            </a:r>
          </a:p>
        </p:txBody>
      </p:sp>
    </p:spTree>
    <p:extLst>
      <p:ext uri="{BB962C8B-B14F-4D97-AF65-F5344CB8AC3E}">
        <p14:creationId xmlns:p14="http://schemas.microsoft.com/office/powerpoint/2010/main" val="383849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uiExpand="1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3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Q1.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98286" y="260234"/>
            <a:ext cx="80134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SG" sz="3200" dirty="0"/>
              <a:t>(b) 	Copy over bits 1, 3 and 7 of </a:t>
            </a:r>
            <a:r>
              <a:rPr lang="en-SG" sz="3200" i="1" dirty="0"/>
              <a:t>b </a:t>
            </a:r>
            <a:r>
              <a:rPr lang="en-SG" sz="3200" dirty="0"/>
              <a:t>into </a:t>
            </a:r>
            <a:r>
              <a:rPr lang="en-SG" sz="3200" i="1" dirty="0"/>
              <a:t>a</a:t>
            </a:r>
            <a:r>
              <a:rPr lang="en-SG" sz="3200" dirty="0"/>
              <a:t>, without changing any other bits of </a:t>
            </a:r>
            <a:r>
              <a:rPr lang="en-SG" sz="3200" i="1" dirty="0"/>
              <a:t>a</a:t>
            </a:r>
            <a:r>
              <a:rPr lang="en-SG" sz="3200" dirty="0"/>
              <a:t>.</a:t>
            </a:r>
            <a:endParaRPr lang="en-SG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33F4F-A0B8-412B-8A8E-8D5E4DB9BBB5}"/>
              </a:ext>
            </a:extLst>
          </p:cNvPr>
          <p:cNvSpPr txBox="1"/>
          <p:nvPr/>
        </p:nvSpPr>
        <p:spPr>
          <a:xfrm>
            <a:off x="1098286" y="1551980"/>
            <a:ext cx="98207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20713" algn="l"/>
              </a:tabLst>
            </a:pPr>
            <a:r>
              <a:rPr lang="en-SG" sz="3200" dirty="0"/>
              <a:t>Example: Before </a:t>
            </a:r>
            <a:r>
              <a:rPr lang="en-SG" sz="2400" dirty="0"/>
              <a:t>(assume that the most significant 24 bits are all zeroes)</a:t>
            </a:r>
          </a:p>
          <a:p>
            <a:pPr>
              <a:tabLst>
                <a:tab pos="620713" algn="l"/>
              </a:tabLst>
            </a:pPr>
            <a:r>
              <a:rPr lang="en-US" sz="3200" i="1" dirty="0"/>
              <a:t>a</a:t>
            </a:r>
            <a:r>
              <a:rPr lang="en-US" sz="3200" dirty="0"/>
              <a:t> = 0 0 … 0 0 0 0 1 0 1 0 1 0.</a:t>
            </a:r>
            <a:endParaRPr lang="en-SG" sz="3200" dirty="0"/>
          </a:p>
          <a:p>
            <a:pPr>
              <a:tabLst>
                <a:tab pos="620713" algn="l"/>
              </a:tabLst>
            </a:pPr>
            <a:r>
              <a:rPr lang="en-US" sz="3200" i="1" dirty="0"/>
              <a:t>b</a:t>
            </a:r>
            <a:r>
              <a:rPr lang="en-US" sz="3200" dirty="0"/>
              <a:t> = 0 0 … 0 0 </a:t>
            </a:r>
            <a:r>
              <a:rPr lang="en-US" sz="3200" u="sng" dirty="0"/>
              <a:t>1</a:t>
            </a:r>
            <a:r>
              <a:rPr lang="en-US" sz="3200" dirty="0"/>
              <a:t> 1 0 1 </a:t>
            </a:r>
            <a:r>
              <a:rPr lang="en-US" sz="3200" u="sng" dirty="0"/>
              <a:t>1</a:t>
            </a:r>
            <a:r>
              <a:rPr lang="en-US" sz="3200" dirty="0"/>
              <a:t> 1 </a:t>
            </a:r>
            <a:r>
              <a:rPr lang="en-US" sz="3200" u="sng" dirty="0"/>
              <a:t>0</a:t>
            </a:r>
            <a:r>
              <a:rPr lang="en-US" sz="3200" dirty="0"/>
              <a:t> 0.</a:t>
            </a:r>
            <a:endParaRPr lang="en-SG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B33F4F-A0B8-412B-8A8E-8D5E4DB9BBB5}"/>
              </a:ext>
            </a:extLst>
          </p:cNvPr>
          <p:cNvSpPr txBox="1"/>
          <p:nvPr/>
        </p:nvSpPr>
        <p:spPr>
          <a:xfrm>
            <a:off x="1175383" y="3430897"/>
            <a:ext cx="51070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20713" algn="l"/>
              </a:tabLst>
            </a:pPr>
            <a:r>
              <a:rPr lang="en-SG" sz="3200" dirty="0"/>
              <a:t>After</a:t>
            </a:r>
          </a:p>
          <a:p>
            <a:pPr>
              <a:tabLst>
                <a:tab pos="620713" algn="l"/>
              </a:tabLst>
            </a:pPr>
            <a:r>
              <a:rPr lang="en-US" sz="3200" i="1" dirty="0"/>
              <a:t>a</a:t>
            </a:r>
            <a:r>
              <a:rPr lang="en-US" sz="3200" dirty="0"/>
              <a:t> = 0 0 … 0 0 </a:t>
            </a:r>
            <a:r>
              <a:rPr lang="en-US" sz="3200" dirty="0">
                <a:solidFill>
                  <a:srgbClr val="C00000"/>
                </a:solidFill>
              </a:rPr>
              <a:t>1</a:t>
            </a:r>
            <a:r>
              <a:rPr lang="en-US" sz="3200" dirty="0"/>
              <a:t> 0 1 0 </a:t>
            </a:r>
            <a:r>
              <a:rPr lang="en-US" sz="3200" dirty="0">
                <a:solidFill>
                  <a:srgbClr val="C00000"/>
                </a:solidFill>
              </a:rPr>
              <a:t>1</a:t>
            </a:r>
            <a:r>
              <a:rPr lang="en-US" sz="3200" dirty="0"/>
              <a:t> 0 </a:t>
            </a:r>
            <a:r>
              <a:rPr lang="en-US" sz="3200" dirty="0">
                <a:solidFill>
                  <a:srgbClr val="C00000"/>
                </a:solidFill>
              </a:rPr>
              <a:t>0</a:t>
            </a:r>
            <a:r>
              <a:rPr lang="en-US" sz="3200" dirty="0"/>
              <a:t> 0.</a:t>
            </a:r>
            <a:endParaRPr lang="en-SG" sz="3200" dirty="0"/>
          </a:p>
          <a:p>
            <a:pPr>
              <a:tabLst>
                <a:tab pos="620713" algn="l"/>
              </a:tabLst>
            </a:pPr>
            <a:r>
              <a:rPr lang="en-US" sz="3200" i="1" dirty="0"/>
              <a:t>b</a:t>
            </a:r>
            <a:r>
              <a:rPr lang="en-US" sz="3200" dirty="0"/>
              <a:t> = 0 0 … 0 0 </a:t>
            </a:r>
            <a:r>
              <a:rPr lang="en-US" sz="3200" u="sng" dirty="0"/>
              <a:t>1</a:t>
            </a:r>
            <a:r>
              <a:rPr lang="en-US" sz="3200" dirty="0"/>
              <a:t> 1 0 1 </a:t>
            </a:r>
            <a:r>
              <a:rPr lang="en-US" sz="3200" u="sng" dirty="0"/>
              <a:t>1</a:t>
            </a:r>
            <a:r>
              <a:rPr lang="en-US" sz="3200" dirty="0"/>
              <a:t> 1 </a:t>
            </a:r>
            <a:r>
              <a:rPr lang="en-US" sz="3200" u="sng" dirty="0"/>
              <a:t>0</a:t>
            </a:r>
            <a:r>
              <a:rPr lang="en-US" sz="3200" dirty="0"/>
              <a:t> 0.</a:t>
            </a:r>
            <a:endParaRPr lang="en-SG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6656833" y="2819098"/>
            <a:ext cx="4965192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682625" algn="l"/>
                <a:tab pos="2286000" algn="l"/>
                <a:tab pos="3886200" algn="l"/>
              </a:tabLst>
            </a:pPr>
            <a:r>
              <a:rPr lang="en-US" sz="2400" dirty="0" err="1">
                <a:solidFill>
                  <a:srgbClr val="006600"/>
                </a:solidFill>
              </a:rPr>
              <a:t>andi</a:t>
            </a:r>
            <a:r>
              <a:rPr lang="en-US" sz="2400" dirty="0">
                <a:solidFill>
                  <a:srgbClr val="006600"/>
                </a:solidFill>
              </a:rPr>
              <a:t> 	$</a:t>
            </a:r>
            <a:r>
              <a:rPr lang="en-US" sz="2400" dirty="0" err="1">
                <a:solidFill>
                  <a:srgbClr val="006600"/>
                </a:solidFill>
              </a:rPr>
              <a:t>t0</a:t>
            </a:r>
            <a:r>
              <a:rPr lang="en-US" sz="2400" dirty="0">
                <a:solidFill>
                  <a:srgbClr val="006600"/>
                </a:solidFill>
              </a:rPr>
              <a:t>, $</a:t>
            </a:r>
            <a:r>
              <a:rPr lang="en-US" sz="2400" dirty="0" err="1">
                <a:solidFill>
                  <a:srgbClr val="006600"/>
                </a:solidFill>
              </a:rPr>
              <a:t>s1</a:t>
            </a:r>
            <a:r>
              <a:rPr lang="en-US" sz="2400" dirty="0">
                <a:solidFill>
                  <a:srgbClr val="006600"/>
                </a:solidFill>
              </a:rPr>
              <a:t>, </a:t>
            </a:r>
            <a:r>
              <a:rPr lang="en-US" sz="2400" dirty="0" err="1">
                <a:solidFill>
                  <a:srgbClr val="006600"/>
                </a:solidFill>
              </a:rPr>
              <a:t>0b0000000010001010</a:t>
            </a:r>
            <a:endParaRPr lang="en-US" sz="2400" dirty="0">
              <a:solidFill>
                <a:srgbClr val="006600"/>
              </a:solidFill>
            </a:endParaRPr>
          </a:p>
          <a:p>
            <a:pPr>
              <a:tabLst>
                <a:tab pos="682625" algn="l"/>
                <a:tab pos="2286000" algn="l"/>
                <a:tab pos="3886200" algn="l"/>
              </a:tabLst>
            </a:pPr>
            <a:r>
              <a:rPr lang="en-US" sz="2400" dirty="0" err="1">
                <a:solidFill>
                  <a:srgbClr val="0000FF"/>
                </a:solidFill>
              </a:rPr>
              <a:t>lui</a:t>
            </a:r>
            <a:r>
              <a:rPr lang="en-US" sz="2400" dirty="0">
                <a:solidFill>
                  <a:srgbClr val="0000FF"/>
                </a:solidFill>
              </a:rPr>
              <a:t> 	$</a:t>
            </a:r>
            <a:r>
              <a:rPr lang="en-US" sz="2400" dirty="0" err="1">
                <a:solidFill>
                  <a:srgbClr val="0000FF"/>
                </a:solidFill>
              </a:rPr>
              <a:t>t1</a:t>
            </a:r>
            <a:r>
              <a:rPr lang="en-US" sz="2400" dirty="0">
                <a:solidFill>
                  <a:srgbClr val="0000FF"/>
                </a:solidFill>
              </a:rPr>
              <a:t>, </a:t>
            </a:r>
            <a:r>
              <a:rPr lang="en-US" sz="2400" dirty="0" err="1">
                <a:solidFill>
                  <a:srgbClr val="0000FF"/>
                </a:solidFill>
              </a:rPr>
              <a:t>0b1111111111111111</a:t>
            </a:r>
            <a:endParaRPr lang="en-US" sz="2400" dirty="0">
              <a:solidFill>
                <a:srgbClr val="0000FF"/>
              </a:solidFill>
            </a:endParaRPr>
          </a:p>
          <a:p>
            <a:pPr>
              <a:tabLst>
                <a:tab pos="682625" algn="l"/>
                <a:tab pos="2286000" algn="l"/>
                <a:tab pos="3886200" algn="l"/>
              </a:tabLst>
            </a:pPr>
            <a:r>
              <a:rPr lang="en-US" sz="2400" dirty="0" err="1">
                <a:solidFill>
                  <a:srgbClr val="0000FF"/>
                </a:solidFill>
              </a:rPr>
              <a:t>ori</a:t>
            </a:r>
            <a:r>
              <a:rPr lang="en-US" sz="2400" dirty="0">
                <a:solidFill>
                  <a:srgbClr val="0000FF"/>
                </a:solidFill>
              </a:rPr>
              <a:t> 	$</a:t>
            </a:r>
            <a:r>
              <a:rPr lang="en-US" sz="2400" dirty="0" err="1">
                <a:solidFill>
                  <a:srgbClr val="0000FF"/>
                </a:solidFill>
              </a:rPr>
              <a:t>t1</a:t>
            </a:r>
            <a:r>
              <a:rPr lang="en-US" sz="2400" dirty="0">
                <a:solidFill>
                  <a:srgbClr val="0000FF"/>
                </a:solidFill>
              </a:rPr>
              <a:t>, $</a:t>
            </a:r>
            <a:r>
              <a:rPr lang="en-US" sz="2400" dirty="0" err="1">
                <a:solidFill>
                  <a:srgbClr val="0000FF"/>
                </a:solidFill>
              </a:rPr>
              <a:t>t1</a:t>
            </a:r>
            <a:r>
              <a:rPr lang="en-US" sz="2400" dirty="0">
                <a:solidFill>
                  <a:srgbClr val="0000FF"/>
                </a:solidFill>
              </a:rPr>
              <a:t>, </a:t>
            </a:r>
            <a:r>
              <a:rPr lang="en-US" sz="2400" dirty="0" err="1">
                <a:solidFill>
                  <a:srgbClr val="0000FF"/>
                </a:solidFill>
              </a:rPr>
              <a:t>0b1111111101110101</a:t>
            </a:r>
            <a:r>
              <a:rPr lang="en-US" sz="2400" dirty="0">
                <a:solidFill>
                  <a:srgbClr val="0000FF"/>
                </a:solidFill>
              </a:rPr>
              <a:t>	</a:t>
            </a:r>
            <a:endParaRPr lang="en-US" sz="2400" dirty="0">
              <a:solidFill>
                <a:srgbClr val="7030A0"/>
              </a:solidFill>
            </a:endParaRPr>
          </a:p>
          <a:p>
            <a:pPr>
              <a:tabLst>
                <a:tab pos="682625" algn="l"/>
                <a:tab pos="2286000" algn="l"/>
                <a:tab pos="3886200" algn="l"/>
              </a:tabLst>
            </a:pPr>
            <a:r>
              <a:rPr lang="en-US" sz="2400" dirty="0">
                <a:solidFill>
                  <a:srgbClr val="7030A0"/>
                </a:solidFill>
              </a:rPr>
              <a:t>and   $</a:t>
            </a:r>
            <a:r>
              <a:rPr lang="en-US" sz="2400" dirty="0" err="1">
                <a:solidFill>
                  <a:srgbClr val="7030A0"/>
                </a:solidFill>
              </a:rPr>
              <a:t>s0</a:t>
            </a:r>
            <a:r>
              <a:rPr lang="en-US" sz="2400" dirty="0">
                <a:solidFill>
                  <a:srgbClr val="7030A0"/>
                </a:solidFill>
              </a:rPr>
              <a:t>, $</a:t>
            </a:r>
            <a:r>
              <a:rPr lang="en-US" sz="2400" dirty="0" err="1">
                <a:solidFill>
                  <a:srgbClr val="7030A0"/>
                </a:solidFill>
              </a:rPr>
              <a:t>s0</a:t>
            </a:r>
            <a:r>
              <a:rPr lang="en-US" sz="2400" dirty="0">
                <a:solidFill>
                  <a:srgbClr val="7030A0"/>
                </a:solidFill>
              </a:rPr>
              <a:t>, $</a:t>
            </a:r>
            <a:r>
              <a:rPr lang="en-US" sz="2400" dirty="0" err="1">
                <a:solidFill>
                  <a:srgbClr val="7030A0"/>
                </a:solidFill>
              </a:rPr>
              <a:t>t1</a:t>
            </a:r>
            <a:endParaRPr lang="en-US" sz="2400" dirty="0">
              <a:solidFill>
                <a:srgbClr val="0000FF"/>
              </a:solidFill>
            </a:endParaRPr>
          </a:p>
          <a:p>
            <a:pPr>
              <a:tabLst>
                <a:tab pos="682625" algn="l"/>
                <a:tab pos="2286000" algn="l"/>
                <a:tab pos="3886200" algn="l"/>
              </a:tabLst>
            </a:pPr>
            <a:r>
              <a:rPr lang="en-US" sz="2400" dirty="0"/>
              <a:t>or      $</a:t>
            </a:r>
            <a:r>
              <a:rPr lang="en-US" sz="2400" dirty="0" err="1"/>
              <a:t>s0</a:t>
            </a:r>
            <a:r>
              <a:rPr lang="en-US" sz="2400" dirty="0"/>
              <a:t>, $</a:t>
            </a:r>
            <a:r>
              <a:rPr lang="en-US" sz="2400" dirty="0" err="1"/>
              <a:t>s0</a:t>
            </a:r>
            <a:r>
              <a:rPr lang="en-US" sz="2400" dirty="0"/>
              <a:t>, $</a:t>
            </a:r>
            <a:r>
              <a:rPr lang="en-US" sz="2400" dirty="0" err="1"/>
              <a:t>t0</a:t>
            </a:r>
            <a:r>
              <a:rPr lang="en-US" sz="2400" dirty="0"/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83059" y="244387"/>
            <a:ext cx="1676510" cy="1015663"/>
          </a:xfrm>
          <a:prstGeom prst="rect">
            <a:avLst/>
          </a:prstGeom>
          <a:solidFill>
            <a:srgbClr val="CCECFF"/>
          </a:solidFill>
          <a:ln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Recall: </a:t>
            </a:r>
          </a:p>
          <a:p>
            <a:pPr marL="0" lvl="1">
              <a:tabLst>
                <a:tab pos="173038" algn="l"/>
              </a:tabLst>
            </a:pPr>
            <a:r>
              <a:rPr lang="en-US" sz="2000" dirty="0"/>
              <a:t>	</a:t>
            </a:r>
            <a:r>
              <a:rPr lang="en-US" sz="2000" i="1" dirty="0"/>
              <a:t>x</a:t>
            </a:r>
            <a:r>
              <a:rPr lang="en-US" sz="2000" dirty="0"/>
              <a:t> AND 0 = 0</a:t>
            </a:r>
          </a:p>
          <a:p>
            <a:pPr marL="0" lvl="1">
              <a:tabLst>
                <a:tab pos="173038" algn="l"/>
              </a:tabLst>
            </a:pPr>
            <a:r>
              <a:rPr lang="en-US" sz="2000" dirty="0"/>
              <a:t>	</a:t>
            </a:r>
            <a:r>
              <a:rPr lang="en-US" sz="2000" i="1" dirty="0"/>
              <a:t>x</a:t>
            </a:r>
            <a:r>
              <a:rPr lang="en-US" sz="2000" dirty="0"/>
              <a:t> AND 1 = </a:t>
            </a:r>
            <a:r>
              <a:rPr lang="en-US" sz="2000" i="1" dirty="0"/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1919" y="244387"/>
            <a:ext cx="1481273" cy="1015663"/>
          </a:xfrm>
          <a:prstGeom prst="rect">
            <a:avLst/>
          </a:prstGeom>
          <a:solidFill>
            <a:srgbClr val="CCECFF"/>
          </a:solidFill>
          <a:ln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Recall: </a:t>
            </a:r>
          </a:p>
          <a:p>
            <a:pPr marL="0" lvl="1">
              <a:tabLst>
                <a:tab pos="173038" algn="l"/>
              </a:tabLst>
            </a:pPr>
            <a:r>
              <a:rPr lang="en-US" sz="2000" dirty="0"/>
              <a:t>	</a:t>
            </a:r>
            <a:r>
              <a:rPr lang="en-US" sz="2000" i="1" dirty="0"/>
              <a:t>x</a:t>
            </a:r>
            <a:r>
              <a:rPr lang="en-US" sz="2000" dirty="0"/>
              <a:t> OR 0 = </a:t>
            </a:r>
            <a:r>
              <a:rPr lang="en-US" sz="2000" i="1" dirty="0"/>
              <a:t>x</a:t>
            </a:r>
          </a:p>
          <a:p>
            <a:pPr marL="0" lvl="1">
              <a:tabLst>
                <a:tab pos="173038" algn="l"/>
              </a:tabLst>
            </a:pPr>
            <a:r>
              <a:rPr lang="en-US" sz="2000" dirty="0"/>
              <a:t>	</a:t>
            </a:r>
            <a:r>
              <a:rPr lang="en-US" sz="2000" i="1" dirty="0"/>
              <a:t>x</a:t>
            </a:r>
            <a:r>
              <a:rPr lang="en-US" sz="2000" dirty="0"/>
              <a:t> OR 1 = 1</a:t>
            </a:r>
          </a:p>
        </p:txBody>
      </p:sp>
    </p:spTree>
    <p:extLst>
      <p:ext uri="{BB962C8B-B14F-4D97-AF65-F5344CB8AC3E}">
        <p14:creationId xmlns:p14="http://schemas.microsoft.com/office/powerpoint/2010/main" val="336341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8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4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Q1.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98286" y="260234"/>
            <a:ext cx="80134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SG" sz="3200" dirty="0"/>
              <a:t>(c) 	Make bits 2, 4 and 8 of </a:t>
            </a:r>
            <a:r>
              <a:rPr lang="en-SG" sz="3200" i="1" dirty="0"/>
              <a:t>c</a:t>
            </a:r>
            <a:r>
              <a:rPr lang="en-SG" sz="3200" dirty="0"/>
              <a:t> the inverse of bits 1, 3 and 7 of </a:t>
            </a:r>
            <a:r>
              <a:rPr lang="en-SG" sz="3200" i="1" dirty="0"/>
              <a:t>b</a:t>
            </a:r>
            <a:r>
              <a:rPr lang="en-SG" sz="3200" dirty="0"/>
              <a:t>.</a:t>
            </a:r>
            <a:endParaRPr lang="en-SG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33F4F-A0B8-412B-8A8E-8D5E4DB9BBB5}"/>
              </a:ext>
            </a:extLst>
          </p:cNvPr>
          <p:cNvSpPr txBox="1"/>
          <p:nvPr/>
        </p:nvSpPr>
        <p:spPr>
          <a:xfrm>
            <a:off x="1098286" y="1551980"/>
            <a:ext cx="84975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20713" algn="l"/>
              </a:tabLst>
            </a:pPr>
            <a:r>
              <a:rPr lang="en-SG" sz="3200" dirty="0"/>
              <a:t>Example: Before </a:t>
            </a:r>
            <a:r>
              <a:rPr lang="en-SG" sz="2400" dirty="0"/>
              <a:t>(assume that the … part are all zeroes)</a:t>
            </a:r>
          </a:p>
          <a:p>
            <a:pPr>
              <a:tabLst>
                <a:tab pos="620713" algn="l"/>
              </a:tabLst>
            </a:pPr>
            <a:r>
              <a:rPr lang="en-US" sz="3200" i="1" dirty="0"/>
              <a:t>b</a:t>
            </a:r>
            <a:r>
              <a:rPr lang="en-US" sz="3200" dirty="0"/>
              <a:t> = 0 0 … 0 0 </a:t>
            </a:r>
            <a:r>
              <a:rPr lang="en-US" sz="3200" u="sng" dirty="0"/>
              <a:t>1</a:t>
            </a:r>
            <a:r>
              <a:rPr lang="en-US" sz="3200" dirty="0"/>
              <a:t> 1 0 1 </a:t>
            </a:r>
            <a:r>
              <a:rPr lang="en-US" sz="3200" u="sng" dirty="0"/>
              <a:t>1</a:t>
            </a:r>
            <a:r>
              <a:rPr lang="en-US" sz="3200" dirty="0"/>
              <a:t> 1 </a:t>
            </a:r>
            <a:r>
              <a:rPr lang="en-US" sz="3200" u="sng" dirty="0"/>
              <a:t>0</a:t>
            </a:r>
            <a:r>
              <a:rPr lang="en-US" sz="3200" dirty="0"/>
              <a:t> 0.</a:t>
            </a:r>
          </a:p>
          <a:p>
            <a:pPr>
              <a:tabLst>
                <a:tab pos="620713" algn="l"/>
              </a:tabLst>
            </a:pPr>
            <a:r>
              <a:rPr lang="en-US" sz="3200" i="1" dirty="0"/>
              <a:t>c</a:t>
            </a:r>
            <a:r>
              <a:rPr lang="en-US" sz="3200" dirty="0"/>
              <a:t> = 0 0 … 0 </a:t>
            </a:r>
            <a:r>
              <a:rPr lang="en-US" sz="3200" u="sng" dirty="0"/>
              <a:t>1</a:t>
            </a:r>
            <a:r>
              <a:rPr lang="en-US" sz="3200" dirty="0"/>
              <a:t> 0 0 1 </a:t>
            </a:r>
            <a:r>
              <a:rPr lang="en-US" sz="3200" u="sng" dirty="0"/>
              <a:t>0</a:t>
            </a:r>
            <a:r>
              <a:rPr lang="en-US" sz="3200" dirty="0"/>
              <a:t> 1 </a:t>
            </a:r>
            <a:r>
              <a:rPr lang="en-US" sz="3200" u="sng" dirty="0"/>
              <a:t>0</a:t>
            </a:r>
            <a:r>
              <a:rPr lang="en-US" sz="3200" dirty="0"/>
              <a:t> 1 0.</a:t>
            </a:r>
            <a:endParaRPr lang="en-SG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B33F4F-A0B8-412B-8A8E-8D5E4DB9BBB5}"/>
              </a:ext>
            </a:extLst>
          </p:cNvPr>
          <p:cNvSpPr txBox="1"/>
          <p:nvPr/>
        </p:nvSpPr>
        <p:spPr>
          <a:xfrm>
            <a:off x="1175383" y="3430897"/>
            <a:ext cx="51070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20713" algn="l"/>
              </a:tabLst>
            </a:pPr>
            <a:r>
              <a:rPr lang="en-SG" sz="3200" dirty="0"/>
              <a:t>After</a:t>
            </a:r>
          </a:p>
          <a:p>
            <a:pPr>
              <a:tabLst>
                <a:tab pos="620713" algn="l"/>
              </a:tabLst>
            </a:pPr>
            <a:r>
              <a:rPr lang="en-US" sz="3200" i="1" dirty="0"/>
              <a:t>b</a:t>
            </a:r>
            <a:r>
              <a:rPr lang="en-US" sz="3200" dirty="0"/>
              <a:t> = 0 0 … 0 0 </a:t>
            </a:r>
            <a:r>
              <a:rPr lang="en-US" sz="3200" u="sng" dirty="0"/>
              <a:t>1</a:t>
            </a:r>
            <a:r>
              <a:rPr lang="en-US" sz="3200" dirty="0"/>
              <a:t> 1 0 1 </a:t>
            </a:r>
            <a:r>
              <a:rPr lang="en-US" sz="3200" u="sng" dirty="0"/>
              <a:t>1</a:t>
            </a:r>
            <a:r>
              <a:rPr lang="en-US" sz="3200" dirty="0"/>
              <a:t> 1 </a:t>
            </a:r>
            <a:r>
              <a:rPr lang="en-US" sz="3200" u="sng" dirty="0"/>
              <a:t>0</a:t>
            </a:r>
            <a:r>
              <a:rPr lang="en-US" sz="3200" dirty="0"/>
              <a:t> 0.</a:t>
            </a:r>
          </a:p>
          <a:p>
            <a:pPr>
              <a:tabLst>
                <a:tab pos="620713" algn="l"/>
              </a:tabLst>
            </a:pPr>
            <a:r>
              <a:rPr lang="en-US" sz="3200" i="1" dirty="0"/>
              <a:t>c</a:t>
            </a:r>
            <a:r>
              <a:rPr lang="en-US" sz="3200" dirty="0"/>
              <a:t> = 0 0 … 0 </a:t>
            </a:r>
            <a:r>
              <a:rPr lang="en-US" sz="3200" u="sng" dirty="0">
                <a:solidFill>
                  <a:srgbClr val="C00000"/>
                </a:solidFill>
              </a:rPr>
              <a:t>0</a:t>
            </a:r>
            <a:r>
              <a:rPr lang="en-US" sz="3200" dirty="0"/>
              <a:t> 0 0 1 </a:t>
            </a:r>
            <a:r>
              <a:rPr lang="en-US" sz="3200" u="sng" dirty="0">
                <a:solidFill>
                  <a:srgbClr val="C00000"/>
                </a:solidFill>
              </a:rPr>
              <a:t>0</a:t>
            </a:r>
            <a:r>
              <a:rPr lang="en-US" sz="3200" dirty="0"/>
              <a:t> 1 </a:t>
            </a:r>
            <a:r>
              <a:rPr lang="en-US" sz="3200" u="sng" dirty="0">
                <a:solidFill>
                  <a:srgbClr val="C00000"/>
                </a:solidFill>
              </a:rPr>
              <a:t>1</a:t>
            </a:r>
            <a:r>
              <a:rPr lang="en-US" sz="3200" dirty="0"/>
              <a:t> 1 0.</a:t>
            </a:r>
            <a:endParaRPr lang="en-SG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9442595" y="240406"/>
            <a:ext cx="1676510" cy="1015663"/>
          </a:xfrm>
          <a:prstGeom prst="rect">
            <a:avLst/>
          </a:prstGeom>
          <a:solidFill>
            <a:srgbClr val="CCECFF"/>
          </a:solidFill>
          <a:ln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Recall: </a:t>
            </a:r>
          </a:p>
          <a:p>
            <a:pPr marL="0" lvl="1">
              <a:tabLst>
                <a:tab pos="173038" algn="l"/>
              </a:tabLst>
            </a:pPr>
            <a:r>
              <a:rPr lang="en-US" sz="2000" dirty="0"/>
              <a:t>	</a:t>
            </a:r>
            <a:r>
              <a:rPr lang="en-US" sz="2000" i="1" dirty="0"/>
              <a:t>x</a:t>
            </a:r>
            <a:r>
              <a:rPr lang="en-US" sz="2000" dirty="0"/>
              <a:t> </a:t>
            </a:r>
            <a:r>
              <a:rPr lang="en-US" sz="2000" dirty="0" err="1"/>
              <a:t>XOR</a:t>
            </a:r>
            <a:r>
              <a:rPr lang="en-US" sz="2000" dirty="0"/>
              <a:t> 0 = </a:t>
            </a:r>
            <a:r>
              <a:rPr lang="en-US" sz="2000" i="1" dirty="0"/>
              <a:t>x</a:t>
            </a:r>
          </a:p>
          <a:p>
            <a:pPr marL="0" lvl="1">
              <a:tabLst>
                <a:tab pos="173038" algn="l"/>
              </a:tabLst>
            </a:pPr>
            <a:r>
              <a:rPr lang="en-US" sz="2000" dirty="0"/>
              <a:t>	</a:t>
            </a:r>
            <a:r>
              <a:rPr lang="en-US" sz="2000" i="1" dirty="0"/>
              <a:t>x</a:t>
            </a:r>
            <a:r>
              <a:rPr lang="en-US" sz="2000" dirty="0"/>
              <a:t> </a:t>
            </a:r>
            <a:r>
              <a:rPr lang="en-US" sz="2000" dirty="0" err="1"/>
              <a:t>XOR</a:t>
            </a:r>
            <a:r>
              <a:rPr lang="en-US" sz="2000" dirty="0"/>
              <a:t> 1 = </a:t>
            </a:r>
            <a:r>
              <a:rPr lang="en-US" sz="2000" i="1" dirty="0"/>
              <a:t>x'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3" y="2819098"/>
            <a:ext cx="4965192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3886200" algn="l"/>
              </a:tabLst>
            </a:pPr>
            <a:r>
              <a:rPr lang="en-US" sz="2400" dirty="0" err="1">
                <a:solidFill>
                  <a:srgbClr val="006600"/>
                </a:solidFill>
              </a:rPr>
              <a:t>xori</a:t>
            </a:r>
            <a:r>
              <a:rPr lang="en-US" sz="2400" dirty="0">
                <a:solidFill>
                  <a:srgbClr val="006600"/>
                </a:solidFill>
              </a:rPr>
              <a:t>  $</a:t>
            </a:r>
            <a:r>
              <a:rPr lang="en-US" sz="2400" dirty="0" err="1">
                <a:solidFill>
                  <a:srgbClr val="006600"/>
                </a:solidFill>
              </a:rPr>
              <a:t>t0</a:t>
            </a:r>
            <a:r>
              <a:rPr lang="en-US" sz="2400" dirty="0">
                <a:solidFill>
                  <a:srgbClr val="006600"/>
                </a:solidFill>
              </a:rPr>
              <a:t>, $</a:t>
            </a:r>
            <a:r>
              <a:rPr lang="en-US" sz="2400" dirty="0" err="1">
                <a:solidFill>
                  <a:srgbClr val="006600"/>
                </a:solidFill>
              </a:rPr>
              <a:t>s1</a:t>
            </a:r>
            <a:r>
              <a:rPr lang="en-US" sz="2400" dirty="0">
                <a:solidFill>
                  <a:srgbClr val="006600"/>
                </a:solidFill>
              </a:rPr>
              <a:t>, </a:t>
            </a:r>
            <a:r>
              <a:rPr lang="en-US" sz="2400" dirty="0" err="1">
                <a:solidFill>
                  <a:srgbClr val="006600"/>
                </a:solidFill>
              </a:rPr>
              <a:t>0b10001010</a:t>
            </a:r>
            <a:endParaRPr lang="en-US" sz="2400" dirty="0">
              <a:solidFill>
                <a:srgbClr val="006600"/>
              </a:solidFill>
            </a:endParaRPr>
          </a:p>
          <a:p>
            <a:pPr>
              <a:tabLst>
                <a:tab pos="2286000" algn="l"/>
                <a:tab pos="3886200" algn="l"/>
              </a:tabLst>
            </a:pPr>
            <a:r>
              <a:rPr lang="en-US" sz="2400" dirty="0" err="1">
                <a:solidFill>
                  <a:srgbClr val="7030A0"/>
                </a:solidFill>
              </a:rPr>
              <a:t>andi</a:t>
            </a:r>
            <a:r>
              <a:rPr lang="en-US" sz="2400" dirty="0">
                <a:solidFill>
                  <a:srgbClr val="7030A0"/>
                </a:solidFill>
              </a:rPr>
              <a:t> $</a:t>
            </a:r>
            <a:r>
              <a:rPr lang="en-US" sz="2400" dirty="0" err="1">
                <a:solidFill>
                  <a:srgbClr val="7030A0"/>
                </a:solidFill>
              </a:rPr>
              <a:t>t0</a:t>
            </a:r>
            <a:r>
              <a:rPr lang="en-US" sz="2400" dirty="0">
                <a:solidFill>
                  <a:srgbClr val="7030A0"/>
                </a:solidFill>
              </a:rPr>
              <a:t>, $</a:t>
            </a:r>
            <a:r>
              <a:rPr lang="en-US" sz="2400" dirty="0" err="1">
                <a:solidFill>
                  <a:srgbClr val="7030A0"/>
                </a:solidFill>
              </a:rPr>
              <a:t>t0</a:t>
            </a:r>
            <a:r>
              <a:rPr lang="en-US" sz="2400" dirty="0">
                <a:solidFill>
                  <a:srgbClr val="7030A0"/>
                </a:solidFill>
              </a:rPr>
              <a:t>, </a:t>
            </a:r>
            <a:r>
              <a:rPr lang="en-US" sz="2400" dirty="0" err="1">
                <a:solidFill>
                  <a:srgbClr val="7030A0"/>
                </a:solidFill>
              </a:rPr>
              <a:t>0b10001010</a:t>
            </a:r>
            <a:endParaRPr lang="en-US" sz="2400" dirty="0">
              <a:solidFill>
                <a:srgbClr val="7030A0"/>
              </a:solidFill>
            </a:endParaRPr>
          </a:p>
          <a:p>
            <a:pPr>
              <a:tabLst>
                <a:tab pos="2286000" algn="l"/>
                <a:tab pos="3886200" algn="l"/>
              </a:tabLst>
            </a:pPr>
            <a:r>
              <a:rPr lang="en-US" sz="2400" dirty="0" err="1">
                <a:solidFill>
                  <a:srgbClr val="0000FF"/>
                </a:solidFill>
              </a:rPr>
              <a:t>sll</a:t>
            </a:r>
            <a:r>
              <a:rPr lang="en-US" sz="2400" dirty="0">
                <a:solidFill>
                  <a:srgbClr val="0000FF"/>
                </a:solidFill>
              </a:rPr>
              <a:t>     $</a:t>
            </a:r>
            <a:r>
              <a:rPr lang="en-US" sz="2400" dirty="0" err="1">
                <a:solidFill>
                  <a:srgbClr val="0000FF"/>
                </a:solidFill>
              </a:rPr>
              <a:t>t0</a:t>
            </a:r>
            <a:r>
              <a:rPr lang="en-US" sz="2400" dirty="0">
                <a:solidFill>
                  <a:srgbClr val="0000FF"/>
                </a:solidFill>
              </a:rPr>
              <a:t>, $</a:t>
            </a:r>
            <a:r>
              <a:rPr lang="en-US" sz="2400" dirty="0" err="1">
                <a:solidFill>
                  <a:srgbClr val="0000FF"/>
                </a:solidFill>
              </a:rPr>
              <a:t>t0</a:t>
            </a:r>
            <a:r>
              <a:rPr lang="en-US" sz="2400" dirty="0">
                <a:solidFill>
                  <a:srgbClr val="0000FF"/>
                </a:solidFill>
              </a:rPr>
              <a:t>, 1</a:t>
            </a:r>
          </a:p>
          <a:p>
            <a:pPr>
              <a:tabLst>
                <a:tab pos="2286000" algn="l"/>
                <a:tab pos="3886200" algn="l"/>
              </a:tabLst>
            </a:pP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lui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    $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t1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, $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t1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0b1111111111111111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tabLst>
                <a:tab pos="2286000" algn="l"/>
                <a:tab pos="3886200" algn="l"/>
              </a:tabLst>
            </a:pP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ori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    $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t1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, $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t1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0b1111111011101011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tabLst>
                <a:tab pos="2286000" algn="l"/>
                <a:tab pos="3886200" algn="l"/>
              </a:tabLst>
            </a:pPr>
            <a:r>
              <a:rPr lang="en-US" sz="2400" dirty="0">
                <a:solidFill>
                  <a:srgbClr val="C00000"/>
                </a:solidFill>
              </a:rPr>
              <a:t>and   $</a:t>
            </a:r>
            <a:r>
              <a:rPr lang="en-US" sz="2400" dirty="0" err="1">
                <a:solidFill>
                  <a:srgbClr val="C00000"/>
                </a:solidFill>
              </a:rPr>
              <a:t>s2</a:t>
            </a:r>
            <a:r>
              <a:rPr lang="en-US" sz="2400" dirty="0">
                <a:solidFill>
                  <a:srgbClr val="C00000"/>
                </a:solidFill>
              </a:rPr>
              <a:t>, $</a:t>
            </a:r>
            <a:r>
              <a:rPr lang="en-US" sz="2400" dirty="0" err="1">
                <a:solidFill>
                  <a:srgbClr val="C00000"/>
                </a:solidFill>
              </a:rPr>
              <a:t>s2</a:t>
            </a:r>
            <a:r>
              <a:rPr lang="en-US" sz="2400" dirty="0">
                <a:solidFill>
                  <a:srgbClr val="C00000"/>
                </a:solidFill>
              </a:rPr>
              <a:t>, $</a:t>
            </a:r>
            <a:r>
              <a:rPr lang="en-US" sz="2400" dirty="0" err="1">
                <a:solidFill>
                  <a:srgbClr val="C00000"/>
                </a:solidFill>
              </a:rPr>
              <a:t>t1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tabLst>
                <a:tab pos="2286000" algn="l"/>
                <a:tab pos="3886200" algn="l"/>
              </a:tabLst>
            </a:pPr>
            <a:r>
              <a:rPr lang="en-US" sz="2400" dirty="0"/>
              <a:t>or      $</a:t>
            </a:r>
            <a:r>
              <a:rPr lang="en-US" sz="2400" dirty="0" err="1"/>
              <a:t>s2</a:t>
            </a:r>
            <a:r>
              <a:rPr lang="en-US" sz="2400" dirty="0"/>
              <a:t>, $</a:t>
            </a:r>
            <a:r>
              <a:rPr lang="en-US" sz="2400" dirty="0" err="1"/>
              <a:t>s2</a:t>
            </a:r>
            <a:r>
              <a:rPr lang="en-US" sz="2400" dirty="0"/>
              <a:t>, $</a:t>
            </a:r>
            <a:r>
              <a:rPr lang="en-US" sz="2400" dirty="0" err="1"/>
              <a:t>t0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817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5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F6E8-CDB0-44C2-85CF-7F25BEECC6EA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Q2.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6" y="260234"/>
            <a:ext cx="10896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$s0 is a 31-bit binary sequence with MSB=0.</a:t>
            </a:r>
            <a:endParaRPr lang="en-SG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2315DF-DCF3-474C-B40E-42C8E861F10D}"/>
              </a:ext>
            </a:extLst>
          </p:cNvPr>
          <p:cNvSpPr txBox="1"/>
          <p:nvPr/>
        </p:nvSpPr>
        <p:spPr>
          <a:xfrm>
            <a:off x="5499509" y="1218448"/>
            <a:ext cx="3999494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Need to trace the MIPS code with an example to find out what it does.</a:t>
            </a: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477202" y="915233"/>
            <a:ext cx="3815099" cy="33340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  $t0, $s0, $zero</a:t>
            </a:r>
            <a:r>
              <a:rPr lang="en-US" sz="1600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lui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$t1, 0x8000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 err="1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lp</a:t>
            </a: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beq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$t0, $zero, </a:t>
            </a: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andi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$t2, $t0, 1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beq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$t2, $zero, </a:t>
            </a: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xor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$s0, $s0, $t1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s:</a:t>
            </a: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srl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$t0, $t0, 1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    </a:t>
            </a:r>
            <a:r>
              <a:rPr lang="en-US" b="1" dirty="0" err="1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lp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e: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28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6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F6E8-CDB0-44C2-85CF-7F25BEECC6EA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Q2.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6" y="260234"/>
            <a:ext cx="10896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$s0 is a 31-bit binary sequence with MSB=0.</a:t>
            </a:r>
            <a:endParaRPr lang="en-SG" sz="2400" dirty="0"/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477203" y="915233"/>
            <a:ext cx="3664492" cy="328024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  $t0, $s0, $zero</a:t>
            </a:r>
            <a:r>
              <a:rPr lang="en-US" sz="1600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lui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$t1, 0x8000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 err="1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lp</a:t>
            </a: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beq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$t0, $zero, </a:t>
            </a: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andi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$t2, $t0, 1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beq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$t2, $zero, </a:t>
            </a: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xor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$s0, $s0, $t1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s:</a:t>
            </a: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srl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$t0, $t0, 1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    </a:t>
            </a:r>
            <a:r>
              <a:rPr lang="en-US" b="1" dirty="0" err="1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lp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e: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33138" y="1204856"/>
            <a:ext cx="1011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$s0 = </a:t>
            </a:r>
            <a:endParaRPr lang="en-SG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5113748" y="1204856"/>
            <a:ext cx="3775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    0 … 0 0 0 1 1 1 1 1</a:t>
            </a:r>
            <a:endParaRPr lang="en-SG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4941626" y="915233"/>
            <a:ext cx="656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MSB</a:t>
            </a:r>
            <a:endParaRPr lang="en-SG" sz="2000" dirty="0">
              <a:solidFill>
                <a:srgbClr val="C00000"/>
              </a:solidFill>
            </a:endParaRPr>
          </a:p>
        </p:txBody>
      </p:sp>
      <p:sp>
        <p:nvSpPr>
          <p:cNvPr id="10" name="Arrow: Right 6">
            <a:extLst>
              <a:ext uri="{FF2B5EF4-FFF2-40B4-BE49-F238E27FC236}">
                <a16:creationId xmlns:a16="http://schemas.microsoft.com/office/drawing/2014/main" id="{1A15B83D-10EE-45BA-A367-E35DA247D08B}"/>
              </a:ext>
            </a:extLst>
          </p:cNvPr>
          <p:cNvSpPr/>
          <p:nvPr/>
        </p:nvSpPr>
        <p:spPr>
          <a:xfrm>
            <a:off x="251293" y="986131"/>
            <a:ext cx="344244" cy="2187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/>
          <p:cNvSpPr txBox="1"/>
          <p:nvPr/>
        </p:nvSpPr>
        <p:spPr>
          <a:xfrm>
            <a:off x="4233138" y="2158488"/>
            <a:ext cx="1011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$t0 = </a:t>
            </a:r>
            <a:endParaRPr lang="en-SG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5113747" y="2158488"/>
            <a:ext cx="3775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    0 … 0 0 0 1 1 1 1 1</a:t>
            </a:r>
            <a:endParaRPr lang="en-SG" sz="2800" dirty="0"/>
          </a:p>
        </p:txBody>
      </p:sp>
      <p:sp>
        <p:nvSpPr>
          <p:cNvPr id="14" name="Arrow: Right 6">
            <a:extLst>
              <a:ext uri="{FF2B5EF4-FFF2-40B4-BE49-F238E27FC236}">
                <a16:creationId xmlns:a16="http://schemas.microsoft.com/office/drawing/2014/main" id="{1A15B83D-10EE-45BA-A367-E35DA247D08B}"/>
              </a:ext>
            </a:extLst>
          </p:cNvPr>
          <p:cNvSpPr/>
          <p:nvPr/>
        </p:nvSpPr>
        <p:spPr>
          <a:xfrm>
            <a:off x="251293" y="1337308"/>
            <a:ext cx="344244" cy="2583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/>
          <p:cNvSpPr txBox="1"/>
          <p:nvPr/>
        </p:nvSpPr>
        <p:spPr>
          <a:xfrm>
            <a:off x="4233138" y="3306603"/>
            <a:ext cx="1011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$t1 = </a:t>
            </a:r>
            <a:endParaRPr lang="en-SG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5163671" y="3313085"/>
            <a:ext cx="6690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1000 0000 0000 0000 0000 0000 0000 0000</a:t>
            </a:r>
            <a:endParaRPr lang="en-SG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506532" y="1595623"/>
            <a:ext cx="78530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205189" y="3792077"/>
            <a:ext cx="308895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row: Right 6">
            <a:extLst>
              <a:ext uri="{FF2B5EF4-FFF2-40B4-BE49-F238E27FC236}">
                <a16:creationId xmlns:a16="http://schemas.microsoft.com/office/drawing/2014/main" id="{1A15B83D-10EE-45BA-A367-E35DA247D08B}"/>
              </a:ext>
            </a:extLst>
          </p:cNvPr>
          <p:cNvSpPr/>
          <p:nvPr/>
        </p:nvSpPr>
        <p:spPr>
          <a:xfrm>
            <a:off x="251293" y="1678153"/>
            <a:ext cx="344244" cy="2187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Arrow: Right 6">
            <a:extLst>
              <a:ext uri="{FF2B5EF4-FFF2-40B4-BE49-F238E27FC236}">
                <a16:creationId xmlns:a16="http://schemas.microsoft.com/office/drawing/2014/main" id="{1A15B83D-10EE-45BA-A367-E35DA247D08B}"/>
              </a:ext>
            </a:extLst>
          </p:cNvPr>
          <p:cNvSpPr/>
          <p:nvPr/>
        </p:nvSpPr>
        <p:spPr>
          <a:xfrm>
            <a:off x="251293" y="2029330"/>
            <a:ext cx="344244" cy="2583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TextBox 23"/>
          <p:cNvSpPr txBox="1"/>
          <p:nvPr/>
        </p:nvSpPr>
        <p:spPr>
          <a:xfrm>
            <a:off x="4233138" y="4117964"/>
            <a:ext cx="1011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$t2 = </a:t>
            </a:r>
            <a:endParaRPr lang="en-SG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5113748" y="4107840"/>
            <a:ext cx="3571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    0 … 0 0 0 0 0 0 0 1</a:t>
            </a:r>
            <a:endParaRPr lang="en-SG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8487639" y="4049840"/>
            <a:ext cx="35070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does </a:t>
            </a:r>
            <a:r>
              <a:rPr lang="en-US" sz="2000" b="1" dirty="0" err="1"/>
              <a:t>andi</a:t>
            </a:r>
            <a:r>
              <a:rPr lang="en-US" sz="2000" dirty="0"/>
              <a:t> do?</a:t>
            </a:r>
          </a:p>
          <a:p>
            <a:r>
              <a:rPr lang="en-US" sz="2000" dirty="0"/>
              <a:t>Extracts the LSB of $t0 into $t2</a:t>
            </a:r>
            <a:endParaRPr lang="en-SG" sz="2000" dirty="0"/>
          </a:p>
        </p:txBody>
      </p:sp>
      <p:sp>
        <p:nvSpPr>
          <p:cNvPr id="26" name="Oval 25"/>
          <p:cNvSpPr/>
          <p:nvPr/>
        </p:nvSpPr>
        <p:spPr>
          <a:xfrm>
            <a:off x="8100508" y="2158488"/>
            <a:ext cx="290457" cy="529702"/>
          </a:xfrm>
          <a:prstGeom prst="ellipse">
            <a:avLst/>
          </a:prstGeom>
          <a:noFill/>
          <a:ln w="28575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Arrow: Right 6">
            <a:extLst>
              <a:ext uri="{FF2B5EF4-FFF2-40B4-BE49-F238E27FC236}">
                <a16:creationId xmlns:a16="http://schemas.microsoft.com/office/drawing/2014/main" id="{1A15B83D-10EE-45BA-A367-E35DA247D08B}"/>
              </a:ext>
            </a:extLst>
          </p:cNvPr>
          <p:cNvSpPr/>
          <p:nvPr/>
        </p:nvSpPr>
        <p:spPr>
          <a:xfrm>
            <a:off x="251293" y="2352906"/>
            <a:ext cx="344244" cy="2583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" name="Arrow: Right 6">
            <a:extLst>
              <a:ext uri="{FF2B5EF4-FFF2-40B4-BE49-F238E27FC236}">
                <a16:creationId xmlns:a16="http://schemas.microsoft.com/office/drawing/2014/main" id="{1A15B83D-10EE-45BA-A367-E35DA247D08B}"/>
              </a:ext>
            </a:extLst>
          </p:cNvPr>
          <p:cNvSpPr/>
          <p:nvPr/>
        </p:nvSpPr>
        <p:spPr>
          <a:xfrm>
            <a:off x="251293" y="2717750"/>
            <a:ext cx="344244" cy="2583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TextBox 29"/>
          <p:cNvSpPr txBox="1"/>
          <p:nvPr/>
        </p:nvSpPr>
        <p:spPr>
          <a:xfrm>
            <a:off x="6010528" y="5051516"/>
            <a:ext cx="4408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does </a:t>
            </a:r>
            <a:r>
              <a:rPr lang="en-US" sz="2400" b="1" dirty="0" err="1"/>
              <a:t>xor</a:t>
            </a:r>
            <a:r>
              <a:rPr lang="en-US" sz="2400" dirty="0"/>
              <a:t> do?</a:t>
            </a:r>
          </a:p>
          <a:p>
            <a:r>
              <a:rPr lang="en-US" sz="2400" dirty="0"/>
              <a:t>It toggles the MSB of $s0 (why?)</a:t>
            </a:r>
            <a:endParaRPr lang="en-SG" sz="2400" dirty="0"/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5113746" y="1315343"/>
            <a:ext cx="404927" cy="28028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85184" y="1505897"/>
            <a:ext cx="5056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en-SG" sz="2800" dirty="0"/>
          </a:p>
        </p:txBody>
      </p:sp>
      <p:sp>
        <p:nvSpPr>
          <p:cNvPr id="34" name="Arrow: Right 6">
            <a:extLst>
              <a:ext uri="{FF2B5EF4-FFF2-40B4-BE49-F238E27FC236}">
                <a16:creationId xmlns:a16="http://schemas.microsoft.com/office/drawing/2014/main" id="{1A15B83D-10EE-45BA-A367-E35DA247D08B}"/>
              </a:ext>
            </a:extLst>
          </p:cNvPr>
          <p:cNvSpPr/>
          <p:nvPr/>
        </p:nvSpPr>
        <p:spPr>
          <a:xfrm>
            <a:off x="213638" y="3077211"/>
            <a:ext cx="344244" cy="2583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5" name="Straight Connector 34"/>
          <p:cNvCxnSpPr/>
          <p:nvPr/>
        </p:nvCxnSpPr>
        <p:spPr>
          <a:xfrm>
            <a:off x="5113746" y="2420098"/>
            <a:ext cx="366449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106541" y="2640969"/>
            <a:ext cx="3775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    0 … 0 0 0 0 1 1 1 1</a:t>
            </a:r>
            <a:endParaRPr lang="en-SG" sz="2800" dirty="0"/>
          </a:p>
        </p:txBody>
      </p:sp>
      <p:grpSp>
        <p:nvGrpSpPr>
          <p:cNvPr id="42" name="Group 41"/>
          <p:cNvGrpSpPr/>
          <p:nvPr/>
        </p:nvGrpSpPr>
        <p:grpSpPr>
          <a:xfrm>
            <a:off x="5458125" y="2581901"/>
            <a:ext cx="2662750" cy="157356"/>
            <a:chOff x="5486167" y="2555357"/>
            <a:chExt cx="2662750" cy="157356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8052098" y="2555357"/>
              <a:ext cx="96819" cy="15735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7761640" y="2555357"/>
              <a:ext cx="96819" cy="15735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7511045" y="2555357"/>
              <a:ext cx="96819" cy="15735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7228119" y="2555357"/>
              <a:ext cx="96819" cy="15735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6982600" y="2555357"/>
              <a:ext cx="96819" cy="15735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6729402" y="2555357"/>
              <a:ext cx="96819" cy="15735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6487028" y="2555357"/>
              <a:ext cx="96819" cy="15735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6195605" y="2555357"/>
              <a:ext cx="96819" cy="15735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5833090" y="2555357"/>
              <a:ext cx="96819" cy="15735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5486167" y="2555357"/>
              <a:ext cx="96819" cy="15735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/>
          <p:cNvSpPr txBox="1"/>
          <p:nvPr/>
        </p:nvSpPr>
        <p:spPr>
          <a:xfrm>
            <a:off x="8778240" y="195947"/>
            <a:ext cx="30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33CC"/>
                </a:solidFill>
              </a:rPr>
              <a:t>Example: $s0 = 31</a:t>
            </a:r>
            <a:endParaRPr lang="en-SG" sz="2800" dirty="0">
              <a:solidFill>
                <a:srgbClr val="0033CC"/>
              </a:solidFill>
            </a:endParaRPr>
          </a:p>
        </p:txBody>
      </p:sp>
      <p:sp>
        <p:nvSpPr>
          <p:cNvPr id="57" name="Freeform 56"/>
          <p:cNvSpPr/>
          <p:nvPr/>
        </p:nvSpPr>
        <p:spPr>
          <a:xfrm>
            <a:off x="8243455" y="2618509"/>
            <a:ext cx="239432" cy="1496291"/>
          </a:xfrm>
          <a:custGeom>
            <a:avLst/>
            <a:gdLst>
              <a:gd name="connsiteX0" fmla="*/ 124690 w 239432"/>
              <a:gd name="connsiteY0" fmla="*/ 0 h 1496291"/>
              <a:gd name="connsiteX1" fmla="*/ 235527 w 239432"/>
              <a:gd name="connsiteY1" fmla="*/ 914400 h 1496291"/>
              <a:gd name="connsiteX2" fmla="*/ 0 w 239432"/>
              <a:gd name="connsiteY2" fmla="*/ 1496291 h 1496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32" h="1496291">
                <a:moveTo>
                  <a:pt x="124690" y="0"/>
                </a:moveTo>
                <a:cubicBezTo>
                  <a:pt x="190499" y="332509"/>
                  <a:pt x="256309" y="665018"/>
                  <a:pt x="235527" y="914400"/>
                </a:cubicBezTo>
                <a:cubicBezTo>
                  <a:pt x="214745" y="1163782"/>
                  <a:pt x="107372" y="1330036"/>
                  <a:pt x="0" y="1496291"/>
                </a:cubicBezTo>
              </a:path>
            </a:pathLst>
          </a:custGeom>
          <a:noFill/>
          <a:ln w="28575">
            <a:solidFill>
              <a:srgbClr val="0033CC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" name="TextBox 58"/>
          <p:cNvSpPr txBox="1"/>
          <p:nvPr/>
        </p:nvSpPr>
        <p:spPr>
          <a:xfrm>
            <a:off x="251431" y="4808156"/>
            <a:ext cx="442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60066"/>
                </a:solidFill>
              </a:rPr>
              <a:t>Q: At most how many iterations?</a:t>
            </a:r>
            <a:endParaRPr lang="en-SG" sz="2400" dirty="0">
              <a:solidFill>
                <a:srgbClr val="660066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315456" y="4798373"/>
            <a:ext cx="693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31</a:t>
            </a:r>
            <a:endParaRPr lang="en-SG" sz="2400" dirty="0">
              <a:solidFill>
                <a:srgbClr val="00206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51431" y="5187999"/>
            <a:ext cx="4605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tabLst>
                <a:tab pos="360363" algn="l"/>
              </a:tabLst>
            </a:pPr>
            <a:r>
              <a:rPr lang="en-US" sz="2400" dirty="0">
                <a:solidFill>
                  <a:srgbClr val="660066"/>
                </a:solidFill>
              </a:rPr>
              <a:t>Q: What happens in each iteration?</a:t>
            </a:r>
            <a:endParaRPr lang="en-SG" sz="2400" dirty="0">
              <a:solidFill>
                <a:srgbClr val="660066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57882" y="5568767"/>
            <a:ext cx="4299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Toggle the MSB of $s0 if $t2 = 1.</a:t>
            </a:r>
            <a:endParaRPr lang="en-SG" sz="2400" dirty="0">
              <a:solidFill>
                <a:srgbClr val="00206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820583" y="818030"/>
            <a:ext cx="3196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60066"/>
                </a:solidFill>
              </a:rPr>
              <a:t>Q: What is the final value of $s0 (in hexadecimal)?</a:t>
            </a:r>
            <a:endParaRPr lang="en-SG" sz="2400" dirty="0">
              <a:solidFill>
                <a:srgbClr val="66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01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3" grpId="0"/>
      <p:bldP spid="10" grpId="0" animBg="1"/>
      <p:bldP spid="11" grpId="0"/>
      <p:bldP spid="13" grpId="0"/>
      <p:bldP spid="14" grpId="0" animBg="1"/>
      <p:bldP spid="15" grpId="0"/>
      <p:bldP spid="17" grpId="0"/>
      <p:bldP spid="22" grpId="0" animBg="1"/>
      <p:bldP spid="23" grpId="0" animBg="1"/>
      <p:bldP spid="24" grpId="0"/>
      <p:bldP spid="25" grpId="0"/>
      <p:bldP spid="20" grpId="0" build="p"/>
      <p:bldP spid="26" grpId="0" animBg="1"/>
      <p:bldP spid="28" grpId="0" animBg="1"/>
      <p:bldP spid="29" grpId="0" animBg="1"/>
      <p:bldP spid="30" grpId="0" build="p"/>
      <p:bldP spid="33" grpId="0"/>
      <p:bldP spid="34" grpId="0" animBg="1"/>
      <p:bldP spid="38" grpId="0"/>
      <p:bldP spid="57" grpId="0" animBg="1"/>
      <p:bldP spid="59" grpId="0"/>
      <p:bldP spid="62" grpId="0"/>
      <p:bldP spid="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7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F6E8-CDB0-44C2-85CF-7F25BEECC6EA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Q2.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6" y="260234"/>
            <a:ext cx="7784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$s0 is a 31-bit binary sequence with MSB=0.</a:t>
            </a:r>
            <a:endParaRPr lang="en-SG" sz="2400" dirty="0"/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477203" y="915233"/>
            <a:ext cx="3664492" cy="328024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  $t0, $s0, $zero</a:t>
            </a:r>
            <a:r>
              <a:rPr lang="en-US" sz="1600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lui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$t1, 0x8000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 err="1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lp</a:t>
            </a: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beq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$t0, $zero, </a:t>
            </a: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andi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$t2, $t0, 1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beq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$t2, $zero, </a:t>
            </a: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xor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$s0, $s0, $t1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s:</a:t>
            </a: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srl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$t0, $t0, 1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    </a:t>
            </a:r>
            <a:r>
              <a:rPr lang="en-US" b="1" dirty="0" err="1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lp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e: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33138" y="1204856"/>
            <a:ext cx="1011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$s0 = </a:t>
            </a:r>
            <a:endParaRPr lang="en-SG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5113748" y="1204856"/>
            <a:ext cx="6257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0 0001010101010101010101010101010</a:t>
            </a:r>
            <a:endParaRPr lang="en-SG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4941626" y="915233"/>
            <a:ext cx="656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MSB</a:t>
            </a:r>
            <a:endParaRPr lang="en-SG" sz="2000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33138" y="2158488"/>
            <a:ext cx="1011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$t0 = </a:t>
            </a:r>
            <a:endParaRPr lang="en-SG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4233138" y="3306603"/>
            <a:ext cx="1011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$t1 = </a:t>
            </a:r>
            <a:endParaRPr lang="en-SG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5163671" y="3313085"/>
            <a:ext cx="6690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1000 0000 0000 0000 0000 0000 0000 0000</a:t>
            </a:r>
            <a:endParaRPr lang="en-SG" sz="2800" dirty="0"/>
          </a:p>
        </p:txBody>
      </p:sp>
      <p:sp>
        <p:nvSpPr>
          <p:cNvPr id="53" name="TextBox 52"/>
          <p:cNvSpPr txBox="1"/>
          <p:nvPr/>
        </p:nvSpPr>
        <p:spPr>
          <a:xfrm>
            <a:off x="8778240" y="195947"/>
            <a:ext cx="30760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33CC"/>
                </a:solidFill>
              </a:rPr>
              <a:t>Example: </a:t>
            </a:r>
          </a:p>
          <a:p>
            <a:r>
              <a:rPr lang="en-US" sz="2800" dirty="0">
                <a:solidFill>
                  <a:srgbClr val="0033CC"/>
                </a:solidFill>
              </a:rPr>
              <a:t>$s0 = 0x0AAAAAAA</a:t>
            </a:r>
            <a:endParaRPr lang="en-SG" sz="2800" dirty="0">
              <a:solidFill>
                <a:srgbClr val="0033CC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13747" y="2168408"/>
            <a:ext cx="6257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0 0001010101010101010101010101010</a:t>
            </a:r>
            <a:endParaRPr lang="en-SG" sz="2800" dirty="0"/>
          </a:p>
        </p:txBody>
      </p:sp>
      <p:sp>
        <p:nvSpPr>
          <p:cNvPr id="58" name="TextBox 57"/>
          <p:cNvSpPr txBox="1"/>
          <p:nvPr/>
        </p:nvSpPr>
        <p:spPr>
          <a:xfrm>
            <a:off x="2605905" y="4485105"/>
            <a:ext cx="6681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60066"/>
                </a:solidFill>
              </a:rPr>
              <a:t>Q: What is the final value of $s0 (in hexadecimal)?</a:t>
            </a:r>
            <a:endParaRPr lang="en-SG" sz="2400" dirty="0">
              <a:solidFill>
                <a:srgbClr val="66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42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8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F6E8-CDB0-44C2-85CF-7F25BEECC6EA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Q2.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6" y="260234"/>
            <a:ext cx="7784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$s0 is a 31-bit binary sequence with MSB=0.</a:t>
            </a:r>
            <a:endParaRPr lang="en-SG" sz="2400" dirty="0"/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477203" y="915233"/>
            <a:ext cx="3664492" cy="328024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  $t0, $s0, $zero</a:t>
            </a:r>
            <a:r>
              <a:rPr lang="en-US" sz="1600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lui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$t1, 0x8000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 err="1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lp</a:t>
            </a: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beq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$t0, $zero, </a:t>
            </a: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andi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$t2, $t0, 1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beq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$t2, $zero, </a:t>
            </a: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xor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$s0, $s0, $t1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s:</a:t>
            </a: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srl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$t0, $t0, 1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    </a:t>
            </a:r>
            <a:r>
              <a:rPr lang="en-US" b="1" dirty="0" err="1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lp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538163" algn="l"/>
                <a:tab pos="1430338" algn="l"/>
              </a:tabLst>
            </a:pPr>
            <a:r>
              <a:rPr lang="en-US" b="1" dirty="0">
                <a:solidFill>
                  <a:srgbClr val="7030A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e:</a:t>
            </a:r>
            <a:endParaRPr lang="en-SG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334536" y="3635166"/>
            <a:ext cx="74805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555554" y="938622"/>
            <a:ext cx="17396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33CC"/>
                </a:solidFill>
              </a:rPr>
              <a:t>$s0 = 31</a:t>
            </a:r>
            <a:endParaRPr lang="en-SG" sz="2800" dirty="0">
              <a:solidFill>
                <a:srgbClr val="0033CC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4546178" y="1408354"/>
            <a:ext cx="7188389" cy="2226812"/>
            <a:chOff x="4546178" y="1408354"/>
            <a:chExt cx="7188389" cy="2226812"/>
          </a:xfrm>
        </p:grpSpPr>
        <p:grpSp>
          <p:nvGrpSpPr>
            <p:cNvPr id="20" name="Group 19"/>
            <p:cNvGrpSpPr/>
            <p:nvPr/>
          </p:nvGrpSpPr>
          <p:grpSpPr>
            <a:xfrm>
              <a:off x="4555554" y="1902092"/>
              <a:ext cx="7179013" cy="812843"/>
              <a:chOff x="4396902" y="3308238"/>
              <a:chExt cx="7179013" cy="812843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4396902" y="3597861"/>
                <a:ext cx="71790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$s0 = </a:t>
                </a:r>
                <a:r>
                  <a:rPr lang="en-US" sz="2800" dirty="0">
                    <a:solidFill>
                      <a:srgbClr val="006600"/>
                    </a:solidFill>
                  </a:rPr>
                  <a:t>0</a:t>
                </a:r>
                <a:r>
                  <a:rPr lang="en-US" sz="2800" dirty="0"/>
                  <a:t> 0000000000000000000000000011111</a:t>
                </a:r>
                <a:endParaRPr lang="en-SG" sz="2800" dirty="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5097269" y="3308238"/>
                <a:ext cx="6562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C00000"/>
                    </a:solidFill>
                  </a:rPr>
                  <a:t>MSB</a:t>
                </a:r>
                <a:endParaRPr lang="en-SG" sz="2000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4546178" y="2691442"/>
              <a:ext cx="1330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After:</a:t>
              </a:r>
              <a:endParaRPr lang="en-SG" sz="24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55553" y="3111946"/>
              <a:ext cx="71790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$s0 = </a:t>
              </a:r>
              <a:r>
                <a:rPr lang="en-US" sz="2800" dirty="0">
                  <a:solidFill>
                    <a:srgbClr val="C00000"/>
                  </a:solidFill>
                </a:rPr>
                <a:t>1</a:t>
              </a:r>
              <a:r>
                <a:rPr lang="en-US" sz="2800" dirty="0"/>
                <a:t> 0000000000000000000000000011111</a:t>
              </a:r>
              <a:endParaRPr lang="en-SG" sz="28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546178" y="1408354"/>
              <a:ext cx="1330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Before:</a:t>
              </a:r>
              <a:endParaRPr lang="en-SG" sz="2400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4590627" y="3855767"/>
            <a:ext cx="30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33CC"/>
                </a:solidFill>
              </a:rPr>
              <a:t>$s0 = 0x0AAAAAAA</a:t>
            </a:r>
            <a:endParaRPr lang="en-SG" sz="2800" dirty="0">
              <a:solidFill>
                <a:srgbClr val="0033CC"/>
              </a:solidFill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4546178" y="4371354"/>
            <a:ext cx="7188389" cy="1718928"/>
            <a:chOff x="4546178" y="4371354"/>
            <a:chExt cx="7188389" cy="1718928"/>
          </a:xfrm>
        </p:grpSpPr>
        <p:sp>
          <p:nvSpPr>
            <p:cNvPr id="9" name="TextBox 8"/>
            <p:cNvSpPr txBox="1"/>
            <p:nvPr/>
          </p:nvSpPr>
          <p:spPr>
            <a:xfrm>
              <a:off x="4555554" y="4747092"/>
              <a:ext cx="71790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$s0 = </a:t>
              </a:r>
              <a:r>
                <a:rPr lang="en-US" sz="2800" dirty="0">
                  <a:solidFill>
                    <a:srgbClr val="006600"/>
                  </a:solidFill>
                </a:rPr>
                <a:t>0</a:t>
              </a:r>
              <a:r>
                <a:rPr lang="en-US" sz="2800" dirty="0"/>
                <a:t> 0001010101010101010101010101010</a:t>
              </a:r>
              <a:endParaRPr lang="en-SG" sz="28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546178" y="4371354"/>
              <a:ext cx="1330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Before:</a:t>
              </a:r>
              <a:endParaRPr lang="en-SG" sz="24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546178" y="5175414"/>
              <a:ext cx="1330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After:</a:t>
              </a:r>
              <a:endParaRPr lang="en-SG" sz="24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555554" y="5567062"/>
              <a:ext cx="71790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$s0 =</a:t>
              </a:r>
              <a:r>
                <a:rPr lang="en-US" sz="2800" dirty="0">
                  <a:solidFill>
                    <a:srgbClr val="C00000"/>
                  </a:solidFill>
                </a:rPr>
                <a:t> 0 </a:t>
              </a:r>
              <a:r>
                <a:rPr lang="en-US" sz="2800" dirty="0"/>
                <a:t>0001010101010101010101010101010</a:t>
              </a:r>
              <a:endParaRPr lang="en-SG" sz="2800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882476" y="312894"/>
            <a:ext cx="254752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Summary</a:t>
            </a:r>
            <a:endParaRPr lang="en-SG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6233573" y="1555455"/>
            <a:ext cx="5099149" cy="461665"/>
          </a:xfrm>
          <a:prstGeom prst="rect">
            <a:avLst/>
          </a:prstGeom>
          <a:solidFill>
            <a:srgbClr val="66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Odd number of 1’s in $s0: MSB </a:t>
            </a:r>
            <a:r>
              <a:rPr lang="en-US" sz="2400" dirty="0">
                <a:sym typeface="Wingdings" panose="05000000000000000000" pitchFamily="2" charset="2"/>
              </a:rPr>
              <a:t> 1</a:t>
            </a:r>
            <a:endParaRPr lang="en-SG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6325698" y="4328391"/>
            <a:ext cx="5104302" cy="461665"/>
          </a:xfrm>
          <a:prstGeom prst="rect">
            <a:avLst/>
          </a:prstGeom>
          <a:solidFill>
            <a:srgbClr val="66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Even number of 1’s in $s0: MSB </a:t>
            </a:r>
            <a:r>
              <a:rPr lang="en-US" sz="2400" dirty="0">
                <a:sym typeface="Wingdings" panose="05000000000000000000" pitchFamily="2" charset="2"/>
              </a:rPr>
              <a:t> 0</a:t>
            </a:r>
            <a:r>
              <a:rPr lang="en-US" sz="2400" dirty="0"/>
              <a:t>.</a:t>
            </a:r>
            <a:endParaRPr lang="en-SG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551769" y="4371354"/>
            <a:ext cx="3136250" cy="1569660"/>
          </a:xfrm>
          <a:prstGeom prst="rect">
            <a:avLst/>
          </a:prstGeom>
          <a:solidFill>
            <a:srgbClr val="66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This is known as </a:t>
            </a:r>
            <a:r>
              <a:rPr lang="en-US" sz="2400" dirty="0">
                <a:solidFill>
                  <a:srgbClr val="C00000"/>
                </a:solidFill>
              </a:rPr>
              <a:t>odd parity bit</a:t>
            </a:r>
            <a:r>
              <a:rPr lang="en-US" sz="2400" dirty="0"/>
              <a:t> scheme.</a:t>
            </a:r>
          </a:p>
          <a:p>
            <a:pPr algn="ctr"/>
            <a:r>
              <a:rPr lang="en-US" sz="2400" dirty="0"/>
              <a:t>(Even parity bit scheme defined similarly.)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99178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0" grpId="0" animBg="1"/>
      <p:bldP spid="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BF7792-B5BB-9E6E-BE5C-4D9EAE93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9</a:t>
            </a:fld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F444E-CD74-2556-F5BA-F8B5C71BFFB3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Q3.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751781-51D6-CAAF-3F35-C072747DA6BA}"/>
              </a:ext>
            </a:extLst>
          </p:cNvPr>
          <p:cNvSpPr txBox="1"/>
          <p:nvPr/>
        </p:nvSpPr>
        <p:spPr>
          <a:xfrm>
            <a:off x="1098285" y="260234"/>
            <a:ext cx="10478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Given two integer arrays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with unknown number of elements, and their base addresses stored in registers </a:t>
            </a:r>
            <a:r>
              <a:rPr lang="en-US" b="1" dirty="0"/>
              <a:t>$s0</a:t>
            </a:r>
            <a:r>
              <a:rPr lang="en-US" dirty="0"/>
              <a:t> and </a:t>
            </a:r>
            <a:r>
              <a:rPr lang="en-US" b="1" dirty="0"/>
              <a:t>$s1</a:t>
            </a:r>
            <a:r>
              <a:rPr lang="en-US" dirty="0"/>
              <a:t> respectively, study the MIPS code below. Note that an integer takes up 32 bits of memory.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E2517-E2E4-AD90-BAB1-24C3ED8E7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70" y="1183564"/>
            <a:ext cx="6591300" cy="2997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C9F275-B5B0-F3DD-3248-22A880575743}"/>
              </a:ext>
            </a:extLst>
          </p:cNvPr>
          <p:cNvSpPr txBox="1"/>
          <p:nvPr/>
        </p:nvSpPr>
        <p:spPr>
          <a:xfrm>
            <a:off x="1098286" y="4642429"/>
            <a:ext cx="5384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a. What is the purpose of register </a:t>
            </a:r>
            <a:r>
              <a:rPr lang="en-US" b="1" dirty="0"/>
              <a:t>$t1</a:t>
            </a:r>
            <a:r>
              <a:rPr lang="en-US" dirty="0"/>
              <a:t> in this code?</a:t>
            </a:r>
            <a:r>
              <a:rPr lang="en-SG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489F1-70C2-FD4E-75E3-75B251862D98}"/>
              </a:ext>
            </a:extLst>
          </p:cNvPr>
          <p:cNvSpPr txBox="1"/>
          <p:nvPr/>
        </p:nvSpPr>
        <p:spPr>
          <a:xfrm>
            <a:off x="1098285" y="5104094"/>
            <a:ext cx="5384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Ans: </a:t>
            </a:r>
            <a:r>
              <a:rPr lang="en-US" b="1" dirty="0"/>
              <a:t>$t1 is the </a:t>
            </a:r>
            <a:r>
              <a:rPr lang="en-US" b="1" i="1" dirty="0"/>
              <a:t>address</a:t>
            </a:r>
            <a:r>
              <a:rPr lang="en-US" b="1" dirty="0"/>
              <a:t> of the B[] element to be read</a:t>
            </a:r>
            <a:r>
              <a:rPr lang="en-S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218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D50AA-17B0-EC25-2BA5-0A746737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00EE59-8F5C-8254-C6E2-EF830EC2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10</a:t>
            </a:fld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56A05-725A-1859-9EBD-9BA93E5B37BB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Q3.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6C3D5D-EB0D-362F-3670-AAA334B5E800}"/>
              </a:ext>
            </a:extLst>
          </p:cNvPr>
          <p:cNvSpPr txBox="1"/>
          <p:nvPr/>
        </p:nvSpPr>
        <p:spPr>
          <a:xfrm>
            <a:off x="1098285" y="260234"/>
            <a:ext cx="10478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Given two integer arrays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with unknown number of elements, and their base addresses stored in registers </a:t>
            </a:r>
            <a:r>
              <a:rPr lang="en-US" b="1" dirty="0"/>
              <a:t>$s0</a:t>
            </a:r>
            <a:r>
              <a:rPr lang="en-US" dirty="0"/>
              <a:t> and </a:t>
            </a:r>
            <a:r>
              <a:rPr lang="en-US" b="1" dirty="0"/>
              <a:t>$s1</a:t>
            </a:r>
            <a:r>
              <a:rPr lang="en-US" dirty="0"/>
              <a:t> respectively, study the MIPS code below. Note that an integer takes up 32 bits of memory.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EDEC6-C2B5-D2D0-2627-7E2EA4E3F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70" y="1183564"/>
            <a:ext cx="6591300" cy="2997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636415-E48D-D45C-B31B-C5ABF06FF9E0}"/>
              </a:ext>
            </a:extLst>
          </p:cNvPr>
          <p:cNvSpPr txBox="1"/>
          <p:nvPr/>
        </p:nvSpPr>
        <p:spPr>
          <a:xfrm>
            <a:off x="1098285" y="4642429"/>
            <a:ext cx="10114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 If	array </a:t>
            </a:r>
            <a:r>
              <a:rPr lang="en-US" i="1" dirty="0"/>
              <a:t>A</a:t>
            </a:r>
            <a:r>
              <a:rPr lang="en-US" dirty="0"/>
              <a:t> = {7, 4, 1, 6, 0, 5, 9, 0} and </a:t>
            </a:r>
            <a:r>
              <a:rPr lang="en-SG" dirty="0"/>
              <a:t> </a:t>
            </a:r>
            <a:r>
              <a:rPr lang="en-US" dirty="0"/>
              <a:t>array </a:t>
            </a:r>
            <a:r>
              <a:rPr lang="en-US" i="1" dirty="0"/>
              <a:t>B</a:t>
            </a:r>
            <a:r>
              <a:rPr lang="en-US" dirty="0"/>
              <a:t> = {3, 4, 5, 2, 1, 0, 0, 9},</a:t>
            </a:r>
            <a:r>
              <a:rPr lang="en-SG" dirty="0"/>
              <a:t> </a:t>
            </a:r>
            <a:r>
              <a:rPr lang="en-US" dirty="0"/>
              <a:t>give the final content of these two arrays.                                                    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472110-C597-1D47-B348-3AC5EA7387A6}"/>
              </a:ext>
            </a:extLst>
          </p:cNvPr>
          <p:cNvSpPr txBox="1"/>
          <p:nvPr/>
        </p:nvSpPr>
        <p:spPr>
          <a:xfrm>
            <a:off x="1098285" y="5305104"/>
            <a:ext cx="5384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Ans: </a:t>
            </a:r>
            <a:r>
              <a:rPr lang="en-US" b="1" i="1" dirty="0"/>
              <a:t>A</a:t>
            </a:r>
            <a:r>
              <a:rPr lang="en-US" b="1" dirty="0"/>
              <a:t> = {3, 4, 1, 2, 0, 5, 9, 0}</a:t>
            </a:r>
            <a:endParaRPr lang="en-SG" dirty="0"/>
          </a:p>
          <a:p>
            <a:r>
              <a:rPr lang="en-US" b="1" dirty="0"/>
              <a:t>         </a:t>
            </a:r>
            <a:r>
              <a:rPr lang="en-US" b="1" i="1" dirty="0"/>
              <a:t>B</a:t>
            </a:r>
            <a:r>
              <a:rPr lang="en-US" b="1" dirty="0"/>
              <a:t> = {7, 4, 5, 6, 1, 0, 0, 9}</a:t>
            </a:r>
            <a:endParaRPr lang="en-SG" dirty="0"/>
          </a:p>
          <a:p>
            <a:pPr lvl="0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479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A7147-9D71-9EA0-5607-F2E28B1F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75EF85-9A37-0254-99D3-EEF6A6D5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11</a:t>
            </a:fld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33ED3-30A5-2167-6812-7FC754A709BF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Q3.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B21DA-2C26-11A1-A61A-B3C01F021D42}"/>
              </a:ext>
            </a:extLst>
          </p:cNvPr>
          <p:cNvSpPr txBox="1"/>
          <p:nvPr/>
        </p:nvSpPr>
        <p:spPr>
          <a:xfrm>
            <a:off x="1098285" y="260234"/>
            <a:ext cx="10478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Given two integer arrays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with unknown number of elements, and their base addresses stored in registers </a:t>
            </a:r>
            <a:r>
              <a:rPr lang="en-US" b="1" dirty="0"/>
              <a:t>$s0</a:t>
            </a:r>
            <a:r>
              <a:rPr lang="en-US" dirty="0"/>
              <a:t> and </a:t>
            </a:r>
            <a:r>
              <a:rPr lang="en-US" b="1" dirty="0"/>
              <a:t>$s1</a:t>
            </a:r>
            <a:r>
              <a:rPr lang="en-US" dirty="0"/>
              <a:t> respectively, study the MIPS code below. Note that an integer takes up 32 bits of memory.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373B6C-2410-E933-4646-7871551C4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70" y="1183564"/>
            <a:ext cx="6591300" cy="2997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C6B6C4-2E2A-5D75-AD00-A8EA6802023D}"/>
              </a:ext>
            </a:extLst>
          </p:cNvPr>
          <p:cNvSpPr txBox="1"/>
          <p:nvPr/>
        </p:nvSpPr>
        <p:spPr>
          <a:xfrm>
            <a:off x="1098285" y="4642429"/>
            <a:ext cx="1011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 How many </a:t>
            </a:r>
            <a:r>
              <a:rPr lang="en-US" b="1" dirty="0"/>
              <a:t>store word</a:t>
            </a:r>
            <a:r>
              <a:rPr lang="en-US" dirty="0"/>
              <a:t> operations are performed given the contents of the arrays in part (b)? 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031A9-AEE5-0C37-1D18-94534F232C6E}"/>
              </a:ext>
            </a:extLst>
          </p:cNvPr>
          <p:cNvSpPr txBox="1"/>
          <p:nvPr/>
        </p:nvSpPr>
        <p:spPr>
          <a:xfrm>
            <a:off x="1098285" y="5305104"/>
            <a:ext cx="5384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Ans: </a:t>
            </a:r>
            <a:r>
              <a:rPr lang="en-US" b="1" dirty="0"/>
              <a:t>4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8613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5D0FA-9C7D-0130-6160-DD43AFD38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0D42B9-9233-4A43-02F1-CEFFCE0C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12</a:t>
            </a:fld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8A7411-4368-AC8A-5F94-F274B6763BD3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Q3.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F5E18-4D69-9EB5-3BB1-26B3FFBEF048}"/>
              </a:ext>
            </a:extLst>
          </p:cNvPr>
          <p:cNvSpPr txBox="1"/>
          <p:nvPr/>
        </p:nvSpPr>
        <p:spPr>
          <a:xfrm>
            <a:off x="1098285" y="260234"/>
            <a:ext cx="10478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Given two integer arrays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with unknown number of elements, and their base addresses stored in registers </a:t>
            </a:r>
            <a:r>
              <a:rPr lang="en-US" b="1" dirty="0"/>
              <a:t>$s0</a:t>
            </a:r>
            <a:r>
              <a:rPr lang="en-US" dirty="0"/>
              <a:t> and </a:t>
            </a:r>
            <a:r>
              <a:rPr lang="en-US" b="1" dirty="0"/>
              <a:t>$s1</a:t>
            </a:r>
            <a:r>
              <a:rPr lang="en-US" dirty="0"/>
              <a:t> respectively, study the MIPS code below. Note that an integer takes up 32 bits of memory.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9E4DB-8B93-7E61-563D-52DE02092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70" y="1183564"/>
            <a:ext cx="6591300" cy="2997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63F735-597D-1CFE-7DEC-56E81D4FCC7A}"/>
              </a:ext>
            </a:extLst>
          </p:cNvPr>
          <p:cNvSpPr txBox="1"/>
          <p:nvPr/>
        </p:nvSpPr>
        <p:spPr>
          <a:xfrm>
            <a:off x="1098285" y="4642429"/>
            <a:ext cx="10114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 What is the value (in decimal) of the immediate field in the machine code representation of the </a:t>
            </a:r>
            <a:r>
              <a:rPr lang="en-US" b="1" dirty="0" err="1"/>
              <a:t>bne</a:t>
            </a:r>
            <a:r>
              <a:rPr lang="en-US" dirty="0"/>
              <a:t> instruction?</a:t>
            </a:r>
            <a:r>
              <a:rPr lang="en-SG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32D1F-04FD-5702-CE85-B2F27A411F9D}"/>
              </a:ext>
            </a:extLst>
          </p:cNvPr>
          <p:cNvSpPr txBox="1"/>
          <p:nvPr/>
        </p:nvSpPr>
        <p:spPr>
          <a:xfrm>
            <a:off x="1098285" y="5305104"/>
            <a:ext cx="5384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Ans: </a:t>
            </a:r>
            <a:r>
              <a:rPr lang="en-US" b="1" dirty="0"/>
              <a:t>-9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6773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FAD3-8F05-FF30-E391-17748909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AC448-78E8-6938-3633-6FE5ACC0F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13</a:t>
            </a:fld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E4BF5-AA42-D07D-5842-A9C269F1B03A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Q3.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19532-DD2D-CB73-48BF-F7B207ACE15E}"/>
              </a:ext>
            </a:extLst>
          </p:cNvPr>
          <p:cNvSpPr txBox="1"/>
          <p:nvPr/>
        </p:nvSpPr>
        <p:spPr>
          <a:xfrm>
            <a:off x="1098285" y="260234"/>
            <a:ext cx="10478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Given two integer arrays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with unknown number of elements, and their base addresses stored in registers </a:t>
            </a:r>
            <a:r>
              <a:rPr lang="en-US" b="1" dirty="0"/>
              <a:t>$s0</a:t>
            </a:r>
            <a:r>
              <a:rPr lang="en-US" dirty="0"/>
              <a:t> and </a:t>
            </a:r>
            <a:r>
              <a:rPr lang="en-US" b="1" dirty="0"/>
              <a:t>$s1</a:t>
            </a:r>
            <a:r>
              <a:rPr lang="en-US" dirty="0"/>
              <a:t> respectively, study the MIPS code below. Note that an integer takes up 32 bits of memory.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FC2DF9-E486-430C-AFB7-23F9408BD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70" y="1183564"/>
            <a:ext cx="6591300" cy="2997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857529-9575-E224-5247-406971266D52}"/>
              </a:ext>
            </a:extLst>
          </p:cNvPr>
          <p:cNvSpPr txBox="1"/>
          <p:nvPr/>
        </p:nvSpPr>
        <p:spPr>
          <a:xfrm>
            <a:off x="1098285" y="4642429"/>
            <a:ext cx="10114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 The two lines indicated as “line A” and “line B” represent the translation of a MIPS pseudo-instruction. Give the corresponding pseudo-instruction.</a:t>
            </a:r>
            <a:r>
              <a:rPr lang="en-SG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DE6AB5-3078-A6A4-0BCC-44AA1DABC966}"/>
              </a:ext>
            </a:extLst>
          </p:cNvPr>
          <p:cNvSpPr txBox="1"/>
          <p:nvPr/>
        </p:nvSpPr>
        <p:spPr>
          <a:xfrm>
            <a:off x="1098285" y="5305104"/>
            <a:ext cx="5384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Ans: </a:t>
            </a:r>
            <a:r>
              <a:rPr lang="en-US" b="1" dirty="0" err="1"/>
              <a:t>bge</a:t>
            </a:r>
            <a:r>
              <a:rPr lang="en-US" b="1" dirty="0"/>
              <a:t> $t4, $t3, skip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7179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14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F6E8-CDB0-44C2-85CF-7F25BEECC6EA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5" y="260234"/>
            <a:ext cx="849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3888" indent="-623888"/>
            <a:r>
              <a:rPr lang="en-SG" sz="3200" dirty="0"/>
              <a:t>(a)</a:t>
            </a:r>
            <a:endParaRPr lang="en-SG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47809" y="997961"/>
          <a:ext cx="11279147" cy="5031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7182">
                  <a:extLst>
                    <a:ext uri="{9D8B030D-6E8A-4147-A177-3AD203B41FA5}">
                      <a16:colId xmlns:a16="http://schemas.microsoft.com/office/drawing/2014/main" val="2959064186"/>
                    </a:ext>
                  </a:extLst>
                </a:gridCol>
                <a:gridCol w="8931965">
                  <a:extLst>
                    <a:ext uri="{9D8B030D-6E8A-4147-A177-3AD203B41FA5}">
                      <a16:colId xmlns:a16="http://schemas.microsoft.com/office/drawing/2014/main" val="1505941137"/>
                    </a:ext>
                  </a:extLst>
                </a:gridCol>
              </a:tblGrid>
              <a:tr h="111417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Instruction encoding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MIPS code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895487"/>
                  </a:ext>
                </a:extLst>
              </a:tr>
              <a:tr h="539119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6600"/>
                          </a:solidFill>
                        </a:rPr>
                        <a:t>               #</a:t>
                      </a:r>
                      <a:r>
                        <a:rPr lang="en-US" sz="2400" baseline="0" dirty="0">
                          <a:solidFill>
                            <a:srgbClr val="006600"/>
                          </a:solidFill>
                        </a:rPr>
                        <a:t> $</a:t>
                      </a:r>
                      <a:r>
                        <a:rPr lang="en-US" sz="2400" baseline="0" dirty="0" err="1">
                          <a:solidFill>
                            <a:srgbClr val="006600"/>
                          </a:solidFill>
                        </a:rPr>
                        <a:t>s1</a:t>
                      </a:r>
                      <a:r>
                        <a:rPr lang="en-US" sz="2400" baseline="0" dirty="0">
                          <a:solidFill>
                            <a:srgbClr val="006600"/>
                          </a:solidFill>
                        </a:rPr>
                        <a:t> stores the results; $</a:t>
                      </a:r>
                      <a:r>
                        <a:rPr lang="en-US" sz="2400" baseline="0" dirty="0" err="1">
                          <a:solidFill>
                            <a:srgbClr val="006600"/>
                          </a:solidFill>
                        </a:rPr>
                        <a:t>t0</a:t>
                      </a:r>
                      <a:r>
                        <a:rPr lang="en-US" sz="2400" baseline="0" dirty="0">
                          <a:solidFill>
                            <a:srgbClr val="006600"/>
                          </a:solidFill>
                        </a:rPr>
                        <a:t> stores a non-negative number</a:t>
                      </a:r>
                      <a:endParaRPr lang="en-US" sz="2400" dirty="0">
                        <a:solidFill>
                          <a:srgbClr val="006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430185"/>
                  </a:ext>
                </a:extLst>
              </a:tr>
              <a:tr h="539119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Lucida Console" panose="020B0609040504020204" pitchFamily="49" charset="0"/>
                        </a:rPr>
                        <a:t>      </a:t>
                      </a:r>
                      <a:r>
                        <a:rPr lang="en-US" sz="2400" dirty="0" err="1">
                          <a:latin typeface="Lucida Console" panose="020B0609040504020204" pitchFamily="49" charset="0"/>
                        </a:rPr>
                        <a:t>addi</a:t>
                      </a:r>
                      <a:r>
                        <a:rPr lang="en-US" sz="2400" baseline="0" dirty="0"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sz="2400" dirty="0">
                          <a:latin typeface="Lucida Console" panose="020B0609040504020204" pitchFamily="49" charset="0"/>
                        </a:rPr>
                        <a:t>$s1, $zero, 0 </a:t>
                      </a:r>
                      <a:r>
                        <a:rPr lang="en-US" sz="2000" dirty="0">
                          <a:solidFill>
                            <a:srgbClr val="006600"/>
                          </a:solidFill>
                          <a:latin typeface="Lucida Console" panose="020B0609040504020204" pitchFamily="49" charset="0"/>
                        </a:rPr>
                        <a:t>#</a:t>
                      </a:r>
                      <a:r>
                        <a:rPr lang="en-US" sz="2000" dirty="0" err="1">
                          <a:solidFill>
                            <a:srgbClr val="006600"/>
                          </a:solidFill>
                          <a:latin typeface="Lucida Console" panose="020B0609040504020204" pitchFamily="49" charset="0"/>
                        </a:rPr>
                        <a:t>inst</a:t>
                      </a:r>
                      <a:r>
                        <a:rPr lang="en-US" sz="2000" dirty="0">
                          <a:solidFill>
                            <a:srgbClr val="006600"/>
                          </a:solidFill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6600"/>
                          </a:solidFill>
                          <a:latin typeface="Lucida Console" panose="020B0609040504020204" pitchFamily="49" charset="0"/>
                        </a:rPr>
                        <a:t>addr</a:t>
                      </a:r>
                      <a:r>
                        <a:rPr lang="en-US" sz="2000" baseline="0" dirty="0">
                          <a:solidFill>
                            <a:srgbClr val="006600"/>
                          </a:solidFill>
                          <a:latin typeface="Lucida Console" panose="020B0609040504020204" pitchFamily="49" charset="0"/>
                        </a:rPr>
                        <a:t> is 0x00400028</a:t>
                      </a:r>
                      <a:endParaRPr lang="en-US" sz="2000" dirty="0">
                        <a:solidFill>
                          <a:srgbClr val="006600"/>
                        </a:solidFill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142740"/>
                  </a:ext>
                </a:extLst>
              </a:tr>
              <a:tr h="53911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0x00084042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7030A0"/>
                          </a:solidFill>
                          <a:latin typeface="Lucida Console" panose="020B0609040504020204" pitchFamily="49" charset="0"/>
                        </a:rPr>
                        <a:t>Loop: </a:t>
                      </a:r>
                      <a:r>
                        <a:rPr lang="en-US" sz="2400" dirty="0" err="1">
                          <a:latin typeface="Lucida Console" panose="020B0609040504020204" pitchFamily="49" charset="0"/>
                        </a:rPr>
                        <a:t>srl</a:t>
                      </a:r>
                      <a:r>
                        <a:rPr lang="en-US" sz="2400" baseline="0" dirty="0">
                          <a:latin typeface="Lucida Console" panose="020B0609040504020204" pitchFamily="49" charset="0"/>
                        </a:rPr>
                        <a:t>  $t0, $t0, 1</a:t>
                      </a:r>
                      <a:endParaRPr lang="en-US" sz="2400" dirty="0"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889398"/>
                  </a:ext>
                </a:extLst>
              </a:tr>
              <a:tr h="6110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0x11000002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852321"/>
                  </a:ext>
                </a:extLst>
              </a:tr>
              <a:tr h="6110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0x22310001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031094"/>
                  </a:ext>
                </a:extLst>
              </a:tr>
              <a:tr h="539119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Lucida Console" panose="020B0609040504020204" pitchFamily="49" charset="0"/>
                        </a:rPr>
                        <a:t>      j    </a:t>
                      </a:r>
                      <a:r>
                        <a:rPr lang="en-US" sz="2400" dirty="0">
                          <a:solidFill>
                            <a:srgbClr val="7030A0"/>
                          </a:solidFill>
                          <a:latin typeface="Lucida Console" panose="020B0609040504020204" pitchFamily="49" charset="0"/>
                        </a:rPr>
                        <a:t>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330503"/>
                  </a:ext>
                </a:extLst>
              </a:tr>
              <a:tr h="539119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7030A0"/>
                          </a:solidFill>
                          <a:latin typeface="Lucida Console" panose="020B0609040504020204" pitchFamily="49" charset="0"/>
                        </a:rPr>
                        <a:t>exit: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3175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391055" y="2607013"/>
            <a:ext cx="953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?</a:t>
            </a:r>
            <a:endParaRPr lang="en-SG" sz="3200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1054" y="4938409"/>
            <a:ext cx="953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?</a:t>
            </a:r>
            <a:endParaRPr lang="en-SG" sz="3200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6382" y="3751634"/>
            <a:ext cx="953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?</a:t>
            </a:r>
            <a:endParaRPr lang="en-SG" sz="3200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6381" y="4336409"/>
            <a:ext cx="953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?</a:t>
            </a:r>
            <a:endParaRPr lang="en-SG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860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15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F6E8-CDB0-44C2-85CF-7F25BEECC6EA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6" y="260234"/>
            <a:ext cx="4621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3888" indent="-623888"/>
            <a:r>
              <a:rPr lang="en-SG" sz="3200" dirty="0"/>
              <a:t>(a) </a:t>
            </a:r>
            <a:r>
              <a:rPr lang="en-US" sz="2800" dirty="0" err="1">
                <a:latin typeface="Lucida Console" panose="020B0609040504020204" pitchFamily="49" charset="0"/>
              </a:rPr>
              <a:t>addi</a:t>
            </a:r>
            <a:r>
              <a:rPr lang="en-US" sz="2800" dirty="0">
                <a:latin typeface="Lucida Console" panose="020B0609040504020204" pitchFamily="49" charset="0"/>
              </a:rPr>
              <a:t> $</a:t>
            </a:r>
            <a:r>
              <a:rPr lang="en-US" sz="2800" dirty="0" err="1">
                <a:latin typeface="Lucida Console" panose="020B0609040504020204" pitchFamily="49" charset="0"/>
              </a:rPr>
              <a:t>s1</a:t>
            </a:r>
            <a:r>
              <a:rPr lang="en-US" sz="2800" dirty="0">
                <a:latin typeface="Lucida Console" panose="020B0609040504020204" pitchFamily="49" charset="0"/>
              </a:rPr>
              <a:t>, $zero, 0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638260" y="1067871"/>
            <a:ext cx="482675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Look up MIPS Reference Data sheet!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86061" y="1641694"/>
          <a:ext cx="858788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638">
                  <a:extLst>
                    <a:ext uri="{9D8B030D-6E8A-4147-A177-3AD203B41FA5}">
                      <a16:colId xmlns:a16="http://schemas.microsoft.com/office/drawing/2014/main" val="3518066403"/>
                    </a:ext>
                  </a:extLst>
                </a:gridCol>
                <a:gridCol w="1272788">
                  <a:extLst>
                    <a:ext uri="{9D8B030D-6E8A-4147-A177-3AD203B41FA5}">
                      <a16:colId xmlns:a16="http://schemas.microsoft.com/office/drawing/2014/main" val="2887287728"/>
                    </a:ext>
                  </a:extLst>
                </a:gridCol>
                <a:gridCol w="984795">
                  <a:extLst>
                    <a:ext uri="{9D8B030D-6E8A-4147-A177-3AD203B41FA5}">
                      <a16:colId xmlns:a16="http://schemas.microsoft.com/office/drawing/2014/main" val="3004631586"/>
                    </a:ext>
                  </a:extLst>
                </a:gridCol>
                <a:gridCol w="2573598">
                  <a:extLst>
                    <a:ext uri="{9D8B030D-6E8A-4147-A177-3AD203B41FA5}">
                      <a16:colId xmlns:a16="http://schemas.microsoft.com/office/drawing/2014/main" val="1074334198"/>
                    </a:ext>
                  </a:extLst>
                </a:gridCol>
                <a:gridCol w="1917067">
                  <a:extLst>
                    <a:ext uri="{9D8B030D-6E8A-4147-A177-3AD203B41FA5}">
                      <a16:colId xmlns:a16="http://schemas.microsoft.com/office/drawing/2014/main" val="3431389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Mnemonic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Opcode/</a:t>
                      </a:r>
                      <a:r>
                        <a:rPr lang="en-US" dirty="0" err="1"/>
                        <a:t>Funct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47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 Immediate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addi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R[</a:t>
                      </a:r>
                      <a:r>
                        <a:rPr lang="en-US" dirty="0" err="1"/>
                        <a:t>rt</a:t>
                      </a:r>
                      <a:r>
                        <a:rPr lang="en-US" dirty="0"/>
                        <a:t>] = R[</a:t>
                      </a:r>
                      <a:r>
                        <a:rPr lang="en-US" dirty="0" err="1"/>
                        <a:t>rs</a:t>
                      </a:r>
                      <a:r>
                        <a:rPr lang="en-US" dirty="0"/>
                        <a:t>] + </a:t>
                      </a:r>
                      <a:r>
                        <a:rPr lang="en-US" dirty="0" err="1"/>
                        <a:t>SignextImm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8</a:t>
                      </a:r>
                      <a:r>
                        <a:rPr lang="en-US" baseline="-25000" dirty="0" err="1"/>
                        <a:t>hex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7004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23861" y="2531165"/>
            <a:ext cx="1166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format: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90052" y="2531165"/>
          <a:ext cx="584420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621170051"/>
                    </a:ext>
                  </a:extLst>
                </a:gridCol>
                <a:gridCol w="1007165">
                  <a:extLst>
                    <a:ext uri="{9D8B030D-6E8A-4147-A177-3AD203B41FA5}">
                      <a16:colId xmlns:a16="http://schemas.microsoft.com/office/drawing/2014/main" val="2725849042"/>
                    </a:ext>
                  </a:extLst>
                </a:gridCol>
                <a:gridCol w="967409">
                  <a:extLst>
                    <a:ext uri="{9D8B030D-6E8A-4147-A177-3AD203B41FA5}">
                      <a16:colId xmlns:a16="http://schemas.microsoft.com/office/drawing/2014/main" val="3974302138"/>
                    </a:ext>
                  </a:extLst>
                </a:gridCol>
                <a:gridCol w="2584173">
                  <a:extLst>
                    <a:ext uri="{9D8B030D-6E8A-4147-A177-3AD203B41FA5}">
                      <a16:colId xmlns:a16="http://schemas.microsoft.com/office/drawing/2014/main" val="162960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opcode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rs</a:t>
                      </a:r>
                      <a:endParaRPr 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rt</a:t>
                      </a:r>
                      <a:endParaRPr 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immediate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3343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875183" y="4131547"/>
            <a:ext cx="1802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0 0 1 0 0 0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934817" y="4148222"/>
            <a:ext cx="9303026" cy="490332"/>
            <a:chOff x="1934817" y="4148222"/>
            <a:chExt cx="9303026" cy="490332"/>
          </a:xfrm>
        </p:grpSpPr>
        <p:sp>
          <p:nvSpPr>
            <p:cNvPr id="11" name="Rectangle 10"/>
            <p:cNvSpPr/>
            <p:nvPr/>
          </p:nvSpPr>
          <p:spPr>
            <a:xfrm>
              <a:off x="1934817" y="4148223"/>
              <a:ext cx="1736035" cy="490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70852" y="4148222"/>
              <a:ext cx="1457739" cy="490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128591" y="4148222"/>
              <a:ext cx="1457739" cy="490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586330" y="4148222"/>
              <a:ext cx="4651513" cy="490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369010" y="3013266"/>
            <a:ext cx="1985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$</a:t>
            </a:r>
            <a:r>
              <a:rPr lang="en-US" sz="2400" dirty="0" err="1"/>
              <a:t>s1</a:t>
            </a:r>
            <a:r>
              <a:rPr lang="en-US" sz="2400" dirty="0"/>
              <a:t> = $17; $zero = 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7783" y="4131547"/>
            <a:ext cx="1543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0 0 0 0 0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2772" y="4123363"/>
            <a:ext cx="4509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0 0 0 0 0 0 0 0 0 0 0 0 0 0 0 0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8894" y="4131547"/>
            <a:ext cx="1543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1 0 0 0 1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8631" y="4882675"/>
            <a:ext cx="4229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(2 0 1 1 0 0 0 0)</a:t>
            </a:r>
            <a:r>
              <a:rPr lang="en-US" sz="3600" baseline="-25000" dirty="0">
                <a:solidFill>
                  <a:srgbClr val="C00000"/>
                </a:solidFill>
              </a:rPr>
              <a:t>16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79192" y="3108960"/>
            <a:ext cx="2624328" cy="646331"/>
          </a:xfrm>
          <a:prstGeom prst="rect">
            <a:avLst/>
          </a:prstGeom>
          <a:solidFill>
            <a:srgbClr val="ADF5F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Which is </a:t>
            </a:r>
            <a:r>
              <a:rPr lang="en-US" dirty="0" err="1"/>
              <a:t>rs</a:t>
            </a:r>
            <a:r>
              <a:rPr lang="en-US" dirty="0"/>
              <a:t> (source) and which is </a:t>
            </a:r>
            <a:r>
              <a:rPr lang="en-US" dirty="0" err="1"/>
              <a:t>rt</a:t>
            </a:r>
            <a:r>
              <a:rPr lang="en-US" dirty="0"/>
              <a:t> (target)?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50211" y="3373899"/>
            <a:ext cx="688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rs</a:t>
            </a:r>
            <a:r>
              <a:rPr lang="en-US" sz="2400" dirty="0"/>
              <a:t> 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0210" y="2995075"/>
            <a:ext cx="688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rt</a:t>
            </a:r>
            <a:r>
              <a:rPr lang="en-US" sz="2400" dirty="0"/>
              <a:t> =</a:t>
            </a:r>
          </a:p>
        </p:txBody>
      </p:sp>
    </p:spTree>
    <p:extLst>
      <p:ext uri="{BB962C8B-B14F-4D97-AF65-F5344CB8AC3E}">
        <p14:creationId xmlns:p14="http://schemas.microsoft.com/office/powerpoint/2010/main" val="423551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2" grpId="0"/>
      <p:bldP spid="16" grpId="0"/>
      <p:bldP spid="19" grpId="0"/>
      <p:bldP spid="20" grpId="0"/>
      <p:bldP spid="21" grpId="0"/>
      <p:bldP spid="22" grpId="0"/>
      <p:bldP spid="2" grpId="0" animBg="1"/>
      <p:bldP spid="3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16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F6E8-CDB0-44C2-85CF-7F25BEECC6EA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6" y="260234"/>
            <a:ext cx="3314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3888" indent="-623888"/>
            <a:r>
              <a:rPr lang="en-SG" sz="3200" dirty="0"/>
              <a:t>(a)	</a:t>
            </a:r>
            <a:r>
              <a:rPr lang="en-SG" sz="3200" dirty="0" err="1"/>
              <a:t>0x11000002</a:t>
            </a:r>
            <a:endParaRPr lang="en-SG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6" y="971622"/>
            <a:ext cx="10238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3888" indent="-623888"/>
            <a:r>
              <a:rPr lang="en-SG" sz="3200" dirty="0" err="1"/>
              <a:t>0x11000002</a:t>
            </a:r>
            <a:r>
              <a:rPr lang="en-SG" sz="3200" dirty="0"/>
              <a:t> = 0001 0001 0000 0000 0000 0000 0000 0010</a:t>
            </a:r>
            <a:endParaRPr lang="en-SG" sz="2400" dirty="0"/>
          </a:p>
        </p:txBody>
      </p:sp>
      <p:sp>
        <p:nvSpPr>
          <p:cNvPr id="2" name="Rounded Rectangle 1"/>
          <p:cNvSpPr/>
          <p:nvPr/>
        </p:nvSpPr>
        <p:spPr>
          <a:xfrm>
            <a:off x="3482502" y="971622"/>
            <a:ext cx="1478604" cy="5847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3482502" y="1712068"/>
            <a:ext cx="1721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Opcode = 4</a:t>
            </a:r>
            <a:endParaRPr lang="en-SG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504022" y="1712068"/>
            <a:ext cx="482675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Look up MIPS Reference Data sheet!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86061" y="2329404"/>
          <a:ext cx="8587886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638">
                  <a:extLst>
                    <a:ext uri="{9D8B030D-6E8A-4147-A177-3AD203B41FA5}">
                      <a16:colId xmlns:a16="http://schemas.microsoft.com/office/drawing/2014/main" val="3518066403"/>
                    </a:ext>
                  </a:extLst>
                </a:gridCol>
                <a:gridCol w="1272788">
                  <a:extLst>
                    <a:ext uri="{9D8B030D-6E8A-4147-A177-3AD203B41FA5}">
                      <a16:colId xmlns:a16="http://schemas.microsoft.com/office/drawing/2014/main" val="2887287728"/>
                    </a:ext>
                  </a:extLst>
                </a:gridCol>
                <a:gridCol w="984795">
                  <a:extLst>
                    <a:ext uri="{9D8B030D-6E8A-4147-A177-3AD203B41FA5}">
                      <a16:colId xmlns:a16="http://schemas.microsoft.com/office/drawing/2014/main" val="3004631586"/>
                    </a:ext>
                  </a:extLst>
                </a:gridCol>
                <a:gridCol w="2573598">
                  <a:extLst>
                    <a:ext uri="{9D8B030D-6E8A-4147-A177-3AD203B41FA5}">
                      <a16:colId xmlns:a16="http://schemas.microsoft.com/office/drawing/2014/main" val="1074334198"/>
                    </a:ext>
                  </a:extLst>
                </a:gridCol>
                <a:gridCol w="1917067">
                  <a:extLst>
                    <a:ext uri="{9D8B030D-6E8A-4147-A177-3AD203B41FA5}">
                      <a16:colId xmlns:a16="http://schemas.microsoft.com/office/drawing/2014/main" val="3431389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Mnemonic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Opcode/</a:t>
                      </a:r>
                      <a:r>
                        <a:rPr lang="en-US" dirty="0" err="1"/>
                        <a:t>Funct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47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Branch On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If R[</a:t>
                      </a:r>
                      <a:r>
                        <a:rPr lang="en-US" dirty="0" err="1"/>
                        <a:t>rs</a:t>
                      </a:r>
                      <a:r>
                        <a:rPr lang="en-US" dirty="0"/>
                        <a:t>] == R[</a:t>
                      </a:r>
                      <a:r>
                        <a:rPr lang="en-US" dirty="0" err="1"/>
                        <a:t>rt</a:t>
                      </a:r>
                      <a:r>
                        <a:rPr lang="en-US" dirty="0"/>
                        <a:t>]</a:t>
                      </a:r>
                    </a:p>
                    <a:p>
                      <a:pPr algn="ctr"/>
                      <a:r>
                        <a:rPr lang="en-US" dirty="0"/>
                        <a:t>PC</a:t>
                      </a:r>
                      <a:r>
                        <a:rPr lang="en-US" baseline="0" dirty="0"/>
                        <a:t> = PC + 4 + </a:t>
                      </a:r>
                      <a:r>
                        <a:rPr lang="en-US" baseline="0" dirty="0" err="1"/>
                        <a:t>BranchAddr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r>
                        <a:rPr lang="en-US" baseline="-25000" dirty="0"/>
                        <a:t>hex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7004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038107" y="3544748"/>
            <a:ext cx="1166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format: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204298" y="3544748"/>
          <a:ext cx="584420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621170051"/>
                    </a:ext>
                  </a:extLst>
                </a:gridCol>
                <a:gridCol w="1007165">
                  <a:extLst>
                    <a:ext uri="{9D8B030D-6E8A-4147-A177-3AD203B41FA5}">
                      <a16:colId xmlns:a16="http://schemas.microsoft.com/office/drawing/2014/main" val="2725849042"/>
                    </a:ext>
                  </a:extLst>
                </a:gridCol>
                <a:gridCol w="967409">
                  <a:extLst>
                    <a:ext uri="{9D8B030D-6E8A-4147-A177-3AD203B41FA5}">
                      <a16:colId xmlns:a16="http://schemas.microsoft.com/office/drawing/2014/main" val="3974302138"/>
                    </a:ext>
                  </a:extLst>
                </a:gridCol>
                <a:gridCol w="2584173">
                  <a:extLst>
                    <a:ext uri="{9D8B030D-6E8A-4147-A177-3AD203B41FA5}">
                      <a16:colId xmlns:a16="http://schemas.microsoft.com/office/drawing/2014/main" val="162960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opcode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rs</a:t>
                      </a:r>
                      <a:endParaRPr 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rt</a:t>
                      </a:r>
                      <a:endParaRPr 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immediate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33436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069184" y="4101893"/>
          <a:ext cx="4435813" cy="2285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958">
                  <a:extLst>
                    <a:ext uri="{9D8B030D-6E8A-4147-A177-3AD203B41FA5}">
                      <a16:colId xmlns:a16="http://schemas.microsoft.com/office/drawing/2014/main" val="2959064186"/>
                    </a:ext>
                  </a:extLst>
                </a:gridCol>
                <a:gridCol w="3219855">
                  <a:extLst>
                    <a:ext uri="{9D8B030D-6E8A-4147-A177-3AD203B41FA5}">
                      <a16:colId xmlns:a16="http://schemas.microsoft.com/office/drawing/2014/main" val="1505941137"/>
                    </a:ext>
                  </a:extLst>
                </a:gridCol>
              </a:tblGrid>
              <a:tr h="362845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MIPS code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895487"/>
                  </a:ext>
                </a:extLst>
              </a:tr>
              <a:tr h="296134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Console" panose="020B0609040504020204" pitchFamily="49" charset="0"/>
                        </a:rPr>
                        <a:t>      </a:t>
                      </a:r>
                      <a:r>
                        <a:rPr lang="en-US" sz="1400" dirty="0" err="1">
                          <a:latin typeface="Lucida Console" panose="020B0609040504020204" pitchFamily="49" charset="0"/>
                        </a:rPr>
                        <a:t>addi</a:t>
                      </a:r>
                      <a:r>
                        <a:rPr lang="en-US" sz="1400" baseline="0" dirty="0"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sz="1400" dirty="0">
                          <a:latin typeface="Lucida Console" panose="020B0609040504020204" pitchFamily="49" charset="0"/>
                        </a:rPr>
                        <a:t>$s1, $zero, 0</a:t>
                      </a:r>
                      <a:endParaRPr lang="en-US" sz="1200" dirty="0">
                        <a:solidFill>
                          <a:srgbClr val="006600"/>
                        </a:solidFill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142740"/>
                  </a:ext>
                </a:extLst>
              </a:tr>
              <a:tr h="1496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0x00084042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7030A0"/>
                          </a:solidFill>
                          <a:latin typeface="Lucida Console" panose="020B0609040504020204" pitchFamily="49" charset="0"/>
                        </a:rPr>
                        <a:t>Loop: </a:t>
                      </a:r>
                      <a:r>
                        <a:rPr lang="en-US" sz="1400" dirty="0" err="1">
                          <a:latin typeface="Lucida Console" panose="020B0609040504020204" pitchFamily="49" charset="0"/>
                        </a:rPr>
                        <a:t>srl</a:t>
                      </a:r>
                      <a:r>
                        <a:rPr lang="en-US" sz="1400" baseline="0" dirty="0">
                          <a:latin typeface="Lucida Console" panose="020B0609040504020204" pitchFamily="49" charset="0"/>
                        </a:rPr>
                        <a:t>  $t0, $t0, 1</a:t>
                      </a:r>
                      <a:endParaRPr lang="en-US" sz="1400" dirty="0"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889398"/>
                  </a:ext>
                </a:extLst>
              </a:tr>
              <a:tr h="2242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0x11000002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852321"/>
                  </a:ext>
                </a:extLst>
              </a:tr>
              <a:tr h="1321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0x22310001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031094"/>
                  </a:ext>
                </a:extLst>
              </a:tr>
              <a:tr h="296134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Console" panose="020B0609040504020204" pitchFamily="49" charset="0"/>
                        </a:rPr>
                        <a:t>      j    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Lucida Console" panose="020B0609040504020204" pitchFamily="49" charset="0"/>
                        </a:rPr>
                        <a:t>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330503"/>
                  </a:ext>
                </a:extLst>
              </a:tr>
              <a:tr h="337335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7030A0"/>
                          </a:solidFill>
                          <a:latin typeface="Lucida Console" panose="020B0609040504020204" pitchFamily="49" charset="0"/>
                        </a:rPr>
                        <a:t>exit: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3175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7810" y="4523361"/>
            <a:ext cx="1157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beq</a:t>
            </a:r>
            <a:endParaRPr lang="en-SG" sz="3200" dirty="0">
              <a:solidFill>
                <a:srgbClr val="C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61106" y="979842"/>
            <a:ext cx="1099226" cy="5847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/>
          <p:cNvSpPr txBox="1"/>
          <p:nvPr/>
        </p:nvSpPr>
        <p:spPr>
          <a:xfrm>
            <a:off x="1336710" y="3799865"/>
            <a:ext cx="1725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ucida Console" panose="020B0609040504020204" pitchFamily="49" charset="0"/>
              </a:rPr>
              <a:t>$8 = $t0</a:t>
            </a:r>
            <a:endParaRPr lang="en-SG" sz="2400" dirty="0">
              <a:latin typeface="Lucida Console" panose="020B060904050402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11320" y="4534203"/>
            <a:ext cx="1456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Lucida Console" panose="020B0609040504020204" pitchFamily="49" charset="0"/>
              </a:rPr>
              <a:t>$t0,</a:t>
            </a:r>
            <a:endParaRPr lang="en-SG" sz="3200" dirty="0">
              <a:solidFill>
                <a:srgbClr val="C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60332" y="975505"/>
            <a:ext cx="1099226" cy="5847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Box 18"/>
          <p:cNvSpPr txBox="1"/>
          <p:nvPr/>
        </p:nvSpPr>
        <p:spPr>
          <a:xfrm>
            <a:off x="2821624" y="4545045"/>
            <a:ext cx="17566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Lucida Console" panose="020B0609040504020204" pitchFamily="49" charset="0"/>
              </a:rPr>
              <a:t>$zero,</a:t>
            </a:r>
            <a:endParaRPr lang="en-SG" sz="3200" dirty="0">
              <a:solidFill>
                <a:srgbClr val="C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225042" y="971747"/>
            <a:ext cx="3689392" cy="5847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TextBox 20"/>
          <p:cNvSpPr txBox="1"/>
          <p:nvPr/>
        </p:nvSpPr>
        <p:spPr>
          <a:xfrm>
            <a:off x="4394124" y="4534026"/>
            <a:ext cx="612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Lucida Console" panose="020B0609040504020204" pitchFamily="49" charset="0"/>
              </a:rPr>
              <a:t>2</a:t>
            </a:r>
            <a:endParaRPr lang="en-SG" sz="3200" dirty="0">
              <a:solidFill>
                <a:srgbClr val="C0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5473847" y="5379138"/>
            <a:ext cx="1595337" cy="369332"/>
            <a:chOff x="5204298" y="5525311"/>
            <a:chExt cx="1595337" cy="369332"/>
          </a:xfrm>
        </p:grpSpPr>
        <p:sp>
          <p:nvSpPr>
            <p:cNvPr id="6" name="TextBox 5"/>
            <p:cNvSpPr txBox="1"/>
            <p:nvPr/>
          </p:nvSpPr>
          <p:spPr>
            <a:xfrm>
              <a:off x="5204298" y="5525311"/>
              <a:ext cx="12354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Next instr.</a:t>
              </a:r>
              <a:endParaRPr lang="en-SG" dirty="0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6342434" y="5680953"/>
              <a:ext cx="457201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658672" y="5670649"/>
            <a:ext cx="95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+2 instr.</a:t>
            </a:r>
            <a:endParaRPr lang="en-SG" dirty="0"/>
          </a:p>
        </p:txBody>
      </p:sp>
      <p:sp>
        <p:nvSpPr>
          <p:cNvPr id="30" name="Freeform 29"/>
          <p:cNvSpPr/>
          <p:nvPr/>
        </p:nvSpPr>
        <p:spPr>
          <a:xfrm>
            <a:off x="7010496" y="5622329"/>
            <a:ext cx="126781" cy="282102"/>
          </a:xfrm>
          <a:custGeom>
            <a:avLst/>
            <a:gdLst>
              <a:gd name="connsiteX0" fmla="*/ 97598 w 126781"/>
              <a:gd name="connsiteY0" fmla="*/ 0 h 282102"/>
              <a:gd name="connsiteX1" fmla="*/ 321 w 126781"/>
              <a:gd name="connsiteY1" fmla="*/ 136187 h 282102"/>
              <a:gd name="connsiteX2" fmla="*/ 126781 w 126781"/>
              <a:gd name="connsiteY2" fmla="*/ 282102 h 282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781" h="282102">
                <a:moveTo>
                  <a:pt x="97598" y="0"/>
                </a:moveTo>
                <a:cubicBezTo>
                  <a:pt x="46527" y="44585"/>
                  <a:pt x="-4543" y="89170"/>
                  <a:pt x="321" y="136187"/>
                </a:cubicBezTo>
                <a:cubicBezTo>
                  <a:pt x="5185" y="183204"/>
                  <a:pt x="65983" y="232653"/>
                  <a:pt x="126781" y="282102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Freeform 31"/>
          <p:cNvSpPr/>
          <p:nvPr/>
        </p:nvSpPr>
        <p:spPr>
          <a:xfrm>
            <a:off x="7005793" y="6014248"/>
            <a:ext cx="126781" cy="282102"/>
          </a:xfrm>
          <a:custGeom>
            <a:avLst/>
            <a:gdLst>
              <a:gd name="connsiteX0" fmla="*/ 97598 w 126781"/>
              <a:gd name="connsiteY0" fmla="*/ 0 h 282102"/>
              <a:gd name="connsiteX1" fmla="*/ 321 w 126781"/>
              <a:gd name="connsiteY1" fmla="*/ 136187 h 282102"/>
              <a:gd name="connsiteX2" fmla="*/ 126781 w 126781"/>
              <a:gd name="connsiteY2" fmla="*/ 282102 h 282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781" h="282102">
                <a:moveTo>
                  <a:pt x="97598" y="0"/>
                </a:moveTo>
                <a:cubicBezTo>
                  <a:pt x="46527" y="44585"/>
                  <a:pt x="-4543" y="89170"/>
                  <a:pt x="321" y="136187"/>
                </a:cubicBezTo>
                <a:cubicBezTo>
                  <a:pt x="5185" y="183204"/>
                  <a:pt x="65983" y="232653"/>
                  <a:pt x="126781" y="282102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3" name="Straight Connector 32"/>
          <p:cNvCxnSpPr/>
          <p:nvPr/>
        </p:nvCxnSpPr>
        <p:spPr>
          <a:xfrm flipH="1">
            <a:off x="4398314" y="4550766"/>
            <a:ext cx="393970" cy="45831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738045" y="4586590"/>
            <a:ext cx="1322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Lucida Console" panose="020B0609040504020204" pitchFamily="49" charset="0"/>
              </a:rPr>
              <a:t>exit</a:t>
            </a:r>
            <a:endParaRPr lang="en-SG" sz="3200" dirty="0">
              <a:solidFill>
                <a:srgbClr val="C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37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9" grpId="0" animBg="1"/>
      <p:bldP spid="11" grpId="0"/>
      <p:bldP spid="4" grpId="0"/>
      <p:bldP spid="14" grpId="0" animBg="1"/>
      <p:bldP spid="15" grpId="0"/>
      <p:bldP spid="16" grpId="0"/>
      <p:bldP spid="17" grpId="0" animBg="1"/>
      <p:bldP spid="19" grpId="0"/>
      <p:bldP spid="20" grpId="0" animBg="1"/>
      <p:bldP spid="21" grpId="0"/>
      <p:bldP spid="27" grpId="0"/>
      <p:bldP spid="30" grpId="0" animBg="1"/>
      <p:bldP spid="32" grpId="0" animBg="1"/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17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F6E8-CDB0-44C2-85CF-7F25BEECC6EA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6" y="260234"/>
            <a:ext cx="3314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3888" indent="-623888"/>
            <a:r>
              <a:rPr lang="en-SG" sz="3200" dirty="0"/>
              <a:t>(a)	0x22310001</a:t>
            </a:r>
            <a:endParaRPr lang="en-SG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6" y="971622"/>
            <a:ext cx="10238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3888" indent="-623888"/>
            <a:r>
              <a:rPr lang="en-SG" sz="3200" dirty="0"/>
              <a:t>0x22310001 = 0010 0010 0011 0001 0000 0000 0000 0001</a:t>
            </a:r>
            <a:endParaRPr lang="en-SG" sz="2400" dirty="0"/>
          </a:p>
        </p:txBody>
      </p:sp>
      <p:sp>
        <p:nvSpPr>
          <p:cNvPr id="2" name="Rounded Rectangle 1"/>
          <p:cNvSpPr/>
          <p:nvPr/>
        </p:nvSpPr>
        <p:spPr>
          <a:xfrm>
            <a:off x="3482502" y="971622"/>
            <a:ext cx="1478604" cy="5847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3482502" y="1712068"/>
            <a:ext cx="1721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Opcode = 8</a:t>
            </a:r>
            <a:endParaRPr lang="en-SG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504022" y="1712068"/>
            <a:ext cx="482675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Look up MIPS Reference Data sheet!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86061" y="2329404"/>
          <a:ext cx="858788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638">
                  <a:extLst>
                    <a:ext uri="{9D8B030D-6E8A-4147-A177-3AD203B41FA5}">
                      <a16:colId xmlns:a16="http://schemas.microsoft.com/office/drawing/2014/main" val="3518066403"/>
                    </a:ext>
                  </a:extLst>
                </a:gridCol>
                <a:gridCol w="1272788">
                  <a:extLst>
                    <a:ext uri="{9D8B030D-6E8A-4147-A177-3AD203B41FA5}">
                      <a16:colId xmlns:a16="http://schemas.microsoft.com/office/drawing/2014/main" val="2887287728"/>
                    </a:ext>
                  </a:extLst>
                </a:gridCol>
                <a:gridCol w="984795">
                  <a:extLst>
                    <a:ext uri="{9D8B030D-6E8A-4147-A177-3AD203B41FA5}">
                      <a16:colId xmlns:a16="http://schemas.microsoft.com/office/drawing/2014/main" val="3004631586"/>
                    </a:ext>
                  </a:extLst>
                </a:gridCol>
                <a:gridCol w="2573598">
                  <a:extLst>
                    <a:ext uri="{9D8B030D-6E8A-4147-A177-3AD203B41FA5}">
                      <a16:colId xmlns:a16="http://schemas.microsoft.com/office/drawing/2014/main" val="1074334198"/>
                    </a:ext>
                  </a:extLst>
                </a:gridCol>
                <a:gridCol w="1917067">
                  <a:extLst>
                    <a:ext uri="{9D8B030D-6E8A-4147-A177-3AD203B41FA5}">
                      <a16:colId xmlns:a16="http://schemas.microsoft.com/office/drawing/2014/main" val="3431389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Mnemonic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Opcode/</a:t>
                      </a:r>
                      <a:r>
                        <a:rPr lang="en-US" dirty="0" err="1"/>
                        <a:t>Funct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47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 Immediate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addi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R[</a:t>
                      </a:r>
                      <a:r>
                        <a:rPr lang="en-US" dirty="0" err="1"/>
                        <a:t>rt</a:t>
                      </a:r>
                      <a:r>
                        <a:rPr lang="en-US" dirty="0"/>
                        <a:t>] = R[</a:t>
                      </a:r>
                      <a:r>
                        <a:rPr lang="en-US" dirty="0" err="1"/>
                        <a:t>rs</a:t>
                      </a:r>
                      <a:r>
                        <a:rPr lang="en-US" dirty="0"/>
                        <a:t>] + </a:t>
                      </a:r>
                      <a:r>
                        <a:rPr lang="en-US" dirty="0" err="1"/>
                        <a:t>SignextImm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8</a:t>
                      </a:r>
                      <a:r>
                        <a:rPr lang="en-US" baseline="-25000" dirty="0" err="1"/>
                        <a:t>hex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7004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038107" y="3258600"/>
            <a:ext cx="1166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format: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204298" y="3258600"/>
          <a:ext cx="584420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621170051"/>
                    </a:ext>
                  </a:extLst>
                </a:gridCol>
                <a:gridCol w="1007165">
                  <a:extLst>
                    <a:ext uri="{9D8B030D-6E8A-4147-A177-3AD203B41FA5}">
                      <a16:colId xmlns:a16="http://schemas.microsoft.com/office/drawing/2014/main" val="2725849042"/>
                    </a:ext>
                  </a:extLst>
                </a:gridCol>
                <a:gridCol w="967409">
                  <a:extLst>
                    <a:ext uri="{9D8B030D-6E8A-4147-A177-3AD203B41FA5}">
                      <a16:colId xmlns:a16="http://schemas.microsoft.com/office/drawing/2014/main" val="3974302138"/>
                    </a:ext>
                  </a:extLst>
                </a:gridCol>
                <a:gridCol w="2584173">
                  <a:extLst>
                    <a:ext uri="{9D8B030D-6E8A-4147-A177-3AD203B41FA5}">
                      <a16:colId xmlns:a16="http://schemas.microsoft.com/office/drawing/2014/main" val="162960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opcode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rs</a:t>
                      </a:r>
                      <a:endParaRPr 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rt</a:t>
                      </a:r>
                      <a:endParaRPr 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immediate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3343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885286" y="4608578"/>
            <a:ext cx="1229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addi</a:t>
            </a:r>
            <a:endParaRPr lang="en-SG" sz="3200" dirty="0">
              <a:solidFill>
                <a:srgbClr val="C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61106" y="979842"/>
            <a:ext cx="1099226" cy="5847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/>
          <p:cNvSpPr txBox="1"/>
          <p:nvPr/>
        </p:nvSpPr>
        <p:spPr>
          <a:xfrm>
            <a:off x="3690803" y="3885082"/>
            <a:ext cx="2038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ucida Console" panose="020B0609040504020204" pitchFamily="49" charset="0"/>
              </a:rPr>
              <a:t>$17 = $s1</a:t>
            </a:r>
            <a:endParaRPr lang="en-SG" sz="2400" dirty="0">
              <a:latin typeface="Lucida Console" panose="020B0609040504020204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60332" y="975505"/>
            <a:ext cx="1099226" cy="5847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Box 18"/>
          <p:cNvSpPr txBox="1"/>
          <p:nvPr/>
        </p:nvSpPr>
        <p:spPr>
          <a:xfrm>
            <a:off x="5836596" y="4589842"/>
            <a:ext cx="1040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Lucida Console" panose="020B0609040504020204" pitchFamily="49" charset="0"/>
              </a:rPr>
              <a:t>$s1</a:t>
            </a:r>
            <a:endParaRPr lang="en-SG" sz="3200" dirty="0">
              <a:solidFill>
                <a:srgbClr val="C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225042" y="971747"/>
            <a:ext cx="3689392" cy="5847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TextBox 20"/>
          <p:cNvSpPr txBox="1"/>
          <p:nvPr/>
        </p:nvSpPr>
        <p:spPr>
          <a:xfrm>
            <a:off x="4355832" y="4551651"/>
            <a:ext cx="118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Lucida Console" panose="020B0609040504020204" pitchFamily="49" charset="0"/>
              </a:rPr>
              <a:t>$s1</a:t>
            </a:r>
            <a:endParaRPr lang="en-SG" sz="3200" dirty="0">
              <a:solidFill>
                <a:srgbClr val="C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04489" y="4773553"/>
            <a:ext cx="306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Lucida Console" panose="020B0609040504020204" pitchFamily="49" charset="0"/>
              </a:rPr>
              <a:t>____, ____,</a:t>
            </a:r>
            <a:endParaRPr lang="en-SG" sz="3200" dirty="0">
              <a:latin typeface="Lucida Console" panose="020B0609040504020204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94187" y="4592537"/>
            <a:ext cx="1040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Lucida Console" panose="020B0609040504020204" pitchFamily="49" charset="0"/>
              </a:rPr>
              <a:t>1</a:t>
            </a:r>
            <a:endParaRPr lang="en-SG" sz="3200" dirty="0">
              <a:solidFill>
                <a:srgbClr val="C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41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9" grpId="0" animBg="1"/>
      <p:bldP spid="11" grpId="0"/>
      <p:bldP spid="4" grpId="0"/>
      <p:bldP spid="14" grpId="0" animBg="1"/>
      <p:bldP spid="15" grpId="0"/>
      <p:bldP spid="17" grpId="0" animBg="1"/>
      <p:bldP spid="19" grpId="0"/>
      <p:bldP spid="20" grpId="0" animBg="1"/>
      <p:bldP spid="21" grpId="0"/>
      <p:bldP spid="18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18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F6E8-CDB0-44C2-85CF-7F25BEECC6EA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6" y="260234"/>
            <a:ext cx="4073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3888" indent="-623888"/>
            <a:r>
              <a:rPr lang="en-SG" sz="3200" dirty="0"/>
              <a:t>(a) </a:t>
            </a:r>
            <a:r>
              <a:rPr lang="en-US" sz="2800" dirty="0">
                <a:latin typeface="Lucida Console" panose="020B0609040504020204" pitchFamily="49" charset="0"/>
              </a:rPr>
              <a:t>j loop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631278" y="321790"/>
            <a:ext cx="482675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Look up MIPS Reference Data sheet!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79079" y="895613"/>
          <a:ext cx="858788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638">
                  <a:extLst>
                    <a:ext uri="{9D8B030D-6E8A-4147-A177-3AD203B41FA5}">
                      <a16:colId xmlns:a16="http://schemas.microsoft.com/office/drawing/2014/main" val="3518066403"/>
                    </a:ext>
                  </a:extLst>
                </a:gridCol>
                <a:gridCol w="1272788">
                  <a:extLst>
                    <a:ext uri="{9D8B030D-6E8A-4147-A177-3AD203B41FA5}">
                      <a16:colId xmlns:a16="http://schemas.microsoft.com/office/drawing/2014/main" val="2887287728"/>
                    </a:ext>
                  </a:extLst>
                </a:gridCol>
                <a:gridCol w="984795">
                  <a:extLst>
                    <a:ext uri="{9D8B030D-6E8A-4147-A177-3AD203B41FA5}">
                      <a16:colId xmlns:a16="http://schemas.microsoft.com/office/drawing/2014/main" val="3004631586"/>
                    </a:ext>
                  </a:extLst>
                </a:gridCol>
                <a:gridCol w="2573598">
                  <a:extLst>
                    <a:ext uri="{9D8B030D-6E8A-4147-A177-3AD203B41FA5}">
                      <a16:colId xmlns:a16="http://schemas.microsoft.com/office/drawing/2014/main" val="1074334198"/>
                    </a:ext>
                  </a:extLst>
                </a:gridCol>
                <a:gridCol w="1917067">
                  <a:extLst>
                    <a:ext uri="{9D8B030D-6E8A-4147-A177-3AD203B41FA5}">
                      <a16:colId xmlns:a16="http://schemas.microsoft.com/office/drawing/2014/main" val="3431389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Mnemonic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Opcode/</a:t>
                      </a:r>
                      <a:r>
                        <a:rPr lang="en-US" dirty="0" err="1"/>
                        <a:t>Funct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47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PC = </a:t>
                      </a:r>
                      <a:r>
                        <a:rPr lang="en-US" dirty="0" err="1"/>
                        <a:t>JumpAddr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-25000" dirty="0"/>
                        <a:t>hex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7004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16879" y="1785084"/>
            <a:ext cx="1166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 format: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83070" y="1785084"/>
          <a:ext cx="584420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621170051"/>
                    </a:ext>
                  </a:extLst>
                </a:gridCol>
                <a:gridCol w="4558747">
                  <a:extLst>
                    <a:ext uri="{9D8B030D-6E8A-4147-A177-3AD203B41FA5}">
                      <a16:colId xmlns:a16="http://schemas.microsoft.com/office/drawing/2014/main" val="2725849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opcode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3343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767122" y="4937675"/>
            <a:ext cx="1745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0 0 0 0 1 0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770433" y="4954120"/>
            <a:ext cx="9303027" cy="490332"/>
            <a:chOff x="1934817" y="4148222"/>
            <a:chExt cx="9303027" cy="490332"/>
          </a:xfrm>
        </p:grpSpPr>
        <p:sp>
          <p:nvSpPr>
            <p:cNvPr id="11" name="Rectangle 10"/>
            <p:cNvSpPr/>
            <p:nvPr/>
          </p:nvSpPr>
          <p:spPr>
            <a:xfrm>
              <a:off x="1934817" y="4148223"/>
              <a:ext cx="1736035" cy="490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677480" y="4148222"/>
              <a:ext cx="7560364" cy="490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50160" y="2597491"/>
            <a:ext cx="5430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address of the </a:t>
            </a:r>
            <a:r>
              <a:rPr lang="en-US" sz="2400" dirty="0" err="1"/>
              <a:t>srl</a:t>
            </a:r>
            <a:r>
              <a:rPr lang="en-US" sz="2400" dirty="0"/>
              <a:t> instruction?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2776" y="4937675"/>
            <a:ext cx="7356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0 0 0 0 0 1 0 0 0 0 0 0 0 0 0 0 0 0 0 0 0 0 1 0 1 1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5471" y="5525707"/>
            <a:ext cx="4229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(0 8 1 0 0 0 0 B)</a:t>
            </a:r>
            <a:r>
              <a:rPr lang="en-US" sz="3600" baseline="-25000" dirty="0">
                <a:solidFill>
                  <a:srgbClr val="C00000"/>
                </a:solidFill>
              </a:rPr>
              <a:t>16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85419" y="2458204"/>
          <a:ext cx="4173166" cy="2285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843">
                  <a:extLst>
                    <a:ext uri="{9D8B030D-6E8A-4147-A177-3AD203B41FA5}">
                      <a16:colId xmlns:a16="http://schemas.microsoft.com/office/drawing/2014/main" val="1505941137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2878367451"/>
                    </a:ext>
                  </a:extLst>
                </a:gridCol>
              </a:tblGrid>
              <a:tr h="3628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MIPS code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Address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895487"/>
                  </a:ext>
                </a:extLst>
              </a:tr>
              <a:tr h="29613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Console" panose="020B0609040504020204" pitchFamily="49" charset="0"/>
                        </a:rPr>
                        <a:t>      </a:t>
                      </a:r>
                      <a:r>
                        <a:rPr lang="en-US" sz="1400" dirty="0" err="1">
                          <a:latin typeface="Lucida Console" panose="020B0609040504020204" pitchFamily="49" charset="0"/>
                        </a:rPr>
                        <a:t>addi</a:t>
                      </a:r>
                      <a:r>
                        <a:rPr lang="en-US" sz="1400" baseline="0" dirty="0"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sz="1400" dirty="0">
                          <a:latin typeface="Lucida Console" panose="020B0609040504020204" pitchFamily="49" charset="0"/>
                        </a:rPr>
                        <a:t>$s1, $zero, 0</a:t>
                      </a:r>
                      <a:endParaRPr lang="en-US" sz="1200" dirty="0">
                        <a:solidFill>
                          <a:srgbClr val="006600"/>
                        </a:solidFill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6600"/>
                          </a:solidFill>
                          <a:latin typeface="Lucida Console" panose="020B0609040504020204" pitchFamily="49" charset="0"/>
                        </a:rPr>
                        <a:t>0x00400028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142740"/>
                  </a:ext>
                </a:extLst>
              </a:tr>
              <a:tr h="14968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7030A0"/>
                          </a:solidFill>
                          <a:latin typeface="Lucida Console" panose="020B0609040504020204" pitchFamily="49" charset="0"/>
                        </a:rPr>
                        <a:t>Loop: </a:t>
                      </a:r>
                      <a:r>
                        <a:rPr lang="en-US" sz="1400" dirty="0" err="1">
                          <a:latin typeface="Lucida Console" panose="020B0609040504020204" pitchFamily="49" charset="0"/>
                        </a:rPr>
                        <a:t>srl</a:t>
                      </a:r>
                      <a:r>
                        <a:rPr lang="en-US" sz="1400" baseline="0" dirty="0">
                          <a:latin typeface="Lucida Console" panose="020B0609040504020204" pitchFamily="49" charset="0"/>
                        </a:rPr>
                        <a:t>  $t0, $t0, 1</a:t>
                      </a:r>
                      <a:endParaRPr lang="en-US" sz="1400" dirty="0"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889398"/>
                  </a:ext>
                </a:extLst>
              </a:tr>
              <a:tr h="224262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852321"/>
                  </a:ext>
                </a:extLst>
              </a:tr>
              <a:tr h="13217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031094"/>
                  </a:ext>
                </a:extLst>
              </a:tr>
              <a:tr h="29613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Console" panose="020B0609040504020204" pitchFamily="49" charset="0"/>
                        </a:rPr>
                        <a:t>      j    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Lucida Console" panose="020B0609040504020204" pitchFamily="49" charset="0"/>
                        </a:rPr>
                        <a:t>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7030A0"/>
                        </a:solidFill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330503"/>
                  </a:ext>
                </a:extLst>
              </a:tr>
              <a:tr h="337335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7030A0"/>
                          </a:solidFill>
                          <a:latin typeface="Lucida Console" panose="020B0609040504020204" pitchFamily="49" charset="0"/>
                        </a:rPr>
                        <a:t>exit: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7030A0"/>
                        </a:solidFill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317506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139321" y="3059156"/>
            <a:ext cx="548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160" y="3075831"/>
            <a:ext cx="4418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0x00400028 + 4 = </a:t>
            </a:r>
            <a:r>
              <a:rPr lang="en-US" sz="2400" dirty="0">
                <a:solidFill>
                  <a:srgbClr val="0000FF"/>
                </a:solidFill>
              </a:rPr>
              <a:t>0x0040002C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810" y="4098105"/>
            <a:ext cx="5984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0000 0000 0100 0000 0000 0000 0010 1100</a:t>
            </a:r>
            <a:endParaRPr lang="en-US" sz="2400" dirty="0">
              <a:solidFill>
                <a:srgbClr val="0000FF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038819" y="4328937"/>
            <a:ext cx="291830" cy="949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911403" y="4338430"/>
            <a:ext cx="6429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0160" y="3609983"/>
            <a:ext cx="5834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Remove the first 4 bits and last 2 bits:</a:t>
            </a:r>
            <a:endParaRPr 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3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2" grpId="0"/>
      <p:bldP spid="16" grpId="0"/>
      <p:bldP spid="20" grpId="0"/>
      <p:bldP spid="22" grpId="0"/>
      <p:bldP spid="24" grpId="0"/>
      <p:bldP spid="25" grpId="0"/>
      <p:bldP spid="26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19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F6E8-CDB0-44C2-85CF-7F25BEECC6EA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5" y="260234"/>
            <a:ext cx="849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3888" indent="-623888"/>
            <a:r>
              <a:rPr lang="en-SG" sz="3200" dirty="0"/>
              <a:t>(a)</a:t>
            </a:r>
            <a:endParaRPr lang="en-SG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47809" y="997961"/>
          <a:ext cx="11279147" cy="5031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7182">
                  <a:extLst>
                    <a:ext uri="{9D8B030D-6E8A-4147-A177-3AD203B41FA5}">
                      <a16:colId xmlns:a16="http://schemas.microsoft.com/office/drawing/2014/main" val="2959064186"/>
                    </a:ext>
                  </a:extLst>
                </a:gridCol>
                <a:gridCol w="8931965">
                  <a:extLst>
                    <a:ext uri="{9D8B030D-6E8A-4147-A177-3AD203B41FA5}">
                      <a16:colId xmlns:a16="http://schemas.microsoft.com/office/drawing/2014/main" val="1505941137"/>
                    </a:ext>
                  </a:extLst>
                </a:gridCol>
              </a:tblGrid>
              <a:tr h="111417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Instruction encoding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MIPS code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895487"/>
                  </a:ext>
                </a:extLst>
              </a:tr>
              <a:tr h="539119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6600"/>
                          </a:solidFill>
                        </a:rPr>
                        <a:t>               #</a:t>
                      </a:r>
                      <a:r>
                        <a:rPr lang="en-US" sz="2400" baseline="0" dirty="0">
                          <a:solidFill>
                            <a:srgbClr val="006600"/>
                          </a:solidFill>
                        </a:rPr>
                        <a:t> $</a:t>
                      </a:r>
                      <a:r>
                        <a:rPr lang="en-US" sz="2400" baseline="0" dirty="0" err="1">
                          <a:solidFill>
                            <a:srgbClr val="006600"/>
                          </a:solidFill>
                        </a:rPr>
                        <a:t>s1</a:t>
                      </a:r>
                      <a:r>
                        <a:rPr lang="en-US" sz="2400" baseline="0" dirty="0">
                          <a:solidFill>
                            <a:srgbClr val="006600"/>
                          </a:solidFill>
                        </a:rPr>
                        <a:t> stores the results; $</a:t>
                      </a:r>
                      <a:r>
                        <a:rPr lang="en-US" sz="2400" baseline="0" dirty="0" err="1">
                          <a:solidFill>
                            <a:srgbClr val="006600"/>
                          </a:solidFill>
                        </a:rPr>
                        <a:t>t0</a:t>
                      </a:r>
                      <a:r>
                        <a:rPr lang="en-US" sz="2400" baseline="0" dirty="0">
                          <a:solidFill>
                            <a:srgbClr val="006600"/>
                          </a:solidFill>
                        </a:rPr>
                        <a:t> stores a non-negative number</a:t>
                      </a:r>
                      <a:endParaRPr lang="en-US" sz="2400" dirty="0">
                        <a:solidFill>
                          <a:srgbClr val="006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430185"/>
                  </a:ext>
                </a:extLst>
              </a:tr>
              <a:tr h="539119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Lucida Console" panose="020B0609040504020204" pitchFamily="49" charset="0"/>
                        </a:rPr>
                        <a:t>      </a:t>
                      </a:r>
                      <a:r>
                        <a:rPr lang="en-US" sz="2400" dirty="0" err="1">
                          <a:latin typeface="Lucida Console" panose="020B0609040504020204" pitchFamily="49" charset="0"/>
                        </a:rPr>
                        <a:t>addi</a:t>
                      </a:r>
                      <a:r>
                        <a:rPr lang="en-US" sz="2400" baseline="0" dirty="0"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sz="2400" dirty="0">
                          <a:latin typeface="Lucida Console" panose="020B0609040504020204" pitchFamily="49" charset="0"/>
                        </a:rPr>
                        <a:t>$s1, $zero, 0 </a:t>
                      </a:r>
                      <a:r>
                        <a:rPr lang="en-US" sz="2000" dirty="0">
                          <a:solidFill>
                            <a:srgbClr val="006600"/>
                          </a:solidFill>
                          <a:latin typeface="Lucida Console" panose="020B0609040504020204" pitchFamily="49" charset="0"/>
                        </a:rPr>
                        <a:t>#</a:t>
                      </a:r>
                      <a:r>
                        <a:rPr lang="en-US" sz="2000" dirty="0" err="1">
                          <a:solidFill>
                            <a:srgbClr val="006600"/>
                          </a:solidFill>
                          <a:latin typeface="Lucida Console" panose="020B0609040504020204" pitchFamily="49" charset="0"/>
                        </a:rPr>
                        <a:t>inst</a:t>
                      </a:r>
                      <a:r>
                        <a:rPr lang="en-US" sz="2000" dirty="0">
                          <a:solidFill>
                            <a:srgbClr val="006600"/>
                          </a:solidFill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6600"/>
                          </a:solidFill>
                          <a:latin typeface="Lucida Console" panose="020B0609040504020204" pitchFamily="49" charset="0"/>
                        </a:rPr>
                        <a:t>addr</a:t>
                      </a:r>
                      <a:r>
                        <a:rPr lang="en-US" sz="2000" baseline="0" dirty="0">
                          <a:solidFill>
                            <a:srgbClr val="006600"/>
                          </a:solidFill>
                          <a:latin typeface="Lucida Console" panose="020B0609040504020204" pitchFamily="49" charset="0"/>
                        </a:rPr>
                        <a:t> is 0x00400028</a:t>
                      </a:r>
                      <a:endParaRPr lang="en-US" sz="2000" dirty="0">
                        <a:solidFill>
                          <a:srgbClr val="006600"/>
                        </a:solidFill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142740"/>
                  </a:ext>
                </a:extLst>
              </a:tr>
              <a:tr h="53911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0x00084042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7030A0"/>
                          </a:solidFill>
                          <a:latin typeface="Lucida Console" panose="020B0609040504020204" pitchFamily="49" charset="0"/>
                        </a:rPr>
                        <a:t>Loop: </a:t>
                      </a:r>
                      <a:r>
                        <a:rPr lang="en-US" sz="2400" dirty="0" err="1">
                          <a:latin typeface="Lucida Console" panose="020B0609040504020204" pitchFamily="49" charset="0"/>
                        </a:rPr>
                        <a:t>srl</a:t>
                      </a:r>
                      <a:r>
                        <a:rPr lang="en-US" sz="2400" baseline="0" dirty="0">
                          <a:latin typeface="Lucida Console" panose="020B0609040504020204" pitchFamily="49" charset="0"/>
                        </a:rPr>
                        <a:t>  $t0, $t0, 1</a:t>
                      </a:r>
                      <a:endParaRPr lang="en-US" sz="2400" dirty="0"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889398"/>
                  </a:ext>
                </a:extLst>
              </a:tr>
              <a:tr h="6110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0x11000002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852321"/>
                  </a:ext>
                </a:extLst>
              </a:tr>
              <a:tr h="6110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0x22310001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031094"/>
                  </a:ext>
                </a:extLst>
              </a:tr>
              <a:tr h="539119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Lucida Console" panose="020B0609040504020204" pitchFamily="49" charset="0"/>
                        </a:rPr>
                        <a:t>      j    </a:t>
                      </a:r>
                      <a:r>
                        <a:rPr lang="en-US" sz="2400" dirty="0">
                          <a:solidFill>
                            <a:srgbClr val="7030A0"/>
                          </a:solidFill>
                          <a:latin typeface="Lucida Console" panose="020B0609040504020204" pitchFamily="49" charset="0"/>
                        </a:rPr>
                        <a:t>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330503"/>
                  </a:ext>
                </a:extLst>
              </a:tr>
              <a:tr h="539119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7030A0"/>
                          </a:solidFill>
                          <a:latin typeface="Lucida Console" panose="020B0609040504020204" pitchFamily="49" charset="0"/>
                        </a:rPr>
                        <a:t>exit: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3175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391055" y="2607013"/>
            <a:ext cx="953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?</a:t>
            </a:r>
            <a:endParaRPr lang="en-SG" sz="3200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1054" y="4938409"/>
            <a:ext cx="953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?</a:t>
            </a:r>
            <a:endParaRPr lang="en-SG" sz="3200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6382" y="3751634"/>
            <a:ext cx="953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?</a:t>
            </a:r>
            <a:endParaRPr lang="en-SG" sz="3200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6381" y="4336409"/>
            <a:ext cx="953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?</a:t>
            </a:r>
            <a:endParaRPr lang="en-SG" sz="3200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4075" y="2660235"/>
            <a:ext cx="220726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0x20110000</a:t>
            </a:r>
            <a:endParaRPr lang="en-US" sz="2800" baseline="-25000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68237" y="3767491"/>
            <a:ext cx="485202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beq</a:t>
            </a:r>
            <a:r>
              <a:rPr lang="en-US" sz="2800" dirty="0">
                <a:solidFill>
                  <a:srgbClr val="C00000"/>
                </a:solidFill>
                <a:latin typeface="Lucida Console" panose="020B0609040504020204" pitchFamily="49" charset="0"/>
              </a:rPr>
              <a:t>  $t0, $zero, exit</a:t>
            </a:r>
            <a:endParaRPr lang="en-US" sz="2800" baseline="-25000" dirty="0">
              <a:solidFill>
                <a:srgbClr val="C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68237" y="4382108"/>
            <a:ext cx="485202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addi</a:t>
            </a:r>
            <a:r>
              <a:rPr lang="en-US" sz="2800" dirty="0">
                <a:solidFill>
                  <a:srgbClr val="C00000"/>
                </a:solidFill>
                <a:latin typeface="Lucida Console" panose="020B0609040504020204" pitchFamily="49" charset="0"/>
              </a:rPr>
              <a:t> $s1, $s1, 1</a:t>
            </a:r>
            <a:endParaRPr lang="en-US" sz="2800" baseline="-25000" dirty="0">
              <a:solidFill>
                <a:srgbClr val="C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4075" y="4917002"/>
            <a:ext cx="220726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0x0810000B</a:t>
            </a:r>
            <a:endParaRPr lang="en-US" sz="2800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13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>
          <a:xfrm>
            <a:off x="9287091" y="6387033"/>
            <a:ext cx="2743200" cy="365125"/>
          </a:xfrm>
        </p:spPr>
        <p:txBody>
          <a:bodyPr/>
          <a:lstStyle/>
          <a:p>
            <a:fld id="{AEBE2BCA-7FFD-4666-9163-5C061F649162}" type="slidenum">
              <a:rPr lang="en-SG" sz="1600" b="1" smtClean="0">
                <a:solidFill>
                  <a:schemeClr val="tx1"/>
                </a:solidFill>
              </a:rPr>
              <a:t>20</a:t>
            </a:fld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F6E8-CDB0-44C2-85CF-7F25BEECC6EA}"/>
              </a:ext>
            </a:extLst>
          </p:cNvPr>
          <p:cNvSpPr txBox="1"/>
          <p:nvPr/>
        </p:nvSpPr>
        <p:spPr>
          <a:xfrm>
            <a:off x="197334" y="260235"/>
            <a:ext cx="900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14333-7305-4818-ACBD-F1871C2024CD}"/>
              </a:ext>
            </a:extLst>
          </p:cNvPr>
          <p:cNvSpPr txBox="1"/>
          <p:nvPr/>
        </p:nvSpPr>
        <p:spPr>
          <a:xfrm>
            <a:off x="1098285" y="260234"/>
            <a:ext cx="849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3888" indent="-623888"/>
            <a:r>
              <a:rPr lang="en-SG" sz="3200" dirty="0"/>
              <a:t>(b)</a:t>
            </a:r>
            <a:endParaRPr lang="en-SG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831052" y="260233"/>
            <a:ext cx="7954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Give a simple mathematic expression for the relationship between $s1 and $t0.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4548" y="1575882"/>
            <a:ext cx="5292787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ucida Console" panose="020B0609040504020204" pitchFamily="49" charset="0"/>
              </a:rPr>
              <a:t>      </a:t>
            </a:r>
            <a:r>
              <a:rPr lang="en-US" sz="2400" dirty="0" err="1">
                <a:latin typeface="Lucida Console" panose="020B0609040504020204" pitchFamily="49" charset="0"/>
              </a:rPr>
              <a:t>addi</a:t>
            </a:r>
            <a:r>
              <a:rPr lang="en-US" sz="2400" dirty="0">
                <a:latin typeface="Lucida Console" panose="020B0609040504020204" pitchFamily="49" charset="0"/>
              </a:rPr>
              <a:t> $s1, $zero, 0</a:t>
            </a:r>
          </a:p>
          <a:p>
            <a:r>
              <a:rPr 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loop: </a:t>
            </a:r>
            <a:r>
              <a:rPr lang="en-US" sz="2400" dirty="0" err="1">
                <a:latin typeface="Lucida Console" panose="020B0609040504020204" pitchFamily="49" charset="0"/>
              </a:rPr>
              <a:t>srl</a:t>
            </a:r>
            <a:r>
              <a:rPr lang="en-US" sz="2400" dirty="0">
                <a:latin typeface="Lucida Console" panose="020B0609040504020204" pitchFamily="49" charset="0"/>
              </a:rPr>
              <a:t>  $t0, $t0, 1</a:t>
            </a:r>
          </a:p>
          <a:p>
            <a:r>
              <a:rPr lang="en-US" sz="2400" dirty="0">
                <a:latin typeface="Lucida Console" panose="020B0609040504020204" pitchFamily="49" charset="0"/>
              </a:rPr>
              <a:t>      </a:t>
            </a:r>
            <a:r>
              <a:rPr lang="en-US" sz="2400" dirty="0" err="1">
                <a:latin typeface="Lucida Console" panose="020B0609040504020204" pitchFamily="49" charset="0"/>
              </a:rPr>
              <a:t>beq</a:t>
            </a:r>
            <a:r>
              <a:rPr lang="en-US" sz="2400" dirty="0">
                <a:latin typeface="Lucida Console" panose="020B0609040504020204" pitchFamily="49" charset="0"/>
              </a:rPr>
              <a:t>  $t0, $zero, </a:t>
            </a:r>
            <a:r>
              <a:rPr 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exit</a:t>
            </a:r>
          </a:p>
          <a:p>
            <a:r>
              <a:rPr lang="en-US" sz="2400" dirty="0">
                <a:latin typeface="Lucida Console" panose="020B0609040504020204" pitchFamily="49" charset="0"/>
              </a:rPr>
              <a:t>      </a:t>
            </a:r>
            <a:r>
              <a:rPr lang="en-US" sz="2400" dirty="0" err="1">
                <a:latin typeface="Lucida Console" panose="020B0609040504020204" pitchFamily="49" charset="0"/>
              </a:rPr>
              <a:t>addi</a:t>
            </a:r>
            <a:r>
              <a:rPr lang="en-US" sz="2400" dirty="0">
                <a:latin typeface="Lucida Console" panose="020B0609040504020204" pitchFamily="49" charset="0"/>
              </a:rPr>
              <a:t> $s1, $s1, 1</a:t>
            </a:r>
          </a:p>
          <a:p>
            <a:r>
              <a:rPr lang="en-US" sz="2400" dirty="0">
                <a:latin typeface="Lucida Console" panose="020B0609040504020204" pitchFamily="49" charset="0"/>
              </a:rPr>
              <a:t>      j    </a:t>
            </a:r>
            <a:r>
              <a:rPr 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loop</a:t>
            </a:r>
          </a:p>
          <a:p>
            <a:r>
              <a:rPr 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exit:</a:t>
            </a:r>
            <a:endParaRPr lang="en-SG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770452" y="2480553"/>
                <a:ext cx="3657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$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1=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($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0)</m:t>
                          </m:r>
                        </m:e>
                      </m:d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452" y="2480553"/>
                <a:ext cx="36576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6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3103</TotalTime>
  <Words>2210</Words>
  <Application>Microsoft Macintosh PowerPoint</Application>
  <PresentationFormat>Widescreen</PresentationFormat>
  <Paragraphs>368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Calibri Light</vt:lpstr>
      <vt:lpstr>Cambria Math</vt:lpstr>
      <vt:lpstr>Lucida Console</vt:lpstr>
      <vt:lpstr>Wingdings</vt:lpstr>
      <vt:lpstr>Retrospect</vt:lpstr>
      <vt:lpstr>IT5002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CS2100</dc:title>
  <dc:creator>Tuck-Choy Aaron TAN</dc:creator>
  <cp:lastModifiedBy>Tan Keng Yan, Colin</cp:lastModifiedBy>
  <cp:revision>286</cp:revision>
  <cp:lastPrinted>2019-04-10T00:56:38Z</cp:lastPrinted>
  <dcterms:created xsi:type="dcterms:W3CDTF">2015-03-28T05:22:46Z</dcterms:created>
  <dcterms:modified xsi:type="dcterms:W3CDTF">2025-09-08T11:42:59Z</dcterms:modified>
</cp:coreProperties>
</file>