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2"/>
  </p:notesMasterIdLst>
  <p:sldIdLst>
    <p:sldId id="277" r:id="rId2"/>
    <p:sldId id="319" r:id="rId3"/>
    <p:sldId id="278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90" r:id="rId16"/>
    <p:sldId id="291" r:id="rId17"/>
    <p:sldId id="292" r:id="rId18"/>
    <p:sldId id="293" r:id="rId19"/>
    <p:sldId id="294" r:id="rId20"/>
    <p:sldId id="295" r:id="rId21"/>
    <p:sldId id="296" r:id="rId22"/>
    <p:sldId id="297" r:id="rId23"/>
    <p:sldId id="298" r:id="rId24"/>
    <p:sldId id="299" r:id="rId25"/>
    <p:sldId id="300" r:id="rId26"/>
    <p:sldId id="301" r:id="rId27"/>
    <p:sldId id="302" r:id="rId28"/>
    <p:sldId id="303" r:id="rId29"/>
    <p:sldId id="321" r:id="rId30"/>
    <p:sldId id="304" r:id="rId31"/>
    <p:sldId id="305" r:id="rId32"/>
    <p:sldId id="306" r:id="rId33"/>
    <p:sldId id="307" r:id="rId34"/>
    <p:sldId id="308" r:id="rId35"/>
    <p:sldId id="309" r:id="rId36"/>
    <p:sldId id="320" r:id="rId37"/>
    <p:sldId id="310" r:id="rId38"/>
    <p:sldId id="311" r:id="rId39"/>
    <p:sldId id="312" r:id="rId40"/>
    <p:sldId id="313" r:id="rId41"/>
  </p:sldIdLst>
  <p:sldSz cx="9144000" cy="6858000" type="screen4x3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BCCCC"/>
    <a:srgbClr val="003298"/>
    <a:srgbClr val="66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6603" autoAdjust="0"/>
    <p:restoredTop sz="94660"/>
  </p:normalViewPr>
  <p:slideViewPr>
    <p:cSldViewPr snapToGrid="0">
      <p:cViewPr varScale="1">
        <p:scale>
          <a:sx n="69" d="100"/>
          <a:sy n="69" d="100"/>
        </p:scale>
        <p:origin x="1144" y="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3732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B0F297C3-9C17-4D83-8D06-073FE7156636}" type="datetimeFigureOut">
              <a:rPr lang="en-SG" smtClean="0"/>
              <a:t>7/10/2025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279525"/>
            <a:ext cx="46037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79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F20944AB-9450-45DE-8E02-6649B9843C2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173506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67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SG" altLang="en-US"/>
          </a:p>
        </p:txBody>
      </p:sp>
      <p:sp>
        <p:nvSpPr>
          <p:cNvPr id="115716" name="Slide Number Placeholder 3"/>
          <p:cNvSpPr>
            <a:spLocks noGrp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4050" eaLnBrk="0" hangingPunct="0">
              <a:defRPr sz="26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1pPr>
            <a:lvl2pPr marL="804763" indent="-309524" defTabSz="944050" eaLnBrk="0" hangingPunct="0">
              <a:defRPr sz="26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2pPr>
            <a:lvl3pPr marL="1238098" indent="-247620" defTabSz="944050" eaLnBrk="0" hangingPunct="0">
              <a:defRPr sz="26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3pPr>
            <a:lvl4pPr marL="1733337" indent="-247620" defTabSz="944050" eaLnBrk="0" hangingPunct="0">
              <a:defRPr sz="26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4pPr>
            <a:lvl5pPr marL="2228576" indent="-247620" defTabSz="944050" eaLnBrk="0" hangingPunct="0">
              <a:defRPr sz="26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5pPr>
            <a:lvl6pPr marL="2723815" indent="-247620" defTabSz="94405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6pPr>
            <a:lvl7pPr marL="3219054" indent="-247620" defTabSz="94405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7pPr>
            <a:lvl8pPr marL="3714293" indent="-247620" defTabSz="94405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8pPr>
            <a:lvl9pPr marL="4209532" indent="-247620" defTabSz="94405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9pPr>
          </a:lstStyle>
          <a:p>
            <a:fld id="{82BE9358-62D1-4C72-8487-3415FE5B8C84}" type="slidenum">
              <a:rPr lang="en-US" altLang="en-US" sz="1200"/>
              <a:pPr/>
              <a:t>1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41779809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93414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27001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88213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48301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20626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40483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99191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49070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6234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1460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1027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33309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3264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41603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18990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63127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87436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166564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147455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698958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591282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058593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156416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808488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724983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41265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610220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364543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576481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610041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749106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386053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808985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6403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943318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0630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0"/>
          <p:cNvSpPr>
            <a:spLocks noChangeArrowheads="1"/>
          </p:cNvSpPr>
          <p:nvPr userDrawn="1"/>
        </p:nvSpPr>
        <p:spPr bwMode="auto">
          <a:xfrm>
            <a:off x="1" y="1"/>
            <a:ext cx="9144000" cy="4953239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en-SG" altLang="en-US" sz="1625"/>
          </a:p>
        </p:txBody>
      </p:sp>
      <p:sp>
        <p:nvSpPr>
          <p:cNvPr id="4" name="Rectangle 11"/>
          <p:cNvSpPr>
            <a:spLocks noChangeArrowheads="1"/>
          </p:cNvSpPr>
          <p:nvPr userDrawn="1"/>
        </p:nvSpPr>
        <p:spPr bwMode="auto">
          <a:xfrm>
            <a:off x="1" y="6604318"/>
            <a:ext cx="9144000" cy="253682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en-SG" altLang="en-US" sz="1625"/>
          </a:p>
        </p:txBody>
      </p:sp>
      <p:pic>
        <p:nvPicPr>
          <p:cNvPr id="5" name="Picture 1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3047" y="5198322"/>
            <a:ext cx="2317815" cy="11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49069" y="1375900"/>
            <a:ext cx="8098767" cy="1582285"/>
          </a:xfrm>
        </p:spPr>
        <p:txBody>
          <a:bodyPr/>
          <a:lstStyle>
            <a:lvl1pPr algn="ctr">
              <a:defRPr sz="4063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19948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0499" y="561666"/>
            <a:ext cx="6518763" cy="11437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B421092-8A9E-4509-949B-F11F09B532FB}" type="slidenum">
              <a:rPr lang="en-GB" altLang="en-US"/>
              <a:pPr/>
              <a:t>‹#›</a:t>
            </a:fld>
            <a:endParaRPr lang="en-GB" altLang="en-US" sz="108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61074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084" y="4407180"/>
            <a:ext cx="7772757" cy="1361567"/>
          </a:xfrm>
        </p:spPr>
        <p:txBody>
          <a:bodyPr anchor="t"/>
          <a:lstStyle>
            <a:lvl1pPr algn="l">
              <a:defRPr sz="2708" b="1" cap="all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084" y="2906589"/>
            <a:ext cx="7772757" cy="1500591"/>
          </a:xfrm>
        </p:spPr>
        <p:txBody>
          <a:bodyPr anchor="b"/>
          <a:lstStyle>
            <a:lvl1pPr marL="0" indent="0">
              <a:buNone/>
              <a:defRPr sz="1355"/>
            </a:lvl1pPr>
            <a:lvl2pPr marL="309570" indent="0">
              <a:buNone/>
              <a:defRPr sz="1219"/>
            </a:lvl2pPr>
            <a:lvl3pPr marL="619140" indent="0">
              <a:buNone/>
              <a:defRPr sz="1083"/>
            </a:lvl3pPr>
            <a:lvl4pPr marL="928710" indent="0">
              <a:buNone/>
              <a:defRPr sz="948"/>
            </a:lvl4pPr>
            <a:lvl5pPr marL="1238281" indent="0">
              <a:buNone/>
              <a:defRPr sz="948"/>
            </a:lvl5pPr>
            <a:lvl6pPr marL="1547851" indent="0">
              <a:buNone/>
              <a:defRPr sz="948"/>
            </a:lvl6pPr>
            <a:lvl7pPr marL="1857421" indent="0">
              <a:buNone/>
              <a:defRPr sz="948"/>
            </a:lvl7pPr>
            <a:lvl8pPr marL="2166991" indent="0">
              <a:buNone/>
              <a:defRPr sz="948"/>
            </a:lvl8pPr>
            <a:lvl9pPr marL="2476561" indent="0">
              <a:buNone/>
              <a:defRPr sz="94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2E3A226-6E30-4DE6-9E8C-249C8EDEBBA8}" type="slidenum">
              <a:rPr lang="en-GB" altLang="en-US"/>
              <a:pPr/>
              <a:t>‹#›</a:t>
            </a:fld>
            <a:endParaRPr lang="en-GB" altLang="en-US" sz="108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9118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0499" y="554982"/>
            <a:ext cx="6518763" cy="11437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50501" y="1980723"/>
            <a:ext cx="3816314" cy="4243791"/>
          </a:xfrm>
        </p:spPr>
        <p:txBody>
          <a:bodyPr/>
          <a:lstStyle>
            <a:lvl1pPr>
              <a:defRPr sz="1896"/>
            </a:lvl1pPr>
            <a:lvl2pPr>
              <a:defRPr sz="1625"/>
            </a:lvl2pPr>
            <a:lvl3pPr>
              <a:defRPr sz="1355"/>
            </a:lvl3pPr>
            <a:lvl4pPr>
              <a:defRPr sz="1219"/>
            </a:lvl4pPr>
            <a:lvl5pPr>
              <a:defRPr sz="1219"/>
            </a:lvl5pPr>
            <a:lvl6pPr>
              <a:defRPr sz="1219"/>
            </a:lvl6pPr>
            <a:lvl7pPr>
              <a:defRPr sz="1219"/>
            </a:lvl7pPr>
            <a:lvl8pPr>
              <a:defRPr sz="1219"/>
            </a:lvl8pPr>
            <a:lvl9pPr>
              <a:defRPr sz="121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4082" y="1980723"/>
            <a:ext cx="3817745" cy="4243791"/>
          </a:xfrm>
        </p:spPr>
        <p:txBody>
          <a:bodyPr/>
          <a:lstStyle>
            <a:lvl1pPr>
              <a:defRPr sz="1896"/>
            </a:lvl1pPr>
            <a:lvl2pPr>
              <a:defRPr sz="1625"/>
            </a:lvl2pPr>
            <a:lvl3pPr>
              <a:defRPr sz="1355"/>
            </a:lvl3pPr>
            <a:lvl4pPr>
              <a:defRPr sz="1219"/>
            </a:lvl4pPr>
            <a:lvl5pPr>
              <a:defRPr sz="1219"/>
            </a:lvl5pPr>
            <a:lvl6pPr>
              <a:defRPr sz="1219"/>
            </a:lvl6pPr>
            <a:lvl7pPr>
              <a:defRPr sz="1219"/>
            </a:lvl7pPr>
            <a:lvl8pPr>
              <a:defRPr sz="1219"/>
            </a:lvl8pPr>
            <a:lvl9pPr>
              <a:defRPr sz="121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B8A561D-031E-4C46-8BE8-07B563279054}" type="slidenum">
              <a:rPr lang="en-GB" altLang="en-US"/>
              <a:pPr/>
              <a:t>‹#›</a:t>
            </a:fld>
            <a:endParaRPr lang="en-GB" altLang="en-US" sz="108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74631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558" y="275180"/>
            <a:ext cx="8228885" cy="114228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558" y="1534989"/>
            <a:ext cx="4039375" cy="639220"/>
          </a:xfrm>
        </p:spPr>
        <p:txBody>
          <a:bodyPr anchor="b"/>
          <a:lstStyle>
            <a:lvl1pPr marL="0" indent="0">
              <a:buNone/>
              <a:defRPr sz="1625" b="1"/>
            </a:lvl1pPr>
            <a:lvl2pPr marL="309570" indent="0">
              <a:buNone/>
              <a:defRPr sz="1355" b="1"/>
            </a:lvl2pPr>
            <a:lvl3pPr marL="619140" indent="0">
              <a:buNone/>
              <a:defRPr sz="1219" b="1"/>
            </a:lvl3pPr>
            <a:lvl4pPr marL="928710" indent="0">
              <a:buNone/>
              <a:defRPr sz="1083" b="1"/>
            </a:lvl4pPr>
            <a:lvl5pPr marL="1238281" indent="0">
              <a:buNone/>
              <a:defRPr sz="1083" b="1"/>
            </a:lvl5pPr>
            <a:lvl6pPr marL="1547851" indent="0">
              <a:buNone/>
              <a:defRPr sz="1083" b="1"/>
            </a:lvl6pPr>
            <a:lvl7pPr marL="1857421" indent="0">
              <a:buNone/>
              <a:defRPr sz="1083" b="1"/>
            </a:lvl7pPr>
            <a:lvl8pPr marL="2166991" indent="0">
              <a:buNone/>
              <a:defRPr sz="1083" b="1"/>
            </a:lvl8pPr>
            <a:lvl9pPr marL="2476561" indent="0">
              <a:buNone/>
              <a:defRPr sz="108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558" y="2174210"/>
            <a:ext cx="4039375" cy="3951411"/>
          </a:xfrm>
        </p:spPr>
        <p:txBody>
          <a:bodyPr/>
          <a:lstStyle>
            <a:lvl1pPr>
              <a:defRPr sz="1625"/>
            </a:lvl1pPr>
            <a:lvl2pPr>
              <a:defRPr sz="1355"/>
            </a:lvl2pPr>
            <a:lvl3pPr>
              <a:defRPr sz="1219"/>
            </a:lvl3pPr>
            <a:lvl4pPr>
              <a:defRPr sz="1083"/>
            </a:lvl4pPr>
            <a:lvl5pPr>
              <a:defRPr sz="1083"/>
            </a:lvl5pPr>
            <a:lvl6pPr>
              <a:defRPr sz="1083"/>
            </a:lvl6pPr>
            <a:lvl7pPr>
              <a:defRPr sz="1083"/>
            </a:lvl7pPr>
            <a:lvl8pPr>
              <a:defRPr sz="1083"/>
            </a:lvl8pPr>
            <a:lvl9pPr>
              <a:defRPr sz="108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639" y="1534989"/>
            <a:ext cx="4040804" cy="639220"/>
          </a:xfrm>
        </p:spPr>
        <p:txBody>
          <a:bodyPr anchor="b"/>
          <a:lstStyle>
            <a:lvl1pPr marL="0" indent="0">
              <a:buNone/>
              <a:defRPr sz="1625" b="1"/>
            </a:lvl1pPr>
            <a:lvl2pPr marL="309570" indent="0">
              <a:buNone/>
              <a:defRPr sz="1355" b="1"/>
            </a:lvl2pPr>
            <a:lvl3pPr marL="619140" indent="0">
              <a:buNone/>
              <a:defRPr sz="1219" b="1"/>
            </a:lvl3pPr>
            <a:lvl4pPr marL="928710" indent="0">
              <a:buNone/>
              <a:defRPr sz="1083" b="1"/>
            </a:lvl4pPr>
            <a:lvl5pPr marL="1238281" indent="0">
              <a:buNone/>
              <a:defRPr sz="1083" b="1"/>
            </a:lvl5pPr>
            <a:lvl6pPr marL="1547851" indent="0">
              <a:buNone/>
              <a:defRPr sz="1083" b="1"/>
            </a:lvl6pPr>
            <a:lvl7pPr marL="1857421" indent="0">
              <a:buNone/>
              <a:defRPr sz="1083" b="1"/>
            </a:lvl7pPr>
            <a:lvl8pPr marL="2166991" indent="0">
              <a:buNone/>
              <a:defRPr sz="1083" b="1"/>
            </a:lvl8pPr>
            <a:lvl9pPr marL="2476561" indent="0">
              <a:buNone/>
              <a:defRPr sz="108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639" y="2174210"/>
            <a:ext cx="4040804" cy="3951411"/>
          </a:xfrm>
        </p:spPr>
        <p:txBody>
          <a:bodyPr/>
          <a:lstStyle>
            <a:lvl1pPr>
              <a:defRPr sz="1625"/>
            </a:lvl1pPr>
            <a:lvl2pPr>
              <a:defRPr sz="1355"/>
            </a:lvl2pPr>
            <a:lvl3pPr>
              <a:defRPr sz="1219"/>
            </a:lvl3pPr>
            <a:lvl4pPr>
              <a:defRPr sz="1083"/>
            </a:lvl4pPr>
            <a:lvl5pPr>
              <a:defRPr sz="1083"/>
            </a:lvl5pPr>
            <a:lvl6pPr>
              <a:defRPr sz="1083"/>
            </a:lvl6pPr>
            <a:lvl7pPr>
              <a:defRPr sz="1083"/>
            </a:lvl7pPr>
            <a:lvl8pPr>
              <a:defRPr sz="1083"/>
            </a:lvl8pPr>
            <a:lvl9pPr>
              <a:defRPr sz="108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CEB8533-CE85-4DBF-AEA3-5156B892FCBE}" type="slidenum">
              <a:rPr lang="en-GB" altLang="en-US"/>
              <a:pPr/>
              <a:t>‹#›</a:t>
            </a:fld>
            <a:endParaRPr lang="en-GB" altLang="en-US" sz="108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083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CA4D5B0-F94C-4A30-AD62-A23380D72EE3}" type="slidenum">
              <a:rPr lang="en-GB" altLang="en-US"/>
              <a:pPr/>
              <a:t>‹#›</a:t>
            </a:fld>
            <a:endParaRPr lang="en-GB" altLang="en-US" sz="108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7351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0699C9E-2E8D-4D3C-ABF9-CB5FFE5481EB}" type="slidenum">
              <a:rPr lang="en-GB" altLang="en-US"/>
              <a:pPr/>
              <a:t>‹#›</a:t>
            </a:fld>
            <a:endParaRPr lang="en-GB" altLang="en-US" sz="108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6786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557" y="273749"/>
            <a:ext cx="3008441" cy="1160915"/>
          </a:xfrm>
        </p:spPr>
        <p:txBody>
          <a:bodyPr anchor="b"/>
          <a:lstStyle>
            <a:lvl1pPr algn="l">
              <a:defRPr sz="1355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4668" y="273748"/>
            <a:ext cx="5111775" cy="5851873"/>
          </a:xfrm>
        </p:spPr>
        <p:txBody>
          <a:bodyPr/>
          <a:lstStyle>
            <a:lvl1pPr>
              <a:defRPr sz="2167"/>
            </a:lvl1pPr>
            <a:lvl2pPr>
              <a:defRPr sz="1896"/>
            </a:lvl2pPr>
            <a:lvl3pPr>
              <a:defRPr sz="1625"/>
            </a:lvl3pPr>
            <a:lvl4pPr>
              <a:defRPr sz="1355"/>
            </a:lvl4pPr>
            <a:lvl5pPr>
              <a:defRPr sz="1355"/>
            </a:lvl5pPr>
            <a:lvl6pPr>
              <a:defRPr sz="1355"/>
            </a:lvl6pPr>
            <a:lvl7pPr>
              <a:defRPr sz="1355"/>
            </a:lvl7pPr>
            <a:lvl8pPr>
              <a:defRPr sz="1355"/>
            </a:lvl8pPr>
            <a:lvl9pPr>
              <a:defRPr sz="135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557" y="1434664"/>
            <a:ext cx="3008441" cy="4690957"/>
          </a:xfrm>
        </p:spPr>
        <p:txBody>
          <a:bodyPr/>
          <a:lstStyle>
            <a:lvl1pPr marL="0" indent="0">
              <a:buNone/>
              <a:defRPr sz="948"/>
            </a:lvl1pPr>
            <a:lvl2pPr marL="309570" indent="0">
              <a:buNone/>
              <a:defRPr sz="812"/>
            </a:lvl2pPr>
            <a:lvl3pPr marL="619140" indent="0">
              <a:buNone/>
              <a:defRPr sz="677"/>
            </a:lvl3pPr>
            <a:lvl4pPr marL="928710" indent="0">
              <a:buNone/>
              <a:defRPr sz="610"/>
            </a:lvl4pPr>
            <a:lvl5pPr marL="1238281" indent="0">
              <a:buNone/>
              <a:defRPr sz="610"/>
            </a:lvl5pPr>
            <a:lvl6pPr marL="1547851" indent="0">
              <a:buNone/>
              <a:defRPr sz="610"/>
            </a:lvl6pPr>
            <a:lvl7pPr marL="1857421" indent="0">
              <a:buNone/>
              <a:defRPr sz="610"/>
            </a:lvl7pPr>
            <a:lvl8pPr marL="2166991" indent="0">
              <a:buNone/>
              <a:defRPr sz="610"/>
            </a:lvl8pPr>
            <a:lvl9pPr marL="2476561" indent="0">
              <a:buNone/>
              <a:defRPr sz="61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DCB0E37-8CB9-480C-9AFF-44A8B18EB558}" type="slidenum">
              <a:rPr lang="en-GB" altLang="en-US"/>
              <a:pPr/>
              <a:t>‹#›</a:t>
            </a:fld>
            <a:endParaRPr lang="en-GB" altLang="en-US" sz="108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4971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1625" y="4801317"/>
            <a:ext cx="5486399" cy="566126"/>
          </a:xfrm>
        </p:spPr>
        <p:txBody>
          <a:bodyPr anchor="b"/>
          <a:lstStyle>
            <a:lvl1pPr algn="l">
              <a:defRPr sz="1355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1625" y="613422"/>
            <a:ext cx="5486399" cy="4114800"/>
          </a:xfrm>
        </p:spPr>
        <p:txBody>
          <a:bodyPr/>
          <a:lstStyle>
            <a:lvl1pPr marL="0" indent="0">
              <a:buNone/>
              <a:defRPr sz="2167"/>
            </a:lvl1pPr>
            <a:lvl2pPr marL="309570" indent="0">
              <a:buNone/>
              <a:defRPr sz="1896"/>
            </a:lvl2pPr>
            <a:lvl3pPr marL="619140" indent="0">
              <a:buNone/>
              <a:defRPr sz="1625"/>
            </a:lvl3pPr>
            <a:lvl4pPr marL="928710" indent="0">
              <a:buNone/>
              <a:defRPr sz="1355"/>
            </a:lvl4pPr>
            <a:lvl5pPr marL="1238281" indent="0">
              <a:buNone/>
              <a:defRPr sz="1355"/>
            </a:lvl5pPr>
            <a:lvl6pPr marL="1547851" indent="0">
              <a:buNone/>
              <a:defRPr sz="1355"/>
            </a:lvl6pPr>
            <a:lvl7pPr marL="1857421" indent="0">
              <a:buNone/>
              <a:defRPr sz="1355"/>
            </a:lvl7pPr>
            <a:lvl8pPr marL="2166991" indent="0">
              <a:buNone/>
              <a:defRPr sz="1355"/>
            </a:lvl8pPr>
            <a:lvl9pPr marL="2476561" indent="0">
              <a:buNone/>
              <a:defRPr sz="1355"/>
            </a:lvl9pPr>
          </a:lstStyle>
          <a:p>
            <a:pPr lvl="0"/>
            <a:endParaRPr lang="en-SG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1625" y="5367443"/>
            <a:ext cx="5486399" cy="805475"/>
          </a:xfrm>
        </p:spPr>
        <p:txBody>
          <a:bodyPr/>
          <a:lstStyle>
            <a:lvl1pPr marL="0" indent="0">
              <a:buNone/>
              <a:defRPr sz="948"/>
            </a:lvl1pPr>
            <a:lvl2pPr marL="309570" indent="0">
              <a:buNone/>
              <a:defRPr sz="812"/>
            </a:lvl2pPr>
            <a:lvl3pPr marL="619140" indent="0">
              <a:buNone/>
              <a:defRPr sz="677"/>
            </a:lvl3pPr>
            <a:lvl4pPr marL="928710" indent="0">
              <a:buNone/>
              <a:defRPr sz="610"/>
            </a:lvl4pPr>
            <a:lvl5pPr marL="1238281" indent="0">
              <a:buNone/>
              <a:defRPr sz="610"/>
            </a:lvl5pPr>
            <a:lvl6pPr marL="1547851" indent="0">
              <a:buNone/>
              <a:defRPr sz="610"/>
            </a:lvl6pPr>
            <a:lvl7pPr marL="1857421" indent="0">
              <a:buNone/>
              <a:defRPr sz="610"/>
            </a:lvl7pPr>
            <a:lvl8pPr marL="2166991" indent="0">
              <a:buNone/>
              <a:defRPr sz="610"/>
            </a:lvl8pPr>
            <a:lvl9pPr marL="2476561" indent="0">
              <a:buNone/>
              <a:defRPr sz="61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9EA0026-3E0A-467C-A77C-0D95BD348815}" type="slidenum">
              <a:rPr lang="en-GB" altLang="en-US"/>
              <a:pPr/>
              <a:t>‹#›</a:t>
            </a:fld>
            <a:endParaRPr lang="en-GB" altLang="en-US" sz="108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3552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0574199-541A-442D-BD63-BB275F057B6F}" type="slidenum">
              <a:rPr lang="en-GB" altLang="en-US"/>
              <a:pPr/>
              <a:t>‹#›</a:t>
            </a:fld>
            <a:endParaRPr lang="en-GB" altLang="en-US" sz="108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2030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80067" y="825540"/>
            <a:ext cx="1941760" cy="53989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50499" y="825540"/>
            <a:ext cx="5692301" cy="539897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284C3F7-6313-43B9-8FA0-AEEB61BF0DA5}" type="slidenum">
              <a:rPr lang="en-GB" altLang="en-US"/>
              <a:pPr/>
              <a:t>‹#›</a:t>
            </a:fld>
            <a:endParaRPr lang="en-GB" altLang="en-US" sz="108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1050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50499" y="554982"/>
            <a:ext cx="6518763" cy="11437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384" tIns="50691" rIns="101384" bIns="5069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50500" y="1818969"/>
            <a:ext cx="7771328" cy="44055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50499" y="6334872"/>
            <a:ext cx="190458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677">
                <a:solidFill>
                  <a:srgbClr val="003399"/>
                </a:solidFill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1995" y="6334872"/>
            <a:ext cx="190458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677">
                <a:solidFill>
                  <a:srgbClr val="003399"/>
                </a:solidFill>
              </a:defRPr>
            </a:lvl1pPr>
          </a:lstStyle>
          <a:p>
            <a:fld id="{7DD0F54A-7FC4-4DC8-816F-141A28D7A639}" type="slidenum">
              <a:rPr lang="en-GB" altLang="en-US"/>
              <a:pPr/>
              <a:t>‹#›</a:t>
            </a:fld>
            <a:endParaRPr lang="en-GB" altLang="en-US" sz="1083"/>
          </a:p>
        </p:txBody>
      </p:sp>
      <p:sp>
        <p:nvSpPr>
          <p:cNvPr id="2" name="Rectangle 7"/>
          <p:cNvSpPr>
            <a:spLocks noChangeArrowheads="1"/>
          </p:cNvSpPr>
          <p:nvPr/>
        </p:nvSpPr>
        <p:spPr bwMode="auto">
          <a:xfrm>
            <a:off x="1" y="6601452"/>
            <a:ext cx="9144000" cy="253682"/>
          </a:xfrm>
          <a:prstGeom prst="rect">
            <a:avLst/>
          </a:prstGeom>
          <a:solidFill>
            <a:srgbClr val="00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en-SG" altLang="en-US" sz="1625"/>
          </a:p>
        </p:txBody>
      </p:sp>
      <p:sp>
        <p:nvSpPr>
          <p:cNvPr id="1031" name="Rectangle 8"/>
          <p:cNvSpPr>
            <a:spLocks noChangeArrowheads="1"/>
          </p:cNvSpPr>
          <p:nvPr/>
        </p:nvSpPr>
        <p:spPr bwMode="auto">
          <a:xfrm>
            <a:off x="1" y="0"/>
            <a:ext cx="9144000" cy="253682"/>
          </a:xfrm>
          <a:prstGeom prst="rect">
            <a:avLst/>
          </a:prstGeom>
          <a:solidFill>
            <a:srgbClr val="00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en-SG" altLang="en-US" sz="1625"/>
          </a:p>
        </p:txBody>
      </p:sp>
      <p:sp>
        <p:nvSpPr>
          <p:cNvPr id="1032" name="Text Box 11"/>
          <p:cNvSpPr txBox="1">
            <a:spLocks noChangeArrowheads="1"/>
          </p:cNvSpPr>
          <p:nvPr/>
        </p:nvSpPr>
        <p:spPr bwMode="auto">
          <a:xfrm>
            <a:off x="550500" y="323910"/>
            <a:ext cx="6520193" cy="24853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015" dirty="0">
                <a:solidFill>
                  <a:srgbClr val="003399"/>
                </a:solidFill>
                <a:latin typeface="Times New Roman" panose="02020603050405020304" pitchFamily="18" charset="0"/>
              </a:rPr>
              <a:t>IT5002</a:t>
            </a:r>
            <a:r>
              <a:rPr lang="en-US" altLang="en-US" sz="1015" baseline="0" dirty="0">
                <a:solidFill>
                  <a:srgbClr val="003399"/>
                </a:solidFill>
                <a:latin typeface="Times New Roman" panose="02020603050405020304" pitchFamily="18" charset="0"/>
              </a:rPr>
              <a:t> Lecture 9 </a:t>
            </a:r>
            <a:r>
              <a:rPr lang="mr-IN" altLang="en-US" sz="1015" baseline="0" dirty="0">
                <a:solidFill>
                  <a:srgbClr val="003399"/>
                </a:solidFill>
                <a:latin typeface="Times New Roman" panose="02020603050405020304" pitchFamily="18" charset="0"/>
              </a:rPr>
              <a:t>–</a:t>
            </a:r>
            <a:r>
              <a:rPr lang="en-US" altLang="en-US" sz="1015" baseline="0" dirty="0">
                <a:solidFill>
                  <a:srgbClr val="003399"/>
                </a:solidFill>
                <a:latin typeface="Times New Roman" panose="02020603050405020304" pitchFamily="18" charset="0"/>
              </a:rPr>
              <a:t> Pipelining</a:t>
            </a:r>
            <a:r>
              <a:rPr lang="en-US" altLang="en-US" sz="1015" dirty="0">
                <a:solidFill>
                  <a:srgbClr val="003399"/>
                </a:solidFill>
                <a:latin typeface="Times New Roman" panose="02020603050405020304" pitchFamily="18" charset="0"/>
              </a:rPr>
              <a:t>			Page: </a:t>
            </a:r>
            <a:fld id="{49A9A4C6-A24E-4FBB-A733-87BDEC242BCE}" type="slidenum">
              <a:rPr lang="en-US" altLang="en-US" sz="1015">
                <a:solidFill>
                  <a:srgbClr val="003399"/>
                </a:solidFill>
                <a:latin typeface="Times New Roman" panose="02020603050405020304" pitchFamily="18" charset="0"/>
              </a:rPr>
              <a:pPr>
                <a:spcBef>
                  <a:spcPct val="50000"/>
                </a:spcBef>
              </a:pPr>
              <a:t>‹#›</a:t>
            </a:fld>
            <a:endParaRPr lang="en-GB" altLang="en-US" sz="1015" dirty="0">
              <a:solidFill>
                <a:srgbClr val="003399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033" name="Picture 15" descr="full colour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9880" y="374074"/>
            <a:ext cx="1038083" cy="667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4BBDEB7-4480-63CE-307B-559D46320796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6017339"/>
            <a:ext cx="837795" cy="837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935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6859" rtl="0" eaLnBrk="0" fontAlgn="base" hangingPunct="0">
        <a:spcBef>
          <a:spcPct val="0"/>
        </a:spcBef>
        <a:spcAft>
          <a:spcPct val="0"/>
        </a:spcAft>
        <a:defRPr sz="2370">
          <a:solidFill>
            <a:srgbClr val="663300"/>
          </a:solidFill>
          <a:latin typeface="+mj-lt"/>
          <a:ea typeface="+mj-ea"/>
          <a:cs typeface="+mj-cs"/>
        </a:defRPr>
      </a:lvl1pPr>
      <a:lvl2pPr algn="l" defTabSz="686859" rtl="0" eaLnBrk="0" fontAlgn="base" hangingPunct="0">
        <a:spcBef>
          <a:spcPct val="0"/>
        </a:spcBef>
        <a:spcAft>
          <a:spcPct val="0"/>
        </a:spcAft>
        <a:defRPr sz="2370">
          <a:solidFill>
            <a:schemeClr val="tx1"/>
          </a:solidFill>
          <a:latin typeface="Times New Roman" pitchFamily="18" charset="0"/>
        </a:defRPr>
      </a:lvl2pPr>
      <a:lvl3pPr algn="l" defTabSz="686859" rtl="0" eaLnBrk="0" fontAlgn="base" hangingPunct="0">
        <a:spcBef>
          <a:spcPct val="0"/>
        </a:spcBef>
        <a:spcAft>
          <a:spcPct val="0"/>
        </a:spcAft>
        <a:defRPr sz="2370">
          <a:solidFill>
            <a:schemeClr val="tx1"/>
          </a:solidFill>
          <a:latin typeface="Times New Roman" pitchFamily="18" charset="0"/>
        </a:defRPr>
      </a:lvl3pPr>
      <a:lvl4pPr algn="l" defTabSz="686859" rtl="0" eaLnBrk="0" fontAlgn="base" hangingPunct="0">
        <a:spcBef>
          <a:spcPct val="0"/>
        </a:spcBef>
        <a:spcAft>
          <a:spcPct val="0"/>
        </a:spcAft>
        <a:defRPr sz="2370">
          <a:solidFill>
            <a:schemeClr val="tx1"/>
          </a:solidFill>
          <a:latin typeface="Times New Roman" pitchFamily="18" charset="0"/>
        </a:defRPr>
      </a:lvl4pPr>
      <a:lvl5pPr algn="l" defTabSz="686859" rtl="0" eaLnBrk="0" fontAlgn="base" hangingPunct="0">
        <a:spcBef>
          <a:spcPct val="0"/>
        </a:spcBef>
        <a:spcAft>
          <a:spcPct val="0"/>
        </a:spcAft>
        <a:defRPr sz="2370">
          <a:solidFill>
            <a:schemeClr val="tx1"/>
          </a:solidFill>
          <a:latin typeface="Times New Roman" pitchFamily="18" charset="0"/>
        </a:defRPr>
      </a:lvl5pPr>
      <a:lvl6pPr marL="309570" algn="l" defTabSz="686859" rtl="0" fontAlgn="base">
        <a:spcBef>
          <a:spcPct val="0"/>
        </a:spcBef>
        <a:spcAft>
          <a:spcPct val="0"/>
        </a:spcAft>
        <a:defRPr sz="2370">
          <a:solidFill>
            <a:schemeClr val="tx1"/>
          </a:solidFill>
          <a:latin typeface="Times New Roman" pitchFamily="18" charset="0"/>
        </a:defRPr>
      </a:lvl6pPr>
      <a:lvl7pPr marL="619140" algn="l" defTabSz="686859" rtl="0" fontAlgn="base">
        <a:spcBef>
          <a:spcPct val="0"/>
        </a:spcBef>
        <a:spcAft>
          <a:spcPct val="0"/>
        </a:spcAft>
        <a:defRPr sz="2370">
          <a:solidFill>
            <a:schemeClr val="tx1"/>
          </a:solidFill>
          <a:latin typeface="Times New Roman" pitchFamily="18" charset="0"/>
        </a:defRPr>
      </a:lvl7pPr>
      <a:lvl8pPr marL="928710" algn="l" defTabSz="686859" rtl="0" fontAlgn="base">
        <a:spcBef>
          <a:spcPct val="0"/>
        </a:spcBef>
        <a:spcAft>
          <a:spcPct val="0"/>
        </a:spcAft>
        <a:defRPr sz="2370">
          <a:solidFill>
            <a:schemeClr val="tx1"/>
          </a:solidFill>
          <a:latin typeface="Times New Roman" pitchFamily="18" charset="0"/>
        </a:defRPr>
      </a:lvl8pPr>
      <a:lvl9pPr marL="1238281" algn="l" defTabSz="686859" rtl="0" fontAlgn="base">
        <a:spcBef>
          <a:spcPct val="0"/>
        </a:spcBef>
        <a:spcAft>
          <a:spcPct val="0"/>
        </a:spcAft>
        <a:defRPr sz="2370">
          <a:solidFill>
            <a:schemeClr val="tx1"/>
          </a:solidFill>
          <a:latin typeface="Times New Roman" pitchFamily="18" charset="0"/>
        </a:defRPr>
      </a:lvl9pPr>
    </p:titleStyle>
    <p:bodyStyle>
      <a:lvl1pPr marL="232178" indent="-232178" algn="l" defTabSz="686859" rtl="0" eaLnBrk="0" fontAlgn="base" hangingPunct="0">
        <a:spcBef>
          <a:spcPct val="20000"/>
        </a:spcBef>
        <a:spcAft>
          <a:spcPct val="0"/>
        </a:spcAft>
        <a:buChar char="•"/>
        <a:defRPr sz="1693" b="1">
          <a:solidFill>
            <a:srgbClr val="003399"/>
          </a:solidFill>
          <a:latin typeface="+mn-lt"/>
          <a:ea typeface="+mn-ea"/>
          <a:cs typeface="+mn-cs"/>
        </a:defRPr>
      </a:lvl1pPr>
      <a:lvl2pPr marL="253676" indent="4300" algn="l" defTabSz="686859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1760">
          <a:solidFill>
            <a:srgbClr val="003399"/>
          </a:solidFill>
          <a:latin typeface="+mn-lt"/>
        </a:defRPr>
      </a:lvl2pPr>
      <a:lvl3pPr marL="511651" indent="107490" algn="l" defTabSz="686859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ü"/>
        <a:defRPr sz="1490" b="1">
          <a:solidFill>
            <a:srgbClr val="FF6600"/>
          </a:solidFill>
          <a:latin typeface="+mn-lt"/>
        </a:defRPr>
      </a:lvl3pPr>
      <a:lvl4pPr marL="773925" indent="4300" algn="l" defTabSz="686859" rtl="0" eaLnBrk="0" fontAlgn="base" hangingPunct="0">
        <a:spcBef>
          <a:spcPct val="20000"/>
        </a:spcBef>
        <a:spcAft>
          <a:spcPct val="0"/>
        </a:spcAft>
        <a:buChar char="–"/>
        <a:defRPr sz="1490" i="1">
          <a:solidFill>
            <a:srgbClr val="003399"/>
          </a:solidFill>
          <a:latin typeface="+mn-lt"/>
        </a:defRPr>
      </a:lvl4pPr>
      <a:lvl5pPr marL="1031900" indent="206380" algn="l" defTabSz="686859" rtl="0" eaLnBrk="0" fontAlgn="base" hangingPunct="0">
        <a:spcBef>
          <a:spcPct val="20000"/>
        </a:spcBef>
        <a:spcAft>
          <a:spcPct val="0"/>
        </a:spcAft>
        <a:buChar char="»"/>
        <a:defRPr sz="1355">
          <a:solidFill>
            <a:srgbClr val="003399"/>
          </a:solidFill>
          <a:latin typeface="+mn-lt"/>
        </a:defRPr>
      </a:lvl5pPr>
      <a:lvl6pPr marL="1341470" algn="l" defTabSz="686859" rtl="0" fontAlgn="base">
        <a:spcBef>
          <a:spcPct val="20000"/>
        </a:spcBef>
        <a:spcAft>
          <a:spcPct val="0"/>
        </a:spcAft>
        <a:defRPr sz="1355">
          <a:solidFill>
            <a:srgbClr val="003399"/>
          </a:solidFill>
          <a:latin typeface="+mn-lt"/>
        </a:defRPr>
      </a:lvl6pPr>
      <a:lvl7pPr marL="1651041" algn="l" defTabSz="686859" rtl="0" fontAlgn="base">
        <a:spcBef>
          <a:spcPct val="20000"/>
        </a:spcBef>
        <a:spcAft>
          <a:spcPct val="0"/>
        </a:spcAft>
        <a:defRPr sz="1355">
          <a:solidFill>
            <a:srgbClr val="003399"/>
          </a:solidFill>
          <a:latin typeface="+mn-lt"/>
        </a:defRPr>
      </a:lvl7pPr>
      <a:lvl8pPr marL="1960611" algn="l" defTabSz="686859" rtl="0" fontAlgn="base">
        <a:spcBef>
          <a:spcPct val="20000"/>
        </a:spcBef>
        <a:spcAft>
          <a:spcPct val="0"/>
        </a:spcAft>
        <a:defRPr sz="1355">
          <a:solidFill>
            <a:srgbClr val="003399"/>
          </a:solidFill>
          <a:latin typeface="+mn-lt"/>
        </a:defRPr>
      </a:lvl8pPr>
      <a:lvl9pPr marL="2270181" algn="l" defTabSz="686859" rtl="0" fontAlgn="base">
        <a:spcBef>
          <a:spcPct val="20000"/>
        </a:spcBef>
        <a:spcAft>
          <a:spcPct val="0"/>
        </a:spcAft>
        <a:defRPr sz="1355">
          <a:solidFill>
            <a:srgbClr val="003399"/>
          </a:solidFill>
          <a:latin typeface="+mn-lt"/>
        </a:defRPr>
      </a:lvl9pPr>
    </p:bodyStyle>
    <p:otherStyle>
      <a:defPPr>
        <a:defRPr lang="en-US"/>
      </a:defPPr>
      <a:lvl1pPr marL="0" algn="l" defTabSz="619140" rtl="0" eaLnBrk="1" latinLnBrk="0" hangingPunct="1">
        <a:defRPr sz="1219" kern="1200">
          <a:solidFill>
            <a:schemeClr val="tx1"/>
          </a:solidFill>
          <a:latin typeface="+mn-lt"/>
          <a:ea typeface="+mn-ea"/>
          <a:cs typeface="+mn-cs"/>
        </a:defRPr>
      </a:lvl1pPr>
      <a:lvl2pPr marL="309570" algn="l" defTabSz="619140" rtl="0" eaLnBrk="1" latinLnBrk="0" hangingPunct="1">
        <a:defRPr sz="1219" kern="1200">
          <a:solidFill>
            <a:schemeClr val="tx1"/>
          </a:solidFill>
          <a:latin typeface="+mn-lt"/>
          <a:ea typeface="+mn-ea"/>
          <a:cs typeface="+mn-cs"/>
        </a:defRPr>
      </a:lvl2pPr>
      <a:lvl3pPr marL="619140" algn="l" defTabSz="619140" rtl="0" eaLnBrk="1" latinLnBrk="0" hangingPunct="1">
        <a:defRPr sz="1219" kern="1200">
          <a:solidFill>
            <a:schemeClr val="tx1"/>
          </a:solidFill>
          <a:latin typeface="+mn-lt"/>
          <a:ea typeface="+mn-ea"/>
          <a:cs typeface="+mn-cs"/>
        </a:defRPr>
      </a:lvl3pPr>
      <a:lvl4pPr marL="928710" algn="l" defTabSz="619140" rtl="0" eaLnBrk="1" latinLnBrk="0" hangingPunct="1">
        <a:defRPr sz="1219" kern="1200">
          <a:solidFill>
            <a:schemeClr val="tx1"/>
          </a:solidFill>
          <a:latin typeface="+mn-lt"/>
          <a:ea typeface="+mn-ea"/>
          <a:cs typeface="+mn-cs"/>
        </a:defRPr>
      </a:lvl4pPr>
      <a:lvl5pPr marL="1238281" algn="l" defTabSz="619140" rtl="0" eaLnBrk="1" latinLnBrk="0" hangingPunct="1">
        <a:defRPr sz="1219" kern="1200">
          <a:solidFill>
            <a:schemeClr val="tx1"/>
          </a:solidFill>
          <a:latin typeface="+mn-lt"/>
          <a:ea typeface="+mn-ea"/>
          <a:cs typeface="+mn-cs"/>
        </a:defRPr>
      </a:lvl5pPr>
      <a:lvl6pPr marL="1547851" algn="l" defTabSz="619140" rtl="0" eaLnBrk="1" latinLnBrk="0" hangingPunct="1">
        <a:defRPr sz="1219" kern="1200">
          <a:solidFill>
            <a:schemeClr val="tx1"/>
          </a:solidFill>
          <a:latin typeface="+mn-lt"/>
          <a:ea typeface="+mn-ea"/>
          <a:cs typeface="+mn-cs"/>
        </a:defRPr>
      </a:lvl6pPr>
      <a:lvl7pPr marL="1857421" algn="l" defTabSz="619140" rtl="0" eaLnBrk="1" latinLnBrk="0" hangingPunct="1">
        <a:defRPr sz="1219" kern="1200">
          <a:solidFill>
            <a:schemeClr val="tx1"/>
          </a:solidFill>
          <a:latin typeface="+mn-lt"/>
          <a:ea typeface="+mn-ea"/>
          <a:cs typeface="+mn-cs"/>
        </a:defRPr>
      </a:lvl7pPr>
      <a:lvl8pPr marL="2166991" algn="l" defTabSz="619140" rtl="0" eaLnBrk="1" latinLnBrk="0" hangingPunct="1">
        <a:defRPr sz="1219" kern="1200">
          <a:solidFill>
            <a:schemeClr val="tx1"/>
          </a:solidFill>
          <a:latin typeface="+mn-lt"/>
          <a:ea typeface="+mn-ea"/>
          <a:cs typeface="+mn-cs"/>
        </a:defRPr>
      </a:lvl8pPr>
      <a:lvl9pPr marL="2476561" algn="l" defTabSz="619140" rtl="0" eaLnBrk="1" latinLnBrk="0" hangingPunct="1">
        <a:defRPr sz="121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colintan@nus.edu.sg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piazza.com/class/me6eor4hpe0374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7"/>
          <p:cNvSpPr>
            <a:spLocks noChangeArrowheads="1"/>
          </p:cNvSpPr>
          <p:nvPr/>
        </p:nvSpPr>
        <p:spPr bwMode="auto">
          <a:xfrm>
            <a:off x="1" y="8043"/>
            <a:ext cx="9144000" cy="4941621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en-SG" altLang="en-US" sz="2162"/>
          </a:p>
        </p:txBody>
      </p:sp>
      <p:sp>
        <p:nvSpPr>
          <p:cNvPr id="13315" name="Text Box 18"/>
          <p:cNvSpPr txBox="1">
            <a:spLocks noChangeArrowheads="1"/>
          </p:cNvSpPr>
          <p:nvPr/>
        </p:nvSpPr>
        <p:spPr bwMode="auto">
          <a:xfrm>
            <a:off x="713505" y="251120"/>
            <a:ext cx="7728431" cy="5539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4323" dirty="0">
                <a:solidFill>
                  <a:schemeClr val="bg1"/>
                </a:solidFill>
                <a:latin typeface="Times New Roman" panose="02020603050405020304" pitchFamily="18" charset="0"/>
              </a:rPr>
              <a:t>IT5002</a:t>
            </a:r>
          </a:p>
          <a:p>
            <a:pPr algn="ctr" eaLnBrk="1" hangingPunct="1">
              <a:spcBef>
                <a:spcPct val="50000"/>
              </a:spcBef>
            </a:pPr>
            <a:r>
              <a:rPr lang="en-US" altLang="en-US" sz="4323" dirty="0">
                <a:solidFill>
                  <a:schemeClr val="bg1"/>
                </a:solidFill>
                <a:latin typeface="Times New Roman" panose="02020603050405020304" pitchFamily="18" charset="0"/>
              </a:rPr>
              <a:t>Computer Systems and Applications</a:t>
            </a:r>
          </a:p>
          <a:p>
            <a:pPr algn="ctr" eaLnBrk="1" hangingPunct="1">
              <a:spcBef>
                <a:spcPct val="50000"/>
              </a:spcBef>
            </a:pPr>
            <a:r>
              <a:rPr lang="en-US" altLang="en-US" sz="4323">
                <a:solidFill>
                  <a:schemeClr val="bg1"/>
                </a:solidFill>
                <a:latin typeface="Times New Roman" panose="02020603050405020304" pitchFamily="18" charset="0"/>
              </a:rPr>
              <a:t>Pipelining</a:t>
            </a:r>
            <a:endParaRPr lang="en-US" altLang="en-US" sz="4323" dirty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pPr algn="ctr" eaLnBrk="1" hangingPunct="1">
              <a:spcBef>
                <a:spcPct val="50000"/>
              </a:spcBef>
            </a:pPr>
            <a:r>
              <a:rPr lang="en-US" altLang="en-US" sz="4323" dirty="0">
                <a:solidFill>
                  <a:schemeClr val="bg1"/>
                </a:solidFill>
                <a:latin typeface="Times New Roman" panose="02020603050405020304" pitchFamily="18" charset="0"/>
                <a:hlinkClick r:id="rId3"/>
              </a:rPr>
              <a:t>colintan@nus.edu.sg</a:t>
            </a:r>
            <a:endParaRPr lang="en-US" altLang="en-US" sz="4323" dirty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pPr algn="ctr" eaLnBrk="1" hangingPunct="1">
              <a:spcBef>
                <a:spcPct val="50000"/>
              </a:spcBef>
            </a:pPr>
            <a:endParaRPr lang="en-GB" altLang="en-US" sz="4864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16" name="Rectangle 19"/>
          <p:cNvSpPr>
            <a:spLocks noChangeArrowheads="1"/>
          </p:cNvSpPr>
          <p:nvPr/>
        </p:nvSpPr>
        <p:spPr bwMode="auto">
          <a:xfrm>
            <a:off x="1" y="6596870"/>
            <a:ext cx="9144000" cy="253087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en-SG" altLang="en-US" sz="2162"/>
          </a:p>
        </p:txBody>
      </p:sp>
      <p:pic>
        <p:nvPicPr>
          <p:cNvPr id="13317" name="Picture 22" descr="full colour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8976" y="5115528"/>
            <a:ext cx="2140511" cy="1374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12040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12620-B446-0261-58CA-2773BDA09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 &amp; 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3D398-9E2B-F6FC-AD1E-0D3700FB21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500" y="1818969"/>
            <a:ext cx="7771328" cy="1610031"/>
          </a:xfrm>
        </p:spPr>
        <p:txBody>
          <a:bodyPr/>
          <a:lstStyle/>
          <a:p>
            <a:r>
              <a:rPr lang="en-US" sz="2000" dirty="0"/>
              <a:t>Please ask questions at </a:t>
            </a:r>
            <a:r>
              <a:rPr lang="en-US" sz="2000" dirty="0">
                <a:hlinkClick r:id="rId2"/>
              </a:rPr>
              <a:t>https://piazza.com/class/me6eor4hpe0374</a:t>
            </a:r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EA404A-F0AA-7559-3AC8-BA00D9852424}"/>
              </a:ext>
            </a:extLst>
          </p:cNvPr>
          <p:cNvSpPr txBox="1"/>
          <p:nvPr/>
        </p:nvSpPr>
        <p:spPr>
          <a:xfrm>
            <a:off x="1804416" y="5730240"/>
            <a:ext cx="70469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OR scan this QR code (may be obscured on some slides)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D1B3F75-F81C-B108-2EC2-C045B94A54F7}"/>
              </a:ext>
            </a:extLst>
          </p:cNvPr>
          <p:cNvCxnSpPr>
            <a:stCxn id="6" idx="1"/>
          </p:cNvCxnSpPr>
          <p:nvPr/>
        </p:nvCxnSpPr>
        <p:spPr bwMode="auto">
          <a:xfrm flipH="1">
            <a:off x="841248" y="6145739"/>
            <a:ext cx="963168" cy="11221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403772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553450" cy="990600"/>
          </a:xfrm>
        </p:spPr>
        <p:txBody>
          <a:bodyPr>
            <a:normAutofit/>
          </a:bodyPr>
          <a:lstStyle/>
          <a:p>
            <a:pPr marL="1976438" indent="-1976438" eaLnBrk="1" hangingPunct="1"/>
            <a:r>
              <a:rPr lang="en-GB" sz="3600" dirty="0">
                <a:solidFill>
                  <a:srgbClr val="0000FF"/>
                </a:solidFill>
              </a:rPr>
              <a:t>Lecture #14: Pipelining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#20: Pipelining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3</a:t>
            </a:fld>
            <a:endParaRPr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8" name="HighlightTextShape201406201824391195">
            <a:extLst>
              <a:ext uri="{FF2B5EF4-FFF2-40B4-BE49-F238E27FC236}">
                <a16:creationId xmlns:a16="http://schemas.microsoft.com/office/drawing/2014/main" id="{C1C5B597-DA79-4C8E-A533-F3F284604BD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18641" y="1528011"/>
            <a:ext cx="8420559" cy="3248526"/>
          </a:xfrm>
        </p:spPr>
        <p:txBody>
          <a:bodyPr>
            <a:normAutofit/>
          </a:bodyPr>
          <a:lstStyle/>
          <a:p>
            <a:pPr marL="514350" indent="-514350" eaLnBrk="1" hangingPunct="1">
              <a:spcBef>
                <a:spcPts val="600"/>
              </a:spcBef>
              <a:buClrTx/>
              <a:buSzPct val="100000"/>
              <a:buFont typeface="+mj-lt"/>
              <a:buAutoNum type="arabicPeriod"/>
            </a:pPr>
            <a:r>
              <a:rPr lang="en-GB" sz="3200" dirty="0"/>
              <a:t>Introduction</a:t>
            </a:r>
          </a:p>
          <a:p>
            <a:pPr marL="514350" indent="-514350" eaLnBrk="1" hangingPunct="1">
              <a:spcBef>
                <a:spcPts val="600"/>
              </a:spcBef>
              <a:buClrTx/>
              <a:buSzPct val="100000"/>
              <a:buFont typeface="+mj-lt"/>
              <a:buAutoNum type="arabicPeriod"/>
            </a:pPr>
            <a:r>
              <a:rPr lang="en-GB" sz="3200" dirty="0"/>
              <a:t>MIPS Pipeline Stages</a:t>
            </a:r>
          </a:p>
          <a:p>
            <a:pPr marL="514350" indent="-514350" eaLnBrk="1" hangingPunct="1">
              <a:spcBef>
                <a:spcPts val="600"/>
              </a:spcBef>
              <a:buClrTx/>
              <a:buSzPct val="100000"/>
              <a:buFont typeface="+mj-lt"/>
              <a:buAutoNum type="arabicPeriod"/>
            </a:pPr>
            <a:r>
              <a:rPr lang="en-GB" sz="3200" dirty="0"/>
              <a:t>Pipeline Datapath</a:t>
            </a:r>
          </a:p>
          <a:p>
            <a:pPr marL="514350" indent="-514350" eaLnBrk="1" hangingPunct="1">
              <a:spcBef>
                <a:spcPts val="600"/>
              </a:spcBef>
              <a:buClrTx/>
              <a:buSzPct val="100000"/>
              <a:buFont typeface="+mj-lt"/>
              <a:buAutoNum type="arabicPeriod"/>
            </a:pPr>
            <a:r>
              <a:rPr lang="en-GB" sz="3200" dirty="0"/>
              <a:t>Pipeline Control</a:t>
            </a:r>
          </a:p>
          <a:p>
            <a:pPr marL="514350" indent="-514350" eaLnBrk="1" hangingPunct="1">
              <a:spcBef>
                <a:spcPts val="600"/>
              </a:spcBef>
              <a:buClrTx/>
              <a:buSzPct val="100000"/>
              <a:buFont typeface="+mj-lt"/>
              <a:buAutoNum type="arabicPeriod"/>
            </a:pPr>
            <a:r>
              <a:rPr lang="en-GB" sz="3200" dirty="0"/>
              <a:t>Pipeline Performance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9114126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290644" cy="644577"/>
          </a:xfrm>
        </p:spPr>
        <p:txBody>
          <a:bodyPr>
            <a:normAutofit fontScale="90000"/>
          </a:bodyPr>
          <a:lstStyle/>
          <a:p>
            <a:pPr marL="1976438" indent="-1976438" eaLnBrk="1" hangingPunct="1"/>
            <a:r>
              <a:rPr lang="en-GB" sz="3600" dirty="0">
                <a:solidFill>
                  <a:srgbClr val="0000FF"/>
                </a:solidFill>
              </a:rPr>
              <a:t>1. Introduction: Inspiration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#20: Pipelining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4</a:t>
            </a:fld>
            <a:endParaRPr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pic>
        <p:nvPicPr>
          <p:cNvPr id="8" name="Picture 5">
            <a:extLst>
              <a:ext uri="{FF2B5EF4-FFF2-40B4-BE49-F238E27FC236}">
                <a16:creationId xmlns:a16="http://schemas.microsoft.com/office/drawing/2014/main" id="{B289280A-5270-4CF8-A3A1-2C0613F263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69431" y="1852236"/>
            <a:ext cx="6934199" cy="473630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</p:pic>
      <p:sp>
        <p:nvSpPr>
          <p:cNvPr id="9" name="Rectangle 3">
            <a:extLst>
              <a:ext uri="{FF2B5EF4-FFF2-40B4-BE49-F238E27FC236}">
                <a16:creationId xmlns:a16="http://schemas.microsoft.com/office/drawing/2014/main" id="{834B31F8-B91E-4AC9-8730-84CE23106D80}"/>
              </a:ext>
            </a:extLst>
          </p:cNvPr>
          <p:cNvSpPr txBox="1">
            <a:spLocks noChangeArrowheads="1"/>
          </p:cNvSpPr>
          <p:nvPr/>
        </p:nvSpPr>
        <p:spPr>
          <a:xfrm rot="20715947">
            <a:off x="358324" y="1503832"/>
            <a:ext cx="2791326" cy="54888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spcBef>
                <a:spcPts val="1200"/>
              </a:spcBef>
              <a:spcAft>
                <a:spcPts val="0"/>
              </a:spcAft>
              <a:buSzPct val="100000"/>
              <a:buNone/>
            </a:pPr>
            <a:r>
              <a:rPr lang="en-US" sz="2800" dirty="0">
                <a:solidFill>
                  <a:schemeClr val="bg1"/>
                </a:solidFill>
              </a:rPr>
              <a:t>Assembly Line</a:t>
            </a:r>
          </a:p>
        </p:txBody>
      </p:sp>
    </p:spTree>
    <p:extLst>
      <p:ext uri="{BB962C8B-B14F-4D97-AF65-F5344CB8AC3E}">
        <p14:creationId xmlns:p14="http://schemas.microsoft.com/office/powerpoint/2010/main" val="31003507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290644" cy="644577"/>
          </a:xfrm>
        </p:spPr>
        <p:txBody>
          <a:bodyPr>
            <a:normAutofit fontScale="90000"/>
          </a:bodyPr>
          <a:lstStyle/>
          <a:p>
            <a:pPr marL="1976438" indent="-1976438" eaLnBrk="1" hangingPunct="1"/>
            <a:r>
              <a:rPr lang="en-GB" sz="3600" dirty="0">
                <a:solidFill>
                  <a:srgbClr val="0000FF"/>
                </a:solidFill>
              </a:rPr>
              <a:t>1. Introduction: Laundry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#20: Pipelining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5</a:t>
            </a:fld>
            <a:endParaRPr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58" name="Rectangle 3">
            <a:extLst>
              <a:ext uri="{FF2B5EF4-FFF2-40B4-BE49-F238E27FC236}">
                <a16:creationId xmlns:a16="http://schemas.microsoft.com/office/drawing/2014/main" id="{B2BFF094-57D0-469D-AE4D-52826B5D5302}"/>
              </a:ext>
            </a:extLst>
          </p:cNvPr>
          <p:cNvSpPr txBox="1">
            <a:spLocks noChangeArrowheads="1"/>
          </p:cNvSpPr>
          <p:nvPr/>
        </p:nvSpPr>
        <p:spPr>
          <a:xfrm>
            <a:off x="642938" y="1306314"/>
            <a:ext cx="5105400" cy="5029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5113" indent="-265113" fontAlgn="auto">
              <a:spcBef>
                <a:spcPts val="30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600" b="1" dirty="0"/>
              <a:t>A</a:t>
            </a:r>
            <a:r>
              <a:rPr lang="en-US" sz="2600" dirty="0"/>
              <a:t>nn, </a:t>
            </a:r>
            <a:r>
              <a:rPr lang="en-US" sz="2600" b="1" dirty="0"/>
              <a:t>B</a:t>
            </a:r>
            <a:r>
              <a:rPr lang="en-US" sz="2600" dirty="0"/>
              <a:t>rian, </a:t>
            </a:r>
            <a:r>
              <a:rPr lang="en-US" sz="2600" b="1" dirty="0"/>
              <a:t>C</a:t>
            </a:r>
            <a:r>
              <a:rPr lang="en-US" sz="2600" dirty="0"/>
              <a:t>athy, </a:t>
            </a:r>
            <a:r>
              <a:rPr lang="en-US" sz="2600" b="1" dirty="0"/>
              <a:t>D</a:t>
            </a:r>
            <a:r>
              <a:rPr lang="en-US" sz="2600" dirty="0"/>
              <a:t>ave </a:t>
            </a:r>
            <a:br>
              <a:rPr lang="en-US" sz="2600" dirty="0"/>
            </a:br>
            <a:r>
              <a:rPr lang="en-US" sz="2600" dirty="0"/>
              <a:t>each have one load of clothes </a:t>
            </a:r>
            <a:br>
              <a:rPr lang="en-US" sz="2600" dirty="0"/>
            </a:br>
            <a:r>
              <a:rPr lang="en-US" sz="2600" dirty="0"/>
              <a:t>to wash, dry, fold and stash</a:t>
            </a:r>
          </a:p>
          <a:p>
            <a:pPr marL="265113" indent="-265113" fontAlgn="auto">
              <a:spcBef>
                <a:spcPts val="30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600" b="1" dirty="0">
                <a:solidFill>
                  <a:srgbClr val="C00000"/>
                </a:solidFill>
              </a:rPr>
              <a:t>Washer</a:t>
            </a:r>
            <a:r>
              <a:rPr lang="en-US" sz="2600" b="1" dirty="0"/>
              <a:t> </a:t>
            </a:r>
            <a:r>
              <a:rPr lang="en-US" sz="2600" dirty="0"/>
              <a:t>takes 30 minutes</a:t>
            </a:r>
          </a:p>
          <a:p>
            <a:pPr marL="265113" indent="-265113" fontAlgn="auto">
              <a:spcBef>
                <a:spcPts val="30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600" b="1" dirty="0">
                <a:solidFill>
                  <a:srgbClr val="006600"/>
                </a:solidFill>
              </a:rPr>
              <a:t>Dryer</a:t>
            </a:r>
            <a:r>
              <a:rPr lang="en-US" sz="2600" dirty="0"/>
              <a:t> takes 30 minutes</a:t>
            </a:r>
          </a:p>
          <a:p>
            <a:pPr marL="265113" indent="-265113" fontAlgn="auto">
              <a:spcBef>
                <a:spcPts val="30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600" dirty="0"/>
              <a:t>“</a:t>
            </a:r>
            <a:r>
              <a:rPr lang="en-US" sz="2600" b="1" dirty="0">
                <a:solidFill>
                  <a:srgbClr val="660066"/>
                </a:solidFill>
              </a:rPr>
              <a:t>Folder</a:t>
            </a:r>
            <a:r>
              <a:rPr lang="en-US" sz="2600" dirty="0"/>
              <a:t>” takes 30 minutes</a:t>
            </a:r>
          </a:p>
          <a:p>
            <a:pPr marL="265113" indent="-265113" fontAlgn="auto">
              <a:spcBef>
                <a:spcPts val="30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600" dirty="0"/>
              <a:t>“</a:t>
            </a:r>
            <a:r>
              <a:rPr lang="en-US" sz="2600" b="1" dirty="0">
                <a:solidFill>
                  <a:srgbClr val="663300"/>
                </a:solidFill>
              </a:rPr>
              <a:t>Stasher</a:t>
            </a:r>
            <a:r>
              <a:rPr lang="en-US" sz="2600" dirty="0"/>
              <a:t>” takes 30 minutes</a:t>
            </a:r>
            <a:br>
              <a:rPr lang="en-US" sz="2600" dirty="0"/>
            </a:br>
            <a:r>
              <a:rPr lang="en-US" sz="2600" dirty="0"/>
              <a:t>to put clothes into drawers</a:t>
            </a:r>
          </a:p>
        </p:txBody>
      </p:sp>
      <p:grpSp>
        <p:nvGrpSpPr>
          <p:cNvPr id="59" name="Group 56">
            <a:extLst>
              <a:ext uri="{FF2B5EF4-FFF2-40B4-BE49-F238E27FC236}">
                <a16:creationId xmlns:a16="http://schemas.microsoft.com/office/drawing/2014/main" id="{68658772-311E-41BC-A698-58794F44F5D8}"/>
              </a:ext>
            </a:extLst>
          </p:cNvPr>
          <p:cNvGrpSpPr>
            <a:grpSpLocks/>
          </p:cNvGrpSpPr>
          <p:nvPr/>
        </p:nvGrpSpPr>
        <p:grpSpPr bwMode="auto">
          <a:xfrm>
            <a:off x="6554692" y="3590639"/>
            <a:ext cx="601352" cy="714815"/>
            <a:chOff x="4012" y="2316"/>
            <a:chExt cx="424" cy="504"/>
          </a:xfrm>
        </p:grpSpPr>
        <p:grpSp>
          <p:nvGrpSpPr>
            <p:cNvPr id="60" name="Group 57">
              <a:extLst>
                <a:ext uri="{FF2B5EF4-FFF2-40B4-BE49-F238E27FC236}">
                  <a16:creationId xmlns:a16="http://schemas.microsoft.com/office/drawing/2014/main" id="{D523DB4A-0335-4804-B117-0DA017FBFA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12" y="2316"/>
              <a:ext cx="424" cy="504"/>
              <a:chOff x="4012" y="2316"/>
              <a:chExt cx="424" cy="504"/>
            </a:xfrm>
          </p:grpSpPr>
          <p:sp>
            <p:nvSpPr>
              <p:cNvPr id="63" name="AutoShape 58">
                <a:extLst>
                  <a:ext uri="{FF2B5EF4-FFF2-40B4-BE49-F238E27FC236}">
                    <a16:creationId xmlns:a16="http://schemas.microsoft.com/office/drawing/2014/main" id="{1B15AEE8-6A9A-4BA5-BB8E-27188C4DC8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2" y="2396"/>
                <a:ext cx="424" cy="424"/>
              </a:xfrm>
              <a:prstGeom prst="cube">
                <a:avLst>
                  <a:gd name="adj" fmla="val 24995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4" name="AutoShape 59">
                <a:extLst>
                  <a:ext uri="{FF2B5EF4-FFF2-40B4-BE49-F238E27FC236}">
                    <a16:creationId xmlns:a16="http://schemas.microsoft.com/office/drawing/2014/main" id="{B5A5D8BA-3ADE-4147-BC0A-8E68768503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08" y="2316"/>
                <a:ext cx="328" cy="88"/>
              </a:xfrm>
              <a:prstGeom prst="cube">
                <a:avLst>
                  <a:gd name="adj" fmla="val 24995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B54A5855-89FA-4CC8-8F92-6EF8ABE6C7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356"/>
              <a:ext cx="56" cy="3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" name="AutoShape 61">
              <a:extLst>
                <a:ext uri="{FF2B5EF4-FFF2-40B4-BE49-F238E27FC236}">
                  <a16:creationId xmlns:a16="http://schemas.microsoft.com/office/drawing/2014/main" id="{6A2C3077-CD75-4C44-B2B3-0CE6498DD0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4" y="2592"/>
              <a:ext cx="224" cy="96"/>
            </a:xfrm>
            <a:prstGeom prst="octagon">
              <a:avLst>
                <a:gd name="adj" fmla="val 29282"/>
              </a:avLst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5" name="Group 62">
            <a:extLst>
              <a:ext uri="{FF2B5EF4-FFF2-40B4-BE49-F238E27FC236}">
                <a16:creationId xmlns:a16="http://schemas.microsoft.com/office/drawing/2014/main" id="{9EF86A53-C001-44C4-B06B-1117E0715049}"/>
              </a:ext>
            </a:extLst>
          </p:cNvPr>
          <p:cNvGrpSpPr>
            <a:grpSpLocks/>
          </p:cNvGrpSpPr>
          <p:nvPr/>
        </p:nvGrpSpPr>
        <p:grpSpPr bwMode="auto">
          <a:xfrm>
            <a:off x="6624624" y="4516526"/>
            <a:ext cx="613114" cy="601352"/>
            <a:chOff x="4007" y="2964"/>
            <a:chExt cx="417" cy="409"/>
          </a:xfrm>
        </p:grpSpPr>
        <p:grpSp>
          <p:nvGrpSpPr>
            <p:cNvPr id="66" name="Group 63">
              <a:extLst>
                <a:ext uri="{FF2B5EF4-FFF2-40B4-BE49-F238E27FC236}">
                  <a16:creationId xmlns:a16="http://schemas.microsoft.com/office/drawing/2014/main" id="{31231D5D-85F2-44E4-BB53-9DB0C6CAD9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09" y="3157"/>
              <a:ext cx="415" cy="216"/>
              <a:chOff x="4009" y="3157"/>
              <a:chExt cx="415" cy="216"/>
            </a:xfrm>
          </p:grpSpPr>
          <p:sp>
            <p:nvSpPr>
              <p:cNvPr id="70" name="Freeform 64">
                <a:extLst>
                  <a:ext uri="{FF2B5EF4-FFF2-40B4-BE49-F238E27FC236}">
                    <a16:creationId xmlns:a16="http://schemas.microsoft.com/office/drawing/2014/main" id="{E599967F-35F6-4815-A1C0-12CCD90FEE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1" y="3158"/>
                <a:ext cx="96" cy="215"/>
              </a:xfrm>
              <a:custGeom>
                <a:avLst/>
                <a:gdLst>
                  <a:gd name="T0" fmla="*/ 69 w 96"/>
                  <a:gd name="T1" fmla="*/ 0 h 215"/>
                  <a:gd name="T2" fmla="*/ 95 w 96"/>
                  <a:gd name="T3" fmla="*/ 0 h 215"/>
                  <a:gd name="T4" fmla="*/ 26 w 96"/>
                  <a:gd name="T5" fmla="*/ 214 h 215"/>
                  <a:gd name="T6" fmla="*/ 0 w 96"/>
                  <a:gd name="T7" fmla="*/ 214 h 215"/>
                  <a:gd name="T8" fmla="*/ 69 w 96"/>
                  <a:gd name="T9" fmla="*/ 0 h 21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6"/>
                  <a:gd name="T16" fmla="*/ 0 h 215"/>
                  <a:gd name="T17" fmla="*/ 96 w 96"/>
                  <a:gd name="T18" fmla="*/ 215 h 21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6" h="215">
                    <a:moveTo>
                      <a:pt x="69" y="0"/>
                    </a:moveTo>
                    <a:lnTo>
                      <a:pt x="95" y="0"/>
                    </a:lnTo>
                    <a:lnTo>
                      <a:pt x="26" y="214"/>
                    </a:lnTo>
                    <a:lnTo>
                      <a:pt x="0" y="214"/>
                    </a:lnTo>
                    <a:lnTo>
                      <a:pt x="69" y="0"/>
                    </a:lnTo>
                  </a:path>
                </a:pathLst>
              </a:custGeom>
              <a:solidFill>
                <a:srgbClr val="FDA4B5"/>
              </a:solidFill>
              <a:ln w="12700" cap="rnd" cmpd="sng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" name="Rectangle 65">
                <a:extLst>
                  <a:ext uri="{FF2B5EF4-FFF2-40B4-BE49-F238E27FC236}">
                    <a16:creationId xmlns:a16="http://schemas.microsoft.com/office/drawing/2014/main" id="{EE6F26A7-5CAD-4DC0-8DAA-CEE3CB18E8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" y="3157"/>
                <a:ext cx="218" cy="12"/>
              </a:xfrm>
              <a:prstGeom prst="rect">
                <a:avLst/>
              </a:prstGeom>
              <a:solidFill>
                <a:srgbClr val="FDA4B5"/>
              </a:solidFill>
              <a:ln w="12700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" name="Rectangle 66">
                <a:extLst>
                  <a:ext uri="{FF2B5EF4-FFF2-40B4-BE49-F238E27FC236}">
                    <a16:creationId xmlns:a16="http://schemas.microsoft.com/office/drawing/2014/main" id="{929613ED-881C-4658-977C-B05FDEEA60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5" y="3248"/>
                <a:ext cx="218" cy="13"/>
              </a:xfrm>
              <a:prstGeom prst="rect">
                <a:avLst/>
              </a:prstGeom>
              <a:solidFill>
                <a:srgbClr val="FDA4B5"/>
              </a:solidFill>
              <a:ln w="12700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3" name="Rectangle 67">
                <a:extLst>
                  <a:ext uri="{FF2B5EF4-FFF2-40B4-BE49-F238E27FC236}">
                    <a16:creationId xmlns:a16="http://schemas.microsoft.com/office/drawing/2014/main" id="{DEED47F7-1FC6-4636-AEB7-4FBB652121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9" y="3248"/>
                <a:ext cx="116" cy="13"/>
              </a:xfrm>
              <a:prstGeom prst="rect">
                <a:avLst/>
              </a:prstGeom>
              <a:solidFill>
                <a:srgbClr val="FDA4B5"/>
              </a:solidFill>
              <a:ln w="12700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7" name="Group 68">
              <a:extLst>
                <a:ext uri="{FF2B5EF4-FFF2-40B4-BE49-F238E27FC236}">
                  <a16:creationId xmlns:a16="http://schemas.microsoft.com/office/drawing/2014/main" id="{7C476FB0-773C-414A-9F54-E4D81E4FA2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07" y="2964"/>
              <a:ext cx="217" cy="409"/>
              <a:chOff x="4007" y="2964"/>
              <a:chExt cx="217" cy="409"/>
            </a:xfrm>
          </p:grpSpPr>
          <p:sp>
            <p:nvSpPr>
              <p:cNvPr id="68" name="Oval 69">
                <a:extLst>
                  <a:ext uri="{FF2B5EF4-FFF2-40B4-BE49-F238E27FC236}">
                    <a16:creationId xmlns:a16="http://schemas.microsoft.com/office/drawing/2014/main" id="{82774CD9-12D5-4C56-988B-5CBC505CD3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91" y="2964"/>
                <a:ext cx="55" cy="55"/>
              </a:xfrm>
              <a:prstGeom prst="ellipse">
                <a:avLst/>
              </a:prstGeom>
              <a:solidFill>
                <a:srgbClr val="FDA4B5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9" name="Freeform 70">
                <a:extLst>
                  <a:ext uri="{FF2B5EF4-FFF2-40B4-BE49-F238E27FC236}">
                    <a16:creationId xmlns:a16="http://schemas.microsoft.com/office/drawing/2014/main" id="{2D636FBD-4C01-4862-83B2-ECBA602958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07" y="3041"/>
                <a:ext cx="217" cy="332"/>
              </a:xfrm>
              <a:custGeom>
                <a:avLst/>
                <a:gdLst>
                  <a:gd name="T0" fmla="*/ 2 w 217"/>
                  <a:gd name="T1" fmla="*/ 153 h 332"/>
                  <a:gd name="T2" fmla="*/ 1 w 217"/>
                  <a:gd name="T3" fmla="*/ 157 h 332"/>
                  <a:gd name="T4" fmla="*/ 0 w 217"/>
                  <a:gd name="T5" fmla="*/ 163 h 332"/>
                  <a:gd name="T6" fmla="*/ 0 w 217"/>
                  <a:gd name="T7" fmla="*/ 168 h 332"/>
                  <a:gd name="T8" fmla="*/ 2 w 217"/>
                  <a:gd name="T9" fmla="*/ 174 h 332"/>
                  <a:gd name="T10" fmla="*/ 5 w 217"/>
                  <a:gd name="T11" fmla="*/ 179 h 332"/>
                  <a:gd name="T12" fmla="*/ 9 w 217"/>
                  <a:gd name="T13" fmla="*/ 183 h 332"/>
                  <a:gd name="T14" fmla="*/ 14 w 217"/>
                  <a:gd name="T15" fmla="*/ 186 h 332"/>
                  <a:gd name="T16" fmla="*/ 17 w 217"/>
                  <a:gd name="T17" fmla="*/ 186 h 332"/>
                  <a:gd name="T18" fmla="*/ 23 w 217"/>
                  <a:gd name="T19" fmla="*/ 186 h 332"/>
                  <a:gd name="T20" fmla="*/ 141 w 217"/>
                  <a:gd name="T21" fmla="*/ 331 h 332"/>
                  <a:gd name="T22" fmla="*/ 178 w 217"/>
                  <a:gd name="T23" fmla="*/ 159 h 332"/>
                  <a:gd name="T24" fmla="*/ 177 w 217"/>
                  <a:gd name="T25" fmla="*/ 155 h 332"/>
                  <a:gd name="T26" fmla="*/ 176 w 217"/>
                  <a:gd name="T27" fmla="*/ 152 h 332"/>
                  <a:gd name="T28" fmla="*/ 173 w 217"/>
                  <a:gd name="T29" fmla="*/ 149 h 332"/>
                  <a:gd name="T30" fmla="*/ 170 w 217"/>
                  <a:gd name="T31" fmla="*/ 147 h 332"/>
                  <a:gd name="T32" fmla="*/ 166 w 217"/>
                  <a:gd name="T33" fmla="*/ 145 h 332"/>
                  <a:gd name="T34" fmla="*/ 161 w 217"/>
                  <a:gd name="T35" fmla="*/ 145 h 332"/>
                  <a:gd name="T36" fmla="*/ 157 w 217"/>
                  <a:gd name="T37" fmla="*/ 145 h 332"/>
                  <a:gd name="T38" fmla="*/ 153 w 217"/>
                  <a:gd name="T39" fmla="*/ 145 h 332"/>
                  <a:gd name="T40" fmla="*/ 104 w 217"/>
                  <a:gd name="T41" fmla="*/ 84 h 332"/>
                  <a:gd name="T42" fmla="*/ 201 w 217"/>
                  <a:gd name="T43" fmla="*/ 104 h 332"/>
                  <a:gd name="T44" fmla="*/ 204 w 217"/>
                  <a:gd name="T45" fmla="*/ 103 h 332"/>
                  <a:gd name="T46" fmla="*/ 207 w 217"/>
                  <a:gd name="T47" fmla="*/ 103 h 332"/>
                  <a:gd name="T48" fmla="*/ 211 w 217"/>
                  <a:gd name="T49" fmla="*/ 100 h 332"/>
                  <a:gd name="T50" fmla="*/ 214 w 217"/>
                  <a:gd name="T51" fmla="*/ 97 h 332"/>
                  <a:gd name="T52" fmla="*/ 215 w 217"/>
                  <a:gd name="T53" fmla="*/ 93 h 332"/>
                  <a:gd name="T54" fmla="*/ 216 w 217"/>
                  <a:gd name="T55" fmla="*/ 88 h 332"/>
                  <a:gd name="T56" fmla="*/ 215 w 217"/>
                  <a:gd name="T57" fmla="*/ 83 h 332"/>
                  <a:gd name="T58" fmla="*/ 213 w 217"/>
                  <a:gd name="T59" fmla="*/ 79 h 332"/>
                  <a:gd name="T60" fmla="*/ 210 w 217"/>
                  <a:gd name="T61" fmla="*/ 76 h 332"/>
                  <a:gd name="T62" fmla="*/ 206 w 217"/>
                  <a:gd name="T63" fmla="*/ 73 h 332"/>
                  <a:gd name="T64" fmla="*/ 203 w 217"/>
                  <a:gd name="T65" fmla="*/ 72 h 332"/>
                  <a:gd name="T66" fmla="*/ 137 w 217"/>
                  <a:gd name="T67" fmla="*/ 72 h 332"/>
                  <a:gd name="T68" fmla="*/ 125 w 217"/>
                  <a:gd name="T69" fmla="*/ 47 h 332"/>
                  <a:gd name="T70" fmla="*/ 126 w 217"/>
                  <a:gd name="T71" fmla="*/ 41 h 332"/>
                  <a:gd name="T72" fmla="*/ 127 w 217"/>
                  <a:gd name="T73" fmla="*/ 34 h 332"/>
                  <a:gd name="T74" fmla="*/ 127 w 217"/>
                  <a:gd name="T75" fmla="*/ 27 h 332"/>
                  <a:gd name="T76" fmla="*/ 125 w 217"/>
                  <a:gd name="T77" fmla="*/ 21 h 332"/>
                  <a:gd name="T78" fmla="*/ 123 w 217"/>
                  <a:gd name="T79" fmla="*/ 17 h 332"/>
                  <a:gd name="T80" fmla="*/ 120 w 217"/>
                  <a:gd name="T81" fmla="*/ 12 h 332"/>
                  <a:gd name="T82" fmla="*/ 115 w 217"/>
                  <a:gd name="T83" fmla="*/ 8 h 332"/>
                  <a:gd name="T84" fmla="*/ 110 w 217"/>
                  <a:gd name="T85" fmla="*/ 4 h 332"/>
                  <a:gd name="T86" fmla="*/ 104 w 217"/>
                  <a:gd name="T87" fmla="*/ 1 h 332"/>
                  <a:gd name="T88" fmla="*/ 97 w 217"/>
                  <a:gd name="T89" fmla="*/ 0 h 332"/>
                  <a:gd name="T90" fmla="*/ 91 w 217"/>
                  <a:gd name="T91" fmla="*/ 0 h 332"/>
                  <a:gd name="T92" fmla="*/ 84 w 217"/>
                  <a:gd name="T93" fmla="*/ 1 h 332"/>
                  <a:gd name="T94" fmla="*/ 77 w 217"/>
                  <a:gd name="T95" fmla="*/ 3 h 332"/>
                  <a:gd name="T96" fmla="*/ 70 w 217"/>
                  <a:gd name="T97" fmla="*/ 7 h 332"/>
                  <a:gd name="T98" fmla="*/ 66 w 217"/>
                  <a:gd name="T99" fmla="*/ 13 h 332"/>
                  <a:gd name="T100" fmla="*/ 62 w 217"/>
                  <a:gd name="T101" fmla="*/ 19 h 332"/>
                  <a:gd name="T102" fmla="*/ 59 w 217"/>
                  <a:gd name="T103" fmla="*/ 25 h 332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217"/>
                  <a:gd name="T157" fmla="*/ 0 h 332"/>
                  <a:gd name="T158" fmla="*/ 217 w 217"/>
                  <a:gd name="T159" fmla="*/ 332 h 332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217" h="332">
                    <a:moveTo>
                      <a:pt x="59" y="25"/>
                    </a:moveTo>
                    <a:lnTo>
                      <a:pt x="2" y="153"/>
                    </a:lnTo>
                    <a:lnTo>
                      <a:pt x="1" y="155"/>
                    </a:lnTo>
                    <a:lnTo>
                      <a:pt x="1" y="157"/>
                    </a:lnTo>
                    <a:lnTo>
                      <a:pt x="0" y="159"/>
                    </a:lnTo>
                    <a:lnTo>
                      <a:pt x="0" y="163"/>
                    </a:lnTo>
                    <a:lnTo>
                      <a:pt x="0" y="165"/>
                    </a:lnTo>
                    <a:lnTo>
                      <a:pt x="0" y="168"/>
                    </a:lnTo>
                    <a:lnTo>
                      <a:pt x="1" y="171"/>
                    </a:lnTo>
                    <a:lnTo>
                      <a:pt x="2" y="174"/>
                    </a:lnTo>
                    <a:lnTo>
                      <a:pt x="3" y="176"/>
                    </a:lnTo>
                    <a:lnTo>
                      <a:pt x="5" y="179"/>
                    </a:lnTo>
                    <a:lnTo>
                      <a:pt x="7" y="181"/>
                    </a:lnTo>
                    <a:lnTo>
                      <a:pt x="9" y="183"/>
                    </a:lnTo>
                    <a:lnTo>
                      <a:pt x="12" y="184"/>
                    </a:lnTo>
                    <a:lnTo>
                      <a:pt x="14" y="186"/>
                    </a:lnTo>
                    <a:lnTo>
                      <a:pt x="15" y="186"/>
                    </a:lnTo>
                    <a:lnTo>
                      <a:pt x="17" y="186"/>
                    </a:lnTo>
                    <a:lnTo>
                      <a:pt x="20" y="186"/>
                    </a:lnTo>
                    <a:lnTo>
                      <a:pt x="23" y="186"/>
                    </a:lnTo>
                    <a:lnTo>
                      <a:pt x="141" y="186"/>
                    </a:lnTo>
                    <a:lnTo>
                      <a:pt x="141" y="331"/>
                    </a:lnTo>
                    <a:lnTo>
                      <a:pt x="178" y="331"/>
                    </a:lnTo>
                    <a:lnTo>
                      <a:pt x="178" y="159"/>
                    </a:lnTo>
                    <a:lnTo>
                      <a:pt x="178" y="157"/>
                    </a:lnTo>
                    <a:lnTo>
                      <a:pt x="177" y="155"/>
                    </a:lnTo>
                    <a:lnTo>
                      <a:pt x="176" y="153"/>
                    </a:lnTo>
                    <a:lnTo>
                      <a:pt x="176" y="152"/>
                    </a:lnTo>
                    <a:lnTo>
                      <a:pt x="175" y="151"/>
                    </a:lnTo>
                    <a:lnTo>
                      <a:pt x="173" y="149"/>
                    </a:lnTo>
                    <a:lnTo>
                      <a:pt x="172" y="148"/>
                    </a:lnTo>
                    <a:lnTo>
                      <a:pt x="170" y="147"/>
                    </a:lnTo>
                    <a:lnTo>
                      <a:pt x="168" y="146"/>
                    </a:lnTo>
                    <a:lnTo>
                      <a:pt x="166" y="145"/>
                    </a:lnTo>
                    <a:lnTo>
                      <a:pt x="164" y="145"/>
                    </a:lnTo>
                    <a:lnTo>
                      <a:pt x="161" y="145"/>
                    </a:lnTo>
                    <a:lnTo>
                      <a:pt x="159" y="145"/>
                    </a:lnTo>
                    <a:lnTo>
                      <a:pt x="157" y="145"/>
                    </a:lnTo>
                    <a:lnTo>
                      <a:pt x="155" y="145"/>
                    </a:lnTo>
                    <a:lnTo>
                      <a:pt x="153" y="145"/>
                    </a:lnTo>
                    <a:lnTo>
                      <a:pt x="85" y="141"/>
                    </a:lnTo>
                    <a:lnTo>
                      <a:pt x="104" y="84"/>
                    </a:lnTo>
                    <a:lnTo>
                      <a:pt x="118" y="104"/>
                    </a:lnTo>
                    <a:lnTo>
                      <a:pt x="201" y="104"/>
                    </a:lnTo>
                    <a:lnTo>
                      <a:pt x="203" y="103"/>
                    </a:lnTo>
                    <a:lnTo>
                      <a:pt x="204" y="103"/>
                    </a:lnTo>
                    <a:lnTo>
                      <a:pt x="206" y="103"/>
                    </a:lnTo>
                    <a:lnTo>
                      <a:pt x="207" y="103"/>
                    </a:lnTo>
                    <a:lnTo>
                      <a:pt x="209" y="101"/>
                    </a:lnTo>
                    <a:lnTo>
                      <a:pt x="211" y="100"/>
                    </a:lnTo>
                    <a:lnTo>
                      <a:pt x="212" y="98"/>
                    </a:lnTo>
                    <a:lnTo>
                      <a:pt x="214" y="97"/>
                    </a:lnTo>
                    <a:lnTo>
                      <a:pt x="215" y="95"/>
                    </a:lnTo>
                    <a:lnTo>
                      <a:pt x="215" y="93"/>
                    </a:lnTo>
                    <a:lnTo>
                      <a:pt x="216" y="91"/>
                    </a:lnTo>
                    <a:lnTo>
                      <a:pt x="216" y="88"/>
                    </a:lnTo>
                    <a:lnTo>
                      <a:pt x="216" y="85"/>
                    </a:lnTo>
                    <a:lnTo>
                      <a:pt x="215" y="83"/>
                    </a:lnTo>
                    <a:lnTo>
                      <a:pt x="214" y="81"/>
                    </a:lnTo>
                    <a:lnTo>
                      <a:pt x="213" y="79"/>
                    </a:lnTo>
                    <a:lnTo>
                      <a:pt x="211" y="77"/>
                    </a:lnTo>
                    <a:lnTo>
                      <a:pt x="210" y="76"/>
                    </a:lnTo>
                    <a:lnTo>
                      <a:pt x="208" y="74"/>
                    </a:lnTo>
                    <a:lnTo>
                      <a:pt x="206" y="73"/>
                    </a:lnTo>
                    <a:lnTo>
                      <a:pt x="205" y="72"/>
                    </a:lnTo>
                    <a:lnTo>
                      <a:pt x="203" y="72"/>
                    </a:lnTo>
                    <a:lnTo>
                      <a:pt x="201" y="72"/>
                    </a:lnTo>
                    <a:lnTo>
                      <a:pt x="137" y="72"/>
                    </a:lnTo>
                    <a:lnTo>
                      <a:pt x="123" y="49"/>
                    </a:lnTo>
                    <a:lnTo>
                      <a:pt x="125" y="47"/>
                    </a:lnTo>
                    <a:lnTo>
                      <a:pt x="126" y="44"/>
                    </a:lnTo>
                    <a:lnTo>
                      <a:pt x="126" y="41"/>
                    </a:lnTo>
                    <a:lnTo>
                      <a:pt x="127" y="38"/>
                    </a:lnTo>
                    <a:lnTo>
                      <a:pt x="127" y="34"/>
                    </a:lnTo>
                    <a:lnTo>
                      <a:pt x="127" y="31"/>
                    </a:lnTo>
                    <a:lnTo>
                      <a:pt x="127" y="27"/>
                    </a:lnTo>
                    <a:lnTo>
                      <a:pt x="126" y="24"/>
                    </a:lnTo>
                    <a:lnTo>
                      <a:pt x="125" y="21"/>
                    </a:lnTo>
                    <a:lnTo>
                      <a:pt x="124" y="20"/>
                    </a:lnTo>
                    <a:lnTo>
                      <a:pt x="123" y="17"/>
                    </a:lnTo>
                    <a:lnTo>
                      <a:pt x="122" y="15"/>
                    </a:lnTo>
                    <a:lnTo>
                      <a:pt x="120" y="12"/>
                    </a:lnTo>
                    <a:lnTo>
                      <a:pt x="118" y="10"/>
                    </a:lnTo>
                    <a:lnTo>
                      <a:pt x="115" y="8"/>
                    </a:lnTo>
                    <a:lnTo>
                      <a:pt x="113" y="6"/>
                    </a:lnTo>
                    <a:lnTo>
                      <a:pt x="110" y="4"/>
                    </a:lnTo>
                    <a:lnTo>
                      <a:pt x="107" y="3"/>
                    </a:lnTo>
                    <a:lnTo>
                      <a:pt x="104" y="1"/>
                    </a:lnTo>
                    <a:lnTo>
                      <a:pt x="100" y="1"/>
                    </a:lnTo>
                    <a:lnTo>
                      <a:pt x="97" y="0"/>
                    </a:lnTo>
                    <a:lnTo>
                      <a:pt x="95" y="0"/>
                    </a:lnTo>
                    <a:lnTo>
                      <a:pt x="91" y="0"/>
                    </a:lnTo>
                    <a:lnTo>
                      <a:pt x="88" y="0"/>
                    </a:lnTo>
                    <a:lnTo>
                      <a:pt x="84" y="1"/>
                    </a:lnTo>
                    <a:lnTo>
                      <a:pt x="81" y="2"/>
                    </a:lnTo>
                    <a:lnTo>
                      <a:pt x="77" y="3"/>
                    </a:lnTo>
                    <a:lnTo>
                      <a:pt x="74" y="5"/>
                    </a:lnTo>
                    <a:lnTo>
                      <a:pt x="70" y="7"/>
                    </a:lnTo>
                    <a:lnTo>
                      <a:pt x="68" y="10"/>
                    </a:lnTo>
                    <a:lnTo>
                      <a:pt x="66" y="13"/>
                    </a:lnTo>
                    <a:lnTo>
                      <a:pt x="64" y="15"/>
                    </a:lnTo>
                    <a:lnTo>
                      <a:pt x="62" y="19"/>
                    </a:lnTo>
                    <a:lnTo>
                      <a:pt x="60" y="21"/>
                    </a:lnTo>
                    <a:lnTo>
                      <a:pt x="59" y="25"/>
                    </a:lnTo>
                  </a:path>
                </a:pathLst>
              </a:custGeom>
              <a:solidFill>
                <a:srgbClr val="FDA4B5"/>
              </a:solidFill>
              <a:ln w="127000" cap="rnd" cmpd="sng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74" name="Group 71">
            <a:extLst>
              <a:ext uri="{FF2B5EF4-FFF2-40B4-BE49-F238E27FC236}">
                <a16:creationId xmlns:a16="http://schemas.microsoft.com/office/drawing/2014/main" id="{BFC20612-2B17-4B4D-B6AD-74C6F19C44B2}"/>
              </a:ext>
            </a:extLst>
          </p:cNvPr>
          <p:cNvGrpSpPr>
            <a:grpSpLocks/>
          </p:cNvGrpSpPr>
          <p:nvPr/>
        </p:nvGrpSpPr>
        <p:grpSpPr bwMode="auto">
          <a:xfrm>
            <a:off x="6565703" y="2727409"/>
            <a:ext cx="626622" cy="744852"/>
            <a:chOff x="4020" y="1580"/>
            <a:chExt cx="424" cy="504"/>
          </a:xfrm>
        </p:grpSpPr>
        <p:grpSp>
          <p:nvGrpSpPr>
            <p:cNvPr id="75" name="Group 72">
              <a:extLst>
                <a:ext uri="{FF2B5EF4-FFF2-40B4-BE49-F238E27FC236}">
                  <a16:creationId xmlns:a16="http://schemas.microsoft.com/office/drawing/2014/main" id="{B5053192-E501-4D58-81FA-ACE812B8739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20" y="1580"/>
              <a:ext cx="424" cy="504"/>
              <a:chOff x="4020" y="1580"/>
              <a:chExt cx="424" cy="504"/>
            </a:xfrm>
          </p:grpSpPr>
          <p:grpSp>
            <p:nvGrpSpPr>
              <p:cNvPr id="77" name="Group 73">
                <a:extLst>
                  <a:ext uri="{FF2B5EF4-FFF2-40B4-BE49-F238E27FC236}">
                    <a16:creationId xmlns:a16="http://schemas.microsoft.com/office/drawing/2014/main" id="{8D188D16-FDED-4487-ABC3-6381B70FD81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020" y="1580"/>
                <a:ext cx="424" cy="504"/>
                <a:chOff x="4020" y="1580"/>
                <a:chExt cx="424" cy="504"/>
              </a:xfrm>
            </p:grpSpPr>
            <p:sp>
              <p:nvSpPr>
                <p:cNvPr id="79" name="AutoShape 74">
                  <a:extLst>
                    <a:ext uri="{FF2B5EF4-FFF2-40B4-BE49-F238E27FC236}">
                      <a16:creationId xmlns:a16="http://schemas.microsoft.com/office/drawing/2014/main" id="{B56AB64A-267A-440A-AFC6-06A75F30BED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20" y="1660"/>
                  <a:ext cx="424" cy="424"/>
                </a:xfrm>
                <a:prstGeom prst="cube">
                  <a:avLst>
                    <a:gd name="adj" fmla="val 24995"/>
                  </a:avLst>
                </a:prstGeom>
                <a:solidFill>
                  <a:srgbClr val="DC008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0" name="AutoShape 75">
                  <a:extLst>
                    <a:ext uri="{FF2B5EF4-FFF2-40B4-BE49-F238E27FC236}">
                      <a16:creationId xmlns:a16="http://schemas.microsoft.com/office/drawing/2014/main" id="{1FAE98BB-566B-4F34-8FC6-54B2EA07188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16" y="1580"/>
                  <a:ext cx="328" cy="88"/>
                </a:xfrm>
                <a:prstGeom prst="cube">
                  <a:avLst>
                    <a:gd name="adj" fmla="val 24995"/>
                  </a:avLst>
                </a:prstGeom>
                <a:solidFill>
                  <a:srgbClr val="DC008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78" name="AutoShape 76">
                <a:extLst>
                  <a:ext uri="{FF2B5EF4-FFF2-40B4-BE49-F238E27FC236}">
                    <a16:creationId xmlns:a16="http://schemas.microsoft.com/office/drawing/2014/main" id="{9A7A32C7-453B-4913-9F49-1806C5E557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04" y="1696"/>
                <a:ext cx="224" cy="32"/>
              </a:xfrm>
              <a:prstGeom prst="parallelogram">
                <a:avLst>
                  <a:gd name="adj" fmla="val 174968"/>
                </a:avLst>
              </a:prstGeom>
              <a:solidFill>
                <a:srgbClr val="DC008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76" name="Oval 77">
              <a:extLst>
                <a:ext uri="{FF2B5EF4-FFF2-40B4-BE49-F238E27FC236}">
                  <a16:creationId xmlns:a16="http://schemas.microsoft.com/office/drawing/2014/main" id="{41BB436C-01FB-4E60-8062-4C537542D7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8" y="1620"/>
              <a:ext cx="56" cy="32"/>
            </a:xfrm>
            <a:prstGeom prst="ellipse">
              <a:avLst/>
            </a:prstGeom>
            <a:solidFill>
              <a:srgbClr val="DC008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81" name="Group 87">
            <a:extLst>
              <a:ext uri="{FF2B5EF4-FFF2-40B4-BE49-F238E27FC236}">
                <a16:creationId xmlns:a16="http://schemas.microsoft.com/office/drawing/2014/main" id="{D6C6C478-B771-43EC-BB4E-821B1C4BE049}"/>
              </a:ext>
            </a:extLst>
          </p:cNvPr>
          <p:cNvGrpSpPr>
            <a:grpSpLocks/>
          </p:cNvGrpSpPr>
          <p:nvPr/>
        </p:nvGrpSpPr>
        <p:grpSpPr bwMode="auto">
          <a:xfrm>
            <a:off x="5799680" y="1653865"/>
            <a:ext cx="2224088" cy="538163"/>
            <a:chOff x="3726" y="814"/>
            <a:chExt cx="1401" cy="339"/>
          </a:xfrm>
        </p:grpSpPr>
        <p:sp>
          <p:nvSpPr>
            <p:cNvPr id="82" name="Freeform 78">
              <a:extLst>
                <a:ext uri="{FF2B5EF4-FFF2-40B4-BE49-F238E27FC236}">
                  <a16:creationId xmlns:a16="http://schemas.microsoft.com/office/drawing/2014/main" id="{9A3DF9B5-1269-4542-A6BD-59D1A376BFB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6" y="814"/>
              <a:ext cx="329" cy="295"/>
            </a:xfrm>
            <a:custGeom>
              <a:avLst/>
              <a:gdLst>
                <a:gd name="T0" fmla="*/ 93 w 329"/>
                <a:gd name="T1" fmla="*/ 14 h 295"/>
                <a:gd name="T2" fmla="*/ 156 w 329"/>
                <a:gd name="T3" fmla="*/ 16 h 295"/>
                <a:gd name="T4" fmla="*/ 224 w 329"/>
                <a:gd name="T5" fmla="*/ 0 h 295"/>
                <a:gd name="T6" fmla="*/ 305 w 329"/>
                <a:gd name="T7" fmla="*/ 0 h 295"/>
                <a:gd name="T8" fmla="*/ 215 w 329"/>
                <a:gd name="T9" fmla="*/ 84 h 295"/>
                <a:gd name="T10" fmla="*/ 239 w 329"/>
                <a:gd name="T11" fmla="*/ 89 h 295"/>
                <a:gd name="T12" fmla="*/ 263 w 329"/>
                <a:gd name="T13" fmla="*/ 99 h 295"/>
                <a:gd name="T14" fmla="*/ 285 w 329"/>
                <a:gd name="T15" fmla="*/ 111 h 295"/>
                <a:gd name="T16" fmla="*/ 302 w 329"/>
                <a:gd name="T17" fmla="*/ 126 h 295"/>
                <a:gd name="T18" fmla="*/ 316 w 329"/>
                <a:gd name="T19" fmla="*/ 144 h 295"/>
                <a:gd name="T20" fmla="*/ 325 w 329"/>
                <a:gd name="T21" fmla="*/ 165 h 295"/>
                <a:gd name="T22" fmla="*/ 328 w 329"/>
                <a:gd name="T23" fmla="*/ 187 h 295"/>
                <a:gd name="T24" fmla="*/ 324 w 329"/>
                <a:gd name="T25" fmla="*/ 210 h 295"/>
                <a:gd name="T26" fmla="*/ 317 w 329"/>
                <a:gd name="T27" fmla="*/ 228 h 295"/>
                <a:gd name="T28" fmla="*/ 303 w 329"/>
                <a:gd name="T29" fmla="*/ 247 h 295"/>
                <a:gd name="T30" fmla="*/ 280 w 329"/>
                <a:gd name="T31" fmla="*/ 267 h 295"/>
                <a:gd name="T32" fmla="*/ 257 w 329"/>
                <a:gd name="T33" fmla="*/ 279 h 295"/>
                <a:gd name="T34" fmla="*/ 236 w 329"/>
                <a:gd name="T35" fmla="*/ 287 h 295"/>
                <a:gd name="T36" fmla="*/ 215 w 329"/>
                <a:gd name="T37" fmla="*/ 292 h 295"/>
                <a:gd name="T38" fmla="*/ 189 w 329"/>
                <a:gd name="T39" fmla="*/ 294 h 295"/>
                <a:gd name="T40" fmla="*/ 122 w 329"/>
                <a:gd name="T41" fmla="*/ 293 h 295"/>
                <a:gd name="T42" fmla="*/ 90 w 329"/>
                <a:gd name="T43" fmla="*/ 287 h 295"/>
                <a:gd name="T44" fmla="*/ 56 w 329"/>
                <a:gd name="T45" fmla="*/ 272 h 295"/>
                <a:gd name="T46" fmla="*/ 30 w 329"/>
                <a:gd name="T47" fmla="*/ 253 h 295"/>
                <a:gd name="T48" fmla="*/ 13 w 329"/>
                <a:gd name="T49" fmla="*/ 232 h 295"/>
                <a:gd name="T50" fmla="*/ 4 w 329"/>
                <a:gd name="T51" fmla="*/ 210 h 295"/>
                <a:gd name="T52" fmla="*/ 0 w 329"/>
                <a:gd name="T53" fmla="*/ 191 h 295"/>
                <a:gd name="T54" fmla="*/ 3 w 329"/>
                <a:gd name="T55" fmla="*/ 169 h 295"/>
                <a:gd name="T56" fmla="*/ 14 w 329"/>
                <a:gd name="T57" fmla="*/ 141 h 295"/>
                <a:gd name="T58" fmla="*/ 35 w 329"/>
                <a:gd name="T59" fmla="*/ 118 h 295"/>
                <a:gd name="T60" fmla="*/ 63 w 329"/>
                <a:gd name="T61" fmla="*/ 99 h 295"/>
                <a:gd name="T62" fmla="*/ 102 w 329"/>
                <a:gd name="T63" fmla="*/ 86 h 295"/>
                <a:gd name="T64" fmla="*/ 40 w 329"/>
                <a:gd name="T65" fmla="*/ 4 h 295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329"/>
                <a:gd name="T100" fmla="*/ 0 h 295"/>
                <a:gd name="T101" fmla="*/ 329 w 329"/>
                <a:gd name="T102" fmla="*/ 295 h 295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329" h="295">
                  <a:moveTo>
                    <a:pt x="40" y="4"/>
                  </a:moveTo>
                  <a:lnTo>
                    <a:pt x="93" y="14"/>
                  </a:lnTo>
                  <a:lnTo>
                    <a:pt x="92" y="0"/>
                  </a:lnTo>
                  <a:lnTo>
                    <a:pt x="156" y="16"/>
                  </a:lnTo>
                  <a:lnTo>
                    <a:pt x="156" y="0"/>
                  </a:lnTo>
                  <a:lnTo>
                    <a:pt x="224" y="0"/>
                  </a:lnTo>
                  <a:lnTo>
                    <a:pt x="223" y="15"/>
                  </a:lnTo>
                  <a:lnTo>
                    <a:pt x="305" y="0"/>
                  </a:lnTo>
                  <a:lnTo>
                    <a:pt x="205" y="83"/>
                  </a:lnTo>
                  <a:lnTo>
                    <a:pt x="215" y="84"/>
                  </a:lnTo>
                  <a:lnTo>
                    <a:pt x="226" y="86"/>
                  </a:lnTo>
                  <a:lnTo>
                    <a:pt x="239" y="89"/>
                  </a:lnTo>
                  <a:lnTo>
                    <a:pt x="250" y="93"/>
                  </a:lnTo>
                  <a:lnTo>
                    <a:pt x="263" y="99"/>
                  </a:lnTo>
                  <a:lnTo>
                    <a:pt x="274" y="104"/>
                  </a:lnTo>
                  <a:lnTo>
                    <a:pt x="285" y="111"/>
                  </a:lnTo>
                  <a:lnTo>
                    <a:pt x="294" y="119"/>
                  </a:lnTo>
                  <a:lnTo>
                    <a:pt x="302" y="126"/>
                  </a:lnTo>
                  <a:lnTo>
                    <a:pt x="309" y="135"/>
                  </a:lnTo>
                  <a:lnTo>
                    <a:pt x="316" y="144"/>
                  </a:lnTo>
                  <a:lnTo>
                    <a:pt x="321" y="155"/>
                  </a:lnTo>
                  <a:lnTo>
                    <a:pt x="325" y="165"/>
                  </a:lnTo>
                  <a:lnTo>
                    <a:pt x="327" y="174"/>
                  </a:lnTo>
                  <a:lnTo>
                    <a:pt x="328" y="187"/>
                  </a:lnTo>
                  <a:lnTo>
                    <a:pt x="327" y="200"/>
                  </a:lnTo>
                  <a:lnTo>
                    <a:pt x="324" y="210"/>
                  </a:lnTo>
                  <a:lnTo>
                    <a:pt x="321" y="220"/>
                  </a:lnTo>
                  <a:lnTo>
                    <a:pt x="317" y="228"/>
                  </a:lnTo>
                  <a:lnTo>
                    <a:pt x="311" y="237"/>
                  </a:lnTo>
                  <a:lnTo>
                    <a:pt x="303" y="247"/>
                  </a:lnTo>
                  <a:lnTo>
                    <a:pt x="292" y="258"/>
                  </a:lnTo>
                  <a:lnTo>
                    <a:pt x="280" y="267"/>
                  </a:lnTo>
                  <a:lnTo>
                    <a:pt x="268" y="274"/>
                  </a:lnTo>
                  <a:lnTo>
                    <a:pt x="257" y="279"/>
                  </a:lnTo>
                  <a:lnTo>
                    <a:pt x="246" y="284"/>
                  </a:lnTo>
                  <a:lnTo>
                    <a:pt x="236" y="287"/>
                  </a:lnTo>
                  <a:lnTo>
                    <a:pt x="224" y="290"/>
                  </a:lnTo>
                  <a:lnTo>
                    <a:pt x="215" y="292"/>
                  </a:lnTo>
                  <a:lnTo>
                    <a:pt x="201" y="293"/>
                  </a:lnTo>
                  <a:lnTo>
                    <a:pt x="189" y="294"/>
                  </a:lnTo>
                  <a:lnTo>
                    <a:pt x="133" y="294"/>
                  </a:lnTo>
                  <a:lnTo>
                    <a:pt x="122" y="293"/>
                  </a:lnTo>
                  <a:lnTo>
                    <a:pt x="108" y="291"/>
                  </a:lnTo>
                  <a:lnTo>
                    <a:pt x="90" y="287"/>
                  </a:lnTo>
                  <a:lnTo>
                    <a:pt x="73" y="280"/>
                  </a:lnTo>
                  <a:lnTo>
                    <a:pt x="56" y="272"/>
                  </a:lnTo>
                  <a:lnTo>
                    <a:pt x="41" y="262"/>
                  </a:lnTo>
                  <a:lnTo>
                    <a:pt x="30" y="253"/>
                  </a:lnTo>
                  <a:lnTo>
                    <a:pt x="21" y="244"/>
                  </a:lnTo>
                  <a:lnTo>
                    <a:pt x="13" y="232"/>
                  </a:lnTo>
                  <a:lnTo>
                    <a:pt x="7" y="219"/>
                  </a:lnTo>
                  <a:lnTo>
                    <a:pt x="4" y="210"/>
                  </a:lnTo>
                  <a:lnTo>
                    <a:pt x="1" y="201"/>
                  </a:lnTo>
                  <a:lnTo>
                    <a:pt x="0" y="191"/>
                  </a:lnTo>
                  <a:lnTo>
                    <a:pt x="1" y="183"/>
                  </a:lnTo>
                  <a:lnTo>
                    <a:pt x="3" y="169"/>
                  </a:lnTo>
                  <a:lnTo>
                    <a:pt x="7" y="156"/>
                  </a:lnTo>
                  <a:lnTo>
                    <a:pt x="14" y="141"/>
                  </a:lnTo>
                  <a:lnTo>
                    <a:pt x="24" y="129"/>
                  </a:lnTo>
                  <a:lnTo>
                    <a:pt x="35" y="118"/>
                  </a:lnTo>
                  <a:lnTo>
                    <a:pt x="49" y="107"/>
                  </a:lnTo>
                  <a:lnTo>
                    <a:pt x="63" y="99"/>
                  </a:lnTo>
                  <a:lnTo>
                    <a:pt x="82" y="91"/>
                  </a:lnTo>
                  <a:lnTo>
                    <a:pt x="102" y="86"/>
                  </a:lnTo>
                  <a:lnTo>
                    <a:pt x="115" y="83"/>
                  </a:lnTo>
                  <a:lnTo>
                    <a:pt x="40" y="4"/>
                  </a:lnTo>
                </a:path>
              </a:pathLst>
            </a:custGeom>
            <a:solidFill>
              <a:schemeClr val="bg2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>
                <a:solidFill>
                  <a:srgbClr val="C00000"/>
                </a:solidFill>
              </a:endParaRPr>
            </a:p>
          </p:txBody>
        </p:sp>
        <p:sp>
          <p:nvSpPr>
            <p:cNvPr id="83" name="Rectangle 79">
              <a:extLst>
                <a:ext uri="{FF2B5EF4-FFF2-40B4-BE49-F238E27FC236}">
                  <a16:creationId xmlns:a16="http://schemas.microsoft.com/office/drawing/2014/main" id="{26D1E9B5-7FEC-4942-B966-C0335CFCE0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6" y="864"/>
              <a:ext cx="255" cy="28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/>
              <a:r>
                <a:rPr lang="en-US" b="1" dirty="0">
                  <a:solidFill>
                    <a:srgbClr val="C00000"/>
                  </a:solidFill>
                </a:rPr>
                <a:t>A</a:t>
              </a:r>
            </a:p>
          </p:txBody>
        </p:sp>
        <p:sp>
          <p:nvSpPr>
            <p:cNvPr id="84" name="Freeform 80">
              <a:extLst>
                <a:ext uri="{FF2B5EF4-FFF2-40B4-BE49-F238E27FC236}">
                  <a16:creationId xmlns:a16="http://schemas.microsoft.com/office/drawing/2014/main" id="{81F5E350-EA6C-4F03-8F28-606E15853ED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6" y="814"/>
              <a:ext cx="329" cy="295"/>
            </a:xfrm>
            <a:custGeom>
              <a:avLst/>
              <a:gdLst>
                <a:gd name="T0" fmla="*/ 93 w 329"/>
                <a:gd name="T1" fmla="*/ 14 h 295"/>
                <a:gd name="T2" fmla="*/ 156 w 329"/>
                <a:gd name="T3" fmla="*/ 16 h 295"/>
                <a:gd name="T4" fmla="*/ 224 w 329"/>
                <a:gd name="T5" fmla="*/ 0 h 295"/>
                <a:gd name="T6" fmla="*/ 305 w 329"/>
                <a:gd name="T7" fmla="*/ 0 h 295"/>
                <a:gd name="T8" fmla="*/ 215 w 329"/>
                <a:gd name="T9" fmla="*/ 84 h 295"/>
                <a:gd name="T10" fmla="*/ 239 w 329"/>
                <a:gd name="T11" fmla="*/ 89 h 295"/>
                <a:gd name="T12" fmla="*/ 263 w 329"/>
                <a:gd name="T13" fmla="*/ 99 h 295"/>
                <a:gd name="T14" fmla="*/ 285 w 329"/>
                <a:gd name="T15" fmla="*/ 111 h 295"/>
                <a:gd name="T16" fmla="*/ 302 w 329"/>
                <a:gd name="T17" fmla="*/ 126 h 295"/>
                <a:gd name="T18" fmla="*/ 316 w 329"/>
                <a:gd name="T19" fmla="*/ 144 h 295"/>
                <a:gd name="T20" fmla="*/ 325 w 329"/>
                <a:gd name="T21" fmla="*/ 165 h 295"/>
                <a:gd name="T22" fmla="*/ 328 w 329"/>
                <a:gd name="T23" fmla="*/ 187 h 295"/>
                <a:gd name="T24" fmla="*/ 324 w 329"/>
                <a:gd name="T25" fmla="*/ 210 h 295"/>
                <a:gd name="T26" fmla="*/ 317 w 329"/>
                <a:gd name="T27" fmla="*/ 228 h 295"/>
                <a:gd name="T28" fmla="*/ 303 w 329"/>
                <a:gd name="T29" fmla="*/ 247 h 295"/>
                <a:gd name="T30" fmla="*/ 280 w 329"/>
                <a:gd name="T31" fmla="*/ 267 h 295"/>
                <a:gd name="T32" fmla="*/ 257 w 329"/>
                <a:gd name="T33" fmla="*/ 279 h 295"/>
                <a:gd name="T34" fmla="*/ 236 w 329"/>
                <a:gd name="T35" fmla="*/ 287 h 295"/>
                <a:gd name="T36" fmla="*/ 215 w 329"/>
                <a:gd name="T37" fmla="*/ 292 h 295"/>
                <a:gd name="T38" fmla="*/ 189 w 329"/>
                <a:gd name="T39" fmla="*/ 294 h 295"/>
                <a:gd name="T40" fmla="*/ 122 w 329"/>
                <a:gd name="T41" fmla="*/ 293 h 295"/>
                <a:gd name="T42" fmla="*/ 90 w 329"/>
                <a:gd name="T43" fmla="*/ 287 h 295"/>
                <a:gd name="T44" fmla="*/ 56 w 329"/>
                <a:gd name="T45" fmla="*/ 272 h 295"/>
                <a:gd name="T46" fmla="*/ 30 w 329"/>
                <a:gd name="T47" fmla="*/ 253 h 295"/>
                <a:gd name="T48" fmla="*/ 13 w 329"/>
                <a:gd name="T49" fmla="*/ 232 h 295"/>
                <a:gd name="T50" fmla="*/ 4 w 329"/>
                <a:gd name="T51" fmla="*/ 210 h 295"/>
                <a:gd name="T52" fmla="*/ 0 w 329"/>
                <a:gd name="T53" fmla="*/ 191 h 295"/>
                <a:gd name="T54" fmla="*/ 3 w 329"/>
                <a:gd name="T55" fmla="*/ 169 h 295"/>
                <a:gd name="T56" fmla="*/ 14 w 329"/>
                <a:gd name="T57" fmla="*/ 141 h 295"/>
                <a:gd name="T58" fmla="*/ 35 w 329"/>
                <a:gd name="T59" fmla="*/ 118 h 295"/>
                <a:gd name="T60" fmla="*/ 63 w 329"/>
                <a:gd name="T61" fmla="*/ 99 h 295"/>
                <a:gd name="T62" fmla="*/ 102 w 329"/>
                <a:gd name="T63" fmla="*/ 86 h 295"/>
                <a:gd name="T64" fmla="*/ 40 w 329"/>
                <a:gd name="T65" fmla="*/ 4 h 295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329"/>
                <a:gd name="T100" fmla="*/ 0 h 295"/>
                <a:gd name="T101" fmla="*/ 329 w 329"/>
                <a:gd name="T102" fmla="*/ 295 h 295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329" h="295">
                  <a:moveTo>
                    <a:pt x="40" y="4"/>
                  </a:moveTo>
                  <a:lnTo>
                    <a:pt x="93" y="14"/>
                  </a:lnTo>
                  <a:lnTo>
                    <a:pt x="92" y="0"/>
                  </a:lnTo>
                  <a:lnTo>
                    <a:pt x="156" y="16"/>
                  </a:lnTo>
                  <a:lnTo>
                    <a:pt x="156" y="0"/>
                  </a:lnTo>
                  <a:lnTo>
                    <a:pt x="224" y="0"/>
                  </a:lnTo>
                  <a:lnTo>
                    <a:pt x="223" y="15"/>
                  </a:lnTo>
                  <a:lnTo>
                    <a:pt x="305" y="0"/>
                  </a:lnTo>
                  <a:lnTo>
                    <a:pt x="205" y="83"/>
                  </a:lnTo>
                  <a:lnTo>
                    <a:pt x="215" y="84"/>
                  </a:lnTo>
                  <a:lnTo>
                    <a:pt x="226" y="86"/>
                  </a:lnTo>
                  <a:lnTo>
                    <a:pt x="239" y="89"/>
                  </a:lnTo>
                  <a:lnTo>
                    <a:pt x="250" y="93"/>
                  </a:lnTo>
                  <a:lnTo>
                    <a:pt x="263" y="99"/>
                  </a:lnTo>
                  <a:lnTo>
                    <a:pt x="274" y="104"/>
                  </a:lnTo>
                  <a:lnTo>
                    <a:pt x="285" y="111"/>
                  </a:lnTo>
                  <a:lnTo>
                    <a:pt x="294" y="119"/>
                  </a:lnTo>
                  <a:lnTo>
                    <a:pt x="302" y="126"/>
                  </a:lnTo>
                  <a:lnTo>
                    <a:pt x="309" y="135"/>
                  </a:lnTo>
                  <a:lnTo>
                    <a:pt x="316" y="144"/>
                  </a:lnTo>
                  <a:lnTo>
                    <a:pt x="321" y="155"/>
                  </a:lnTo>
                  <a:lnTo>
                    <a:pt x="325" y="165"/>
                  </a:lnTo>
                  <a:lnTo>
                    <a:pt x="327" y="174"/>
                  </a:lnTo>
                  <a:lnTo>
                    <a:pt x="328" y="187"/>
                  </a:lnTo>
                  <a:lnTo>
                    <a:pt x="327" y="200"/>
                  </a:lnTo>
                  <a:lnTo>
                    <a:pt x="324" y="210"/>
                  </a:lnTo>
                  <a:lnTo>
                    <a:pt x="321" y="220"/>
                  </a:lnTo>
                  <a:lnTo>
                    <a:pt x="317" y="228"/>
                  </a:lnTo>
                  <a:lnTo>
                    <a:pt x="311" y="237"/>
                  </a:lnTo>
                  <a:lnTo>
                    <a:pt x="303" y="247"/>
                  </a:lnTo>
                  <a:lnTo>
                    <a:pt x="292" y="258"/>
                  </a:lnTo>
                  <a:lnTo>
                    <a:pt x="280" y="267"/>
                  </a:lnTo>
                  <a:lnTo>
                    <a:pt x="268" y="274"/>
                  </a:lnTo>
                  <a:lnTo>
                    <a:pt x="257" y="279"/>
                  </a:lnTo>
                  <a:lnTo>
                    <a:pt x="246" y="284"/>
                  </a:lnTo>
                  <a:lnTo>
                    <a:pt x="236" y="287"/>
                  </a:lnTo>
                  <a:lnTo>
                    <a:pt x="224" y="290"/>
                  </a:lnTo>
                  <a:lnTo>
                    <a:pt x="215" y="292"/>
                  </a:lnTo>
                  <a:lnTo>
                    <a:pt x="201" y="293"/>
                  </a:lnTo>
                  <a:lnTo>
                    <a:pt x="189" y="294"/>
                  </a:lnTo>
                  <a:lnTo>
                    <a:pt x="133" y="294"/>
                  </a:lnTo>
                  <a:lnTo>
                    <a:pt x="122" y="293"/>
                  </a:lnTo>
                  <a:lnTo>
                    <a:pt x="108" y="291"/>
                  </a:lnTo>
                  <a:lnTo>
                    <a:pt x="90" y="287"/>
                  </a:lnTo>
                  <a:lnTo>
                    <a:pt x="73" y="280"/>
                  </a:lnTo>
                  <a:lnTo>
                    <a:pt x="56" y="272"/>
                  </a:lnTo>
                  <a:lnTo>
                    <a:pt x="41" y="262"/>
                  </a:lnTo>
                  <a:lnTo>
                    <a:pt x="30" y="253"/>
                  </a:lnTo>
                  <a:lnTo>
                    <a:pt x="21" y="244"/>
                  </a:lnTo>
                  <a:lnTo>
                    <a:pt x="13" y="232"/>
                  </a:lnTo>
                  <a:lnTo>
                    <a:pt x="7" y="219"/>
                  </a:lnTo>
                  <a:lnTo>
                    <a:pt x="4" y="210"/>
                  </a:lnTo>
                  <a:lnTo>
                    <a:pt x="1" y="201"/>
                  </a:lnTo>
                  <a:lnTo>
                    <a:pt x="0" y="191"/>
                  </a:lnTo>
                  <a:lnTo>
                    <a:pt x="1" y="183"/>
                  </a:lnTo>
                  <a:lnTo>
                    <a:pt x="3" y="169"/>
                  </a:lnTo>
                  <a:lnTo>
                    <a:pt x="7" y="156"/>
                  </a:lnTo>
                  <a:lnTo>
                    <a:pt x="14" y="141"/>
                  </a:lnTo>
                  <a:lnTo>
                    <a:pt x="24" y="129"/>
                  </a:lnTo>
                  <a:lnTo>
                    <a:pt x="35" y="118"/>
                  </a:lnTo>
                  <a:lnTo>
                    <a:pt x="49" y="107"/>
                  </a:lnTo>
                  <a:lnTo>
                    <a:pt x="63" y="99"/>
                  </a:lnTo>
                  <a:lnTo>
                    <a:pt x="82" y="91"/>
                  </a:lnTo>
                  <a:lnTo>
                    <a:pt x="102" y="86"/>
                  </a:lnTo>
                  <a:lnTo>
                    <a:pt x="115" y="83"/>
                  </a:lnTo>
                  <a:lnTo>
                    <a:pt x="40" y="4"/>
                  </a:lnTo>
                </a:path>
              </a:pathLst>
            </a:custGeom>
            <a:solidFill>
              <a:schemeClr val="bg2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Rectangle 81">
              <a:extLst>
                <a:ext uri="{FF2B5EF4-FFF2-40B4-BE49-F238E27FC236}">
                  <a16:creationId xmlns:a16="http://schemas.microsoft.com/office/drawing/2014/main" id="{168BBE26-F56B-4947-91B3-A917720E73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6" y="864"/>
              <a:ext cx="255" cy="28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/>
              <a:r>
                <a:rPr lang="en-US" b="1">
                  <a:solidFill>
                    <a:srgbClr val="C00000"/>
                  </a:solidFill>
                </a:rPr>
                <a:t>B</a:t>
              </a:r>
            </a:p>
          </p:txBody>
        </p:sp>
        <p:sp>
          <p:nvSpPr>
            <p:cNvPr id="86" name="Freeform 82">
              <a:extLst>
                <a:ext uri="{FF2B5EF4-FFF2-40B4-BE49-F238E27FC236}">
                  <a16:creationId xmlns:a16="http://schemas.microsoft.com/office/drawing/2014/main" id="{13133F30-7B66-4982-AEAC-C01D5713E68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6" y="814"/>
              <a:ext cx="329" cy="295"/>
            </a:xfrm>
            <a:custGeom>
              <a:avLst/>
              <a:gdLst>
                <a:gd name="T0" fmla="*/ 93 w 329"/>
                <a:gd name="T1" fmla="*/ 14 h 295"/>
                <a:gd name="T2" fmla="*/ 156 w 329"/>
                <a:gd name="T3" fmla="*/ 16 h 295"/>
                <a:gd name="T4" fmla="*/ 224 w 329"/>
                <a:gd name="T5" fmla="*/ 0 h 295"/>
                <a:gd name="T6" fmla="*/ 305 w 329"/>
                <a:gd name="T7" fmla="*/ 0 h 295"/>
                <a:gd name="T8" fmla="*/ 215 w 329"/>
                <a:gd name="T9" fmla="*/ 84 h 295"/>
                <a:gd name="T10" fmla="*/ 239 w 329"/>
                <a:gd name="T11" fmla="*/ 89 h 295"/>
                <a:gd name="T12" fmla="*/ 263 w 329"/>
                <a:gd name="T13" fmla="*/ 99 h 295"/>
                <a:gd name="T14" fmla="*/ 285 w 329"/>
                <a:gd name="T15" fmla="*/ 111 h 295"/>
                <a:gd name="T16" fmla="*/ 302 w 329"/>
                <a:gd name="T17" fmla="*/ 126 h 295"/>
                <a:gd name="T18" fmla="*/ 316 w 329"/>
                <a:gd name="T19" fmla="*/ 144 h 295"/>
                <a:gd name="T20" fmla="*/ 325 w 329"/>
                <a:gd name="T21" fmla="*/ 165 h 295"/>
                <a:gd name="T22" fmla="*/ 328 w 329"/>
                <a:gd name="T23" fmla="*/ 187 h 295"/>
                <a:gd name="T24" fmla="*/ 324 w 329"/>
                <a:gd name="T25" fmla="*/ 210 h 295"/>
                <a:gd name="T26" fmla="*/ 317 w 329"/>
                <a:gd name="T27" fmla="*/ 228 h 295"/>
                <a:gd name="T28" fmla="*/ 303 w 329"/>
                <a:gd name="T29" fmla="*/ 247 h 295"/>
                <a:gd name="T30" fmla="*/ 280 w 329"/>
                <a:gd name="T31" fmla="*/ 267 h 295"/>
                <a:gd name="T32" fmla="*/ 257 w 329"/>
                <a:gd name="T33" fmla="*/ 279 h 295"/>
                <a:gd name="T34" fmla="*/ 236 w 329"/>
                <a:gd name="T35" fmla="*/ 287 h 295"/>
                <a:gd name="T36" fmla="*/ 215 w 329"/>
                <a:gd name="T37" fmla="*/ 292 h 295"/>
                <a:gd name="T38" fmla="*/ 189 w 329"/>
                <a:gd name="T39" fmla="*/ 294 h 295"/>
                <a:gd name="T40" fmla="*/ 122 w 329"/>
                <a:gd name="T41" fmla="*/ 293 h 295"/>
                <a:gd name="T42" fmla="*/ 90 w 329"/>
                <a:gd name="T43" fmla="*/ 287 h 295"/>
                <a:gd name="T44" fmla="*/ 56 w 329"/>
                <a:gd name="T45" fmla="*/ 272 h 295"/>
                <a:gd name="T46" fmla="*/ 30 w 329"/>
                <a:gd name="T47" fmla="*/ 253 h 295"/>
                <a:gd name="T48" fmla="*/ 13 w 329"/>
                <a:gd name="T49" fmla="*/ 232 h 295"/>
                <a:gd name="T50" fmla="*/ 4 w 329"/>
                <a:gd name="T51" fmla="*/ 210 h 295"/>
                <a:gd name="T52" fmla="*/ 0 w 329"/>
                <a:gd name="T53" fmla="*/ 191 h 295"/>
                <a:gd name="T54" fmla="*/ 3 w 329"/>
                <a:gd name="T55" fmla="*/ 169 h 295"/>
                <a:gd name="T56" fmla="*/ 14 w 329"/>
                <a:gd name="T57" fmla="*/ 141 h 295"/>
                <a:gd name="T58" fmla="*/ 35 w 329"/>
                <a:gd name="T59" fmla="*/ 118 h 295"/>
                <a:gd name="T60" fmla="*/ 63 w 329"/>
                <a:gd name="T61" fmla="*/ 99 h 295"/>
                <a:gd name="T62" fmla="*/ 102 w 329"/>
                <a:gd name="T63" fmla="*/ 86 h 295"/>
                <a:gd name="T64" fmla="*/ 40 w 329"/>
                <a:gd name="T65" fmla="*/ 4 h 295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329"/>
                <a:gd name="T100" fmla="*/ 0 h 295"/>
                <a:gd name="T101" fmla="*/ 329 w 329"/>
                <a:gd name="T102" fmla="*/ 295 h 295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329" h="295">
                  <a:moveTo>
                    <a:pt x="40" y="4"/>
                  </a:moveTo>
                  <a:lnTo>
                    <a:pt x="93" y="14"/>
                  </a:lnTo>
                  <a:lnTo>
                    <a:pt x="92" y="0"/>
                  </a:lnTo>
                  <a:lnTo>
                    <a:pt x="156" y="16"/>
                  </a:lnTo>
                  <a:lnTo>
                    <a:pt x="156" y="0"/>
                  </a:lnTo>
                  <a:lnTo>
                    <a:pt x="224" y="0"/>
                  </a:lnTo>
                  <a:lnTo>
                    <a:pt x="223" y="15"/>
                  </a:lnTo>
                  <a:lnTo>
                    <a:pt x="305" y="0"/>
                  </a:lnTo>
                  <a:lnTo>
                    <a:pt x="205" y="83"/>
                  </a:lnTo>
                  <a:lnTo>
                    <a:pt x="215" y="84"/>
                  </a:lnTo>
                  <a:lnTo>
                    <a:pt x="226" y="86"/>
                  </a:lnTo>
                  <a:lnTo>
                    <a:pt x="239" y="89"/>
                  </a:lnTo>
                  <a:lnTo>
                    <a:pt x="250" y="93"/>
                  </a:lnTo>
                  <a:lnTo>
                    <a:pt x="263" y="99"/>
                  </a:lnTo>
                  <a:lnTo>
                    <a:pt x="274" y="104"/>
                  </a:lnTo>
                  <a:lnTo>
                    <a:pt x="285" y="111"/>
                  </a:lnTo>
                  <a:lnTo>
                    <a:pt x="294" y="119"/>
                  </a:lnTo>
                  <a:lnTo>
                    <a:pt x="302" y="126"/>
                  </a:lnTo>
                  <a:lnTo>
                    <a:pt x="309" y="135"/>
                  </a:lnTo>
                  <a:lnTo>
                    <a:pt x="316" y="144"/>
                  </a:lnTo>
                  <a:lnTo>
                    <a:pt x="321" y="155"/>
                  </a:lnTo>
                  <a:lnTo>
                    <a:pt x="325" y="165"/>
                  </a:lnTo>
                  <a:lnTo>
                    <a:pt x="327" y="174"/>
                  </a:lnTo>
                  <a:lnTo>
                    <a:pt x="328" y="187"/>
                  </a:lnTo>
                  <a:lnTo>
                    <a:pt x="327" y="200"/>
                  </a:lnTo>
                  <a:lnTo>
                    <a:pt x="324" y="210"/>
                  </a:lnTo>
                  <a:lnTo>
                    <a:pt x="321" y="220"/>
                  </a:lnTo>
                  <a:lnTo>
                    <a:pt x="317" y="228"/>
                  </a:lnTo>
                  <a:lnTo>
                    <a:pt x="311" y="237"/>
                  </a:lnTo>
                  <a:lnTo>
                    <a:pt x="303" y="247"/>
                  </a:lnTo>
                  <a:lnTo>
                    <a:pt x="292" y="258"/>
                  </a:lnTo>
                  <a:lnTo>
                    <a:pt x="280" y="267"/>
                  </a:lnTo>
                  <a:lnTo>
                    <a:pt x="268" y="274"/>
                  </a:lnTo>
                  <a:lnTo>
                    <a:pt x="257" y="279"/>
                  </a:lnTo>
                  <a:lnTo>
                    <a:pt x="246" y="284"/>
                  </a:lnTo>
                  <a:lnTo>
                    <a:pt x="236" y="287"/>
                  </a:lnTo>
                  <a:lnTo>
                    <a:pt x="224" y="290"/>
                  </a:lnTo>
                  <a:lnTo>
                    <a:pt x="215" y="292"/>
                  </a:lnTo>
                  <a:lnTo>
                    <a:pt x="201" y="293"/>
                  </a:lnTo>
                  <a:lnTo>
                    <a:pt x="189" y="294"/>
                  </a:lnTo>
                  <a:lnTo>
                    <a:pt x="133" y="294"/>
                  </a:lnTo>
                  <a:lnTo>
                    <a:pt x="122" y="293"/>
                  </a:lnTo>
                  <a:lnTo>
                    <a:pt x="108" y="291"/>
                  </a:lnTo>
                  <a:lnTo>
                    <a:pt x="90" y="287"/>
                  </a:lnTo>
                  <a:lnTo>
                    <a:pt x="73" y="280"/>
                  </a:lnTo>
                  <a:lnTo>
                    <a:pt x="56" y="272"/>
                  </a:lnTo>
                  <a:lnTo>
                    <a:pt x="41" y="262"/>
                  </a:lnTo>
                  <a:lnTo>
                    <a:pt x="30" y="253"/>
                  </a:lnTo>
                  <a:lnTo>
                    <a:pt x="21" y="244"/>
                  </a:lnTo>
                  <a:lnTo>
                    <a:pt x="13" y="232"/>
                  </a:lnTo>
                  <a:lnTo>
                    <a:pt x="7" y="219"/>
                  </a:lnTo>
                  <a:lnTo>
                    <a:pt x="4" y="210"/>
                  </a:lnTo>
                  <a:lnTo>
                    <a:pt x="1" y="201"/>
                  </a:lnTo>
                  <a:lnTo>
                    <a:pt x="0" y="191"/>
                  </a:lnTo>
                  <a:lnTo>
                    <a:pt x="1" y="183"/>
                  </a:lnTo>
                  <a:lnTo>
                    <a:pt x="3" y="169"/>
                  </a:lnTo>
                  <a:lnTo>
                    <a:pt x="7" y="156"/>
                  </a:lnTo>
                  <a:lnTo>
                    <a:pt x="14" y="141"/>
                  </a:lnTo>
                  <a:lnTo>
                    <a:pt x="24" y="129"/>
                  </a:lnTo>
                  <a:lnTo>
                    <a:pt x="35" y="118"/>
                  </a:lnTo>
                  <a:lnTo>
                    <a:pt x="49" y="107"/>
                  </a:lnTo>
                  <a:lnTo>
                    <a:pt x="63" y="99"/>
                  </a:lnTo>
                  <a:lnTo>
                    <a:pt x="82" y="91"/>
                  </a:lnTo>
                  <a:lnTo>
                    <a:pt x="102" y="86"/>
                  </a:lnTo>
                  <a:lnTo>
                    <a:pt x="115" y="83"/>
                  </a:lnTo>
                  <a:lnTo>
                    <a:pt x="40" y="4"/>
                  </a:lnTo>
                </a:path>
              </a:pathLst>
            </a:custGeom>
            <a:solidFill>
              <a:schemeClr val="bg2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Rectangle 83">
              <a:extLst>
                <a:ext uri="{FF2B5EF4-FFF2-40B4-BE49-F238E27FC236}">
                  <a16:creationId xmlns:a16="http://schemas.microsoft.com/office/drawing/2014/main" id="{93EE90C0-326D-4199-9805-5A429AFE9B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6" y="864"/>
              <a:ext cx="255" cy="28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/>
              <a:r>
                <a:rPr lang="en-US" b="1">
                  <a:solidFill>
                    <a:srgbClr val="C00000"/>
                  </a:solidFill>
                </a:rPr>
                <a:t>C</a:t>
              </a:r>
            </a:p>
          </p:txBody>
        </p:sp>
        <p:sp>
          <p:nvSpPr>
            <p:cNvPr id="88" name="Freeform 84">
              <a:extLst>
                <a:ext uri="{FF2B5EF4-FFF2-40B4-BE49-F238E27FC236}">
                  <a16:creationId xmlns:a16="http://schemas.microsoft.com/office/drawing/2014/main" id="{9DC087D0-CD77-42BB-984C-6D50D9A54BF7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8" y="814"/>
              <a:ext cx="329" cy="295"/>
            </a:xfrm>
            <a:custGeom>
              <a:avLst/>
              <a:gdLst>
                <a:gd name="T0" fmla="*/ 93 w 329"/>
                <a:gd name="T1" fmla="*/ 14 h 295"/>
                <a:gd name="T2" fmla="*/ 156 w 329"/>
                <a:gd name="T3" fmla="*/ 16 h 295"/>
                <a:gd name="T4" fmla="*/ 224 w 329"/>
                <a:gd name="T5" fmla="*/ 0 h 295"/>
                <a:gd name="T6" fmla="*/ 305 w 329"/>
                <a:gd name="T7" fmla="*/ 0 h 295"/>
                <a:gd name="T8" fmla="*/ 215 w 329"/>
                <a:gd name="T9" fmla="*/ 84 h 295"/>
                <a:gd name="T10" fmla="*/ 239 w 329"/>
                <a:gd name="T11" fmla="*/ 89 h 295"/>
                <a:gd name="T12" fmla="*/ 263 w 329"/>
                <a:gd name="T13" fmla="*/ 99 h 295"/>
                <a:gd name="T14" fmla="*/ 285 w 329"/>
                <a:gd name="T15" fmla="*/ 111 h 295"/>
                <a:gd name="T16" fmla="*/ 302 w 329"/>
                <a:gd name="T17" fmla="*/ 126 h 295"/>
                <a:gd name="T18" fmla="*/ 316 w 329"/>
                <a:gd name="T19" fmla="*/ 144 h 295"/>
                <a:gd name="T20" fmla="*/ 325 w 329"/>
                <a:gd name="T21" fmla="*/ 165 h 295"/>
                <a:gd name="T22" fmla="*/ 328 w 329"/>
                <a:gd name="T23" fmla="*/ 187 h 295"/>
                <a:gd name="T24" fmla="*/ 324 w 329"/>
                <a:gd name="T25" fmla="*/ 210 h 295"/>
                <a:gd name="T26" fmla="*/ 317 w 329"/>
                <a:gd name="T27" fmla="*/ 228 h 295"/>
                <a:gd name="T28" fmla="*/ 303 w 329"/>
                <a:gd name="T29" fmla="*/ 247 h 295"/>
                <a:gd name="T30" fmla="*/ 280 w 329"/>
                <a:gd name="T31" fmla="*/ 267 h 295"/>
                <a:gd name="T32" fmla="*/ 257 w 329"/>
                <a:gd name="T33" fmla="*/ 279 h 295"/>
                <a:gd name="T34" fmla="*/ 236 w 329"/>
                <a:gd name="T35" fmla="*/ 287 h 295"/>
                <a:gd name="T36" fmla="*/ 215 w 329"/>
                <a:gd name="T37" fmla="*/ 292 h 295"/>
                <a:gd name="T38" fmla="*/ 189 w 329"/>
                <a:gd name="T39" fmla="*/ 294 h 295"/>
                <a:gd name="T40" fmla="*/ 122 w 329"/>
                <a:gd name="T41" fmla="*/ 293 h 295"/>
                <a:gd name="T42" fmla="*/ 90 w 329"/>
                <a:gd name="T43" fmla="*/ 287 h 295"/>
                <a:gd name="T44" fmla="*/ 56 w 329"/>
                <a:gd name="T45" fmla="*/ 272 h 295"/>
                <a:gd name="T46" fmla="*/ 30 w 329"/>
                <a:gd name="T47" fmla="*/ 253 h 295"/>
                <a:gd name="T48" fmla="*/ 13 w 329"/>
                <a:gd name="T49" fmla="*/ 232 h 295"/>
                <a:gd name="T50" fmla="*/ 4 w 329"/>
                <a:gd name="T51" fmla="*/ 210 h 295"/>
                <a:gd name="T52" fmla="*/ 0 w 329"/>
                <a:gd name="T53" fmla="*/ 191 h 295"/>
                <a:gd name="T54" fmla="*/ 3 w 329"/>
                <a:gd name="T55" fmla="*/ 169 h 295"/>
                <a:gd name="T56" fmla="*/ 14 w 329"/>
                <a:gd name="T57" fmla="*/ 141 h 295"/>
                <a:gd name="T58" fmla="*/ 35 w 329"/>
                <a:gd name="T59" fmla="*/ 118 h 295"/>
                <a:gd name="T60" fmla="*/ 63 w 329"/>
                <a:gd name="T61" fmla="*/ 99 h 295"/>
                <a:gd name="T62" fmla="*/ 102 w 329"/>
                <a:gd name="T63" fmla="*/ 86 h 295"/>
                <a:gd name="T64" fmla="*/ 40 w 329"/>
                <a:gd name="T65" fmla="*/ 4 h 295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329"/>
                <a:gd name="T100" fmla="*/ 0 h 295"/>
                <a:gd name="T101" fmla="*/ 329 w 329"/>
                <a:gd name="T102" fmla="*/ 295 h 295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329" h="295">
                  <a:moveTo>
                    <a:pt x="40" y="4"/>
                  </a:moveTo>
                  <a:lnTo>
                    <a:pt x="93" y="14"/>
                  </a:lnTo>
                  <a:lnTo>
                    <a:pt x="92" y="0"/>
                  </a:lnTo>
                  <a:lnTo>
                    <a:pt x="156" y="16"/>
                  </a:lnTo>
                  <a:lnTo>
                    <a:pt x="156" y="0"/>
                  </a:lnTo>
                  <a:lnTo>
                    <a:pt x="224" y="0"/>
                  </a:lnTo>
                  <a:lnTo>
                    <a:pt x="223" y="15"/>
                  </a:lnTo>
                  <a:lnTo>
                    <a:pt x="305" y="0"/>
                  </a:lnTo>
                  <a:lnTo>
                    <a:pt x="205" y="83"/>
                  </a:lnTo>
                  <a:lnTo>
                    <a:pt x="215" y="84"/>
                  </a:lnTo>
                  <a:lnTo>
                    <a:pt x="226" y="86"/>
                  </a:lnTo>
                  <a:lnTo>
                    <a:pt x="239" y="89"/>
                  </a:lnTo>
                  <a:lnTo>
                    <a:pt x="250" y="93"/>
                  </a:lnTo>
                  <a:lnTo>
                    <a:pt x="263" y="99"/>
                  </a:lnTo>
                  <a:lnTo>
                    <a:pt x="274" y="104"/>
                  </a:lnTo>
                  <a:lnTo>
                    <a:pt x="285" y="111"/>
                  </a:lnTo>
                  <a:lnTo>
                    <a:pt x="294" y="119"/>
                  </a:lnTo>
                  <a:lnTo>
                    <a:pt x="302" y="126"/>
                  </a:lnTo>
                  <a:lnTo>
                    <a:pt x="309" y="135"/>
                  </a:lnTo>
                  <a:lnTo>
                    <a:pt x="316" y="144"/>
                  </a:lnTo>
                  <a:lnTo>
                    <a:pt x="321" y="155"/>
                  </a:lnTo>
                  <a:lnTo>
                    <a:pt x="325" y="165"/>
                  </a:lnTo>
                  <a:lnTo>
                    <a:pt x="327" y="174"/>
                  </a:lnTo>
                  <a:lnTo>
                    <a:pt x="328" y="187"/>
                  </a:lnTo>
                  <a:lnTo>
                    <a:pt x="327" y="200"/>
                  </a:lnTo>
                  <a:lnTo>
                    <a:pt x="324" y="210"/>
                  </a:lnTo>
                  <a:lnTo>
                    <a:pt x="321" y="220"/>
                  </a:lnTo>
                  <a:lnTo>
                    <a:pt x="317" y="228"/>
                  </a:lnTo>
                  <a:lnTo>
                    <a:pt x="311" y="237"/>
                  </a:lnTo>
                  <a:lnTo>
                    <a:pt x="303" y="247"/>
                  </a:lnTo>
                  <a:lnTo>
                    <a:pt x="292" y="258"/>
                  </a:lnTo>
                  <a:lnTo>
                    <a:pt x="280" y="267"/>
                  </a:lnTo>
                  <a:lnTo>
                    <a:pt x="268" y="274"/>
                  </a:lnTo>
                  <a:lnTo>
                    <a:pt x="257" y="279"/>
                  </a:lnTo>
                  <a:lnTo>
                    <a:pt x="246" y="284"/>
                  </a:lnTo>
                  <a:lnTo>
                    <a:pt x="236" y="287"/>
                  </a:lnTo>
                  <a:lnTo>
                    <a:pt x="224" y="290"/>
                  </a:lnTo>
                  <a:lnTo>
                    <a:pt x="215" y="292"/>
                  </a:lnTo>
                  <a:lnTo>
                    <a:pt x="201" y="293"/>
                  </a:lnTo>
                  <a:lnTo>
                    <a:pt x="189" y="294"/>
                  </a:lnTo>
                  <a:lnTo>
                    <a:pt x="133" y="294"/>
                  </a:lnTo>
                  <a:lnTo>
                    <a:pt x="122" y="293"/>
                  </a:lnTo>
                  <a:lnTo>
                    <a:pt x="108" y="291"/>
                  </a:lnTo>
                  <a:lnTo>
                    <a:pt x="90" y="287"/>
                  </a:lnTo>
                  <a:lnTo>
                    <a:pt x="73" y="280"/>
                  </a:lnTo>
                  <a:lnTo>
                    <a:pt x="56" y="272"/>
                  </a:lnTo>
                  <a:lnTo>
                    <a:pt x="41" y="262"/>
                  </a:lnTo>
                  <a:lnTo>
                    <a:pt x="30" y="253"/>
                  </a:lnTo>
                  <a:lnTo>
                    <a:pt x="21" y="244"/>
                  </a:lnTo>
                  <a:lnTo>
                    <a:pt x="13" y="232"/>
                  </a:lnTo>
                  <a:lnTo>
                    <a:pt x="7" y="219"/>
                  </a:lnTo>
                  <a:lnTo>
                    <a:pt x="4" y="210"/>
                  </a:lnTo>
                  <a:lnTo>
                    <a:pt x="1" y="201"/>
                  </a:lnTo>
                  <a:lnTo>
                    <a:pt x="0" y="191"/>
                  </a:lnTo>
                  <a:lnTo>
                    <a:pt x="1" y="183"/>
                  </a:lnTo>
                  <a:lnTo>
                    <a:pt x="3" y="169"/>
                  </a:lnTo>
                  <a:lnTo>
                    <a:pt x="7" y="156"/>
                  </a:lnTo>
                  <a:lnTo>
                    <a:pt x="14" y="141"/>
                  </a:lnTo>
                  <a:lnTo>
                    <a:pt x="24" y="129"/>
                  </a:lnTo>
                  <a:lnTo>
                    <a:pt x="35" y="118"/>
                  </a:lnTo>
                  <a:lnTo>
                    <a:pt x="49" y="107"/>
                  </a:lnTo>
                  <a:lnTo>
                    <a:pt x="63" y="99"/>
                  </a:lnTo>
                  <a:lnTo>
                    <a:pt x="82" y="91"/>
                  </a:lnTo>
                  <a:lnTo>
                    <a:pt x="102" y="86"/>
                  </a:lnTo>
                  <a:lnTo>
                    <a:pt x="115" y="83"/>
                  </a:lnTo>
                  <a:lnTo>
                    <a:pt x="40" y="4"/>
                  </a:lnTo>
                </a:path>
              </a:pathLst>
            </a:custGeom>
            <a:solidFill>
              <a:schemeClr val="bg2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Rectangle 85">
              <a:extLst>
                <a:ext uri="{FF2B5EF4-FFF2-40B4-BE49-F238E27FC236}">
                  <a16:creationId xmlns:a16="http://schemas.microsoft.com/office/drawing/2014/main" id="{1AFB6F94-18F2-44D2-9C5B-A3F93E5A3C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8" y="864"/>
              <a:ext cx="255" cy="28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/>
              <a:r>
                <a:rPr lang="en-US" b="1">
                  <a:solidFill>
                    <a:srgbClr val="C00000"/>
                  </a:solidFill>
                </a:rPr>
                <a:t>D</a:t>
              </a:r>
            </a:p>
          </p:txBody>
        </p:sp>
      </p:grpSp>
      <p:sp>
        <p:nvSpPr>
          <p:cNvPr id="90" name="Freeform 86">
            <a:extLst>
              <a:ext uri="{FF2B5EF4-FFF2-40B4-BE49-F238E27FC236}">
                <a16:creationId xmlns:a16="http://schemas.microsoft.com/office/drawing/2014/main" id="{05473BB5-CFF7-4436-BA78-9309060D1DDA}"/>
              </a:ext>
            </a:extLst>
          </p:cNvPr>
          <p:cNvSpPr>
            <a:spLocks/>
          </p:cNvSpPr>
          <p:nvPr/>
        </p:nvSpPr>
        <p:spPr bwMode="auto">
          <a:xfrm>
            <a:off x="6614595" y="5415092"/>
            <a:ext cx="402122" cy="585460"/>
          </a:xfrm>
          <a:custGeom>
            <a:avLst/>
            <a:gdLst>
              <a:gd name="T0" fmla="*/ 2147483647 w 329"/>
              <a:gd name="T1" fmla="*/ 2147483647 h 479"/>
              <a:gd name="T2" fmla="*/ 2147483647 w 329"/>
              <a:gd name="T3" fmla="*/ 2147483647 h 479"/>
              <a:gd name="T4" fmla="*/ 2147483647 w 329"/>
              <a:gd name="T5" fmla="*/ 2147483647 h 479"/>
              <a:gd name="T6" fmla="*/ 2147483647 w 329"/>
              <a:gd name="T7" fmla="*/ 2147483647 h 479"/>
              <a:gd name="T8" fmla="*/ 2147483647 w 329"/>
              <a:gd name="T9" fmla="*/ 2147483647 h 479"/>
              <a:gd name="T10" fmla="*/ 2147483647 w 329"/>
              <a:gd name="T11" fmla="*/ 2147483647 h 479"/>
              <a:gd name="T12" fmla="*/ 2147483647 w 329"/>
              <a:gd name="T13" fmla="*/ 2147483647 h 479"/>
              <a:gd name="T14" fmla="*/ 2147483647 w 329"/>
              <a:gd name="T15" fmla="*/ 2147483647 h 479"/>
              <a:gd name="T16" fmla="*/ 2147483647 w 329"/>
              <a:gd name="T17" fmla="*/ 2147483647 h 479"/>
              <a:gd name="T18" fmla="*/ 2147483647 w 329"/>
              <a:gd name="T19" fmla="*/ 2147483647 h 479"/>
              <a:gd name="T20" fmla="*/ 2147483647 w 329"/>
              <a:gd name="T21" fmla="*/ 2147483647 h 479"/>
              <a:gd name="T22" fmla="*/ 2147483647 w 329"/>
              <a:gd name="T23" fmla="*/ 2147483647 h 479"/>
              <a:gd name="T24" fmla="*/ 2147483647 w 329"/>
              <a:gd name="T25" fmla="*/ 2147483647 h 479"/>
              <a:gd name="T26" fmla="*/ 2147483647 w 329"/>
              <a:gd name="T27" fmla="*/ 2147483647 h 479"/>
              <a:gd name="T28" fmla="*/ 2147483647 w 329"/>
              <a:gd name="T29" fmla="*/ 2147483647 h 479"/>
              <a:gd name="T30" fmla="*/ 2147483647 w 329"/>
              <a:gd name="T31" fmla="*/ 2147483647 h 479"/>
              <a:gd name="T32" fmla="*/ 2147483647 w 329"/>
              <a:gd name="T33" fmla="*/ 2147483647 h 479"/>
              <a:gd name="T34" fmla="*/ 2147483647 w 329"/>
              <a:gd name="T35" fmla="*/ 2147483647 h 479"/>
              <a:gd name="T36" fmla="*/ 2147483647 w 329"/>
              <a:gd name="T37" fmla="*/ 2147483647 h 479"/>
              <a:gd name="T38" fmla="*/ 2147483647 w 329"/>
              <a:gd name="T39" fmla="*/ 2147483647 h 479"/>
              <a:gd name="T40" fmla="*/ 2147483647 w 329"/>
              <a:gd name="T41" fmla="*/ 2147483647 h 479"/>
              <a:gd name="T42" fmla="*/ 2147483647 w 329"/>
              <a:gd name="T43" fmla="*/ 2147483647 h 479"/>
              <a:gd name="T44" fmla="*/ 2147483647 w 329"/>
              <a:gd name="T45" fmla="*/ 2147483647 h 479"/>
              <a:gd name="T46" fmla="*/ 2147483647 w 329"/>
              <a:gd name="T47" fmla="*/ 2147483647 h 479"/>
              <a:gd name="T48" fmla="*/ 2147483647 w 329"/>
              <a:gd name="T49" fmla="*/ 2147483647 h 479"/>
              <a:gd name="T50" fmla="*/ 2147483647 w 329"/>
              <a:gd name="T51" fmla="*/ 2147483647 h 479"/>
              <a:gd name="T52" fmla="*/ 2147483647 w 329"/>
              <a:gd name="T53" fmla="*/ 2147483647 h 479"/>
              <a:gd name="T54" fmla="*/ 2147483647 w 329"/>
              <a:gd name="T55" fmla="*/ 2147483647 h 479"/>
              <a:gd name="T56" fmla="*/ 2147483647 w 329"/>
              <a:gd name="T57" fmla="*/ 2147483647 h 479"/>
              <a:gd name="T58" fmla="*/ 2147483647 w 329"/>
              <a:gd name="T59" fmla="*/ 2147483647 h 479"/>
              <a:gd name="T60" fmla="*/ 2147483647 w 329"/>
              <a:gd name="T61" fmla="*/ 2147483647 h 479"/>
              <a:gd name="T62" fmla="*/ 2147483647 w 329"/>
              <a:gd name="T63" fmla="*/ 2147483647 h 479"/>
              <a:gd name="T64" fmla="*/ 2147483647 w 329"/>
              <a:gd name="T65" fmla="*/ 2147483647 h 479"/>
              <a:gd name="T66" fmla="*/ 2147483647 w 329"/>
              <a:gd name="T67" fmla="*/ 2147483647 h 479"/>
              <a:gd name="T68" fmla="*/ 2147483647 w 329"/>
              <a:gd name="T69" fmla="*/ 2147483647 h 479"/>
              <a:gd name="T70" fmla="*/ 2147483647 w 329"/>
              <a:gd name="T71" fmla="*/ 2147483647 h 479"/>
              <a:gd name="T72" fmla="*/ 2147483647 w 329"/>
              <a:gd name="T73" fmla="*/ 2147483647 h 479"/>
              <a:gd name="T74" fmla="*/ 2147483647 w 329"/>
              <a:gd name="T75" fmla="*/ 2147483647 h 479"/>
              <a:gd name="T76" fmla="*/ 2147483647 w 329"/>
              <a:gd name="T77" fmla="*/ 2147483647 h 479"/>
              <a:gd name="T78" fmla="*/ 2147483647 w 329"/>
              <a:gd name="T79" fmla="*/ 2147483647 h 479"/>
              <a:gd name="T80" fmla="*/ 2147483647 w 329"/>
              <a:gd name="T81" fmla="*/ 2147483647 h 479"/>
              <a:gd name="T82" fmla="*/ 2147483647 w 329"/>
              <a:gd name="T83" fmla="*/ 2147483647 h 479"/>
              <a:gd name="T84" fmla="*/ 2147483647 w 329"/>
              <a:gd name="T85" fmla="*/ 2147483647 h 479"/>
              <a:gd name="T86" fmla="*/ 2147483647 w 329"/>
              <a:gd name="T87" fmla="*/ 2147483647 h 479"/>
              <a:gd name="T88" fmla="*/ 0 w 329"/>
              <a:gd name="T89" fmla="*/ 2147483647 h 479"/>
              <a:gd name="T90" fmla="*/ 2147483647 w 329"/>
              <a:gd name="T91" fmla="*/ 2147483647 h 479"/>
              <a:gd name="T92" fmla="*/ 2147483647 w 329"/>
              <a:gd name="T93" fmla="*/ 2147483647 h 479"/>
              <a:gd name="T94" fmla="*/ 2147483647 w 329"/>
              <a:gd name="T95" fmla="*/ 2147483647 h 479"/>
              <a:gd name="T96" fmla="*/ 2147483647 w 329"/>
              <a:gd name="T97" fmla="*/ 2147483647 h 479"/>
              <a:gd name="T98" fmla="*/ 2147483647 w 329"/>
              <a:gd name="T99" fmla="*/ 2147483647 h 479"/>
              <a:gd name="T100" fmla="*/ 2147483647 w 329"/>
              <a:gd name="T101" fmla="*/ 2147483647 h 479"/>
              <a:gd name="T102" fmla="*/ 2147483647 w 329"/>
              <a:gd name="T103" fmla="*/ 2147483647 h 479"/>
              <a:gd name="T104" fmla="*/ 2147483647 w 329"/>
              <a:gd name="T105" fmla="*/ 2147483647 h 479"/>
              <a:gd name="T106" fmla="*/ 2147483647 w 329"/>
              <a:gd name="T107" fmla="*/ 2147483647 h 479"/>
              <a:gd name="T108" fmla="*/ 2147483647 w 329"/>
              <a:gd name="T109" fmla="*/ 2147483647 h 479"/>
              <a:gd name="T110" fmla="*/ 2147483647 w 329"/>
              <a:gd name="T111" fmla="*/ 2147483647 h 479"/>
              <a:gd name="T112" fmla="*/ 2147483647 w 329"/>
              <a:gd name="T113" fmla="*/ 2147483647 h 479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w 329"/>
              <a:gd name="T172" fmla="*/ 0 h 479"/>
              <a:gd name="T173" fmla="*/ 329 w 329"/>
              <a:gd name="T174" fmla="*/ 479 h 479"/>
            </a:gdLst>
            <a:ahLst/>
            <a:cxnLst>
              <a:cxn ang="T114">
                <a:pos x="T0" y="T1"/>
              </a:cxn>
              <a:cxn ang="T115">
                <a:pos x="T2" y="T3"/>
              </a:cxn>
              <a:cxn ang="T116">
                <a:pos x="T4" y="T5"/>
              </a:cxn>
              <a:cxn ang="T117">
                <a:pos x="T6" y="T7"/>
              </a:cxn>
              <a:cxn ang="T118">
                <a:pos x="T8" y="T9"/>
              </a:cxn>
              <a:cxn ang="T119">
                <a:pos x="T10" y="T11"/>
              </a:cxn>
              <a:cxn ang="T120">
                <a:pos x="T12" y="T13"/>
              </a:cxn>
              <a:cxn ang="T121">
                <a:pos x="T14" y="T15"/>
              </a:cxn>
              <a:cxn ang="T122">
                <a:pos x="T16" y="T17"/>
              </a:cxn>
              <a:cxn ang="T123">
                <a:pos x="T18" y="T19"/>
              </a:cxn>
              <a:cxn ang="T124">
                <a:pos x="T20" y="T21"/>
              </a:cxn>
              <a:cxn ang="T125">
                <a:pos x="T22" y="T23"/>
              </a:cxn>
              <a:cxn ang="T126">
                <a:pos x="T24" y="T25"/>
              </a:cxn>
              <a:cxn ang="T127">
                <a:pos x="T26" y="T27"/>
              </a:cxn>
              <a:cxn ang="T128">
                <a:pos x="T28" y="T29"/>
              </a:cxn>
              <a:cxn ang="T129">
                <a:pos x="T30" y="T31"/>
              </a:cxn>
              <a:cxn ang="T130">
                <a:pos x="T32" y="T33"/>
              </a:cxn>
              <a:cxn ang="T131">
                <a:pos x="T34" y="T35"/>
              </a:cxn>
              <a:cxn ang="T132">
                <a:pos x="T36" y="T37"/>
              </a:cxn>
              <a:cxn ang="T133">
                <a:pos x="T38" y="T39"/>
              </a:cxn>
              <a:cxn ang="T134">
                <a:pos x="T40" y="T41"/>
              </a:cxn>
              <a:cxn ang="T135">
                <a:pos x="T42" y="T43"/>
              </a:cxn>
              <a:cxn ang="T136">
                <a:pos x="T44" y="T45"/>
              </a:cxn>
              <a:cxn ang="T137">
                <a:pos x="T46" y="T47"/>
              </a:cxn>
              <a:cxn ang="T138">
                <a:pos x="T48" y="T49"/>
              </a:cxn>
              <a:cxn ang="T139">
                <a:pos x="T50" y="T51"/>
              </a:cxn>
              <a:cxn ang="T140">
                <a:pos x="T52" y="T53"/>
              </a:cxn>
              <a:cxn ang="T141">
                <a:pos x="T54" y="T55"/>
              </a:cxn>
              <a:cxn ang="T142">
                <a:pos x="T56" y="T57"/>
              </a:cxn>
              <a:cxn ang="T143">
                <a:pos x="T58" y="T59"/>
              </a:cxn>
              <a:cxn ang="T144">
                <a:pos x="T60" y="T61"/>
              </a:cxn>
              <a:cxn ang="T145">
                <a:pos x="T62" y="T63"/>
              </a:cxn>
              <a:cxn ang="T146">
                <a:pos x="T64" y="T65"/>
              </a:cxn>
              <a:cxn ang="T147">
                <a:pos x="T66" y="T67"/>
              </a:cxn>
              <a:cxn ang="T148">
                <a:pos x="T68" y="T69"/>
              </a:cxn>
              <a:cxn ang="T149">
                <a:pos x="T70" y="T71"/>
              </a:cxn>
              <a:cxn ang="T150">
                <a:pos x="T72" y="T73"/>
              </a:cxn>
              <a:cxn ang="T151">
                <a:pos x="T74" y="T75"/>
              </a:cxn>
              <a:cxn ang="T152">
                <a:pos x="T76" y="T77"/>
              </a:cxn>
              <a:cxn ang="T153">
                <a:pos x="T78" y="T79"/>
              </a:cxn>
              <a:cxn ang="T154">
                <a:pos x="T80" y="T81"/>
              </a:cxn>
              <a:cxn ang="T155">
                <a:pos x="T82" y="T83"/>
              </a:cxn>
              <a:cxn ang="T156">
                <a:pos x="T84" y="T85"/>
              </a:cxn>
              <a:cxn ang="T157">
                <a:pos x="T86" y="T87"/>
              </a:cxn>
              <a:cxn ang="T158">
                <a:pos x="T88" y="T89"/>
              </a:cxn>
              <a:cxn ang="T159">
                <a:pos x="T90" y="T91"/>
              </a:cxn>
              <a:cxn ang="T160">
                <a:pos x="T92" y="T93"/>
              </a:cxn>
              <a:cxn ang="T161">
                <a:pos x="T94" y="T95"/>
              </a:cxn>
              <a:cxn ang="T162">
                <a:pos x="T96" y="T97"/>
              </a:cxn>
              <a:cxn ang="T163">
                <a:pos x="T98" y="T99"/>
              </a:cxn>
              <a:cxn ang="T164">
                <a:pos x="T100" y="T101"/>
              </a:cxn>
              <a:cxn ang="T165">
                <a:pos x="T102" y="T103"/>
              </a:cxn>
              <a:cxn ang="T166">
                <a:pos x="T104" y="T105"/>
              </a:cxn>
              <a:cxn ang="T167">
                <a:pos x="T106" y="T107"/>
              </a:cxn>
              <a:cxn ang="T168">
                <a:pos x="T108" y="T109"/>
              </a:cxn>
              <a:cxn ang="T169">
                <a:pos x="T110" y="T111"/>
              </a:cxn>
              <a:cxn ang="T170">
                <a:pos x="T112" y="T113"/>
              </a:cxn>
            </a:cxnLst>
            <a:rect l="T171" t="T172" r="T173" b="T174"/>
            <a:pathLst>
              <a:path w="329" h="479">
                <a:moveTo>
                  <a:pt x="326" y="441"/>
                </a:moveTo>
                <a:lnTo>
                  <a:pt x="328" y="433"/>
                </a:lnTo>
                <a:lnTo>
                  <a:pt x="316" y="435"/>
                </a:lnTo>
                <a:lnTo>
                  <a:pt x="303" y="433"/>
                </a:lnTo>
                <a:lnTo>
                  <a:pt x="287" y="420"/>
                </a:lnTo>
                <a:lnTo>
                  <a:pt x="260" y="377"/>
                </a:lnTo>
                <a:lnTo>
                  <a:pt x="221" y="313"/>
                </a:lnTo>
                <a:lnTo>
                  <a:pt x="200" y="278"/>
                </a:lnTo>
                <a:lnTo>
                  <a:pt x="186" y="249"/>
                </a:lnTo>
                <a:lnTo>
                  <a:pt x="184" y="233"/>
                </a:lnTo>
                <a:lnTo>
                  <a:pt x="184" y="214"/>
                </a:lnTo>
                <a:lnTo>
                  <a:pt x="188" y="202"/>
                </a:lnTo>
                <a:lnTo>
                  <a:pt x="196" y="196"/>
                </a:lnTo>
                <a:lnTo>
                  <a:pt x="202" y="196"/>
                </a:lnTo>
                <a:lnTo>
                  <a:pt x="210" y="200"/>
                </a:lnTo>
                <a:lnTo>
                  <a:pt x="225" y="212"/>
                </a:lnTo>
                <a:lnTo>
                  <a:pt x="243" y="225"/>
                </a:lnTo>
                <a:lnTo>
                  <a:pt x="256" y="231"/>
                </a:lnTo>
                <a:lnTo>
                  <a:pt x="264" y="233"/>
                </a:lnTo>
                <a:lnTo>
                  <a:pt x="270" y="231"/>
                </a:lnTo>
                <a:lnTo>
                  <a:pt x="274" y="225"/>
                </a:lnTo>
                <a:lnTo>
                  <a:pt x="272" y="220"/>
                </a:lnTo>
                <a:lnTo>
                  <a:pt x="270" y="214"/>
                </a:lnTo>
                <a:lnTo>
                  <a:pt x="258" y="202"/>
                </a:lnTo>
                <a:lnTo>
                  <a:pt x="235" y="187"/>
                </a:lnTo>
                <a:lnTo>
                  <a:pt x="223" y="177"/>
                </a:lnTo>
                <a:lnTo>
                  <a:pt x="215" y="163"/>
                </a:lnTo>
                <a:lnTo>
                  <a:pt x="208" y="142"/>
                </a:lnTo>
                <a:lnTo>
                  <a:pt x="206" y="122"/>
                </a:lnTo>
                <a:lnTo>
                  <a:pt x="202" y="113"/>
                </a:lnTo>
                <a:lnTo>
                  <a:pt x="196" y="103"/>
                </a:lnTo>
                <a:lnTo>
                  <a:pt x="186" y="93"/>
                </a:lnTo>
                <a:lnTo>
                  <a:pt x="179" y="87"/>
                </a:lnTo>
                <a:lnTo>
                  <a:pt x="179" y="78"/>
                </a:lnTo>
                <a:lnTo>
                  <a:pt x="184" y="66"/>
                </a:lnTo>
                <a:lnTo>
                  <a:pt x="188" y="60"/>
                </a:lnTo>
                <a:lnTo>
                  <a:pt x="192" y="52"/>
                </a:lnTo>
                <a:lnTo>
                  <a:pt x="196" y="39"/>
                </a:lnTo>
                <a:lnTo>
                  <a:pt x="192" y="25"/>
                </a:lnTo>
                <a:lnTo>
                  <a:pt x="190" y="14"/>
                </a:lnTo>
                <a:lnTo>
                  <a:pt x="184" y="6"/>
                </a:lnTo>
                <a:lnTo>
                  <a:pt x="173" y="2"/>
                </a:lnTo>
                <a:lnTo>
                  <a:pt x="159" y="0"/>
                </a:lnTo>
                <a:lnTo>
                  <a:pt x="149" y="4"/>
                </a:lnTo>
                <a:lnTo>
                  <a:pt x="142" y="10"/>
                </a:lnTo>
                <a:lnTo>
                  <a:pt x="138" y="21"/>
                </a:lnTo>
                <a:lnTo>
                  <a:pt x="136" y="29"/>
                </a:lnTo>
                <a:lnTo>
                  <a:pt x="138" y="37"/>
                </a:lnTo>
                <a:lnTo>
                  <a:pt x="142" y="49"/>
                </a:lnTo>
                <a:lnTo>
                  <a:pt x="144" y="58"/>
                </a:lnTo>
                <a:lnTo>
                  <a:pt x="146" y="66"/>
                </a:lnTo>
                <a:lnTo>
                  <a:pt x="144" y="76"/>
                </a:lnTo>
                <a:lnTo>
                  <a:pt x="138" y="84"/>
                </a:lnTo>
                <a:lnTo>
                  <a:pt x="128" y="93"/>
                </a:lnTo>
                <a:lnTo>
                  <a:pt x="116" y="99"/>
                </a:lnTo>
                <a:lnTo>
                  <a:pt x="107" y="105"/>
                </a:lnTo>
                <a:lnTo>
                  <a:pt x="99" y="113"/>
                </a:lnTo>
                <a:lnTo>
                  <a:pt x="91" y="124"/>
                </a:lnTo>
                <a:lnTo>
                  <a:pt x="83" y="142"/>
                </a:lnTo>
                <a:lnTo>
                  <a:pt x="76" y="163"/>
                </a:lnTo>
                <a:lnTo>
                  <a:pt x="70" y="179"/>
                </a:lnTo>
                <a:lnTo>
                  <a:pt x="68" y="200"/>
                </a:lnTo>
                <a:lnTo>
                  <a:pt x="66" y="225"/>
                </a:lnTo>
                <a:lnTo>
                  <a:pt x="66" y="239"/>
                </a:lnTo>
                <a:lnTo>
                  <a:pt x="66" y="251"/>
                </a:lnTo>
                <a:lnTo>
                  <a:pt x="68" y="260"/>
                </a:lnTo>
                <a:lnTo>
                  <a:pt x="72" y="264"/>
                </a:lnTo>
                <a:lnTo>
                  <a:pt x="80" y="266"/>
                </a:lnTo>
                <a:lnTo>
                  <a:pt x="85" y="264"/>
                </a:lnTo>
                <a:lnTo>
                  <a:pt x="87" y="260"/>
                </a:lnTo>
                <a:lnTo>
                  <a:pt x="87" y="243"/>
                </a:lnTo>
                <a:lnTo>
                  <a:pt x="87" y="218"/>
                </a:lnTo>
                <a:lnTo>
                  <a:pt x="89" y="202"/>
                </a:lnTo>
                <a:lnTo>
                  <a:pt x="91" y="192"/>
                </a:lnTo>
                <a:lnTo>
                  <a:pt x="97" y="181"/>
                </a:lnTo>
                <a:lnTo>
                  <a:pt x="105" y="179"/>
                </a:lnTo>
                <a:lnTo>
                  <a:pt x="113" y="181"/>
                </a:lnTo>
                <a:lnTo>
                  <a:pt x="116" y="187"/>
                </a:lnTo>
                <a:lnTo>
                  <a:pt x="113" y="206"/>
                </a:lnTo>
                <a:lnTo>
                  <a:pt x="111" y="231"/>
                </a:lnTo>
                <a:lnTo>
                  <a:pt x="107" y="253"/>
                </a:lnTo>
                <a:lnTo>
                  <a:pt x="101" y="274"/>
                </a:lnTo>
                <a:lnTo>
                  <a:pt x="95" y="301"/>
                </a:lnTo>
                <a:lnTo>
                  <a:pt x="87" y="323"/>
                </a:lnTo>
                <a:lnTo>
                  <a:pt x="68" y="352"/>
                </a:lnTo>
                <a:lnTo>
                  <a:pt x="54" y="371"/>
                </a:lnTo>
                <a:lnTo>
                  <a:pt x="29" y="400"/>
                </a:lnTo>
                <a:lnTo>
                  <a:pt x="12" y="420"/>
                </a:lnTo>
                <a:lnTo>
                  <a:pt x="0" y="439"/>
                </a:lnTo>
                <a:lnTo>
                  <a:pt x="0" y="447"/>
                </a:lnTo>
                <a:lnTo>
                  <a:pt x="12" y="462"/>
                </a:lnTo>
                <a:lnTo>
                  <a:pt x="31" y="478"/>
                </a:lnTo>
                <a:lnTo>
                  <a:pt x="50" y="478"/>
                </a:lnTo>
                <a:lnTo>
                  <a:pt x="54" y="474"/>
                </a:lnTo>
                <a:lnTo>
                  <a:pt x="45" y="464"/>
                </a:lnTo>
                <a:lnTo>
                  <a:pt x="37" y="453"/>
                </a:lnTo>
                <a:lnTo>
                  <a:pt x="37" y="445"/>
                </a:lnTo>
                <a:lnTo>
                  <a:pt x="50" y="426"/>
                </a:lnTo>
                <a:lnTo>
                  <a:pt x="70" y="406"/>
                </a:lnTo>
                <a:lnTo>
                  <a:pt x="101" y="367"/>
                </a:lnTo>
                <a:lnTo>
                  <a:pt x="128" y="334"/>
                </a:lnTo>
                <a:lnTo>
                  <a:pt x="138" y="323"/>
                </a:lnTo>
                <a:lnTo>
                  <a:pt x="144" y="315"/>
                </a:lnTo>
                <a:lnTo>
                  <a:pt x="157" y="313"/>
                </a:lnTo>
                <a:lnTo>
                  <a:pt x="167" y="319"/>
                </a:lnTo>
                <a:lnTo>
                  <a:pt x="179" y="328"/>
                </a:lnTo>
                <a:lnTo>
                  <a:pt x="204" y="361"/>
                </a:lnTo>
                <a:lnTo>
                  <a:pt x="233" y="400"/>
                </a:lnTo>
                <a:lnTo>
                  <a:pt x="260" y="439"/>
                </a:lnTo>
                <a:lnTo>
                  <a:pt x="276" y="462"/>
                </a:lnTo>
                <a:lnTo>
                  <a:pt x="283" y="466"/>
                </a:lnTo>
                <a:lnTo>
                  <a:pt x="293" y="466"/>
                </a:lnTo>
                <a:lnTo>
                  <a:pt x="303" y="457"/>
                </a:lnTo>
                <a:lnTo>
                  <a:pt x="316" y="449"/>
                </a:lnTo>
                <a:lnTo>
                  <a:pt x="326" y="441"/>
                </a:lnTo>
              </a:path>
            </a:pathLst>
          </a:custGeom>
          <a:solidFill>
            <a:srgbClr val="CECECE"/>
          </a:solidFill>
          <a:ln w="12700" cap="rnd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273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420558" cy="644577"/>
          </a:xfrm>
        </p:spPr>
        <p:txBody>
          <a:bodyPr>
            <a:normAutofit fontScale="90000"/>
          </a:bodyPr>
          <a:lstStyle/>
          <a:p>
            <a:pPr marL="1976438" indent="-1976438"/>
            <a:r>
              <a:rPr lang="en-GB" sz="3600" dirty="0">
                <a:solidFill>
                  <a:srgbClr val="0000FF"/>
                </a:solidFill>
              </a:rPr>
              <a:t>1. Introduction: Sequential Laundry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#20: Pipelining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6</a:t>
            </a:fld>
            <a:endParaRPr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8" name="Rectangle 148">
            <a:extLst>
              <a:ext uri="{FF2B5EF4-FFF2-40B4-BE49-F238E27FC236}">
                <a16:creationId xmlns:a16="http://schemas.microsoft.com/office/drawing/2014/main" id="{9D38DE5D-4BFE-46AD-90A0-51B65E6336B0}"/>
              </a:ext>
            </a:extLst>
          </p:cNvPr>
          <p:cNvSpPr txBox="1">
            <a:spLocks noChangeArrowheads="1"/>
          </p:cNvSpPr>
          <p:nvPr/>
        </p:nvSpPr>
        <p:spPr>
          <a:xfrm>
            <a:off x="588963" y="4969566"/>
            <a:ext cx="8119970" cy="1446092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5113" indent="-265113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660066"/>
                </a:solidFill>
              </a:rPr>
              <a:t>Sequential laundry takes </a:t>
            </a:r>
            <a:r>
              <a:rPr lang="en-US" u="sng" dirty="0">
                <a:solidFill>
                  <a:srgbClr val="660066"/>
                </a:solidFill>
              </a:rPr>
              <a:t>8 hours</a:t>
            </a:r>
            <a:r>
              <a:rPr lang="en-US" dirty="0">
                <a:solidFill>
                  <a:srgbClr val="660066"/>
                </a:solidFill>
              </a:rPr>
              <a:t> for 4 loads</a:t>
            </a:r>
          </a:p>
          <a:p>
            <a:pPr marL="265113" indent="-265113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Steady state: 1 load every 2 hours</a:t>
            </a:r>
          </a:p>
          <a:p>
            <a:pPr marL="265113" indent="-265113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If they learned </a:t>
            </a:r>
            <a:r>
              <a:rPr lang="en-US" dirty="0">
                <a:solidFill>
                  <a:srgbClr val="C00000"/>
                </a:solidFill>
              </a:rPr>
              <a:t>pipelining</a:t>
            </a:r>
            <a:r>
              <a:rPr lang="en-US" dirty="0"/>
              <a:t>, how long would laundry take? </a:t>
            </a:r>
          </a:p>
        </p:txBody>
      </p:sp>
      <p:grpSp>
        <p:nvGrpSpPr>
          <p:cNvPr id="9" name="Group 356">
            <a:extLst>
              <a:ext uri="{FF2B5EF4-FFF2-40B4-BE49-F238E27FC236}">
                <a16:creationId xmlns:a16="http://schemas.microsoft.com/office/drawing/2014/main" id="{F5F3E616-0D7F-47F1-99E5-7CEE137FAA44}"/>
              </a:ext>
            </a:extLst>
          </p:cNvPr>
          <p:cNvGrpSpPr>
            <a:grpSpLocks/>
          </p:cNvGrpSpPr>
          <p:nvPr/>
        </p:nvGrpSpPr>
        <p:grpSpPr bwMode="auto">
          <a:xfrm>
            <a:off x="252664" y="1254125"/>
            <a:ext cx="8456270" cy="3775075"/>
            <a:chOff x="85" y="646"/>
            <a:chExt cx="5631" cy="2279"/>
          </a:xfrm>
        </p:grpSpPr>
        <p:sp>
          <p:nvSpPr>
            <p:cNvPr id="10" name="Rectangle 149">
              <a:extLst>
                <a:ext uri="{FF2B5EF4-FFF2-40B4-BE49-F238E27FC236}">
                  <a16:creationId xmlns:a16="http://schemas.microsoft.com/office/drawing/2014/main" id="{C1D413F4-548F-4EA1-96B4-1B09A86997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8" y="1141"/>
              <a:ext cx="292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/>
              <a:r>
                <a:rPr lang="en-US" sz="2000" b="1">
                  <a:latin typeface="FranklinGothic" charset="0"/>
                </a:rPr>
                <a:t>30</a:t>
              </a:r>
            </a:p>
          </p:txBody>
        </p:sp>
        <p:sp>
          <p:nvSpPr>
            <p:cNvPr id="11" name="Rectangle 150">
              <a:extLst>
                <a:ext uri="{FF2B5EF4-FFF2-40B4-BE49-F238E27FC236}">
                  <a16:creationId xmlns:a16="http://schemas.microsoft.com/office/drawing/2014/main" id="{A548B04F-B457-49C4-9493-C396667A45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" y="1104"/>
              <a:ext cx="217" cy="182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/>
              <a:r>
                <a:rPr lang="en-US" b="1" i="1" dirty="0">
                  <a:latin typeface="FranklinGothic" charset="0"/>
                </a:rPr>
                <a:t>T</a:t>
              </a:r>
            </a:p>
            <a:p>
              <a:pPr algn="ctr" eaLnBrk="0" hangingPunct="0"/>
              <a:r>
                <a:rPr lang="en-US" b="1" i="1" dirty="0">
                  <a:latin typeface="FranklinGothic" charset="0"/>
                </a:rPr>
                <a:t>a</a:t>
              </a:r>
            </a:p>
            <a:p>
              <a:pPr algn="ctr" eaLnBrk="0" hangingPunct="0"/>
              <a:r>
                <a:rPr lang="en-US" b="1" i="1" dirty="0">
                  <a:latin typeface="FranklinGothic" charset="0"/>
                </a:rPr>
                <a:t>s</a:t>
              </a:r>
            </a:p>
            <a:p>
              <a:pPr algn="ctr" eaLnBrk="0" hangingPunct="0"/>
              <a:r>
                <a:rPr lang="en-US" b="1" i="1" dirty="0">
                  <a:latin typeface="FranklinGothic" charset="0"/>
                </a:rPr>
                <a:t>k</a:t>
              </a:r>
            </a:p>
            <a:p>
              <a:pPr algn="ctr" eaLnBrk="0" hangingPunct="0"/>
              <a:endParaRPr lang="en-US" b="1" i="1" dirty="0">
                <a:latin typeface="FranklinGothic" charset="0"/>
              </a:endParaRPr>
            </a:p>
            <a:p>
              <a:pPr algn="ctr" eaLnBrk="0" hangingPunct="0"/>
              <a:r>
                <a:rPr lang="en-US" b="1" i="1" dirty="0">
                  <a:latin typeface="FranklinGothic" charset="0"/>
                </a:rPr>
                <a:t>O</a:t>
              </a:r>
            </a:p>
            <a:p>
              <a:pPr algn="ctr" eaLnBrk="0" hangingPunct="0"/>
              <a:r>
                <a:rPr lang="en-US" b="1" i="1" dirty="0">
                  <a:latin typeface="FranklinGothic" charset="0"/>
                </a:rPr>
                <a:t>r</a:t>
              </a:r>
            </a:p>
            <a:p>
              <a:pPr algn="ctr" eaLnBrk="0" hangingPunct="0"/>
              <a:r>
                <a:rPr lang="en-US" b="1" i="1" dirty="0">
                  <a:latin typeface="FranklinGothic" charset="0"/>
                </a:rPr>
                <a:t>d</a:t>
              </a:r>
            </a:p>
            <a:p>
              <a:pPr algn="ctr" eaLnBrk="0" hangingPunct="0"/>
              <a:r>
                <a:rPr lang="en-US" b="1" i="1" dirty="0">
                  <a:latin typeface="FranklinGothic" charset="0"/>
                </a:rPr>
                <a:t>e</a:t>
              </a:r>
            </a:p>
            <a:p>
              <a:pPr algn="ctr" eaLnBrk="0" hangingPunct="0"/>
              <a:r>
                <a:rPr lang="en-US" b="1" i="1" dirty="0">
                  <a:latin typeface="FranklinGothic" charset="0"/>
                </a:rPr>
                <a:t>r</a:t>
              </a:r>
              <a:endParaRPr lang="en-US" sz="2000" b="1" i="1" dirty="0">
                <a:latin typeface="FranklinGothic" charset="0"/>
              </a:endParaRPr>
            </a:p>
          </p:txBody>
        </p:sp>
        <p:grpSp>
          <p:nvGrpSpPr>
            <p:cNvPr id="13" name="Group 151">
              <a:extLst>
                <a:ext uri="{FF2B5EF4-FFF2-40B4-BE49-F238E27FC236}">
                  <a16:creationId xmlns:a16="http://schemas.microsoft.com/office/drawing/2014/main" id="{15CCC0A0-1962-4BF8-8532-DC4CE068F7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2" y="1811"/>
              <a:ext cx="260" cy="310"/>
              <a:chOff x="440" y="1867"/>
              <a:chExt cx="260" cy="310"/>
            </a:xfrm>
          </p:grpSpPr>
          <p:sp>
            <p:nvSpPr>
              <p:cNvPr id="160" name="Freeform 152">
                <a:extLst>
                  <a:ext uri="{FF2B5EF4-FFF2-40B4-BE49-F238E27FC236}">
                    <a16:creationId xmlns:a16="http://schemas.microsoft.com/office/drawing/2014/main" id="{3E4BC444-918B-419A-8C2F-E38CA78C3B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" y="1867"/>
                <a:ext cx="246" cy="221"/>
              </a:xfrm>
              <a:custGeom>
                <a:avLst/>
                <a:gdLst>
                  <a:gd name="T0" fmla="*/ 69 w 246"/>
                  <a:gd name="T1" fmla="*/ 10 h 221"/>
                  <a:gd name="T2" fmla="*/ 117 w 246"/>
                  <a:gd name="T3" fmla="*/ 12 h 221"/>
                  <a:gd name="T4" fmla="*/ 167 w 246"/>
                  <a:gd name="T5" fmla="*/ 0 h 221"/>
                  <a:gd name="T6" fmla="*/ 228 w 246"/>
                  <a:gd name="T7" fmla="*/ 0 h 221"/>
                  <a:gd name="T8" fmla="*/ 161 w 246"/>
                  <a:gd name="T9" fmla="*/ 63 h 221"/>
                  <a:gd name="T10" fmla="*/ 179 w 246"/>
                  <a:gd name="T11" fmla="*/ 67 h 221"/>
                  <a:gd name="T12" fmla="*/ 196 w 246"/>
                  <a:gd name="T13" fmla="*/ 74 h 221"/>
                  <a:gd name="T14" fmla="*/ 213 w 246"/>
                  <a:gd name="T15" fmla="*/ 83 h 221"/>
                  <a:gd name="T16" fmla="*/ 226 w 246"/>
                  <a:gd name="T17" fmla="*/ 94 h 221"/>
                  <a:gd name="T18" fmla="*/ 236 w 246"/>
                  <a:gd name="T19" fmla="*/ 108 h 221"/>
                  <a:gd name="T20" fmla="*/ 243 w 246"/>
                  <a:gd name="T21" fmla="*/ 123 h 221"/>
                  <a:gd name="T22" fmla="*/ 245 w 246"/>
                  <a:gd name="T23" fmla="*/ 140 h 221"/>
                  <a:gd name="T24" fmla="*/ 242 w 246"/>
                  <a:gd name="T25" fmla="*/ 157 h 221"/>
                  <a:gd name="T26" fmla="*/ 237 w 246"/>
                  <a:gd name="T27" fmla="*/ 171 h 221"/>
                  <a:gd name="T28" fmla="*/ 226 w 246"/>
                  <a:gd name="T29" fmla="*/ 185 h 221"/>
                  <a:gd name="T30" fmla="*/ 209 w 246"/>
                  <a:gd name="T31" fmla="*/ 200 h 221"/>
                  <a:gd name="T32" fmla="*/ 192 w 246"/>
                  <a:gd name="T33" fmla="*/ 209 h 221"/>
                  <a:gd name="T34" fmla="*/ 176 w 246"/>
                  <a:gd name="T35" fmla="*/ 215 h 221"/>
                  <a:gd name="T36" fmla="*/ 161 w 246"/>
                  <a:gd name="T37" fmla="*/ 219 h 221"/>
                  <a:gd name="T38" fmla="*/ 141 w 246"/>
                  <a:gd name="T39" fmla="*/ 220 h 221"/>
                  <a:gd name="T40" fmla="*/ 91 w 246"/>
                  <a:gd name="T41" fmla="*/ 219 h 221"/>
                  <a:gd name="T42" fmla="*/ 67 w 246"/>
                  <a:gd name="T43" fmla="*/ 215 h 221"/>
                  <a:gd name="T44" fmla="*/ 42 w 246"/>
                  <a:gd name="T45" fmla="*/ 204 h 221"/>
                  <a:gd name="T46" fmla="*/ 22 w 246"/>
                  <a:gd name="T47" fmla="*/ 189 h 221"/>
                  <a:gd name="T48" fmla="*/ 10 w 246"/>
                  <a:gd name="T49" fmla="*/ 174 h 221"/>
                  <a:gd name="T50" fmla="*/ 3 w 246"/>
                  <a:gd name="T51" fmla="*/ 157 h 221"/>
                  <a:gd name="T52" fmla="*/ 0 w 246"/>
                  <a:gd name="T53" fmla="*/ 143 h 221"/>
                  <a:gd name="T54" fmla="*/ 2 w 246"/>
                  <a:gd name="T55" fmla="*/ 126 h 221"/>
                  <a:gd name="T56" fmla="*/ 10 w 246"/>
                  <a:gd name="T57" fmla="*/ 106 h 221"/>
                  <a:gd name="T58" fmla="*/ 26 w 246"/>
                  <a:gd name="T59" fmla="*/ 88 h 221"/>
                  <a:gd name="T60" fmla="*/ 47 w 246"/>
                  <a:gd name="T61" fmla="*/ 74 h 221"/>
                  <a:gd name="T62" fmla="*/ 76 w 246"/>
                  <a:gd name="T63" fmla="*/ 64 h 221"/>
                  <a:gd name="T64" fmla="*/ 30 w 246"/>
                  <a:gd name="T65" fmla="*/ 3 h 221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46"/>
                  <a:gd name="T100" fmla="*/ 0 h 221"/>
                  <a:gd name="T101" fmla="*/ 246 w 246"/>
                  <a:gd name="T102" fmla="*/ 221 h 221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46" h="221">
                    <a:moveTo>
                      <a:pt x="30" y="3"/>
                    </a:moveTo>
                    <a:lnTo>
                      <a:pt x="69" y="10"/>
                    </a:lnTo>
                    <a:lnTo>
                      <a:pt x="69" y="0"/>
                    </a:lnTo>
                    <a:lnTo>
                      <a:pt x="117" y="12"/>
                    </a:lnTo>
                    <a:lnTo>
                      <a:pt x="117" y="0"/>
                    </a:lnTo>
                    <a:lnTo>
                      <a:pt x="167" y="0"/>
                    </a:lnTo>
                    <a:lnTo>
                      <a:pt x="167" y="11"/>
                    </a:lnTo>
                    <a:lnTo>
                      <a:pt x="228" y="0"/>
                    </a:lnTo>
                    <a:lnTo>
                      <a:pt x="153" y="62"/>
                    </a:lnTo>
                    <a:lnTo>
                      <a:pt x="161" y="63"/>
                    </a:lnTo>
                    <a:lnTo>
                      <a:pt x="169" y="64"/>
                    </a:lnTo>
                    <a:lnTo>
                      <a:pt x="179" y="67"/>
                    </a:lnTo>
                    <a:lnTo>
                      <a:pt x="187" y="70"/>
                    </a:lnTo>
                    <a:lnTo>
                      <a:pt x="196" y="74"/>
                    </a:lnTo>
                    <a:lnTo>
                      <a:pt x="205" y="78"/>
                    </a:lnTo>
                    <a:lnTo>
                      <a:pt x="213" y="83"/>
                    </a:lnTo>
                    <a:lnTo>
                      <a:pt x="220" y="89"/>
                    </a:lnTo>
                    <a:lnTo>
                      <a:pt x="226" y="94"/>
                    </a:lnTo>
                    <a:lnTo>
                      <a:pt x="231" y="101"/>
                    </a:lnTo>
                    <a:lnTo>
                      <a:pt x="236" y="108"/>
                    </a:lnTo>
                    <a:lnTo>
                      <a:pt x="240" y="116"/>
                    </a:lnTo>
                    <a:lnTo>
                      <a:pt x="243" y="123"/>
                    </a:lnTo>
                    <a:lnTo>
                      <a:pt x="244" y="130"/>
                    </a:lnTo>
                    <a:lnTo>
                      <a:pt x="245" y="140"/>
                    </a:lnTo>
                    <a:lnTo>
                      <a:pt x="244" y="150"/>
                    </a:lnTo>
                    <a:lnTo>
                      <a:pt x="242" y="157"/>
                    </a:lnTo>
                    <a:lnTo>
                      <a:pt x="240" y="165"/>
                    </a:lnTo>
                    <a:lnTo>
                      <a:pt x="237" y="171"/>
                    </a:lnTo>
                    <a:lnTo>
                      <a:pt x="232" y="177"/>
                    </a:lnTo>
                    <a:lnTo>
                      <a:pt x="226" y="185"/>
                    </a:lnTo>
                    <a:lnTo>
                      <a:pt x="218" y="193"/>
                    </a:lnTo>
                    <a:lnTo>
                      <a:pt x="209" y="200"/>
                    </a:lnTo>
                    <a:lnTo>
                      <a:pt x="200" y="205"/>
                    </a:lnTo>
                    <a:lnTo>
                      <a:pt x="192" y="209"/>
                    </a:lnTo>
                    <a:lnTo>
                      <a:pt x="184" y="213"/>
                    </a:lnTo>
                    <a:lnTo>
                      <a:pt x="176" y="215"/>
                    </a:lnTo>
                    <a:lnTo>
                      <a:pt x="167" y="217"/>
                    </a:lnTo>
                    <a:lnTo>
                      <a:pt x="161" y="219"/>
                    </a:lnTo>
                    <a:lnTo>
                      <a:pt x="150" y="219"/>
                    </a:lnTo>
                    <a:lnTo>
                      <a:pt x="141" y="220"/>
                    </a:lnTo>
                    <a:lnTo>
                      <a:pt x="99" y="220"/>
                    </a:lnTo>
                    <a:lnTo>
                      <a:pt x="91" y="219"/>
                    </a:lnTo>
                    <a:lnTo>
                      <a:pt x="81" y="218"/>
                    </a:lnTo>
                    <a:lnTo>
                      <a:pt x="67" y="215"/>
                    </a:lnTo>
                    <a:lnTo>
                      <a:pt x="55" y="210"/>
                    </a:lnTo>
                    <a:lnTo>
                      <a:pt x="42" y="204"/>
                    </a:lnTo>
                    <a:lnTo>
                      <a:pt x="31" y="196"/>
                    </a:lnTo>
                    <a:lnTo>
                      <a:pt x="22" y="189"/>
                    </a:lnTo>
                    <a:lnTo>
                      <a:pt x="16" y="183"/>
                    </a:lnTo>
                    <a:lnTo>
                      <a:pt x="10" y="174"/>
                    </a:lnTo>
                    <a:lnTo>
                      <a:pt x="5" y="164"/>
                    </a:lnTo>
                    <a:lnTo>
                      <a:pt x="3" y="157"/>
                    </a:lnTo>
                    <a:lnTo>
                      <a:pt x="1" y="150"/>
                    </a:lnTo>
                    <a:lnTo>
                      <a:pt x="0" y="143"/>
                    </a:lnTo>
                    <a:lnTo>
                      <a:pt x="1" y="137"/>
                    </a:lnTo>
                    <a:lnTo>
                      <a:pt x="2" y="126"/>
                    </a:lnTo>
                    <a:lnTo>
                      <a:pt x="5" y="117"/>
                    </a:lnTo>
                    <a:lnTo>
                      <a:pt x="10" y="106"/>
                    </a:lnTo>
                    <a:lnTo>
                      <a:pt x="18" y="97"/>
                    </a:lnTo>
                    <a:lnTo>
                      <a:pt x="26" y="88"/>
                    </a:lnTo>
                    <a:lnTo>
                      <a:pt x="37" y="80"/>
                    </a:lnTo>
                    <a:lnTo>
                      <a:pt x="47" y="74"/>
                    </a:lnTo>
                    <a:lnTo>
                      <a:pt x="61" y="68"/>
                    </a:lnTo>
                    <a:lnTo>
                      <a:pt x="76" y="64"/>
                    </a:lnTo>
                    <a:lnTo>
                      <a:pt x="86" y="62"/>
                    </a:lnTo>
                    <a:lnTo>
                      <a:pt x="30" y="3"/>
                    </a:lnTo>
                  </a:path>
                </a:pathLst>
              </a:custGeom>
              <a:solidFill>
                <a:schemeClr val="bg2"/>
              </a:solidFill>
              <a:ln w="254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1" name="Rectangle 153">
                <a:extLst>
                  <a:ext uri="{FF2B5EF4-FFF2-40B4-BE49-F238E27FC236}">
                    <a16:creationId xmlns:a16="http://schemas.microsoft.com/office/drawing/2014/main" id="{0A64F34B-C9D8-4E5A-BED0-46D98F7028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" y="1888"/>
                <a:ext cx="255" cy="289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pPr algn="ctr" eaLnBrk="0" hangingPunct="0"/>
                <a:r>
                  <a:rPr lang="en-US" b="1" dirty="0">
                    <a:solidFill>
                      <a:srgbClr val="C00000"/>
                    </a:solidFill>
                    <a:latin typeface="FranklinGothic" charset="0"/>
                  </a:rPr>
                  <a:t>B</a:t>
                </a:r>
              </a:p>
            </p:txBody>
          </p:sp>
        </p:grpSp>
        <p:grpSp>
          <p:nvGrpSpPr>
            <p:cNvPr id="14" name="Group 154">
              <a:extLst>
                <a:ext uri="{FF2B5EF4-FFF2-40B4-BE49-F238E27FC236}">
                  <a16:creationId xmlns:a16="http://schemas.microsoft.com/office/drawing/2014/main" id="{2957E134-B9AD-40BC-B129-205717490ED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2" y="2150"/>
              <a:ext cx="260" cy="324"/>
              <a:chOff x="440" y="2217"/>
              <a:chExt cx="260" cy="324"/>
            </a:xfrm>
          </p:grpSpPr>
          <p:sp>
            <p:nvSpPr>
              <p:cNvPr id="158" name="Freeform 155">
                <a:extLst>
                  <a:ext uri="{FF2B5EF4-FFF2-40B4-BE49-F238E27FC236}">
                    <a16:creationId xmlns:a16="http://schemas.microsoft.com/office/drawing/2014/main" id="{676CE8B7-7596-4562-A27F-3B917EFAB5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" y="2217"/>
                <a:ext cx="246" cy="222"/>
              </a:xfrm>
              <a:custGeom>
                <a:avLst/>
                <a:gdLst>
                  <a:gd name="T0" fmla="*/ 69 w 246"/>
                  <a:gd name="T1" fmla="*/ 11 h 222"/>
                  <a:gd name="T2" fmla="*/ 117 w 246"/>
                  <a:gd name="T3" fmla="*/ 12 h 222"/>
                  <a:gd name="T4" fmla="*/ 167 w 246"/>
                  <a:gd name="T5" fmla="*/ 0 h 222"/>
                  <a:gd name="T6" fmla="*/ 228 w 246"/>
                  <a:gd name="T7" fmla="*/ 0 h 222"/>
                  <a:gd name="T8" fmla="*/ 161 w 246"/>
                  <a:gd name="T9" fmla="*/ 63 h 222"/>
                  <a:gd name="T10" fmla="*/ 179 w 246"/>
                  <a:gd name="T11" fmla="*/ 67 h 222"/>
                  <a:gd name="T12" fmla="*/ 196 w 246"/>
                  <a:gd name="T13" fmla="*/ 74 h 222"/>
                  <a:gd name="T14" fmla="*/ 213 w 246"/>
                  <a:gd name="T15" fmla="*/ 83 h 222"/>
                  <a:gd name="T16" fmla="*/ 226 w 246"/>
                  <a:gd name="T17" fmla="*/ 95 h 222"/>
                  <a:gd name="T18" fmla="*/ 236 w 246"/>
                  <a:gd name="T19" fmla="*/ 108 h 222"/>
                  <a:gd name="T20" fmla="*/ 243 w 246"/>
                  <a:gd name="T21" fmla="*/ 124 h 222"/>
                  <a:gd name="T22" fmla="*/ 245 w 246"/>
                  <a:gd name="T23" fmla="*/ 141 h 222"/>
                  <a:gd name="T24" fmla="*/ 242 w 246"/>
                  <a:gd name="T25" fmla="*/ 158 h 222"/>
                  <a:gd name="T26" fmla="*/ 237 w 246"/>
                  <a:gd name="T27" fmla="*/ 171 h 222"/>
                  <a:gd name="T28" fmla="*/ 226 w 246"/>
                  <a:gd name="T29" fmla="*/ 186 h 222"/>
                  <a:gd name="T30" fmla="*/ 209 w 246"/>
                  <a:gd name="T31" fmla="*/ 201 h 222"/>
                  <a:gd name="T32" fmla="*/ 192 w 246"/>
                  <a:gd name="T33" fmla="*/ 210 h 222"/>
                  <a:gd name="T34" fmla="*/ 176 w 246"/>
                  <a:gd name="T35" fmla="*/ 216 h 222"/>
                  <a:gd name="T36" fmla="*/ 161 w 246"/>
                  <a:gd name="T37" fmla="*/ 219 h 222"/>
                  <a:gd name="T38" fmla="*/ 141 w 246"/>
                  <a:gd name="T39" fmla="*/ 221 h 222"/>
                  <a:gd name="T40" fmla="*/ 91 w 246"/>
                  <a:gd name="T41" fmla="*/ 220 h 222"/>
                  <a:gd name="T42" fmla="*/ 67 w 246"/>
                  <a:gd name="T43" fmla="*/ 216 h 222"/>
                  <a:gd name="T44" fmla="*/ 42 w 246"/>
                  <a:gd name="T45" fmla="*/ 204 h 222"/>
                  <a:gd name="T46" fmla="*/ 22 w 246"/>
                  <a:gd name="T47" fmla="*/ 190 h 222"/>
                  <a:gd name="T48" fmla="*/ 10 w 246"/>
                  <a:gd name="T49" fmla="*/ 174 h 222"/>
                  <a:gd name="T50" fmla="*/ 3 w 246"/>
                  <a:gd name="T51" fmla="*/ 158 h 222"/>
                  <a:gd name="T52" fmla="*/ 0 w 246"/>
                  <a:gd name="T53" fmla="*/ 144 h 222"/>
                  <a:gd name="T54" fmla="*/ 2 w 246"/>
                  <a:gd name="T55" fmla="*/ 127 h 222"/>
                  <a:gd name="T56" fmla="*/ 10 w 246"/>
                  <a:gd name="T57" fmla="*/ 106 h 222"/>
                  <a:gd name="T58" fmla="*/ 26 w 246"/>
                  <a:gd name="T59" fmla="*/ 89 h 222"/>
                  <a:gd name="T60" fmla="*/ 47 w 246"/>
                  <a:gd name="T61" fmla="*/ 74 h 222"/>
                  <a:gd name="T62" fmla="*/ 76 w 246"/>
                  <a:gd name="T63" fmla="*/ 65 h 222"/>
                  <a:gd name="T64" fmla="*/ 30 w 246"/>
                  <a:gd name="T65" fmla="*/ 3 h 222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46"/>
                  <a:gd name="T100" fmla="*/ 0 h 222"/>
                  <a:gd name="T101" fmla="*/ 246 w 246"/>
                  <a:gd name="T102" fmla="*/ 222 h 222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46" h="222">
                    <a:moveTo>
                      <a:pt x="30" y="3"/>
                    </a:moveTo>
                    <a:lnTo>
                      <a:pt x="69" y="11"/>
                    </a:lnTo>
                    <a:lnTo>
                      <a:pt x="69" y="0"/>
                    </a:lnTo>
                    <a:lnTo>
                      <a:pt x="117" y="12"/>
                    </a:lnTo>
                    <a:lnTo>
                      <a:pt x="117" y="0"/>
                    </a:lnTo>
                    <a:lnTo>
                      <a:pt x="167" y="0"/>
                    </a:lnTo>
                    <a:lnTo>
                      <a:pt x="167" y="11"/>
                    </a:lnTo>
                    <a:lnTo>
                      <a:pt x="228" y="0"/>
                    </a:lnTo>
                    <a:lnTo>
                      <a:pt x="153" y="62"/>
                    </a:lnTo>
                    <a:lnTo>
                      <a:pt x="161" y="63"/>
                    </a:lnTo>
                    <a:lnTo>
                      <a:pt x="169" y="65"/>
                    </a:lnTo>
                    <a:lnTo>
                      <a:pt x="179" y="67"/>
                    </a:lnTo>
                    <a:lnTo>
                      <a:pt x="187" y="70"/>
                    </a:lnTo>
                    <a:lnTo>
                      <a:pt x="196" y="74"/>
                    </a:lnTo>
                    <a:lnTo>
                      <a:pt x="205" y="78"/>
                    </a:lnTo>
                    <a:lnTo>
                      <a:pt x="213" y="83"/>
                    </a:lnTo>
                    <a:lnTo>
                      <a:pt x="220" y="89"/>
                    </a:lnTo>
                    <a:lnTo>
                      <a:pt x="226" y="95"/>
                    </a:lnTo>
                    <a:lnTo>
                      <a:pt x="231" y="101"/>
                    </a:lnTo>
                    <a:lnTo>
                      <a:pt x="236" y="108"/>
                    </a:lnTo>
                    <a:lnTo>
                      <a:pt x="240" y="117"/>
                    </a:lnTo>
                    <a:lnTo>
                      <a:pt x="243" y="124"/>
                    </a:lnTo>
                    <a:lnTo>
                      <a:pt x="244" y="131"/>
                    </a:lnTo>
                    <a:lnTo>
                      <a:pt x="245" y="141"/>
                    </a:lnTo>
                    <a:lnTo>
                      <a:pt x="244" y="150"/>
                    </a:lnTo>
                    <a:lnTo>
                      <a:pt x="242" y="158"/>
                    </a:lnTo>
                    <a:lnTo>
                      <a:pt x="240" y="165"/>
                    </a:lnTo>
                    <a:lnTo>
                      <a:pt x="237" y="171"/>
                    </a:lnTo>
                    <a:lnTo>
                      <a:pt x="232" y="178"/>
                    </a:lnTo>
                    <a:lnTo>
                      <a:pt x="226" y="186"/>
                    </a:lnTo>
                    <a:lnTo>
                      <a:pt x="218" y="194"/>
                    </a:lnTo>
                    <a:lnTo>
                      <a:pt x="209" y="201"/>
                    </a:lnTo>
                    <a:lnTo>
                      <a:pt x="200" y="206"/>
                    </a:lnTo>
                    <a:lnTo>
                      <a:pt x="192" y="210"/>
                    </a:lnTo>
                    <a:lnTo>
                      <a:pt x="184" y="213"/>
                    </a:lnTo>
                    <a:lnTo>
                      <a:pt x="176" y="216"/>
                    </a:lnTo>
                    <a:lnTo>
                      <a:pt x="167" y="218"/>
                    </a:lnTo>
                    <a:lnTo>
                      <a:pt x="161" y="219"/>
                    </a:lnTo>
                    <a:lnTo>
                      <a:pt x="150" y="220"/>
                    </a:lnTo>
                    <a:lnTo>
                      <a:pt x="141" y="221"/>
                    </a:lnTo>
                    <a:lnTo>
                      <a:pt x="99" y="221"/>
                    </a:lnTo>
                    <a:lnTo>
                      <a:pt x="91" y="220"/>
                    </a:lnTo>
                    <a:lnTo>
                      <a:pt x="81" y="219"/>
                    </a:lnTo>
                    <a:lnTo>
                      <a:pt x="67" y="216"/>
                    </a:lnTo>
                    <a:lnTo>
                      <a:pt x="55" y="210"/>
                    </a:lnTo>
                    <a:lnTo>
                      <a:pt x="42" y="204"/>
                    </a:lnTo>
                    <a:lnTo>
                      <a:pt x="31" y="197"/>
                    </a:lnTo>
                    <a:lnTo>
                      <a:pt x="22" y="190"/>
                    </a:lnTo>
                    <a:lnTo>
                      <a:pt x="16" y="183"/>
                    </a:lnTo>
                    <a:lnTo>
                      <a:pt x="10" y="174"/>
                    </a:lnTo>
                    <a:lnTo>
                      <a:pt x="5" y="165"/>
                    </a:lnTo>
                    <a:lnTo>
                      <a:pt x="3" y="158"/>
                    </a:lnTo>
                    <a:lnTo>
                      <a:pt x="1" y="151"/>
                    </a:lnTo>
                    <a:lnTo>
                      <a:pt x="0" y="144"/>
                    </a:lnTo>
                    <a:lnTo>
                      <a:pt x="1" y="138"/>
                    </a:lnTo>
                    <a:lnTo>
                      <a:pt x="2" y="127"/>
                    </a:lnTo>
                    <a:lnTo>
                      <a:pt x="5" y="117"/>
                    </a:lnTo>
                    <a:lnTo>
                      <a:pt x="10" y="106"/>
                    </a:lnTo>
                    <a:lnTo>
                      <a:pt x="18" y="97"/>
                    </a:lnTo>
                    <a:lnTo>
                      <a:pt x="26" y="89"/>
                    </a:lnTo>
                    <a:lnTo>
                      <a:pt x="37" y="80"/>
                    </a:lnTo>
                    <a:lnTo>
                      <a:pt x="47" y="74"/>
                    </a:lnTo>
                    <a:lnTo>
                      <a:pt x="61" y="68"/>
                    </a:lnTo>
                    <a:lnTo>
                      <a:pt x="76" y="65"/>
                    </a:lnTo>
                    <a:lnTo>
                      <a:pt x="86" y="62"/>
                    </a:lnTo>
                    <a:lnTo>
                      <a:pt x="30" y="3"/>
                    </a:lnTo>
                  </a:path>
                </a:pathLst>
              </a:custGeom>
              <a:solidFill>
                <a:schemeClr val="bg2"/>
              </a:solidFill>
              <a:ln w="254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" name="Rectangle 156">
                <a:extLst>
                  <a:ext uri="{FF2B5EF4-FFF2-40B4-BE49-F238E27FC236}">
                    <a16:creationId xmlns:a16="http://schemas.microsoft.com/office/drawing/2014/main" id="{7424F0CA-FC0E-49EA-AEDA-7E1CAE3BFA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" y="2252"/>
                <a:ext cx="255" cy="289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pPr algn="ctr" eaLnBrk="0" hangingPunct="0"/>
                <a:r>
                  <a:rPr lang="en-US" b="1" dirty="0">
                    <a:solidFill>
                      <a:srgbClr val="C00000"/>
                    </a:solidFill>
                    <a:latin typeface="FranklinGothic" charset="0"/>
                  </a:rPr>
                  <a:t>C</a:t>
                </a:r>
              </a:p>
            </p:txBody>
          </p:sp>
        </p:grpSp>
        <p:grpSp>
          <p:nvGrpSpPr>
            <p:cNvPr id="15" name="Group 157">
              <a:extLst>
                <a:ext uri="{FF2B5EF4-FFF2-40B4-BE49-F238E27FC236}">
                  <a16:creationId xmlns:a16="http://schemas.microsoft.com/office/drawing/2014/main" id="{34A9B627-A3FB-4798-81D3-BC1A841BE7C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2" y="2473"/>
              <a:ext cx="260" cy="309"/>
              <a:chOff x="440" y="2521"/>
              <a:chExt cx="260" cy="309"/>
            </a:xfrm>
          </p:grpSpPr>
          <p:sp>
            <p:nvSpPr>
              <p:cNvPr id="156" name="Freeform 158">
                <a:extLst>
                  <a:ext uri="{FF2B5EF4-FFF2-40B4-BE49-F238E27FC236}">
                    <a16:creationId xmlns:a16="http://schemas.microsoft.com/office/drawing/2014/main" id="{4E008E3A-FCFE-44C5-89B2-F83E2F85ED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" y="2521"/>
                <a:ext cx="246" cy="221"/>
              </a:xfrm>
              <a:custGeom>
                <a:avLst/>
                <a:gdLst>
                  <a:gd name="T0" fmla="*/ 69 w 246"/>
                  <a:gd name="T1" fmla="*/ 10 h 221"/>
                  <a:gd name="T2" fmla="*/ 117 w 246"/>
                  <a:gd name="T3" fmla="*/ 12 h 221"/>
                  <a:gd name="T4" fmla="*/ 167 w 246"/>
                  <a:gd name="T5" fmla="*/ 0 h 221"/>
                  <a:gd name="T6" fmla="*/ 228 w 246"/>
                  <a:gd name="T7" fmla="*/ 0 h 221"/>
                  <a:gd name="T8" fmla="*/ 161 w 246"/>
                  <a:gd name="T9" fmla="*/ 63 h 221"/>
                  <a:gd name="T10" fmla="*/ 179 w 246"/>
                  <a:gd name="T11" fmla="*/ 67 h 221"/>
                  <a:gd name="T12" fmla="*/ 196 w 246"/>
                  <a:gd name="T13" fmla="*/ 74 h 221"/>
                  <a:gd name="T14" fmla="*/ 213 w 246"/>
                  <a:gd name="T15" fmla="*/ 83 h 221"/>
                  <a:gd name="T16" fmla="*/ 226 w 246"/>
                  <a:gd name="T17" fmla="*/ 94 h 221"/>
                  <a:gd name="T18" fmla="*/ 236 w 246"/>
                  <a:gd name="T19" fmla="*/ 108 h 221"/>
                  <a:gd name="T20" fmla="*/ 243 w 246"/>
                  <a:gd name="T21" fmla="*/ 123 h 221"/>
                  <a:gd name="T22" fmla="*/ 245 w 246"/>
                  <a:gd name="T23" fmla="*/ 140 h 221"/>
                  <a:gd name="T24" fmla="*/ 242 w 246"/>
                  <a:gd name="T25" fmla="*/ 157 h 221"/>
                  <a:gd name="T26" fmla="*/ 237 w 246"/>
                  <a:gd name="T27" fmla="*/ 171 h 221"/>
                  <a:gd name="T28" fmla="*/ 226 w 246"/>
                  <a:gd name="T29" fmla="*/ 185 h 221"/>
                  <a:gd name="T30" fmla="*/ 209 w 246"/>
                  <a:gd name="T31" fmla="*/ 200 h 221"/>
                  <a:gd name="T32" fmla="*/ 192 w 246"/>
                  <a:gd name="T33" fmla="*/ 209 h 221"/>
                  <a:gd name="T34" fmla="*/ 176 w 246"/>
                  <a:gd name="T35" fmla="*/ 215 h 221"/>
                  <a:gd name="T36" fmla="*/ 161 w 246"/>
                  <a:gd name="T37" fmla="*/ 219 h 221"/>
                  <a:gd name="T38" fmla="*/ 141 w 246"/>
                  <a:gd name="T39" fmla="*/ 220 h 221"/>
                  <a:gd name="T40" fmla="*/ 91 w 246"/>
                  <a:gd name="T41" fmla="*/ 219 h 221"/>
                  <a:gd name="T42" fmla="*/ 67 w 246"/>
                  <a:gd name="T43" fmla="*/ 215 h 221"/>
                  <a:gd name="T44" fmla="*/ 42 w 246"/>
                  <a:gd name="T45" fmla="*/ 204 h 221"/>
                  <a:gd name="T46" fmla="*/ 22 w 246"/>
                  <a:gd name="T47" fmla="*/ 189 h 221"/>
                  <a:gd name="T48" fmla="*/ 10 w 246"/>
                  <a:gd name="T49" fmla="*/ 174 h 221"/>
                  <a:gd name="T50" fmla="*/ 3 w 246"/>
                  <a:gd name="T51" fmla="*/ 157 h 221"/>
                  <a:gd name="T52" fmla="*/ 0 w 246"/>
                  <a:gd name="T53" fmla="*/ 143 h 221"/>
                  <a:gd name="T54" fmla="*/ 2 w 246"/>
                  <a:gd name="T55" fmla="*/ 126 h 221"/>
                  <a:gd name="T56" fmla="*/ 10 w 246"/>
                  <a:gd name="T57" fmla="*/ 106 h 221"/>
                  <a:gd name="T58" fmla="*/ 26 w 246"/>
                  <a:gd name="T59" fmla="*/ 88 h 221"/>
                  <a:gd name="T60" fmla="*/ 47 w 246"/>
                  <a:gd name="T61" fmla="*/ 74 h 221"/>
                  <a:gd name="T62" fmla="*/ 76 w 246"/>
                  <a:gd name="T63" fmla="*/ 64 h 221"/>
                  <a:gd name="T64" fmla="*/ 30 w 246"/>
                  <a:gd name="T65" fmla="*/ 3 h 221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46"/>
                  <a:gd name="T100" fmla="*/ 0 h 221"/>
                  <a:gd name="T101" fmla="*/ 246 w 246"/>
                  <a:gd name="T102" fmla="*/ 221 h 221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46" h="221">
                    <a:moveTo>
                      <a:pt x="30" y="3"/>
                    </a:moveTo>
                    <a:lnTo>
                      <a:pt x="69" y="10"/>
                    </a:lnTo>
                    <a:lnTo>
                      <a:pt x="69" y="0"/>
                    </a:lnTo>
                    <a:lnTo>
                      <a:pt x="117" y="12"/>
                    </a:lnTo>
                    <a:lnTo>
                      <a:pt x="117" y="0"/>
                    </a:lnTo>
                    <a:lnTo>
                      <a:pt x="167" y="0"/>
                    </a:lnTo>
                    <a:lnTo>
                      <a:pt x="167" y="11"/>
                    </a:lnTo>
                    <a:lnTo>
                      <a:pt x="228" y="0"/>
                    </a:lnTo>
                    <a:lnTo>
                      <a:pt x="153" y="62"/>
                    </a:lnTo>
                    <a:lnTo>
                      <a:pt x="161" y="63"/>
                    </a:lnTo>
                    <a:lnTo>
                      <a:pt x="169" y="64"/>
                    </a:lnTo>
                    <a:lnTo>
                      <a:pt x="179" y="67"/>
                    </a:lnTo>
                    <a:lnTo>
                      <a:pt x="187" y="70"/>
                    </a:lnTo>
                    <a:lnTo>
                      <a:pt x="196" y="74"/>
                    </a:lnTo>
                    <a:lnTo>
                      <a:pt x="205" y="78"/>
                    </a:lnTo>
                    <a:lnTo>
                      <a:pt x="213" y="83"/>
                    </a:lnTo>
                    <a:lnTo>
                      <a:pt x="220" y="89"/>
                    </a:lnTo>
                    <a:lnTo>
                      <a:pt x="226" y="94"/>
                    </a:lnTo>
                    <a:lnTo>
                      <a:pt x="231" y="101"/>
                    </a:lnTo>
                    <a:lnTo>
                      <a:pt x="236" y="108"/>
                    </a:lnTo>
                    <a:lnTo>
                      <a:pt x="240" y="116"/>
                    </a:lnTo>
                    <a:lnTo>
                      <a:pt x="243" y="123"/>
                    </a:lnTo>
                    <a:lnTo>
                      <a:pt x="244" y="130"/>
                    </a:lnTo>
                    <a:lnTo>
                      <a:pt x="245" y="140"/>
                    </a:lnTo>
                    <a:lnTo>
                      <a:pt x="244" y="150"/>
                    </a:lnTo>
                    <a:lnTo>
                      <a:pt x="242" y="157"/>
                    </a:lnTo>
                    <a:lnTo>
                      <a:pt x="240" y="165"/>
                    </a:lnTo>
                    <a:lnTo>
                      <a:pt x="237" y="171"/>
                    </a:lnTo>
                    <a:lnTo>
                      <a:pt x="232" y="177"/>
                    </a:lnTo>
                    <a:lnTo>
                      <a:pt x="226" y="185"/>
                    </a:lnTo>
                    <a:lnTo>
                      <a:pt x="218" y="193"/>
                    </a:lnTo>
                    <a:lnTo>
                      <a:pt x="209" y="200"/>
                    </a:lnTo>
                    <a:lnTo>
                      <a:pt x="200" y="205"/>
                    </a:lnTo>
                    <a:lnTo>
                      <a:pt x="192" y="209"/>
                    </a:lnTo>
                    <a:lnTo>
                      <a:pt x="184" y="213"/>
                    </a:lnTo>
                    <a:lnTo>
                      <a:pt x="176" y="215"/>
                    </a:lnTo>
                    <a:lnTo>
                      <a:pt x="167" y="217"/>
                    </a:lnTo>
                    <a:lnTo>
                      <a:pt x="161" y="219"/>
                    </a:lnTo>
                    <a:lnTo>
                      <a:pt x="150" y="219"/>
                    </a:lnTo>
                    <a:lnTo>
                      <a:pt x="141" y="220"/>
                    </a:lnTo>
                    <a:lnTo>
                      <a:pt x="99" y="220"/>
                    </a:lnTo>
                    <a:lnTo>
                      <a:pt x="91" y="219"/>
                    </a:lnTo>
                    <a:lnTo>
                      <a:pt x="81" y="218"/>
                    </a:lnTo>
                    <a:lnTo>
                      <a:pt x="67" y="215"/>
                    </a:lnTo>
                    <a:lnTo>
                      <a:pt x="55" y="210"/>
                    </a:lnTo>
                    <a:lnTo>
                      <a:pt x="42" y="204"/>
                    </a:lnTo>
                    <a:lnTo>
                      <a:pt x="31" y="196"/>
                    </a:lnTo>
                    <a:lnTo>
                      <a:pt x="22" y="189"/>
                    </a:lnTo>
                    <a:lnTo>
                      <a:pt x="16" y="183"/>
                    </a:lnTo>
                    <a:lnTo>
                      <a:pt x="10" y="174"/>
                    </a:lnTo>
                    <a:lnTo>
                      <a:pt x="5" y="164"/>
                    </a:lnTo>
                    <a:lnTo>
                      <a:pt x="3" y="157"/>
                    </a:lnTo>
                    <a:lnTo>
                      <a:pt x="1" y="150"/>
                    </a:lnTo>
                    <a:lnTo>
                      <a:pt x="0" y="143"/>
                    </a:lnTo>
                    <a:lnTo>
                      <a:pt x="1" y="137"/>
                    </a:lnTo>
                    <a:lnTo>
                      <a:pt x="2" y="126"/>
                    </a:lnTo>
                    <a:lnTo>
                      <a:pt x="5" y="117"/>
                    </a:lnTo>
                    <a:lnTo>
                      <a:pt x="10" y="106"/>
                    </a:lnTo>
                    <a:lnTo>
                      <a:pt x="18" y="97"/>
                    </a:lnTo>
                    <a:lnTo>
                      <a:pt x="26" y="88"/>
                    </a:lnTo>
                    <a:lnTo>
                      <a:pt x="37" y="80"/>
                    </a:lnTo>
                    <a:lnTo>
                      <a:pt x="47" y="74"/>
                    </a:lnTo>
                    <a:lnTo>
                      <a:pt x="61" y="68"/>
                    </a:lnTo>
                    <a:lnTo>
                      <a:pt x="76" y="64"/>
                    </a:lnTo>
                    <a:lnTo>
                      <a:pt x="86" y="62"/>
                    </a:lnTo>
                    <a:lnTo>
                      <a:pt x="30" y="3"/>
                    </a:lnTo>
                  </a:path>
                </a:pathLst>
              </a:custGeom>
              <a:solidFill>
                <a:schemeClr val="bg2"/>
              </a:solidFill>
              <a:ln w="254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" name="Rectangle 159">
                <a:extLst>
                  <a:ext uri="{FF2B5EF4-FFF2-40B4-BE49-F238E27FC236}">
                    <a16:creationId xmlns:a16="http://schemas.microsoft.com/office/drawing/2014/main" id="{F9BE8618-5D76-4AEA-9AFB-BD0DE6B5D8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" y="2541"/>
                <a:ext cx="255" cy="289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pPr algn="ctr" eaLnBrk="0" hangingPunct="0"/>
                <a:r>
                  <a:rPr lang="en-US" b="1" dirty="0">
                    <a:solidFill>
                      <a:srgbClr val="C00000"/>
                    </a:solidFill>
                    <a:latin typeface="FranklinGothic" charset="0"/>
                  </a:rPr>
                  <a:t>D</a:t>
                </a:r>
              </a:p>
            </p:txBody>
          </p:sp>
        </p:grpSp>
        <p:grpSp>
          <p:nvGrpSpPr>
            <p:cNvPr id="16" name="Group 160">
              <a:extLst>
                <a:ext uri="{FF2B5EF4-FFF2-40B4-BE49-F238E27FC236}">
                  <a16:creationId xmlns:a16="http://schemas.microsoft.com/office/drawing/2014/main" id="{E3E2D635-0EF0-46E7-A150-3A150C68E53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8" y="1479"/>
              <a:ext cx="255" cy="310"/>
              <a:chOff x="438" y="1479"/>
              <a:chExt cx="255" cy="310"/>
            </a:xfrm>
          </p:grpSpPr>
          <p:sp>
            <p:nvSpPr>
              <p:cNvPr id="154" name="Freeform 161">
                <a:extLst>
                  <a:ext uri="{FF2B5EF4-FFF2-40B4-BE49-F238E27FC236}">
                    <a16:creationId xmlns:a16="http://schemas.microsoft.com/office/drawing/2014/main" id="{D0D90296-6C90-498D-A381-14A398E149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" y="1479"/>
                <a:ext cx="246" cy="221"/>
              </a:xfrm>
              <a:custGeom>
                <a:avLst/>
                <a:gdLst>
                  <a:gd name="T0" fmla="*/ 69 w 246"/>
                  <a:gd name="T1" fmla="*/ 10 h 221"/>
                  <a:gd name="T2" fmla="*/ 117 w 246"/>
                  <a:gd name="T3" fmla="*/ 12 h 221"/>
                  <a:gd name="T4" fmla="*/ 167 w 246"/>
                  <a:gd name="T5" fmla="*/ 0 h 221"/>
                  <a:gd name="T6" fmla="*/ 228 w 246"/>
                  <a:gd name="T7" fmla="*/ 0 h 221"/>
                  <a:gd name="T8" fmla="*/ 161 w 246"/>
                  <a:gd name="T9" fmla="*/ 63 h 221"/>
                  <a:gd name="T10" fmla="*/ 179 w 246"/>
                  <a:gd name="T11" fmla="*/ 67 h 221"/>
                  <a:gd name="T12" fmla="*/ 196 w 246"/>
                  <a:gd name="T13" fmla="*/ 74 h 221"/>
                  <a:gd name="T14" fmla="*/ 213 w 246"/>
                  <a:gd name="T15" fmla="*/ 83 h 221"/>
                  <a:gd name="T16" fmla="*/ 226 w 246"/>
                  <a:gd name="T17" fmla="*/ 94 h 221"/>
                  <a:gd name="T18" fmla="*/ 236 w 246"/>
                  <a:gd name="T19" fmla="*/ 108 h 221"/>
                  <a:gd name="T20" fmla="*/ 243 w 246"/>
                  <a:gd name="T21" fmla="*/ 123 h 221"/>
                  <a:gd name="T22" fmla="*/ 245 w 246"/>
                  <a:gd name="T23" fmla="*/ 140 h 221"/>
                  <a:gd name="T24" fmla="*/ 242 w 246"/>
                  <a:gd name="T25" fmla="*/ 157 h 221"/>
                  <a:gd name="T26" fmla="*/ 237 w 246"/>
                  <a:gd name="T27" fmla="*/ 171 h 221"/>
                  <a:gd name="T28" fmla="*/ 226 w 246"/>
                  <a:gd name="T29" fmla="*/ 185 h 221"/>
                  <a:gd name="T30" fmla="*/ 209 w 246"/>
                  <a:gd name="T31" fmla="*/ 200 h 221"/>
                  <a:gd name="T32" fmla="*/ 192 w 246"/>
                  <a:gd name="T33" fmla="*/ 209 h 221"/>
                  <a:gd name="T34" fmla="*/ 176 w 246"/>
                  <a:gd name="T35" fmla="*/ 215 h 221"/>
                  <a:gd name="T36" fmla="*/ 161 w 246"/>
                  <a:gd name="T37" fmla="*/ 219 h 221"/>
                  <a:gd name="T38" fmla="*/ 141 w 246"/>
                  <a:gd name="T39" fmla="*/ 220 h 221"/>
                  <a:gd name="T40" fmla="*/ 91 w 246"/>
                  <a:gd name="T41" fmla="*/ 219 h 221"/>
                  <a:gd name="T42" fmla="*/ 67 w 246"/>
                  <a:gd name="T43" fmla="*/ 215 h 221"/>
                  <a:gd name="T44" fmla="*/ 42 w 246"/>
                  <a:gd name="T45" fmla="*/ 204 h 221"/>
                  <a:gd name="T46" fmla="*/ 22 w 246"/>
                  <a:gd name="T47" fmla="*/ 189 h 221"/>
                  <a:gd name="T48" fmla="*/ 10 w 246"/>
                  <a:gd name="T49" fmla="*/ 174 h 221"/>
                  <a:gd name="T50" fmla="*/ 3 w 246"/>
                  <a:gd name="T51" fmla="*/ 157 h 221"/>
                  <a:gd name="T52" fmla="*/ 0 w 246"/>
                  <a:gd name="T53" fmla="*/ 143 h 221"/>
                  <a:gd name="T54" fmla="*/ 2 w 246"/>
                  <a:gd name="T55" fmla="*/ 126 h 221"/>
                  <a:gd name="T56" fmla="*/ 10 w 246"/>
                  <a:gd name="T57" fmla="*/ 106 h 221"/>
                  <a:gd name="T58" fmla="*/ 26 w 246"/>
                  <a:gd name="T59" fmla="*/ 88 h 221"/>
                  <a:gd name="T60" fmla="*/ 47 w 246"/>
                  <a:gd name="T61" fmla="*/ 74 h 221"/>
                  <a:gd name="T62" fmla="*/ 76 w 246"/>
                  <a:gd name="T63" fmla="*/ 64 h 221"/>
                  <a:gd name="T64" fmla="*/ 30 w 246"/>
                  <a:gd name="T65" fmla="*/ 3 h 221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46"/>
                  <a:gd name="T100" fmla="*/ 0 h 221"/>
                  <a:gd name="T101" fmla="*/ 246 w 246"/>
                  <a:gd name="T102" fmla="*/ 221 h 221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46" h="221">
                    <a:moveTo>
                      <a:pt x="30" y="3"/>
                    </a:moveTo>
                    <a:lnTo>
                      <a:pt x="69" y="10"/>
                    </a:lnTo>
                    <a:lnTo>
                      <a:pt x="69" y="0"/>
                    </a:lnTo>
                    <a:lnTo>
                      <a:pt x="117" y="12"/>
                    </a:lnTo>
                    <a:lnTo>
                      <a:pt x="117" y="0"/>
                    </a:lnTo>
                    <a:lnTo>
                      <a:pt x="167" y="0"/>
                    </a:lnTo>
                    <a:lnTo>
                      <a:pt x="167" y="11"/>
                    </a:lnTo>
                    <a:lnTo>
                      <a:pt x="228" y="0"/>
                    </a:lnTo>
                    <a:lnTo>
                      <a:pt x="153" y="62"/>
                    </a:lnTo>
                    <a:lnTo>
                      <a:pt x="161" y="63"/>
                    </a:lnTo>
                    <a:lnTo>
                      <a:pt x="169" y="64"/>
                    </a:lnTo>
                    <a:lnTo>
                      <a:pt x="179" y="67"/>
                    </a:lnTo>
                    <a:lnTo>
                      <a:pt x="187" y="70"/>
                    </a:lnTo>
                    <a:lnTo>
                      <a:pt x="196" y="74"/>
                    </a:lnTo>
                    <a:lnTo>
                      <a:pt x="205" y="78"/>
                    </a:lnTo>
                    <a:lnTo>
                      <a:pt x="213" y="83"/>
                    </a:lnTo>
                    <a:lnTo>
                      <a:pt x="220" y="89"/>
                    </a:lnTo>
                    <a:lnTo>
                      <a:pt x="226" y="94"/>
                    </a:lnTo>
                    <a:lnTo>
                      <a:pt x="231" y="101"/>
                    </a:lnTo>
                    <a:lnTo>
                      <a:pt x="236" y="108"/>
                    </a:lnTo>
                    <a:lnTo>
                      <a:pt x="240" y="116"/>
                    </a:lnTo>
                    <a:lnTo>
                      <a:pt x="243" y="123"/>
                    </a:lnTo>
                    <a:lnTo>
                      <a:pt x="244" y="130"/>
                    </a:lnTo>
                    <a:lnTo>
                      <a:pt x="245" y="140"/>
                    </a:lnTo>
                    <a:lnTo>
                      <a:pt x="244" y="150"/>
                    </a:lnTo>
                    <a:lnTo>
                      <a:pt x="242" y="157"/>
                    </a:lnTo>
                    <a:lnTo>
                      <a:pt x="240" y="165"/>
                    </a:lnTo>
                    <a:lnTo>
                      <a:pt x="237" y="171"/>
                    </a:lnTo>
                    <a:lnTo>
                      <a:pt x="232" y="177"/>
                    </a:lnTo>
                    <a:lnTo>
                      <a:pt x="226" y="185"/>
                    </a:lnTo>
                    <a:lnTo>
                      <a:pt x="218" y="193"/>
                    </a:lnTo>
                    <a:lnTo>
                      <a:pt x="209" y="200"/>
                    </a:lnTo>
                    <a:lnTo>
                      <a:pt x="200" y="205"/>
                    </a:lnTo>
                    <a:lnTo>
                      <a:pt x="192" y="209"/>
                    </a:lnTo>
                    <a:lnTo>
                      <a:pt x="184" y="213"/>
                    </a:lnTo>
                    <a:lnTo>
                      <a:pt x="176" y="215"/>
                    </a:lnTo>
                    <a:lnTo>
                      <a:pt x="167" y="217"/>
                    </a:lnTo>
                    <a:lnTo>
                      <a:pt x="161" y="219"/>
                    </a:lnTo>
                    <a:lnTo>
                      <a:pt x="150" y="219"/>
                    </a:lnTo>
                    <a:lnTo>
                      <a:pt x="141" y="220"/>
                    </a:lnTo>
                    <a:lnTo>
                      <a:pt x="99" y="220"/>
                    </a:lnTo>
                    <a:lnTo>
                      <a:pt x="91" y="219"/>
                    </a:lnTo>
                    <a:lnTo>
                      <a:pt x="81" y="218"/>
                    </a:lnTo>
                    <a:lnTo>
                      <a:pt x="67" y="215"/>
                    </a:lnTo>
                    <a:lnTo>
                      <a:pt x="55" y="210"/>
                    </a:lnTo>
                    <a:lnTo>
                      <a:pt x="42" y="204"/>
                    </a:lnTo>
                    <a:lnTo>
                      <a:pt x="31" y="196"/>
                    </a:lnTo>
                    <a:lnTo>
                      <a:pt x="22" y="189"/>
                    </a:lnTo>
                    <a:lnTo>
                      <a:pt x="16" y="183"/>
                    </a:lnTo>
                    <a:lnTo>
                      <a:pt x="10" y="174"/>
                    </a:lnTo>
                    <a:lnTo>
                      <a:pt x="5" y="164"/>
                    </a:lnTo>
                    <a:lnTo>
                      <a:pt x="3" y="157"/>
                    </a:lnTo>
                    <a:lnTo>
                      <a:pt x="1" y="150"/>
                    </a:lnTo>
                    <a:lnTo>
                      <a:pt x="0" y="143"/>
                    </a:lnTo>
                    <a:lnTo>
                      <a:pt x="1" y="137"/>
                    </a:lnTo>
                    <a:lnTo>
                      <a:pt x="2" y="126"/>
                    </a:lnTo>
                    <a:lnTo>
                      <a:pt x="5" y="117"/>
                    </a:lnTo>
                    <a:lnTo>
                      <a:pt x="10" y="106"/>
                    </a:lnTo>
                    <a:lnTo>
                      <a:pt x="18" y="97"/>
                    </a:lnTo>
                    <a:lnTo>
                      <a:pt x="26" y="88"/>
                    </a:lnTo>
                    <a:lnTo>
                      <a:pt x="37" y="80"/>
                    </a:lnTo>
                    <a:lnTo>
                      <a:pt x="47" y="74"/>
                    </a:lnTo>
                    <a:lnTo>
                      <a:pt x="61" y="68"/>
                    </a:lnTo>
                    <a:lnTo>
                      <a:pt x="76" y="64"/>
                    </a:lnTo>
                    <a:lnTo>
                      <a:pt x="86" y="62"/>
                    </a:lnTo>
                    <a:lnTo>
                      <a:pt x="30" y="3"/>
                    </a:lnTo>
                  </a:path>
                </a:pathLst>
              </a:custGeom>
              <a:solidFill>
                <a:schemeClr val="bg2"/>
              </a:solidFill>
              <a:ln w="254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" name="Rectangle 162">
                <a:extLst>
                  <a:ext uri="{FF2B5EF4-FFF2-40B4-BE49-F238E27FC236}">
                    <a16:creationId xmlns:a16="http://schemas.microsoft.com/office/drawing/2014/main" id="{D355E01F-4475-4C31-9339-EE4F2B012C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8" y="1500"/>
                <a:ext cx="255" cy="289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pPr algn="ctr" eaLnBrk="0" hangingPunct="0"/>
                <a:r>
                  <a:rPr lang="en-US" b="1" dirty="0">
                    <a:solidFill>
                      <a:srgbClr val="C00000"/>
                    </a:solidFill>
                    <a:latin typeface="FranklinGothic" charset="0"/>
                  </a:rPr>
                  <a:t>A</a:t>
                </a:r>
              </a:p>
            </p:txBody>
          </p:sp>
        </p:grpSp>
        <p:sp>
          <p:nvSpPr>
            <p:cNvPr id="17" name="Line 163">
              <a:extLst>
                <a:ext uri="{FF2B5EF4-FFF2-40B4-BE49-F238E27FC236}">
                  <a16:creationId xmlns:a16="http://schemas.microsoft.com/office/drawing/2014/main" id="{5727252D-5791-427B-B40C-29D1640D38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9" y="1371"/>
              <a:ext cx="3" cy="13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Rectangle 164">
              <a:extLst>
                <a:ext uri="{FF2B5EF4-FFF2-40B4-BE49-F238E27FC236}">
                  <a16:creationId xmlns:a16="http://schemas.microsoft.com/office/drawing/2014/main" id="{204BDDB4-E83D-48CD-B5AA-78FF933393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0" y="1309"/>
              <a:ext cx="519" cy="2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i="1">
                  <a:latin typeface="FranklinGothic" charset="0"/>
                </a:rPr>
                <a:t>Time</a:t>
              </a:r>
            </a:p>
          </p:txBody>
        </p:sp>
        <p:grpSp>
          <p:nvGrpSpPr>
            <p:cNvPr id="19" name="Group 298">
              <a:extLst>
                <a:ext uri="{FF2B5EF4-FFF2-40B4-BE49-F238E27FC236}">
                  <a16:creationId xmlns:a16="http://schemas.microsoft.com/office/drawing/2014/main" id="{9BD6B973-5A68-4131-BA46-D02AE6A715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01" y="1440"/>
              <a:ext cx="1088" cy="344"/>
              <a:chOff x="801" y="1440"/>
              <a:chExt cx="1088" cy="344"/>
            </a:xfrm>
          </p:grpSpPr>
          <p:grpSp>
            <p:nvGrpSpPr>
              <p:cNvPr id="136" name="Group 165">
                <a:extLst>
                  <a:ext uri="{FF2B5EF4-FFF2-40B4-BE49-F238E27FC236}">
                    <a16:creationId xmlns:a16="http://schemas.microsoft.com/office/drawing/2014/main" id="{1EB240D4-FCE5-465B-A161-98DCF23F49D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01" y="1458"/>
                <a:ext cx="218" cy="326"/>
                <a:chOff x="801" y="1458"/>
                <a:chExt cx="218" cy="326"/>
              </a:xfrm>
            </p:grpSpPr>
            <p:sp>
              <p:nvSpPr>
                <p:cNvPr id="151" name="AutoShape 166">
                  <a:extLst>
                    <a:ext uri="{FF2B5EF4-FFF2-40B4-BE49-F238E27FC236}">
                      <a16:creationId xmlns:a16="http://schemas.microsoft.com/office/drawing/2014/main" id="{C94FD030-B582-4F89-855A-62D1D27CCD9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1" y="1510"/>
                  <a:ext cx="218" cy="274"/>
                </a:xfrm>
                <a:prstGeom prst="cube">
                  <a:avLst>
                    <a:gd name="adj" fmla="val 24995"/>
                  </a:avLst>
                </a:prstGeom>
                <a:solidFill>
                  <a:srgbClr val="DC008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2" name="AutoShape 167">
                  <a:extLst>
                    <a:ext uri="{FF2B5EF4-FFF2-40B4-BE49-F238E27FC236}">
                      <a16:creationId xmlns:a16="http://schemas.microsoft.com/office/drawing/2014/main" id="{531D92A7-FBE4-40FB-A33A-91370DCF51E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54" y="1458"/>
                  <a:ext cx="165" cy="49"/>
                </a:xfrm>
                <a:prstGeom prst="cube">
                  <a:avLst>
                    <a:gd name="adj" fmla="val 24995"/>
                  </a:avLst>
                </a:prstGeom>
                <a:solidFill>
                  <a:srgbClr val="DC008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3" name="AutoShape 168">
                  <a:extLst>
                    <a:ext uri="{FF2B5EF4-FFF2-40B4-BE49-F238E27FC236}">
                      <a16:creationId xmlns:a16="http://schemas.microsoft.com/office/drawing/2014/main" id="{0C3975A1-4EDA-477A-9E1A-53B37D379E5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45" y="1532"/>
                  <a:ext cx="114" cy="18"/>
                </a:xfrm>
                <a:prstGeom prst="parallelogram">
                  <a:avLst>
                    <a:gd name="adj" fmla="val 158304"/>
                  </a:avLst>
                </a:prstGeom>
                <a:solidFill>
                  <a:srgbClr val="DC008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37" name="Group 169">
                <a:extLst>
                  <a:ext uri="{FF2B5EF4-FFF2-40B4-BE49-F238E27FC236}">
                    <a16:creationId xmlns:a16="http://schemas.microsoft.com/office/drawing/2014/main" id="{1859F563-CF05-4B92-A68F-843F3F7E60A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92" y="1488"/>
                <a:ext cx="213" cy="269"/>
                <a:chOff x="1345" y="1500"/>
                <a:chExt cx="213" cy="269"/>
              </a:xfrm>
            </p:grpSpPr>
            <p:sp>
              <p:nvSpPr>
                <p:cNvPr id="145" name="Freeform 170">
                  <a:extLst>
                    <a:ext uri="{FF2B5EF4-FFF2-40B4-BE49-F238E27FC236}">
                      <a16:creationId xmlns:a16="http://schemas.microsoft.com/office/drawing/2014/main" id="{84646D2B-350F-44BE-B922-F3C16E306CC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83" y="1625"/>
                  <a:ext cx="64" cy="144"/>
                </a:xfrm>
                <a:custGeom>
                  <a:avLst/>
                  <a:gdLst>
                    <a:gd name="T0" fmla="*/ 46 w 64"/>
                    <a:gd name="T1" fmla="*/ 0 h 144"/>
                    <a:gd name="T2" fmla="*/ 63 w 64"/>
                    <a:gd name="T3" fmla="*/ 0 h 144"/>
                    <a:gd name="T4" fmla="*/ 17 w 64"/>
                    <a:gd name="T5" fmla="*/ 143 h 144"/>
                    <a:gd name="T6" fmla="*/ 0 w 64"/>
                    <a:gd name="T7" fmla="*/ 143 h 144"/>
                    <a:gd name="T8" fmla="*/ 46 w 64"/>
                    <a:gd name="T9" fmla="*/ 0 h 14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4"/>
                    <a:gd name="T16" fmla="*/ 0 h 144"/>
                    <a:gd name="T17" fmla="*/ 64 w 64"/>
                    <a:gd name="T18" fmla="*/ 144 h 14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4" h="144">
                      <a:moveTo>
                        <a:pt x="46" y="0"/>
                      </a:moveTo>
                      <a:lnTo>
                        <a:pt x="63" y="0"/>
                      </a:lnTo>
                      <a:lnTo>
                        <a:pt x="17" y="143"/>
                      </a:lnTo>
                      <a:lnTo>
                        <a:pt x="0" y="143"/>
                      </a:lnTo>
                      <a:lnTo>
                        <a:pt x="46" y="0"/>
                      </a:lnTo>
                    </a:path>
                  </a:pathLst>
                </a:custGeom>
                <a:solidFill>
                  <a:srgbClr val="F39FD1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6" name="Rectangle 171">
                  <a:extLst>
                    <a:ext uri="{FF2B5EF4-FFF2-40B4-BE49-F238E27FC236}">
                      <a16:creationId xmlns:a16="http://schemas.microsoft.com/office/drawing/2014/main" id="{B7740166-80F7-4ECF-B4A6-006F0EC416D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8" y="1625"/>
                  <a:ext cx="80" cy="12"/>
                </a:xfrm>
                <a:prstGeom prst="rect">
                  <a:avLst/>
                </a:prstGeom>
                <a:solidFill>
                  <a:srgbClr val="F39FD1"/>
                </a:solidFill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7" name="Rectangle 172">
                  <a:extLst>
                    <a:ext uri="{FF2B5EF4-FFF2-40B4-BE49-F238E27FC236}">
                      <a16:creationId xmlns:a16="http://schemas.microsoft.com/office/drawing/2014/main" id="{0D953BC6-A273-4B2A-B8B6-031133D63C1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86" y="1683"/>
                  <a:ext cx="60" cy="14"/>
                </a:xfrm>
                <a:prstGeom prst="rect">
                  <a:avLst/>
                </a:prstGeom>
                <a:solidFill>
                  <a:srgbClr val="F39FD1"/>
                </a:solidFill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8" name="Rectangle 173">
                  <a:extLst>
                    <a:ext uri="{FF2B5EF4-FFF2-40B4-BE49-F238E27FC236}">
                      <a16:creationId xmlns:a16="http://schemas.microsoft.com/office/drawing/2014/main" id="{B22CDCF7-6EEE-445A-B53F-53CA90AA52A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47" y="1683"/>
                  <a:ext cx="79" cy="10"/>
                </a:xfrm>
                <a:prstGeom prst="rect">
                  <a:avLst/>
                </a:prstGeom>
                <a:solidFill>
                  <a:srgbClr val="F39FD1"/>
                </a:solidFill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9" name="Oval 174">
                  <a:extLst>
                    <a:ext uri="{FF2B5EF4-FFF2-40B4-BE49-F238E27FC236}">
                      <a16:creationId xmlns:a16="http://schemas.microsoft.com/office/drawing/2014/main" id="{630023A1-4E4A-4D20-88B9-AA0F2F461B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09" y="1500"/>
                  <a:ext cx="24" cy="27"/>
                </a:xfrm>
                <a:prstGeom prst="ellipse">
                  <a:avLst/>
                </a:prstGeom>
                <a:solidFill>
                  <a:srgbClr val="F39FD1"/>
                </a:solidFill>
                <a:ln w="254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0" name="Freeform 175">
                  <a:extLst>
                    <a:ext uri="{FF2B5EF4-FFF2-40B4-BE49-F238E27FC236}">
                      <a16:creationId xmlns:a16="http://schemas.microsoft.com/office/drawing/2014/main" id="{2DF704CD-96AD-4DE9-A938-55585D645FF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345" y="1547"/>
                  <a:ext cx="146" cy="222"/>
                </a:xfrm>
                <a:custGeom>
                  <a:avLst/>
                  <a:gdLst>
                    <a:gd name="T0" fmla="*/ 1 w 146"/>
                    <a:gd name="T1" fmla="*/ 102 h 222"/>
                    <a:gd name="T2" fmla="*/ 1 w 146"/>
                    <a:gd name="T3" fmla="*/ 105 h 222"/>
                    <a:gd name="T4" fmla="*/ 0 w 146"/>
                    <a:gd name="T5" fmla="*/ 109 h 222"/>
                    <a:gd name="T6" fmla="*/ 0 w 146"/>
                    <a:gd name="T7" fmla="*/ 112 h 222"/>
                    <a:gd name="T8" fmla="*/ 1 w 146"/>
                    <a:gd name="T9" fmla="*/ 116 h 222"/>
                    <a:gd name="T10" fmla="*/ 3 w 146"/>
                    <a:gd name="T11" fmla="*/ 119 h 222"/>
                    <a:gd name="T12" fmla="*/ 6 w 146"/>
                    <a:gd name="T13" fmla="*/ 122 h 222"/>
                    <a:gd name="T14" fmla="*/ 9 w 146"/>
                    <a:gd name="T15" fmla="*/ 124 h 222"/>
                    <a:gd name="T16" fmla="*/ 12 w 146"/>
                    <a:gd name="T17" fmla="*/ 125 h 222"/>
                    <a:gd name="T18" fmla="*/ 16 w 146"/>
                    <a:gd name="T19" fmla="*/ 125 h 222"/>
                    <a:gd name="T20" fmla="*/ 95 w 146"/>
                    <a:gd name="T21" fmla="*/ 221 h 222"/>
                    <a:gd name="T22" fmla="*/ 120 w 146"/>
                    <a:gd name="T23" fmla="*/ 106 h 222"/>
                    <a:gd name="T24" fmla="*/ 119 w 146"/>
                    <a:gd name="T25" fmla="*/ 104 h 222"/>
                    <a:gd name="T26" fmla="*/ 118 w 146"/>
                    <a:gd name="T27" fmla="*/ 102 h 222"/>
                    <a:gd name="T28" fmla="*/ 116 w 146"/>
                    <a:gd name="T29" fmla="*/ 100 h 222"/>
                    <a:gd name="T30" fmla="*/ 114 w 146"/>
                    <a:gd name="T31" fmla="*/ 98 h 222"/>
                    <a:gd name="T32" fmla="*/ 111 w 146"/>
                    <a:gd name="T33" fmla="*/ 97 h 222"/>
                    <a:gd name="T34" fmla="*/ 108 w 146"/>
                    <a:gd name="T35" fmla="*/ 96 h 222"/>
                    <a:gd name="T36" fmla="*/ 106 w 146"/>
                    <a:gd name="T37" fmla="*/ 96 h 222"/>
                    <a:gd name="T38" fmla="*/ 103 w 146"/>
                    <a:gd name="T39" fmla="*/ 96 h 222"/>
                    <a:gd name="T40" fmla="*/ 70 w 146"/>
                    <a:gd name="T41" fmla="*/ 56 h 222"/>
                    <a:gd name="T42" fmla="*/ 135 w 146"/>
                    <a:gd name="T43" fmla="*/ 70 h 222"/>
                    <a:gd name="T44" fmla="*/ 137 w 146"/>
                    <a:gd name="T45" fmla="*/ 69 h 222"/>
                    <a:gd name="T46" fmla="*/ 139 w 146"/>
                    <a:gd name="T47" fmla="*/ 68 h 222"/>
                    <a:gd name="T48" fmla="*/ 142 w 146"/>
                    <a:gd name="T49" fmla="*/ 66 h 222"/>
                    <a:gd name="T50" fmla="*/ 144 w 146"/>
                    <a:gd name="T51" fmla="*/ 65 h 222"/>
                    <a:gd name="T52" fmla="*/ 144 w 146"/>
                    <a:gd name="T53" fmla="*/ 62 h 222"/>
                    <a:gd name="T54" fmla="*/ 145 w 146"/>
                    <a:gd name="T55" fmla="*/ 59 h 222"/>
                    <a:gd name="T56" fmla="*/ 144 w 146"/>
                    <a:gd name="T57" fmla="*/ 55 h 222"/>
                    <a:gd name="T58" fmla="*/ 143 w 146"/>
                    <a:gd name="T59" fmla="*/ 53 h 222"/>
                    <a:gd name="T60" fmla="*/ 141 w 146"/>
                    <a:gd name="T61" fmla="*/ 51 h 222"/>
                    <a:gd name="T62" fmla="*/ 139 w 146"/>
                    <a:gd name="T63" fmla="*/ 49 h 222"/>
                    <a:gd name="T64" fmla="*/ 136 w 146"/>
                    <a:gd name="T65" fmla="*/ 48 h 222"/>
                    <a:gd name="T66" fmla="*/ 92 w 146"/>
                    <a:gd name="T67" fmla="*/ 48 h 222"/>
                    <a:gd name="T68" fmla="*/ 84 w 146"/>
                    <a:gd name="T69" fmla="*/ 31 h 222"/>
                    <a:gd name="T70" fmla="*/ 85 w 146"/>
                    <a:gd name="T71" fmla="*/ 27 h 222"/>
                    <a:gd name="T72" fmla="*/ 85 w 146"/>
                    <a:gd name="T73" fmla="*/ 23 h 222"/>
                    <a:gd name="T74" fmla="*/ 85 w 146"/>
                    <a:gd name="T75" fmla="*/ 18 h 222"/>
                    <a:gd name="T76" fmla="*/ 84 w 146"/>
                    <a:gd name="T77" fmla="*/ 14 h 222"/>
                    <a:gd name="T78" fmla="*/ 83 w 146"/>
                    <a:gd name="T79" fmla="*/ 11 h 222"/>
                    <a:gd name="T80" fmla="*/ 80 w 146"/>
                    <a:gd name="T81" fmla="*/ 8 h 222"/>
                    <a:gd name="T82" fmla="*/ 77 w 146"/>
                    <a:gd name="T83" fmla="*/ 5 h 222"/>
                    <a:gd name="T84" fmla="*/ 74 w 146"/>
                    <a:gd name="T85" fmla="*/ 3 h 222"/>
                    <a:gd name="T86" fmla="*/ 70 w 146"/>
                    <a:gd name="T87" fmla="*/ 1 h 222"/>
                    <a:gd name="T88" fmla="*/ 65 w 146"/>
                    <a:gd name="T89" fmla="*/ 0 h 222"/>
                    <a:gd name="T90" fmla="*/ 61 w 146"/>
                    <a:gd name="T91" fmla="*/ 0 h 222"/>
                    <a:gd name="T92" fmla="*/ 56 w 146"/>
                    <a:gd name="T93" fmla="*/ 1 h 222"/>
                    <a:gd name="T94" fmla="*/ 52 w 146"/>
                    <a:gd name="T95" fmla="*/ 2 h 222"/>
                    <a:gd name="T96" fmla="*/ 47 w 146"/>
                    <a:gd name="T97" fmla="*/ 5 h 222"/>
                    <a:gd name="T98" fmla="*/ 44 w 146"/>
                    <a:gd name="T99" fmla="*/ 8 h 222"/>
                    <a:gd name="T100" fmla="*/ 41 w 146"/>
                    <a:gd name="T101" fmla="*/ 12 h 222"/>
                    <a:gd name="T102" fmla="*/ 39 w 146"/>
                    <a:gd name="T103" fmla="*/ 17 h 222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w 146"/>
                    <a:gd name="T157" fmla="*/ 0 h 222"/>
                    <a:gd name="T158" fmla="*/ 146 w 146"/>
                    <a:gd name="T159" fmla="*/ 222 h 222"/>
                  </a:gdLst>
                  <a:ahLst/>
                  <a:cxnLst>
                    <a:cxn ang="T104">
                      <a:pos x="T0" y="T1"/>
                    </a:cxn>
                    <a:cxn ang="T105">
                      <a:pos x="T2" y="T3"/>
                    </a:cxn>
                    <a:cxn ang="T106">
                      <a:pos x="T4" y="T5"/>
                    </a:cxn>
                    <a:cxn ang="T107">
                      <a:pos x="T6" y="T7"/>
                    </a:cxn>
                    <a:cxn ang="T108">
                      <a:pos x="T8" y="T9"/>
                    </a:cxn>
                    <a:cxn ang="T109">
                      <a:pos x="T10" y="T11"/>
                    </a:cxn>
                    <a:cxn ang="T110">
                      <a:pos x="T12" y="T13"/>
                    </a:cxn>
                    <a:cxn ang="T111">
                      <a:pos x="T14" y="T15"/>
                    </a:cxn>
                    <a:cxn ang="T112">
                      <a:pos x="T16" y="T17"/>
                    </a:cxn>
                    <a:cxn ang="T113">
                      <a:pos x="T18" y="T19"/>
                    </a:cxn>
                    <a:cxn ang="T114">
                      <a:pos x="T20" y="T21"/>
                    </a:cxn>
                    <a:cxn ang="T115">
                      <a:pos x="T22" y="T23"/>
                    </a:cxn>
                    <a:cxn ang="T116">
                      <a:pos x="T24" y="T25"/>
                    </a:cxn>
                    <a:cxn ang="T117">
                      <a:pos x="T26" y="T27"/>
                    </a:cxn>
                    <a:cxn ang="T118">
                      <a:pos x="T28" y="T29"/>
                    </a:cxn>
                    <a:cxn ang="T119">
                      <a:pos x="T30" y="T31"/>
                    </a:cxn>
                    <a:cxn ang="T120">
                      <a:pos x="T32" y="T33"/>
                    </a:cxn>
                    <a:cxn ang="T121">
                      <a:pos x="T34" y="T35"/>
                    </a:cxn>
                    <a:cxn ang="T122">
                      <a:pos x="T36" y="T37"/>
                    </a:cxn>
                    <a:cxn ang="T123">
                      <a:pos x="T38" y="T39"/>
                    </a:cxn>
                    <a:cxn ang="T124">
                      <a:pos x="T40" y="T41"/>
                    </a:cxn>
                    <a:cxn ang="T125">
                      <a:pos x="T42" y="T43"/>
                    </a:cxn>
                    <a:cxn ang="T126">
                      <a:pos x="T44" y="T45"/>
                    </a:cxn>
                    <a:cxn ang="T127">
                      <a:pos x="T46" y="T47"/>
                    </a:cxn>
                    <a:cxn ang="T128">
                      <a:pos x="T48" y="T49"/>
                    </a:cxn>
                    <a:cxn ang="T129">
                      <a:pos x="T50" y="T51"/>
                    </a:cxn>
                    <a:cxn ang="T130">
                      <a:pos x="T52" y="T53"/>
                    </a:cxn>
                    <a:cxn ang="T131">
                      <a:pos x="T54" y="T55"/>
                    </a:cxn>
                    <a:cxn ang="T132">
                      <a:pos x="T56" y="T57"/>
                    </a:cxn>
                    <a:cxn ang="T133">
                      <a:pos x="T58" y="T59"/>
                    </a:cxn>
                    <a:cxn ang="T134">
                      <a:pos x="T60" y="T61"/>
                    </a:cxn>
                    <a:cxn ang="T135">
                      <a:pos x="T62" y="T63"/>
                    </a:cxn>
                    <a:cxn ang="T136">
                      <a:pos x="T64" y="T65"/>
                    </a:cxn>
                    <a:cxn ang="T137">
                      <a:pos x="T66" y="T67"/>
                    </a:cxn>
                    <a:cxn ang="T138">
                      <a:pos x="T68" y="T69"/>
                    </a:cxn>
                    <a:cxn ang="T139">
                      <a:pos x="T70" y="T71"/>
                    </a:cxn>
                    <a:cxn ang="T140">
                      <a:pos x="T72" y="T73"/>
                    </a:cxn>
                    <a:cxn ang="T141">
                      <a:pos x="T74" y="T75"/>
                    </a:cxn>
                    <a:cxn ang="T142">
                      <a:pos x="T76" y="T77"/>
                    </a:cxn>
                    <a:cxn ang="T143">
                      <a:pos x="T78" y="T79"/>
                    </a:cxn>
                    <a:cxn ang="T144">
                      <a:pos x="T80" y="T81"/>
                    </a:cxn>
                    <a:cxn ang="T145">
                      <a:pos x="T82" y="T83"/>
                    </a:cxn>
                    <a:cxn ang="T146">
                      <a:pos x="T84" y="T85"/>
                    </a:cxn>
                    <a:cxn ang="T147">
                      <a:pos x="T86" y="T87"/>
                    </a:cxn>
                    <a:cxn ang="T148">
                      <a:pos x="T88" y="T89"/>
                    </a:cxn>
                    <a:cxn ang="T149">
                      <a:pos x="T90" y="T91"/>
                    </a:cxn>
                    <a:cxn ang="T150">
                      <a:pos x="T92" y="T93"/>
                    </a:cxn>
                    <a:cxn ang="T151">
                      <a:pos x="T94" y="T95"/>
                    </a:cxn>
                    <a:cxn ang="T152">
                      <a:pos x="T96" y="T97"/>
                    </a:cxn>
                    <a:cxn ang="T153">
                      <a:pos x="T98" y="T99"/>
                    </a:cxn>
                    <a:cxn ang="T154">
                      <a:pos x="T100" y="T101"/>
                    </a:cxn>
                    <a:cxn ang="T155">
                      <a:pos x="T102" y="T103"/>
                    </a:cxn>
                  </a:cxnLst>
                  <a:rect l="T156" t="T157" r="T158" b="T159"/>
                  <a:pathLst>
                    <a:path w="146" h="222">
                      <a:moveTo>
                        <a:pt x="39" y="17"/>
                      </a:moveTo>
                      <a:lnTo>
                        <a:pt x="1" y="102"/>
                      </a:lnTo>
                      <a:lnTo>
                        <a:pt x="1" y="104"/>
                      </a:lnTo>
                      <a:lnTo>
                        <a:pt x="1" y="105"/>
                      </a:lnTo>
                      <a:lnTo>
                        <a:pt x="0" y="106"/>
                      </a:lnTo>
                      <a:lnTo>
                        <a:pt x="0" y="109"/>
                      </a:lnTo>
                      <a:lnTo>
                        <a:pt x="0" y="110"/>
                      </a:lnTo>
                      <a:lnTo>
                        <a:pt x="0" y="112"/>
                      </a:lnTo>
                      <a:lnTo>
                        <a:pt x="1" y="114"/>
                      </a:lnTo>
                      <a:lnTo>
                        <a:pt x="1" y="116"/>
                      </a:lnTo>
                      <a:lnTo>
                        <a:pt x="2" y="117"/>
                      </a:lnTo>
                      <a:lnTo>
                        <a:pt x="3" y="119"/>
                      </a:lnTo>
                      <a:lnTo>
                        <a:pt x="5" y="121"/>
                      </a:lnTo>
                      <a:lnTo>
                        <a:pt x="6" y="122"/>
                      </a:lnTo>
                      <a:lnTo>
                        <a:pt x="8" y="123"/>
                      </a:lnTo>
                      <a:lnTo>
                        <a:pt x="9" y="124"/>
                      </a:lnTo>
                      <a:lnTo>
                        <a:pt x="10" y="124"/>
                      </a:lnTo>
                      <a:lnTo>
                        <a:pt x="12" y="125"/>
                      </a:lnTo>
                      <a:lnTo>
                        <a:pt x="14" y="125"/>
                      </a:lnTo>
                      <a:lnTo>
                        <a:pt x="16" y="125"/>
                      </a:lnTo>
                      <a:lnTo>
                        <a:pt x="95" y="125"/>
                      </a:lnTo>
                      <a:lnTo>
                        <a:pt x="95" y="221"/>
                      </a:lnTo>
                      <a:lnTo>
                        <a:pt x="120" y="221"/>
                      </a:lnTo>
                      <a:lnTo>
                        <a:pt x="120" y="106"/>
                      </a:lnTo>
                      <a:lnTo>
                        <a:pt x="120" y="105"/>
                      </a:lnTo>
                      <a:lnTo>
                        <a:pt x="119" y="104"/>
                      </a:lnTo>
                      <a:lnTo>
                        <a:pt x="118" y="102"/>
                      </a:lnTo>
                      <a:lnTo>
                        <a:pt x="117" y="101"/>
                      </a:lnTo>
                      <a:lnTo>
                        <a:pt x="116" y="100"/>
                      </a:lnTo>
                      <a:lnTo>
                        <a:pt x="115" y="99"/>
                      </a:lnTo>
                      <a:lnTo>
                        <a:pt x="114" y="98"/>
                      </a:lnTo>
                      <a:lnTo>
                        <a:pt x="113" y="98"/>
                      </a:lnTo>
                      <a:lnTo>
                        <a:pt x="111" y="97"/>
                      </a:lnTo>
                      <a:lnTo>
                        <a:pt x="110" y="97"/>
                      </a:lnTo>
                      <a:lnTo>
                        <a:pt x="108" y="96"/>
                      </a:lnTo>
                      <a:lnTo>
                        <a:pt x="107" y="96"/>
                      </a:lnTo>
                      <a:lnTo>
                        <a:pt x="106" y="96"/>
                      </a:lnTo>
                      <a:lnTo>
                        <a:pt x="104" y="96"/>
                      </a:lnTo>
                      <a:lnTo>
                        <a:pt x="103" y="96"/>
                      </a:lnTo>
                      <a:lnTo>
                        <a:pt x="57" y="94"/>
                      </a:lnTo>
                      <a:lnTo>
                        <a:pt x="70" y="56"/>
                      </a:lnTo>
                      <a:lnTo>
                        <a:pt x="79" y="70"/>
                      </a:lnTo>
                      <a:lnTo>
                        <a:pt x="135" y="70"/>
                      </a:lnTo>
                      <a:lnTo>
                        <a:pt x="136" y="69"/>
                      </a:lnTo>
                      <a:lnTo>
                        <a:pt x="137" y="69"/>
                      </a:lnTo>
                      <a:lnTo>
                        <a:pt x="139" y="68"/>
                      </a:lnTo>
                      <a:lnTo>
                        <a:pt x="140" y="67"/>
                      </a:lnTo>
                      <a:lnTo>
                        <a:pt x="142" y="66"/>
                      </a:lnTo>
                      <a:lnTo>
                        <a:pt x="142" y="65"/>
                      </a:lnTo>
                      <a:lnTo>
                        <a:pt x="144" y="65"/>
                      </a:lnTo>
                      <a:lnTo>
                        <a:pt x="144" y="63"/>
                      </a:lnTo>
                      <a:lnTo>
                        <a:pt x="144" y="62"/>
                      </a:lnTo>
                      <a:lnTo>
                        <a:pt x="145" y="61"/>
                      </a:lnTo>
                      <a:lnTo>
                        <a:pt x="145" y="59"/>
                      </a:lnTo>
                      <a:lnTo>
                        <a:pt x="145" y="57"/>
                      </a:lnTo>
                      <a:lnTo>
                        <a:pt x="144" y="55"/>
                      </a:lnTo>
                      <a:lnTo>
                        <a:pt x="144" y="54"/>
                      </a:lnTo>
                      <a:lnTo>
                        <a:pt x="143" y="53"/>
                      </a:lnTo>
                      <a:lnTo>
                        <a:pt x="142" y="52"/>
                      </a:lnTo>
                      <a:lnTo>
                        <a:pt x="141" y="51"/>
                      </a:lnTo>
                      <a:lnTo>
                        <a:pt x="140" y="50"/>
                      </a:lnTo>
                      <a:lnTo>
                        <a:pt x="139" y="49"/>
                      </a:lnTo>
                      <a:lnTo>
                        <a:pt x="138" y="48"/>
                      </a:lnTo>
                      <a:lnTo>
                        <a:pt x="136" y="48"/>
                      </a:lnTo>
                      <a:lnTo>
                        <a:pt x="135" y="48"/>
                      </a:lnTo>
                      <a:lnTo>
                        <a:pt x="92" y="48"/>
                      </a:lnTo>
                      <a:lnTo>
                        <a:pt x="83" y="33"/>
                      </a:lnTo>
                      <a:lnTo>
                        <a:pt x="84" y="31"/>
                      </a:lnTo>
                      <a:lnTo>
                        <a:pt x="85" y="29"/>
                      </a:lnTo>
                      <a:lnTo>
                        <a:pt x="85" y="27"/>
                      </a:lnTo>
                      <a:lnTo>
                        <a:pt x="85" y="25"/>
                      </a:lnTo>
                      <a:lnTo>
                        <a:pt x="85" y="23"/>
                      </a:lnTo>
                      <a:lnTo>
                        <a:pt x="85" y="21"/>
                      </a:lnTo>
                      <a:lnTo>
                        <a:pt x="85" y="18"/>
                      </a:lnTo>
                      <a:lnTo>
                        <a:pt x="85" y="16"/>
                      </a:lnTo>
                      <a:lnTo>
                        <a:pt x="84" y="14"/>
                      </a:lnTo>
                      <a:lnTo>
                        <a:pt x="84" y="13"/>
                      </a:lnTo>
                      <a:lnTo>
                        <a:pt x="83" y="11"/>
                      </a:lnTo>
                      <a:lnTo>
                        <a:pt x="82" y="10"/>
                      </a:lnTo>
                      <a:lnTo>
                        <a:pt x="80" y="8"/>
                      </a:lnTo>
                      <a:lnTo>
                        <a:pt x="79" y="7"/>
                      </a:lnTo>
                      <a:lnTo>
                        <a:pt x="77" y="5"/>
                      </a:lnTo>
                      <a:lnTo>
                        <a:pt x="76" y="4"/>
                      </a:lnTo>
                      <a:lnTo>
                        <a:pt x="74" y="3"/>
                      </a:lnTo>
                      <a:lnTo>
                        <a:pt x="72" y="2"/>
                      </a:lnTo>
                      <a:lnTo>
                        <a:pt x="70" y="1"/>
                      </a:lnTo>
                      <a:lnTo>
                        <a:pt x="67" y="1"/>
                      </a:lnTo>
                      <a:lnTo>
                        <a:pt x="65" y="0"/>
                      </a:lnTo>
                      <a:lnTo>
                        <a:pt x="63" y="0"/>
                      </a:lnTo>
                      <a:lnTo>
                        <a:pt x="61" y="0"/>
                      </a:lnTo>
                      <a:lnTo>
                        <a:pt x="59" y="0"/>
                      </a:lnTo>
                      <a:lnTo>
                        <a:pt x="56" y="1"/>
                      </a:lnTo>
                      <a:lnTo>
                        <a:pt x="54" y="1"/>
                      </a:lnTo>
                      <a:lnTo>
                        <a:pt x="52" y="2"/>
                      </a:lnTo>
                      <a:lnTo>
                        <a:pt x="50" y="3"/>
                      </a:lnTo>
                      <a:lnTo>
                        <a:pt x="47" y="5"/>
                      </a:lnTo>
                      <a:lnTo>
                        <a:pt x="46" y="7"/>
                      </a:lnTo>
                      <a:lnTo>
                        <a:pt x="44" y="8"/>
                      </a:lnTo>
                      <a:lnTo>
                        <a:pt x="43" y="10"/>
                      </a:lnTo>
                      <a:lnTo>
                        <a:pt x="41" y="12"/>
                      </a:lnTo>
                      <a:lnTo>
                        <a:pt x="40" y="14"/>
                      </a:lnTo>
                      <a:lnTo>
                        <a:pt x="39" y="17"/>
                      </a:lnTo>
                    </a:path>
                  </a:pathLst>
                </a:custGeom>
                <a:solidFill>
                  <a:srgbClr val="F39FD1"/>
                </a:solidFill>
                <a:ln w="1270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38" name="Freeform 176">
                <a:extLst>
                  <a:ext uri="{FF2B5EF4-FFF2-40B4-BE49-F238E27FC236}">
                    <a16:creationId xmlns:a16="http://schemas.microsoft.com/office/drawing/2014/main" id="{A2815C85-2ED1-441E-84BC-89F84E5EDA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80" y="1440"/>
                <a:ext cx="209" cy="306"/>
              </a:xfrm>
              <a:custGeom>
                <a:avLst/>
                <a:gdLst>
                  <a:gd name="T0" fmla="*/ 208 w 209"/>
                  <a:gd name="T1" fmla="*/ 276 h 306"/>
                  <a:gd name="T2" fmla="*/ 192 w 209"/>
                  <a:gd name="T3" fmla="*/ 276 h 306"/>
                  <a:gd name="T4" fmla="*/ 165 w 209"/>
                  <a:gd name="T5" fmla="*/ 241 h 306"/>
                  <a:gd name="T6" fmla="*/ 127 w 209"/>
                  <a:gd name="T7" fmla="*/ 177 h 306"/>
                  <a:gd name="T8" fmla="*/ 116 w 209"/>
                  <a:gd name="T9" fmla="*/ 149 h 306"/>
                  <a:gd name="T10" fmla="*/ 119 w 209"/>
                  <a:gd name="T11" fmla="*/ 129 h 306"/>
                  <a:gd name="T12" fmla="*/ 128 w 209"/>
                  <a:gd name="T13" fmla="*/ 125 h 306"/>
                  <a:gd name="T14" fmla="*/ 143 w 209"/>
                  <a:gd name="T15" fmla="*/ 135 h 306"/>
                  <a:gd name="T16" fmla="*/ 162 w 209"/>
                  <a:gd name="T17" fmla="*/ 147 h 306"/>
                  <a:gd name="T18" fmla="*/ 171 w 209"/>
                  <a:gd name="T19" fmla="*/ 147 h 306"/>
                  <a:gd name="T20" fmla="*/ 173 w 209"/>
                  <a:gd name="T21" fmla="*/ 141 h 306"/>
                  <a:gd name="T22" fmla="*/ 164 w 209"/>
                  <a:gd name="T23" fmla="*/ 129 h 306"/>
                  <a:gd name="T24" fmla="*/ 141 w 209"/>
                  <a:gd name="T25" fmla="*/ 113 h 306"/>
                  <a:gd name="T26" fmla="*/ 132 w 209"/>
                  <a:gd name="T27" fmla="*/ 91 h 306"/>
                  <a:gd name="T28" fmla="*/ 128 w 209"/>
                  <a:gd name="T29" fmla="*/ 72 h 306"/>
                  <a:gd name="T30" fmla="*/ 118 w 209"/>
                  <a:gd name="T31" fmla="*/ 59 h 306"/>
                  <a:gd name="T32" fmla="*/ 114 w 209"/>
                  <a:gd name="T33" fmla="*/ 50 h 306"/>
                  <a:gd name="T34" fmla="*/ 119 w 209"/>
                  <a:gd name="T35" fmla="*/ 38 h 306"/>
                  <a:gd name="T36" fmla="*/ 124 w 209"/>
                  <a:gd name="T37" fmla="*/ 25 h 306"/>
                  <a:gd name="T38" fmla="*/ 120 w 209"/>
                  <a:gd name="T39" fmla="*/ 9 h 306"/>
                  <a:gd name="T40" fmla="*/ 110 w 209"/>
                  <a:gd name="T41" fmla="*/ 1 h 306"/>
                  <a:gd name="T42" fmla="*/ 94 w 209"/>
                  <a:gd name="T43" fmla="*/ 3 h 306"/>
                  <a:gd name="T44" fmla="*/ 88 w 209"/>
                  <a:gd name="T45" fmla="*/ 13 h 306"/>
                  <a:gd name="T46" fmla="*/ 88 w 209"/>
                  <a:gd name="T47" fmla="*/ 24 h 306"/>
                  <a:gd name="T48" fmla="*/ 92 w 209"/>
                  <a:gd name="T49" fmla="*/ 37 h 306"/>
                  <a:gd name="T50" fmla="*/ 92 w 209"/>
                  <a:gd name="T51" fmla="*/ 49 h 306"/>
                  <a:gd name="T52" fmla="*/ 81 w 209"/>
                  <a:gd name="T53" fmla="*/ 59 h 306"/>
                  <a:gd name="T54" fmla="*/ 68 w 209"/>
                  <a:gd name="T55" fmla="*/ 67 h 306"/>
                  <a:gd name="T56" fmla="*/ 58 w 209"/>
                  <a:gd name="T57" fmla="*/ 79 h 306"/>
                  <a:gd name="T58" fmla="*/ 48 w 209"/>
                  <a:gd name="T59" fmla="*/ 104 h 306"/>
                  <a:gd name="T60" fmla="*/ 43 w 209"/>
                  <a:gd name="T61" fmla="*/ 128 h 306"/>
                  <a:gd name="T62" fmla="*/ 42 w 209"/>
                  <a:gd name="T63" fmla="*/ 153 h 306"/>
                  <a:gd name="T64" fmla="*/ 43 w 209"/>
                  <a:gd name="T65" fmla="*/ 166 h 306"/>
                  <a:gd name="T66" fmla="*/ 51 w 209"/>
                  <a:gd name="T67" fmla="*/ 170 h 306"/>
                  <a:gd name="T68" fmla="*/ 55 w 209"/>
                  <a:gd name="T69" fmla="*/ 166 h 306"/>
                  <a:gd name="T70" fmla="*/ 55 w 209"/>
                  <a:gd name="T71" fmla="*/ 139 h 306"/>
                  <a:gd name="T72" fmla="*/ 58 w 209"/>
                  <a:gd name="T73" fmla="*/ 122 h 306"/>
                  <a:gd name="T74" fmla="*/ 67 w 209"/>
                  <a:gd name="T75" fmla="*/ 114 h 306"/>
                  <a:gd name="T76" fmla="*/ 73 w 209"/>
                  <a:gd name="T77" fmla="*/ 120 h 306"/>
                  <a:gd name="T78" fmla="*/ 71 w 209"/>
                  <a:gd name="T79" fmla="*/ 147 h 306"/>
                  <a:gd name="T80" fmla="*/ 64 w 209"/>
                  <a:gd name="T81" fmla="*/ 175 h 306"/>
                  <a:gd name="T82" fmla="*/ 55 w 209"/>
                  <a:gd name="T83" fmla="*/ 206 h 306"/>
                  <a:gd name="T84" fmla="*/ 34 w 209"/>
                  <a:gd name="T85" fmla="*/ 237 h 306"/>
                  <a:gd name="T86" fmla="*/ 8 w 209"/>
                  <a:gd name="T87" fmla="*/ 268 h 306"/>
                  <a:gd name="T88" fmla="*/ 0 w 209"/>
                  <a:gd name="T89" fmla="*/ 285 h 306"/>
                  <a:gd name="T90" fmla="*/ 20 w 209"/>
                  <a:gd name="T91" fmla="*/ 305 h 306"/>
                  <a:gd name="T92" fmla="*/ 34 w 209"/>
                  <a:gd name="T93" fmla="*/ 302 h 306"/>
                  <a:gd name="T94" fmla="*/ 24 w 209"/>
                  <a:gd name="T95" fmla="*/ 289 h 306"/>
                  <a:gd name="T96" fmla="*/ 31 w 209"/>
                  <a:gd name="T97" fmla="*/ 272 h 306"/>
                  <a:gd name="T98" fmla="*/ 64 w 209"/>
                  <a:gd name="T99" fmla="*/ 234 h 306"/>
                  <a:gd name="T100" fmla="*/ 88 w 209"/>
                  <a:gd name="T101" fmla="*/ 206 h 306"/>
                  <a:gd name="T102" fmla="*/ 99 w 209"/>
                  <a:gd name="T103" fmla="*/ 200 h 306"/>
                  <a:gd name="T104" fmla="*/ 114 w 209"/>
                  <a:gd name="T105" fmla="*/ 209 h 306"/>
                  <a:gd name="T106" fmla="*/ 148 w 209"/>
                  <a:gd name="T107" fmla="*/ 255 h 306"/>
                  <a:gd name="T108" fmla="*/ 175 w 209"/>
                  <a:gd name="T109" fmla="*/ 294 h 306"/>
                  <a:gd name="T110" fmla="*/ 186 w 209"/>
                  <a:gd name="T111" fmla="*/ 297 h 306"/>
                  <a:gd name="T112" fmla="*/ 200 w 209"/>
                  <a:gd name="T113" fmla="*/ 287 h 30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209"/>
                  <a:gd name="T172" fmla="*/ 0 h 306"/>
                  <a:gd name="T173" fmla="*/ 209 w 209"/>
                  <a:gd name="T174" fmla="*/ 306 h 30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209" h="306">
                    <a:moveTo>
                      <a:pt x="207" y="281"/>
                    </a:moveTo>
                    <a:lnTo>
                      <a:pt x="208" y="276"/>
                    </a:lnTo>
                    <a:lnTo>
                      <a:pt x="200" y="277"/>
                    </a:lnTo>
                    <a:lnTo>
                      <a:pt x="192" y="276"/>
                    </a:lnTo>
                    <a:lnTo>
                      <a:pt x="182" y="268"/>
                    </a:lnTo>
                    <a:lnTo>
                      <a:pt x="165" y="241"/>
                    </a:lnTo>
                    <a:lnTo>
                      <a:pt x="140" y="200"/>
                    </a:lnTo>
                    <a:lnTo>
                      <a:pt x="127" y="177"/>
                    </a:lnTo>
                    <a:lnTo>
                      <a:pt x="118" y="159"/>
                    </a:lnTo>
                    <a:lnTo>
                      <a:pt x="116" y="149"/>
                    </a:lnTo>
                    <a:lnTo>
                      <a:pt x="116" y="137"/>
                    </a:lnTo>
                    <a:lnTo>
                      <a:pt x="119" y="129"/>
                    </a:lnTo>
                    <a:lnTo>
                      <a:pt x="124" y="125"/>
                    </a:lnTo>
                    <a:lnTo>
                      <a:pt x="128" y="125"/>
                    </a:lnTo>
                    <a:lnTo>
                      <a:pt x="133" y="128"/>
                    </a:lnTo>
                    <a:lnTo>
                      <a:pt x="143" y="135"/>
                    </a:lnTo>
                    <a:lnTo>
                      <a:pt x="154" y="143"/>
                    </a:lnTo>
                    <a:lnTo>
                      <a:pt x="162" y="147"/>
                    </a:lnTo>
                    <a:lnTo>
                      <a:pt x="167" y="149"/>
                    </a:lnTo>
                    <a:lnTo>
                      <a:pt x="171" y="147"/>
                    </a:lnTo>
                    <a:lnTo>
                      <a:pt x="174" y="143"/>
                    </a:lnTo>
                    <a:lnTo>
                      <a:pt x="173" y="141"/>
                    </a:lnTo>
                    <a:lnTo>
                      <a:pt x="171" y="137"/>
                    </a:lnTo>
                    <a:lnTo>
                      <a:pt x="164" y="129"/>
                    </a:lnTo>
                    <a:lnTo>
                      <a:pt x="149" y="120"/>
                    </a:lnTo>
                    <a:lnTo>
                      <a:pt x="141" y="113"/>
                    </a:lnTo>
                    <a:lnTo>
                      <a:pt x="136" y="104"/>
                    </a:lnTo>
                    <a:lnTo>
                      <a:pt x="132" y="91"/>
                    </a:lnTo>
                    <a:lnTo>
                      <a:pt x="131" y="78"/>
                    </a:lnTo>
                    <a:lnTo>
                      <a:pt x="128" y="72"/>
                    </a:lnTo>
                    <a:lnTo>
                      <a:pt x="124" y="66"/>
                    </a:lnTo>
                    <a:lnTo>
                      <a:pt x="118" y="59"/>
                    </a:lnTo>
                    <a:lnTo>
                      <a:pt x="114" y="55"/>
                    </a:lnTo>
                    <a:lnTo>
                      <a:pt x="114" y="50"/>
                    </a:lnTo>
                    <a:lnTo>
                      <a:pt x="116" y="42"/>
                    </a:lnTo>
                    <a:lnTo>
                      <a:pt x="119" y="38"/>
                    </a:lnTo>
                    <a:lnTo>
                      <a:pt x="122" y="33"/>
                    </a:lnTo>
                    <a:lnTo>
                      <a:pt x="124" y="25"/>
                    </a:lnTo>
                    <a:lnTo>
                      <a:pt x="122" y="16"/>
                    </a:lnTo>
                    <a:lnTo>
                      <a:pt x="120" y="9"/>
                    </a:lnTo>
                    <a:lnTo>
                      <a:pt x="116" y="4"/>
                    </a:lnTo>
                    <a:lnTo>
                      <a:pt x="110" y="1"/>
                    </a:lnTo>
                    <a:lnTo>
                      <a:pt x="101" y="0"/>
                    </a:lnTo>
                    <a:lnTo>
                      <a:pt x="94" y="3"/>
                    </a:lnTo>
                    <a:lnTo>
                      <a:pt x="90" y="7"/>
                    </a:lnTo>
                    <a:lnTo>
                      <a:pt x="88" y="13"/>
                    </a:lnTo>
                    <a:lnTo>
                      <a:pt x="86" y="18"/>
                    </a:lnTo>
                    <a:lnTo>
                      <a:pt x="88" y="24"/>
                    </a:lnTo>
                    <a:lnTo>
                      <a:pt x="90" y="32"/>
                    </a:lnTo>
                    <a:lnTo>
                      <a:pt x="92" y="37"/>
                    </a:lnTo>
                    <a:lnTo>
                      <a:pt x="93" y="42"/>
                    </a:lnTo>
                    <a:lnTo>
                      <a:pt x="92" y="49"/>
                    </a:lnTo>
                    <a:lnTo>
                      <a:pt x="88" y="54"/>
                    </a:lnTo>
                    <a:lnTo>
                      <a:pt x="81" y="59"/>
                    </a:lnTo>
                    <a:lnTo>
                      <a:pt x="73" y="63"/>
                    </a:lnTo>
                    <a:lnTo>
                      <a:pt x="68" y="67"/>
                    </a:lnTo>
                    <a:lnTo>
                      <a:pt x="63" y="72"/>
                    </a:lnTo>
                    <a:lnTo>
                      <a:pt x="58" y="79"/>
                    </a:lnTo>
                    <a:lnTo>
                      <a:pt x="52" y="91"/>
                    </a:lnTo>
                    <a:lnTo>
                      <a:pt x="48" y="104"/>
                    </a:lnTo>
                    <a:lnTo>
                      <a:pt x="44" y="114"/>
                    </a:lnTo>
                    <a:lnTo>
                      <a:pt x="43" y="128"/>
                    </a:lnTo>
                    <a:lnTo>
                      <a:pt x="42" y="143"/>
                    </a:lnTo>
                    <a:lnTo>
                      <a:pt x="42" y="153"/>
                    </a:lnTo>
                    <a:lnTo>
                      <a:pt x="42" y="160"/>
                    </a:lnTo>
                    <a:lnTo>
                      <a:pt x="43" y="166"/>
                    </a:lnTo>
                    <a:lnTo>
                      <a:pt x="46" y="168"/>
                    </a:lnTo>
                    <a:lnTo>
                      <a:pt x="51" y="170"/>
                    </a:lnTo>
                    <a:lnTo>
                      <a:pt x="54" y="168"/>
                    </a:lnTo>
                    <a:lnTo>
                      <a:pt x="55" y="166"/>
                    </a:lnTo>
                    <a:lnTo>
                      <a:pt x="55" y="155"/>
                    </a:lnTo>
                    <a:lnTo>
                      <a:pt x="55" y="139"/>
                    </a:lnTo>
                    <a:lnTo>
                      <a:pt x="56" y="129"/>
                    </a:lnTo>
                    <a:lnTo>
                      <a:pt x="58" y="122"/>
                    </a:lnTo>
                    <a:lnTo>
                      <a:pt x="61" y="116"/>
                    </a:lnTo>
                    <a:lnTo>
                      <a:pt x="67" y="114"/>
                    </a:lnTo>
                    <a:lnTo>
                      <a:pt x="72" y="116"/>
                    </a:lnTo>
                    <a:lnTo>
                      <a:pt x="73" y="120"/>
                    </a:lnTo>
                    <a:lnTo>
                      <a:pt x="72" y="131"/>
                    </a:lnTo>
                    <a:lnTo>
                      <a:pt x="71" y="147"/>
                    </a:lnTo>
                    <a:lnTo>
                      <a:pt x="68" y="162"/>
                    </a:lnTo>
                    <a:lnTo>
                      <a:pt x="64" y="175"/>
                    </a:lnTo>
                    <a:lnTo>
                      <a:pt x="60" y="192"/>
                    </a:lnTo>
                    <a:lnTo>
                      <a:pt x="55" y="206"/>
                    </a:lnTo>
                    <a:lnTo>
                      <a:pt x="43" y="225"/>
                    </a:lnTo>
                    <a:lnTo>
                      <a:pt x="34" y="237"/>
                    </a:lnTo>
                    <a:lnTo>
                      <a:pt x="18" y="255"/>
                    </a:lnTo>
                    <a:lnTo>
                      <a:pt x="8" y="268"/>
                    </a:lnTo>
                    <a:lnTo>
                      <a:pt x="0" y="280"/>
                    </a:lnTo>
                    <a:lnTo>
                      <a:pt x="0" y="285"/>
                    </a:lnTo>
                    <a:lnTo>
                      <a:pt x="8" y="294"/>
                    </a:lnTo>
                    <a:lnTo>
                      <a:pt x="20" y="305"/>
                    </a:lnTo>
                    <a:lnTo>
                      <a:pt x="31" y="305"/>
                    </a:lnTo>
                    <a:lnTo>
                      <a:pt x="34" y="302"/>
                    </a:lnTo>
                    <a:lnTo>
                      <a:pt x="29" y="296"/>
                    </a:lnTo>
                    <a:lnTo>
                      <a:pt x="24" y="289"/>
                    </a:lnTo>
                    <a:lnTo>
                      <a:pt x="24" y="284"/>
                    </a:lnTo>
                    <a:lnTo>
                      <a:pt x="31" y="272"/>
                    </a:lnTo>
                    <a:lnTo>
                      <a:pt x="44" y="259"/>
                    </a:lnTo>
                    <a:lnTo>
                      <a:pt x="64" y="234"/>
                    </a:lnTo>
                    <a:lnTo>
                      <a:pt x="81" y="213"/>
                    </a:lnTo>
                    <a:lnTo>
                      <a:pt x="88" y="206"/>
                    </a:lnTo>
                    <a:lnTo>
                      <a:pt x="92" y="201"/>
                    </a:lnTo>
                    <a:lnTo>
                      <a:pt x="99" y="200"/>
                    </a:lnTo>
                    <a:lnTo>
                      <a:pt x="106" y="204"/>
                    </a:lnTo>
                    <a:lnTo>
                      <a:pt x="114" y="209"/>
                    </a:lnTo>
                    <a:lnTo>
                      <a:pt x="130" y="230"/>
                    </a:lnTo>
                    <a:lnTo>
                      <a:pt x="148" y="255"/>
                    </a:lnTo>
                    <a:lnTo>
                      <a:pt x="165" y="280"/>
                    </a:lnTo>
                    <a:lnTo>
                      <a:pt x="175" y="294"/>
                    </a:lnTo>
                    <a:lnTo>
                      <a:pt x="179" y="297"/>
                    </a:lnTo>
                    <a:lnTo>
                      <a:pt x="186" y="297"/>
                    </a:lnTo>
                    <a:lnTo>
                      <a:pt x="192" y="292"/>
                    </a:lnTo>
                    <a:lnTo>
                      <a:pt x="200" y="287"/>
                    </a:lnTo>
                    <a:lnTo>
                      <a:pt x="207" y="281"/>
                    </a:lnTo>
                  </a:path>
                </a:pathLst>
              </a:custGeom>
              <a:solidFill>
                <a:srgbClr val="CECECE"/>
              </a:solidFill>
              <a:ln w="2540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39" name="Group 177">
                <a:extLst>
                  <a:ext uri="{FF2B5EF4-FFF2-40B4-BE49-F238E27FC236}">
                    <a16:creationId xmlns:a16="http://schemas.microsoft.com/office/drawing/2014/main" id="{2A9EA7B8-7F20-4836-AB9B-57DEC60E414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3" y="1440"/>
                <a:ext cx="234" cy="326"/>
                <a:chOff x="1063" y="1458"/>
                <a:chExt cx="234" cy="326"/>
              </a:xfrm>
            </p:grpSpPr>
            <p:grpSp>
              <p:nvGrpSpPr>
                <p:cNvPr id="140" name="Group 178">
                  <a:extLst>
                    <a:ext uri="{FF2B5EF4-FFF2-40B4-BE49-F238E27FC236}">
                      <a16:creationId xmlns:a16="http://schemas.microsoft.com/office/drawing/2014/main" id="{4A3D7082-BC30-41E0-B4A8-4EEB023129B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63" y="1458"/>
                  <a:ext cx="234" cy="326"/>
                  <a:chOff x="1063" y="1458"/>
                  <a:chExt cx="234" cy="326"/>
                </a:xfrm>
              </p:grpSpPr>
              <p:sp>
                <p:nvSpPr>
                  <p:cNvPr id="143" name="AutoShape 179">
                    <a:extLst>
                      <a:ext uri="{FF2B5EF4-FFF2-40B4-BE49-F238E27FC236}">
                        <a16:creationId xmlns:a16="http://schemas.microsoft.com/office/drawing/2014/main" id="{F44B512D-63EF-44A3-A907-412EEF9E6F9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63" y="1510"/>
                    <a:ext cx="234" cy="274"/>
                  </a:xfrm>
                  <a:prstGeom prst="cube">
                    <a:avLst>
                      <a:gd name="adj" fmla="val 24995"/>
                    </a:avLst>
                  </a:prstGeom>
                  <a:solidFill>
                    <a:schemeClr val="bg1"/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44" name="AutoShape 180">
                    <a:extLst>
                      <a:ext uri="{FF2B5EF4-FFF2-40B4-BE49-F238E27FC236}">
                        <a16:creationId xmlns:a16="http://schemas.microsoft.com/office/drawing/2014/main" id="{150D185F-A104-4D61-82E8-F44626D33F9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118" y="1458"/>
                    <a:ext cx="179" cy="49"/>
                  </a:xfrm>
                  <a:prstGeom prst="cube">
                    <a:avLst>
                      <a:gd name="adj" fmla="val 24995"/>
                    </a:avLst>
                  </a:prstGeom>
                  <a:solidFill>
                    <a:schemeClr val="bg1"/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141" name="Oval 181">
                  <a:extLst>
                    <a:ext uri="{FF2B5EF4-FFF2-40B4-BE49-F238E27FC236}">
                      <a16:creationId xmlns:a16="http://schemas.microsoft.com/office/drawing/2014/main" id="{266C11C1-11EF-431A-B4E5-2BA97EFFDE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12" y="1486"/>
                  <a:ext cx="27" cy="8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2" name="AutoShape 182">
                  <a:extLst>
                    <a:ext uri="{FF2B5EF4-FFF2-40B4-BE49-F238E27FC236}">
                      <a16:creationId xmlns:a16="http://schemas.microsoft.com/office/drawing/2014/main" id="{50987DAE-8FEB-4B02-83F4-F84474D06FB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85" y="1640"/>
                  <a:ext cx="145" cy="59"/>
                </a:xfrm>
                <a:prstGeom prst="octagon">
                  <a:avLst>
                    <a:gd name="adj" fmla="val 29282"/>
                  </a:avLst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20" name="Line 183">
              <a:extLst>
                <a:ext uri="{FF2B5EF4-FFF2-40B4-BE49-F238E27FC236}">
                  <a16:creationId xmlns:a16="http://schemas.microsoft.com/office/drawing/2014/main" id="{F6792271-8EE5-4479-B8ED-D000D659AD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6" y="1165"/>
              <a:ext cx="281" cy="0"/>
            </a:xfrm>
            <a:prstGeom prst="line">
              <a:avLst/>
            </a:prstGeom>
            <a:noFill/>
            <a:ln w="25400">
              <a:solidFill>
                <a:srgbClr val="DC008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Rectangle 184">
              <a:extLst>
                <a:ext uri="{FF2B5EF4-FFF2-40B4-BE49-F238E27FC236}">
                  <a16:creationId xmlns:a16="http://schemas.microsoft.com/office/drawing/2014/main" id="{D49A1862-5E66-45D4-B376-6578D6F30A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6" y="1141"/>
              <a:ext cx="292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/>
              <a:r>
                <a:rPr lang="en-US" sz="2000" b="1">
                  <a:latin typeface="FranklinGothic" charset="0"/>
                </a:rPr>
                <a:t>30</a:t>
              </a:r>
            </a:p>
          </p:txBody>
        </p:sp>
        <p:sp>
          <p:nvSpPr>
            <p:cNvPr id="22" name="Rectangle 185">
              <a:extLst>
                <a:ext uri="{FF2B5EF4-FFF2-40B4-BE49-F238E27FC236}">
                  <a16:creationId xmlns:a16="http://schemas.microsoft.com/office/drawing/2014/main" id="{5EFDB2C7-77CC-45A5-956B-1EFF120774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5" y="1141"/>
              <a:ext cx="292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/>
              <a:r>
                <a:rPr lang="en-US" sz="2000" b="1">
                  <a:latin typeface="FranklinGothic" charset="0"/>
                </a:rPr>
                <a:t>30</a:t>
              </a:r>
            </a:p>
          </p:txBody>
        </p:sp>
        <p:sp>
          <p:nvSpPr>
            <p:cNvPr id="23" name="Line 186">
              <a:extLst>
                <a:ext uri="{FF2B5EF4-FFF2-40B4-BE49-F238E27FC236}">
                  <a16:creationId xmlns:a16="http://schemas.microsoft.com/office/drawing/2014/main" id="{AFE3FEFD-83B5-4229-8E22-3ACECB4206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4" y="1165"/>
              <a:ext cx="29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Line 187">
              <a:extLst>
                <a:ext uri="{FF2B5EF4-FFF2-40B4-BE49-F238E27FC236}">
                  <a16:creationId xmlns:a16="http://schemas.microsoft.com/office/drawing/2014/main" id="{302D16E0-0D5E-473A-A89B-1C4325E9D6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9" y="1065"/>
              <a:ext cx="0" cy="20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Rectangle 188">
              <a:extLst>
                <a:ext uri="{FF2B5EF4-FFF2-40B4-BE49-F238E27FC236}">
                  <a16:creationId xmlns:a16="http://schemas.microsoft.com/office/drawing/2014/main" id="{100EBFBD-4D18-4C0C-8DB5-A9E4571FA8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6" y="1141"/>
              <a:ext cx="292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/>
              <a:r>
                <a:rPr lang="en-US" sz="2000" b="1">
                  <a:latin typeface="FranklinGothic" charset="0"/>
                </a:rPr>
                <a:t>30</a:t>
              </a:r>
            </a:p>
          </p:txBody>
        </p:sp>
        <p:sp>
          <p:nvSpPr>
            <p:cNvPr id="26" name="Rectangle 189">
              <a:extLst>
                <a:ext uri="{FF2B5EF4-FFF2-40B4-BE49-F238E27FC236}">
                  <a16:creationId xmlns:a16="http://schemas.microsoft.com/office/drawing/2014/main" id="{D0A8C892-46B1-4D6C-BE37-341892FF0C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3" y="1141"/>
              <a:ext cx="292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/>
              <a:r>
                <a:rPr lang="en-US" sz="2000" b="1">
                  <a:latin typeface="FranklinGothic" charset="0"/>
                </a:rPr>
                <a:t>30</a:t>
              </a:r>
            </a:p>
          </p:txBody>
        </p:sp>
        <p:sp>
          <p:nvSpPr>
            <p:cNvPr id="27" name="Line 190">
              <a:extLst>
                <a:ext uri="{FF2B5EF4-FFF2-40B4-BE49-F238E27FC236}">
                  <a16:creationId xmlns:a16="http://schemas.microsoft.com/office/drawing/2014/main" id="{9611539E-54AC-4D22-9F67-50F7CD1D2A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37" y="1065"/>
              <a:ext cx="0" cy="20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Line 191">
              <a:extLst>
                <a:ext uri="{FF2B5EF4-FFF2-40B4-BE49-F238E27FC236}">
                  <a16:creationId xmlns:a16="http://schemas.microsoft.com/office/drawing/2014/main" id="{BFBBB5B0-E67C-4B66-A439-41F97DB53B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1" y="1065"/>
              <a:ext cx="0" cy="20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Line 192">
              <a:extLst>
                <a:ext uri="{FF2B5EF4-FFF2-40B4-BE49-F238E27FC236}">
                  <a16:creationId xmlns:a16="http://schemas.microsoft.com/office/drawing/2014/main" id="{EE8D0719-16FA-46AA-A4B2-0B73F441AB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4" y="1165"/>
              <a:ext cx="278" cy="0"/>
            </a:xfrm>
            <a:prstGeom prst="line">
              <a:avLst/>
            </a:prstGeom>
            <a:noFill/>
            <a:ln w="25400">
              <a:solidFill>
                <a:srgbClr val="F39FD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Line 193">
              <a:extLst>
                <a:ext uri="{FF2B5EF4-FFF2-40B4-BE49-F238E27FC236}">
                  <a16:creationId xmlns:a16="http://schemas.microsoft.com/office/drawing/2014/main" id="{3CB57D10-C4FC-471A-81E2-58E07063F8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9" y="1165"/>
              <a:ext cx="280" cy="2"/>
            </a:xfrm>
            <a:prstGeom prst="line">
              <a:avLst/>
            </a:prstGeom>
            <a:noFill/>
            <a:ln w="25400">
              <a:solidFill>
                <a:srgbClr val="91919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Line 213">
              <a:extLst>
                <a:ext uri="{FF2B5EF4-FFF2-40B4-BE49-F238E27FC236}">
                  <a16:creationId xmlns:a16="http://schemas.microsoft.com/office/drawing/2014/main" id="{B297BCB3-6981-4E18-9EE9-F5BDAF7C58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6" y="1165"/>
              <a:ext cx="282" cy="0"/>
            </a:xfrm>
            <a:prstGeom prst="line">
              <a:avLst/>
            </a:prstGeom>
            <a:noFill/>
            <a:ln w="25400">
              <a:solidFill>
                <a:srgbClr val="DC008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Rectangle 214">
              <a:extLst>
                <a:ext uri="{FF2B5EF4-FFF2-40B4-BE49-F238E27FC236}">
                  <a16:creationId xmlns:a16="http://schemas.microsoft.com/office/drawing/2014/main" id="{C2AF90E0-ED6E-410B-8086-0571FD3173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4" y="1141"/>
              <a:ext cx="292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/>
              <a:r>
                <a:rPr lang="en-US" sz="2000" b="1">
                  <a:latin typeface="FranklinGothic" charset="0"/>
                </a:rPr>
                <a:t>30</a:t>
              </a:r>
            </a:p>
          </p:txBody>
        </p:sp>
        <p:sp>
          <p:nvSpPr>
            <p:cNvPr id="33" name="Line 215">
              <a:extLst>
                <a:ext uri="{FF2B5EF4-FFF2-40B4-BE49-F238E27FC236}">
                  <a16:creationId xmlns:a16="http://schemas.microsoft.com/office/drawing/2014/main" id="{9910E9FF-11BE-4FAB-A27D-F881B8D97E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35" y="1165"/>
              <a:ext cx="29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Line 216">
              <a:extLst>
                <a:ext uri="{FF2B5EF4-FFF2-40B4-BE49-F238E27FC236}">
                  <a16:creationId xmlns:a16="http://schemas.microsoft.com/office/drawing/2014/main" id="{999B981B-515F-48EE-A97B-6E985EAFB4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29" y="1065"/>
              <a:ext cx="0" cy="20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Rectangle 217">
              <a:extLst>
                <a:ext uri="{FF2B5EF4-FFF2-40B4-BE49-F238E27FC236}">
                  <a16:creationId xmlns:a16="http://schemas.microsoft.com/office/drawing/2014/main" id="{97FC1A04-F873-42DA-93D9-6EA6A1224A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7" y="1141"/>
              <a:ext cx="292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/>
              <a:r>
                <a:rPr lang="en-US" sz="2000" b="1">
                  <a:latin typeface="FranklinGothic" charset="0"/>
                </a:rPr>
                <a:t>30</a:t>
              </a:r>
            </a:p>
          </p:txBody>
        </p:sp>
        <p:sp>
          <p:nvSpPr>
            <p:cNvPr id="36" name="Rectangle 218">
              <a:extLst>
                <a:ext uri="{FF2B5EF4-FFF2-40B4-BE49-F238E27FC236}">
                  <a16:creationId xmlns:a16="http://schemas.microsoft.com/office/drawing/2014/main" id="{DC623128-C12D-4A6C-B1CF-BF0AE174BD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34" y="1141"/>
              <a:ext cx="292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/>
              <a:r>
                <a:rPr lang="en-US" sz="2000" b="1">
                  <a:latin typeface="FranklinGothic" charset="0"/>
                </a:rPr>
                <a:t>30</a:t>
              </a:r>
            </a:p>
          </p:txBody>
        </p:sp>
        <p:sp>
          <p:nvSpPr>
            <p:cNvPr id="37" name="Line 219">
              <a:extLst>
                <a:ext uri="{FF2B5EF4-FFF2-40B4-BE49-F238E27FC236}">
                  <a16:creationId xmlns:a16="http://schemas.microsoft.com/office/drawing/2014/main" id="{FB397024-89AF-403E-8CA5-FD1AC894AD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6" y="1065"/>
              <a:ext cx="0" cy="20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Line 220">
              <a:extLst>
                <a:ext uri="{FF2B5EF4-FFF2-40B4-BE49-F238E27FC236}">
                  <a16:creationId xmlns:a16="http://schemas.microsoft.com/office/drawing/2014/main" id="{34B3DAEA-4B45-4FDB-B430-CCD0419ED2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2" y="1065"/>
              <a:ext cx="0" cy="20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Line 221">
              <a:extLst>
                <a:ext uri="{FF2B5EF4-FFF2-40B4-BE49-F238E27FC236}">
                  <a16:creationId xmlns:a16="http://schemas.microsoft.com/office/drawing/2014/main" id="{5F094C59-79F3-4657-A1C2-F9A9366F39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34" y="1165"/>
              <a:ext cx="276" cy="0"/>
            </a:xfrm>
            <a:prstGeom prst="line">
              <a:avLst/>
            </a:prstGeom>
            <a:noFill/>
            <a:ln w="25400">
              <a:solidFill>
                <a:srgbClr val="F39FD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Line 222">
              <a:extLst>
                <a:ext uri="{FF2B5EF4-FFF2-40B4-BE49-F238E27FC236}">
                  <a16:creationId xmlns:a16="http://schemas.microsoft.com/office/drawing/2014/main" id="{ED3CA286-084B-4DA3-8C94-644B73AB0A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0" y="1165"/>
              <a:ext cx="279" cy="2"/>
            </a:xfrm>
            <a:prstGeom prst="line">
              <a:avLst/>
            </a:prstGeom>
            <a:noFill/>
            <a:ln w="25400">
              <a:solidFill>
                <a:srgbClr val="91919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Line 242">
              <a:extLst>
                <a:ext uri="{FF2B5EF4-FFF2-40B4-BE49-F238E27FC236}">
                  <a16:creationId xmlns:a16="http://schemas.microsoft.com/office/drawing/2014/main" id="{E3E8C3A7-BBC7-44B8-B86C-2CA945A364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6" y="1165"/>
              <a:ext cx="281" cy="0"/>
            </a:xfrm>
            <a:prstGeom prst="line">
              <a:avLst/>
            </a:prstGeom>
            <a:noFill/>
            <a:ln w="25400">
              <a:solidFill>
                <a:srgbClr val="DC008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Rectangle 243">
              <a:extLst>
                <a:ext uri="{FF2B5EF4-FFF2-40B4-BE49-F238E27FC236}">
                  <a16:creationId xmlns:a16="http://schemas.microsoft.com/office/drawing/2014/main" id="{717F55C5-55A7-4A4E-A827-102D6ACF4C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6" y="1141"/>
              <a:ext cx="292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/>
              <a:r>
                <a:rPr lang="en-US" sz="2000" b="1">
                  <a:latin typeface="FranklinGothic" charset="0"/>
                </a:rPr>
                <a:t>30</a:t>
              </a:r>
            </a:p>
          </p:txBody>
        </p:sp>
        <p:sp>
          <p:nvSpPr>
            <p:cNvPr id="43" name="Rectangle 244">
              <a:extLst>
                <a:ext uri="{FF2B5EF4-FFF2-40B4-BE49-F238E27FC236}">
                  <a16:creationId xmlns:a16="http://schemas.microsoft.com/office/drawing/2014/main" id="{445EB5C7-CE2D-425D-A539-8CF336B409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5" y="1141"/>
              <a:ext cx="292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/>
              <a:r>
                <a:rPr lang="en-US" sz="2000" b="1">
                  <a:latin typeface="FranklinGothic" charset="0"/>
                </a:rPr>
                <a:t>30</a:t>
              </a:r>
            </a:p>
          </p:txBody>
        </p:sp>
        <p:sp>
          <p:nvSpPr>
            <p:cNvPr id="44" name="Line 245">
              <a:extLst>
                <a:ext uri="{FF2B5EF4-FFF2-40B4-BE49-F238E27FC236}">
                  <a16:creationId xmlns:a16="http://schemas.microsoft.com/office/drawing/2014/main" id="{F96C11AC-3AD9-4217-AA4B-AB0A32CA06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5" y="1165"/>
              <a:ext cx="29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Line 246">
              <a:extLst>
                <a:ext uri="{FF2B5EF4-FFF2-40B4-BE49-F238E27FC236}">
                  <a16:creationId xmlns:a16="http://schemas.microsoft.com/office/drawing/2014/main" id="{1495417E-7D02-45D3-976B-BC0879BDA7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19" y="1065"/>
              <a:ext cx="0" cy="20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Rectangle 247">
              <a:extLst>
                <a:ext uri="{FF2B5EF4-FFF2-40B4-BE49-F238E27FC236}">
                  <a16:creationId xmlns:a16="http://schemas.microsoft.com/office/drawing/2014/main" id="{9BEE072B-A84C-4975-9ED7-55119C0C8C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7" y="1141"/>
              <a:ext cx="292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/>
              <a:r>
                <a:rPr lang="en-US" sz="2000" b="1">
                  <a:latin typeface="FranklinGothic" charset="0"/>
                </a:rPr>
                <a:t>30</a:t>
              </a:r>
            </a:p>
          </p:txBody>
        </p:sp>
        <p:sp>
          <p:nvSpPr>
            <p:cNvPr id="47" name="Rectangle 248">
              <a:extLst>
                <a:ext uri="{FF2B5EF4-FFF2-40B4-BE49-F238E27FC236}">
                  <a16:creationId xmlns:a16="http://schemas.microsoft.com/office/drawing/2014/main" id="{E549BBF0-A1A2-44E6-80FA-AA10160E49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4" y="1141"/>
              <a:ext cx="292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/>
              <a:r>
                <a:rPr lang="en-US" sz="2000" b="1">
                  <a:latin typeface="FranklinGothic" charset="0"/>
                </a:rPr>
                <a:t>30</a:t>
              </a:r>
            </a:p>
          </p:txBody>
        </p:sp>
        <p:sp>
          <p:nvSpPr>
            <p:cNvPr id="48" name="Line 249">
              <a:extLst>
                <a:ext uri="{FF2B5EF4-FFF2-40B4-BE49-F238E27FC236}">
                  <a16:creationId xmlns:a16="http://schemas.microsoft.com/office/drawing/2014/main" id="{FE113D82-F27E-4355-8AC6-D5E04A14AD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7" y="1065"/>
              <a:ext cx="0" cy="20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Line 250">
              <a:extLst>
                <a:ext uri="{FF2B5EF4-FFF2-40B4-BE49-F238E27FC236}">
                  <a16:creationId xmlns:a16="http://schemas.microsoft.com/office/drawing/2014/main" id="{EC266033-0B28-4447-AFC7-DB69D3867B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12" y="1065"/>
              <a:ext cx="0" cy="20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Line 251">
              <a:extLst>
                <a:ext uri="{FF2B5EF4-FFF2-40B4-BE49-F238E27FC236}">
                  <a16:creationId xmlns:a16="http://schemas.microsoft.com/office/drawing/2014/main" id="{A45E21FE-6533-48E2-81A2-AC9CBE15F1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5" y="1165"/>
              <a:ext cx="277" cy="0"/>
            </a:xfrm>
            <a:prstGeom prst="line">
              <a:avLst/>
            </a:prstGeom>
            <a:noFill/>
            <a:ln w="25400">
              <a:solidFill>
                <a:srgbClr val="F39FD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Line 252">
              <a:extLst>
                <a:ext uri="{FF2B5EF4-FFF2-40B4-BE49-F238E27FC236}">
                  <a16:creationId xmlns:a16="http://schemas.microsoft.com/office/drawing/2014/main" id="{7930FCA7-A741-4B78-8297-CC25AB3109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0" y="1165"/>
              <a:ext cx="279" cy="2"/>
            </a:xfrm>
            <a:prstGeom prst="line">
              <a:avLst/>
            </a:prstGeom>
            <a:noFill/>
            <a:ln w="25400">
              <a:solidFill>
                <a:srgbClr val="91919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Line 272">
              <a:extLst>
                <a:ext uri="{FF2B5EF4-FFF2-40B4-BE49-F238E27FC236}">
                  <a16:creationId xmlns:a16="http://schemas.microsoft.com/office/drawing/2014/main" id="{15DC4223-B362-4A7F-8F55-E324479706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17" y="1165"/>
              <a:ext cx="281" cy="0"/>
            </a:xfrm>
            <a:prstGeom prst="line">
              <a:avLst/>
            </a:prstGeom>
            <a:noFill/>
            <a:ln w="25400">
              <a:solidFill>
                <a:srgbClr val="DC008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Rectangle 273">
              <a:extLst>
                <a:ext uri="{FF2B5EF4-FFF2-40B4-BE49-F238E27FC236}">
                  <a16:creationId xmlns:a16="http://schemas.microsoft.com/office/drawing/2014/main" id="{DCC78263-2C23-48B1-B91E-72C69FB7A2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8" y="1141"/>
              <a:ext cx="292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/>
              <a:r>
                <a:rPr lang="en-US" sz="2000" b="1">
                  <a:latin typeface="FranklinGothic" charset="0"/>
                </a:rPr>
                <a:t>30</a:t>
              </a:r>
            </a:p>
          </p:txBody>
        </p:sp>
        <p:sp>
          <p:nvSpPr>
            <p:cNvPr id="54" name="Rectangle 274">
              <a:extLst>
                <a:ext uri="{FF2B5EF4-FFF2-40B4-BE49-F238E27FC236}">
                  <a16:creationId xmlns:a16="http://schemas.microsoft.com/office/drawing/2014/main" id="{921F23A3-98CA-4553-83B2-3E16D0E07D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5" y="1141"/>
              <a:ext cx="292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/>
              <a:r>
                <a:rPr lang="en-US" sz="2000" b="1">
                  <a:latin typeface="FranklinGothic" charset="0"/>
                </a:rPr>
                <a:t>30</a:t>
              </a:r>
            </a:p>
          </p:txBody>
        </p:sp>
        <p:sp>
          <p:nvSpPr>
            <p:cNvPr id="55" name="Line 275">
              <a:extLst>
                <a:ext uri="{FF2B5EF4-FFF2-40B4-BE49-F238E27FC236}">
                  <a16:creationId xmlns:a16="http://schemas.microsoft.com/office/drawing/2014/main" id="{2FB67F83-B4B8-4BB0-AEE4-2E84B3502A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5" y="1165"/>
              <a:ext cx="29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Line 276">
              <a:extLst>
                <a:ext uri="{FF2B5EF4-FFF2-40B4-BE49-F238E27FC236}">
                  <a16:creationId xmlns:a16="http://schemas.microsoft.com/office/drawing/2014/main" id="{553C078F-EFF3-4496-9111-900C43B00A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1" y="1065"/>
              <a:ext cx="0" cy="20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Rectangle 277">
              <a:extLst>
                <a:ext uri="{FF2B5EF4-FFF2-40B4-BE49-F238E27FC236}">
                  <a16:creationId xmlns:a16="http://schemas.microsoft.com/office/drawing/2014/main" id="{9AFA744F-865A-4014-9A0F-414F71567B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7" y="1141"/>
              <a:ext cx="292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/>
              <a:r>
                <a:rPr lang="en-US" sz="2000" b="1">
                  <a:latin typeface="FranklinGothic" charset="0"/>
                </a:rPr>
                <a:t>30</a:t>
              </a:r>
            </a:p>
          </p:txBody>
        </p:sp>
        <p:sp>
          <p:nvSpPr>
            <p:cNvPr id="58" name="Rectangle 278">
              <a:extLst>
                <a:ext uri="{FF2B5EF4-FFF2-40B4-BE49-F238E27FC236}">
                  <a16:creationId xmlns:a16="http://schemas.microsoft.com/office/drawing/2014/main" id="{9885191E-F2D6-4DF0-813D-139A865296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14" y="1141"/>
              <a:ext cx="292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/>
              <a:r>
                <a:rPr lang="en-US" sz="2000" b="1">
                  <a:latin typeface="FranklinGothic" charset="0"/>
                </a:rPr>
                <a:t>30</a:t>
              </a:r>
            </a:p>
          </p:txBody>
        </p:sp>
        <p:sp>
          <p:nvSpPr>
            <p:cNvPr id="59" name="Line 279">
              <a:extLst>
                <a:ext uri="{FF2B5EF4-FFF2-40B4-BE49-F238E27FC236}">
                  <a16:creationId xmlns:a16="http://schemas.microsoft.com/office/drawing/2014/main" id="{2465E8A1-70A6-40A4-9CF8-16ABB9B2CF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7" y="1065"/>
              <a:ext cx="0" cy="20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Line 280">
              <a:extLst>
                <a:ext uri="{FF2B5EF4-FFF2-40B4-BE49-F238E27FC236}">
                  <a16:creationId xmlns:a16="http://schemas.microsoft.com/office/drawing/2014/main" id="{5642D251-6F0D-4AC2-8FA5-BC2730B2A0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02" y="1065"/>
              <a:ext cx="0" cy="20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Line 281">
              <a:extLst>
                <a:ext uri="{FF2B5EF4-FFF2-40B4-BE49-F238E27FC236}">
                  <a16:creationId xmlns:a16="http://schemas.microsoft.com/office/drawing/2014/main" id="{DF6B2798-C77E-45D7-B479-99AF3C9E7E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14" y="1165"/>
              <a:ext cx="278" cy="0"/>
            </a:xfrm>
            <a:prstGeom prst="line">
              <a:avLst/>
            </a:prstGeom>
            <a:noFill/>
            <a:ln w="25400">
              <a:solidFill>
                <a:srgbClr val="F39FD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Line 282">
              <a:extLst>
                <a:ext uri="{FF2B5EF4-FFF2-40B4-BE49-F238E27FC236}">
                  <a16:creationId xmlns:a16="http://schemas.microsoft.com/office/drawing/2014/main" id="{49132EF1-D8BA-4467-A05B-AB73A8D955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10" y="1165"/>
              <a:ext cx="280" cy="2"/>
            </a:xfrm>
            <a:prstGeom prst="line">
              <a:avLst/>
            </a:prstGeom>
            <a:noFill/>
            <a:ln w="25400">
              <a:solidFill>
                <a:srgbClr val="91919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Rectangle 283">
              <a:extLst>
                <a:ext uri="{FF2B5EF4-FFF2-40B4-BE49-F238E27FC236}">
                  <a16:creationId xmlns:a16="http://schemas.microsoft.com/office/drawing/2014/main" id="{BA87CA2D-CFC8-487E-9677-6B3B814071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" y="658"/>
              <a:ext cx="487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2000" b="1">
                  <a:latin typeface="FranklinGothic" charset="0"/>
                </a:rPr>
                <a:t>6 PM</a:t>
              </a:r>
            </a:p>
          </p:txBody>
        </p:sp>
        <p:sp>
          <p:nvSpPr>
            <p:cNvPr id="65" name="Line 284">
              <a:extLst>
                <a:ext uri="{FF2B5EF4-FFF2-40B4-BE49-F238E27FC236}">
                  <a16:creationId xmlns:a16="http://schemas.microsoft.com/office/drawing/2014/main" id="{AD29FFF8-E67C-42FC-A0D4-89BF91C0BF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6" y="873"/>
              <a:ext cx="0" cy="18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Rectangle 285">
              <a:extLst>
                <a:ext uri="{FF2B5EF4-FFF2-40B4-BE49-F238E27FC236}">
                  <a16:creationId xmlns:a16="http://schemas.microsoft.com/office/drawing/2014/main" id="{56072DCA-C457-4E04-BE37-1B365B4584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9" y="669"/>
              <a:ext cx="203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2000" b="1">
                  <a:latin typeface="FranklinGothic" charset="0"/>
                </a:rPr>
                <a:t>7</a:t>
              </a:r>
            </a:p>
          </p:txBody>
        </p:sp>
        <p:sp>
          <p:nvSpPr>
            <p:cNvPr id="67" name="Rectangle 286">
              <a:extLst>
                <a:ext uri="{FF2B5EF4-FFF2-40B4-BE49-F238E27FC236}">
                  <a16:creationId xmlns:a16="http://schemas.microsoft.com/office/drawing/2014/main" id="{BDD368CB-E69C-40AD-A0FF-09FF149E29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5" y="664"/>
              <a:ext cx="203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2000" b="1">
                  <a:latin typeface="FranklinGothic" charset="0"/>
                </a:rPr>
                <a:t>8</a:t>
              </a:r>
            </a:p>
          </p:txBody>
        </p:sp>
        <p:sp>
          <p:nvSpPr>
            <p:cNvPr id="68" name="Rectangle 287">
              <a:extLst>
                <a:ext uri="{FF2B5EF4-FFF2-40B4-BE49-F238E27FC236}">
                  <a16:creationId xmlns:a16="http://schemas.microsoft.com/office/drawing/2014/main" id="{10528335-6826-4A79-AF96-BDAC426EA0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6" y="681"/>
              <a:ext cx="203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2000" b="1">
                  <a:latin typeface="FranklinGothic" charset="0"/>
                </a:rPr>
                <a:t>9</a:t>
              </a:r>
            </a:p>
          </p:txBody>
        </p:sp>
        <p:sp>
          <p:nvSpPr>
            <p:cNvPr id="69" name="Rectangle 288">
              <a:extLst>
                <a:ext uri="{FF2B5EF4-FFF2-40B4-BE49-F238E27FC236}">
                  <a16:creationId xmlns:a16="http://schemas.microsoft.com/office/drawing/2014/main" id="{2E83977F-35B7-425A-AE14-FF76121AA0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0" y="671"/>
              <a:ext cx="292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2000" b="1">
                  <a:latin typeface="FranklinGothic" charset="0"/>
                </a:rPr>
                <a:t>10</a:t>
              </a:r>
            </a:p>
          </p:txBody>
        </p:sp>
        <p:sp>
          <p:nvSpPr>
            <p:cNvPr id="70" name="Rectangle 289">
              <a:extLst>
                <a:ext uri="{FF2B5EF4-FFF2-40B4-BE49-F238E27FC236}">
                  <a16:creationId xmlns:a16="http://schemas.microsoft.com/office/drawing/2014/main" id="{47D03D81-66E9-4E49-83B6-1BBCB4A680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6" y="669"/>
              <a:ext cx="292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2000" b="1">
                  <a:latin typeface="FranklinGothic" charset="0"/>
                </a:rPr>
                <a:t>11</a:t>
              </a:r>
            </a:p>
          </p:txBody>
        </p:sp>
        <p:sp>
          <p:nvSpPr>
            <p:cNvPr id="71" name="Rectangle 290">
              <a:extLst>
                <a:ext uri="{FF2B5EF4-FFF2-40B4-BE49-F238E27FC236}">
                  <a16:creationId xmlns:a16="http://schemas.microsoft.com/office/drawing/2014/main" id="{0EA35CC1-8D85-4A39-9080-677E643112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5" y="652"/>
              <a:ext cx="292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/>
              <a:r>
                <a:rPr lang="en-US" sz="2000" b="1">
                  <a:latin typeface="FranklinGothic" charset="0"/>
                </a:rPr>
                <a:t>12</a:t>
              </a:r>
            </a:p>
          </p:txBody>
        </p:sp>
        <p:sp>
          <p:nvSpPr>
            <p:cNvPr id="72" name="Rectangle 291">
              <a:extLst>
                <a:ext uri="{FF2B5EF4-FFF2-40B4-BE49-F238E27FC236}">
                  <a16:creationId xmlns:a16="http://schemas.microsoft.com/office/drawing/2014/main" id="{BE43CCB6-7FFE-49EB-B930-C150851968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16" y="663"/>
              <a:ext cx="203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/>
              <a:r>
                <a:rPr lang="en-US" sz="2000" b="1">
                  <a:latin typeface="FranklinGothic" charset="0"/>
                </a:rPr>
                <a:t>1</a:t>
              </a:r>
            </a:p>
          </p:txBody>
        </p:sp>
        <p:sp>
          <p:nvSpPr>
            <p:cNvPr id="73" name="Line 292">
              <a:extLst>
                <a:ext uri="{FF2B5EF4-FFF2-40B4-BE49-F238E27FC236}">
                  <a16:creationId xmlns:a16="http://schemas.microsoft.com/office/drawing/2014/main" id="{D6E7DD37-D8AD-40F5-A31B-4EB323B4D0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6" y="978"/>
              <a:ext cx="47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Rectangle 293">
              <a:extLst>
                <a:ext uri="{FF2B5EF4-FFF2-40B4-BE49-F238E27FC236}">
                  <a16:creationId xmlns:a16="http://schemas.microsoft.com/office/drawing/2014/main" id="{7B131146-983B-4E7B-B10D-0EEE55A04F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20" y="646"/>
              <a:ext cx="496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/>
              <a:r>
                <a:rPr lang="en-US" sz="2000" b="1">
                  <a:latin typeface="FranklinGothic" charset="0"/>
                </a:rPr>
                <a:t>2 AM</a:t>
              </a:r>
            </a:p>
          </p:txBody>
        </p:sp>
        <p:sp>
          <p:nvSpPr>
            <p:cNvPr id="75" name="Line 294">
              <a:extLst>
                <a:ext uri="{FF2B5EF4-FFF2-40B4-BE49-F238E27FC236}">
                  <a16:creationId xmlns:a16="http://schemas.microsoft.com/office/drawing/2014/main" id="{E0575D9A-E3B4-4F62-9AD1-1994ECB636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3" y="1065"/>
              <a:ext cx="0" cy="20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Line 295">
              <a:extLst>
                <a:ext uri="{FF2B5EF4-FFF2-40B4-BE49-F238E27FC236}">
                  <a16:creationId xmlns:a16="http://schemas.microsoft.com/office/drawing/2014/main" id="{FF1CB488-3F0A-4179-8A5D-EE646845B7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14" y="1065"/>
              <a:ext cx="0" cy="20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Line 296">
              <a:extLst>
                <a:ext uri="{FF2B5EF4-FFF2-40B4-BE49-F238E27FC236}">
                  <a16:creationId xmlns:a16="http://schemas.microsoft.com/office/drawing/2014/main" id="{F4C3A8FA-E11E-4D5E-9517-153F82302A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24" y="1065"/>
              <a:ext cx="0" cy="20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Line 297">
              <a:extLst>
                <a:ext uri="{FF2B5EF4-FFF2-40B4-BE49-F238E27FC236}">
                  <a16:creationId xmlns:a16="http://schemas.microsoft.com/office/drawing/2014/main" id="{1B459BBA-AEBA-4077-B78F-78DE07B6E6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04" y="1065"/>
              <a:ext cx="0" cy="20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79" name="Group 299">
              <a:extLst>
                <a:ext uri="{FF2B5EF4-FFF2-40B4-BE49-F238E27FC236}">
                  <a16:creationId xmlns:a16="http://schemas.microsoft.com/office/drawing/2014/main" id="{E3AC1F70-EB09-4F20-BCA3-C1847C273C2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68" y="1728"/>
              <a:ext cx="1088" cy="344"/>
              <a:chOff x="801" y="1440"/>
              <a:chExt cx="1088" cy="344"/>
            </a:xfrm>
          </p:grpSpPr>
          <p:grpSp>
            <p:nvGrpSpPr>
              <p:cNvPr id="118" name="Group 300">
                <a:extLst>
                  <a:ext uri="{FF2B5EF4-FFF2-40B4-BE49-F238E27FC236}">
                    <a16:creationId xmlns:a16="http://schemas.microsoft.com/office/drawing/2014/main" id="{AF88277A-8642-47FA-B490-D3BBC27D4F8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01" y="1458"/>
                <a:ext cx="218" cy="326"/>
                <a:chOff x="801" y="1458"/>
                <a:chExt cx="218" cy="326"/>
              </a:xfrm>
            </p:grpSpPr>
            <p:sp>
              <p:nvSpPr>
                <p:cNvPr id="133" name="AutoShape 301">
                  <a:extLst>
                    <a:ext uri="{FF2B5EF4-FFF2-40B4-BE49-F238E27FC236}">
                      <a16:creationId xmlns:a16="http://schemas.microsoft.com/office/drawing/2014/main" id="{EE536591-4CF9-499A-9378-33E69AA3837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1" y="1510"/>
                  <a:ext cx="218" cy="274"/>
                </a:xfrm>
                <a:prstGeom prst="cube">
                  <a:avLst>
                    <a:gd name="adj" fmla="val 24995"/>
                  </a:avLst>
                </a:prstGeom>
                <a:solidFill>
                  <a:srgbClr val="DC008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4" name="AutoShape 302">
                  <a:extLst>
                    <a:ext uri="{FF2B5EF4-FFF2-40B4-BE49-F238E27FC236}">
                      <a16:creationId xmlns:a16="http://schemas.microsoft.com/office/drawing/2014/main" id="{EA5DD388-B883-4307-AB53-412BC6DB873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54" y="1458"/>
                  <a:ext cx="165" cy="49"/>
                </a:xfrm>
                <a:prstGeom prst="cube">
                  <a:avLst>
                    <a:gd name="adj" fmla="val 24995"/>
                  </a:avLst>
                </a:prstGeom>
                <a:solidFill>
                  <a:srgbClr val="DC008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5" name="AutoShape 303">
                  <a:extLst>
                    <a:ext uri="{FF2B5EF4-FFF2-40B4-BE49-F238E27FC236}">
                      <a16:creationId xmlns:a16="http://schemas.microsoft.com/office/drawing/2014/main" id="{EAF79221-3705-4AD5-AB83-290514E0847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45" y="1532"/>
                  <a:ext cx="114" cy="18"/>
                </a:xfrm>
                <a:prstGeom prst="parallelogram">
                  <a:avLst>
                    <a:gd name="adj" fmla="val 158304"/>
                  </a:avLst>
                </a:prstGeom>
                <a:solidFill>
                  <a:srgbClr val="DC008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9" name="Group 304">
                <a:extLst>
                  <a:ext uri="{FF2B5EF4-FFF2-40B4-BE49-F238E27FC236}">
                    <a16:creationId xmlns:a16="http://schemas.microsoft.com/office/drawing/2014/main" id="{59B723FB-1576-42A0-BCBA-36653D2CDB4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92" y="1488"/>
                <a:ext cx="213" cy="269"/>
                <a:chOff x="1345" y="1500"/>
                <a:chExt cx="213" cy="269"/>
              </a:xfrm>
            </p:grpSpPr>
            <p:sp>
              <p:nvSpPr>
                <p:cNvPr id="127" name="Freeform 305">
                  <a:extLst>
                    <a:ext uri="{FF2B5EF4-FFF2-40B4-BE49-F238E27FC236}">
                      <a16:creationId xmlns:a16="http://schemas.microsoft.com/office/drawing/2014/main" id="{26A92EAE-F4AE-4494-9FA8-2DD10C7B781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83" y="1625"/>
                  <a:ext cx="64" cy="144"/>
                </a:xfrm>
                <a:custGeom>
                  <a:avLst/>
                  <a:gdLst>
                    <a:gd name="T0" fmla="*/ 46 w 64"/>
                    <a:gd name="T1" fmla="*/ 0 h 144"/>
                    <a:gd name="T2" fmla="*/ 63 w 64"/>
                    <a:gd name="T3" fmla="*/ 0 h 144"/>
                    <a:gd name="T4" fmla="*/ 17 w 64"/>
                    <a:gd name="T5" fmla="*/ 143 h 144"/>
                    <a:gd name="T6" fmla="*/ 0 w 64"/>
                    <a:gd name="T7" fmla="*/ 143 h 144"/>
                    <a:gd name="T8" fmla="*/ 46 w 64"/>
                    <a:gd name="T9" fmla="*/ 0 h 14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4"/>
                    <a:gd name="T16" fmla="*/ 0 h 144"/>
                    <a:gd name="T17" fmla="*/ 64 w 64"/>
                    <a:gd name="T18" fmla="*/ 144 h 14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4" h="144">
                      <a:moveTo>
                        <a:pt x="46" y="0"/>
                      </a:moveTo>
                      <a:lnTo>
                        <a:pt x="63" y="0"/>
                      </a:lnTo>
                      <a:lnTo>
                        <a:pt x="17" y="143"/>
                      </a:lnTo>
                      <a:lnTo>
                        <a:pt x="0" y="143"/>
                      </a:lnTo>
                      <a:lnTo>
                        <a:pt x="46" y="0"/>
                      </a:lnTo>
                    </a:path>
                  </a:pathLst>
                </a:custGeom>
                <a:solidFill>
                  <a:srgbClr val="F39FD1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8" name="Rectangle 306">
                  <a:extLst>
                    <a:ext uri="{FF2B5EF4-FFF2-40B4-BE49-F238E27FC236}">
                      <a16:creationId xmlns:a16="http://schemas.microsoft.com/office/drawing/2014/main" id="{C8E4372A-6F52-4F97-804B-6772A8658B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8" y="1625"/>
                  <a:ext cx="80" cy="12"/>
                </a:xfrm>
                <a:prstGeom prst="rect">
                  <a:avLst/>
                </a:prstGeom>
                <a:solidFill>
                  <a:srgbClr val="F39FD1"/>
                </a:solidFill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9" name="Rectangle 307">
                  <a:extLst>
                    <a:ext uri="{FF2B5EF4-FFF2-40B4-BE49-F238E27FC236}">
                      <a16:creationId xmlns:a16="http://schemas.microsoft.com/office/drawing/2014/main" id="{933AB692-48A4-461B-90D6-89DEF85138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86" y="1683"/>
                  <a:ext cx="60" cy="14"/>
                </a:xfrm>
                <a:prstGeom prst="rect">
                  <a:avLst/>
                </a:prstGeom>
                <a:solidFill>
                  <a:srgbClr val="F39FD1"/>
                </a:solidFill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0" name="Rectangle 308">
                  <a:extLst>
                    <a:ext uri="{FF2B5EF4-FFF2-40B4-BE49-F238E27FC236}">
                      <a16:creationId xmlns:a16="http://schemas.microsoft.com/office/drawing/2014/main" id="{7C5A7765-5378-4D7C-A2C6-2F129364768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47" y="1683"/>
                  <a:ext cx="79" cy="10"/>
                </a:xfrm>
                <a:prstGeom prst="rect">
                  <a:avLst/>
                </a:prstGeom>
                <a:solidFill>
                  <a:srgbClr val="F39FD1"/>
                </a:solidFill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1" name="Oval 309">
                  <a:extLst>
                    <a:ext uri="{FF2B5EF4-FFF2-40B4-BE49-F238E27FC236}">
                      <a16:creationId xmlns:a16="http://schemas.microsoft.com/office/drawing/2014/main" id="{D6596F93-7AEC-41A1-92E2-86E0552849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09" y="1500"/>
                  <a:ext cx="24" cy="27"/>
                </a:xfrm>
                <a:prstGeom prst="ellipse">
                  <a:avLst/>
                </a:prstGeom>
                <a:solidFill>
                  <a:srgbClr val="F39FD1"/>
                </a:solidFill>
                <a:ln w="254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2" name="Freeform 310">
                  <a:extLst>
                    <a:ext uri="{FF2B5EF4-FFF2-40B4-BE49-F238E27FC236}">
                      <a16:creationId xmlns:a16="http://schemas.microsoft.com/office/drawing/2014/main" id="{C070354A-7192-42FC-9D29-D2BBC928EAF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345" y="1547"/>
                  <a:ext cx="146" cy="222"/>
                </a:xfrm>
                <a:custGeom>
                  <a:avLst/>
                  <a:gdLst>
                    <a:gd name="T0" fmla="*/ 1 w 146"/>
                    <a:gd name="T1" fmla="*/ 102 h 222"/>
                    <a:gd name="T2" fmla="*/ 1 w 146"/>
                    <a:gd name="T3" fmla="*/ 105 h 222"/>
                    <a:gd name="T4" fmla="*/ 0 w 146"/>
                    <a:gd name="T5" fmla="*/ 109 h 222"/>
                    <a:gd name="T6" fmla="*/ 0 w 146"/>
                    <a:gd name="T7" fmla="*/ 112 h 222"/>
                    <a:gd name="T8" fmla="*/ 1 w 146"/>
                    <a:gd name="T9" fmla="*/ 116 h 222"/>
                    <a:gd name="T10" fmla="*/ 3 w 146"/>
                    <a:gd name="T11" fmla="*/ 119 h 222"/>
                    <a:gd name="T12" fmla="*/ 6 w 146"/>
                    <a:gd name="T13" fmla="*/ 122 h 222"/>
                    <a:gd name="T14" fmla="*/ 9 w 146"/>
                    <a:gd name="T15" fmla="*/ 124 h 222"/>
                    <a:gd name="T16" fmla="*/ 12 w 146"/>
                    <a:gd name="T17" fmla="*/ 125 h 222"/>
                    <a:gd name="T18" fmla="*/ 16 w 146"/>
                    <a:gd name="T19" fmla="*/ 125 h 222"/>
                    <a:gd name="T20" fmla="*/ 95 w 146"/>
                    <a:gd name="T21" fmla="*/ 221 h 222"/>
                    <a:gd name="T22" fmla="*/ 120 w 146"/>
                    <a:gd name="T23" fmla="*/ 106 h 222"/>
                    <a:gd name="T24" fmla="*/ 119 w 146"/>
                    <a:gd name="T25" fmla="*/ 104 h 222"/>
                    <a:gd name="T26" fmla="*/ 118 w 146"/>
                    <a:gd name="T27" fmla="*/ 102 h 222"/>
                    <a:gd name="T28" fmla="*/ 116 w 146"/>
                    <a:gd name="T29" fmla="*/ 100 h 222"/>
                    <a:gd name="T30" fmla="*/ 114 w 146"/>
                    <a:gd name="T31" fmla="*/ 98 h 222"/>
                    <a:gd name="T32" fmla="*/ 111 w 146"/>
                    <a:gd name="T33" fmla="*/ 97 h 222"/>
                    <a:gd name="T34" fmla="*/ 108 w 146"/>
                    <a:gd name="T35" fmla="*/ 96 h 222"/>
                    <a:gd name="T36" fmla="*/ 106 w 146"/>
                    <a:gd name="T37" fmla="*/ 96 h 222"/>
                    <a:gd name="T38" fmla="*/ 103 w 146"/>
                    <a:gd name="T39" fmla="*/ 96 h 222"/>
                    <a:gd name="T40" fmla="*/ 70 w 146"/>
                    <a:gd name="T41" fmla="*/ 56 h 222"/>
                    <a:gd name="T42" fmla="*/ 135 w 146"/>
                    <a:gd name="T43" fmla="*/ 70 h 222"/>
                    <a:gd name="T44" fmla="*/ 137 w 146"/>
                    <a:gd name="T45" fmla="*/ 69 h 222"/>
                    <a:gd name="T46" fmla="*/ 139 w 146"/>
                    <a:gd name="T47" fmla="*/ 68 h 222"/>
                    <a:gd name="T48" fmla="*/ 142 w 146"/>
                    <a:gd name="T49" fmla="*/ 66 h 222"/>
                    <a:gd name="T50" fmla="*/ 144 w 146"/>
                    <a:gd name="T51" fmla="*/ 65 h 222"/>
                    <a:gd name="T52" fmla="*/ 144 w 146"/>
                    <a:gd name="T53" fmla="*/ 62 h 222"/>
                    <a:gd name="T54" fmla="*/ 145 w 146"/>
                    <a:gd name="T55" fmla="*/ 59 h 222"/>
                    <a:gd name="T56" fmla="*/ 144 w 146"/>
                    <a:gd name="T57" fmla="*/ 55 h 222"/>
                    <a:gd name="T58" fmla="*/ 143 w 146"/>
                    <a:gd name="T59" fmla="*/ 53 h 222"/>
                    <a:gd name="T60" fmla="*/ 141 w 146"/>
                    <a:gd name="T61" fmla="*/ 51 h 222"/>
                    <a:gd name="T62" fmla="*/ 139 w 146"/>
                    <a:gd name="T63" fmla="*/ 49 h 222"/>
                    <a:gd name="T64" fmla="*/ 136 w 146"/>
                    <a:gd name="T65" fmla="*/ 48 h 222"/>
                    <a:gd name="T66" fmla="*/ 92 w 146"/>
                    <a:gd name="T67" fmla="*/ 48 h 222"/>
                    <a:gd name="T68" fmla="*/ 84 w 146"/>
                    <a:gd name="T69" fmla="*/ 31 h 222"/>
                    <a:gd name="T70" fmla="*/ 85 w 146"/>
                    <a:gd name="T71" fmla="*/ 27 h 222"/>
                    <a:gd name="T72" fmla="*/ 85 w 146"/>
                    <a:gd name="T73" fmla="*/ 23 h 222"/>
                    <a:gd name="T74" fmla="*/ 85 w 146"/>
                    <a:gd name="T75" fmla="*/ 18 h 222"/>
                    <a:gd name="T76" fmla="*/ 84 w 146"/>
                    <a:gd name="T77" fmla="*/ 14 h 222"/>
                    <a:gd name="T78" fmla="*/ 83 w 146"/>
                    <a:gd name="T79" fmla="*/ 11 h 222"/>
                    <a:gd name="T80" fmla="*/ 80 w 146"/>
                    <a:gd name="T81" fmla="*/ 8 h 222"/>
                    <a:gd name="T82" fmla="*/ 77 w 146"/>
                    <a:gd name="T83" fmla="*/ 5 h 222"/>
                    <a:gd name="T84" fmla="*/ 74 w 146"/>
                    <a:gd name="T85" fmla="*/ 3 h 222"/>
                    <a:gd name="T86" fmla="*/ 70 w 146"/>
                    <a:gd name="T87" fmla="*/ 1 h 222"/>
                    <a:gd name="T88" fmla="*/ 65 w 146"/>
                    <a:gd name="T89" fmla="*/ 0 h 222"/>
                    <a:gd name="T90" fmla="*/ 61 w 146"/>
                    <a:gd name="T91" fmla="*/ 0 h 222"/>
                    <a:gd name="T92" fmla="*/ 56 w 146"/>
                    <a:gd name="T93" fmla="*/ 1 h 222"/>
                    <a:gd name="T94" fmla="*/ 52 w 146"/>
                    <a:gd name="T95" fmla="*/ 2 h 222"/>
                    <a:gd name="T96" fmla="*/ 47 w 146"/>
                    <a:gd name="T97" fmla="*/ 5 h 222"/>
                    <a:gd name="T98" fmla="*/ 44 w 146"/>
                    <a:gd name="T99" fmla="*/ 8 h 222"/>
                    <a:gd name="T100" fmla="*/ 41 w 146"/>
                    <a:gd name="T101" fmla="*/ 12 h 222"/>
                    <a:gd name="T102" fmla="*/ 39 w 146"/>
                    <a:gd name="T103" fmla="*/ 17 h 222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w 146"/>
                    <a:gd name="T157" fmla="*/ 0 h 222"/>
                    <a:gd name="T158" fmla="*/ 146 w 146"/>
                    <a:gd name="T159" fmla="*/ 222 h 222"/>
                  </a:gdLst>
                  <a:ahLst/>
                  <a:cxnLst>
                    <a:cxn ang="T104">
                      <a:pos x="T0" y="T1"/>
                    </a:cxn>
                    <a:cxn ang="T105">
                      <a:pos x="T2" y="T3"/>
                    </a:cxn>
                    <a:cxn ang="T106">
                      <a:pos x="T4" y="T5"/>
                    </a:cxn>
                    <a:cxn ang="T107">
                      <a:pos x="T6" y="T7"/>
                    </a:cxn>
                    <a:cxn ang="T108">
                      <a:pos x="T8" y="T9"/>
                    </a:cxn>
                    <a:cxn ang="T109">
                      <a:pos x="T10" y="T11"/>
                    </a:cxn>
                    <a:cxn ang="T110">
                      <a:pos x="T12" y="T13"/>
                    </a:cxn>
                    <a:cxn ang="T111">
                      <a:pos x="T14" y="T15"/>
                    </a:cxn>
                    <a:cxn ang="T112">
                      <a:pos x="T16" y="T17"/>
                    </a:cxn>
                    <a:cxn ang="T113">
                      <a:pos x="T18" y="T19"/>
                    </a:cxn>
                    <a:cxn ang="T114">
                      <a:pos x="T20" y="T21"/>
                    </a:cxn>
                    <a:cxn ang="T115">
                      <a:pos x="T22" y="T23"/>
                    </a:cxn>
                    <a:cxn ang="T116">
                      <a:pos x="T24" y="T25"/>
                    </a:cxn>
                    <a:cxn ang="T117">
                      <a:pos x="T26" y="T27"/>
                    </a:cxn>
                    <a:cxn ang="T118">
                      <a:pos x="T28" y="T29"/>
                    </a:cxn>
                    <a:cxn ang="T119">
                      <a:pos x="T30" y="T31"/>
                    </a:cxn>
                    <a:cxn ang="T120">
                      <a:pos x="T32" y="T33"/>
                    </a:cxn>
                    <a:cxn ang="T121">
                      <a:pos x="T34" y="T35"/>
                    </a:cxn>
                    <a:cxn ang="T122">
                      <a:pos x="T36" y="T37"/>
                    </a:cxn>
                    <a:cxn ang="T123">
                      <a:pos x="T38" y="T39"/>
                    </a:cxn>
                    <a:cxn ang="T124">
                      <a:pos x="T40" y="T41"/>
                    </a:cxn>
                    <a:cxn ang="T125">
                      <a:pos x="T42" y="T43"/>
                    </a:cxn>
                    <a:cxn ang="T126">
                      <a:pos x="T44" y="T45"/>
                    </a:cxn>
                    <a:cxn ang="T127">
                      <a:pos x="T46" y="T47"/>
                    </a:cxn>
                    <a:cxn ang="T128">
                      <a:pos x="T48" y="T49"/>
                    </a:cxn>
                    <a:cxn ang="T129">
                      <a:pos x="T50" y="T51"/>
                    </a:cxn>
                    <a:cxn ang="T130">
                      <a:pos x="T52" y="T53"/>
                    </a:cxn>
                    <a:cxn ang="T131">
                      <a:pos x="T54" y="T55"/>
                    </a:cxn>
                    <a:cxn ang="T132">
                      <a:pos x="T56" y="T57"/>
                    </a:cxn>
                    <a:cxn ang="T133">
                      <a:pos x="T58" y="T59"/>
                    </a:cxn>
                    <a:cxn ang="T134">
                      <a:pos x="T60" y="T61"/>
                    </a:cxn>
                    <a:cxn ang="T135">
                      <a:pos x="T62" y="T63"/>
                    </a:cxn>
                    <a:cxn ang="T136">
                      <a:pos x="T64" y="T65"/>
                    </a:cxn>
                    <a:cxn ang="T137">
                      <a:pos x="T66" y="T67"/>
                    </a:cxn>
                    <a:cxn ang="T138">
                      <a:pos x="T68" y="T69"/>
                    </a:cxn>
                    <a:cxn ang="T139">
                      <a:pos x="T70" y="T71"/>
                    </a:cxn>
                    <a:cxn ang="T140">
                      <a:pos x="T72" y="T73"/>
                    </a:cxn>
                    <a:cxn ang="T141">
                      <a:pos x="T74" y="T75"/>
                    </a:cxn>
                    <a:cxn ang="T142">
                      <a:pos x="T76" y="T77"/>
                    </a:cxn>
                    <a:cxn ang="T143">
                      <a:pos x="T78" y="T79"/>
                    </a:cxn>
                    <a:cxn ang="T144">
                      <a:pos x="T80" y="T81"/>
                    </a:cxn>
                    <a:cxn ang="T145">
                      <a:pos x="T82" y="T83"/>
                    </a:cxn>
                    <a:cxn ang="T146">
                      <a:pos x="T84" y="T85"/>
                    </a:cxn>
                    <a:cxn ang="T147">
                      <a:pos x="T86" y="T87"/>
                    </a:cxn>
                    <a:cxn ang="T148">
                      <a:pos x="T88" y="T89"/>
                    </a:cxn>
                    <a:cxn ang="T149">
                      <a:pos x="T90" y="T91"/>
                    </a:cxn>
                    <a:cxn ang="T150">
                      <a:pos x="T92" y="T93"/>
                    </a:cxn>
                    <a:cxn ang="T151">
                      <a:pos x="T94" y="T95"/>
                    </a:cxn>
                    <a:cxn ang="T152">
                      <a:pos x="T96" y="T97"/>
                    </a:cxn>
                    <a:cxn ang="T153">
                      <a:pos x="T98" y="T99"/>
                    </a:cxn>
                    <a:cxn ang="T154">
                      <a:pos x="T100" y="T101"/>
                    </a:cxn>
                    <a:cxn ang="T155">
                      <a:pos x="T102" y="T103"/>
                    </a:cxn>
                  </a:cxnLst>
                  <a:rect l="T156" t="T157" r="T158" b="T159"/>
                  <a:pathLst>
                    <a:path w="146" h="222">
                      <a:moveTo>
                        <a:pt x="39" y="17"/>
                      </a:moveTo>
                      <a:lnTo>
                        <a:pt x="1" y="102"/>
                      </a:lnTo>
                      <a:lnTo>
                        <a:pt x="1" y="104"/>
                      </a:lnTo>
                      <a:lnTo>
                        <a:pt x="1" y="105"/>
                      </a:lnTo>
                      <a:lnTo>
                        <a:pt x="0" y="106"/>
                      </a:lnTo>
                      <a:lnTo>
                        <a:pt x="0" y="109"/>
                      </a:lnTo>
                      <a:lnTo>
                        <a:pt x="0" y="110"/>
                      </a:lnTo>
                      <a:lnTo>
                        <a:pt x="0" y="112"/>
                      </a:lnTo>
                      <a:lnTo>
                        <a:pt x="1" y="114"/>
                      </a:lnTo>
                      <a:lnTo>
                        <a:pt x="1" y="116"/>
                      </a:lnTo>
                      <a:lnTo>
                        <a:pt x="2" y="117"/>
                      </a:lnTo>
                      <a:lnTo>
                        <a:pt x="3" y="119"/>
                      </a:lnTo>
                      <a:lnTo>
                        <a:pt x="5" y="121"/>
                      </a:lnTo>
                      <a:lnTo>
                        <a:pt x="6" y="122"/>
                      </a:lnTo>
                      <a:lnTo>
                        <a:pt x="8" y="123"/>
                      </a:lnTo>
                      <a:lnTo>
                        <a:pt x="9" y="124"/>
                      </a:lnTo>
                      <a:lnTo>
                        <a:pt x="10" y="124"/>
                      </a:lnTo>
                      <a:lnTo>
                        <a:pt x="12" y="125"/>
                      </a:lnTo>
                      <a:lnTo>
                        <a:pt x="14" y="125"/>
                      </a:lnTo>
                      <a:lnTo>
                        <a:pt x="16" y="125"/>
                      </a:lnTo>
                      <a:lnTo>
                        <a:pt x="95" y="125"/>
                      </a:lnTo>
                      <a:lnTo>
                        <a:pt x="95" y="221"/>
                      </a:lnTo>
                      <a:lnTo>
                        <a:pt x="120" y="221"/>
                      </a:lnTo>
                      <a:lnTo>
                        <a:pt x="120" y="106"/>
                      </a:lnTo>
                      <a:lnTo>
                        <a:pt x="120" y="105"/>
                      </a:lnTo>
                      <a:lnTo>
                        <a:pt x="119" y="104"/>
                      </a:lnTo>
                      <a:lnTo>
                        <a:pt x="118" y="102"/>
                      </a:lnTo>
                      <a:lnTo>
                        <a:pt x="117" y="101"/>
                      </a:lnTo>
                      <a:lnTo>
                        <a:pt x="116" y="100"/>
                      </a:lnTo>
                      <a:lnTo>
                        <a:pt x="115" y="99"/>
                      </a:lnTo>
                      <a:lnTo>
                        <a:pt x="114" y="98"/>
                      </a:lnTo>
                      <a:lnTo>
                        <a:pt x="113" y="98"/>
                      </a:lnTo>
                      <a:lnTo>
                        <a:pt x="111" y="97"/>
                      </a:lnTo>
                      <a:lnTo>
                        <a:pt x="110" y="97"/>
                      </a:lnTo>
                      <a:lnTo>
                        <a:pt x="108" y="96"/>
                      </a:lnTo>
                      <a:lnTo>
                        <a:pt x="107" y="96"/>
                      </a:lnTo>
                      <a:lnTo>
                        <a:pt x="106" y="96"/>
                      </a:lnTo>
                      <a:lnTo>
                        <a:pt x="104" y="96"/>
                      </a:lnTo>
                      <a:lnTo>
                        <a:pt x="103" y="96"/>
                      </a:lnTo>
                      <a:lnTo>
                        <a:pt x="57" y="94"/>
                      </a:lnTo>
                      <a:lnTo>
                        <a:pt x="70" y="56"/>
                      </a:lnTo>
                      <a:lnTo>
                        <a:pt x="79" y="70"/>
                      </a:lnTo>
                      <a:lnTo>
                        <a:pt x="135" y="70"/>
                      </a:lnTo>
                      <a:lnTo>
                        <a:pt x="136" y="69"/>
                      </a:lnTo>
                      <a:lnTo>
                        <a:pt x="137" y="69"/>
                      </a:lnTo>
                      <a:lnTo>
                        <a:pt x="139" y="68"/>
                      </a:lnTo>
                      <a:lnTo>
                        <a:pt x="140" y="67"/>
                      </a:lnTo>
                      <a:lnTo>
                        <a:pt x="142" y="66"/>
                      </a:lnTo>
                      <a:lnTo>
                        <a:pt x="142" y="65"/>
                      </a:lnTo>
                      <a:lnTo>
                        <a:pt x="144" y="65"/>
                      </a:lnTo>
                      <a:lnTo>
                        <a:pt x="144" y="63"/>
                      </a:lnTo>
                      <a:lnTo>
                        <a:pt x="144" y="62"/>
                      </a:lnTo>
                      <a:lnTo>
                        <a:pt x="145" y="61"/>
                      </a:lnTo>
                      <a:lnTo>
                        <a:pt x="145" y="59"/>
                      </a:lnTo>
                      <a:lnTo>
                        <a:pt x="145" y="57"/>
                      </a:lnTo>
                      <a:lnTo>
                        <a:pt x="144" y="55"/>
                      </a:lnTo>
                      <a:lnTo>
                        <a:pt x="144" y="54"/>
                      </a:lnTo>
                      <a:lnTo>
                        <a:pt x="143" y="53"/>
                      </a:lnTo>
                      <a:lnTo>
                        <a:pt x="142" y="52"/>
                      </a:lnTo>
                      <a:lnTo>
                        <a:pt x="141" y="51"/>
                      </a:lnTo>
                      <a:lnTo>
                        <a:pt x="140" y="50"/>
                      </a:lnTo>
                      <a:lnTo>
                        <a:pt x="139" y="49"/>
                      </a:lnTo>
                      <a:lnTo>
                        <a:pt x="138" y="48"/>
                      </a:lnTo>
                      <a:lnTo>
                        <a:pt x="136" y="48"/>
                      </a:lnTo>
                      <a:lnTo>
                        <a:pt x="135" y="48"/>
                      </a:lnTo>
                      <a:lnTo>
                        <a:pt x="92" y="48"/>
                      </a:lnTo>
                      <a:lnTo>
                        <a:pt x="83" y="33"/>
                      </a:lnTo>
                      <a:lnTo>
                        <a:pt x="84" y="31"/>
                      </a:lnTo>
                      <a:lnTo>
                        <a:pt x="85" y="29"/>
                      </a:lnTo>
                      <a:lnTo>
                        <a:pt x="85" y="27"/>
                      </a:lnTo>
                      <a:lnTo>
                        <a:pt x="85" y="25"/>
                      </a:lnTo>
                      <a:lnTo>
                        <a:pt x="85" y="23"/>
                      </a:lnTo>
                      <a:lnTo>
                        <a:pt x="85" y="21"/>
                      </a:lnTo>
                      <a:lnTo>
                        <a:pt x="85" y="18"/>
                      </a:lnTo>
                      <a:lnTo>
                        <a:pt x="85" y="16"/>
                      </a:lnTo>
                      <a:lnTo>
                        <a:pt x="84" y="14"/>
                      </a:lnTo>
                      <a:lnTo>
                        <a:pt x="84" y="13"/>
                      </a:lnTo>
                      <a:lnTo>
                        <a:pt x="83" y="11"/>
                      </a:lnTo>
                      <a:lnTo>
                        <a:pt x="82" y="10"/>
                      </a:lnTo>
                      <a:lnTo>
                        <a:pt x="80" y="8"/>
                      </a:lnTo>
                      <a:lnTo>
                        <a:pt x="79" y="7"/>
                      </a:lnTo>
                      <a:lnTo>
                        <a:pt x="77" y="5"/>
                      </a:lnTo>
                      <a:lnTo>
                        <a:pt x="76" y="4"/>
                      </a:lnTo>
                      <a:lnTo>
                        <a:pt x="74" y="3"/>
                      </a:lnTo>
                      <a:lnTo>
                        <a:pt x="72" y="2"/>
                      </a:lnTo>
                      <a:lnTo>
                        <a:pt x="70" y="1"/>
                      </a:lnTo>
                      <a:lnTo>
                        <a:pt x="67" y="1"/>
                      </a:lnTo>
                      <a:lnTo>
                        <a:pt x="65" y="0"/>
                      </a:lnTo>
                      <a:lnTo>
                        <a:pt x="63" y="0"/>
                      </a:lnTo>
                      <a:lnTo>
                        <a:pt x="61" y="0"/>
                      </a:lnTo>
                      <a:lnTo>
                        <a:pt x="59" y="0"/>
                      </a:lnTo>
                      <a:lnTo>
                        <a:pt x="56" y="1"/>
                      </a:lnTo>
                      <a:lnTo>
                        <a:pt x="54" y="1"/>
                      </a:lnTo>
                      <a:lnTo>
                        <a:pt x="52" y="2"/>
                      </a:lnTo>
                      <a:lnTo>
                        <a:pt x="50" y="3"/>
                      </a:lnTo>
                      <a:lnTo>
                        <a:pt x="47" y="5"/>
                      </a:lnTo>
                      <a:lnTo>
                        <a:pt x="46" y="7"/>
                      </a:lnTo>
                      <a:lnTo>
                        <a:pt x="44" y="8"/>
                      </a:lnTo>
                      <a:lnTo>
                        <a:pt x="43" y="10"/>
                      </a:lnTo>
                      <a:lnTo>
                        <a:pt x="41" y="12"/>
                      </a:lnTo>
                      <a:lnTo>
                        <a:pt x="40" y="14"/>
                      </a:lnTo>
                      <a:lnTo>
                        <a:pt x="39" y="17"/>
                      </a:lnTo>
                    </a:path>
                  </a:pathLst>
                </a:custGeom>
                <a:solidFill>
                  <a:srgbClr val="F39FD1"/>
                </a:solidFill>
                <a:ln w="1270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20" name="Freeform 311">
                <a:extLst>
                  <a:ext uri="{FF2B5EF4-FFF2-40B4-BE49-F238E27FC236}">
                    <a16:creationId xmlns:a16="http://schemas.microsoft.com/office/drawing/2014/main" id="{4CE763C7-4EEE-4B05-951D-920DA61B3B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80" y="1440"/>
                <a:ext cx="209" cy="306"/>
              </a:xfrm>
              <a:custGeom>
                <a:avLst/>
                <a:gdLst>
                  <a:gd name="T0" fmla="*/ 208 w 209"/>
                  <a:gd name="T1" fmla="*/ 276 h 306"/>
                  <a:gd name="T2" fmla="*/ 192 w 209"/>
                  <a:gd name="T3" fmla="*/ 276 h 306"/>
                  <a:gd name="T4" fmla="*/ 165 w 209"/>
                  <a:gd name="T5" fmla="*/ 241 h 306"/>
                  <a:gd name="T6" fmla="*/ 127 w 209"/>
                  <a:gd name="T7" fmla="*/ 177 h 306"/>
                  <a:gd name="T8" fmla="*/ 116 w 209"/>
                  <a:gd name="T9" fmla="*/ 149 h 306"/>
                  <a:gd name="T10" fmla="*/ 119 w 209"/>
                  <a:gd name="T11" fmla="*/ 129 h 306"/>
                  <a:gd name="T12" fmla="*/ 128 w 209"/>
                  <a:gd name="T13" fmla="*/ 125 h 306"/>
                  <a:gd name="T14" fmla="*/ 143 w 209"/>
                  <a:gd name="T15" fmla="*/ 135 h 306"/>
                  <a:gd name="T16" fmla="*/ 162 w 209"/>
                  <a:gd name="T17" fmla="*/ 147 h 306"/>
                  <a:gd name="T18" fmla="*/ 171 w 209"/>
                  <a:gd name="T19" fmla="*/ 147 h 306"/>
                  <a:gd name="T20" fmla="*/ 173 w 209"/>
                  <a:gd name="T21" fmla="*/ 141 h 306"/>
                  <a:gd name="T22" fmla="*/ 164 w 209"/>
                  <a:gd name="T23" fmla="*/ 129 h 306"/>
                  <a:gd name="T24" fmla="*/ 141 w 209"/>
                  <a:gd name="T25" fmla="*/ 113 h 306"/>
                  <a:gd name="T26" fmla="*/ 132 w 209"/>
                  <a:gd name="T27" fmla="*/ 91 h 306"/>
                  <a:gd name="T28" fmla="*/ 128 w 209"/>
                  <a:gd name="T29" fmla="*/ 72 h 306"/>
                  <a:gd name="T30" fmla="*/ 118 w 209"/>
                  <a:gd name="T31" fmla="*/ 59 h 306"/>
                  <a:gd name="T32" fmla="*/ 114 w 209"/>
                  <a:gd name="T33" fmla="*/ 50 h 306"/>
                  <a:gd name="T34" fmla="*/ 119 w 209"/>
                  <a:gd name="T35" fmla="*/ 38 h 306"/>
                  <a:gd name="T36" fmla="*/ 124 w 209"/>
                  <a:gd name="T37" fmla="*/ 25 h 306"/>
                  <a:gd name="T38" fmla="*/ 120 w 209"/>
                  <a:gd name="T39" fmla="*/ 9 h 306"/>
                  <a:gd name="T40" fmla="*/ 110 w 209"/>
                  <a:gd name="T41" fmla="*/ 1 h 306"/>
                  <a:gd name="T42" fmla="*/ 94 w 209"/>
                  <a:gd name="T43" fmla="*/ 3 h 306"/>
                  <a:gd name="T44" fmla="*/ 88 w 209"/>
                  <a:gd name="T45" fmla="*/ 13 h 306"/>
                  <a:gd name="T46" fmla="*/ 88 w 209"/>
                  <a:gd name="T47" fmla="*/ 24 h 306"/>
                  <a:gd name="T48" fmla="*/ 92 w 209"/>
                  <a:gd name="T49" fmla="*/ 37 h 306"/>
                  <a:gd name="T50" fmla="*/ 92 w 209"/>
                  <a:gd name="T51" fmla="*/ 49 h 306"/>
                  <a:gd name="T52" fmla="*/ 81 w 209"/>
                  <a:gd name="T53" fmla="*/ 59 h 306"/>
                  <a:gd name="T54" fmla="*/ 68 w 209"/>
                  <a:gd name="T55" fmla="*/ 67 h 306"/>
                  <a:gd name="T56" fmla="*/ 58 w 209"/>
                  <a:gd name="T57" fmla="*/ 79 h 306"/>
                  <a:gd name="T58" fmla="*/ 48 w 209"/>
                  <a:gd name="T59" fmla="*/ 104 h 306"/>
                  <a:gd name="T60" fmla="*/ 43 w 209"/>
                  <a:gd name="T61" fmla="*/ 128 h 306"/>
                  <a:gd name="T62" fmla="*/ 42 w 209"/>
                  <a:gd name="T63" fmla="*/ 153 h 306"/>
                  <a:gd name="T64" fmla="*/ 43 w 209"/>
                  <a:gd name="T65" fmla="*/ 166 h 306"/>
                  <a:gd name="T66" fmla="*/ 51 w 209"/>
                  <a:gd name="T67" fmla="*/ 170 h 306"/>
                  <a:gd name="T68" fmla="*/ 55 w 209"/>
                  <a:gd name="T69" fmla="*/ 166 h 306"/>
                  <a:gd name="T70" fmla="*/ 55 w 209"/>
                  <a:gd name="T71" fmla="*/ 139 h 306"/>
                  <a:gd name="T72" fmla="*/ 58 w 209"/>
                  <a:gd name="T73" fmla="*/ 122 h 306"/>
                  <a:gd name="T74" fmla="*/ 67 w 209"/>
                  <a:gd name="T75" fmla="*/ 114 h 306"/>
                  <a:gd name="T76" fmla="*/ 73 w 209"/>
                  <a:gd name="T77" fmla="*/ 120 h 306"/>
                  <a:gd name="T78" fmla="*/ 71 w 209"/>
                  <a:gd name="T79" fmla="*/ 147 h 306"/>
                  <a:gd name="T80" fmla="*/ 64 w 209"/>
                  <a:gd name="T81" fmla="*/ 175 h 306"/>
                  <a:gd name="T82" fmla="*/ 55 w 209"/>
                  <a:gd name="T83" fmla="*/ 206 h 306"/>
                  <a:gd name="T84" fmla="*/ 34 w 209"/>
                  <a:gd name="T85" fmla="*/ 237 h 306"/>
                  <a:gd name="T86" fmla="*/ 8 w 209"/>
                  <a:gd name="T87" fmla="*/ 268 h 306"/>
                  <a:gd name="T88" fmla="*/ 0 w 209"/>
                  <a:gd name="T89" fmla="*/ 285 h 306"/>
                  <a:gd name="T90" fmla="*/ 20 w 209"/>
                  <a:gd name="T91" fmla="*/ 305 h 306"/>
                  <a:gd name="T92" fmla="*/ 34 w 209"/>
                  <a:gd name="T93" fmla="*/ 302 h 306"/>
                  <a:gd name="T94" fmla="*/ 24 w 209"/>
                  <a:gd name="T95" fmla="*/ 289 h 306"/>
                  <a:gd name="T96" fmla="*/ 31 w 209"/>
                  <a:gd name="T97" fmla="*/ 272 h 306"/>
                  <a:gd name="T98" fmla="*/ 64 w 209"/>
                  <a:gd name="T99" fmla="*/ 234 h 306"/>
                  <a:gd name="T100" fmla="*/ 88 w 209"/>
                  <a:gd name="T101" fmla="*/ 206 h 306"/>
                  <a:gd name="T102" fmla="*/ 99 w 209"/>
                  <a:gd name="T103" fmla="*/ 200 h 306"/>
                  <a:gd name="T104" fmla="*/ 114 w 209"/>
                  <a:gd name="T105" fmla="*/ 209 h 306"/>
                  <a:gd name="T106" fmla="*/ 148 w 209"/>
                  <a:gd name="T107" fmla="*/ 255 h 306"/>
                  <a:gd name="T108" fmla="*/ 175 w 209"/>
                  <a:gd name="T109" fmla="*/ 294 h 306"/>
                  <a:gd name="T110" fmla="*/ 186 w 209"/>
                  <a:gd name="T111" fmla="*/ 297 h 306"/>
                  <a:gd name="T112" fmla="*/ 200 w 209"/>
                  <a:gd name="T113" fmla="*/ 287 h 30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209"/>
                  <a:gd name="T172" fmla="*/ 0 h 306"/>
                  <a:gd name="T173" fmla="*/ 209 w 209"/>
                  <a:gd name="T174" fmla="*/ 306 h 30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209" h="306">
                    <a:moveTo>
                      <a:pt x="207" y="281"/>
                    </a:moveTo>
                    <a:lnTo>
                      <a:pt x="208" y="276"/>
                    </a:lnTo>
                    <a:lnTo>
                      <a:pt x="200" y="277"/>
                    </a:lnTo>
                    <a:lnTo>
                      <a:pt x="192" y="276"/>
                    </a:lnTo>
                    <a:lnTo>
                      <a:pt x="182" y="268"/>
                    </a:lnTo>
                    <a:lnTo>
                      <a:pt x="165" y="241"/>
                    </a:lnTo>
                    <a:lnTo>
                      <a:pt x="140" y="200"/>
                    </a:lnTo>
                    <a:lnTo>
                      <a:pt x="127" y="177"/>
                    </a:lnTo>
                    <a:lnTo>
                      <a:pt x="118" y="159"/>
                    </a:lnTo>
                    <a:lnTo>
                      <a:pt x="116" y="149"/>
                    </a:lnTo>
                    <a:lnTo>
                      <a:pt x="116" y="137"/>
                    </a:lnTo>
                    <a:lnTo>
                      <a:pt x="119" y="129"/>
                    </a:lnTo>
                    <a:lnTo>
                      <a:pt x="124" y="125"/>
                    </a:lnTo>
                    <a:lnTo>
                      <a:pt x="128" y="125"/>
                    </a:lnTo>
                    <a:lnTo>
                      <a:pt x="133" y="128"/>
                    </a:lnTo>
                    <a:lnTo>
                      <a:pt x="143" y="135"/>
                    </a:lnTo>
                    <a:lnTo>
                      <a:pt x="154" y="143"/>
                    </a:lnTo>
                    <a:lnTo>
                      <a:pt x="162" y="147"/>
                    </a:lnTo>
                    <a:lnTo>
                      <a:pt x="167" y="149"/>
                    </a:lnTo>
                    <a:lnTo>
                      <a:pt x="171" y="147"/>
                    </a:lnTo>
                    <a:lnTo>
                      <a:pt x="174" y="143"/>
                    </a:lnTo>
                    <a:lnTo>
                      <a:pt x="173" y="141"/>
                    </a:lnTo>
                    <a:lnTo>
                      <a:pt x="171" y="137"/>
                    </a:lnTo>
                    <a:lnTo>
                      <a:pt x="164" y="129"/>
                    </a:lnTo>
                    <a:lnTo>
                      <a:pt x="149" y="120"/>
                    </a:lnTo>
                    <a:lnTo>
                      <a:pt x="141" y="113"/>
                    </a:lnTo>
                    <a:lnTo>
                      <a:pt x="136" y="104"/>
                    </a:lnTo>
                    <a:lnTo>
                      <a:pt x="132" y="91"/>
                    </a:lnTo>
                    <a:lnTo>
                      <a:pt x="131" y="78"/>
                    </a:lnTo>
                    <a:lnTo>
                      <a:pt x="128" y="72"/>
                    </a:lnTo>
                    <a:lnTo>
                      <a:pt x="124" y="66"/>
                    </a:lnTo>
                    <a:lnTo>
                      <a:pt x="118" y="59"/>
                    </a:lnTo>
                    <a:lnTo>
                      <a:pt x="114" y="55"/>
                    </a:lnTo>
                    <a:lnTo>
                      <a:pt x="114" y="50"/>
                    </a:lnTo>
                    <a:lnTo>
                      <a:pt x="116" y="42"/>
                    </a:lnTo>
                    <a:lnTo>
                      <a:pt x="119" y="38"/>
                    </a:lnTo>
                    <a:lnTo>
                      <a:pt x="122" y="33"/>
                    </a:lnTo>
                    <a:lnTo>
                      <a:pt x="124" y="25"/>
                    </a:lnTo>
                    <a:lnTo>
                      <a:pt x="122" y="16"/>
                    </a:lnTo>
                    <a:lnTo>
                      <a:pt x="120" y="9"/>
                    </a:lnTo>
                    <a:lnTo>
                      <a:pt x="116" y="4"/>
                    </a:lnTo>
                    <a:lnTo>
                      <a:pt x="110" y="1"/>
                    </a:lnTo>
                    <a:lnTo>
                      <a:pt x="101" y="0"/>
                    </a:lnTo>
                    <a:lnTo>
                      <a:pt x="94" y="3"/>
                    </a:lnTo>
                    <a:lnTo>
                      <a:pt x="90" y="7"/>
                    </a:lnTo>
                    <a:lnTo>
                      <a:pt x="88" y="13"/>
                    </a:lnTo>
                    <a:lnTo>
                      <a:pt x="86" y="18"/>
                    </a:lnTo>
                    <a:lnTo>
                      <a:pt x="88" y="24"/>
                    </a:lnTo>
                    <a:lnTo>
                      <a:pt x="90" y="32"/>
                    </a:lnTo>
                    <a:lnTo>
                      <a:pt x="92" y="37"/>
                    </a:lnTo>
                    <a:lnTo>
                      <a:pt x="93" y="42"/>
                    </a:lnTo>
                    <a:lnTo>
                      <a:pt x="92" y="49"/>
                    </a:lnTo>
                    <a:lnTo>
                      <a:pt x="88" y="54"/>
                    </a:lnTo>
                    <a:lnTo>
                      <a:pt x="81" y="59"/>
                    </a:lnTo>
                    <a:lnTo>
                      <a:pt x="73" y="63"/>
                    </a:lnTo>
                    <a:lnTo>
                      <a:pt x="68" y="67"/>
                    </a:lnTo>
                    <a:lnTo>
                      <a:pt x="63" y="72"/>
                    </a:lnTo>
                    <a:lnTo>
                      <a:pt x="58" y="79"/>
                    </a:lnTo>
                    <a:lnTo>
                      <a:pt x="52" y="91"/>
                    </a:lnTo>
                    <a:lnTo>
                      <a:pt x="48" y="104"/>
                    </a:lnTo>
                    <a:lnTo>
                      <a:pt x="44" y="114"/>
                    </a:lnTo>
                    <a:lnTo>
                      <a:pt x="43" y="128"/>
                    </a:lnTo>
                    <a:lnTo>
                      <a:pt x="42" y="143"/>
                    </a:lnTo>
                    <a:lnTo>
                      <a:pt x="42" y="153"/>
                    </a:lnTo>
                    <a:lnTo>
                      <a:pt x="42" y="160"/>
                    </a:lnTo>
                    <a:lnTo>
                      <a:pt x="43" y="166"/>
                    </a:lnTo>
                    <a:lnTo>
                      <a:pt x="46" y="168"/>
                    </a:lnTo>
                    <a:lnTo>
                      <a:pt x="51" y="170"/>
                    </a:lnTo>
                    <a:lnTo>
                      <a:pt x="54" y="168"/>
                    </a:lnTo>
                    <a:lnTo>
                      <a:pt x="55" y="166"/>
                    </a:lnTo>
                    <a:lnTo>
                      <a:pt x="55" y="155"/>
                    </a:lnTo>
                    <a:lnTo>
                      <a:pt x="55" y="139"/>
                    </a:lnTo>
                    <a:lnTo>
                      <a:pt x="56" y="129"/>
                    </a:lnTo>
                    <a:lnTo>
                      <a:pt x="58" y="122"/>
                    </a:lnTo>
                    <a:lnTo>
                      <a:pt x="61" y="116"/>
                    </a:lnTo>
                    <a:lnTo>
                      <a:pt x="67" y="114"/>
                    </a:lnTo>
                    <a:lnTo>
                      <a:pt x="72" y="116"/>
                    </a:lnTo>
                    <a:lnTo>
                      <a:pt x="73" y="120"/>
                    </a:lnTo>
                    <a:lnTo>
                      <a:pt x="72" y="131"/>
                    </a:lnTo>
                    <a:lnTo>
                      <a:pt x="71" y="147"/>
                    </a:lnTo>
                    <a:lnTo>
                      <a:pt x="68" y="162"/>
                    </a:lnTo>
                    <a:lnTo>
                      <a:pt x="64" y="175"/>
                    </a:lnTo>
                    <a:lnTo>
                      <a:pt x="60" y="192"/>
                    </a:lnTo>
                    <a:lnTo>
                      <a:pt x="55" y="206"/>
                    </a:lnTo>
                    <a:lnTo>
                      <a:pt x="43" y="225"/>
                    </a:lnTo>
                    <a:lnTo>
                      <a:pt x="34" y="237"/>
                    </a:lnTo>
                    <a:lnTo>
                      <a:pt x="18" y="255"/>
                    </a:lnTo>
                    <a:lnTo>
                      <a:pt x="8" y="268"/>
                    </a:lnTo>
                    <a:lnTo>
                      <a:pt x="0" y="280"/>
                    </a:lnTo>
                    <a:lnTo>
                      <a:pt x="0" y="285"/>
                    </a:lnTo>
                    <a:lnTo>
                      <a:pt x="8" y="294"/>
                    </a:lnTo>
                    <a:lnTo>
                      <a:pt x="20" y="305"/>
                    </a:lnTo>
                    <a:lnTo>
                      <a:pt x="31" y="305"/>
                    </a:lnTo>
                    <a:lnTo>
                      <a:pt x="34" y="302"/>
                    </a:lnTo>
                    <a:lnTo>
                      <a:pt x="29" y="296"/>
                    </a:lnTo>
                    <a:lnTo>
                      <a:pt x="24" y="289"/>
                    </a:lnTo>
                    <a:lnTo>
                      <a:pt x="24" y="284"/>
                    </a:lnTo>
                    <a:lnTo>
                      <a:pt x="31" y="272"/>
                    </a:lnTo>
                    <a:lnTo>
                      <a:pt x="44" y="259"/>
                    </a:lnTo>
                    <a:lnTo>
                      <a:pt x="64" y="234"/>
                    </a:lnTo>
                    <a:lnTo>
                      <a:pt x="81" y="213"/>
                    </a:lnTo>
                    <a:lnTo>
                      <a:pt x="88" y="206"/>
                    </a:lnTo>
                    <a:lnTo>
                      <a:pt x="92" y="201"/>
                    </a:lnTo>
                    <a:lnTo>
                      <a:pt x="99" y="200"/>
                    </a:lnTo>
                    <a:lnTo>
                      <a:pt x="106" y="204"/>
                    </a:lnTo>
                    <a:lnTo>
                      <a:pt x="114" y="209"/>
                    </a:lnTo>
                    <a:lnTo>
                      <a:pt x="130" y="230"/>
                    </a:lnTo>
                    <a:lnTo>
                      <a:pt x="148" y="255"/>
                    </a:lnTo>
                    <a:lnTo>
                      <a:pt x="165" y="280"/>
                    </a:lnTo>
                    <a:lnTo>
                      <a:pt x="175" y="294"/>
                    </a:lnTo>
                    <a:lnTo>
                      <a:pt x="179" y="297"/>
                    </a:lnTo>
                    <a:lnTo>
                      <a:pt x="186" y="297"/>
                    </a:lnTo>
                    <a:lnTo>
                      <a:pt x="192" y="292"/>
                    </a:lnTo>
                    <a:lnTo>
                      <a:pt x="200" y="287"/>
                    </a:lnTo>
                    <a:lnTo>
                      <a:pt x="207" y="281"/>
                    </a:lnTo>
                  </a:path>
                </a:pathLst>
              </a:custGeom>
              <a:solidFill>
                <a:srgbClr val="CECECE"/>
              </a:solidFill>
              <a:ln w="2540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21" name="Group 312">
                <a:extLst>
                  <a:ext uri="{FF2B5EF4-FFF2-40B4-BE49-F238E27FC236}">
                    <a16:creationId xmlns:a16="http://schemas.microsoft.com/office/drawing/2014/main" id="{66E75C3C-779F-4A19-87E7-0C4BD2895D5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83" y="1440"/>
                <a:ext cx="244" cy="326"/>
                <a:chOff x="1053" y="1458"/>
                <a:chExt cx="244" cy="326"/>
              </a:xfrm>
            </p:grpSpPr>
            <p:grpSp>
              <p:nvGrpSpPr>
                <p:cNvPr id="122" name="Group 313">
                  <a:extLst>
                    <a:ext uri="{FF2B5EF4-FFF2-40B4-BE49-F238E27FC236}">
                      <a16:creationId xmlns:a16="http://schemas.microsoft.com/office/drawing/2014/main" id="{F97DD956-10AC-47B8-87C2-AEE1AB22917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53" y="1458"/>
                  <a:ext cx="244" cy="326"/>
                  <a:chOff x="1053" y="1458"/>
                  <a:chExt cx="244" cy="326"/>
                </a:xfrm>
              </p:grpSpPr>
              <p:sp>
                <p:nvSpPr>
                  <p:cNvPr id="125" name="AutoShape 314">
                    <a:extLst>
                      <a:ext uri="{FF2B5EF4-FFF2-40B4-BE49-F238E27FC236}">
                        <a16:creationId xmlns:a16="http://schemas.microsoft.com/office/drawing/2014/main" id="{77E5D328-DD43-4C66-BAE3-43461607CEF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53" y="1510"/>
                    <a:ext cx="244" cy="274"/>
                  </a:xfrm>
                  <a:prstGeom prst="cube">
                    <a:avLst>
                      <a:gd name="adj" fmla="val 24995"/>
                    </a:avLst>
                  </a:prstGeom>
                  <a:solidFill>
                    <a:schemeClr val="bg1"/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26" name="AutoShape 315">
                    <a:extLst>
                      <a:ext uri="{FF2B5EF4-FFF2-40B4-BE49-F238E27FC236}">
                        <a16:creationId xmlns:a16="http://schemas.microsoft.com/office/drawing/2014/main" id="{7C4DAE0E-26E2-4FE6-BA08-FA908348F34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111" y="1458"/>
                    <a:ext cx="186" cy="49"/>
                  </a:xfrm>
                  <a:prstGeom prst="cube">
                    <a:avLst>
                      <a:gd name="adj" fmla="val 24995"/>
                    </a:avLst>
                  </a:prstGeom>
                  <a:solidFill>
                    <a:schemeClr val="bg1"/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123" name="Oval 316">
                  <a:extLst>
                    <a:ext uri="{FF2B5EF4-FFF2-40B4-BE49-F238E27FC236}">
                      <a16:creationId xmlns:a16="http://schemas.microsoft.com/office/drawing/2014/main" id="{48FA729C-BF63-4E1D-862C-F1791520F4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12" y="1486"/>
                  <a:ext cx="27" cy="8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4" name="AutoShape 317">
                  <a:extLst>
                    <a:ext uri="{FF2B5EF4-FFF2-40B4-BE49-F238E27FC236}">
                      <a16:creationId xmlns:a16="http://schemas.microsoft.com/office/drawing/2014/main" id="{0D5E3787-DB28-4AA0-8E14-DB415DCD90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69" y="1640"/>
                  <a:ext cx="145" cy="59"/>
                </a:xfrm>
                <a:prstGeom prst="octagon">
                  <a:avLst>
                    <a:gd name="adj" fmla="val 29282"/>
                  </a:avLst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80" name="Group 318">
              <a:extLst>
                <a:ext uri="{FF2B5EF4-FFF2-40B4-BE49-F238E27FC236}">
                  <a16:creationId xmlns:a16="http://schemas.microsoft.com/office/drawing/2014/main" id="{A65B1378-0CAA-40ED-9096-C2B046A3BD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016"/>
              <a:ext cx="1088" cy="344"/>
              <a:chOff x="801" y="1440"/>
              <a:chExt cx="1088" cy="344"/>
            </a:xfrm>
          </p:grpSpPr>
          <p:grpSp>
            <p:nvGrpSpPr>
              <p:cNvPr id="100" name="Group 319">
                <a:extLst>
                  <a:ext uri="{FF2B5EF4-FFF2-40B4-BE49-F238E27FC236}">
                    <a16:creationId xmlns:a16="http://schemas.microsoft.com/office/drawing/2014/main" id="{39B2648B-8646-4DF5-AE65-416C3A3FF7D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01" y="1458"/>
                <a:ext cx="218" cy="326"/>
                <a:chOff x="801" y="1458"/>
                <a:chExt cx="218" cy="326"/>
              </a:xfrm>
            </p:grpSpPr>
            <p:sp>
              <p:nvSpPr>
                <p:cNvPr id="115" name="AutoShape 320">
                  <a:extLst>
                    <a:ext uri="{FF2B5EF4-FFF2-40B4-BE49-F238E27FC236}">
                      <a16:creationId xmlns:a16="http://schemas.microsoft.com/office/drawing/2014/main" id="{16A4798C-62B2-47AD-9E45-59A5BB2E1CD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1" y="1510"/>
                  <a:ext cx="218" cy="274"/>
                </a:xfrm>
                <a:prstGeom prst="cube">
                  <a:avLst>
                    <a:gd name="adj" fmla="val 24995"/>
                  </a:avLst>
                </a:prstGeom>
                <a:solidFill>
                  <a:srgbClr val="DC008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6" name="AutoShape 321">
                  <a:extLst>
                    <a:ext uri="{FF2B5EF4-FFF2-40B4-BE49-F238E27FC236}">
                      <a16:creationId xmlns:a16="http://schemas.microsoft.com/office/drawing/2014/main" id="{264A9CB6-2AFD-4359-B5AC-8D7751143DE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54" y="1458"/>
                  <a:ext cx="165" cy="49"/>
                </a:xfrm>
                <a:prstGeom prst="cube">
                  <a:avLst>
                    <a:gd name="adj" fmla="val 24995"/>
                  </a:avLst>
                </a:prstGeom>
                <a:solidFill>
                  <a:srgbClr val="DC008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7" name="AutoShape 322">
                  <a:extLst>
                    <a:ext uri="{FF2B5EF4-FFF2-40B4-BE49-F238E27FC236}">
                      <a16:creationId xmlns:a16="http://schemas.microsoft.com/office/drawing/2014/main" id="{D090C934-B2F7-477C-AB66-1A04D33A1E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45" y="1532"/>
                  <a:ext cx="114" cy="18"/>
                </a:xfrm>
                <a:prstGeom prst="parallelogram">
                  <a:avLst>
                    <a:gd name="adj" fmla="val 158304"/>
                  </a:avLst>
                </a:prstGeom>
                <a:solidFill>
                  <a:srgbClr val="DC008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1" name="Group 323">
                <a:extLst>
                  <a:ext uri="{FF2B5EF4-FFF2-40B4-BE49-F238E27FC236}">
                    <a16:creationId xmlns:a16="http://schemas.microsoft.com/office/drawing/2014/main" id="{5477544C-6D1C-48E1-A389-602F880B902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92" y="1488"/>
                <a:ext cx="213" cy="269"/>
                <a:chOff x="1345" y="1500"/>
                <a:chExt cx="213" cy="269"/>
              </a:xfrm>
            </p:grpSpPr>
            <p:sp>
              <p:nvSpPr>
                <p:cNvPr id="109" name="Freeform 324">
                  <a:extLst>
                    <a:ext uri="{FF2B5EF4-FFF2-40B4-BE49-F238E27FC236}">
                      <a16:creationId xmlns:a16="http://schemas.microsoft.com/office/drawing/2014/main" id="{A6E819B7-D7B9-4A6D-A5BC-F9B634720A8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83" y="1625"/>
                  <a:ext cx="64" cy="144"/>
                </a:xfrm>
                <a:custGeom>
                  <a:avLst/>
                  <a:gdLst>
                    <a:gd name="T0" fmla="*/ 46 w 64"/>
                    <a:gd name="T1" fmla="*/ 0 h 144"/>
                    <a:gd name="T2" fmla="*/ 63 w 64"/>
                    <a:gd name="T3" fmla="*/ 0 h 144"/>
                    <a:gd name="T4" fmla="*/ 17 w 64"/>
                    <a:gd name="T5" fmla="*/ 143 h 144"/>
                    <a:gd name="T6" fmla="*/ 0 w 64"/>
                    <a:gd name="T7" fmla="*/ 143 h 144"/>
                    <a:gd name="T8" fmla="*/ 46 w 64"/>
                    <a:gd name="T9" fmla="*/ 0 h 14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4"/>
                    <a:gd name="T16" fmla="*/ 0 h 144"/>
                    <a:gd name="T17" fmla="*/ 64 w 64"/>
                    <a:gd name="T18" fmla="*/ 144 h 14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4" h="144">
                      <a:moveTo>
                        <a:pt x="46" y="0"/>
                      </a:moveTo>
                      <a:lnTo>
                        <a:pt x="63" y="0"/>
                      </a:lnTo>
                      <a:lnTo>
                        <a:pt x="17" y="143"/>
                      </a:lnTo>
                      <a:lnTo>
                        <a:pt x="0" y="143"/>
                      </a:lnTo>
                      <a:lnTo>
                        <a:pt x="46" y="0"/>
                      </a:lnTo>
                    </a:path>
                  </a:pathLst>
                </a:custGeom>
                <a:solidFill>
                  <a:srgbClr val="F39FD1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0" name="Rectangle 325">
                  <a:extLst>
                    <a:ext uri="{FF2B5EF4-FFF2-40B4-BE49-F238E27FC236}">
                      <a16:creationId xmlns:a16="http://schemas.microsoft.com/office/drawing/2014/main" id="{259A4DED-42DE-4A2B-AE34-8E7CBFDF6A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8" y="1625"/>
                  <a:ext cx="80" cy="12"/>
                </a:xfrm>
                <a:prstGeom prst="rect">
                  <a:avLst/>
                </a:prstGeom>
                <a:solidFill>
                  <a:srgbClr val="F39FD1"/>
                </a:solidFill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1" name="Rectangle 326">
                  <a:extLst>
                    <a:ext uri="{FF2B5EF4-FFF2-40B4-BE49-F238E27FC236}">
                      <a16:creationId xmlns:a16="http://schemas.microsoft.com/office/drawing/2014/main" id="{127D473E-3CEF-46EC-A3C2-04C2944296D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86" y="1683"/>
                  <a:ext cx="60" cy="14"/>
                </a:xfrm>
                <a:prstGeom prst="rect">
                  <a:avLst/>
                </a:prstGeom>
                <a:solidFill>
                  <a:srgbClr val="F39FD1"/>
                </a:solidFill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2" name="Rectangle 327">
                  <a:extLst>
                    <a:ext uri="{FF2B5EF4-FFF2-40B4-BE49-F238E27FC236}">
                      <a16:creationId xmlns:a16="http://schemas.microsoft.com/office/drawing/2014/main" id="{AFE07B8E-6F89-42CA-BA5D-86A5C3EE3CC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47" y="1683"/>
                  <a:ext cx="79" cy="10"/>
                </a:xfrm>
                <a:prstGeom prst="rect">
                  <a:avLst/>
                </a:prstGeom>
                <a:solidFill>
                  <a:srgbClr val="F39FD1"/>
                </a:solidFill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3" name="Oval 328">
                  <a:extLst>
                    <a:ext uri="{FF2B5EF4-FFF2-40B4-BE49-F238E27FC236}">
                      <a16:creationId xmlns:a16="http://schemas.microsoft.com/office/drawing/2014/main" id="{B26CC3E8-68EE-45C6-9FB9-05041843887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09" y="1500"/>
                  <a:ext cx="24" cy="27"/>
                </a:xfrm>
                <a:prstGeom prst="ellipse">
                  <a:avLst/>
                </a:prstGeom>
                <a:solidFill>
                  <a:srgbClr val="F39FD1"/>
                </a:solidFill>
                <a:ln w="254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4" name="Freeform 329">
                  <a:extLst>
                    <a:ext uri="{FF2B5EF4-FFF2-40B4-BE49-F238E27FC236}">
                      <a16:creationId xmlns:a16="http://schemas.microsoft.com/office/drawing/2014/main" id="{BCB16D23-DAA5-4850-B52C-B4157BB2ED7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345" y="1547"/>
                  <a:ext cx="146" cy="222"/>
                </a:xfrm>
                <a:custGeom>
                  <a:avLst/>
                  <a:gdLst>
                    <a:gd name="T0" fmla="*/ 1 w 146"/>
                    <a:gd name="T1" fmla="*/ 102 h 222"/>
                    <a:gd name="T2" fmla="*/ 1 w 146"/>
                    <a:gd name="T3" fmla="*/ 105 h 222"/>
                    <a:gd name="T4" fmla="*/ 0 w 146"/>
                    <a:gd name="T5" fmla="*/ 109 h 222"/>
                    <a:gd name="T6" fmla="*/ 0 w 146"/>
                    <a:gd name="T7" fmla="*/ 112 h 222"/>
                    <a:gd name="T8" fmla="*/ 1 w 146"/>
                    <a:gd name="T9" fmla="*/ 116 h 222"/>
                    <a:gd name="T10" fmla="*/ 3 w 146"/>
                    <a:gd name="T11" fmla="*/ 119 h 222"/>
                    <a:gd name="T12" fmla="*/ 6 w 146"/>
                    <a:gd name="T13" fmla="*/ 122 h 222"/>
                    <a:gd name="T14" fmla="*/ 9 w 146"/>
                    <a:gd name="T15" fmla="*/ 124 h 222"/>
                    <a:gd name="T16" fmla="*/ 12 w 146"/>
                    <a:gd name="T17" fmla="*/ 125 h 222"/>
                    <a:gd name="T18" fmla="*/ 16 w 146"/>
                    <a:gd name="T19" fmla="*/ 125 h 222"/>
                    <a:gd name="T20" fmla="*/ 95 w 146"/>
                    <a:gd name="T21" fmla="*/ 221 h 222"/>
                    <a:gd name="T22" fmla="*/ 120 w 146"/>
                    <a:gd name="T23" fmla="*/ 106 h 222"/>
                    <a:gd name="T24" fmla="*/ 119 w 146"/>
                    <a:gd name="T25" fmla="*/ 104 h 222"/>
                    <a:gd name="T26" fmla="*/ 118 w 146"/>
                    <a:gd name="T27" fmla="*/ 102 h 222"/>
                    <a:gd name="T28" fmla="*/ 116 w 146"/>
                    <a:gd name="T29" fmla="*/ 100 h 222"/>
                    <a:gd name="T30" fmla="*/ 114 w 146"/>
                    <a:gd name="T31" fmla="*/ 98 h 222"/>
                    <a:gd name="T32" fmla="*/ 111 w 146"/>
                    <a:gd name="T33" fmla="*/ 97 h 222"/>
                    <a:gd name="T34" fmla="*/ 108 w 146"/>
                    <a:gd name="T35" fmla="*/ 96 h 222"/>
                    <a:gd name="T36" fmla="*/ 106 w 146"/>
                    <a:gd name="T37" fmla="*/ 96 h 222"/>
                    <a:gd name="T38" fmla="*/ 103 w 146"/>
                    <a:gd name="T39" fmla="*/ 96 h 222"/>
                    <a:gd name="T40" fmla="*/ 70 w 146"/>
                    <a:gd name="T41" fmla="*/ 56 h 222"/>
                    <a:gd name="T42" fmla="*/ 135 w 146"/>
                    <a:gd name="T43" fmla="*/ 70 h 222"/>
                    <a:gd name="T44" fmla="*/ 137 w 146"/>
                    <a:gd name="T45" fmla="*/ 69 h 222"/>
                    <a:gd name="T46" fmla="*/ 139 w 146"/>
                    <a:gd name="T47" fmla="*/ 68 h 222"/>
                    <a:gd name="T48" fmla="*/ 142 w 146"/>
                    <a:gd name="T49" fmla="*/ 66 h 222"/>
                    <a:gd name="T50" fmla="*/ 144 w 146"/>
                    <a:gd name="T51" fmla="*/ 65 h 222"/>
                    <a:gd name="T52" fmla="*/ 144 w 146"/>
                    <a:gd name="T53" fmla="*/ 62 h 222"/>
                    <a:gd name="T54" fmla="*/ 145 w 146"/>
                    <a:gd name="T55" fmla="*/ 59 h 222"/>
                    <a:gd name="T56" fmla="*/ 144 w 146"/>
                    <a:gd name="T57" fmla="*/ 55 h 222"/>
                    <a:gd name="T58" fmla="*/ 143 w 146"/>
                    <a:gd name="T59" fmla="*/ 53 h 222"/>
                    <a:gd name="T60" fmla="*/ 141 w 146"/>
                    <a:gd name="T61" fmla="*/ 51 h 222"/>
                    <a:gd name="T62" fmla="*/ 139 w 146"/>
                    <a:gd name="T63" fmla="*/ 49 h 222"/>
                    <a:gd name="T64" fmla="*/ 136 w 146"/>
                    <a:gd name="T65" fmla="*/ 48 h 222"/>
                    <a:gd name="T66" fmla="*/ 92 w 146"/>
                    <a:gd name="T67" fmla="*/ 48 h 222"/>
                    <a:gd name="T68" fmla="*/ 84 w 146"/>
                    <a:gd name="T69" fmla="*/ 31 h 222"/>
                    <a:gd name="T70" fmla="*/ 85 w 146"/>
                    <a:gd name="T71" fmla="*/ 27 h 222"/>
                    <a:gd name="T72" fmla="*/ 85 w 146"/>
                    <a:gd name="T73" fmla="*/ 23 h 222"/>
                    <a:gd name="T74" fmla="*/ 85 w 146"/>
                    <a:gd name="T75" fmla="*/ 18 h 222"/>
                    <a:gd name="T76" fmla="*/ 84 w 146"/>
                    <a:gd name="T77" fmla="*/ 14 h 222"/>
                    <a:gd name="T78" fmla="*/ 83 w 146"/>
                    <a:gd name="T79" fmla="*/ 11 h 222"/>
                    <a:gd name="T80" fmla="*/ 80 w 146"/>
                    <a:gd name="T81" fmla="*/ 8 h 222"/>
                    <a:gd name="T82" fmla="*/ 77 w 146"/>
                    <a:gd name="T83" fmla="*/ 5 h 222"/>
                    <a:gd name="T84" fmla="*/ 74 w 146"/>
                    <a:gd name="T85" fmla="*/ 3 h 222"/>
                    <a:gd name="T86" fmla="*/ 70 w 146"/>
                    <a:gd name="T87" fmla="*/ 1 h 222"/>
                    <a:gd name="T88" fmla="*/ 65 w 146"/>
                    <a:gd name="T89" fmla="*/ 0 h 222"/>
                    <a:gd name="T90" fmla="*/ 61 w 146"/>
                    <a:gd name="T91" fmla="*/ 0 h 222"/>
                    <a:gd name="T92" fmla="*/ 56 w 146"/>
                    <a:gd name="T93" fmla="*/ 1 h 222"/>
                    <a:gd name="T94" fmla="*/ 52 w 146"/>
                    <a:gd name="T95" fmla="*/ 2 h 222"/>
                    <a:gd name="T96" fmla="*/ 47 w 146"/>
                    <a:gd name="T97" fmla="*/ 5 h 222"/>
                    <a:gd name="T98" fmla="*/ 44 w 146"/>
                    <a:gd name="T99" fmla="*/ 8 h 222"/>
                    <a:gd name="T100" fmla="*/ 41 w 146"/>
                    <a:gd name="T101" fmla="*/ 12 h 222"/>
                    <a:gd name="T102" fmla="*/ 39 w 146"/>
                    <a:gd name="T103" fmla="*/ 17 h 222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w 146"/>
                    <a:gd name="T157" fmla="*/ 0 h 222"/>
                    <a:gd name="T158" fmla="*/ 146 w 146"/>
                    <a:gd name="T159" fmla="*/ 222 h 222"/>
                  </a:gdLst>
                  <a:ahLst/>
                  <a:cxnLst>
                    <a:cxn ang="T104">
                      <a:pos x="T0" y="T1"/>
                    </a:cxn>
                    <a:cxn ang="T105">
                      <a:pos x="T2" y="T3"/>
                    </a:cxn>
                    <a:cxn ang="T106">
                      <a:pos x="T4" y="T5"/>
                    </a:cxn>
                    <a:cxn ang="T107">
                      <a:pos x="T6" y="T7"/>
                    </a:cxn>
                    <a:cxn ang="T108">
                      <a:pos x="T8" y="T9"/>
                    </a:cxn>
                    <a:cxn ang="T109">
                      <a:pos x="T10" y="T11"/>
                    </a:cxn>
                    <a:cxn ang="T110">
                      <a:pos x="T12" y="T13"/>
                    </a:cxn>
                    <a:cxn ang="T111">
                      <a:pos x="T14" y="T15"/>
                    </a:cxn>
                    <a:cxn ang="T112">
                      <a:pos x="T16" y="T17"/>
                    </a:cxn>
                    <a:cxn ang="T113">
                      <a:pos x="T18" y="T19"/>
                    </a:cxn>
                    <a:cxn ang="T114">
                      <a:pos x="T20" y="T21"/>
                    </a:cxn>
                    <a:cxn ang="T115">
                      <a:pos x="T22" y="T23"/>
                    </a:cxn>
                    <a:cxn ang="T116">
                      <a:pos x="T24" y="T25"/>
                    </a:cxn>
                    <a:cxn ang="T117">
                      <a:pos x="T26" y="T27"/>
                    </a:cxn>
                    <a:cxn ang="T118">
                      <a:pos x="T28" y="T29"/>
                    </a:cxn>
                    <a:cxn ang="T119">
                      <a:pos x="T30" y="T31"/>
                    </a:cxn>
                    <a:cxn ang="T120">
                      <a:pos x="T32" y="T33"/>
                    </a:cxn>
                    <a:cxn ang="T121">
                      <a:pos x="T34" y="T35"/>
                    </a:cxn>
                    <a:cxn ang="T122">
                      <a:pos x="T36" y="T37"/>
                    </a:cxn>
                    <a:cxn ang="T123">
                      <a:pos x="T38" y="T39"/>
                    </a:cxn>
                    <a:cxn ang="T124">
                      <a:pos x="T40" y="T41"/>
                    </a:cxn>
                    <a:cxn ang="T125">
                      <a:pos x="T42" y="T43"/>
                    </a:cxn>
                    <a:cxn ang="T126">
                      <a:pos x="T44" y="T45"/>
                    </a:cxn>
                    <a:cxn ang="T127">
                      <a:pos x="T46" y="T47"/>
                    </a:cxn>
                    <a:cxn ang="T128">
                      <a:pos x="T48" y="T49"/>
                    </a:cxn>
                    <a:cxn ang="T129">
                      <a:pos x="T50" y="T51"/>
                    </a:cxn>
                    <a:cxn ang="T130">
                      <a:pos x="T52" y="T53"/>
                    </a:cxn>
                    <a:cxn ang="T131">
                      <a:pos x="T54" y="T55"/>
                    </a:cxn>
                    <a:cxn ang="T132">
                      <a:pos x="T56" y="T57"/>
                    </a:cxn>
                    <a:cxn ang="T133">
                      <a:pos x="T58" y="T59"/>
                    </a:cxn>
                    <a:cxn ang="T134">
                      <a:pos x="T60" y="T61"/>
                    </a:cxn>
                    <a:cxn ang="T135">
                      <a:pos x="T62" y="T63"/>
                    </a:cxn>
                    <a:cxn ang="T136">
                      <a:pos x="T64" y="T65"/>
                    </a:cxn>
                    <a:cxn ang="T137">
                      <a:pos x="T66" y="T67"/>
                    </a:cxn>
                    <a:cxn ang="T138">
                      <a:pos x="T68" y="T69"/>
                    </a:cxn>
                    <a:cxn ang="T139">
                      <a:pos x="T70" y="T71"/>
                    </a:cxn>
                    <a:cxn ang="T140">
                      <a:pos x="T72" y="T73"/>
                    </a:cxn>
                    <a:cxn ang="T141">
                      <a:pos x="T74" y="T75"/>
                    </a:cxn>
                    <a:cxn ang="T142">
                      <a:pos x="T76" y="T77"/>
                    </a:cxn>
                    <a:cxn ang="T143">
                      <a:pos x="T78" y="T79"/>
                    </a:cxn>
                    <a:cxn ang="T144">
                      <a:pos x="T80" y="T81"/>
                    </a:cxn>
                    <a:cxn ang="T145">
                      <a:pos x="T82" y="T83"/>
                    </a:cxn>
                    <a:cxn ang="T146">
                      <a:pos x="T84" y="T85"/>
                    </a:cxn>
                    <a:cxn ang="T147">
                      <a:pos x="T86" y="T87"/>
                    </a:cxn>
                    <a:cxn ang="T148">
                      <a:pos x="T88" y="T89"/>
                    </a:cxn>
                    <a:cxn ang="T149">
                      <a:pos x="T90" y="T91"/>
                    </a:cxn>
                    <a:cxn ang="T150">
                      <a:pos x="T92" y="T93"/>
                    </a:cxn>
                    <a:cxn ang="T151">
                      <a:pos x="T94" y="T95"/>
                    </a:cxn>
                    <a:cxn ang="T152">
                      <a:pos x="T96" y="T97"/>
                    </a:cxn>
                    <a:cxn ang="T153">
                      <a:pos x="T98" y="T99"/>
                    </a:cxn>
                    <a:cxn ang="T154">
                      <a:pos x="T100" y="T101"/>
                    </a:cxn>
                    <a:cxn ang="T155">
                      <a:pos x="T102" y="T103"/>
                    </a:cxn>
                  </a:cxnLst>
                  <a:rect l="T156" t="T157" r="T158" b="T159"/>
                  <a:pathLst>
                    <a:path w="146" h="222">
                      <a:moveTo>
                        <a:pt x="39" y="17"/>
                      </a:moveTo>
                      <a:lnTo>
                        <a:pt x="1" y="102"/>
                      </a:lnTo>
                      <a:lnTo>
                        <a:pt x="1" y="104"/>
                      </a:lnTo>
                      <a:lnTo>
                        <a:pt x="1" y="105"/>
                      </a:lnTo>
                      <a:lnTo>
                        <a:pt x="0" y="106"/>
                      </a:lnTo>
                      <a:lnTo>
                        <a:pt x="0" y="109"/>
                      </a:lnTo>
                      <a:lnTo>
                        <a:pt x="0" y="110"/>
                      </a:lnTo>
                      <a:lnTo>
                        <a:pt x="0" y="112"/>
                      </a:lnTo>
                      <a:lnTo>
                        <a:pt x="1" y="114"/>
                      </a:lnTo>
                      <a:lnTo>
                        <a:pt x="1" y="116"/>
                      </a:lnTo>
                      <a:lnTo>
                        <a:pt x="2" y="117"/>
                      </a:lnTo>
                      <a:lnTo>
                        <a:pt x="3" y="119"/>
                      </a:lnTo>
                      <a:lnTo>
                        <a:pt x="5" y="121"/>
                      </a:lnTo>
                      <a:lnTo>
                        <a:pt x="6" y="122"/>
                      </a:lnTo>
                      <a:lnTo>
                        <a:pt x="8" y="123"/>
                      </a:lnTo>
                      <a:lnTo>
                        <a:pt x="9" y="124"/>
                      </a:lnTo>
                      <a:lnTo>
                        <a:pt x="10" y="124"/>
                      </a:lnTo>
                      <a:lnTo>
                        <a:pt x="12" y="125"/>
                      </a:lnTo>
                      <a:lnTo>
                        <a:pt x="14" y="125"/>
                      </a:lnTo>
                      <a:lnTo>
                        <a:pt x="16" y="125"/>
                      </a:lnTo>
                      <a:lnTo>
                        <a:pt x="95" y="125"/>
                      </a:lnTo>
                      <a:lnTo>
                        <a:pt x="95" y="221"/>
                      </a:lnTo>
                      <a:lnTo>
                        <a:pt x="120" y="221"/>
                      </a:lnTo>
                      <a:lnTo>
                        <a:pt x="120" y="106"/>
                      </a:lnTo>
                      <a:lnTo>
                        <a:pt x="120" y="105"/>
                      </a:lnTo>
                      <a:lnTo>
                        <a:pt x="119" y="104"/>
                      </a:lnTo>
                      <a:lnTo>
                        <a:pt x="118" y="102"/>
                      </a:lnTo>
                      <a:lnTo>
                        <a:pt x="117" y="101"/>
                      </a:lnTo>
                      <a:lnTo>
                        <a:pt x="116" y="100"/>
                      </a:lnTo>
                      <a:lnTo>
                        <a:pt x="115" y="99"/>
                      </a:lnTo>
                      <a:lnTo>
                        <a:pt x="114" y="98"/>
                      </a:lnTo>
                      <a:lnTo>
                        <a:pt x="113" y="98"/>
                      </a:lnTo>
                      <a:lnTo>
                        <a:pt x="111" y="97"/>
                      </a:lnTo>
                      <a:lnTo>
                        <a:pt x="110" y="97"/>
                      </a:lnTo>
                      <a:lnTo>
                        <a:pt x="108" y="96"/>
                      </a:lnTo>
                      <a:lnTo>
                        <a:pt x="107" y="96"/>
                      </a:lnTo>
                      <a:lnTo>
                        <a:pt x="106" y="96"/>
                      </a:lnTo>
                      <a:lnTo>
                        <a:pt x="104" y="96"/>
                      </a:lnTo>
                      <a:lnTo>
                        <a:pt x="103" y="96"/>
                      </a:lnTo>
                      <a:lnTo>
                        <a:pt x="57" y="94"/>
                      </a:lnTo>
                      <a:lnTo>
                        <a:pt x="70" y="56"/>
                      </a:lnTo>
                      <a:lnTo>
                        <a:pt x="79" y="70"/>
                      </a:lnTo>
                      <a:lnTo>
                        <a:pt x="135" y="70"/>
                      </a:lnTo>
                      <a:lnTo>
                        <a:pt x="136" y="69"/>
                      </a:lnTo>
                      <a:lnTo>
                        <a:pt x="137" y="69"/>
                      </a:lnTo>
                      <a:lnTo>
                        <a:pt x="139" y="68"/>
                      </a:lnTo>
                      <a:lnTo>
                        <a:pt x="140" y="67"/>
                      </a:lnTo>
                      <a:lnTo>
                        <a:pt x="142" y="66"/>
                      </a:lnTo>
                      <a:lnTo>
                        <a:pt x="142" y="65"/>
                      </a:lnTo>
                      <a:lnTo>
                        <a:pt x="144" y="65"/>
                      </a:lnTo>
                      <a:lnTo>
                        <a:pt x="144" y="63"/>
                      </a:lnTo>
                      <a:lnTo>
                        <a:pt x="144" y="62"/>
                      </a:lnTo>
                      <a:lnTo>
                        <a:pt x="145" y="61"/>
                      </a:lnTo>
                      <a:lnTo>
                        <a:pt x="145" y="59"/>
                      </a:lnTo>
                      <a:lnTo>
                        <a:pt x="145" y="57"/>
                      </a:lnTo>
                      <a:lnTo>
                        <a:pt x="144" y="55"/>
                      </a:lnTo>
                      <a:lnTo>
                        <a:pt x="144" y="54"/>
                      </a:lnTo>
                      <a:lnTo>
                        <a:pt x="143" y="53"/>
                      </a:lnTo>
                      <a:lnTo>
                        <a:pt x="142" y="52"/>
                      </a:lnTo>
                      <a:lnTo>
                        <a:pt x="141" y="51"/>
                      </a:lnTo>
                      <a:lnTo>
                        <a:pt x="140" y="50"/>
                      </a:lnTo>
                      <a:lnTo>
                        <a:pt x="139" y="49"/>
                      </a:lnTo>
                      <a:lnTo>
                        <a:pt x="138" y="48"/>
                      </a:lnTo>
                      <a:lnTo>
                        <a:pt x="136" y="48"/>
                      </a:lnTo>
                      <a:lnTo>
                        <a:pt x="135" y="48"/>
                      </a:lnTo>
                      <a:lnTo>
                        <a:pt x="92" y="48"/>
                      </a:lnTo>
                      <a:lnTo>
                        <a:pt x="83" y="33"/>
                      </a:lnTo>
                      <a:lnTo>
                        <a:pt x="84" y="31"/>
                      </a:lnTo>
                      <a:lnTo>
                        <a:pt x="85" y="29"/>
                      </a:lnTo>
                      <a:lnTo>
                        <a:pt x="85" y="27"/>
                      </a:lnTo>
                      <a:lnTo>
                        <a:pt x="85" y="25"/>
                      </a:lnTo>
                      <a:lnTo>
                        <a:pt x="85" y="23"/>
                      </a:lnTo>
                      <a:lnTo>
                        <a:pt x="85" y="21"/>
                      </a:lnTo>
                      <a:lnTo>
                        <a:pt x="85" y="18"/>
                      </a:lnTo>
                      <a:lnTo>
                        <a:pt x="85" y="16"/>
                      </a:lnTo>
                      <a:lnTo>
                        <a:pt x="84" y="14"/>
                      </a:lnTo>
                      <a:lnTo>
                        <a:pt x="84" y="13"/>
                      </a:lnTo>
                      <a:lnTo>
                        <a:pt x="83" y="11"/>
                      </a:lnTo>
                      <a:lnTo>
                        <a:pt x="82" y="10"/>
                      </a:lnTo>
                      <a:lnTo>
                        <a:pt x="80" y="8"/>
                      </a:lnTo>
                      <a:lnTo>
                        <a:pt x="79" y="7"/>
                      </a:lnTo>
                      <a:lnTo>
                        <a:pt x="77" y="5"/>
                      </a:lnTo>
                      <a:lnTo>
                        <a:pt x="76" y="4"/>
                      </a:lnTo>
                      <a:lnTo>
                        <a:pt x="74" y="3"/>
                      </a:lnTo>
                      <a:lnTo>
                        <a:pt x="72" y="2"/>
                      </a:lnTo>
                      <a:lnTo>
                        <a:pt x="70" y="1"/>
                      </a:lnTo>
                      <a:lnTo>
                        <a:pt x="67" y="1"/>
                      </a:lnTo>
                      <a:lnTo>
                        <a:pt x="65" y="0"/>
                      </a:lnTo>
                      <a:lnTo>
                        <a:pt x="63" y="0"/>
                      </a:lnTo>
                      <a:lnTo>
                        <a:pt x="61" y="0"/>
                      </a:lnTo>
                      <a:lnTo>
                        <a:pt x="59" y="0"/>
                      </a:lnTo>
                      <a:lnTo>
                        <a:pt x="56" y="1"/>
                      </a:lnTo>
                      <a:lnTo>
                        <a:pt x="54" y="1"/>
                      </a:lnTo>
                      <a:lnTo>
                        <a:pt x="52" y="2"/>
                      </a:lnTo>
                      <a:lnTo>
                        <a:pt x="50" y="3"/>
                      </a:lnTo>
                      <a:lnTo>
                        <a:pt x="47" y="5"/>
                      </a:lnTo>
                      <a:lnTo>
                        <a:pt x="46" y="7"/>
                      </a:lnTo>
                      <a:lnTo>
                        <a:pt x="44" y="8"/>
                      </a:lnTo>
                      <a:lnTo>
                        <a:pt x="43" y="10"/>
                      </a:lnTo>
                      <a:lnTo>
                        <a:pt x="41" y="12"/>
                      </a:lnTo>
                      <a:lnTo>
                        <a:pt x="40" y="14"/>
                      </a:lnTo>
                      <a:lnTo>
                        <a:pt x="39" y="17"/>
                      </a:lnTo>
                    </a:path>
                  </a:pathLst>
                </a:custGeom>
                <a:solidFill>
                  <a:srgbClr val="F39FD1"/>
                </a:solidFill>
                <a:ln w="1270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02" name="Freeform 330">
                <a:extLst>
                  <a:ext uri="{FF2B5EF4-FFF2-40B4-BE49-F238E27FC236}">
                    <a16:creationId xmlns:a16="http://schemas.microsoft.com/office/drawing/2014/main" id="{42471AA2-AC62-4EF9-8242-9A2C9AC376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80" y="1440"/>
                <a:ext cx="209" cy="306"/>
              </a:xfrm>
              <a:custGeom>
                <a:avLst/>
                <a:gdLst>
                  <a:gd name="T0" fmla="*/ 208 w 209"/>
                  <a:gd name="T1" fmla="*/ 276 h 306"/>
                  <a:gd name="T2" fmla="*/ 192 w 209"/>
                  <a:gd name="T3" fmla="*/ 276 h 306"/>
                  <a:gd name="T4" fmla="*/ 165 w 209"/>
                  <a:gd name="T5" fmla="*/ 241 h 306"/>
                  <a:gd name="T6" fmla="*/ 127 w 209"/>
                  <a:gd name="T7" fmla="*/ 177 h 306"/>
                  <a:gd name="T8" fmla="*/ 116 w 209"/>
                  <a:gd name="T9" fmla="*/ 149 h 306"/>
                  <a:gd name="T10" fmla="*/ 119 w 209"/>
                  <a:gd name="T11" fmla="*/ 129 h 306"/>
                  <a:gd name="T12" fmla="*/ 128 w 209"/>
                  <a:gd name="T13" fmla="*/ 125 h 306"/>
                  <a:gd name="T14" fmla="*/ 143 w 209"/>
                  <a:gd name="T15" fmla="*/ 135 h 306"/>
                  <a:gd name="T16" fmla="*/ 162 w 209"/>
                  <a:gd name="T17" fmla="*/ 147 h 306"/>
                  <a:gd name="T18" fmla="*/ 171 w 209"/>
                  <a:gd name="T19" fmla="*/ 147 h 306"/>
                  <a:gd name="T20" fmla="*/ 173 w 209"/>
                  <a:gd name="T21" fmla="*/ 141 h 306"/>
                  <a:gd name="T22" fmla="*/ 164 w 209"/>
                  <a:gd name="T23" fmla="*/ 129 h 306"/>
                  <a:gd name="T24" fmla="*/ 141 w 209"/>
                  <a:gd name="T25" fmla="*/ 113 h 306"/>
                  <a:gd name="T26" fmla="*/ 132 w 209"/>
                  <a:gd name="T27" fmla="*/ 91 h 306"/>
                  <a:gd name="T28" fmla="*/ 128 w 209"/>
                  <a:gd name="T29" fmla="*/ 72 h 306"/>
                  <a:gd name="T30" fmla="*/ 118 w 209"/>
                  <a:gd name="T31" fmla="*/ 59 h 306"/>
                  <a:gd name="T32" fmla="*/ 114 w 209"/>
                  <a:gd name="T33" fmla="*/ 50 h 306"/>
                  <a:gd name="T34" fmla="*/ 119 w 209"/>
                  <a:gd name="T35" fmla="*/ 38 h 306"/>
                  <a:gd name="T36" fmla="*/ 124 w 209"/>
                  <a:gd name="T37" fmla="*/ 25 h 306"/>
                  <a:gd name="T38" fmla="*/ 120 w 209"/>
                  <a:gd name="T39" fmla="*/ 9 h 306"/>
                  <a:gd name="T40" fmla="*/ 110 w 209"/>
                  <a:gd name="T41" fmla="*/ 1 h 306"/>
                  <a:gd name="T42" fmla="*/ 94 w 209"/>
                  <a:gd name="T43" fmla="*/ 3 h 306"/>
                  <a:gd name="T44" fmla="*/ 88 w 209"/>
                  <a:gd name="T45" fmla="*/ 13 h 306"/>
                  <a:gd name="T46" fmla="*/ 88 w 209"/>
                  <a:gd name="T47" fmla="*/ 24 h 306"/>
                  <a:gd name="T48" fmla="*/ 92 w 209"/>
                  <a:gd name="T49" fmla="*/ 37 h 306"/>
                  <a:gd name="T50" fmla="*/ 92 w 209"/>
                  <a:gd name="T51" fmla="*/ 49 h 306"/>
                  <a:gd name="T52" fmla="*/ 81 w 209"/>
                  <a:gd name="T53" fmla="*/ 59 h 306"/>
                  <a:gd name="T54" fmla="*/ 68 w 209"/>
                  <a:gd name="T55" fmla="*/ 67 h 306"/>
                  <a:gd name="T56" fmla="*/ 58 w 209"/>
                  <a:gd name="T57" fmla="*/ 79 h 306"/>
                  <a:gd name="T58" fmla="*/ 48 w 209"/>
                  <a:gd name="T59" fmla="*/ 104 h 306"/>
                  <a:gd name="T60" fmla="*/ 43 w 209"/>
                  <a:gd name="T61" fmla="*/ 128 h 306"/>
                  <a:gd name="T62" fmla="*/ 42 w 209"/>
                  <a:gd name="T63" fmla="*/ 153 h 306"/>
                  <a:gd name="T64" fmla="*/ 43 w 209"/>
                  <a:gd name="T65" fmla="*/ 166 h 306"/>
                  <a:gd name="T66" fmla="*/ 51 w 209"/>
                  <a:gd name="T67" fmla="*/ 170 h 306"/>
                  <a:gd name="T68" fmla="*/ 55 w 209"/>
                  <a:gd name="T69" fmla="*/ 166 h 306"/>
                  <a:gd name="T70" fmla="*/ 55 w 209"/>
                  <a:gd name="T71" fmla="*/ 139 h 306"/>
                  <a:gd name="T72" fmla="*/ 58 w 209"/>
                  <a:gd name="T73" fmla="*/ 122 h 306"/>
                  <a:gd name="T74" fmla="*/ 67 w 209"/>
                  <a:gd name="T75" fmla="*/ 114 h 306"/>
                  <a:gd name="T76" fmla="*/ 73 w 209"/>
                  <a:gd name="T77" fmla="*/ 120 h 306"/>
                  <a:gd name="T78" fmla="*/ 71 w 209"/>
                  <a:gd name="T79" fmla="*/ 147 h 306"/>
                  <a:gd name="T80" fmla="*/ 64 w 209"/>
                  <a:gd name="T81" fmla="*/ 175 h 306"/>
                  <a:gd name="T82" fmla="*/ 55 w 209"/>
                  <a:gd name="T83" fmla="*/ 206 h 306"/>
                  <a:gd name="T84" fmla="*/ 34 w 209"/>
                  <a:gd name="T85" fmla="*/ 237 h 306"/>
                  <a:gd name="T86" fmla="*/ 8 w 209"/>
                  <a:gd name="T87" fmla="*/ 268 h 306"/>
                  <a:gd name="T88" fmla="*/ 0 w 209"/>
                  <a:gd name="T89" fmla="*/ 285 h 306"/>
                  <a:gd name="T90" fmla="*/ 20 w 209"/>
                  <a:gd name="T91" fmla="*/ 305 h 306"/>
                  <a:gd name="T92" fmla="*/ 34 w 209"/>
                  <a:gd name="T93" fmla="*/ 302 h 306"/>
                  <a:gd name="T94" fmla="*/ 24 w 209"/>
                  <a:gd name="T95" fmla="*/ 289 h 306"/>
                  <a:gd name="T96" fmla="*/ 31 w 209"/>
                  <a:gd name="T97" fmla="*/ 272 h 306"/>
                  <a:gd name="T98" fmla="*/ 64 w 209"/>
                  <a:gd name="T99" fmla="*/ 234 h 306"/>
                  <a:gd name="T100" fmla="*/ 88 w 209"/>
                  <a:gd name="T101" fmla="*/ 206 h 306"/>
                  <a:gd name="T102" fmla="*/ 99 w 209"/>
                  <a:gd name="T103" fmla="*/ 200 h 306"/>
                  <a:gd name="T104" fmla="*/ 114 w 209"/>
                  <a:gd name="T105" fmla="*/ 209 h 306"/>
                  <a:gd name="T106" fmla="*/ 148 w 209"/>
                  <a:gd name="T107" fmla="*/ 255 h 306"/>
                  <a:gd name="T108" fmla="*/ 175 w 209"/>
                  <a:gd name="T109" fmla="*/ 294 h 306"/>
                  <a:gd name="T110" fmla="*/ 186 w 209"/>
                  <a:gd name="T111" fmla="*/ 297 h 306"/>
                  <a:gd name="T112" fmla="*/ 200 w 209"/>
                  <a:gd name="T113" fmla="*/ 287 h 30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209"/>
                  <a:gd name="T172" fmla="*/ 0 h 306"/>
                  <a:gd name="T173" fmla="*/ 209 w 209"/>
                  <a:gd name="T174" fmla="*/ 306 h 30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209" h="306">
                    <a:moveTo>
                      <a:pt x="207" y="281"/>
                    </a:moveTo>
                    <a:lnTo>
                      <a:pt x="208" y="276"/>
                    </a:lnTo>
                    <a:lnTo>
                      <a:pt x="200" y="277"/>
                    </a:lnTo>
                    <a:lnTo>
                      <a:pt x="192" y="276"/>
                    </a:lnTo>
                    <a:lnTo>
                      <a:pt x="182" y="268"/>
                    </a:lnTo>
                    <a:lnTo>
                      <a:pt x="165" y="241"/>
                    </a:lnTo>
                    <a:lnTo>
                      <a:pt x="140" y="200"/>
                    </a:lnTo>
                    <a:lnTo>
                      <a:pt x="127" y="177"/>
                    </a:lnTo>
                    <a:lnTo>
                      <a:pt x="118" y="159"/>
                    </a:lnTo>
                    <a:lnTo>
                      <a:pt x="116" y="149"/>
                    </a:lnTo>
                    <a:lnTo>
                      <a:pt x="116" y="137"/>
                    </a:lnTo>
                    <a:lnTo>
                      <a:pt x="119" y="129"/>
                    </a:lnTo>
                    <a:lnTo>
                      <a:pt x="124" y="125"/>
                    </a:lnTo>
                    <a:lnTo>
                      <a:pt x="128" y="125"/>
                    </a:lnTo>
                    <a:lnTo>
                      <a:pt x="133" y="128"/>
                    </a:lnTo>
                    <a:lnTo>
                      <a:pt x="143" y="135"/>
                    </a:lnTo>
                    <a:lnTo>
                      <a:pt x="154" y="143"/>
                    </a:lnTo>
                    <a:lnTo>
                      <a:pt x="162" y="147"/>
                    </a:lnTo>
                    <a:lnTo>
                      <a:pt x="167" y="149"/>
                    </a:lnTo>
                    <a:lnTo>
                      <a:pt x="171" y="147"/>
                    </a:lnTo>
                    <a:lnTo>
                      <a:pt x="174" y="143"/>
                    </a:lnTo>
                    <a:lnTo>
                      <a:pt x="173" y="141"/>
                    </a:lnTo>
                    <a:lnTo>
                      <a:pt x="171" y="137"/>
                    </a:lnTo>
                    <a:lnTo>
                      <a:pt x="164" y="129"/>
                    </a:lnTo>
                    <a:lnTo>
                      <a:pt x="149" y="120"/>
                    </a:lnTo>
                    <a:lnTo>
                      <a:pt x="141" y="113"/>
                    </a:lnTo>
                    <a:lnTo>
                      <a:pt x="136" y="104"/>
                    </a:lnTo>
                    <a:lnTo>
                      <a:pt x="132" y="91"/>
                    </a:lnTo>
                    <a:lnTo>
                      <a:pt x="131" y="78"/>
                    </a:lnTo>
                    <a:lnTo>
                      <a:pt x="128" y="72"/>
                    </a:lnTo>
                    <a:lnTo>
                      <a:pt x="124" y="66"/>
                    </a:lnTo>
                    <a:lnTo>
                      <a:pt x="118" y="59"/>
                    </a:lnTo>
                    <a:lnTo>
                      <a:pt x="114" y="55"/>
                    </a:lnTo>
                    <a:lnTo>
                      <a:pt x="114" y="50"/>
                    </a:lnTo>
                    <a:lnTo>
                      <a:pt x="116" y="42"/>
                    </a:lnTo>
                    <a:lnTo>
                      <a:pt x="119" y="38"/>
                    </a:lnTo>
                    <a:lnTo>
                      <a:pt x="122" y="33"/>
                    </a:lnTo>
                    <a:lnTo>
                      <a:pt x="124" y="25"/>
                    </a:lnTo>
                    <a:lnTo>
                      <a:pt x="122" y="16"/>
                    </a:lnTo>
                    <a:lnTo>
                      <a:pt x="120" y="9"/>
                    </a:lnTo>
                    <a:lnTo>
                      <a:pt x="116" y="4"/>
                    </a:lnTo>
                    <a:lnTo>
                      <a:pt x="110" y="1"/>
                    </a:lnTo>
                    <a:lnTo>
                      <a:pt x="101" y="0"/>
                    </a:lnTo>
                    <a:lnTo>
                      <a:pt x="94" y="3"/>
                    </a:lnTo>
                    <a:lnTo>
                      <a:pt x="90" y="7"/>
                    </a:lnTo>
                    <a:lnTo>
                      <a:pt x="88" y="13"/>
                    </a:lnTo>
                    <a:lnTo>
                      <a:pt x="86" y="18"/>
                    </a:lnTo>
                    <a:lnTo>
                      <a:pt x="88" y="24"/>
                    </a:lnTo>
                    <a:lnTo>
                      <a:pt x="90" y="32"/>
                    </a:lnTo>
                    <a:lnTo>
                      <a:pt x="92" y="37"/>
                    </a:lnTo>
                    <a:lnTo>
                      <a:pt x="93" y="42"/>
                    </a:lnTo>
                    <a:lnTo>
                      <a:pt x="92" y="49"/>
                    </a:lnTo>
                    <a:lnTo>
                      <a:pt x="88" y="54"/>
                    </a:lnTo>
                    <a:lnTo>
                      <a:pt x="81" y="59"/>
                    </a:lnTo>
                    <a:lnTo>
                      <a:pt x="73" y="63"/>
                    </a:lnTo>
                    <a:lnTo>
                      <a:pt x="68" y="67"/>
                    </a:lnTo>
                    <a:lnTo>
                      <a:pt x="63" y="72"/>
                    </a:lnTo>
                    <a:lnTo>
                      <a:pt x="58" y="79"/>
                    </a:lnTo>
                    <a:lnTo>
                      <a:pt x="52" y="91"/>
                    </a:lnTo>
                    <a:lnTo>
                      <a:pt x="48" y="104"/>
                    </a:lnTo>
                    <a:lnTo>
                      <a:pt x="44" y="114"/>
                    </a:lnTo>
                    <a:lnTo>
                      <a:pt x="43" y="128"/>
                    </a:lnTo>
                    <a:lnTo>
                      <a:pt x="42" y="143"/>
                    </a:lnTo>
                    <a:lnTo>
                      <a:pt x="42" y="153"/>
                    </a:lnTo>
                    <a:lnTo>
                      <a:pt x="42" y="160"/>
                    </a:lnTo>
                    <a:lnTo>
                      <a:pt x="43" y="166"/>
                    </a:lnTo>
                    <a:lnTo>
                      <a:pt x="46" y="168"/>
                    </a:lnTo>
                    <a:lnTo>
                      <a:pt x="51" y="170"/>
                    </a:lnTo>
                    <a:lnTo>
                      <a:pt x="54" y="168"/>
                    </a:lnTo>
                    <a:lnTo>
                      <a:pt x="55" y="166"/>
                    </a:lnTo>
                    <a:lnTo>
                      <a:pt x="55" y="155"/>
                    </a:lnTo>
                    <a:lnTo>
                      <a:pt x="55" y="139"/>
                    </a:lnTo>
                    <a:lnTo>
                      <a:pt x="56" y="129"/>
                    </a:lnTo>
                    <a:lnTo>
                      <a:pt x="58" y="122"/>
                    </a:lnTo>
                    <a:lnTo>
                      <a:pt x="61" y="116"/>
                    </a:lnTo>
                    <a:lnTo>
                      <a:pt x="67" y="114"/>
                    </a:lnTo>
                    <a:lnTo>
                      <a:pt x="72" y="116"/>
                    </a:lnTo>
                    <a:lnTo>
                      <a:pt x="73" y="120"/>
                    </a:lnTo>
                    <a:lnTo>
                      <a:pt x="72" y="131"/>
                    </a:lnTo>
                    <a:lnTo>
                      <a:pt x="71" y="147"/>
                    </a:lnTo>
                    <a:lnTo>
                      <a:pt x="68" y="162"/>
                    </a:lnTo>
                    <a:lnTo>
                      <a:pt x="64" y="175"/>
                    </a:lnTo>
                    <a:lnTo>
                      <a:pt x="60" y="192"/>
                    </a:lnTo>
                    <a:lnTo>
                      <a:pt x="55" y="206"/>
                    </a:lnTo>
                    <a:lnTo>
                      <a:pt x="43" y="225"/>
                    </a:lnTo>
                    <a:lnTo>
                      <a:pt x="34" y="237"/>
                    </a:lnTo>
                    <a:lnTo>
                      <a:pt x="18" y="255"/>
                    </a:lnTo>
                    <a:lnTo>
                      <a:pt x="8" y="268"/>
                    </a:lnTo>
                    <a:lnTo>
                      <a:pt x="0" y="280"/>
                    </a:lnTo>
                    <a:lnTo>
                      <a:pt x="0" y="285"/>
                    </a:lnTo>
                    <a:lnTo>
                      <a:pt x="8" y="294"/>
                    </a:lnTo>
                    <a:lnTo>
                      <a:pt x="20" y="305"/>
                    </a:lnTo>
                    <a:lnTo>
                      <a:pt x="31" y="305"/>
                    </a:lnTo>
                    <a:lnTo>
                      <a:pt x="34" y="302"/>
                    </a:lnTo>
                    <a:lnTo>
                      <a:pt x="29" y="296"/>
                    </a:lnTo>
                    <a:lnTo>
                      <a:pt x="24" y="289"/>
                    </a:lnTo>
                    <a:lnTo>
                      <a:pt x="24" y="284"/>
                    </a:lnTo>
                    <a:lnTo>
                      <a:pt x="31" y="272"/>
                    </a:lnTo>
                    <a:lnTo>
                      <a:pt x="44" y="259"/>
                    </a:lnTo>
                    <a:lnTo>
                      <a:pt x="64" y="234"/>
                    </a:lnTo>
                    <a:lnTo>
                      <a:pt x="81" y="213"/>
                    </a:lnTo>
                    <a:lnTo>
                      <a:pt x="88" y="206"/>
                    </a:lnTo>
                    <a:lnTo>
                      <a:pt x="92" y="201"/>
                    </a:lnTo>
                    <a:lnTo>
                      <a:pt x="99" y="200"/>
                    </a:lnTo>
                    <a:lnTo>
                      <a:pt x="106" y="204"/>
                    </a:lnTo>
                    <a:lnTo>
                      <a:pt x="114" y="209"/>
                    </a:lnTo>
                    <a:lnTo>
                      <a:pt x="130" y="230"/>
                    </a:lnTo>
                    <a:lnTo>
                      <a:pt x="148" y="255"/>
                    </a:lnTo>
                    <a:lnTo>
                      <a:pt x="165" y="280"/>
                    </a:lnTo>
                    <a:lnTo>
                      <a:pt x="175" y="294"/>
                    </a:lnTo>
                    <a:lnTo>
                      <a:pt x="179" y="297"/>
                    </a:lnTo>
                    <a:lnTo>
                      <a:pt x="186" y="297"/>
                    </a:lnTo>
                    <a:lnTo>
                      <a:pt x="192" y="292"/>
                    </a:lnTo>
                    <a:lnTo>
                      <a:pt x="200" y="287"/>
                    </a:lnTo>
                    <a:lnTo>
                      <a:pt x="207" y="281"/>
                    </a:lnTo>
                  </a:path>
                </a:pathLst>
              </a:custGeom>
              <a:solidFill>
                <a:srgbClr val="CECECE"/>
              </a:solidFill>
              <a:ln w="2540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3" name="Group 331">
                <a:extLst>
                  <a:ext uri="{FF2B5EF4-FFF2-40B4-BE49-F238E27FC236}">
                    <a16:creationId xmlns:a16="http://schemas.microsoft.com/office/drawing/2014/main" id="{4121BF72-BB63-4B01-BCF8-66F181F57FE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63" y="1440"/>
                <a:ext cx="264" cy="326"/>
                <a:chOff x="1033" y="1458"/>
                <a:chExt cx="264" cy="326"/>
              </a:xfrm>
            </p:grpSpPr>
            <p:grpSp>
              <p:nvGrpSpPr>
                <p:cNvPr id="104" name="Group 332">
                  <a:extLst>
                    <a:ext uri="{FF2B5EF4-FFF2-40B4-BE49-F238E27FC236}">
                      <a16:creationId xmlns:a16="http://schemas.microsoft.com/office/drawing/2014/main" id="{487C04FA-2255-45B8-ABD1-B919F31D926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33" y="1458"/>
                  <a:ext cx="264" cy="326"/>
                  <a:chOff x="1033" y="1458"/>
                  <a:chExt cx="264" cy="326"/>
                </a:xfrm>
              </p:grpSpPr>
              <p:sp>
                <p:nvSpPr>
                  <p:cNvPr id="107" name="AutoShape 333">
                    <a:extLst>
                      <a:ext uri="{FF2B5EF4-FFF2-40B4-BE49-F238E27FC236}">
                        <a16:creationId xmlns:a16="http://schemas.microsoft.com/office/drawing/2014/main" id="{CEB7E5F2-A105-4899-B46A-0BF861ECD3C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33" y="1510"/>
                    <a:ext cx="264" cy="274"/>
                  </a:xfrm>
                  <a:prstGeom prst="cube">
                    <a:avLst>
                      <a:gd name="adj" fmla="val 24995"/>
                    </a:avLst>
                  </a:prstGeom>
                  <a:solidFill>
                    <a:schemeClr val="bg1"/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8" name="AutoShape 334">
                    <a:extLst>
                      <a:ext uri="{FF2B5EF4-FFF2-40B4-BE49-F238E27FC236}">
                        <a16:creationId xmlns:a16="http://schemas.microsoft.com/office/drawing/2014/main" id="{4AF7EA53-D0D4-4C8A-AE45-E9425558746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95" y="1458"/>
                    <a:ext cx="202" cy="49"/>
                  </a:xfrm>
                  <a:prstGeom prst="cube">
                    <a:avLst>
                      <a:gd name="adj" fmla="val 24995"/>
                    </a:avLst>
                  </a:prstGeom>
                  <a:solidFill>
                    <a:schemeClr val="bg1"/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105" name="Oval 335">
                  <a:extLst>
                    <a:ext uri="{FF2B5EF4-FFF2-40B4-BE49-F238E27FC236}">
                      <a16:creationId xmlns:a16="http://schemas.microsoft.com/office/drawing/2014/main" id="{35883CAE-2049-430D-8675-730C3378C30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12" y="1486"/>
                  <a:ext cx="27" cy="8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" name="AutoShape 336">
                  <a:extLst>
                    <a:ext uri="{FF2B5EF4-FFF2-40B4-BE49-F238E27FC236}">
                      <a16:creationId xmlns:a16="http://schemas.microsoft.com/office/drawing/2014/main" id="{D58EF1BD-E4C3-40F6-A886-9DCD30F3F2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58" y="1640"/>
                  <a:ext cx="145" cy="59"/>
                </a:xfrm>
                <a:prstGeom prst="octagon">
                  <a:avLst>
                    <a:gd name="adj" fmla="val 29282"/>
                  </a:avLst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81" name="Group 337">
              <a:extLst>
                <a:ext uri="{FF2B5EF4-FFF2-40B4-BE49-F238E27FC236}">
                  <a16:creationId xmlns:a16="http://schemas.microsoft.com/office/drawing/2014/main" id="{A7107F3F-4B0B-43C4-A3E2-F292C67FBF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20" y="2352"/>
              <a:ext cx="1088" cy="344"/>
              <a:chOff x="801" y="1440"/>
              <a:chExt cx="1088" cy="344"/>
            </a:xfrm>
          </p:grpSpPr>
          <p:grpSp>
            <p:nvGrpSpPr>
              <p:cNvPr id="82" name="Group 338">
                <a:extLst>
                  <a:ext uri="{FF2B5EF4-FFF2-40B4-BE49-F238E27FC236}">
                    <a16:creationId xmlns:a16="http://schemas.microsoft.com/office/drawing/2014/main" id="{53B82EFE-7DB0-4E6A-8C79-8F279D50E42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01" y="1458"/>
                <a:ext cx="218" cy="326"/>
                <a:chOff x="801" y="1458"/>
                <a:chExt cx="218" cy="326"/>
              </a:xfrm>
            </p:grpSpPr>
            <p:sp>
              <p:nvSpPr>
                <p:cNvPr id="97" name="AutoShape 339">
                  <a:extLst>
                    <a:ext uri="{FF2B5EF4-FFF2-40B4-BE49-F238E27FC236}">
                      <a16:creationId xmlns:a16="http://schemas.microsoft.com/office/drawing/2014/main" id="{C83C8B5E-D8C9-4C5A-A8F4-FF5E860451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1" y="1510"/>
                  <a:ext cx="218" cy="274"/>
                </a:xfrm>
                <a:prstGeom prst="cube">
                  <a:avLst>
                    <a:gd name="adj" fmla="val 24995"/>
                  </a:avLst>
                </a:prstGeom>
                <a:solidFill>
                  <a:srgbClr val="DC008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8" name="AutoShape 340">
                  <a:extLst>
                    <a:ext uri="{FF2B5EF4-FFF2-40B4-BE49-F238E27FC236}">
                      <a16:creationId xmlns:a16="http://schemas.microsoft.com/office/drawing/2014/main" id="{4E93F132-79CE-4DF4-8E4F-E1AD3FDCD2F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54" y="1458"/>
                  <a:ext cx="165" cy="49"/>
                </a:xfrm>
                <a:prstGeom prst="cube">
                  <a:avLst>
                    <a:gd name="adj" fmla="val 24995"/>
                  </a:avLst>
                </a:prstGeom>
                <a:solidFill>
                  <a:srgbClr val="DC008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9" name="AutoShape 341">
                  <a:extLst>
                    <a:ext uri="{FF2B5EF4-FFF2-40B4-BE49-F238E27FC236}">
                      <a16:creationId xmlns:a16="http://schemas.microsoft.com/office/drawing/2014/main" id="{99ACD676-0CFC-40EB-9FE1-0A2466FF72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45" y="1532"/>
                  <a:ext cx="114" cy="18"/>
                </a:xfrm>
                <a:prstGeom prst="parallelogram">
                  <a:avLst>
                    <a:gd name="adj" fmla="val 158304"/>
                  </a:avLst>
                </a:prstGeom>
                <a:solidFill>
                  <a:srgbClr val="DC008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3" name="Group 342">
                <a:extLst>
                  <a:ext uri="{FF2B5EF4-FFF2-40B4-BE49-F238E27FC236}">
                    <a16:creationId xmlns:a16="http://schemas.microsoft.com/office/drawing/2014/main" id="{18290740-BF9D-4769-8E41-C57F842B2AA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92" y="1488"/>
                <a:ext cx="213" cy="269"/>
                <a:chOff x="1345" y="1500"/>
                <a:chExt cx="213" cy="269"/>
              </a:xfrm>
            </p:grpSpPr>
            <p:sp>
              <p:nvSpPr>
                <p:cNvPr id="91" name="Freeform 343">
                  <a:extLst>
                    <a:ext uri="{FF2B5EF4-FFF2-40B4-BE49-F238E27FC236}">
                      <a16:creationId xmlns:a16="http://schemas.microsoft.com/office/drawing/2014/main" id="{44357387-6747-4ACA-97E7-0887DDEB8D4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83" y="1625"/>
                  <a:ext cx="64" cy="144"/>
                </a:xfrm>
                <a:custGeom>
                  <a:avLst/>
                  <a:gdLst>
                    <a:gd name="T0" fmla="*/ 46 w 64"/>
                    <a:gd name="T1" fmla="*/ 0 h 144"/>
                    <a:gd name="T2" fmla="*/ 63 w 64"/>
                    <a:gd name="T3" fmla="*/ 0 h 144"/>
                    <a:gd name="T4" fmla="*/ 17 w 64"/>
                    <a:gd name="T5" fmla="*/ 143 h 144"/>
                    <a:gd name="T6" fmla="*/ 0 w 64"/>
                    <a:gd name="T7" fmla="*/ 143 h 144"/>
                    <a:gd name="T8" fmla="*/ 46 w 64"/>
                    <a:gd name="T9" fmla="*/ 0 h 14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4"/>
                    <a:gd name="T16" fmla="*/ 0 h 144"/>
                    <a:gd name="T17" fmla="*/ 64 w 64"/>
                    <a:gd name="T18" fmla="*/ 144 h 14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4" h="144">
                      <a:moveTo>
                        <a:pt x="46" y="0"/>
                      </a:moveTo>
                      <a:lnTo>
                        <a:pt x="63" y="0"/>
                      </a:lnTo>
                      <a:lnTo>
                        <a:pt x="17" y="143"/>
                      </a:lnTo>
                      <a:lnTo>
                        <a:pt x="0" y="143"/>
                      </a:lnTo>
                      <a:lnTo>
                        <a:pt x="46" y="0"/>
                      </a:lnTo>
                    </a:path>
                  </a:pathLst>
                </a:custGeom>
                <a:solidFill>
                  <a:srgbClr val="F39FD1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2" name="Rectangle 344">
                  <a:extLst>
                    <a:ext uri="{FF2B5EF4-FFF2-40B4-BE49-F238E27FC236}">
                      <a16:creationId xmlns:a16="http://schemas.microsoft.com/office/drawing/2014/main" id="{CD0C0508-F7BF-4647-B295-B85113AE85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8" y="1625"/>
                  <a:ext cx="80" cy="12"/>
                </a:xfrm>
                <a:prstGeom prst="rect">
                  <a:avLst/>
                </a:prstGeom>
                <a:solidFill>
                  <a:srgbClr val="F39FD1"/>
                </a:solidFill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" name="Rectangle 345">
                  <a:extLst>
                    <a:ext uri="{FF2B5EF4-FFF2-40B4-BE49-F238E27FC236}">
                      <a16:creationId xmlns:a16="http://schemas.microsoft.com/office/drawing/2014/main" id="{60ABE83C-0B66-465A-A548-7078D695EBF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86" y="1683"/>
                  <a:ext cx="60" cy="14"/>
                </a:xfrm>
                <a:prstGeom prst="rect">
                  <a:avLst/>
                </a:prstGeom>
                <a:solidFill>
                  <a:srgbClr val="F39FD1"/>
                </a:solidFill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4" name="Rectangle 346">
                  <a:extLst>
                    <a:ext uri="{FF2B5EF4-FFF2-40B4-BE49-F238E27FC236}">
                      <a16:creationId xmlns:a16="http://schemas.microsoft.com/office/drawing/2014/main" id="{B07DB840-9005-4046-9ABC-CEFF7B6085C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47" y="1683"/>
                  <a:ext cx="79" cy="10"/>
                </a:xfrm>
                <a:prstGeom prst="rect">
                  <a:avLst/>
                </a:prstGeom>
                <a:solidFill>
                  <a:srgbClr val="F39FD1"/>
                </a:solidFill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5" name="Oval 347">
                  <a:extLst>
                    <a:ext uri="{FF2B5EF4-FFF2-40B4-BE49-F238E27FC236}">
                      <a16:creationId xmlns:a16="http://schemas.microsoft.com/office/drawing/2014/main" id="{9EBB4F40-4F71-449D-B51F-6B0A6E12F21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09" y="1500"/>
                  <a:ext cx="24" cy="27"/>
                </a:xfrm>
                <a:prstGeom prst="ellipse">
                  <a:avLst/>
                </a:prstGeom>
                <a:solidFill>
                  <a:srgbClr val="F39FD1"/>
                </a:solidFill>
                <a:ln w="254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6" name="Freeform 348">
                  <a:extLst>
                    <a:ext uri="{FF2B5EF4-FFF2-40B4-BE49-F238E27FC236}">
                      <a16:creationId xmlns:a16="http://schemas.microsoft.com/office/drawing/2014/main" id="{59991490-0321-433C-A124-7E1892F8D67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345" y="1547"/>
                  <a:ext cx="146" cy="222"/>
                </a:xfrm>
                <a:custGeom>
                  <a:avLst/>
                  <a:gdLst>
                    <a:gd name="T0" fmla="*/ 1 w 146"/>
                    <a:gd name="T1" fmla="*/ 102 h 222"/>
                    <a:gd name="T2" fmla="*/ 1 w 146"/>
                    <a:gd name="T3" fmla="*/ 105 h 222"/>
                    <a:gd name="T4" fmla="*/ 0 w 146"/>
                    <a:gd name="T5" fmla="*/ 109 h 222"/>
                    <a:gd name="T6" fmla="*/ 0 w 146"/>
                    <a:gd name="T7" fmla="*/ 112 h 222"/>
                    <a:gd name="T8" fmla="*/ 1 w 146"/>
                    <a:gd name="T9" fmla="*/ 116 h 222"/>
                    <a:gd name="T10" fmla="*/ 3 w 146"/>
                    <a:gd name="T11" fmla="*/ 119 h 222"/>
                    <a:gd name="T12" fmla="*/ 6 w 146"/>
                    <a:gd name="T13" fmla="*/ 122 h 222"/>
                    <a:gd name="T14" fmla="*/ 9 w 146"/>
                    <a:gd name="T15" fmla="*/ 124 h 222"/>
                    <a:gd name="T16" fmla="*/ 12 w 146"/>
                    <a:gd name="T17" fmla="*/ 125 h 222"/>
                    <a:gd name="T18" fmla="*/ 16 w 146"/>
                    <a:gd name="T19" fmla="*/ 125 h 222"/>
                    <a:gd name="T20" fmla="*/ 95 w 146"/>
                    <a:gd name="T21" fmla="*/ 221 h 222"/>
                    <a:gd name="T22" fmla="*/ 120 w 146"/>
                    <a:gd name="T23" fmla="*/ 106 h 222"/>
                    <a:gd name="T24" fmla="*/ 119 w 146"/>
                    <a:gd name="T25" fmla="*/ 104 h 222"/>
                    <a:gd name="T26" fmla="*/ 118 w 146"/>
                    <a:gd name="T27" fmla="*/ 102 h 222"/>
                    <a:gd name="T28" fmla="*/ 116 w 146"/>
                    <a:gd name="T29" fmla="*/ 100 h 222"/>
                    <a:gd name="T30" fmla="*/ 114 w 146"/>
                    <a:gd name="T31" fmla="*/ 98 h 222"/>
                    <a:gd name="T32" fmla="*/ 111 w 146"/>
                    <a:gd name="T33" fmla="*/ 97 h 222"/>
                    <a:gd name="T34" fmla="*/ 108 w 146"/>
                    <a:gd name="T35" fmla="*/ 96 h 222"/>
                    <a:gd name="T36" fmla="*/ 106 w 146"/>
                    <a:gd name="T37" fmla="*/ 96 h 222"/>
                    <a:gd name="T38" fmla="*/ 103 w 146"/>
                    <a:gd name="T39" fmla="*/ 96 h 222"/>
                    <a:gd name="T40" fmla="*/ 70 w 146"/>
                    <a:gd name="T41" fmla="*/ 56 h 222"/>
                    <a:gd name="T42" fmla="*/ 135 w 146"/>
                    <a:gd name="T43" fmla="*/ 70 h 222"/>
                    <a:gd name="T44" fmla="*/ 137 w 146"/>
                    <a:gd name="T45" fmla="*/ 69 h 222"/>
                    <a:gd name="T46" fmla="*/ 139 w 146"/>
                    <a:gd name="T47" fmla="*/ 68 h 222"/>
                    <a:gd name="T48" fmla="*/ 142 w 146"/>
                    <a:gd name="T49" fmla="*/ 66 h 222"/>
                    <a:gd name="T50" fmla="*/ 144 w 146"/>
                    <a:gd name="T51" fmla="*/ 65 h 222"/>
                    <a:gd name="T52" fmla="*/ 144 w 146"/>
                    <a:gd name="T53" fmla="*/ 62 h 222"/>
                    <a:gd name="T54" fmla="*/ 145 w 146"/>
                    <a:gd name="T55" fmla="*/ 59 h 222"/>
                    <a:gd name="T56" fmla="*/ 144 w 146"/>
                    <a:gd name="T57" fmla="*/ 55 h 222"/>
                    <a:gd name="T58" fmla="*/ 143 w 146"/>
                    <a:gd name="T59" fmla="*/ 53 h 222"/>
                    <a:gd name="T60" fmla="*/ 141 w 146"/>
                    <a:gd name="T61" fmla="*/ 51 h 222"/>
                    <a:gd name="T62" fmla="*/ 139 w 146"/>
                    <a:gd name="T63" fmla="*/ 49 h 222"/>
                    <a:gd name="T64" fmla="*/ 136 w 146"/>
                    <a:gd name="T65" fmla="*/ 48 h 222"/>
                    <a:gd name="T66" fmla="*/ 92 w 146"/>
                    <a:gd name="T67" fmla="*/ 48 h 222"/>
                    <a:gd name="T68" fmla="*/ 84 w 146"/>
                    <a:gd name="T69" fmla="*/ 31 h 222"/>
                    <a:gd name="T70" fmla="*/ 85 w 146"/>
                    <a:gd name="T71" fmla="*/ 27 h 222"/>
                    <a:gd name="T72" fmla="*/ 85 w 146"/>
                    <a:gd name="T73" fmla="*/ 23 h 222"/>
                    <a:gd name="T74" fmla="*/ 85 w 146"/>
                    <a:gd name="T75" fmla="*/ 18 h 222"/>
                    <a:gd name="T76" fmla="*/ 84 w 146"/>
                    <a:gd name="T77" fmla="*/ 14 h 222"/>
                    <a:gd name="T78" fmla="*/ 83 w 146"/>
                    <a:gd name="T79" fmla="*/ 11 h 222"/>
                    <a:gd name="T80" fmla="*/ 80 w 146"/>
                    <a:gd name="T81" fmla="*/ 8 h 222"/>
                    <a:gd name="T82" fmla="*/ 77 w 146"/>
                    <a:gd name="T83" fmla="*/ 5 h 222"/>
                    <a:gd name="T84" fmla="*/ 74 w 146"/>
                    <a:gd name="T85" fmla="*/ 3 h 222"/>
                    <a:gd name="T86" fmla="*/ 70 w 146"/>
                    <a:gd name="T87" fmla="*/ 1 h 222"/>
                    <a:gd name="T88" fmla="*/ 65 w 146"/>
                    <a:gd name="T89" fmla="*/ 0 h 222"/>
                    <a:gd name="T90" fmla="*/ 61 w 146"/>
                    <a:gd name="T91" fmla="*/ 0 h 222"/>
                    <a:gd name="T92" fmla="*/ 56 w 146"/>
                    <a:gd name="T93" fmla="*/ 1 h 222"/>
                    <a:gd name="T94" fmla="*/ 52 w 146"/>
                    <a:gd name="T95" fmla="*/ 2 h 222"/>
                    <a:gd name="T96" fmla="*/ 47 w 146"/>
                    <a:gd name="T97" fmla="*/ 5 h 222"/>
                    <a:gd name="T98" fmla="*/ 44 w 146"/>
                    <a:gd name="T99" fmla="*/ 8 h 222"/>
                    <a:gd name="T100" fmla="*/ 41 w 146"/>
                    <a:gd name="T101" fmla="*/ 12 h 222"/>
                    <a:gd name="T102" fmla="*/ 39 w 146"/>
                    <a:gd name="T103" fmla="*/ 17 h 222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w 146"/>
                    <a:gd name="T157" fmla="*/ 0 h 222"/>
                    <a:gd name="T158" fmla="*/ 146 w 146"/>
                    <a:gd name="T159" fmla="*/ 222 h 222"/>
                  </a:gdLst>
                  <a:ahLst/>
                  <a:cxnLst>
                    <a:cxn ang="T104">
                      <a:pos x="T0" y="T1"/>
                    </a:cxn>
                    <a:cxn ang="T105">
                      <a:pos x="T2" y="T3"/>
                    </a:cxn>
                    <a:cxn ang="T106">
                      <a:pos x="T4" y="T5"/>
                    </a:cxn>
                    <a:cxn ang="T107">
                      <a:pos x="T6" y="T7"/>
                    </a:cxn>
                    <a:cxn ang="T108">
                      <a:pos x="T8" y="T9"/>
                    </a:cxn>
                    <a:cxn ang="T109">
                      <a:pos x="T10" y="T11"/>
                    </a:cxn>
                    <a:cxn ang="T110">
                      <a:pos x="T12" y="T13"/>
                    </a:cxn>
                    <a:cxn ang="T111">
                      <a:pos x="T14" y="T15"/>
                    </a:cxn>
                    <a:cxn ang="T112">
                      <a:pos x="T16" y="T17"/>
                    </a:cxn>
                    <a:cxn ang="T113">
                      <a:pos x="T18" y="T19"/>
                    </a:cxn>
                    <a:cxn ang="T114">
                      <a:pos x="T20" y="T21"/>
                    </a:cxn>
                    <a:cxn ang="T115">
                      <a:pos x="T22" y="T23"/>
                    </a:cxn>
                    <a:cxn ang="T116">
                      <a:pos x="T24" y="T25"/>
                    </a:cxn>
                    <a:cxn ang="T117">
                      <a:pos x="T26" y="T27"/>
                    </a:cxn>
                    <a:cxn ang="T118">
                      <a:pos x="T28" y="T29"/>
                    </a:cxn>
                    <a:cxn ang="T119">
                      <a:pos x="T30" y="T31"/>
                    </a:cxn>
                    <a:cxn ang="T120">
                      <a:pos x="T32" y="T33"/>
                    </a:cxn>
                    <a:cxn ang="T121">
                      <a:pos x="T34" y="T35"/>
                    </a:cxn>
                    <a:cxn ang="T122">
                      <a:pos x="T36" y="T37"/>
                    </a:cxn>
                    <a:cxn ang="T123">
                      <a:pos x="T38" y="T39"/>
                    </a:cxn>
                    <a:cxn ang="T124">
                      <a:pos x="T40" y="T41"/>
                    </a:cxn>
                    <a:cxn ang="T125">
                      <a:pos x="T42" y="T43"/>
                    </a:cxn>
                    <a:cxn ang="T126">
                      <a:pos x="T44" y="T45"/>
                    </a:cxn>
                    <a:cxn ang="T127">
                      <a:pos x="T46" y="T47"/>
                    </a:cxn>
                    <a:cxn ang="T128">
                      <a:pos x="T48" y="T49"/>
                    </a:cxn>
                    <a:cxn ang="T129">
                      <a:pos x="T50" y="T51"/>
                    </a:cxn>
                    <a:cxn ang="T130">
                      <a:pos x="T52" y="T53"/>
                    </a:cxn>
                    <a:cxn ang="T131">
                      <a:pos x="T54" y="T55"/>
                    </a:cxn>
                    <a:cxn ang="T132">
                      <a:pos x="T56" y="T57"/>
                    </a:cxn>
                    <a:cxn ang="T133">
                      <a:pos x="T58" y="T59"/>
                    </a:cxn>
                    <a:cxn ang="T134">
                      <a:pos x="T60" y="T61"/>
                    </a:cxn>
                    <a:cxn ang="T135">
                      <a:pos x="T62" y="T63"/>
                    </a:cxn>
                    <a:cxn ang="T136">
                      <a:pos x="T64" y="T65"/>
                    </a:cxn>
                    <a:cxn ang="T137">
                      <a:pos x="T66" y="T67"/>
                    </a:cxn>
                    <a:cxn ang="T138">
                      <a:pos x="T68" y="T69"/>
                    </a:cxn>
                    <a:cxn ang="T139">
                      <a:pos x="T70" y="T71"/>
                    </a:cxn>
                    <a:cxn ang="T140">
                      <a:pos x="T72" y="T73"/>
                    </a:cxn>
                    <a:cxn ang="T141">
                      <a:pos x="T74" y="T75"/>
                    </a:cxn>
                    <a:cxn ang="T142">
                      <a:pos x="T76" y="T77"/>
                    </a:cxn>
                    <a:cxn ang="T143">
                      <a:pos x="T78" y="T79"/>
                    </a:cxn>
                    <a:cxn ang="T144">
                      <a:pos x="T80" y="T81"/>
                    </a:cxn>
                    <a:cxn ang="T145">
                      <a:pos x="T82" y="T83"/>
                    </a:cxn>
                    <a:cxn ang="T146">
                      <a:pos x="T84" y="T85"/>
                    </a:cxn>
                    <a:cxn ang="T147">
                      <a:pos x="T86" y="T87"/>
                    </a:cxn>
                    <a:cxn ang="T148">
                      <a:pos x="T88" y="T89"/>
                    </a:cxn>
                    <a:cxn ang="T149">
                      <a:pos x="T90" y="T91"/>
                    </a:cxn>
                    <a:cxn ang="T150">
                      <a:pos x="T92" y="T93"/>
                    </a:cxn>
                    <a:cxn ang="T151">
                      <a:pos x="T94" y="T95"/>
                    </a:cxn>
                    <a:cxn ang="T152">
                      <a:pos x="T96" y="T97"/>
                    </a:cxn>
                    <a:cxn ang="T153">
                      <a:pos x="T98" y="T99"/>
                    </a:cxn>
                    <a:cxn ang="T154">
                      <a:pos x="T100" y="T101"/>
                    </a:cxn>
                    <a:cxn ang="T155">
                      <a:pos x="T102" y="T103"/>
                    </a:cxn>
                  </a:cxnLst>
                  <a:rect l="T156" t="T157" r="T158" b="T159"/>
                  <a:pathLst>
                    <a:path w="146" h="222">
                      <a:moveTo>
                        <a:pt x="39" y="17"/>
                      </a:moveTo>
                      <a:lnTo>
                        <a:pt x="1" y="102"/>
                      </a:lnTo>
                      <a:lnTo>
                        <a:pt x="1" y="104"/>
                      </a:lnTo>
                      <a:lnTo>
                        <a:pt x="1" y="105"/>
                      </a:lnTo>
                      <a:lnTo>
                        <a:pt x="0" y="106"/>
                      </a:lnTo>
                      <a:lnTo>
                        <a:pt x="0" y="109"/>
                      </a:lnTo>
                      <a:lnTo>
                        <a:pt x="0" y="110"/>
                      </a:lnTo>
                      <a:lnTo>
                        <a:pt x="0" y="112"/>
                      </a:lnTo>
                      <a:lnTo>
                        <a:pt x="1" y="114"/>
                      </a:lnTo>
                      <a:lnTo>
                        <a:pt x="1" y="116"/>
                      </a:lnTo>
                      <a:lnTo>
                        <a:pt x="2" y="117"/>
                      </a:lnTo>
                      <a:lnTo>
                        <a:pt x="3" y="119"/>
                      </a:lnTo>
                      <a:lnTo>
                        <a:pt x="5" y="121"/>
                      </a:lnTo>
                      <a:lnTo>
                        <a:pt x="6" y="122"/>
                      </a:lnTo>
                      <a:lnTo>
                        <a:pt x="8" y="123"/>
                      </a:lnTo>
                      <a:lnTo>
                        <a:pt x="9" y="124"/>
                      </a:lnTo>
                      <a:lnTo>
                        <a:pt x="10" y="124"/>
                      </a:lnTo>
                      <a:lnTo>
                        <a:pt x="12" y="125"/>
                      </a:lnTo>
                      <a:lnTo>
                        <a:pt x="14" y="125"/>
                      </a:lnTo>
                      <a:lnTo>
                        <a:pt x="16" y="125"/>
                      </a:lnTo>
                      <a:lnTo>
                        <a:pt x="95" y="125"/>
                      </a:lnTo>
                      <a:lnTo>
                        <a:pt x="95" y="221"/>
                      </a:lnTo>
                      <a:lnTo>
                        <a:pt x="120" y="221"/>
                      </a:lnTo>
                      <a:lnTo>
                        <a:pt x="120" y="106"/>
                      </a:lnTo>
                      <a:lnTo>
                        <a:pt x="120" y="105"/>
                      </a:lnTo>
                      <a:lnTo>
                        <a:pt x="119" y="104"/>
                      </a:lnTo>
                      <a:lnTo>
                        <a:pt x="118" y="102"/>
                      </a:lnTo>
                      <a:lnTo>
                        <a:pt x="117" y="101"/>
                      </a:lnTo>
                      <a:lnTo>
                        <a:pt x="116" y="100"/>
                      </a:lnTo>
                      <a:lnTo>
                        <a:pt x="115" y="99"/>
                      </a:lnTo>
                      <a:lnTo>
                        <a:pt x="114" y="98"/>
                      </a:lnTo>
                      <a:lnTo>
                        <a:pt x="113" y="98"/>
                      </a:lnTo>
                      <a:lnTo>
                        <a:pt x="111" y="97"/>
                      </a:lnTo>
                      <a:lnTo>
                        <a:pt x="110" y="97"/>
                      </a:lnTo>
                      <a:lnTo>
                        <a:pt x="108" y="96"/>
                      </a:lnTo>
                      <a:lnTo>
                        <a:pt x="107" y="96"/>
                      </a:lnTo>
                      <a:lnTo>
                        <a:pt x="106" y="96"/>
                      </a:lnTo>
                      <a:lnTo>
                        <a:pt x="104" y="96"/>
                      </a:lnTo>
                      <a:lnTo>
                        <a:pt x="103" y="96"/>
                      </a:lnTo>
                      <a:lnTo>
                        <a:pt x="57" y="94"/>
                      </a:lnTo>
                      <a:lnTo>
                        <a:pt x="70" y="56"/>
                      </a:lnTo>
                      <a:lnTo>
                        <a:pt x="79" y="70"/>
                      </a:lnTo>
                      <a:lnTo>
                        <a:pt x="135" y="70"/>
                      </a:lnTo>
                      <a:lnTo>
                        <a:pt x="136" y="69"/>
                      </a:lnTo>
                      <a:lnTo>
                        <a:pt x="137" y="69"/>
                      </a:lnTo>
                      <a:lnTo>
                        <a:pt x="139" y="68"/>
                      </a:lnTo>
                      <a:lnTo>
                        <a:pt x="140" y="67"/>
                      </a:lnTo>
                      <a:lnTo>
                        <a:pt x="142" y="66"/>
                      </a:lnTo>
                      <a:lnTo>
                        <a:pt x="142" y="65"/>
                      </a:lnTo>
                      <a:lnTo>
                        <a:pt x="144" y="65"/>
                      </a:lnTo>
                      <a:lnTo>
                        <a:pt x="144" y="63"/>
                      </a:lnTo>
                      <a:lnTo>
                        <a:pt x="144" y="62"/>
                      </a:lnTo>
                      <a:lnTo>
                        <a:pt x="145" y="61"/>
                      </a:lnTo>
                      <a:lnTo>
                        <a:pt x="145" y="59"/>
                      </a:lnTo>
                      <a:lnTo>
                        <a:pt x="145" y="57"/>
                      </a:lnTo>
                      <a:lnTo>
                        <a:pt x="144" y="55"/>
                      </a:lnTo>
                      <a:lnTo>
                        <a:pt x="144" y="54"/>
                      </a:lnTo>
                      <a:lnTo>
                        <a:pt x="143" y="53"/>
                      </a:lnTo>
                      <a:lnTo>
                        <a:pt x="142" y="52"/>
                      </a:lnTo>
                      <a:lnTo>
                        <a:pt x="141" y="51"/>
                      </a:lnTo>
                      <a:lnTo>
                        <a:pt x="140" y="50"/>
                      </a:lnTo>
                      <a:lnTo>
                        <a:pt x="139" y="49"/>
                      </a:lnTo>
                      <a:lnTo>
                        <a:pt x="138" y="48"/>
                      </a:lnTo>
                      <a:lnTo>
                        <a:pt x="136" y="48"/>
                      </a:lnTo>
                      <a:lnTo>
                        <a:pt x="135" y="48"/>
                      </a:lnTo>
                      <a:lnTo>
                        <a:pt x="92" y="48"/>
                      </a:lnTo>
                      <a:lnTo>
                        <a:pt x="83" y="33"/>
                      </a:lnTo>
                      <a:lnTo>
                        <a:pt x="84" y="31"/>
                      </a:lnTo>
                      <a:lnTo>
                        <a:pt x="85" y="29"/>
                      </a:lnTo>
                      <a:lnTo>
                        <a:pt x="85" y="27"/>
                      </a:lnTo>
                      <a:lnTo>
                        <a:pt x="85" y="25"/>
                      </a:lnTo>
                      <a:lnTo>
                        <a:pt x="85" y="23"/>
                      </a:lnTo>
                      <a:lnTo>
                        <a:pt x="85" y="21"/>
                      </a:lnTo>
                      <a:lnTo>
                        <a:pt x="85" y="18"/>
                      </a:lnTo>
                      <a:lnTo>
                        <a:pt x="85" y="16"/>
                      </a:lnTo>
                      <a:lnTo>
                        <a:pt x="84" y="14"/>
                      </a:lnTo>
                      <a:lnTo>
                        <a:pt x="84" y="13"/>
                      </a:lnTo>
                      <a:lnTo>
                        <a:pt x="83" y="11"/>
                      </a:lnTo>
                      <a:lnTo>
                        <a:pt x="82" y="10"/>
                      </a:lnTo>
                      <a:lnTo>
                        <a:pt x="80" y="8"/>
                      </a:lnTo>
                      <a:lnTo>
                        <a:pt x="79" y="7"/>
                      </a:lnTo>
                      <a:lnTo>
                        <a:pt x="77" y="5"/>
                      </a:lnTo>
                      <a:lnTo>
                        <a:pt x="76" y="4"/>
                      </a:lnTo>
                      <a:lnTo>
                        <a:pt x="74" y="3"/>
                      </a:lnTo>
                      <a:lnTo>
                        <a:pt x="72" y="2"/>
                      </a:lnTo>
                      <a:lnTo>
                        <a:pt x="70" y="1"/>
                      </a:lnTo>
                      <a:lnTo>
                        <a:pt x="67" y="1"/>
                      </a:lnTo>
                      <a:lnTo>
                        <a:pt x="65" y="0"/>
                      </a:lnTo>
                      <a:lnTo>
                        <a:pt x="63" y="0"/>
                      </a:lnTo>
                      <a:lnTo>
                        <a:pt x="61" y="0"/>
                      </a:lnTo>
                      <a:lnTo>
                        <a:pt x="59" y="0"/>
                      </a:lnTo>
                      <a:lnTo>
                        <a:pt x="56" y="1"/>
                      </a:lnTo>
                      <a:lnTo>
                        <a:pt x="54" y="1"/>
                      </a:lnTo>
                      <a:lnTo>
                        <a:pt x="52" y="2"/>
                      </a:lnTo>
                      <a:lnTo>
                        <a:pt x="50" y="3"/>
                      </a:lnTo>
                      <a:lnTo>
                        <a:pt x="47" y="5"/>
                      </a:lnTo>
                      <a:lnTo>
                        <a:pt x="46" y="7"/>
                      </a:lnTo>
                      <a:lnTo>
                        <a:pt x="44" y="8"/>
                      </a:lnTo>
                      <a:lnTo>
                        <a:pt x="43" y="10"/>
                      </a:lnTo>
                      <a:lnTo>
                        <a:pt x="41" y="12"/>
                      </a:lnTo>
                      <a:lnTo>
                        <a:pt x="40" y="14"/>
                      </a:lnTo>
                      <a:lnTo>
                        <a:pt x="39" y="17"/>
                      </a:lnTo>
                    </a:path>
                  </a:pathLst>
                </a:custGeom>
                <a:solidFill>
                  <a:srgbClr val="F39FD1"/>
                </a:solidFill>
                <a:ln w="1270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84" name="Freeform 349">
                <a:extLst>
                  <a:ext uri="{FF2B5EF4-FFF2-40B4-BE49-F238E27FC236}">
                    <a16:creationId xmlns:a16="http://schemas.microsoft.com/office/drawing/2014/main" id="{BAC07103-BD6D-4967-8EC7-E57309980F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80" y="1440"/>
                <a:ext cx="209" cy="306"/>
              </a:xfrm>
              <a:custGeom>
                <a:avLst/>
                <a:gdLst>
                  <a:gd name="T0" fmla="*/ 208 w 209"/>
                  <a:gd name="T1" fmla="*/ 276 h 306"/>
                  <a:gd name="T2" fmla="*/ 192 w 209"/>
                  <a:gd name="T3" fmla="*/ 276 h 306"/>
                  <a:gd name="T4" fmla="*/ 165 w 209"/>
                  <a:gd name="T5" fmla="*/ 241 h 306"/>
                  <a:gd name="T6" fmla="*/ 127 w 209"/>
                  <a:gd name="T7" fmla="*/ 177 h 306"/>
                  <a:gd name="T8" fmla="*/ 116 w 209"/>
                  <a:gd name="T9" fmla="*/ 149 h 306"/>
                  <a:gd name="T10" fmla="*/ 119 w 209"/>
                  <a:gd name="T11" fmla="*/ 129 h 306"/>
                  <a:gd name="T12" fmla="*/ 128 w 209"/>
                  <a:gd name="T13" fmla="*/ 125 h 306"/>
                  <a:gd name="T14" fmla="*/ 143 w 209"/>
                  <a:gd name="T15" fmla="*/ 135 h 306"/>
                  <a:gd name="T16" fmla="*/ 162 w 209"/>
                  <a:gd name="T17" fmla="*/ 147 h 306"/>
                  <a:gd name="T18" fmla="*/ 171 w 209"/>
                  <a:gd name="T19" fmla="*/ 147 h 306"/>
                  <a:gd name="T20" fmla="*/ 173 w 209"/>
                  <a:gd name="T21" fmla="*/ 141 h 306"/>
                  <a:gd name="T22" fmla="*/ 164 w 209"/>
                  <a:gd name="T23" fmla="*/ 129 h 306"/>
                  <a:gd name="T24" fmla="*/ 141 w 209"/>
                  <a:gd name="T25" fmla="*/ 113 h 306"/>
                  <a:gd name="T26" fmla="*/ 132 w 209"/>
                  <a:gd name="T27" fmla="*/ 91 h 306"/>
                  <a:gd name="T28" fmla="*/ 128 w 209"/>
                  <a:gd name="T29" fmla="*/ 72 h 306"/>
                  <a:gd name="T30" fmla="*/ 118 w 209"/>
                  <a:gd name="T31" fmla="*/ 59 h 306"/>
                  <a:gd name="T32" fmla="*/ 114 w 209"/>
                  <a:gd name="T33" fmla="*/ 50 h 306"/>
                  <a:gd name="T34" fmla="*/ 119 w 209"/>
                  <a:gd name="T35" fmla="*/ 38 h 306"/>
                  <a:gd name="T36" fmla="*/ 124 w 209"/>
                  <a:gd name="T37" fmla="*/ 25 h 306"/>
                  <a:gd name="T38" fmla="*/ 120 w 209"/>
                  <a:gd name="T39" fmla="*/ 9 h 306"/>
                  <a:gd name="T40" fmla="*/ 110 w 209"/>
                  <a:gd name="T41" fmla="*/ 1 h 306"/>
                  <a:gd name="T42" fmla="*/ 94 w 209"/>
                  <a:gd name="T43" fmla="*/ 3 h 306"/>
                  <a:gd name="T44" fmla="*/ 88 w 209"/>
                  <a:gd name="T45" fmla="*/ 13 h 306"/>
                  <a:gd name="T46" fmla="*/ 88 w 209"/>
                  <a:gd name="T47" fmla="*/ 24 h 306"/>
                  <a:gd name="T48" fmla="*/ 92 w 209"/>
                  <a:gd name="T49" fmla="*/ 37 h 306"/>
                  <a:gd name="T50" fmla="*/ 92 w 209"/>
                  <a:gd name="T51" fmla="*/ 49 h 306"/>
                  <a:gd name="T52" fmla="*/ 81 w 209"/>
                  <a:gd name="T53" fmla="*/ 59 h 306"/>
                  <a:gd name="T54" fmla="*/ 68 w 209"/>
                  <a:gd name="T55" fmla="*/ 67 h 306"/>
                  <a:gd name="T56" fmla="*/ 58 w 209"/>
                  <a:gd name="T57" fmla="*/ 79 h 306"/>
                  <a:gd name="T58" fmla="*/ 48 w 209"/>
                  <a:gd name="T59" fmla="*/ 104 h 306"/>
                  <a:gd name="T60" fmla="*/ 43 w 209"/>
                  <a:gd name="T61" fmla="*/ 128 h 306"/>
                  <a:gd name="T62" fmla="*/ 42 w 209"/>
                  <a:gd name="T63" fmla="*/ 153 h 306"/>
                  <a:gd name="T64" fmla="*/ 43 w 209"/>
                  <a:gd name="T65" fmla="*/ 166 h 306"/>
                  <a:gd name="T66" fmla="*/ 51 w 209"/>
                  <a:gd name="T67" fmla="*/ 170 h 306"/>
                  <a:gd name="T68" fmla="*/ 55 w 209"/>
                  <a:gd name="T69" fmla="*/ 166 h 306"/>
                  <a:gd name="T70" fmla="*/ 55 w 209"/>
                  <a:gd name="T71" fmla="*/ 139 h 306"/>
                  <a:gd name="T72" fmla="*/ 58 w 209"/>
                  <a:gd name="T73" fmla="*/ 122 h 306"/>
                  <a:gd name="T74" fmla="*/ 67 w 209"/>
                  <a:gd name="T75" fmla="*/ 114 h 306"/>
                  <a:gd name="T76" fmla="*/ 73 w 209"/>
                  <a:gd name="T77" fmla="*/ 120 h 306"/>
                  <a:gd name="T78" fmla="*/ 71 w 209"/>
                  <a:gd name="T79" fmla="*/ 147 h 306"/>
                  <a:gd name="T80" fmla="*/ 64 w 209"/>
                  <a:gd name="T81" fmla="*/ 175 h 306"/>
                  <a:gd name="T82" fmla="*/ 55 w 209"/>
                  <a:gd name="T83" fmla="*/ 206 h 306"/>
                  <a:gd name="T84" fmla="*/ 34 w 209"/>
                  <a:gd name="T85" fmla="*/ 237 h 306"/>
                  <a:gd name="T86" fmla="*/ 8 w 209"/>
                  <a:gd name="T87" fmla="*/ 268 h 306"/>
                  <a:gd name="T88" fmla="*/ 0 w 209"/>
                  <a:gd name="T89" fmla="*/ 285 h 306"/>
                  <a:gd name="T90" fmla="*/ 20 w 209"/>
                  <a:gd name="T91" fmla="*/ 305 h 306"/>
                  <a:gd name="T92" fmla="*/ 34 w 209"/>
                  <a:gd name="T93" fmla="*/ 302 h 306"/>
                  <a:gd name="T94" fmla="*/ 24 w 209"/>
                  <a:gd name="T95" fmla="*/ 289 h 306"/>
                  <a:gd name="T96" fmla="*/ 31 w 209"/>
                  <a:gd name="T97" fmla="*/ 272 h 306"/>
                  <a:gd name="T98" fmla="*/ 64 w 209"/>
                  <a:gd name="T99" fmla="*/ 234 h 306"/>
                  <a:gd name="T100" fmla="*/ 88 w 209"/>
                  <a:gd name="T101" fmla="*/ 206 h 306"/>
                  <a:gd name="T102" fmla="*/ 99 w 209"/>
                  <a:gd name="T103" fmla="*/ 200 h 306"/>
                  <a:gd name="T104" fmla="*/ 114 w 209"/>
                  <a:gd name="T105" fmla="*/ 209 h 306"/>
                  <a:gd name="T106" fmla="*/ 148 w 209"/>
                  <a:gd name="T107" fmla="*/ 255 h 306"/>
                  <a:gd name="T108" fmla="*/ 175 w 209"/>
                  <a:gd name="T109" fmla="*/ 294 h 306"/>
                  <a:gd name="T110" fmla="*/ 186 w 209"/>
                  <a:gd name="T111" fmla="*/ 297 h 306"/>
                  <a:gd name="T112" fmla="*/ 200 w 209"/>
                  <a:gd name="T113" fmla="*/ 287 h 30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209"/>
                  <a:gd name="T172" fmla="*/ 0 h 306"/>
                  <a:gd name="T173" fmla="*/ 209 w 209"/>
                  <a:gd name="T174" fmla="*/ 306 h 30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209" h="306">
                    <a:moveTo>
                      <a:pt x="207" y="281"/>
                    </a:moveTo>
                    <a:lnTo>
                      <a:pt x="208" y="276"/>
                    </a:lnTo>
                    <a:lnTo>
                      <a:pt x="200" y="277"/>
                    </a:lnTo>
                    <a:lnTo>
                      <a:pt x="192" y="276"/>
                    </a:lnTo>
                    <a:lnTo>
                      <a:pt x="182" y="268"/>
                    </a:lnTo>
                    <a:lnTo>
                      <a:pt x="165" y="241"/>
                    </a:lnTo>
                    <a:lnTo>
                      <a:pt x="140" y="200"/>
                    </a:lnTo>
                    <a:lnTo>
                      <a:pt x="127" y="177"/>
                    </a:lnTo>
                    <a:lnTo>
                      <a:pt x="118" y="159"/>
                    </a:lnTo>
                    <a:lnTo>
                      <a:pt x="116" y="149"/>
                    </a:lnTo>
                    <a:lnTo>
                      <a:pt x="116" y="137"/>
                    </a:lnTo>
                    <a:lnTo>
                      <a:pt x="119" y="129"/>
                    </a:lnTo>
                    <a:lnTo>
                      <a:pt x="124" y="125"/>
                    </a:lnTo>
                    <a:lnTo>
                      <a:pt x="128" y="125"/>
                    </a:lnTo>
                    <a:lnTo>
                      <a:pt x="133" y="128"/>
                    </a:lnTo>
                    <a:lnTo>
                      <a:pt x="143" y="135"/>
                    </a:lnTo>
                    <a:lnTo>
                      <a:pt x="154" y="143"/>
                    </a:lnTo>
                    <a:lnTo>
                      <a:pt x="162" y="147"/>
                    </a:lnTo>
                    <a:lnTo>
                      <a:pt x="167" y="149"/>
                    </a:lnTo>
                    <a:lnTo>
                      <a:pt x="171" y="147"/>
                    </a:lnTo>
                    <a:lnTo>
                      <a:pt x="174" y="143"/>
                    </a:lnTo>
                    <a:lnTo>
                      <a:pt x="173" y="141"/>
                    </a:lnTo>
                    <a:lnTo>
                      <a:pt x="171" y="137"/>
                    </a:lnTo>
                    <a:lnTo>
                      <a:pt x="164" y="129"/>
                    </a:lnTo>
                    <a:lnTo>
                      <a:pt x="149" y="120"/>
                    </a:lnTo>
                    <a:lnTo>
                      <a:pt x="141" y="113"/>
                    </a:lnTo>
                    <a:lnTo>
                      <a:pt x="136" y="104"/>
                    </a:lnTo>
                    <a:lnTo>
                      <a:pt x="132" y="91"/>
                    </a:lnTo>
                    <a:lnTo>
                      <a:pt x="131" y="78"/>
                    </a:lnTo>
                    <a:lnTo>
                      <a:pt x="128" y="72"/>
                    </a:lnTo>
                    <a:lnTo>
                      <a:pt x="124" y="66"/>
                    </a:lnTo>
                    <a:lnTo>
                      <a:pt x="118" y="59"/>
                    </a:lnTo>
                    <a:lnTo>
                      <a:pt x="114" y="55"/>
                    </a:lnTo>
                    <a:lnTo>
                      <a:pt x="114" y="50"/>
                    </a:lnTo>
                    <a:lnTo>
                      <a:pt x="116" y="42"/>
                    </a:lnTo>
                    <a:lnTo>
                      <a:pt x="119" y="38"/>
                    </a:lnTo>
                    <a:lnTo>
                      <a:pt x="122" y="33"/>
                    </a:lnTo>
                    <a:lnTo>
                      <a:pt x="124" y="25"/>
                    </a:lnTo>
                    <a:lnTo>
                      <a:pt x="122" y="16"/>
                    </a:lnTo>
                    <a:lnTo>
                      <a:pt x="120" y="9"/>
                    </a:lnTo>
                    <a:lnTo>
                      <a:pt x="116" y="4"/>
                    </a:lnTo>
                    <a:lnTo>
                      <a:pt x="110" y="1"/>
                    </a:lnTo>
                    <a:lnTo>
                      <a:pt x="101" y="0"/>
                    </a:lnTo>
                    <a:lnTo>
                      <a:pt x="94" y="3"/>
                    </a:lnTo>
                    <a:lnTo>
                      <a:pt x="90" y="7"/>
                    </a:lnTo>
                    <a:lnTo>
                      <a:pt x="88" y="13"/>
                    </a:lnTo>
                    <a:lnTo>
                      <a:pt x="86" y="18"/>
                    </a:lnTo>
                    <a:lnTo>
                      <a:pt x="88" y="24"/>
                    </a:lnTo>
                    <a:lnTo>
                      <a:pt x="90" y="32"/>
                    </a:lnTo>
                    <a:lnTo>
                      <a:pt x="92" y="37"/>
                    </a:lnTo>
                    <a:lnTo>
                      <a:pt x="93" y="42"/>
                    </a:lnTo>
                    <a:lnTo>
                      <a:pt x="92" y="49"/>
                    </a:lnTo>
                    <a:lnTo>
                      <a:pt x="88" y="54"/>
                    </a:lnTo>
                    <a:lnTo>
                      <a:pt x="81" y="59"/>
                    </a:lnTo>
                    <a:lnTo>
                      <a:pt x="73" y="63"/>
                    </a:lnTo>
                    <a:lnTo>
                      <a:pt x="68" y="67"/>
                    </a:lnTo>
                    <a:lnTo>
                      <a:pt x="63" y="72"/>
                    </a:lnTo>
                    <a:lnTo>
                      <a:pt x="58" y="79"/>
                    </a:lnTo>
                    <a:lnTo>
                      <a:pt x="52" y="91"/>
                    </a:lnTo>
                    <a:lnTo>
                      <a:pt x="48" y="104"/>
                    </a:lnTo>
                    <a:lnTo>
                      <a:pt x="44" y="114"/>
                    </a:lnTo>
                    <a:lnTo>
                      <a:pt x="43" y="128"/>
                    </a:lnTo>
                    <a:lnTo>
                      <a:pt x="42" y="143"/>
                    </a:lnTo>
                    <a:lnTo>
                      <a:pt x="42" y="153"/>
                    </a:lnTo>
                    <a:lnTo>
                      <a:pt x="42" y="160"/>
                    </a:lnTo>
                    <a:lnTo>
                      <a:pt x="43" y="166"/>
                    </a:lnTo>
                    <a:lnTo>
                      <a:pt x="46" y="168"/>
                    </a:lnTo>
                    <a:lnTo>
                      <a:pt x="51" y="170"/>
                    </a:lnTo>
                    <a:lnTo>
                      <a:pt x="54" y="168"/>
                    </a:lnTo>
                    <a:lnTo>
                      <a:pt x="55" y="166"/>
                    </a:lnTo>
                    <a:lnTo>
                      <a:pt x="55" y="155"/>
                    </a:lnTo>
                    <a:lnTo>
                      <a:pt x="55" y="139"/>
                    </a:lnTo>
                    <a:lnTo>
                      <a:pt x="56" y="129"/>
                    </a:lnTo>
                    <a:lnTo>
                      <a:pt x="58" y="122"/>
                    </a:lnTo>
                    <a:lnTo>
                      <a:pt x="61" y="116"/>
                    </a:lnTo>
                    <a:lnTo>
                      <a:pt x="67" y="114"/>
                    </a:lnTo>
                    <a:lnTo>
                      <a:pt x="72" y="116"/>
                    </a:lnTo>
                    <a:lnTo>
                      <a:pt x="73" y="120"/>
                    </a:lnTo>
                    <a:lnTo>
                      <a:pt x="72" y="131"/>
                    </a:lnTo>
                    <a:lnTo>
                      <a:pt x="71" y="147"/>
                    </a:lnTo>
                    <a:lnTo>
                      <a:pt x="68" y="162"/>
                    </a:lnTo>
                    <a:lnTo>
                      <a:pt x="64" y="175"/>
                    </a:lnTo>
                    <a:lnTo>
                      <a:pt x="60" y="192"/>
                    </a:lnTo>
                    <a:lnTo>
                      <a:pt x="55" y="206"/>
                    </a:lnTo>
                    <a:lnTo>
                      <a:pt x="43" y="225"/>
                    </a:lnTo>
                    <a:lnTo>
                      <a:pt x="34" y="237"/>
                    </a:lnTo>
                    <a:lnTo>
                      <a:pt x="18" y="255"/>
                    </a:lnTo>
                    <a:lnTo>
                      <a:pt x="8" y="268"/>
                    </a:lnTo>
                    <a:lnTo>
                      <a:pt x="0" y="280"/>
                    </a:lnTo>
                    <a:lnTo>
                      <a:pt x="0" y="285"/>
                    </a:lnTo>
                    <a:lnTo>
                      <a:pt x="8" y="294"/>
                    </a:lnTo>
                    <a:lnTo>
                      <a:pt x="20" y="305"/>
                    </a:lnTo>
                    <a:lnTo>
                      <a:pt x="31" y="305"/>
                    </a:lnTo>
                    <a:lnTo>
                      <a:pt x="34" y="302"/>
                    </a:lnTo>
                    <a:lnTo>
                      <a:pt x="29" y="296"/>
                    </a:lnTo>
                    <a:lnTo>
                      <a:pt x="24" y="289"/>
                    </a:lnTo>
                    <a:lnTo>
                      <a:pt x="24" y="284"/>
                    </a:lnTo>
                    <a:lnTo>
                      <a:pt x="31" y="272"/>
                    </a:lnTo>
                    <a:lnTo>
                      <a:pt x="44" y="259"/>
                    </a:lnTo>
                    <a:lnTo>
                      <a:pt x="64" y="234"/>
                    </a:lnTo>
                    <a:lnTo>
                      <a:pt x="81" y="213"/>
                    </a:lnTo>
                    <a:lnTo>
                      <a:pt x="88" y="206"/>
                    </a:lnTo>
                    <a:lnTo>
                      <a:pt x="92" y="201"/>
                    </a:lnTo>
                    <a:lnTo>
                      <a:pt x="99" y="200"/>
                    </a:lnTo>
                    <a:lnTo>
                      <a:pt x="106" y="204"/>
                    </a:lnTo>
                    <a:lnTo>
                      <a:pt x="114" y="209"/>
                    </a:lnTo>
                    <a:lnTo>
                      <a:pt x="130" y="230"/>
                    </a:lnTo>
                    <a:lnTo>
                      <a:pt x="148" y="255"/>
                    </a:lnTo>
                    <a:lnTo>
                      <a:pt x="165" y="280"/>
                    </a:lnTo>
                    <a:lnTo>
                      <a:pt x="175" y="294"/>
                    </a:lnTo>
                    <a:lnTo>
                      <a:pt x="179" y="297"/>
                    </a:lnTo>
                    <a:lnTo>
                      <a:pt x="186" y="297"/>
                    </a:lnTo>
                    <a:lnTo>
                      <a:pt x="192" y="292"/>
                    </a:lnTo>
                    <a:lnTo>
                      <a:pt x="200" y="287"/>
                    </a:lnTo>
                    <a:lnTo>
                      <a:pt x="207" y="281"/>
                    </a:lnTo>
                  </a:path>
                </a:pathLst>
              </a:custGeom>
              <a:solidFill>
                <a:srgbClr val="CECECE"/>
              </a:solidFill>
              <a:ln w="2540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5" name="Group 350">
                <a:extLst>
                  <a:ext uri="{FF2B5EF4-FFF2-40B4-BE49-F238E27FC236}">
                    <a16:creationId xmlns:a16="http://schemas.microsoft.com/office/drawing/2014/main" id="{189E2D50-C6D7-4F5D-AA3F-D4F4AE105D5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72" y="1440"/>
                <a:ext cx="255" cy="326"/>
                <a:chOff x="1042" y="1458"/>
                <a:chExt cx="255" cy="326"/>
              </a:xfrm>
            </p:grpSpPr>
            <p:grpSp>
              <p:nvGrpSpPr>
                <p:cNvPr id="86" name="Group 351">
                  <a:extLst>
                    <a:ext uri="{FF2B5EF4-FFF2-40B4-BE49-F238E27FC236}">
                      <a16:creationId xmlns:a16="http://schemas.microsoft.com/office/drawing/2014/main" id="{77856BE7-733B-4DF1-AAAF-54F1466FCA9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42" y="1458"/>
                  <a:ext cx="255" cy="326"/>
                  <a:chOff x="1042" y="1458"/>
                  <a:chExt cx="255" cy="326"/>
                </a:xfrm>
              </p:grpSpPr>
              <p:sp>
                <p:nvSpPr>
                  <p:cNvPr id="89" name="AutoShape 352">
                    <a:extLst>
                      <a:ext uri="{FF2B5EF4-FFF2-40B4-BE49-F238E27FC236}">
                        <a16:creationId xmlns:a16="http://schemas.microsoft.com/office/drawing/2014/main" id="{0999C114-1E2C-4DFC-94D1-636487AA5D0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42" y="1510"/>
                    <a:ext cx="255" cy="274"/>
                  </a:xfrm>
                  <a:prstGeom prst="cube">
                    <a:avLst>
                      <a:gd name="adj" fmla="val 24995"/>
                    </a:avLst>
                  </a:prstGeom>
                  <a:solidFill>
                    <a:schemeClr val="bg1"/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90" name="AutoShape 353">
                    <a:extLst>
                      <a:ext uri="{FF2B5EF4-FFF2-40B4-BE49-F238E27FC236}">
                        <a16:creationId xmlns:a16="http://schemas.microsoft.com/office/drawing/2014/main" id="{166B6F65-1C88-4590-A5F5-BEA81568F89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102" y="1458"/>
                    <a:ext cx="195" cy="49"/>
                  </a:xfrm>
                  <a:prstGeom prst="cube">
                    <a:avLst>
                      <a:gd name="adj" fmla="val 24995"/>
                    </a:avLst>
                  </a:prstGeom>
                  <a:solidFill>
                    <a:schemeClr val="bg1"/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87" name="Oval 354">
                  <a:extLst>
                    <a:ext uri="{FF2B5EF4-FFF2-40B4-BE49-F238E27FC236}">
                      <a16:creationId xmlns:a16="http://schemas.microsoft.com/office/drawing/2014/main" id="{B2700D4C-13A1-4D27-AB6F-233A027CCCF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12" y="1486"/>
                  <a:ext cx="27" cy="8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8" name="AutoShape 355">
                  <a:extLst>
                    <a:ext uri="{FF2B5EF4-FFF2-40B4-BE49-F238E27FC236}">
                      <a16:creationId xmlns:a16="http://schemas.microsoft.com/office/drawing/2014/main" id="{43EC90EC-3DE1-41D4-B942-701617761A4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58" y="1640"/>
                  <a:ext cx="145" cy="59"/>
                </a:xfrm>
                <a:prstGeom prst="octagon">
                  <a:avLst>
                    <a:gd name="adj" fmla="val 29282"/>
                  </a:avLst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480890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420558" cy="644577"/>
          </a:xfrm>
        </p:spPr>
        <p:txBody>
          <a:bodyPr>
            <a:normAutofit fontScale="90000"/>
          </a:bodyPr>
          <a:lstStyle/>
          <a:p>
            <a:pPr marL="1976438" indent="-1976438"/>
            <a:r>
              <a:rPr lang="en-GB" sz="3600" dirty="0">
                <a:solidFill>
                  <a:srgbClr val="0000FF"/>
                </a:solidFill>
              </a:rPr>
              <a:t>1. Introduction: Pipelined Laundry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#20: Pipelining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7</a:t>
            </a:fld>
            <a:endParaRPr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24" name="Rectangle 3">
            <a:extLst>
              <a:ext uri="{FF2B5EF4-FFF2-40B4-BE49-F238E27FC236}">
                <a16:creationId xmlns:a16="http://schemas.microsoft.com/office/drawing/2014/main" id="{1F8FA32F-CF19-4A45-AC2F-F103FA5F05F4}"/>
              </a:ext>
            </a:extLst>
          </p:cNvPr>
          <p:cNvSpPr txBox="1">
            <a:spLocks noChangeArrowheads="1"/>
          </p:cNvSpPr>
          <p:nvPr/>
        </p:nvSpPr>
        <p:spPr>
          <a:xfrm>
            <a:off x="650177" y="4910118"/>
            <a:ext cx="7924800" cy="1676400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lnSpcReduction="10000"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5113" indent="-265113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660066"/>
                </a:solidFill>
              </a:rPr>
              <a:t>Pipelined laundry takes </a:t>
            </a:r>
            <a:r>
              <a:rPr lang="en-US" u="sng" dirty="0">
                <a:solidFill>
                  <a:srgbClr val="660066"/>
                </a:solidFill>
              </a:rPr>
              <a:t>3.5 hours</a:t>
            </a:r>
            <a:r>
              <a:rPr lang="en-US" dirty="0">
                <a:solidFill>
                  <a:srgbClr val="660066"/>
                </a:solidFill>
              </a:rPr>
              <a:t> for 4 loads! </a:t>
            </a:r>
          </a:p>
          <a:p>
            <a:pPr marL="265113" indent="-265113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Steady state: 1 load every 30 minutes</a:t>
            </a:r>
          </a:p>
          <a:p>
            <a:pPr marL="265113" indent="-265113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Potential speedup = 2 </a:t>
            </a:r>
            <a:r>
              <a:rPr lang="en-US" dirty="0" err="1"/>
              <a:t>hr</a:t>
            </a:r>
            <a:r>
              <a:rPr lang="en-US" dirty="0"/>
              <a:t>/30 min  = 4 (no. of stages) </a:t>
            </a:r>
          </a:p>
          <a:p>
            <a:pPr marL="265113" indent="-265113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Time to fill pipeline takes 2 hours </a:t>
            </a:r>
            <a:r>
              <a:rPr lang="en-US" dirty="0">
                <a:sym typeface="Wingdings" pitchFamily="2" charset="2"/>
              </a:rPr>
              <a:t> speedup </a:t>
            </a:r>
            <a:r>
              <a:rPr lang="en-US" dirty="0">
                <a:sym typeface="Symbol" pitchFamily="18" charset="2"/>
              </a:rPr>
              <a:t></a:t>
            </a:r>
          </a:p>
        </p:txBody>
      </p:sp>
      <p:grpSp>
        <p:nvGrpSpPr>
          <p:cNvPr id="25" name="Group 193">
            <a:extLst>
              <a:ext uri="{FF2B5EF4-FFF2-40B4-BE49-F238E27FC236}">
                <a16:creationId xmlns:a16="http://schemas.microsoft.com/office/drawing/2014/main" id="{2FCB7136-E126-4E89-9494-9AFC2A5D988D}"/>
              </a:ext>
            </a:extLst>
          </p:cNvPr>
          <p:cNvGrpSpPr>
            <a:grpSpLocks/>
          </p:cNvGrpSpPr>
          <p:nvPr/>
        </p:nvGrpSpPr>
        <p:grpSpPr bwMode="auto">
          <a:xfrm>
            <a:off x="312822" y="1276397"/>
            <a:ext cx="8420558" cy="3813763"/>
            <a:chOff x="85" y="646"/>
            <a:chExt cx="5631" cy="2279"/>
          </a:xfrm>
        </p:grpSpPr>
        <p:sp>
          <p:nvSpPr>
            <p:cNvPr id="26" name="Rectangle 6">
              <a:extLst>
                <a:ext uri="{FF2B5EF4-FFF2-40B4-BE49-F238E27FC236}">
                  <a16:creationId xmlns:a16="http://schemas.microsoft.com/office/drawing/2014/main" id="{5D0AA201-3835-4B59-9D0A-BBC642B204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" y="1104"/>
              <a:ext cx="218" cy="182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/>
              <a:r>
                <a:rPr lang="en-US" b="1" i="1" dirty="0">
                  <a:latin typeface="FranklinGothic" charset="0"/>
                </a:rPr>
                <a:t>T</a:t>
              </a:r>
            </a:p>
            <a:p>
              <a:pPr algn="ctr" eaLnBrk="0" hangingPunct="0"/>
              <a:r>
                <a:rPr lang="en-US" b="1" i="1" dirty="0">
                  <a:latin typeface="FranklinGothic" charset="0"/>
                </a:rPr>
                <a:t>a</a:t>
              </a:r>
            </a:p>
            <a:p>
              <a:pPr algn="ctr" eaLnBrk="0" hangingPunct="0"/>
              <a:r>
                <a:rPr lang="en-US" b="1" i="1" dirty="0">
                  <a:latin typeface="FranklinGothic" charset="0"/>
                </a:rPr>
                <a:t>s</a:t>
              </a:r>
            </a:p>
            <a:p>
              <a:pPr algn="ctr" eaLnBrk="0" hangingPunct="0"/>
              <a:r>
                <a:rPr lang="en-US" b="1" i="1" dirty="0">
                  <a:latin typeface="FranklinGothic" charset="0"/>
                </a:rPr>
                <a:t>k</a:t>
              </a:r>
            </a:p>
            <a:p>
              <a:pPr algn="ctr" eaLnBrk="0" hangingPunct="0"/>
              <a:endParaRPr lang="en-US" b="1" i="1" dirty="0">
                <a:latin typeface="FranklinGothic" charset="0"/>
              </a:endParaRPr>
            </a:p>
            <a:p>
              <a:pPr algn="ctr" eaLnBrk="0" hangingPunct="0"/>
              <a:r>
                <a:rPr lang="en-US" b="1" i="1" dirty="0">
                  <a:latin typeface="FranklinGothic" charset="0"/>
                </a:rPr>
                <a:t>O</a:t>
              </a:r>
            </a:p>
            <a:p>
              <a:pPr algn="ctr" eaLnBrk="0" hangingPunct="0"/>
              <a:r>
                <a:rPr lang="en-US" b="1" i="1" dirty="0">
                  <a:latin typeface="FranklinGothic" charset="0"/>
                </a:rPr>
                <a:t>r</a:t>
              </a:r>
            </a:p>
            <a:p>
              <a:pPr algn="ctr" eaLnBrk="0" hangingPunct="0"/>
              <a:r>
                <a:rPr lang="en-US" b="1" i="1" dirty="0">
                  <a:latin typeface="FranklinGothic" charset="0"/>
                </a:rPr>
                <a:t>d</a:t>
              </a:r>
            </a:p>
            <a:p>
              <a:pPr algn="ctr" eaLnBrk="0" hangingPunct="0"/>
              <a:r>
                <a:rPr lang="en-US" b="1" i="1" dirty="0">
                  <a:latin typeface="FranklinGothic" charset="0"/>
                </a:rPr>
                <a:t>e</a:t>
              </a:r>
            </a:p>
            <a:p>
              <a:pPr algn="ctr" eaLnBrk="0" hangingPunct="0"/>
              <a:r>
                <a:rPr lang="en-US" b="1" i="1" dirty="0">
                  <a:latin typeface="FranklinGothic" charset="0"/>
                </a:rPr>
                <a:t>r</a:t>
              </a:r>
              <a:endParaRPr lang="en-US" sz="2000" b="1" i="1" dirty="0">
                <a:latin typeface="FranklinGothic" charset="0"/>
              </a:endParaRPr>
            </a:p>
          </p:txBody>
        </p:sp>
        <p:grpSp>
          <p:nvGrpSpPr>
            <p:cNvPr id="27" name="Group 7">
              <a:extLst>
                <a:ext uri="{FF2B5EF4-FFF2-40B4-BE49-F238E27FC236}">
                  <a16:creationId xmlns:a16="http://schemas.microsoft.com/office/drawing/2014/main" id="{794687E8-75B6-494F-B9AD-9328826068D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2" y="1811"/>
              <a:ext cx="259" cy="316"/>
              <a:chOff x="440" y="1867"/>
              <a:chExt cx="259" cy="316"/>
            </a:xfrm>
          </p:grpSpPr>
          <p:sp>
            <p:nvSpPr>
              <p:cNvPr id="164" name="Freeform 8">
                <a:extLst>
                  <a:ext uri="{FF2B5EF4-FFF2-40B4-BE49-F238E27FC236}">
                    <a16:creationId xmlns:a16="http://schemas.microsoft.com/office/drawing/2014/main" id="{F9FEAE0F-0149-495A-B7C0-FB806878F2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" y="1867"/>
                <a:ext cx="246" cy="221"/>
              </a:xfrm>
              <a:custGeom>
                <a:avLst/>
                <a:gdLst>
                  <a:gd name="T0" fmla="*/ 69 w 246"/>
                  <a:gd name="T1" fmla="*/ 10 h 221"/>
                  <a:gd name="T2" fmla="*/ 117 w 246"/>
                  <a:gd name="T3" fmla="*/ 12 h 221"/>
                  <a:gd name="T4" fmla="*/ 167 w 246"/>
                  <a:gd name="T5" fmla="*/ 0 h 221"/>
                  <a:gd name="T6" fmla="*/ 228 w 246"/>
                  <a:gd name="T7" fmla="*/ 0 h 221"/>
                  <a:gd name="T8" fmla="*/ 161 w 246"/>
                  <a:gd name="T9" fmla="*/ 63 h 221"/>
                  <a:gd name="T10" fmla="*/ 179 w 246"/>
                  <a:gd name="T11" fmla="*/ 67 h 221"/>
                  <a:gd name="T12" fmla="*/ 196 w 246"/>
                  <a:gd name="T13" fmla="*/ 74 h 221"/>
                  <a:gd name="T14" fmla="*/ 213 w 246"/>
                  <a:gd name="T15" fmla="*/ 83 h 221"/>
                  <a:gd name="T16" fmla="*/ 226 w 246"/>
                  <a:gd name="T17" fmla="*/ 94 h 221"/>
                  <a:gd name="T18" fmla="*/ 236 w 246"/>
                  <a:gd name="T19" fmla="*/ 108 h 221"/>
                  <a:gd name="T20" fmla="*/ 243 w 246"/>
                  <a:gd name="T21" fmla="*/ 123 h 221"/>
                  <a:gd name="T22" fmla="*/ 245 w 246"/>
                  <a:gd name="T23" fmla="*/ 140 h 221"/>
                  <a:gd name="T24" fmla="*/ 242 w 246"/>
                  <a:gd name="T25" fmla="*/ 157 h 221"/>
                  <a:gd name="T26" fmla="*/ 237 w 246"/>
                  <a:gd name="T27" fmla="*/ 171 h 221"/>
                  <a:gd name="T28" fmla="*/ 226 w 246"/>
                  <a:gd name="T29" fmla="*/ 185 h 221"/>
                  <a:gd name="T30" fmla="*/ 209 w 246"/>
                  <a:gd name="T31" fmla="*/ 200 h 221"/>
                  <a:gd name="T32" fmla="*/ 192 w 246"/>
                  <a:gd name="T33" fmla="*/ 209 h 221"/>
                  <a:gd name="T34" fmla="*/ 176 w 246"/>
                  <a:gd name="T35" fmla="*/ 215 h 221"/>
                  <a:gd name="T36" fmla="*/ 161 w 246"/>
                  <a:gd name="T37" fmla="*/ 219 h 221"/>
                  <a:gd name="T38" fmla="*/ 141 w 246"/>
                  <a:gd name="T39" fmla="*/ 220 h 221"/>
                  <a:gd name="T40" fmla="*/ 91 w 246"/>
                  <a:gd name="T41" fmla="*/ 219 h 221"/>
                  <a:gd name="T42" fmla="*/ 67 w 246"/>
                  <a:gd name="T43" fmla="*/ 215 h 221"/>
                  <a:gd name="T44" fmla="*/ 42 w 246"/>
                  <a:gd name="T45" fmla="*/ 204 h 221"/>
                  <a:gd name="T46" fmla="*/ 22 w 246"/>
                  <a:gd name="T47" fmla="*/ 189 h 221"/>
                  <a:gd name="T48" fmla="*/ 10 w 246"/>
                  <a:gd name="T49" fmla="*/ 174 h 221"/>
                  <a:gd name="T50" fmla="*/ 3 w 246"/>
                  <a:gd name="T51" fmla="*/ 157 h 221"/>
                  <a:gd name="T52" fmla="*/ 0 w 246"/>
                  <a:gd name="T53" fmla="*/ 143 h 221"/>
                  <a:gd name="T54" fmla="*/ 2 w 246"/>
                  <a:gd name="T55" fmla="*/ 126 h 221"/>
                  <a:gd name="T56" fmla="*/ 10 w 246"/>
                  <a:gd name="T57" fmla="*/ 106 h 221"/>
                  <a:gd name="T58" fmla="*/ 26 w 246"/>
                  <a:gd name="T59" fmla="*/ 88 h 221"/>
                  <a:gd name="T60" fmla="*/ 47 w 246"/>
                  <a:gd name="T61" fmla="*/ 74 h 221"/>
                  <a:gd name="T62" fmla="*/ 76 w 246"/>
                  <a:gd name="T63" fmla="*/ 64 h 221"/>
                  <a:gd name="T64" fmla="*/ 30 w 246"/>
                  <a:gd name="T65" fmla="*/ 3 h 221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46"/>
                  <a:gd name="T100" fmla="*/ 0 h 221"/>
                  <a:gd name="T101" fmla="*/ 246 w 246"/>
                  <a:gd name="T102" fmla="*/ 221 h 221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46" h="221">
                    <a:moveTo>
                      <a:pt x="30" y="3"/>
                    </a:moveTo>
                    <a:lnTo>
                      <a:pt x="69" y="10"/>
                    </a:lnTo>
                    <a:lnTo>
                      <a:pt x="69" y="0"/>
                    </a:lnTo>
                    <a:lnTo>
                      <a:pt x="117" y="12"/>
                    </a:lnTo>
                    <a:lnTo>
                      <a:pt x="117" y="0"/>
                    </a:lnTo>
                    <a:lnTo>
                      <a:pt x="167" y="0"/>
                    </a:lnTo>
                    <a:lnTo>
                      <a:pt x="167" y="11"/>
                    </a:lnTo>
                    <a:lnTo>
                      <a:pt x="228" y="0"/>
                    </a:lnTo>
                    <a:lnTo>
                      <a:pt x="153" y="62"/>
                    </a:lnTo>
                    <a:lnTo>
                      <a:pt x="161" y="63"/>
                    </a:lnTo>
                    <a:lnTo>
                      <a:pt x="169" y="64"/>
                    </a:lnTo>
                    <a:lnTo>
                      <a:pt x="179" y="67"/>
                    </a:lnTo>
                    <a:lnTo>
                      <a:pt x="187" y="70"/>
                    </a:lnTo>
                    <a:lnTo>
                      <a:pt x="196" y="74"/>
                    </a:lnTo>
                    <a:lnTo>
                      <a:pt x="205" y="78"/>
                    </a:lnTo>
                    <a:lnTo>
                      <a:pt x="213" y="83"/>
                    </a:lnTo>
                    <a:lnTo>
                      <a:pt x="220" y="89"/>
                    </a:lnTo>
                    <a:lnTo>
                      <a:pt x="226" y="94"/>
                    </a:lnTo>
                    <a:lnTo>
                      <a:pt x="231" y="101"/>
                    </a:lnTo>
                    <a:lnTo>
                      <a:pt x="236" y="108"/>
                    </a:lnTo>
                    <a:lnTo>
                      <a:pt x="240" y="116"/>
                    </a:lnTo>
                    <a:lnTo>
                      <a:pt x="243" y="123"/>
                    </a:lnTo>
                    <a:lnTo>
                      <a:pt x="244" y="130"/>
                    </a:lnTo>
                    <a:lnTo>
                      <a:pt x="245" y="140"/>
                    </a:lnTo>
                    <a:lnTo>
                      <a:pt x="244" y="150"/>
                    </a:lnTo>
                    <a:lnTo>
                      <a:pt x="242" y="157"/>
                    </a:lnTo>
                    <a:lnTo>
                      <a:pt x="240" y="165"/>
                    </a:lnTo>
                    <a:lnTo>
                      <a:pt x="237" y="171"/>
                    </a:lnTo>
                    <a:lnTo>
                      <a:pt x="232" y="177"/>
                    </a:lnTo>
                    <a:lnTo>
                      <a:pt x="226" y="185"/>
                    </a:lnTo>
                    <a:lnTo>
                      <a:pt x="218" y="193"/>
                    </a:lnTo>
                    <a:lnTo>
                      <a:pt x="209" y="200"/>
                    </a:lnTo>
                    <a:lnTo>
                      <a:pt x="200" y="205"/>
                    </a:lnTo>
                    <a:lnTo>
                      <a:pt x="192" y="209"/>
                    </a:lnTo>
                    <a:lnTo>
                      <a:pt x="184" y="213"/>
                    </a:lnTo>
                    <a:lnTo>
                      <a:pt x="176" y="215"/>
                    </a:lnTo>
                    <a:lnTo>
                      <a:pt x="167" y="217"/>
                    </a:lnTo>
                    <a:lnTo>
                      <a:pt x="161" y="219"/>
                    </a:lnTo>
                    <a:lnTo>
                      <a:pt x="150" y="219"/>
                    </a:lnTo>
                    <a:lnTo>
                      <a:pt x="141" y="220"/>
                    </a:lnTo>
                    <a:lnTo>
                      <a:pt x="99" y="220"/>
                    </a:lnTo>
                    <a:lnTo>
                      <a:pt x="91" y="219"/>
                    </a:lnTo>
                    <a:lnTo>
                      <a:pt x="81" y="218"/>
                    </a:lnTo>
                    <a:lnTo>
                      <a:pt x="67" y="215"/>
                    </a:lnTo>
                    <a:lnTo>
                      <a:pt x="55" y="210"/>
                    </a:lnTo>
                    <a:lnTo>
                      <a:pt x="42" y="204"/>
                    </a:lnTo>
                    <a:lnTo>
                      <a:pt x="31" y="196"/>
                    </a:lnTo>
                    <a:lnTo>
                      <a:pt x="22" y="189"/>
                    </a:lnTo>
                    <a:lnTo>
                      <a:pt x="16" y="183"/>
                    </a:lnTo>
                    <a:lnTo>
                      <a:pt x="10" y="174"/>
                    </a:lnTo>
                    <a:lnTo>
                      <a:pt x="5" y="164"/>
                    </a:lnTo>
                    <a:lnTo>
                      <a:pt x="3" y="157"/>
                    </a:lnTo>
                    <a:lnTo>
                      <a:pt x="1" y="150"/>
                    </a:lnTo>
                    <a:lnTo>
                      <a:pt x="0" y="143"/>
                    </a:lnTo>
                    <a:lnTo>
                      <a:pt x="1" y="137"/>
                    </a:lnTo>
                    <a:lnTo>
                      <a:pt x="2" y="126"/>
                    </a:lnTo>
                    <a:lnTo>
                      <a:pt x="5" y="117"/>
                    </a:lnTo>
                    <a:lnTo>
                      <a:pt x="10" y="106"/>
                    </a:lnTo>
                    <a:lnTo>
                      <a:pt x="18" y="97"/>
                    </a:lnTo>
                    <a:lnTo>
                      <a:pt x="26" y="88"/>
                    </a:lnTo>
                    <a:lnTo>
                      <a:pt x="37" y="80"/>
                    </a:lnTo>
                    <a:lnTo>
                      <a:pt x="47" y="74"/>
                    </a:lnTo>
                    <a:lnTo>
                      <a:pt x="61" y="68"/>
                    </a:lnTo>
                    <a:lnTo>
                      <a:pt x="76" y="64"/>
                    </a:lnTo>
                    <a:lnTo>
                      <a:pt x="86" y="62"/>
                    </a:lnTo>
                    <a:lnTo>
                      <a:pt x="30" y="3"/>
                    </a:lnTo>
                  </a:path>
                </a:pathLst>
              </a:custGeom>
              <a:solidFill>
                <a:schemeClr val="bg2"/>
              </a:solidFill>
              <a:ln w="254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" name="Rectangle 9">
                <a:extLst>
                  <a:ext uri="{FF2B5EF4-FFF2-40B4-BE49-F238E27FC236}">
                    <a16:creationId xmlns:a16="http://schemas.microsoft.com/office/drawing/2014/main" id="{2F5072FD-57FC-4BAD-8627-0D36041378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" y="1894"/>
                <a:ext cx="255" cy="289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pPr algn="ctr" eaLnBrk="0" hangingPunct="0"/>
                <a:r>
                  <a:rPr lang="en-US" b="1" dirty="0">
                    <a:solidFill>
                      <a:srgbClr val="C00000"/>
                    </a:solidFill>
                    <a:latin typeface="FranklinGothic" charset="0"/>
                  </a:rPr>
                  <a:t>B</a:t>
                </a:r>
              </a:p>
            </p:txBody>
          </p:sp>
        </p:grpSp>
        <p:grpSp>
          <p:nvGrpSpPr>
            <p:cNvPr id="28" name="Group 10">
              <a:extLst>
                <a:ext uri="{FF2B5EF4-FFF2-40B4-BE49-F238E27FC236}">
                  <a16:creationId xmlns:a16="http://schemas.microsoft.com/office/drawing/2014/main" id="{C27F366F-724D-4CC4-9B8F-C4A12A9BF86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4" y="2150"/>
              <a:ext cx="255" cy="316"/>
              <a:chOff x="432" y="2217"/>
              <a:chExt cx="255" cy="316"/>
            </a:xfrm>
          </p:grpSpPr>
          <p:sp>
            <p:nvSpPr>
              <p:cNvPr id="162" name="Freeform 11">
                <a:extLst>
                  <a:ext uri="{FF2B5EF4-FFF2-40B4-BE49-F238E27FC236}">
                    <a16:creationId xmlns:a16="http://schemas.microsoft.com/office/drawing/2014/main" id="{65A03285-B5FE-40C1-AE36-585CFD606F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" y="2217"/>
                <a:ext cx="246" cy="222"/>
              </a:xfrm>
              <a:custGeom>
                <a:avLst/>
                <a:gdLst>
                  <a:gd name="T0" fmla="*/ 69 w 246"/>
                  <a:gd name="T1" fmla="*/ 11 h 222"/>
                  <a:gd name="T2" fmla="*/ 117 w 246"/>
                  <a:gd name="T3" fmla="*/ 12 h 222"/>
                  <a:gd name="T4" fmla="*/ 167 w 246"/>
                  <a:gd name="T5" fmla="*/ 0 h 222"/>
                  <a:gd name="T6" fmla="*/ 228 w 246"/>
                  <a:gd name="T7" fmla="*/ 0 h 222"/>
                  <a:gd name="T8" fmla="*/ 161 w 246"/>
                  <a:gd name="T9" fmla="*/ 63 h 222"/>
                  <a:gd name="T10" fmla="*/ 179 w 246"/>
                  <a:gd name="T11" fmla="*/ 67 h 222"/>
                  <a:gd name="T12" fmla="*/ 196 w 246"/>
                  <a:gd name="T13" fmla="*/ 74 h 222"/>
                  <a:gd name="T14" fmla="*/ 213 w 246"/>
                  <a:gd name="T15" fmla="*/ 83 h 222"/>
                  <a:gd name="T16" fmla="*/ 226 w 246"/>
                  <a:gd name="T17" fmla="*/ 95 h 222"/>
                  <a:gd name="T18" fmla="*/ 236 w 246"/>
                  <a:gd name="T19" fmla="*/ 108 h 222"/>
                  <a:gd name="T20" fmla="*/ 243 w 246"/>
                  <a:gd name="T21" fmla="*/ 124 h 222"/>
                  <a:gd name="T22" fmla="*/ 245 w 246"/>
                  <a:gd name="T23" fmla="*/ 141 h 222"/>
                  <a:gd name="T24" fmla="*/ 242 w 246"/>
                  <a:gd name="T25" fmla="*/ 158 h 222"/>
                  <a:gd name="T26" fmla="*/ 237 w 246"/>
                  <a:gd name="T27" fmla="*/ 171 h 222"/>
                  <a:gd name="T28" fmla="*/ 226 w 246"/>
                  <a:gd name="T29" fmla="*/ 186 h 222"/>
                  <a:gd name="T30" fmla="*/ 209 w 246"/>
                  <a:gd name="T31" fmla="*/ 201 h 222"/>
                  <a:gd name="T32" fmla="*/ 192 w 246"/>
                  <a:gd name="T33" fmla="*/ 210 h 222"/>
                  <a:gd name="T34" fmla="*/ 176 w 246"/>
                  <a:gd name="T35" fmla="*/ 216 h 222"/>
                  <a:gd name="T36" fmla="*/ 161 w 246"/>
                  <a:gd name="T37" fmla="*/ 219 h 222"/>
                  <a:gd name="T38" fmla="*/ 141 w 246"/>
                  <a:gd name="T39" fmla="*/ 221 h 222"/>
                  <a:gd name="T40" fmla="*/ 91 w 246"/>
                  <a:gd name="T41" fmla="*/ 220 h 222"/>
                  <a:gd name="T42" fmla="*/ 67 w 246"/>
                  <a:gd name="T43" fmla="*/ 216 h 222"/>
                  <a:gd name="T44" fmla="*/ 42 w 246"/>
                  <a:gd name="T45" fmla="*/ 204 h 222"/>
                  <a:gd name="T46" fmla="*/ 22 w 246"/>
                  <a:gd name="T47" fmla="*/ 190 h 222"/>
                  <a:gd name="T48" fmla="*/ 10 w 246"/>
                  <a:gd name="T49" fmla="*/ 174 h 222"/>
                  <a:gd name="T50" fmla="*/ 3 w 246"/>
                  <a:gd name="T51" fmla="*/ 158 h 222"/>
                  <a:gd name="T52" fmla="*/ 0 w 246"/>
                  <a:gd name="T53" fmla="*/ 144 h 222"/>
                  <a:gd name="T54" fmla="*/ 2 w 246"/>
                  <a:gd name="T55" fmla="*/ 127 h 222"/>
                  <a:gd name="T56" fmla="*/ 10 w 246"/>
                  <a:gd name="T57" fmla="*/ 106 h 222"/>
                  <a:gd name="T58" fmla="*/ 26 w 246"/>
                  <a:gd name="T59" fmla="*/ 89 h 222"/>
                  <a:gd name="T60" fmla="*/ 47 w 246"/>
                  <a:gd name="T61" fmla="*/ 74 h 222"/>
                  <a:gd name="T62" fmla="*/ 76 w 246"/>
                  <a:gd name="T63" fmla="*/ 65 h 222"/>
                  <a:gd name="T64" fmla="*/ 30 w 246"/>
                  <a:gd name="T65" fmla="*/ 3 h 222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46"/>
                  <a:gd name="T100" fmla="*/ 0 h 222"/>
                  <a:gd name="T101" fmla="*/ 246 w 246"/>
                  <a:gd name="T102" fmla="*/ 222 h 222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46" h="222">
                    <a:moveTo>
                      <a:pt x="30" y="3"/>
                    </a:moveTo>
                    <a:lnTo>
                      <a:pt x="69" y="11"/>
                    </a:lnTo>
                    <a:lnTo>
                      <a:pt x="69" y="0"/>
                    </a:lnTo>
                    <a:lnTo>
                      <a:pt x="117" y="12"/>
                    </a:lnTo>
                    <a:lnTo>
                      <a:pt x="117" y="0"/>
                    </a:lnTo>
                    <a:lnTo>
                      <a:pt x="167" y="0"/>
                    </a:lnTo>
                    <a:lnTo>
                      <a:pt x="167" y="11"/>
                    </a:lnTo>
                    <a:lnTo>
                      <a:pt x="228" y="0"/>
                    </a:lnTo>
                    <a:lnTo>
                      <a:pt x="153" y="62"/>
                    </a:lnTo>
                    <a:lnTo>
                      <a:pt x="161" y="63"/>
                    </a:lnTo>
                    <a:lnTo>
                      <a:pt x="169" y="65"/>
                    </a:lnTo>
                    <a:lnTo>
                      <a:pt x="179" y="67"/>
                    </a:lnTo>
                    <a:lnTo>
                      <a:pt x="187" y="70"/>
                    </a:lnTo>
                    <a:lnTo>
                      <a:pt x="196" y="74"/>
                    </a:lnTo>
                    <a:lnTo>
                      <a:pt x="205" y="78"/>
                    </a:lnTo>
                    <a:lnTo>
                      <a:pt x="213" y="83"/>
                    </a:lnTo>
                    <a:lnTo>
                      <a:pt x="220" y="89"/>
                    </a:lnTo>
                    <a:lnTo>
                      <a:pt x="226" y="95"/>
                    </a:lnTo>
                    <a:lnTo>
                      <a:pt x="231" y="101"/>
                    </a:lnTo>
                    <a:lnTo>
                      <a:pt x="236" y="108"/>
                    </a:lnTo>
                    <a:lnTo>
                      <a:pt x="240" y="117"/>
                    </a:lnTo>
                    <a:lnTo>
                      <a:pt x="243" y="124"/>
                    </a:lnTo>
                    <a:lnTo>
                      <a:pt x="244" y="131"/>
                    </a:lnTo>
                    <a:lnTo>
                      <a:pt x="245" y="141"/>
                    </a:lnTo>
                    <a:lnTo>
                      <a:pt x="244" y="150"/>
                    </a:lnTo>
                    <a:lnTo>
                      <a:pt x="242" y="158"/>
                    </a:lnTo>
                    <a:lnTo>
                      <a:pt x="240" y="165"/>
                    </a:lnTo>
                    <a:lnTo>
                      <a:pt x="237" y="171"/>
                    </a:lnTo>
                    <a:lnTo>
                      <a:pt x="232" y="178"/>
                    </a:lnTo>
                    <a:lnTo>
                      <a:pt x="226" y="186"/>
                    </a:lnTo>
                    <a:lnTo>
                      <a:pt x="218" y="194"/>
                    </a:lnTo>
                    <a:lnTo>
                      <a:pt x="209" y="201"/>
                    </a:lnTo>
                    <a:lnTo>
                      <a:pt x="200" y="206"/>
                    </a:lnTo>
                    <a:lnTo>
                      <a:pt x="192" y="210"/>
                    </a:lnTo>
                    <a:lnTo>
                      <a:pt x="184" y="213"/>
                    </a:lnTo>
                    <a:lnTo>
                      <a:pt x="176" y="216"/>
                    </a:lnTo>
                    <a:lnTo>
                      <a:pt x="167" y="218"/>
                    </a:lnTo>
                    <a:lnTo>
                      <a:pt x="161" y="219"/>
                    </a:lnTo>
                    <a:lnTo>
                      <a:pt x="150" y="220"/>
                    </a:lnTo>
                    <a:lnTo>
                      <a:pt x="141" y="221"/>
                    </a:lnTo>
                    <a:lnTo>
                      <a:pt x="99" y="221"/>
                    </a:lnTo>
                    <a:lnTo>
                      <a:pt x="91" y="220"/>
                    </a:lnTo>
                    <a:lnTo>
                      <a:pt x="81" y="219"/>
                    </a:lnTo>
                    <a:lnTo>
                      <a:pt x="67" y="216"/>
                    </a:lnTo>
                    <a:lnTo>
                      <a:pt x="55" y="210"/>
                    </a:lnTo>
                    <a:lnTo>
                      <a:pt x="42" y="204"/>
                    </a:lnTo>
                    <a:lnTo>
                      <a:pt x="31" y="197"/>
                    </a:lnTo>
                    <a:lnTo>
                      <a:pt x="22" y="190"/>
                    </a:lnTo>
                    <a:lnTo>
                      <a:pt x="16" y="183"/>
                    </a:lnTo>
                    <a:lnTo>
                      <a:pt x="10" y="174"/>
                    </a:lnTo>
                    <a:lnTo>
                      <a:pt x="5" y="165"/>
                    </a:lnTo>
                    <a:lnTo>
                      <a:pt x="3" y="158"/>
                    </a:lnTo>
                    <a:lnTo>
                      <a:pt x="1" y="151"/>
                    </a:lnTo>
                    <a:lnTo>
                      <a:pt x="0" y="144"/>
                    </a:lnTo>
                    <a:lnTo>
                      <a:pt x="1" y="138"/>
                    </a:lnTo>
                    <a:lnTo>
                      <a:pt x="2" y="127"/>
                    </a:lnTo>
                    <a:lnTo>
                      <a:pt x="5" y="117"/>
                    </a:lnTo>
                    <a:lnTo>
                      <a:pt x="10" y="106"/>
                    </a:lnTo>
                    <a:lnTo>
                      <a:pt x="18" y="97"/>
                    </a:lnTo>
                    <a:lnTo>
                      <a:pt x="26" y="89"/>
                    </a:lnTo>
                    <a:lnTo>
                      <a:pt x="37" y="80"/>
                    </a:lnTo>
                    <a:lnTo>
                      <a:pt x="47" y="74"/>
                    </a:lnTo>
                    <a:lnTo>
                      <a:pt x="61" y="68"/>
                    </a:lnTo>
                    <a:lnTo>
                      <a:pt x="76" y="65"/>
                    </a:lnTo>
                    <a:lnTo>
                      <a:pt x="86" y="62"/>
                    </a:lnTo>
                    <a:lnTo>
                      <a:pt x="30" y="3"/>
                    </a:lnTo>
                  </a:path>
                </a:pathLst>
              </a:custGeom>
              <a:solidFill>
                <a:schemeClr val="bg2"/>
              </a:solidFill>
              <a:ln w="254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3" name="Rectangle 12">
                <a:extLst>
                  <a:ext uri="{FF2B5EF4-FFF2-40B4-BE49-F238E27FC236}">
                    <a16:creationId xmlns:a16="http://schemas.microsoft.com/office/drawing/2014/main" id="{79B24926-B284-44BB-A5DC-DE67F42AD3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" y="2244"/>
                <a:ext cx="255" cy="289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pPr algn="ctr" eaLnBrk="0" hangingPunct="0"/>
                <a:r>
                  <a:rPr lang="en-US" b="1" dirty="0">
                    <a:solidFill>
                      <a:srgbClr val="C00000"/>
                    </a:solidFill>
                    <a:latin typeface="FranklinGothic" charset="0"/>
                  </a:rPr>
                  <a:t>C</a:t>
                </a:r>
              </a:p>
            </p:txBody>
          </p:sp>
        </p:grpSp>
        <p:grpSp>
          <p:nvGrpSpPr>
            <p:cNvPr id="29" name="Group 13">
              <a:extLst>
                <a:ext uri="{FF2B5EF4-FFF2-40B4-BE49-F238E27FC236}">
                  <a16:creationId xmlns:a16="http://schemas.microsoft.com/office/drawing/2014/main" id="{E6DFCE18-51C9-48D0-BFE0-4F4BDFBC38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2" y="2473"/>
              <a:ext cx="259" cy="312"/>
              <a:chOff x="440" y="2521"/>
              <a:chExt cx="259" cy="312"/>
            </a:xfrm>
          </p:grpSpPr>
          <p:sp>
            <p:nvSpPr>
              <p:cNvPr id="160" name="Freeform 14">
                <a:extLst>
                  <a:ext uri="{FF2B5EF4-FFF2-40B4-BE49-F238E27FC236}">
                    <a16:creationId xmlns:a16="http://schemas.microsoft.com/office/drawing/2014/main" id="{B2C6607A-383D-4A9E-B246-01AE855BAC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" y="2521"/>
                <a:ext cx="246" cy="221"/>
              </a:xfrm>
              <a:custGeom>
                <a:avLst/>
                <a:gdLst>
                  <a:gd name="T0" fmla="*/ 69 w 246"/>
                  <a:gd name="T1" fmla="*/ 10 h 221"/>
                  <a:gd name="T2" fmla="*/ 117 w 246"/>
                  <a:gd name="T3" fmla="*/ 12 h 221"/>
                  <a:gd name="T4" fmla="*/ 167 w 246"/>
                  <a:gd name="T5" fmla="*/ 0 h 221"/>
                  <a:gd name="T6" fmla="*/ 228 w 246"/>
                  <a:gd name="T7" fmla="*/ 0 h 221"/>
                  <a:gd name="T8" fmla="*/ 161 w 246"/>
                  <a:gd name="T9" fmla="*/ 63 h 221"/>
                  <a:gd name="T10" fmla="*/ 179 w 246"/>
                  <a:gd name="T11" fmla="*/ 67 h 221"/>
                  <a:gd name="T12" fmla="*/ 196 w 246"/>
                  <a:gd name="T13" fmla="*/ 74 h 221"/>
                  <a:gd name="T14" fmla="*/ 213 w 246"/>
                  <a:gd name="T15" fmla="*/ 83 h 221"/>
                  <a:gd name="T16" fmla="*/ 226 w 246"/>
                  <a:gd name="T17" fmla="*/ 94 h 221"/>
                  <a:gd name="T18" fmla="*/ 236 w 246"/>
                  <a:gd name="T19" fmla="*/ 108 h 221"/>
                  <a:gd name="T20" fmla="*/ 243 w 246"/>
                  <a:gd name="T21" fmla="*/ 123 h 221"/>
                  <a:gd name="T22" fmla="*/ 245 w 246"/>
                  <a:gd name="T23" fmla="*/ 140 h 221"/>
                  <a:gd name="T24" fmla="*/ 242 w 246"/>
                  <a:gd name="T25" fmla="*/ 157 h 221"/>
                  <a:gd name="T26" fmla="*/ 237 w 246"/>
                  <a:gd name="T27" fmla="*/ 171 h 221"/>
                  <a:gd name="T28" fmla="*/ 226 w 246"/>
                  <a:gd name="T29" fmla="*/ 185 h 221"/>
                  <a:gd name="T30" fmla="*/ 209 w 246"/>
                  <a:gd name="T31" fmla="*/ 200 h 221"/>
                  <a:gd name="T32" fmla="*/ 192 w 246"/>
                  <a:gd name="T33" fmla="*/ 209 h 221"/>
                  <a:gd name="T34" fmla="*/ 176 w 246"/>
                  <a:gd name="T35" fmla="*/ 215 h 221"/>
                  <a:gd name="T36" fmla="*/ 161 w 246"/>
                  <a:gd name="T37" fmla="*/ 219 h 221"/>
                  <a:gd name="T38" fmla="*/ 141 w 246"/>
                  <a:gd name="T39" fmla="*/ 220 h 221"/>
                  <a:gd name="T40" fmla="*/ 91 w 246"/>
                  <a:gd name="T41" fmla="*/ 219 h 221"/>
                  <a:gd name="T42" fmla="*/ 67 w 246"/>
                  <a:gd name="T43" fmla="*/ 215 h 221"/>
                  <a:gd name="T44" fmla="*/ 42 w 246"/>
                  <a:gd name="T45" fmla="*/ 204 h 221"/>
                  <a:gd name="T46" fmla="*/ 22 w 246"/>
                  <a:gd name="T47" fmla="*/ 189 h 221"/>
                  <a:gd name="T48" fmla="*/ 10 w 246"/>
                  <a:gd name="T49" fmla="*/ 174 h 221"/>
                  <a:gd name="T50" fmla="*/ 3 w 246"/>
                  <a:gd name="T51" fmla="*/ 157 h 221"/>
                  <a:gd name="T52" fmla="*/ 0 w 246"/>
                  <a:gd name="T53" fmla="*/ 143 h 221"/>
                  <a:gd name="T54" fmla="*/ 2 w 246"/>
                  <a:gd name="T55" fmla="*/ 126 h 221"/>
                  <a:gd name="T56" fmla="*/ 10 w 246"/>
                  <a:gd name="T57" fmla="*/ 106 h 221"/>
                  <a:gd name="T58" fmla="*/ 26 w 246"/>
                  <a:gd name="T59" fmla="*/ 88 h 221"/>
                  <a:gd name="T60" fmla="*/ 47 w 246"/>
                  <a:gd name="T61" fmla="*/ 74 h 221"/>
                  <a:gd name="T62" fmla="*/ 76 w 246"/>
                  <a:gd name="T63" fmla="*/ 64 h 221"/>
                  <a:gd name="T64" fmla="*/ 30 w 246"/>
                  <a:gd name="T65" fmla="*/ 3 h 221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46"/>
                  <a:gd name="T100" fmla="*/ 0 h 221"/>
                  <a:gd name="T101" fmla="*/ 246 w 246"/>
                  <a:gd name="T102" fmla="*/ 221 h 221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46" h="221">
                    <a:moveTo>
                      <a:pt x="30" y="3"/>
                    </a:moveTo>
                    <a:lnTo>
                      <a:pt x="69" y="10"/>
                    </a:lnTo>
                    <a:lnTo>
                      <a:pt x="69" y="0"/>
                    </a:lnTo>
                    <a:lnTo>
                      <a:pt x="117" y="12"/>
                    </a:lnTo>
                    <a:lnTo>
                      <a:pt x="117" y="0"/>
                    </a:lnTo>
                    <a:lnTo>
                      <a:pt x="167" y="0"/>
                    </a:lnTo>
                    <a:lnTo>
                      <a:pt x="167" y="11"/>
                    </a:lnTo>
                    <a:lnTo>
                      <a:pt x="228" y="0"/>
                    </a:lnTo>
                    <a:lnTo>
                      <a:pt x="153" y="62"/>
                    </a:lnTo>
                    <a:lnTo>
                      <a:pt x="161" y="63"/>
                    </a:lnTo>
                    <a:lnTo>
                      <a:pt x="169" y="64"/>
                    </a:lnTo>
                    <a:lnTo>
                      <a:pt x="179" y="67"/>
                    </a:lnTo>
                    <a:lnTo>
                      <a:pt x="187" y="70"/>
                    </a:lnTo>
                    <a:lnTo>
                      <a:pt x="196" y="74"/>
                    </a:lnTo>
                    <a:lnTo>
                      <a:pt x="205" y="78"/>
                    </a:lnTo>
                    <a:lnTo>
                      <a:pt x="213" y="83"/>
                    </a:lnTo>
                    <a:lnTo>
                      <a:pt x="220" y="89"/>
                    </a:lnTo>
                    <a:lnTo>
                      <a:pt x="226" y="94"/>
                    </a:lnTo>
                    <a:lnTo>
                      <a:pt x="231" y="101"/>
                    </a:lnTo>
                    <a:lnTo>
                      <a:pt x="236" y="108"/>
                    </a:lnTo>
                    <a:lnTo>
                      <a:pt x="240" y="116"/>
                    </a:lnTo>
                    <a:lnTo>
                      <a:pt x="243" y="123"/>
                    </a:lnTo>
                    <a:lnTo>
                      <a:pt x="244" y="130"/>
                    </a:lnTo>
                    <a:lnTo>
                      <a:pt x="245" y="140"/>
                    </a:lnTo>
                    <a:lnTo>
                      <a:pt x="244" y="150"/>
                    </a:lnTo>
                    <a:lnTo>
                      <a:pt x="242" y="157"/>
                    </a:lnTo>
                    <a:lnTo>
                      <a:pt x="240" y="165"/>
                    </a:lnTo>
                    <a:lnTo>
                      <a:pt x="237" y="171"/>
                    </a:lnTo>
                    <a:lnTo>
                      <a:pt x="232" y="177"/>
                    </a:lnTo>
                    <a:lnTo>
                      <a:pt x="226" y="185"/>
                    </a:lnTo>
                    <a:lnTo>
                      <a:pt x="218" y="193"/>
                    </a:lnTo>
                    <a:lnTo>
                      <a:pt x="209" y="200"/>
                    </a:lnTo>
                    <a:lnTo>
                      <a:pt x="200" y="205"/>
                    </a:lnTo>
                    <a:lnTo>
                      <a:pt x="192" y="209"/>
                    </a:lnTo>
                    <a:lnTo>
                      <a:pt x="184" y="213"/>
                    </a:lnTo>
                    <a:lnTo>
                      <a:pt x="176" y="215"/>
                    </a:lnTo>
                    <a:lnTo>
                      <a:pt x="167" y="217"/>
                    </a:lnTo>
                    <a:lnTo>
                      <a:pt x="161" y="219"/>
                    </a:lnTo>
                    <a:lnTo>
                      <a:pt x="150" y="219"/>
                    </a:lnTo>
                    <a:lnTo>
                      <a:pt x="141" y="220"/>
                    </a:lnTo>
                    <a:lnTo>
                      <a:pt x="99" y="220"/>
                    </a:lnTo>
                    <a:lnTo>
                      <a:pt x="91" y="219"/>
                    </a:lnTo>
                    <a:lnTo>
                      <a:pt x="81" y="218"/>
                    </a:lnTo>
                    <a:lnTo>
                      <a:pt x="67" y="215"/>
                    </a:lnTo>
                    <a:lnTo>
                      <a:pt x="55" y="210"/>
                    </a:lnTo>
                    <a:lnTo>
                      <a:pt x="42" y="204"/>
                    </a:lnTo>
                    <a:lnTo>
                      <a:pt x="31" y="196"/>
                    </a:lnTo>
                    <a:lnTo>
                      <a:pt x="22" y="189"/>
                    </a:lnTo>
                    <a:lnTo>
                      <a:pt x="16" y="183"/>
                    </a:lnTo>
                    <a:lnTo>
                      <a:pt x="10" y="174"/>
                    </a:lnTo>
                    <a:lnTo>
                      <a:pt x="5" y="164"/>
                    </a:lnTo>
                    <a:lnTo>
                      <a:pt x="3" y="157"/>
                    </a:lnTo>
                    <a:lnTo>
                      <a:pt x="1" y="150"/>
                    </a:lnTo>
                    <a:lnTo>
                      <a:pt x="0" y="143"/>
                    </a:lnTo>
                    <a:lnTo>
                      <a:pt x="1" y="137"/>
                    </a:lnTo>
                    <a:lnTo>
                      <a:pt x="2" y="126"/>
                    </a:lnTo>
                    <a:lnTo>
                      <a:pt x="5" y="117"/>
                    </a:lnTo>
                    <a:lnTo>
                      <a:pt x="10" y="106"/>
                    </a:lnTo>
                    <a:lnTo>
                      <a:pt x="18" y="97"/>
                    </a:lnTo>
                    <a:lnTo>
                      <a:pt x="26" y="88"/>
                    </a:lnTo>
                    <a:lnTo>
                      <a:pt x="37" y="80"/>
                    </a:lnTo>
                    <a:lnTo>
                      <a:pt x="47" y="74"/>
                    </a:lnTo>
                    <a:lnTo>
                      <a:pt x="61" y="68"/>
                    </a:lnTo>
                    <a:lnTo>
                      <a:pt x="76" y="64"/>
                    </a:lnTo>
                    <a:lnTo>
                      <a:pt x="86" y="62"/>
                    </a:lnTo>
                    <a:lnTo>
                      <a:pt x="30" y="3"/>
                    </a:lnTo>
                  </a:path>
                </a:pathLst>
              </a:custGeom>
              <a:solidFill>
                <a:schemeClr val="bg2"/>
              </a:solidFill>
              <a:ln w="254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1" name="Rectangle 15">
                <a:extLst>
                  <a:ext uri="{FF2B5EF4-FFF2-40B4-BE49-F238E27FC236}">
                    <a16:creationId xmlns:a16="http://schemas.microsoft.com/office/drawing/2014/main" id="{0A75C703-5670-4752-916E-F5983C221B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" y="2544"/>
                <a:ext cx="255" cy="289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pPr algn="ctr" eaLnBrk="0" hangingPunct="0"/>
                <a:r>
                  <a:rPr lang="en-US" b="1" dirty="0">
                    <a:solidFill>
                      <a:srgbClr val="C00000"/>
                    </a:solidFill>
                    <a:latin typeface="FranklinGothic" charset="0"/>
                  </a:rPr>
                  <a:t>D</a:t>
                </a:r>
              </a:p>
            </p:txBody>
          </p:sp>
        </p:grpSp>
        <p:grpSp>
          <p:nvGrpSpPr>
            <p:cNvPr id="30" name="Group 16">
              <a:extLst>
                <a:ext uri="{FF2B5EF4-FFF2-40B4-BE49-F238E27FC236}">
                  <a16:creationId xmlns:a16="http://schemas.microsoft.com/office/drawing/2014/main" id="{A2081929-56CF-4256-A34E-9C1B1B81AE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0" y="1479"/>
              <a:ext cx="260" cy="300"/>
              <a:chOff x="440" y="1479"/>
              <a:chExt cx="260" cy="300"/>
            </a:xfrm>
          </p:grpSpPr>
          <p:sp>
            <p:nvSpPr>
              <p:cNvPr id="158" name="Freeform 17">
                <a:extLst>
                  <a:ext uri="{FF2B5EF4-FFF2-40B4-BE49-F238E27FC236}">
                    <a16:creationId xmlns:a16="http://schemas.microsoft.com/office/drawing/2014/main" id="{E4A5EBDB-FD93-4238-A4F5-4FD3D30B73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" y="1479"/>
                <a:ext cx="246" cy="221"/>
              </a:xfrm>
              <a:custGeom>
                <a:avLst/>
                <a:gdLst>
                  <a:gd name="T0" fmla="*/ 69 w 246"/>
                  <a:gd name="T1" fmla="*/ 10 h 221"/>
                  <a:gd name="T2" fmla="*/ 117 w 246"/>
                  <a:gd name="T3" fmla="*/ 12 h 221"/>
                  <a:gd name="T4" fmla="*/ 167 w 246"/>
                  <a:gd name="T5" fmla="*/ 0 h 221"/>
                  <a:gd name="T6" fmla="*/ 228 w 246"/>
                  <a:gd name="T7" fmla="*/ 0 h 221"/>
                  <a:gd name="T8" fmla="*/ 161 w 246"/>
                  <a:gd name="T9" fmla="*/ 63 h 221"/>
                  <a:gd name="T10" fmla="*/ 179 w 246"/>
                  <a:gd name="T11" fmla="*/ 67 h 221"/>
                  <a:gd name="T12" fmla="*/ 196 w 246"/>
                  <a:gd name="T13" fmla="*/ 74 h 221"/>
                  <a:gd name="T14" fmla="*/ 213 w 246"/>
                  <a:gd name="T15" fmla="*/ 83 h 221"/>
                  <a:gd name="T16" fmla="*/ 226 w 246"/>
                  <a:gd name="T17" fmla="*/ 94 h 221"/>
                  <a:gd name="T18" fmla="*/ 236 w 246"/>
                  <a:gd name="T19" fmla="*/ 108 h 221"/>
                  <a:gd name="T20" fmla="*/ 243 w 246"/>
                  <a:gd name="T21" fmla="*/ 123 h 221"/>
                  <a:gd name="T22" fmla="*/ 245 w 246"/>
                  <a:gd name="T23" fmla="*/ 140 h 221"/>
                  <a:gd name="T24" fmla="*/ 242 w 246"/>
                  <a:gd name="T25" fmla="*/ 157 h 221"/>
                  <a:gd name="T26" fmla="*/ 237 w 246"/>
                  <a:gd name="T27" fmla="*/ 171 h 221"/>
                  <a:gd name="T28" fmla="*/ 226 w 246"/>
                  <a:gd name="T29" fmla="*/ 185 h 221"/>
                  <a:gd name="T30" fmla="*/ 209 w 246"/>
                  <a:gd name="T31" fmla="*/ 200 h 221"/>
                  <a:gd name="T32" fmla="*/ 192 w 246"/>
                  <a:gd name="T33" fmla="*/ 209 h 221"/>
                  <a:gd name="T34" fmla="*/ 176 w 246"/>
                  <a:gd name="T35" fmla="*/ 215 h 221"/>
                  <a:gd name="T36" fmla="*/ 161 w 246"/>
                  <a:gd name="T37" fmla="*/ 219 h 221"/>
                  <a:gd name="T38" fmla="*/ 141 w 246"/>
                  <a:gd name="T39" fmla="*/ 220 h 221"/>
                  <a:gd name="T40" fmla="*/ 91 w 246"/>
                  <a:gd name="T41" fmla="*/ 219 h 221"/>
                  <a:gd name="T42" fmla="*/ 67 w 246"/>
                  <a:gd name="T43" fmla="*/ 215 h 221"/>
                  <a:gd name="T44" fmla="*/ 42 w 246"/>
                  <a:gd name="T45" fmla="*/ 204 h 221"/>
                  <a:gd name="T46" fmla="*/ 22 w 246"/>
                  <a:gd name="T47" fmla="*/ 189 h 221"/>
                  <a:gd name="T48" fmla="*/ 10 w 246"/>
                  <a:gd name="T49" fmla="*/ 174 h 221"/>
                  <a:gd name="T50" fmla="*/ 3 w 246"/>
                  <a:gd name="T51" fmla="*/ 157 h 221"/>
                  <a:gd name="T52" fmla="*/ 0 w 246"/>
                  <a:gd name="T53" fmla="*/ 143 h 221"/>
                  <a:gd name="T54" fmla="*/ 2 w 246"/>
                  <a:gd name="T55" fmla="*/ 126 h 221"/>
                  <a:gd name="T56" fmla="*/ 10 w 246"/>
                  <a:gd name="T57" fmla="*/ 106 h 221"/>
                  <a:gd name="T58" fmla="*/ 26 w 246"/>
                  <a:gd name="T59" fmla="*/ 88 h 221"/>
                  <a:gd name="T60" fmla="*/ 47 w 246"/>
                  <a:gd name="T61" fmla="*/ 74 h 221"/>
                  <a:gd name="T62" fmla="*/ 76 w 246"/>
                  <a:gd name="T63" fmla="*/ 64 h 221"/>
                  <a:gd name="T64" fmla="*/ 30 w 246"/>
                  <a:gd name="T65" fmla="*/ 3 h 221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46"/>
                  <a:gd name="T100" fmla="*/ 0 h 221"/>
                  <a:gd name="T101" fmla="*/ 246 w 246"/>
                  <a:gd name="T102" fmla="*/ 221 h 221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46" h="221">
                    <a:moveTo>
                      <a:pt x="30" y="3"/>
                    </a:moveTo>
                    <a:lnTo>
                      <a:pt x="69" y="10"/>
                    </a:lnTo>
                    <a:lnTo>
                      <a:pt x="69" y="0"/>
                    </a:lnTo>
                    <a:lnTo>
                      <a:pt x="117" y="12"/>
                    </a:lnTo>
                    <a:lnTo>
                      <a:pt x="117" y="0"/>
                    </a:lnTo>
                    <a:lnTo>
                      <a:pt x="167" y="0"/>
                    </a:lnTo>
                    <a:lnTo>
                      <a:pt x="167" y="11"/>
                    </a:lnTo>
                    <a:lnTo>
                      <a:pt x="228" y="0"/>
                    </a:lnTo>
                    <a:lnTo>
                      <a:pt x="153" y="62"/>
                    </a:lnTo>
                    <a:lnTo>
                      <a:pt x="161" y="63"/>
                    </a:lnTo>
                    <a:lnTo>
                      <a:pt x="169" y="64"/>
                    </a:lnTo>
                    <a:lnTo>
                      <a:pt x="179" y="67"/>
                    </a:lnTo>
                    <a:lnTo>
                      <a:pt x="187" y="70"/>
                    </a:lnTo>
                    <a:lnTo>
                      <a:pt x="196" y="74"/>
                    </a:lnTo>
                    <a:lnTo>
                      <a:pt x="205" y="78"/>
                    </a:lnTo>
                    <a:lnTo>
                      <a:pt x="213" y="83"/>
                    </a:lnTo>
                    <a:lnTo>
                      <a:pt x="220" y="89"/>
                    </a:lnTo>
                    <a:lnTo>
                      <a:pt x="226" y="94"/>
                    </a:lnTo>
                    <a:lnTo>
                      <a:pt x="231" y="101"/>
                    </a:lnTo>
                    <a:lnTo>
                      <a:pt x="236" y="108"/>
                    </a:lnTo>
                    <a:lnTo>
                      <a:pt x="240" y="116"/>
                    </a:lnTo>
                    <a:lnTo>
                      <a:pt x="243" y="123"/>
                    </a:lnTo>
                    <a:lnTo>
                      <a:pt x="244" y="130"/>
                    </a:lnTo>
                    <a:lnTo>
                      <a:pt x="245" y="140"/>
                    </a:lnTo>
                    <a:lnTo>
                      <a:pt x="244" y="150"/>
                    </a:lnTo>
                    <a:lnTo>
                      <a:pt x="242" y="157"/>
                    </a:lnTo>
                    <a:lnTo>
                      <a:pt x="240" y="165"/>
                    </a:lnTo>
                    <a:lnTo>
                      <a:pt x="237" y="171"/>
                    </a:lnTo>
                    <a:lnTo>
                      <a:pt x="232" y="177"/>
                    </a:lnTo>
                    <a:lnTo>
                      <a:pt x="226" y="185"/>
                    </a:lnTo>
                    <a:lnTo>
                      <a:pt x="218" y="193"/>
                    </a:lnTo>
                    <a:lnTo>
                      <a:pt x="209" y="200"/>
                    </a:lnTo>
                    <a:lnTo>
                      <a:pt x="200" y="205"/>
                    </a:lnTo>
                    <a:lnTo>
                      <a:pt x="192" y="209"/>
                    </a:lnTo>
                    <a:lnTo>
                      <a:pt x="184" y="213"/>
                    </a:lnTo>
                    <a:lnTo>
                      <a:pt x="176" y="215"/>
                    </a:lnTo>
                    <a:lnTo>
                      <a:pt x="167" y="217"/>
                    </a:lnTo>
                    <a:lnTo>
                      <a:pt x="161" y="219"/>
                    </a:lnTo>
                    <a:lnTo>
                      <a:pt x="150" y="219"/>
                    </a:lnTo>
                    <a:lnTo>
                      <a:pt x="141" y="220"/>
                    </a:lnTo>
                    <a:lnTo>
                      <a:pt x="99" y="220"/>
                    </a:lnTo>
                    <a:lnTo>
                      <a:pt x="91" y="219"/>
                    </a:lnTo>
                    <a:lnTo>
                      <a:pt x="81" y="218"/>
                    </a:lnTo>
                    <a:lnTo>
                      <a:pt x="67" y="215"/>
                    </a:lnTo>
                    <a:lnTo>
                      <a:pt x="55" y="210"/>
                    </a:lnTo>
                    <a:lnTo>
                      <a:pt x="42" y="204"/>
                    </a:lnTo>
                    <a:lnTo>
                      <a:pt x="31" y="196"/>
                    </a:lnTo>
                    <a:lnTo>
                      <a:pt x="22" y="189"/>
                    </a:lnTo>
                    <a:lnTo>
                      <a:pt x="16" y="183"/>
                    </a:lnTo>
                    <a:lnTo>
                      <a:pt x="10" y="174"/>
                    </a:lnTo>
                    <a:lnTo>
                      <a:pt x="5" y="164"/>
                    </a:lnTo>
                    <a:lnTo>
                      <a:pt x="3" y="157"/>
                    </a:lnTo>
                    <a:lnTo>
                      <a:pt x="1" y="150"/>
                    </a:lnTo>
                    <a:lnTo>
                      <a:pt x="0" y="143"/>
                    </a:lnTo>
                    <a:lnTo>
                      <a:pt x="1" y="137"/>
                    </a:lnTo>
                    <a:lnTo>
                      <a:pt x="2" y="126"/>
                    </a:lnTo>
                    <a:lnTo>
                      <a:pt x="5" y="117"/>
                    </a:lnTo>
                    <a:lnTo>
                      <a:pt x="10" y="106"/>
                    </a:lnTo>
                    <a:lnTo>
                      <a:pt x="18" y="97"/>
                    </a:lnTo>
                    <a:lnTo>
                      <a:pt x="26" y="88"/>
                    </a:lnTo>
                    <a:lnTo>
                      <a:pt x="37" y="80"/>
                    </a:lnTo>
                    <a:lnTo>
                      <a:pt x="47" y="74"/>
                    </a:lnTo>
                    <a:lnTo>
                      <a:pt x="61" y="68"/>
                    </a:lnTo>
                    <a:lnTo>
                      <a:pt x="76" y="64"/>
                    </a:lnTo>
                    <a:lnTo>
                      <a:pt x="86" y="62"/>
                    </a:lnTo>
                    <a:lnTo>
                      <a:pt x="30" y="3"/>
                    </a:lnTo>
                  </a:path>
                </a:pathLst>
              </a:custGeom>
              <a:solidFill>
                <a:schemeClr val="bg2"/>
              </a:solidFill>
              <a:ln w="254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" name="Rectangle 18">
                <a:extLst>
                  <a:ext uri="{FF2B5EF4-FFF2-40B4-BE49-F238E27FC236}">
                    <a16:creationId xmlns:a16="http://schemas.microsoft.com/office/drawing/2014/main" id="{78940E81-A136-4C09-B489-AF5A2D5A30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" y="1490"/>
                <a:ext cx="255" cy="289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pPr algn="ctr" eaLnBrk="0" hangingPunct="0"/>
                <a:r>
                  <a:rPr lang="en-US" b="1" dirty="0">
                    <a:solidFill>
                      <a:srgbClr val="C00000"/>
                    </a:solidFill>
                    <a:latin typeface="FranklinGothic" charset="0"/>
                  </a:rPr>
                  <a:t>A</a:t>
                </a:r>
              </a:p>
            </p:txBody>
          </p:sp>
        </p:grpSp>
        <p:sp>
          <p:nvSpPr>
            <p:cNvPr id="31" name="Line 19">
              <a:extLst>
                <a:ext uri="{FF2B5EF4-FFF2-40B4-BE49-F238E27FC236}">
                  <a16:creationId xmlns:a16="http://schemas.microsoft.com/office/drawing/2014/main" id="{D7D502E2-F18F-4E24-8265-148824E03C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9" y="1371"/>
              <a:ext cx="3" cy="13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Rectangle 20">
              <a:extLst>
                <a:ext uri="{FF2B5EF4-FFF2-40B4-BE49-F238E27FC236}">
                  <a16:creationId xmlns:a16="http://schemas.microsoft.com/office/drawing/2014/main" id="{1929829D-E31C-4FD2-AC9B-4D2B4D59FB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1056"/>
              <a:ext cx="541" cy="28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i="1">
                  <a:latin typeface="FranklinGothic" charset="0"/>
                </a:rPr>
                <a:t>Time</a:t>
              </a:r>
            </a:p>
          </p:txBody>
        </p:sp>
        <p:grpSp>
          <p:nvGrpSpPr>
            <p:cNvPr id="33" name="Group 21">
              <a:extLst>
                <a:ext uri="{FF2B5EF4-FFF2-40B4-BE49-F238E27FC236}">
                  <a16:creationId xmlns:a16="http://schemas.microsoft.com/office/drawing/2014/main" id="{EA82C155-ABEE-4D2E-A369-D5A810D5D6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00" y="1437"/>
              <a:ext cx="1089" cy="295"/>
              <a:chOff x="800" y="1437"/>
              <a:chExt cx="1089" cy="295"/>
            </a:xfrm>
          </p:grpSpPr>
          <p:grpSp>
            <p:nvGrpSpPr>
              <p:cNvPr id="140" name="Group 22">
                <a:extLst>
                  <a:ext uri="{FF2B5EF4-FFF2-40B4-BE49-F238E27FC236}">
                    <a16:creationId xmlns:a16="http://schemas.microsoft.com/office/drawing/2014/main" id="{E162454D-0E81-4797-9EF7-984B1579331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00" y="1438"/>
                <a:ext cx="218" cy="290"/>
                <a:chOff x="800" y="1438"/>
                <a:chExt cx="218" cy="290"/>
              </a:xfrm>
            </p:grpSpPr>
            <p:sp>
              <p:nvSpPr>
                <p:cNvPr id="155" name="AutoShape 23">
                  <a:extLst>
                    <a:ext uri="{FF2B5EF4-FFF2-40B4-BE49-F238E27FC236}">
                      <a16:creationId xmlns:a16="http://schemas.microsoft.com/office/drawing/2014/main" id="{ACCBA7D8-DAE9-4746-9C9E-2576DED0741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0" y="1490"/>
                  <a:ext cx="218" cy="238"/>
                </a:xfrm>
                <a:prstGeom prst="cube">
                  <a:avLst>
                    <a:gd name="adj" fmla="val 24995"/>
                  </a:avLst>
                </a:prstGeom>
                <a:solidFill>
                  <a:srgbClr val="DC008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6" name="AutoShape 24">
                  <a:extLst>
                    <a:ext uri="{FF2B5EF4-FFF2-40B4-BE49-F238E27FC236}">
                      <a16:creationId xmlns:a16="http://schemas.microsoft.com/office/drawing/2014/main" id="{F0CF2981-8489-4150-AC23-41635904BC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53" y="1438"/>
                  <a:ext cx="165" cy="49"/>
                </a:xfrm>
                <a:prstGeom prst="cube">
                  <a:avLst>
                    <a:gd name="adj" fmla="val 24995"/>
                  </a:avLst>
                </a:prstGeom>
                <a:solidFill>
                  <a:srgbClr val="DC008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7" name="AutoShape 25">
                  <a:extLst>
                    <a:ext uri="{FF2B5EF4-FFF2-40B4-BE49-F238E27FC236}">
                      <a16:creationId xmlns:a16="http://schemas.microsoft.com/office/drawing/2014/main" id="{E9427515-76BE-45C2-ACF0-C3C807DF7D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45" y="1532"/>
                  <a:ext cx="114" cy="18"/>
                </a:xfrm>
                <a:prstGeom prst="parallelogram">
                  <a:avLst>
                    <a:gd name="adj" fmla="val 158304"/>
                  </a:avLst>
                </a:prstGeom>
                <a:solidFill>
                  <a:srgbClr val="DC008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41" name="Group 26">
                <a:extLst>
                  <a:ext uri="{FF2B5EF4-FFF2-40B4-BE49-F238E27FC236}">
                    <a16:creationId xmlns:a16="http://schemas.microsoft.com/office/drawing/2014/main" id="{E8289D2F-9B88-4547-B4E5-20162B39C65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31" y="1437"/>
                <a:ext cx="201" cy="273"/>
                <a:chOff x="1384" y="1449"/>
                <a:chExt cx="201" cy="273"/>
              </a:xfrm>
            </p:grpSpPr>
            <p:sp>
              <p:nvSpPr>
                <p:cNvPr id="149" name="Freeform 27">
                  <a:extLst>
                    <a:ext uri="{FF2B5EF4-FFF2-40B4-BE49-F238E27FC236}">
                      <a16:creationId xmlns:a16="http://schemas.microsoft.com/office/drawing/2014/main" id="{1BF83437-E5E2-4557-99B0-F6494DF1E22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10" y="1578"/>
                  <a:ext cx="64" cy="144"/>
                </a:xfrm>
                <a:custGeom>
                  <a:avLst/>
                  <a:gdLst>
                    <a:gd name="T0" fmla="*/ 46 w 64"/>
                    <a:gd name="T1" fmla="*/ 0 h 144"/>
                    <a:gd name="T2" fmla="*/ 63 w 64"/>
                    <a:gd name="T3" fmla="*/ 0 h 144"/>
                    <a:gd name="T4" fmla="*/ 17 w 64"/>
                    <a:gd name="T5" fmla="*/ 143 h 144"/>
                    <a:gd name="T6" fmla="*/ 0 w 64"/>
                    <a:gd name="T7" fmla="*/ 143 h 144"/>
                    <a:gd name="T8" fmla="*/ 46 w 64"/>
                    <a:gd name="T9" fmla="*/ 0 h 14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4"/>
                    <a:gd name="T16" fmla="*/ 0 h 144"/>
                    <a:gd name="T17" fmla="*/ 64 w 64"/>
                    <a:gd name="T18" fmla="*/ 144 h 14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4" h="144">
                      <a:moveTo>
                        <a:pt x="46" y="0"/>
                      </a:moveTo>
                      <a:lnTo>
                        <a:pt x="63" y="0"/>
                      </a:lnTo>
                      <a:lnTo>
                        <a:pt x="17" y="143"/>
                      </a:lnTo>
                      <a:lnTo>
                        <a:pt x="0" y="143"/>
                      </a:lnTo>
                      <a:lnTo>
                        <a:pt x="46" y="0"/>
                      </a:lnTo>
                    </a:path>
                  </a:pathLst>
                </a:custGeom>
                <a:solidFill>
                  <a:srgbClr val="F39FD1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0" name="Rectangle 28">
                  <a:extLst>
                    <a:ext uri="{FF2B5EF4-FFF2-40B4-BE49-F238E27FC236}">
                      <a16:creationId xmlns:a16="http://schemas.microsoft.com/office/drawing/2014/main" id="{0C6D5420-593B-4DE1-B430-A19B4818CAA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05" y="1578"/>
                  <a:ext cx="80" cy="12"/>
                </a:xfrm>
                <a:prstGeom prst="rect">
                  <a:avLst/>
                </a:prstGeom>
                <a:solidFill>
                  <a:srgbClr val="F39FD1"/>
                </a:solidFill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1" name="Rectangle 29">
                  <a:extLst>
                    <a:ext uri="{FF2B5EF4-FFF2-40B4-BE49-F238E27FC236}">
                      <a16:creationId xmlns:a16="http://schemas.microsoft.com/office/drawing/2014/main" id="{5DF61732-41FF-44A5-81AD-E00F40FC575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13" y="1636"/>
                  <a:ext cx="60" cy="14"/>
                </a:xfrm>
                <a:prstGeom prst="rect">
                  <a:avLst/>
                </a:prstGeom>
                <a:solidFill>
                  <a:srgbClr val="F39FD1"/>
                </a:solidFill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2" name="Rectangle 30">
                  <a:extLst>
                    <a:ext uri="{FF2B5EF4-FFF2-40B4-BE49-F238E27FC236}">
                      <a16:creationId xmlns:a16="http://schemas.microsoft.com/office/drawing/2014/main" id="{B32841EF-BC31-4AD2-84D2-2108A9226AF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84" y="1634"/>
                  <a:ext cx="79" cy="10"/>
                </a:xfrm>
                <a:prstGeom prst="rect">
                  <a:avLst/>
                </a:prstGeom>
                <a:solidFill>
                  <a:srgbClr val="F39FD1"/>
                </a:solidFill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3" name="Oval 31">
                  <a:extLst>
                    <a:ext uri="{FF2B5EF4-FFF2-40B4-BE49-F238E27FC236}">
                      <a16:creationId xmlns:a16="http://schemas.microsoft.com/office/drawing/2014/main" id="{7C33050B-0F67-4475-AB87-B09462B5E3B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49" y="1449"/>
                  <a:ext cx="24" cy="27"/>
                </a:xfrm>
                <a:prstGeom prst="ellipse">
                  <a:avLst/>
                </a:prstGeom>
                <a:solidFill>
                  <a:srgbClr val="F39FD1"/>
                </a:solidFill>
                <a:ln w="254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4" name="Freeform 32">
                  <a:extLst>
                    <a:ext uri="{FF2B5EF4-FFF2-40B4-BE49-F238E27FC236}">
                      <a16:creationId xmlns:a16="http://schemas.microsoft.com/office/drawing/2014/main" id="{5579D231-3610-4D76-8662-26EC11509EB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385" y="1496"/>
                  <a:ext cx="146" cy="222"/>
                </a:xfrm>
                <a:custGeom>
                  <a:avLst/>
                  <a:gdLst>
                    <a:gd name="T0" fmla="*/ 1 w 146"/>
                    <a:gd name="T1" fmla="*/ 102 h 222"/>
                    <a:gd name="T2" fmla="*/ 1 w 146"/>
                    <a:gd name="T3" fmla="*/ 105 h 222"/>
                    <a:gd name="T4" fmla="*/ 0 w 146"/>
                    <a:gd name="T5" fmla="*/ 109 h 222"/>
                    <a:gd name="T6" fmla="*/ 0 w 146"/>
                    <a:gd name="T7" fmla="*/ 112 h 222"/>
                    <a:gd name="T8" fmla="*/ 1 w 146"/>
                    <a:gd name="T9" fmla="*/ 116 h 222"/>
                    <a:gd name="T10" fmla="*/ 3 w 146"/>
                    <a:gd name="T11" fmla="*/ 119 h 222"/>
                    <a:gd name="T12" fmla="*/ 6 w 146"/>
                    <a:gd name="T13" fmla="*/ 122 h 222"/>
                    <a:gd name="T14" fmla="*/ 9 w 146"/>
                    <a:gd name="T15" fmla="*/ 124 h 222"/>
                    <a:gd name="T16" fmla="*/ 12 w 146"/>
                    <a:gd name="T17" fmla="*/ 125 h 222"/>
                    <a:gd name="T18" fmla="*/ 16 w 146"/>
                    <a:gd name="T19" fmla="*/ 125 h 222"/>
                    <a:gd name="T20" fmla="*/ 95 w 146"/>
                    <a:gd name="T21" fmla="*/ 221 h 222"/>
                    <a:gd name="T22" fmla="*/ 120 w 146"/>
                    <a:gd name="T23" fmla="*/ 106 h 222"/>
                    <a:gd name="T24" fmla="*/ 119 w 146"/>
                    <a:gd name="T25" fmla="*/ 104 h 222"/>
                    <a:gd name="T26" fmla="*/ 118 w 146"/>
                    <a:gd name="T27" fmla="*/ 102 h 222"/>
                    <a:gd name="T28" fmla="*/ 116 w 146"/>
                    <a:gd name="T29" fmla="*/ 100 h 222"/>
                    <a:gd name="T30" fmla="*/ 114 w 146"/>
                    <a:gd name="T31" fmla="*/ 98 h 222"/>
                    <a:gd name="T32" fmla="*/ 111 w 146"/>
                    <a:gd name="T33" fmla="*/ 97 h 222"/>
                    <a:gd name="T34" fmla="*/ 108 w 146"/>
                    <a:gd name="T35" fmla="*/ 96 h 222"/>
                    <a:gd name="T36" fmla="*/ 106 w 146"/>
                    <a:gd name="T37" fmla="*/ 96 h 222"/>
                    <a:gd name="T38" fmla="*/ 103 w 146"/>
                    <a:gd name="T39" fmla="*/ 96 h 222"/>
                    <a:gd name="T40" fmla="*/ 70 w 146"/>
                    <a:gd name="T41" fmla="*/ 56 h 222"/>
                    <a:gd name="T42" fmla="*/ 135 w 146"/>
                    <a:gd name="T43" fmla="*/ 70 h 222"/>
                    <a:gd name="T44" fmla="*/ 137 w 146"/>
                    <a:gd name="T45" fmla="*/ 69 h 222"/>
                    <a:gd name="T46" fmla="*/ 139 w 146"/>
                    <a:gd name="T47" fmla="*/ 68 h 222"/>
                    <a:gd name="T48" fmla="*/ 142 w 146"/>
                    <a:gd name="T49" fmla="*/ 66 h 222"/>
                    <a:gd name="T50" fmla="*/ 144 w 146"/>
                    <a:gd name="T51" fmla="*/ 65 h 222"/>
                    <a:gd name="T52" fmla="*/ 144 w 146"/>
                    <a:gd name="T53" fmla="*/ 62 h 222"/>
                    <a:gd name="T54" fmla="*/ 145 w 146"/>
                    <a:gd name="T55" fmla="*/ 59 h 222"/>
                    <a:gd name="T56" fmla="*/ 144 w 146"/>
                    <a:gd name="T57" fmla="*/ 55 h 222"/>
                    <a:gd name="T58" fmla="*/ 143 w 146"/>
                    <a:gd name="T59" fmla="*/ 53 h 222"/>
                    <a:gd name="T60" fmla="*/ 141 w 146"/>
                    <a:gd name="T61" fmla="*/ 51 h 222"/>
                    <a:gd name="T62" fmla="*/ 139 w 146"/>
                    <a:gd name="T63" fmla="*/ 49 h 222"/>
                    <a:gd name="T64" fmla="*/ 136 w 146"/>
                    <a:gd name="T65" fmla="*/ 48 h 222"/>
                    <a:gd name="T66" fmla="*/ 92 w 146"/>
                    <a:gd name="T67" fmla="*/ 48 h 222"/>
                    <a:gd name="T68" fmla="*/ 84 w 146"/>
                    <a:gd name="T69" fmla="*/ 31 h 222"/>
                    <a:gd name="T70" fmla="*/ 85 w 146"/>
                    <a:gd name="T71" fmla="*/ 27 h 222"/>
                    <a:gd name="T72" fmla="*/ 85 w 146"/>
                    <a:gd name="T73" fmla="*/ 23 h 222"/>
                    <a:gd name="T74" fmla="*/ 85 w 146"/>
                    <a:gd name="T75" fmla="*/ 18 h 222"/>
                    <a:gd name="T76" fmla="*/ 84 w 146"/>
                    <a:gd name="T77" fmla="*/ 14 h 222"/>
                    <a:gd name="T78" fmla="*/ 83 w 146"/>
                    <a:gd name="T79" fmla="*/ 11 h 222"/>
                    <a:gd name="T80" fmla="*/ 80 w 146"/>
                    <a:gd name="T81" fmla="*/ 8 h 222"/>
                    <a:gd name="T82" fmla="*/ 77 w 146"/>
                    <a:gd name="T83" fmla="*/ 5 h 222"/>
                    <a:gd name="T84" fmla="*/ 74 w 146"/>
                    <a:gd name="T85" fmla="*/ 3 h 222"/>
                    <a:gd name="T86" fmla="*/ 70 w 146"/>
                    <a:gd name="T87" fmla="*/ 1 h 222"/>
                    <a:gd name="T88" fmla="*/ 65 w 146"/>
                    <a:gd name="T89" fmla="*/ 0 h 222"/>
                    <a:gd name="T90" fmla="*/ 61 w 146"/>
                    <a:gd name="T91" fmla="*/ 0 h 222"/>
                    <a:gd name="T92" fmla="*/ 56 w 146"/>
                    <a:gd name="T93" fmla="*/ 1 h 222"/>
                    <a:gd name="T94" fmla="*/ 52 w 146"/>
                    <a:gd name="T95" fmla="*/ 2 h 222"/>
                    <a:gd name="T96" fmla="*/ 47 w 146"/>
                    <a:gd name="T97" fmla="*/ 5 h 222"/>
                    <a:gd name="T98" fmla="*/ 44 w 146"/>
                    <a:gd name="T99" fmla="*/ 8 h 222"/>
                    <a:gd name="T100" fmla="*/ 41 w 146"/>
                    <a:gd name="T101" fmla="*/ 12 h 222"/>
                    <a:gd name="T102" fmla="*/ 39 w 146"/>
                    <a:gd name="T103" fmla="*/ 17 h 222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w 146"/>
                    <a:gd name="T157" fmla="*/ 0 h 222"/>
                    <a:gd name="T158" fmla="*/ 146 w 146"/>
                    <a:gd name="T159" fmla="*/ 222 h 222"/>
                  </a:gdLst>
                  <a:ahLst/>
                  <a:cxnLst>
                    <a:cxn ang="T104">
                      <a:pos x="T0" y="T1"/>
                    </a:cxn>
                    <a:cxn ang="T105">
                      <a:pos x="T2" y="T3"/>
                    </a:cxn>
                    <a:cxn ang="T106">
                      <a:pos x="T4" y="T5"/>
                    </a:cxn>
                    <a:cxn ang="T107">
                      <a:pos x="T6" y="T7"/>
                    </a:cxn>
                    <a:cxn ang="T108">
                      <a:pos x="T8" y="T9"/>
                    </a:cxn>
                    <a:cxn ang="T109">
                      <a:pos x="T10" y="T11"/>
                    </a:cxn>
                    <a:cxn ang="T110">
                      <a:pos x="T12" y="T13"/>
                    </a:cxn>
                    <a:cxn ang="T111">
                      <a:pos x="T14" y="T15"/>
                    </a:cxn>
                    <a:cxn ang="T112">
                      <a:pos x="T16" y="T17"/>
                    </a:cxn>
                    <a:cxn ang="T113">
                      <a:pos x="T18" y="T19"/>
                    </a:cxn>
                    <a:cxn ang="T114">
                      <a:pos x="T20" y="T21"/>
                    </a:cxn>
                    <a:cxn ang="T115">
                      <a:pos x="T22" y="T23"/>
                    </a:cxn>
                    <a:cxn ang="T116">
                      <a:pos x="T24" y="T25"/>
                    </a:cxn>
                    <a:cxn ang="T117">
                      <a:pos x="T26" y="T27"/>
                    </a:cxn>
                    <a:cxn ang="T118">
                      <a:pos x="T28" y="T29"/>
                    </a:cxn>
                    <a:cxn ang="T119">
                      <a:pos x="T30" y="T31"/>
                    </a:cxn>
                    <a:cxn ang="T120">
                      <a:pos x="T32" y="T33"/>
                    </a:cxn>
                    <a:cxn ang="T121">
                      <a:pos x="T34" y="T35"/>
                    </a:cxn>
                    <a:cxn ang="T122">
                      <a:pos x="T36" y="T37"/>
                    </a:cxn>
                    <a:cxn ang="T123">
                      <a:pos x="T38" y="T39"/>
                    </a:cxn>
                    <a:cxn ang="T124">
                      <a:pos x="T40" y="T41"/>
                    </a:cxn>
                    <a:cxn ang="T125">
                      <a:pos x="T42" y="T43"/>
                    </a:cxn>
                    <a:cxn ang="T126">
                      <a:pos x="T44" y="T45"/>
                    </a:cxn>
                    <a:cxn ang="T127">
                      <a:pos x="T46" y="T47"/>
                    </a:cxn>
                    <a:cxn ang="T128">
                      <a:pos x="T48" y="T49"/>
                    </a:cxn>
                    <a:cxn ang="T129">
                      <a:pos x="T50" y="T51"/>
                    </a:cxn>
                    <a:cxn ang="T130">
                      <a:pos x="T52" y="T53"/>
                    </a:cxn>
                    <a:cxn ang="T131">
                      <a:pos x="T54" y="T55"/>
                    </a:cxn>
                    <a:cxn ang="T132">
                      <a:pos x="T56" y="T57"/>
                    </a:cxn>
                    <a:cxn ang="T133">
                      <a:pos x="T58" y="T59"/>
                    </a:cxn>
                    <a:cxn ang="T134">
                      <a:pos x="T60" y="T61"/>
                    </a:cxn>
                    <a:cxn ang="T135">
                      <a:pos x="T62" y="T63"/>
                    </a:cxn>
                    <a:cxn ang="T136">
                      <a:pos x="T64" y="T65"/>
                    </a:cxn>
                    <a:cxn ang="T137">
                      <a:pos x="T66" y="T67"/>
                    </a:cxn>
                    <a:cxn ang="T138">
                      <a:pos x="T68" y="T69"/>
                    </a:cxn>
                    <a:cxn ang="T139">
                      <a:pos x="T70" y="T71"/>
                    </a:cxn>
                    <a:cxn ang="T140">
                      <a:pos x="T72" y="T73"/>
                    </a:cxn>
                    <a:cxn ang="T141">
                      <a:pos x="T74" y="T75"/>
                    </a:cxn>
                    <a:cxn ang="T142">
                      <a:pos x="T76" y="T77"/>
                    </a:cxn>
                    <a:cxn ang="T143">
                      <a:pos x="T78" y="T79"/>
                    </a:cxn>
                    <a:cxn ang="T144">
                      <a:pos x="T80" y="T81"/>
                    </a:cxn>
                    <a:cxn ang="T145">
                      <a:pos x="T82" y="T83"/>
                    </a:cxn>
                    <a:cxn ang="T146">
                      <a:pos x="T84" y="T85"/>
                    </a:cxn>
                    <a:cxn ang="T147">
                      <a:pos x="T86" y="T87"/>
                    </a:cxn>
                    <a:cxn ang="T148">
                      <a:pos x="T88" y="T89"/>
                    </a:cxn>
                    <a:cxn ang="T149">
                      <a:pos x="T90" y="T91"/>
                    </a:cxn>
                    <a:cxn ang="T150">
                      <a:pos x="T92" y="T93"/>
                    </a:cxn>
                    <a:cxn ang="T151">
                      <a:pos x="T94" y="T95"/>
                    </a:cxn>
                    <a:cxn ang="T152">
                      <a:pos x="T96" y="T97"/>
                    </a:cxn>
                    <a:cxn ang="T153">
                      <a:pos x="T98" y="T99"/>
                    </a:cxn>
                    <a:cxn ang="T154">
                      <a:pos x="T100" y="T101"/>
                    </a:cxn>
                    <a:cxn ang="T155">
                      <a:pos x="T102" y="T103"/>
                    </a:cxn>
                  </a:cxnLst>
                  <a:rect l="T156" t="T157" r="T158" b="T159"/>
                  <a:pathLst>
                    <a:path w="146" h="222">
                      <a:moveTo>
                        <a:pt x="39" y="17"/>
                      </a:moveTo>
                      <a:lnTo>
                        <a:pt x="1" y="102"/>
                      </a:lnTo>
                      <a:lnTo>
                        <a:pt x="1" y="104"/>
                      </a:lnTo>
                      <a:lnTo>
                        <a:pt x="1" y="105"/>
                      </a:lnTo>
                      <a:lnTo>
                        <a:pt x="0" y="106"/>
                      </a:lnTo>
                      <a:lnTo>
                        <a:pt x="0" y="109"/>
                      </a:lnTo>
                      <a:lnTo>
                        <a:pt x="0" y="110"/>
                      </a:lnTo>
                      <a:lnTo>
                        <a:pt x="0" y="112"/>
                      </a:lnTo>
                      <a:lnTo>
                        <a:pt x="1" y="114"/>
                      </a:lnTo>
                      <a:lnTo>
                        <a:pt x="1" y="116"/>
                      </a:lnTo>
                      <a:lnTo>
                        <a:pt x="2" y="117"/>
                      </a:lnTo>
                      <a:lnTo>
                        <a:pt x="3" y="119"/>
                      </a:lnTo>
                      <a:lnTo>
                        <a:pt x="5" y="121"/>
                      </a:lnTo>
                      <a:lnTo>
                        <a:pt x="6" y="122"/>
                      </a:lnTo>
                      <a:lnTo>
                        <a:pt x="8" y="123"/>
                      </a:lnTo>
                      <a:lnTo>
                        <a:pt x="9" y="124"/>
                      </a:lnTo>
                      <a:lnTo>
                        <a:pt x="10" y="124"/>
                      </a:lnTo>
                      <a:lnTo>
                        <a:pt x="12" y="125"/>
                      </a:lnTo>
                      <a:lnTo>
                        <a:pt x="14" y="125"/>
                      </a:lnTo>
                      <a:lnTo>
                        <a:pt x="16" y="125"/>
                      </a:lnTo>
                      <a:lnTo>
                        <a:pt x="95" y="125"/>
                      </a:lnTo>
                      <a:lnTo>
                        <a:pt x="95" y="221"/>
                      </a:lnTo>
                      <a:lnTo>
                        <a:pt x="120" y="221"/>
                      </a:lnTo>
                      <a:lnTo>
                        <a:pt x="120" y="106"/>
                      </a:lnTo>
                      <a:lnTo>
                        <a:pt x="120" y="105"/>
                      </a:lnTo>
                      <a:lnTo>
                        <a:pt x="119" y="104"/>
                      </a:lnTo>
                      <a:lnTo>
                        <a:pt x="118" y="102"/>
                      </a:lnTo>
                      <a:lnTo>
                        <a:pt x="117" y="101"/>
                      </a:lnTo>
                      <a:lnTo>
                        <a:pt x="116" y="100"/>
                      </a:lnTo>
                      <a:lnTo>
                        <a:pt x="115" y="99"/>
                      </a:lnTo>
                      <a:lnTo>
                        <a:pt x="114" y="98"/>
                      </a:lnTo>
                      <a:lnTo>
                        <a:pt x="113" y="98"/>
                      </a:lnTo>
                      <a:lnTo>
                        <a:pt x="111" y="97"/>
                      </a:lnTo>
                      <a:lnTo>
                        <a:pt x="110" y="97"/>
                      </a:lnTo>
                      <a:lnTo>
                        <a:pt x="108" y="96"/>
                      </a:lnTo>
                      <a:lnTo>
                        <a:pt x="107" y="96"/>
                      </a:lnTo>
                      <a:lnTo>
                        <a:pt x="106" y="96"/>
                      </a:lnTo>
                      <a:lnTo>
                        <a:pt x="104" y="96"/>
                      </a:lnTo>
                      <a:lnTo>
                        <a:pt x="103" y="96"/>
                      </a:lnTo>
                      <a:lnTo>
                        <a:pt x="57" y="94"/>
                      </a:lnTo>
                      <a:lnTo>
                        <a:pt x="70" y="56"/>
                      </a:lnTo>
                      <a:lnTo>
                        <a:pt x="79" y="70"/>
                      </a:lnTo>
                      <a:lnTo>
                        <a:pt x="135" y="70"/>
                      </a:lnTo>
                      <a:lnTo>
                        <a:pt x="136" y="69"/>
                      </a:lnTo>
                      <a:lnTo>
                        <a:pt x="137" y="69"/>
                      </a:lnTo>
                      <a:lnTo>
                        <a:pt x="139" y="68"/>
                      </a:lnTo>
                      <a:lnTo>
                        <a:pt x="140" y="67"/>
                      </a:lnTo>
                      <a:lnTo>
                        <a:pt x="142" y="66"/>
                      </a:lnTo>
                      <a:lnTo>
                        <a:pt x="142" y="65"/>
                      </a:lnTo>
                      <a:lnTo>
                        <a:pt x="144" y="65"/>
                      </a:lnTo>
                      <a:lnTo>
                        <a:pt x="144" y="63"/>
                      </a:lnTo>
                      <a:lnTo>
                        <a:pt x="144" y="62"/>
                      </a:lnTo>
                      <a:lnTo>
                        <a:pt x="145" y="61"/>
                      </a:lnTo>
                      <a:lnTo>
                        <a:pt x="145" y="59"/>
                      </a:lnTo>
                      <a:lnTo>
                        <a:pt x="145" y="57"/>
                      </a:lnTo>
                      <a:lnTo>
                        <a:pt x="144" y="55"/>
                      </a:lnTo>
                      <a:lnTo>
                        <a:pt x="144" y="54"/>
                      </a:lnTo>
                      <a:lnTo>
                        <a:pt x="143" y="53"/>
                      </a:lnTo>
                      <a:lnTo>
                        <a:pt x="142" y="52"/>
                      </a:lnTo>
                      <a:lnTo>
                        <a:pt x="141" y="51"/>
                      </a:lnTo>
                      <a:lnTo>
                        <a:pt x="140" y="50"/>
                      </a:lnTo>
                      <a:lnTo>
                        <a:pt x="139" y="49"/>
                      </a:lnTo>
                      <a:lnTo>
                        <a:pt x="138" y="48"/>
                      </a:lnTo>
                      <a:lnTo>
                        <a:pt x="136" y="48"/>
                      </a:lnTo>
                      <a:lnTo>
                        <a:pt x="135" y="48"/>
                      </a:lnTo>
                      <a:lnTo>
                        <a:pt x="92" y="48"/>
                      </a:lnTo>
                      <a:lnTo>
                        <a:pt x="83" y="33"/>
                      </a:lnTo>
                      <a:lnTo>
                        <a:pt x="84" y="31"/>
                      </a:lnTo>
                      <a:lnTo>
                        <a:pt x="85" y="29"/>
                      </a:lnTo>
                      <a:lnTo>
                        <a:pt x="85" y="27"/>
                      </a:lnTo>
                      <a:lnTo>
                        <a:pt x="85" y="25"/>
                      </a:lnTo>
                      <a:lnTo>
                        <a:pt x="85" y="23"/>
                      </a:lnTo>
                      <a:lnTo>
                        <a:pt x="85" y="21"/>
                      </a:lnTo>
                      <a:lnTo>
                        <a:pt x="85" y="18"/>
                      </a:lnTo>
                      <a:lnTo>
                        <a:pt x="85" y="16"/>
                      </a:lnTo>
                      <a:lnTo>
                        <a:pt x="84" y="14"/>
                      </a:lnTo>
                      <a:lnTo>
                        <a:pt x="84" y="13"/>
                      </a:lnTo>
                      <a:lnTo>
                        <a:pt x="83" y="11"/>
                      </a:lnTo>
                      <a:lnTo>
                        <a:pt x="82" y="10"/>
                      </a:lnTo>
                      <a:lnTo>
                        <a:pt x="80" y="8"/>
                      </a:lnTo>
                      <a:lnTo>
                        <a:pt x="79" y="7"/>
                      </a:lnTo>
                      <a:lnTo>
                        <a:pt x="77" y="5"/>
                      </a:lnTo>
                      <a:lnTo>
                        <a:pt x="76" y="4"/>
                      </a:lnTo>
                      <a:lnTo>
                        <a:pt x="74" y="3"/>
                      </a:lnTo>
                      <a:lnTo>
                        <a:pt x="72" y="2"/>
                      </a:lnTo>
                      <a:lnTo>
                        <a:pt x="70" y="1"/>
                      </a:lnTo>
                      <a:lnTo>
                        <a:pt x="67" y="1"/>
                      </a:lnTo>
                      <a:lnTo>
                        <a:pt x="65" y="0"/>
                      </a:lnTo>
                      <a:lnTo>
                        <a:pt x="63" y="0"/>
                      </a:lnTo>
                      <a:lnTo>
                        <a:pt x="61" y="0"/>
                      </a:lnTo>
                      <a:lnTo>
                        <a:pt x="59" y="0"/>
                      </a:lnTo>
                      <a:lnTo>
                        <a:pt x="56" y="1"/>
                      </a:lnTo>
                      <a:lnTo>
                        <a:pt x="54" y="1"/>
                      </a:lnTo>
                      <a:lnTo>
                        <a:pt x="52" y="2"/>
                      </a:lnTo>
                      <a:lnTo>
                        <a:pt x="50" y="3"/>
                      </a:lnTo>
                      <a:lnTo>
                        <a:pt x="47" y="5"/>
                      </a:lnTo>
                      <a:lnTo>
                        <a:pt x="46" y="7"/>
                      </a:lnTo>
                      <a:lnTo>
                        <a:pt x="44" y="8"/>
                      </a:lnTo>
                      <a:lnTo>
                        <a:pt x="43" y="10"/>
                      </a:lnTo>
                      <a:lnTo>
                        <a:pt x="41" y="12"/>
                      </a:lnTo>
                      <a:lnTo>
                        <a:pt x="40" y="14"/>
                      </a:lnTo>
                      <a:lnTo>
                        <a:pt x="39" y="17"/>
                      </a:lnTo>
                    </a:path>
                  </a:pathLst>
                </a:custGeom>
                <a:solidFill>
                  <a:srgbClr val="F39FD1"/>
                </a:solidFill>
                <a:ln w="1270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42" name="Freeform 33">
                <a:extLst>
                  <a:ext uri="{FF2B5EF4-FFF2-40B4-BE49-F238E27FC236}">
                    <a16:creationId xmlns:a16="http://schemas.microsoft.com/office/drawing/2014/main" id="{F596823E-2F47-42F5-A122-D5694D614E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80" y="1440"/>
                <a:ext cx="209" cy="292"/>
              </a:xfrm>
              <a:custGeom>
                <a:avLst/>
                <a:gdLst>
                  <a:gd name="T0" fmla="*/ 208 w 209"/>
                  <a:gd name="T1" fmla="*/ 276 h 306"/>
                  <a:gd name="T2" fmla="*/ 192 w 209"/>
                  <a:gd name="T3" fmla="*/ 276 h 306"/>
                  <a:gd name="T4" fmla="*/ 165 w 209"/>
                  <a:gd name="T5" fmla="*/ 241 h 306"/>
                  <a:gd name="T6" fmla="*/ 127 w 209"/>
                  <a:gd name="T7" fmla="*/ 177 h 306"/>
                  <a:gd name="T8" fmla="*/ 116 w 209"/>
                  <a:gd name="T9" fmla="*/ 149 h 306"/>
                  <a:gd name="T10" fmla="*/ 119 w 209"/>
                  <a:gd name="T11" fmla="*/ 129 h 306"/>
                  <a:gd name="T12" fmla="*/ 128 w 209"/>
                  <a:gd name="T13" fmla="*/ 125 h 306"/>
                  <a:gd name="T14" fmla="*/ 143 w 209"/>
                  <a:gd name="T15" fmla="*/ 135 h 306"/>
                  <a:gd name="T16" fmla="*/ 162 w 209"/>
                  <a:gd name="T17" fmla="*/ 147 h 306"/>
                  <a:gd name="T18" fmla="*/ 171 w 209"/>
                  <a:gd name="T19" fmla="*/ 147 h 306"/>
                  <a:gd name="T20" fmla="*/ 173 w 209"/>
                  <a:gd name="T21" fmla="*/ 141 h 306"/>
                  <a:gd name="T22" fmla="*/ 164 w 209"/>
                  <a:gd name="T23" fmla="*/ 129 h 306"/>
                  <a:gd name="T24" fmla="*/ 141 w 209"/>
                  <a:gd name="T25" fmla="*/ 113 h 306"/>
                  <a:gd name="T26" fmla="*/ 132 w 209"/>
                  <a:gd name="T27" fmla="*/ 91 h 306"/>
                  <a:gd name="T28" fmla="*/ 128 w 209"/>
                  <a:gd name="T29" fmla="*/ 72 h 306"/>
                  <a:gd name="T30" fmla="*/ 118 w 209"/>
                  <a:gd name="T31" fmla="*/ 59 h 306"/>
                  <a:gd name="T32" fmla="*/ 114 w 209"/>
                  <a:gd name="T33" fmla="*/ 50 h 306"/>
                  <a:gd name="T34" fmla="*/ 119 w 209"/>
                  <a:gd name="T35" fmla="*/ 38 h 306"/>
                  <a:gd name="T36" fmla="*/ 124 w 209"/>
                  <a:gd name="T37" fmla="*/ 25 h 306"/>
                  <a:gd name="T38" fmla="*/ 120 w 209"/>
                  <a:gd name="T39" fmla="*/ 9 h 306"/>
                  <a:gd name="T40" fmla="*/ 110 w 209"/>
                  <a:gd name="T41" fmla="*/ 1 h 306"/>
                  <a:gd name="T42" fmla="*/ 94 w 209"/>
                  <a:gd name="T43" fmla="*/ 3 h 306"/>
                  <a:gd name="T44" fmla="*/ 88 w 209"/>
                  <a:gd name="T45" fmla="*/ 13 h 306"/>
                  <a:gd name="T46" fmla="*/ 88 w 209"/>
                  <a:gd name="T47" fmla="*/ 24 h 306"/>
                  <a:gd name="T48" fmla="*/ 92 w 209"/>
                  <a:gd name="T49" fmla="*/ 37 h 306"/>
                  <a:gd name="T50" fmla="*/ 92 w 209"/>
                  <a:gd name="T51" fmla="*/ 49 h 306"/>
                  <a:gd name="T52" fmla="*/ 81 w 209"/>
                  <a:gd name="T53" fmla="*/ 59 h 306"/>
                  <a:gd name="T54" fmla="*/ 68 w 209"/>
                  <a:gd name="T55" fmla="*/ 67 h 306"/>
                  <a:gd name="T56" fmla="*/ 58 w 209"/>
                  <a:gd name="T57" fmla="*/ 79 h 306"/>
                  <a:gd name="T58" fmla="*/ 48 w 209"/>
                  <a:gd name="T59" fmla="*/ 104 h 306"/>
                  <a:gd name="T60" fmla="*/ 43 w 209"/>
                  <a:gd name="T61" fmla="*/ 128 h 306"/>
                  <a:gd name="T62" fmla="*/ 42 w 209"/>
                  <a:gd name="T63" fmla="*/ 153 h 306"/>
                  <a:gd name="T64" fmla="*/ 43 w 209"/>
                  <a:gd name="T65" fmla="*/ 166 h 306"/>
                  <a:gd name="T66" fmla="*/ 51 w 209"/>
                  <a:gd name="T67" fmla="*/ 170 h 306"/>
                  <a:gd name="T68" fmla="*/ 55 w 209"/>
                  <a:gd name="T69" fmla="*/ 166 h 306"/>
                  <a:gd name="T70" fmla="*/ 55 w 209"/>
                  <a:gd name="T71" fmla="*/ 139 h 306"/>
                  <a:gd name="T72" fmla="*/ 58 w 209"/>
                  <a:gd name="T73" fmla="*/ 122 h 306"/>
                  <a:gd name="T74" fmla="*/ 67 w 209"/>
                  <a:gd name="T75" fmla="*/ 114 h 306"/>
                  <a:gd name="T76" fmla="*/ 73 w 209"/>
                  <a:gd name="T77" fmla="*/ 120 h 306"/>
                  <a:gd name="T78" fmla="*/ 71 w 209"/>
                  <a:gd name="T79" fmla="*/ 147 h 306"/>
                  <a:gd name="T80" fmla="*/ 64 w 209"/>
                  <a:gd name="T81" fmla="*/ 175 h 306"/>
                  <a:gd name="T82" fmla="*/ 55 w 209"/>
                  <a:gd name="T83" fmla="*/ 206 h 306"/>
                  <a:gd name="T84" fmla="*/ 34 w 209"/>
                  <a:gd name="T85" fmla="*/ 237 h 306"/>
                  <a:gd name="T86" fmla="*/ 8 w 209"/>
                  <a:gd name="T87" fmla="*/ 268 h 306"/>
                  <a:gd name="T88" fmla="*/ 0 w 209"/>
                  <a:gd name="T89" fmla="*/ 285 h 306"/>
                  <a:gd name="T90" fmla="*/ 20 w 209"/>
                  <a:gd name="T91" fmla="*/ 305 h 306"/>
                  <a:gd name="T92" fmla="*/ 34 w 209"/>
                  <a:gd name="T93" fmla="*/ 302 h 306"/>
                  <a:gd name="T94" fmla="*/ 24 w 209"/>
                  <a:gd name="T95" fmla="*/ 289 h 306"/>
                  <a:gd name="T96" fmla="*/ 31 w 209"/>
                  <a:gd name="T97" fmla="*/ 272 h 306"/>
                  <a:gd name="T98" fmla="*/ 64 w 209"/>
                  <a:gd name="T99" fmla="*/ 234 h 306"/>
                  <a:gd name="T100" fmla="*/ 88 w 209"/>
                  <a:gd name="T101" fmla="*/ 206 h 306"/>
                  <a:gd name="T102" fmla="*/ 99 w 209"/>
                  <a:gd name="T103" fmla="*/ 200 h 306"/>
                  <a:gd name="T104" fmla="*/ 114 w 209"/>
                  <a:gd name="T105" fmla="*/ 209 h 306"/>
                  <a:gd name="T106" fmla="*/ 148 w 209"/>
                  <a:gd name="T107" fmla="*/ 255 h 306"/>
                  <a:gd name="T108" fmla="*/ 175 w 209"/>
                  <a:gd name="T109" fmla="*/ 294 h 306"/>
                  <a:gd name="T110" fmla="*/ 186 w 209"/>
                  <a:gd name="T111" fmla="*/ 297 h 306"/>
                  <a:gd name="T112" fmla="*/ 200 w 209"/>
                  <a:gd name="T113" fmla="*/ 287 h 30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209"/>
                  <a:gd name="T172" fmla="*/ 0 h 306"/>
                  <a:gd name="T173" fmla="*/ 209 w 209"/>
                  <a:gd name="T174" fmla="*/ 306 h 30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209" h="306">
                    <a:moveTo>
                      <a:pt x="207" y="281"/>
                    </a:moveTo>
                    <a:lnTo>
                      <a:pt x="208" y="276"/>
                    </a:lnTo>
                    <a:lnTo>
                      <a:pt x="200" y="277"/>
                    </a:lnTo>
                    <a:lnTo>
                      <a:pt x="192" y="276"/>
                    </a:lnTo>
                    <a:lnTo>
                      <a:pt x="182" y="268"/>
                    </a:lnTo>
                    <a:lnTo>
                      <a:pt x="165" y="241"/>
                    </a:lnTo>
                    <a:lnTo>
                      <a:pt x="140" y="200"/>
                    </a:lnTo>
                    <a:lnTo>
                      <a:pt x="127" y="177"/>
                    </a:lnTo>
                    <a:lnTo>
                      <a:pt x="118" y="159"/>
                    </a:lnTo>
                    <a:lnTo>
                      <a:pt x="116" y="149"/>
                    </a:lnTo>
                    <a:lnTo>
                      <a:pt x="116" y="137"/>
                    </a:lnTo>
                    <a:lnTo>
                      <a:pt x="119" y="129"/>
                    </a:lnTo>
                    <a:lnTo>
                      <a:pt x="124" y="125"/>
                    </a:lnTo>
                    <a:lnTo>
                      <a:pt x="128" y="125"/>
                    </a:lnTo>
                    <a:lnTo>
                      <a:pt x="133" y="128"/>
                    </a:lnTo>
                    <a:lnTo>
                      <a:pt x="143" y="135"/>
                    </a:lnTo>
                    <a:lnTo>
                      <a:pt x="154" y="143"/>
                    </a:lnTo>
                    <a:lnTo>
                      <a:pt x="162" y="147"/>
                    </a:lnTo>
                    <a:lnTo>
                      <a:pt x="167" y="149"/>
                    </a:lnTo>
                    <a:lnTo>
                      <a:pt x="171" y="147"/>
                    </a:lnTo>
                    <a:lnTo>
                      <a:pt x="174" y="143"/>
                    </a:lnTo>
                    <a:lnTo>
                      <a:pt x="173" y="141"/>
                    </a:lnTo>
                    <a:lnTo>
                      <a:pt x="171" y="137"/>
                    </a:lnTo>
                    <a:lnTo>
                      <a:pt x="164" y="129"/>
                    </a:lnTo>
                    <a:lnTo>
                      <a:pt x="149" y="120"/>
                    </a:lnTo>
                    <a:lnTo>
                      <a:pt x="141" y="113"/>
                    </a:lnTo>
                    <a:lnTo>
                      <a:pt x="136" y="104"/>
                    </a:lnTo>
                    <a:lnTo>
                      <a:pt x="132" y="91"/>
                    </a:lnTo>
                    <a:lnTo>
                      <a:pt x="131" y="78"/>
                    </a:lnTo>
                    <a:lnTo>
                      <a:pt x="128" y="72"/>
                    </a:lnTo>
                    <a:lnTo>
                      <a:pt x="124" y="66"/>
                    </a:lnTo>
                    <a:lnTo>
                      <a:pt x="118" y="59"/>
                    </a:lnTo>
                    <a:lnTo>
                      <a:pt x="114" y="55"/>
                    </a:lnTo>
                    <a:lnTo>
                      <a:pt x="114" y="50"/>
                    </a:lnTo>
                    <a:lnTo>
                      <a:pt x="116" y="42"/>
                    </a:lnTo>
                    <a:lnTo>
                      <a:pt x="119" y="38"/>
                    </a:lnTo>
                    <a:lnTo>
                      <a:pt x="122" y="33"/>
                    </a:lnTo>
                    <a:lnTo>
                      <a:pt x="124" y="25"/>
                    </a:lnTo>
                    <a:lnTo>
                      <a:pt x="122" y="16"/>
                    </a:lnTo>
                    <a:lnTo>
                      <a:pt x="120" y="9"/>
                    </a:lnTo>
                    <a:lnTo>
                      <a:pt x="116" y="4"/>
                    </a:lnTo>
                    <a:lnTo>
                      <a:pt x="110" y="1"/>
                    </a:lnTo>
                    <a:lnTo>
                      <a:pt x="101" y="0"/>
                    </a:lnTo>
                    <a:lnTo>
                      <a:pt x="94" y="3"/>
                    </a:lnTo>
                    <a:lnTo>
                      <a:pt x="90" y="7"/>
                    </a:lnTo>
                    <a:lnTo>
                      <a:pt x="88" y="13"/>
                    </a:lnTo>
                    <a:lnTo>
                      <a:pt x="86" y="18"/>
                    </a:lnTo>
                    <a:lnTo>
                      <a:pt x="88" y="24"/>
                    </a:lnTo>
                    <a:lnTo>
                      <a:pt x="90" y="32"/>
                    </a:lnTo>
                    <a:lnTo>
                      <a:pt x="92" y="37"/>
                    </a:lnTo>
                    <a:lnTo>
                      <a:pt x="93" y="42"/>
                    </a:lnTo>
                    <a:lnTo>
                      <a:pt x="92" y="49"/>
                    </a:lnTo>
                    <a:lnTo>
                      <a:pt x="88" y="54"/>
                    </a:lnTo>
                    <a:lnTo>
                      <a:pt x="81" y="59"/>
                    </a:lnTo>
                    <a:lnTo>
                      <a:pt x="73" y="63"/>
                    </a:lnTo>
                    <a:lnTo>
                      <a:pt x="68" y="67"/>
                    </a:lnTo>
                    <a:lnTo>
                      <a:pt x="63" y="72"/>
                    </a:lnTo>
                    <a:lnTo>
                      <a:pt x="58" y="79"/>
                    </a:lnTo>
                    <a:lnTo>
                      <a:pt x="52" y="91"/>
                    </a:lnTo>
                    <a:lnTo>
                      <a:pt x="48" y="104"/>
                    </a:lnTo>
                    <a:lnTo>
                      <a:pt x="44" y="114"/>
                    </a:lnTo>
                    <a:lnTo>
                      <a:pt x="43" y="128"/>
                    </a:lnTo>
                    <a:lnTo>
                      <a:pt x="42" y="143"/>
                    </a:lnTo>
                    <a:lnTo>
                      <a:pt x="42" y="153"/>
                    </a:lnTo>
                    <a:lnTo>
                      <a:pt x="42" y="160"/>
                    </a:lnTo>
                    <a:lnTo>
                      <a:pt x="43" y="166"/>
                    </a:lnTo>
                    <a:lnTo>
                      <a:pt x="46" y="168"/>
                    </a:lnTo>
                    <a:lnTo>
                      <a:pt x="51" y="170"/>
                    </a:lnTo>
                    <a:lnTo>
                      <a:pt x="54" y="168"/>
                    </a:lnTo>
                    <a:lnTo>
                      <a:pt x="55" y="166"/>
                    </a:lnTo>
                    <a:lnTo>
                      <a:pt x="55" y="155"/>
                    </a:lnTo>
                    <a:lnTo>
                      <a:pt x="55" y="139"/>
                    </a:lnTo>
                    <a:lnTo>
                      <a:pt x="56" y="129"/>
                    </a:lnTo>
                    <a:lnTo>
                      <a:pt x="58" y="122"/>
                    </a:lnTo>
                    <a:lnTo>
                      <a:pt x="61" y="116"/>
                    </a:lnTo>
                    <a:lnTo>
                      <a:pt x="67" y="114"/>
                    </a:lnTo>
                    <a:lnTo>
                      <a:pt x="72" y="116"/>
                    </a:lnTo>
                    <a:lnTo>
                      <a:pt x="73" y="120"/>
                    </a:lnTo>
                    <a:lnTo>
                      <a:pt x="72" y="131"/>
                    </a:lnTo>
                    <a:lnTo>
                      <a:pt x="71" y="147"/>
                    </a:lnTo>
                    <a:lnTo>
                      <a:pt x="68" y="162"/>
                    </a:lnTo>
                    <a:lnTo>
                      <a:pt x="64" y="175"/>
                    </a:lnTo>
                    <a:lnTo>
                      <a:pt x="60" y="192"/>
                    </a:lnTo>
                    <a:lnTo>
                      <a:pt x="55" y="206"/>
                    </a:lnTo>
                    <a:lnTo>
                      <a:pt x="43" y="225"/>
                    </a:lnTo>
                    <a:lnTo>
                      <a:pt x="34" y="237"/>
                    </a:lnTo>
                    <a:lnTo>
                      <a:pt x="18" y="255"/>
                    </a:lnTo>
                    <a:lnTo>
                      <a:pt x="8" y="268"/>
                    </a:lnTo>
                    <a:lnTo>
                      <a:pt x="0" y="280"/>
                    </a:lnTo>
                    <a:lnTo>
                      <a:pt x="0" y="285"/>
                    </a:lnTo>
                    <a:lnTo>
                      <a:pt x="8" y="294"/>
                    </a:lnTo>
                    <a:lnTo>
                      <a:pt x="20" y="305"/>
                    </a:lnTo>
                    <a:lnTo>
                      <a:pt x="31" y="305"/>
                    </a:lnTo>
                    <a:lnTo>
                      <a:pt x="34" y="302"/>
                    </a:lnTo>
                    <a:lnTo>
                      <a:pt x="29" y="296"/>
                    </a:lnTo>
                    <a:lnTo>
                      <a:pt x="24" y="289"/>
                    </a:lnTo>
                    <a:lnTo>
                      <a:pt x="24" y="284"/>
                    </a:lnTo>
                    <a:lnTo>
                      <a:pt x="31" y="272"/>
                    </a:lnTo>
                    <a:lnTo>
                      <a:pt x="44" y="259"/>
                    </a:lnTo>
                    <a:lnTo>
                      <a:pt x="64" y="234"/>
                    </a:lnTo>
                    <a:lnTo>
                      <a:pt x="81" y="213"/>
                    </a:lnTo>
                    <a:lnTo>
                      <a:pt x="88" y="206"/>
                    </a:lnTo>
                    <a:lnTo>
                      <a:pt x="92" y="201"/>
                    </a:lnTo>
                    <a:lnTo>
                      <a:pt x="99" y="200"/>
                    </a:lnTo>
                    <a:lnTo>
                      <a:pt x="106" y="204"/>
                    </a:lnTo>
                    <a:lnTo>
                      <a:pt x="114" y="209"/>
                    </a:lnTo>
                    <a:lnTo>
                      <a:pt x="130" y="230"/>
                    </a:lnTo>
                    <a:lnTo>
                      <a:pt x="148" y="255"/>
                    </a:lnTo>
                    <a:lnTo>
                      <a:pt x="165" y="280"/>
                    </a:lnTo>
                    <a:lnTo>
                      <a:pt x="175" y="294"/>
                    </a:lnTo>
                    <a:lnTo>
                      <a:pt x="179" y="297"/>
                    </a:lnTo>
                    <a:lnTo>
                      <a:pt x="186" y="297"/>
                    </a:lnTo>
                    <a:lnTo>
                      <a:pt x="192" y="292"/>
                    </a:lnTo>
                    <a:lnTo>
                      <a:pt x="200" y="287"/>
                    </a:lnTo>
                    <a:lnTo>
                      <a:pt x="207" y="281"/>
                    </a:lnTo>
                  </a:path>
                </a:pathLst>
              </a:custGeom>
              <a:solidFill>
                <a:srgbClr val="CECECE"/>
              </a:solidFill>
              <a:ln w="2540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43" name="Group 34">
                <a:extLst>
                  <a:ext uri="{FF2B5EF4-FFF2-40B4-BE49-F238E27FC236}">
                    <a16:creationId xmlns:a16="http://schemas.microsoft.com/office/drawing/2014/main" id="{F4776DD3-7630-4311-AD92-B8CF12D8230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83" y="1440"/>
                <a:ext cx="244" cy="288"/>
                <a:chOff x="1053" y="1458"/>
                <a:chExt cx="244" cy="288"/>
              </a:xfrm>
            </p:grpSpPr>
            <p:grpSp>
              <p:nvGrpSpPr>
                <p:cNvPr id="144" name="Group 35">
                  <a:extLst>
                    <a:ext uri="{FF2B5EF4-FFF2-40B4-BE49-F238E27FC236}">
                      <a16:creationId xmlns:a16="http://schemas.microsoft.com/office/drawing/2014/main" id="{1B6CAC22-EABF-48BC-9C61-EFE66784489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53" y="1458"/>
                  <a:ext cx="244" cy="288"/>
                  <a:chOff x="1053" y="1458"/>
                  <a:chExt cx="244" cy="288"/>
                </a:xfrm>
              </p:grpSpPr>
              <p:sp>
                <p:nvSpPr>
                  <p:cNvPr id="147" name="AutoShape 36">
                    <a:extLst>
                      <a:ext uri="{FF2B5EF4-FFF2-40B4-BE49-F238E27FC236}">
                        <a16:creationId xmlns:a16="http://schemas.microsoft.com/office/drawing/2014/main" id="{3AB23FCA-585F-47FC-B567-B590F7F5AD3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53" y="1510"/>
                    <a:ext cx="244" cy="236"/>
                  </a:xfrm>
                  <a:prstGeom prst="cube">
                    <a:avLst>
                      <a:gd name="adj" fmla="val 24995"/>
                    </a:avLst>
                  </a:prstGeom>
                  <a:solidFill>
                    <a:schemeClr val="bg1"/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48" name="AutoShape 37">
                    <a:extLst>
                      <a:ext uri="{FF2B5EF4-FFF2-40B4-BE49-F238E27FC236}">
                        <a16:creationId xmlns:a16="http://schemas.microsoft.com/office/drawing/2014/main" id="{3D849E48-6349-481D-A08C-600B3BF1AAE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111" y="1458"/>
                    <a:ext cx="186" cy="49"/>
                  </a:xfrm>
                  <a:prstGeom prst="cube">
                    <a:avLst>
                      <a:gd name="adj" fmla="val 24995"/>
                    </a:avLst>
                  </a:prstGeom>
                  <a:solidFill>
                    <a:schemeClr val="bg1"/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145" name="Oval 38">
                  <a:extLst>
                    <a:ext uri="{FF2B5EF4-FFF2-40B4-BE49-F238E27FC236}">
                      <a16:creationId xmlns:a16="http://schemas.microsoft.com/office/drawing/2014/main" id="{4FE10DE7-5DD3-46B9-BE3F-14C018E448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12" y="1486"/>
                  <a:ext cx="27" cy="8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6" name="AutoShape 39">
                  <a:extLst>
                    <a:ext uri="{FF2B5EF4-FFF2-40B4-BE49-F238E27FC236}">
                      <a16:creationId xmlns:a16="http://schemas.microsoft.com/office/drawing/2014/main" id="{08FEC8D0-DF39-4F34-B5FC-A929A72375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81" y="1630"/>
                  <a:ext cx="131" cy="51"/>
                </a:xfrm>
                <a:prstGeom prst="octagon">
                  <a:avLst>
                    <a:gd name="adj" fmla="val 29282"/>
                  </a:avLst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34" name="Rectangle 83">
              <a:extLst>
                <a:ext uri="{FF2B5EF4-FFF2-40B4-BE49-F238E27FC236}">
                  <a16:creationId xmlns:a16="http://schemas.microsoft.com/office/drawing/2014/main" id="{85765330-B15D-403D-99A6-3DA0F6DC80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" y="658"/>
              <a:ext cx="487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2000" b="1">
                  <a:latin typeface="FranklinGothic" charset="0"/>
                </a:rPr>
                <a:t>6 PM</a:t>
              </a:r>
            </a:p>
          </p:txBody>
        </p:sp>
        <p:sp>
          <p:nvSpPr>
            <p:cNvPr id="35" name="Line 84">
              <a:extLst>
                <a:ext uri="{FF2B5EF4-FFF2-40B4-BE49-F238E27FC236}">
                  <a16:creationId xmlns:a16="http://schemas.microsoft.com/office/drawing/2014/main" id="{D27D6342-AABA-4038-9314-ED27518C66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6" y="873"/>
              <a:ext cx="0" cy="18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Rectangle 85">
              <a:extLst>
                <a:ext uri="{FF2B5EF4-FFF2-40B4-BE49-F238E27FC236}">
                  <a16:creationId xmlns:a16="http://schemas.microsoft.com/office/drawing/2014/main" id="{FCCC61D1-BBCE-4A6C-9FFF-EFCB981F89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9" y="669"/>
              <a:ext cx="203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2000" b="1">
                  <a:latin typeface="FranklinGothic" charset="0"/>
                </a:rPr>
                <a:t>7</a:t>
              </a:r>
            </a:p>
          </p:txBody>
        </p:sp>
        <p:sp>
          <p:nvSpPr>
            <p:cNvPr id="37" name="Rectangle 86">
              <a:extLst>
                <a:ext uri="{FF2B5EF4-FFF2-40B4-BE49-F238E27FC236}">
                  <a16:creationId xmlns:a16="http://schemas.microsoft.com/office/drawing/2014/main" id="{0CA1242E-51F7-446D-AC08-839344E7C5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5" y="664"/>
              <a:ext cx="203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2000" b="1">
                  <a:latin typeface="FranklinGothic" charset="0"/>
                </a:rPr>
                <a:t>8</a:t>
              </a:r>
            </a:p>
          </p:txBody>
        </p:sp>
        <p:sp>
          <p:nvSpPr>
            <p:cNvPr id="38" name="Rectangle 87">
              <a:extLst>
                <a:ext uri="{FF2B5EF4-FFF2-40B4-BE49-F238E27FC236}">
                  <a16:creationId xmlns:a16="http://schemas.microsoft.com/office/drawing/2014/main" id="{F03668C2-8929-43C9-A99F-5A150CECD5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6" y="681"/>
              <a:ext cx="203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2000" b="1">
                  <a:latin typeface="FranklinGothic" charset="0"/>
                </a:rPr>
                <a:t>9</a:t>
              </a:r>
            </a:p>
          </p:txBody>
        </p:sp>
        <p:sp>
          <p:nvSpPr>
            <p:cNvPr id="39" name="Rectangle 88">
              <a:extLst>
                <a:ext uri="{FF2B5EF4-FFF2-40B4-BE49-F238E27FC236}">
                  <a16:creationId xmlns:a16="http://schemas.microsoft.com/office/drawing/2014/main" id="{DE77449D-C2D9-46DE-ABB9-61F2D0C5DA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0" y="671"/>
              <a:ext cx="292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2000" b="1">
                  <a:latin typeface="FranklinGothic" charset="0"/>
                </a:rPr>
                <a:t>10</a:t>
              </a:r>
            </a:p>
          </p:txBody>
        </p:sp>
        <p:sp>
          <p:nvSpPr>
            <p:cNvPr id="40" name="Rectangle 89">
              <a:extLst>
                <a:ext uri="{FF2B5EF4-FFF2-40B4-BE49-F238E27FC236}">
                  <a16:creationId xmlns:a16="http://schemas.microsoft.com/office/drawing/2014/main" id="{F727FE81-C75F-4533-B708-0A7E517712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6" y="669"/>
              <a:ext cx="292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2000" b="1">
                  <a:latin typeface="FranklinGothic" charset="0"/>
                </a:rPr>
                <a:t>11</a:t>
              </a:r>
            </a:p>
          </p:txBody>
        </p:sp>
        <p:sp>
          <p:nvSpPr>
            <p:cNvPr id="41" name="Rectangle 90">
              <a:extLst>
                <a:ext uri="{FF2B5EF4-FFF2-40B4-BE49-F238E27FC236}">
                  <a16:creationId xmlns:a16="http://schemas.microsoft.com/office/drawing/2014/main" id="{5D9579D0-ABBB-4049-A75D-09FD3ED7E6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5" y="652"/>
              <a:ext cx="292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/>
              <a:r>
                <a:rPr lang="en-US" sz="2000" b="1" dirty="0">
                  <a:latin typeface="FranklinGothic" charset="0"/>
                </a:rPr>
                <a:t>12</a:t>
              </a:r>
            </a:p>
          </p:txBody>
        </p:sp>
        <p:sp>
          <p:nvSpPr>
            <p:cNvPr id="42" name="Rectangle 91">
              <a:extLst>
                <a:ext uri="{FF2B5EF4-FFF2-40B4-BE49-F238E27FC236}">
                  <a16:creationId xmlns:a16="http://schemas.microsoft.com/office/drawing/2014/main" id="{6C24D0ED-ED4C-444F-B10B-09D3506159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16" y="663"/>
              <a:ext cx="203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/>
              <a:r>
                <a:rPr lang="en-US" sz="2000" b="1">
                  <a:latin typeface="FranklinGothic" charset="0"/>
                </a:rPr>
                <a:t>1</a:t>
              </a:r>
            </a:p>
          </p:txBody>
        </p:sp>
        <p:sp>
          <p:nvSpPr>
            <p:cNvPr id="43" name="Line 92">
              <a:extLst>
                <a:ext uri="{FF2B5EF4-FFF2-40B4-BE49-F238E27FC236}">
                  <a16:creationId xmlns:a16="http://schemas.microsoft.com/office/drawing/2014/main" id="{5CD0457A-07AB-4CE6-B187-95EDBF93B1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6" y="978"/>
              <a:ext cx="47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Rectangle 93">
              <a:extLst>
                <a:ext uri="{FF2B5EF4-FFF2-40B4-BE49-F238E27FC236}">
                  <a16:creationId xmlns:a16="http://schemas.microsoft.com/office/drawing/2014/main" id="{33FBAAE0-9A83-4464-AC14-C6CB6A5C75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20" y="646"/>
              <a:ext cx="496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/>
              <a:r>
                <a:rPr lang="en-US" sz="2000" b="1">
                  <a:latin typeface="FranklinGothic" charset="0"/>
                </a:rPr>
                <a:t>2 AM</a:t>
              </a:r>
            </a:p>
          </p:txBody>
        </p:sp>
        <p:grpSp>
          <p:nvGrpSpPr>
            <p:cNvPr id="45" name="Group 98">
              <a:extLst>
                <a:ext uri="{FF2B5EF4-FFF2-40B4-BE49-F238E27FC236}">
                  <a16:creationId xmlns:a16="http://schemas.microsoft.com/office/drawing/2014/main" id="{43366CF8-3678-44BD-9A60-09E4687607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56" y="1735"/>
              <a:ext cx="1088" cy="310"/>
              <a:chOff x="801" y="1447"/>
              <a:chExt cx="1088" cy="310"/>
            </a:xfrm>
          </p:grpSpPr>
          <p:grpSp>
            <p:nvGrpSpPr>
              <p:cNvPr id="122" name="Group 99">
                <a:extLst>
                  <a:ext uri="{FF2B5EF4-FFF2-40B4-BE49-F238E27FC236}">
                    <a16:creationId xmlns:a16="http://schemas.microsoft.com/office/drawing/2014/main" id="{AC820114-D408-44AA-9C95-556764058C3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01" y="1458"/>
                <a:ext cx="218" cy="298"/>
                <a:chOff x="801" y="1458"/>
                <a:chExt cx="218" cy="298"/>
              </a:xfrm>
            </p:grpSpPr>
            <p:sp>
              <p:nvSpPr>
                <p:cNvPr id="137" name="AutoShape 100">
                  <a:extLst>
                    <a:ext uri="{FF2B5EF4-FFF2-40B4-BE49-F238E27FC236}">
                      <a16:creationId xmlns:a16="http://schemas.microsoft.com/office/drawing/2014/main" id="{DFCF7AEC-A05F-4240-B74B-C8E9D97C3C5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1" y="1510"/>
                  <a:ext cx="218" cy="246"/>
                </a:xfrm>
                <a:prstGeom prst="cube">
                  <a:avLst>
                    <a:gd name="adj" fmla="val 24995"/>
                  </a:avLst>
                </a:prstGeom>
                <a:solidFill>
                  <a:srgbClr val="DC008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8" name="AutoShape 101">
                  <a:extLst>
                    <a:ext uri="{FF2B5EF4-FFF2-40B4-BE49-F238E27FC236}">
                      <a16:creationId xmlns:a16="http://schemas.microsoft.com/office/drawing/2014/main" id="{4FF5DCE6-5105-4976-A609-381250F9FF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54" y="1458"/>
                  <a:ext cx="165" cy="49"/>
                </a:xfrm>
                <a:prstGeom prst="cube">
                  <a:avLst>
                    <a:gd name="adj" fmla="val 24995"/>
                  </a:avLst>
                </a:prstGeom>
                <a:solidFill>
                  <a:srgbClr val="DC008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9" name="AutoShape 102">
                  <a:extLst>
                    <a:ext uri="{FF2B5EF4-FFF2-40B4-BE49-F238E27FC236}">
                      <a16:creationId xmlns:a16="http://schemas.microsoft.com/office/drawing/2014/main" id="{946A9ACD-D8B5-473D-8C4A-D6C8110FDB2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45" y="1532"/>
                  <a:ext cx="114" cy="18"/>
                </a:xfrm>
                <a:prstGeom prst="parallelogram">
                  <a:avLst>
                    <a:gd name="adj" fmla="val 158304"/>
                  </a:avLst>
                </a:prstGeom>
                <a:solidFill>
                  <a:srgbClr val="DC008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23" name="Group 103">
                <a:extLst>
                  <a:ext uri="{FF2B5EF4-FFF2-40B4-BE49-F238E27FC236}">
                    <a16:creationId xmlns:a16="http://schemas.microsoft.com/office/drawing/2014/main" id="{D2DCB7E1-E234-468F-8157-C6722001145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92" y="1488"/>
                <a:ext cx="213" cy="269"/>
                <a:chOff x="1345" y="1500"/>
                <a:chExt cx="213" cy="269"/>
              </a:xfrm>
            </p:grpSpPr>
            <p:sp>
              <p:nvSpPr>
                <p:cNvPr id="131" name="Freeform 104">
                  <a:extLst>
                    <a:ext uri="{FF2B5EF4-FFF2-40B4-BE49-F238E27FC236}">
                      <a16:creationId xmlns:a16="http://schemas.microsoft.com/office/drawing/2014/main" id="{851F94EC-0042-4EBE-956B-E875D400561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83" y="1625"/>
                  <a:ext cx="64" cy="144"/>
                </a:xfrm>
                <a:custGeom>
                  <a:avLst/>
                  <a:gdLst>
                    <a:gd name="T0" fmla="*/ 46 w 64"/>
                    <a:gd name="T1" fmla="*/ 0 h 144"/>
                    <a:gd name="T2" fmla="*/ 63 w 64"/>
                    <a:gd name="T3" fmla="*/ 0 h 144"/>
                    <a:gd name="T4" fmla="*/ 17 w 64"/>
                    <a:gd name="T5" fmla="*/ 143 h 144"/>
                    <a:gd name="T6" fmla="*/ 0 w 64"/>
                    <a:gd name="T7" fmla="*/ 143 h 144"/>
                    <a:gd name="T8" fmla="*/ 46 w 64"/>
                    <a:gd name="T9" fmla="*/ 0 h 14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4"/>
                    <a:gd name="T16" fmla="*/ 0 h 144"/>
                    <a:gd name="T17" fmla="*/ 64 w 64"/>
                    <a:gd name="T18" fmla="*/ 144 h 14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4" h="144">
                      <a:moveTo>
                        <a:pt x="46" y="0"/>
                      </a:moveTo>
                      <a:lnTo>
                        <a:pt x="63" y="0"/>
                      </a:lnTo>
                      <a:lnTo>
                        <a:pt x="17" y="143"/>
                      </a:lnTo>
                      <a:lnTo>
                        <a:pt x="0" y="143"/>
                      </a:lnTo>
                      <a:lnTo>
                        <a:pt x="46" y="0"/>
                      </a:lnTo>
                    </a:path>
                  </a:pathLst>
                </a:custGeom>
                <a:solidFill>
                  <a:srgbClr val="F39FD1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2" name="Rectangle 105">
                  <a:extLst>
                    <a:ext uri="{FF2B5EF4-FFF2-40B4-BE49-F238E27FC236}">
                      <a16:creationId xmlns:a16="http://schemas.microsoft.com/office/drawing/2014/main" id="{FA6F4ADE-8D6A-4CA4-9567-FA9676BC2DC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8" y="1625"/>
                  <a:ext cx="80" cy="12"/>
                </a:xfrm>
                <a:prstGeom prst="rect">
                  <a:avLst/>
                </a:prstGeom>
                <a:solidFill>
                  <a:srgbClr val="F39FD1"/>
                </a:solidFill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3" name="Rectangle 106">
                  <a:extLst>
                    <a:ext uri="{FF2B5EF4-FFF2-40B4-BE49-F238E27FC236}">
                      <a16:creationId xmlns:a16="http://schemas.microsoft.com/office/drawing/2014/main" id="{E5FD66DD-E16D-4991-8F6A-011CC7912F8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86" y="1683"/>
                  <a:ext cx="60" cy="14"/>
                </a:xfrm>
                <a:prstGeom prst="rect">
                  <a:avLst/>
                </a:prstGeom>
                <a:solidFill>
                  <a:srgbClr val="F39FD1"/>
                </a:solidFill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4" name="Rectangle 107">
                  <a:extLst>
                    <a:ext uri="{FF2B5EF4-FFF2-40B4-BE49-F238E27FC236}">
                      <a16:creationId xmlns:a16="http://schemas.microsoft.com/office/drawing/2014/main" id="{72F520CC-1399-4BE1-A4D3-8C676C3BAEC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47" y="1683"/>
                  <a:ext cx="79" cy="10"/>
                </a:xfrm>
                <a:prstGeom prst="rect">
                  <a:avLst/>
                </a:prstGeom>
                <a:solidFill>
                  <a:srgbClr val="F39FD1"/>
                </a:solidFill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5" name="Oval 108">
                  <a:extLst>
                    <a:ext uri="{FF2B5EF4-FFF2-40B4-BE49-F238E27FC236}">
                      <a16:creationId xmlns:a16="http://schemas.microsoft.com/office/drawing/2014/main" id="{53750E56-D08E-43E3-BA3E-BEEEC71B67C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09" y="1500"/>
                  <a:ext cx="24" cy="27"/>
                </a:xfrm>
                <a:prstGeom prst="ellipse">
                  <a:avLst/>
                </a:prstGeom>
                <a:solidFill>
                  <a:srgbClr val="F39FD1"/>
                </a:solidFill>
                <a:ln w="254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6" name="Freeform 109">
                  <a:extLst>
                    <a:ext uri="{FF2B5EF4-FFF2-40B4-BE49-F238E27FC236}">
                      <a16:creationId xmlns:a16="http://schemas.microsoft.com/office/drawing/2014/main" id="{7400CEF8-4BBC-4315-83A2-C9DCF00D6C1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345" y="1547"/>
                  <a:ext cx="146" cy="222"/>
                </a:xfrm>
                <a:custGeom>
                  <a:avLst/>
                  <a:gdLst>
                    <a:gd name="T0" fmla="*/ 1 w 146"/>
                    <a:gd name="T1" fmla="*/ 102 h 222"/>
                    <a:gd name="T2" fmla="*/ 1 w 146"/>
                    <a:gd name="T3" fmla="*/ 105 h 222"/>
                    <a:gd name="T4" fmla="*/ 0 w 146"/>
                    <a:gd name="T5" fmla="*/ 109 h 222"/>
                    <a:gd name="T6" fmla="*/ 0 w 146"/>
                    <a:gd name="T7" fmla="*/ 112 h 222"/>
                    <a:gd name="T8" fmla="*/ 1 w 146"/>
                    <a:gd name="T9" fmla="*/ 116 h 222"/>
                    <a:gd name="T10" fmla="*/ 3 w 146"/>
                    <a:gd name="T11" fmla="*/ 119 h 222"/>
                    <a:gd name="T12" fmla="*/ 6 w 146"/>
                    <a:gd name="T13" fmla="*/ 122 h 222"/>
                    <a:gd name="T14" fmla="*/ 9 w 146"/>
                    <a:gd name="T15" fmla="*/ 124 h 222"/>
                    <a:gd name="T16" fmla="*/ 12 w 146"/>
                    <a:gd name="T17" fmla="*/ 125 h 222"/>
                    <a:gd name="T18" fmla="*/ 16 w 146"/>
                    <a:gd name="T19" fmla="*/ 125 h 222"/>
                    <a:gd name="T20" fmla="*/ 95 w 146"/>
                    <a:gd name="T21" fmla="*/ 221 h 222"/>
                    <a:gd name="T22" fmla="*/ 120 w 146"/>
                    <a:gd name="T23" fmla="*/ 106 h 222"/>
                    <a:gd name="T24" fmla="*/ 119 w 146"/>
                    <a:gd name="T25" fmla="*/ 104 h 222"/>
                    <a:gd name="T26" fmla="*/ 118 w 146"/>
                    <a:gd name="T27" fmla="*/ 102 h 222"/>
                    <a:gd name="T28" fmla="*/ 116 w 146"/>
                    <a:gd name="T29" fmla="*/ 100 h 222"/>
                    <a:gd name="T30" fmla="*/ 114 w 146"/>
                    <a:gd name="T31" fmla="*/ 98 h 222"/>
                    <a:gd name="T32" fmla="*/ 111 w 146"/>
                    <a:gd name="T33" fmla="*/ 97 h 222"/>
                    <a:gd name="T34" fmla="*/ 108 w 146"/>
                    <a:gd name="T35" fmla="*/ 96 h 222"/>
                    <a:gd name="T36" fmla="*/ 106 w 146"/>
                    <a:gd name="T37" fmla="*/ 96 h 222"/>
                    <a:gd name="T38" fmla="*/ 103 w 146"/>
                    <a:gd name="T39" fmla="*/ 96 h 222"/>
                    <a:gd name="T40" fmla="*/ 70 w 146"/>
                    <a:gd name="T41" fmla="*/ 56 h 222"/>
                    <a:gd name="T42" fmla="*/ 135 w 146"/>
                    <a:gd name="T43" fmla="*/ 70 h 222"/>
                    <a:gd name="T44" fmla="*/ 137 w 146"/>
                    <a:gd name="T45" fmla="*/ 69 h 222"/>
                    <a:gd name="T46" fmla="*/ 139 w 146"/>
                    <a:gd name="T47" fmla="*/ 68 h 222"/>
                    <a:gd name="T48" fmla="*/ 142 w 146"/>
                    <a:gd name="T49" fmla="*/ 66 h 222"/>
                    <a:gd name="T50" fmla="*/ 144 w 146"/>
                    <a:gd name="T51" fmla="*/ 65 h 222"/>
                    <a:gd name="T52" fmla="*/ 144 w 146"/>
                    <a:gd name="T53" fmla="*/ 62 h 222"/>
                    <a:gd name="T54" fmla="*/ 145 w 146"/>
                    <a:gd name="T55" fmla="*/ 59 h 222"/>
                    <a:gd name="T56" fmla="*/ 144 w 146"/>
                    <a:gd name="T57" fmla="*/ 55 h 222"/>
                    <a:gd name="T58" fmla="*/ 143 w 146"/>
                    <a:gd name="T59" fmla="*/ 53 h 222"/>
                    <a:gd name="T60" fmla="*/ 141 w 146"/>
                    <a:gd name="T61" fmla="*/ 51 h 222"/>
                    <a:gd name="T62" fmla="*/ 139 w 146"/>
                    <a:gd name="T63" fmla="*/ 49 h 222"/>
                    <a:gd name="T64" fmla="*/ 136 w 146"/>
                    <a:gd name="T65" fmla="*/ 48 h 222"/>
                    <a:gd name="T66" fmla="*/ 92 w 146"/>
                    <a:gd name="T67" fmla="*/ 48 h 222"/>
                    <a:gd name="T68" fmla="*/ 84 w 146"/>
                    <a:gd name="T69" fmla="*/ 31 h 222"/>
                    <a:gd name="T70" fmla="*/ 85 w 146"/>
                    <a:gd name="T71" fmla="*/ 27 h 222"/>
                    <a:gd name="T72" fmla="*/ 85 w 146"/>
                    <a:gd name="T73" fmla="*/ 23 h 222"/>
                    <a:gd name="T74" fmla="*/ 85 w 146"/>
                    <a:gd name="T75" fmla="*/ 18 h 222"/>
                    <a:gd name="T76" fmla="*/ 84 w 146"/>
                    <a:gd name="T77" fmla="*/ 14 h 222"/>
                    <a:gd name="T78" fmla="*/ 83 w 146"/>
                    <a:gd name="T79" fmla="*/ 11 h 222"/>
                    <a:gd name="T80" fmla="*/ 80 w 146"/>
                    <a:gd name="T81" fmla="*/ 8 h 222"/>
                    <a:gd name="T82" fmla="*/ 77 w 146"/>
                    <a:gd name="T83" fmla="*/ 5 h 222"/>
                    <a:gd name="T84" fmla="*/ 74 w 146"/>
                    <a:gd name="T85" fmla="*/ 3 h 222"/>
                    <a:gd name="T86" fmla="*/ 70 w 146"/>
                    <a:gd name="T87" fmla="*/ 1 h 222"/>
                    <a:gd name="T88" fmla="*/ 65 w 146"/>
                    <a:gd name="T89" fmla="*/ 0 h 222"/>
                    <a:gd name="T90" fmla="*/ 61 w 146"/>
                    <a:gd name="T91" fmla="*/ 0 h 222"/>
                    <a:gd name="T92" fmla="*/ 56 w 146"/>
                    <a:gd name="T93" fmla="*/ 1 h 222"/>
                    <a:gd name="T94" fmla="*/ 52 w 146"/>
                    <a:gd name="T95" fmla="*/ 2 h 222"/>
                    <a:gd name="T96" fmla="*/ 47 w 146"/>
                    <a:gd name="T97" fmla="*/ 5 h 222"/>
                    <a:gd name="T98" fmla="*/ 44 w 146"/>
                    <a:gd name="T99" fmla="*/ 8 h 222"/>
                    <a:gd name="T100" fmla="*/ 41 w 146"/>
                    <a:gd name="T101" fmla="*/ 12 h 222"/>
                    <a:gd name="T102" fmla="*/ 39 w 146"/>
                    <a:gd name="T103" fmla="*/ 17 h 222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w 146"/>
                    <a:gd name="T157" fmla="*/ 0 h 222"/>
                    <a:gd name="T158" fmla="*/ 146 w 146"/>
                    <a:gd name="T159" fmla="*/ 222 h 222"/>
                  </a:gdLst>
                  <a:ahLst/>
                  <a:cxnLst>
                    <a:cxn ang="T104">
                      <a:pos x="T0" y="T1"/>
                    </a:cxn>
                    <a:cxn ang="T105">
                      <a:pos x="T2" y="T3"/>
                    </a:cxn>
                    <a:cxn ang="T106">
                      <a:pos x="T4" y="T5"/>
                    </a:cxn>
                    <a:cxn ang="T107">
                      <a:pos x="T6" y="T7"/>
                    </a:cxn>
                    <a:cxn ang="T108">
                      <a:pos x="T8" y="T9"/>
                    </a:cxn>
                    <a:cxn ang="T109">
                      <a:pos x="T10" y="T11"/>
                    </a:cxn>
                    <a:cxn ang="T110">
                      <a:pos x="T12" y="T13"/>
                    </a:cxn>
                    <a:cxn ang="T111">
                      <a:pos x="T14" y="T15"/>
                    </a:cxn>
                    <a:cxn ang="T112">
                      <a:pos x="T16" y="T17"/>
                    </a:cxn>
                    <a:cxn ang="T113">
                      <a:pos x="T18" y="T19"/>
                    </a:cxn>
                    <a:cxn ang="T114">
                      <a:pos x="T20" y="T21"/>
                    </a:cxn>
                    <a:cxn ang="T115">
                      <a:pos x="T22" y="T23"/>
                    </a:cxn>
                    <a:cxn ang="T116">
                      <a:pos x="T24" y="T25"/>
                    </a:cxn>
                    <a:cxn ang="T117">
                      <a:pos x="T26" y="T27"/>
                    </a:cxn>
                    <a:cxn ang="T118">
                      <a:pos x="T28" y="T29"/>
                    </a:cxn>
                    <a:cxn ang="T119">
                      <a:pos x="T30" y="T31"/>
                    </a:cxn>
                    <a:cxn ang="T120">
                      <a:pos x="T32" y="T33"/>
                    </a:cxn>
                    <a:cxn ang="T121">
                      <a:pos x="T34" y="T35"/>
                    </a:cxn>
                    <a:cxn ang="T122">
                      <a:pos x="T36" y="T37"/>
                    </a:cxn>
                    <a:cxn ang="T123">
                      <a:pos x="T38" y="T39"/>
                    </a:cxn>
                    <a:cxn ang="T124">
                      <a:pos x="T40" y="T41"/>
                    </a:cxn>
                    <a:cxn ang="T125">
                      <a:pos x="T42" y="T43"/>
                    </a:cxn>
                    <a:cxn ang="T126">
                      <a:pos x="T44" y="T45"/>
                    </a:cxn>
                    <a:cxn ang="T127">
                      <a:pos x="T46" y="T47"/>
                    </a:cxn>
                    <a:cxn ang="T128">
                      <a:pos x="T48" y="T49"/>
                    </a:cxn>
                    <a:cxn ang="T129">
                      <a:pos x="T50" y="T51"/>
                    </a:cxn>
                    <a:cxn ang="T130">
                      <a:pos x="T52" y="T53"/>
                    </a:cxn>
                    <a:cxn ang="T131">
                      <a:pos x="T54" y="T55"/>
                    </a:cxn>
                    <a:cxn ang="T132">
                      <a:pos x="T56" y="T57"/>
                    </a:cxn>
                    <a:cxn ang="T133">
                      <a:pos x="T58" y="T59"/>
                    </a:cxn>
                    <a:cxn ang="T134">
                      <a:pos x="T60" y="T61"/>
                    </a:cxn>
                    <a:cxn ang="T135">
                      <a:pos x="T62" y="T63"/>
                    </a:cxn>
                    <a:cxn ang="T136">
                      <a:pos x="T64" y="T65"/>
                    </a:cxn>
                    <a:cxn ang="T137">
                      <a:pos x="T66" y="T67"/>
                    </a:cxn>
                    <a:cxn ang="T138">
                      <a:pos x="T68" y="T69"/>
                    </a:cxn>
                    <a:cxn ang="T139">
                      <a:pos x="T70" y="T71"/>
                    </a:cxn>
                    <a:cxn ang="T140">
                      <a:pos x="T72" y="T73"/>
                    </a:cxn>
                    <a:cxn ang="T141">
                      <a:pos x="T74" y="T75"/>
                    </a:cxn>
                    <a:cxn ang="T142">
                      <a:pos x="T76" y="T77"/>
                    </a:cxn>
                    <a:cxn ang="T143">
                      <a:pos x="T78" y="T79"/>
                    </a:cxn>
                    <a:cxn ang="T144">
                      <a:pos x="T80" y="T81"/>
                    </a:cxn>
                    <a:cxn ang="T145">
                      <a:pos x="T82" y="T83"/>
                    </a:cxn>
                    <a:cxn ang="T146">
                      <a:pos x="T84" y="T85"/>
                    </a:cxn>
                    <a:cxn ang="T147">
                      <a:pos x="T86" y="T87"/>
                    </a:cxn>
                    <a:cxn ang="T148">
                      <a:pos x="T88" y="T89"/>
                    </a:cxn>
                    <a:cxn ang="T149">
                      <a:pos x="T90" y="T91"/>
                    </a:cxn>
                    <a:cxn ang="T150">
                      <a:pos x="T92" y="T93"/>
                    </a:cxn>
                    <a:cxn ang="T151">
                      <a:pos x="T94" y="T95"/>
                    </a:cxn>
                    <a:cxn ang="T152">
                      <a:pos x="T96" y="T97"/>
                    </a:cxn>
                    <a:cxn ang="T153">
                      <a:pos x="T98" y="T99"/>
                    </a:cxn>
                    <a:cxn ang="T154">
                      <a:pos x="T100" y="T101"/>
                    </a:cxn>
                    <a:cxn ang="T155">
                      <a:pos x="T102" y="T103"/>
                    </a:cxn>
                  </a:cxnLst>
                  <a:rect l="T156" t="T157" r="T158" b="T159"/>
                  <a:pathLst>
                    <a:path w="146" h="222">
                      <a:moveTo>
                        <a:pt x="39" y="17"/>
                      </a:moveTo>
                      <a:lnTo>
                        <a:pt x="1" y="102"/>
                      </a:lnTo>
                      <a:lnTo>
                        <a:pt x="1" y="104"/>
                      </a:lnTo>
                      <a:lnTo>
                        <a:pt x="1" y="105"/>
                      </a:lnTo>
                      <a:lnTo>
                        <a:pt x="0" y="106"/>
                      </a:lnTo>
                      <a:lnTo>
                        <a:pt x="0" y="109"/>
                      </a:lnTo>
                      <a:lnTo>
                        <a:pt x="0" y="110"/>
                      </a:lnTo>
                      <a:lnTo>
                        <a:pt x="0" y="112"/>
                      </a:lnTo>
                      <a:lnTo>
                        <a:pt x="1" y="114"/>
                      </a:lnTo>
                      <a:lnTo>
                        <a:pt x="1" y="116"/>
                      </a:lnTo>
                      <a:lnTo>
                        <a:pt x="2" y="117"/>
                      </a:lnTo>
                      <a:lnTo>
                        <a:pt x="3" y="119"/>
                      </a:lnTo>
                      <a:lnTo>
                        <a:pt x="5" y="121"/>
                      </a:lnTo>
                      <a:lnTo>
                        <a:pt x="6" y="122"/>
                      </a:lnTo>
                      <a:lnTo>
                        <a:pt x="8" y="123"/>
                      </a:lnTo>
                      <a:lnTo>
                        <a:pt x="9" y="124"/>
                      </a:lnTo>
                      <a:lnTo>
                        <a:pt x="10" y="124"/>
                      </a:lnTo>
                      <a:lnTo>
                        <a:pt x="12" y="125"/>
                      </a:lnTo>
                      <a:lnTo>
                        <a:pt x="14" y="125"/>
                      </a:lnTo>
                      <a:lnTo>
                        <a:pt x="16" y="125"/>
                      </a:lnTo>
                      <a:lnTo>
                        <a:pt x="95" y="125"/>
                      </a:lnTo>
                      <a:lnTo>
                        <a:pt x="95" y="221"/>
                      </a:lnTo>
                      <a:lnTo>
                        <a:pt x="120" y="221"/>
                      </a:lnTo>
                      <a:lnTo>
                        <a:pt x="120" y="106"/>
                      </a:lnTo>
                      <a:lnTo>
                        <a:pt x="120" y="105"/>
                      </a:lnTo>
                      <a:lnTo>
                        <a:pt x="119" y="104"/>
                      </a:lnTo>
                      <a:lnTo>
                        <a:pt x="118" y="102"/>
                      </a:lnTo>
                      <a:lnTo>
                        <a:pt x="117" y="101"/>
                      </a:lnTo>
                      <a:lnTo>
                        <a:pt x="116" y="100"/>
                      </a:lnTo>
                      <a:lnTo>
                        <a:pt x="115" y="99"/>
                      </a:lnTo>
                      <a:lnTo>
                        <a:pt x="114" y="98"/>
                      </a:lnTo>
                      <a:lnTo>
                        <a:pt x="113" y="98"/>
                      </a:lnTo>
                      <a:lnTo>
                        <a:pt x="111" y="97"/>
                      </a:lnTo>
                      <a:lnTo>
                        <a:pt x="110" y="97"/>
                      </a:lnTo>
                      <a:lnTo>
                        <a:pt x="108" y="96"/>
                      </a:lnTo>
                      <a:lnTo>
                        <a:pt x="107" y="96"/>
                      </a:lnTo>
                      <a:lnTo>
                        <a:pt x="106" y="96"/>
                      </a:lnTo>
                      <a:lnTo>
                        <a:pt x="104" y="96"/>
                      </a:lnTo>
                      <a:lnTo>
                        <a:pt x="103" y="96"/>
                      </a:lnTo>
                      <a:lnTo>
                        <a:pt x="57" y="94"/>
                      </a:lnTo>
                      <a:lnTo>
                        <a:pt x="70" y="56"/>
                      </a:lnTo>
                      <a:lnTo>
                        <a:pt x="79" y="70"/>
                      </a:lnTo>
                      <a:lnTo>
                        <a:pt x="135" y="70"/>
                      </a:lnTo>
                      <a:lnTo>
                        <a:pt x="136" y="69"/>
                      </a:lnTo>
                      <a:lnTo>
                        <a:pt x="137" y="69"/>
                      </a:lnTo>
                      <a:lnTo>
                        <a:pt x="139" y="68"/>
                      </a:lnTo>
                      <a:lnTo>
                        <a:pt x="140" y="67"/>
                      </a:lnTo>
                      <a:lnTo>
                        <a:pt x="142" y="66"/>
                      </a:lnTo>
                      <a:lnTo>
                        <a:pt x="142" y="65"/>
                      </a:lnTo>
                      <a:lnTo>
                        <a:pt x="144" y="65"/>
                      </a:lnTo>
                      <a:lnTo>
                        <a:pt x="144" y="63"/>
                      </a:lnTo>
                      <a:lnTo>
                        <a:pt x="144" y="62"/>
                      </a:lnTo>
                      <a:lnTo>
                        <a:pt x="145" y="61"/>
                      </a:lnTo>
                      <a:lnTo>
                        <a:pt x="145" y="59"/>
                      </a:lnTo>
                      <a:lnTo>
                        <a:pt x="145" y="57"/>
                      </a:lnTo>
                      <a:lnTo>
                        <a:pt x="144" y="55"/>
                      </a:lnTo>
                      <a:lnTo>
                        <a:pt x="144" y="54"/>
                      </a:lnTo>
                      <a:lnTo>
                        <a:pt x="143" y="53"/>
                      </a:lnTo>
                      <a:lnTo>
                        <a:pt x="142" y="52"/>
                      </a:lnTo>
                      <a:lnTo>
                        <a:pt x="141" y="51"/>
                      </a:lnTo>
                      <a:lnTo>
                        <a:pt x="140" y="50"/>
                      </a:lnTo>
                      <a:lnTo>
                        <a:pt x="139" y="49"/>
                      </a:lnTo>
                      <a:lnTo>
                        <a:pt x="138" y="48"/>
                      </a:lnTo>
                      <a:lnTo>
                        <a:pt x="136" y="48"/>
                      </a:lnTo>
                      <a:lnTo>
                        <a:pt x="135" y="48"/>
                      </a:lnTo>
                      <a:lnTo>
                        <a:pt x="92" y="48"/>
                      </a:lnTo>
                      <a:lnTo>
                        <a:pt x="83" y="33"/>
                      </a:lnTo>
                      <a:lnTo>
                        <a:pt x="84" y="31"/>
                      </a:lnTo>
                      <a:lnTo>
                        <a:pt x="85" y="29"/>
                      </a:lnTo>
                      <a:lnTo>
                        <a:pt x="85" y="27"/>
                      </a:lnTo>
                      <a:lnTo>
                        <a:pt x="85" y="25"/>
                      </a:lnTo>
                      <a:lnTo>
                        <a:pt x="85" y="23"/>
                      </a:lnTo>
                      <a:lnTo>
                        <a:pt x="85" y="21"/>
                      </a:lnTo>
                      <a:lnTo>
                        <a:pt x="85" y="18"/>
                      </a:lnTo>
                      <a:lnTo>
                        <a:pt x="85" y="16"/>
                      </a:lnTo>
                      <a:lnTo>
                        <a:pt x="84" y="14"/>
                      </a:lnTo>
                      <a:lnTo>
                        <a:pt x="84" y="13"/>
                      </a:lnTo>
                      <a:lnTo>
                        <a:pt x="83" y="11"/>
                      </a:lnTo>
                      <a:lnTo>
                        <a:pt x="82" y="10"/>
                      </a:lnTo>
                      <a:lnTo>
                        <a:pt x="80" y="8"/>
                      </a:lnTo>
                      <a:lnTo>
                        <a:pt x="79" y="7"/>
                      </a:lnTo>
                      <a:lnTo>
                        <a:pt x="77" y="5"/>
                      </a:lnTo>
                      <a:lnTo>
                        <a:pt x="76" y="4"/>
                      </a:lnTo>
                      <a:lnTo>
                        <a:pt x="74" y="3"/>
                      </a:lnTo>
                      <a:lnTo>
                        <a:pt x="72" y="2"/>
                      </a:lnTo>
                      <a:lnTo>
                        <a:pt x="70" y="1"/>
                      </a:lnTo>
                      <a:lnTo>
                        <a:pt x="67" y="1"/>
                      </a:lnTo>
                      <a:lnTo>
                        <a:pt x="65" y="0"/>
                      </a:lnTo>
                      <a:lnTo>
                        <a:pt x="63" y="0"/>
                      </a:lnTo>
                      <a:lnTo>
                        <a:pt x="61" y="0"/>
                      </a:lnTo>
                      <a:lnTo>
                        <a:pt x="59" y="0"/>
                      </a:lnTo>
                      <a:lnTo>
                        <a:pt x="56" y="1"/>
                      </a:lnTo>
                      <a:lnTo>
                        <a:pt x="54" y="1"/>
                      </a:lnTo>
                      <a:lnTo>
                        <a:pt x="52" y="2"/>
                      </a:lnTo>
                      <a:lnTo>
                        <a:pt x="50" y="3"/>
                      </a:lnTo>
                      <a:lnTo>
                        <a:pt x="47" y="5"/>
                      </a:lnTo>
                      <a:lnTo>
                        <a:pt x="46" y="7"/>
                      </a:lnTo>
                      <a:lnTo>
                        <a:pt x="44" y="8"/>
                      </a:lnTo>
                      <a:lnTo>
                        <a:pt x="43" y="10"/>
                      </a:lnTo>
                      <a:lnTo>
                        <a:pt x="41" y="12"/>
                      </a:lnTo>
                      <a:lnTo>
                        <a:pt x="40" y="14"/>
                      </a:lnTo>
                      <a:lnTo>
                        <a:pt x="39" y="17"/>
                      </a:lnTo>
                    </a:path>
                  </a:pathLst>
                </a:custGeom>
                <a:solidFill>
                  <a:srgbClr val="F39FD1"/>
                </a:solidFill>
                <a:ln w="1270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24" name="Freeform 110">
                <a:extLst>
                  <a:ext uri="{FF2B5EF4-FFF2-40B4-BE49-F238E27FC236}">
                    <a16:creationId xmlns:a16="http://schemas.microsoft.com/office/drawing/2014/main" id="{D35CE7A9-26AD-4728-8242-D6479A7A1E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80" y="1463"/>
                <a:ext cx="209" cy="292"/>
              </a:xfrm>
              <a:custGeom>
                <a:avLst/>
                <a:gdLst>
                  <a:gd name="T0" fmla="*/ 208 w 209"/>
                  <a:gd name="T1" fmla="*/ 276 h 306"/>
                  <a:gd name="T2" fmla="*/ 192 w 209"/>
                  <a:gd name="T3" fmla="*/ 276 h 306"/>
                  <a:gd name="T4" fmla="*/ 165 w 209"/>
                  <a:gd name="T5" fmla="*/ 241 h 306"/>
                  <a:gd name="T6" fmla="*/ 127 w 209"/>
                  <a:gd name="T7" fmla="*/ 177 h 306"/>
                  <a:gd name="T8" fmla="*/ 116 w 209"/>
                  <a:gd name="T9" fmla="*/ 149 h 306"/>
                  <a:gd name="T10" fmla="*/ 119 w 209"/>
                  <a:gd name="T11" fmla="*/ 129 h 306"/>
                  <a:gd name="T12" fmla="*/ 128 w 209"/>
                  <a:gd name="T13" fmla="*/ 125 h 306"/>
                  <a:gd name="T14" fmla="*/ 143 w 209"/>
                  <a:gd name="T15" fmla="*/ 135 h 306"/>
                  <a:gd name="T16" fmla="*/ 162 w 209"/>
                  <a:gd name="T17" fmla="*/ 147 h 306"/>
                  <a:gd name="T18" fmla="*/ 171 w 209"/>
                  <a:gd name="T19" fmla="*/ 147 h 306"/>
                  <a:gd name="T20" fmla="*/ 173 w 209"/>
                  <a:gd name="T21" fmla="*/ 141 h 306"/>
                  <a:gd name="T22" fmla="*/ 164 w 209"/>
                  <a:gd name="T23" fmla="*/ 129 h 306"/>
                  <a:gd name="T24" fmla="*/ 141 w 209"/>
                  <a:gd name="T25" fmla="*/ 113 h 306"/>
                  <a:gd name="T26" fmla="*/ 132 w 209"/>
                  <a:gd name="T27" fmla="*/ 91 h 306"/>
                  <a:gd name="T28" fmla="*/ 128 w 209"/>
                  <a:gd name="T29" fmla="*/ 72 h 306"/>
                  <a:gd name="T30" fmla="*/ 118 w 209"/>
                  <a:gd name="T31" fmla="*/ 59 h 306"/>
                  <a:gd name="T32" fmla="*/ 114 w 209"/>
                  <a:gd name="T33" fmla="*/ 50 h 306"/>
                  <a:gd name="T34" fmla="*/ 119 w 209"/>
                  <a:gd name="T35" fmla="*/ 38 h 306"/>
                  <a:gd name="T36" fmla="*/ 124 w 209"/>
                  <a:gd name="T37" fmla="*/ 25 h 306"/>
                  <a:gd name="T38" fmla="*/ 120 w 209"/>
                  <a:gd name="T39" fmla="*/ 9 h 306"/>
                  <a:gd name="T40" fmla="*/ 110 w 209"/>
                  <a:gd name="T41" fmla="*/ 1 h 306"/>
                  <a:gd name="T42" fmla="*/ 94 w 209"/>
                  <a:gd name="T43" fmla="*/ 3 h 306"/>
                  <a:gd name="T44" fmla="*/ 88 w 209"/>
                  <a:gd name="T45" fmla="*/ 13 h 306"/>
                  <a:gd name="T46" fmla="*/ 88 w 209"/>
                  <a:gd name="T47" fmla="*/ 24 h 306"/>
                  <a:gd name="T48" fmla="*/ 92 w 209"/>
                  <a:gd name="T49" fmla="*/ 37 h 306"/>
                  <a:gd name="T50" fmla="*/ 92 w 209"/>
                  <a:gd name="T51" fmla="*/ 49 h 306"/>
                  <a:gd name="T52" fmla="*/ 81 w 209"/>
                  <a:gd name="T53" fmla="*/ 59 h 306"/>
                  <a:gd name="T54" fmla="*/ 68 w 209"/>
                  <a:gd name="T55" fmla="*/ 67 h 306"/>
                  <a:gd name="T56" fmla="*/ 58 w 209"/>
                  <a:gd name="T57" fmla="*/ 79 h 306"/>
                  <a:gd name="T58" fmla="*/ 48 w 209"/>
                  <a:gd name="T59" fmla="*/ 104 h 306"/>
                  <a:gd name="T60" fmla="*/ 43 w 209"/>
                  <a:gd name="T61" fmla="*/ 128 h 306"/>
                  <a:gd name="T62" fmla="*/ 42 w 209"/>
                  <a:gd name="T63" fmla="*/ 153 h 306"/>
                  <a:gd name="T64" fmla="*/ 43 w 209"/>
                  <a:gd name="T65" fmla="*/ 166 h 306"/>
                  <a:gd name="T66" fmla="*/ 51 w 209"/>
                  <a:gd name="T67" fmla="*/ 170 h 306"/>
                  <a:gd name="T68" fmla="*/ 55 w 209"/>
                  <a:gd name="T69" fmla="*/ 166 h 306"/>
                  <a:gd name="T70" fmla="*/ 55 w 209"/>
                  <a:gd name="T71" fmla="*/ 139 h 306"/>
                  <a:gd name="T72" fmla="*/ 58 w 209"/>
                  <a:gd name="T73" fmla="*/ 122 h 306"/>
                  <a:gd name="T74" fmla="*/ 67 w 209"/>
                  <a:gd name="T75" fmla="*/ 114 h 306"/>
                  <a:gd name="T76" fmla="*/ 73 w 209"/>
                  <a:gd name="T77" fmla="*/ 120 h 306"/>
                  <a:gd name="T78" fmla="*/ 71 w 209"/>
                  <a:gd name="T79" fmla="*/ 147 h 306"/>
                  <a:gd name="T80" fmla="*/ 64 w 209"/>
                  <a:gd name="T81" fmla="*/ 175 h 306"/>
                  <a:gd name="T82" fmla="*/ 55 w 209"/>
                  <a:gd name="T83" fmla="*/ 206 h 306"/>
                  <a:gd name="T84" fmla="*/ 34 w 209"/>
                  <a:gd name="T85" fmla="*/ 237 h 306"/>
                  <a:gd name="T86" fmla="*/ 8 w 209"/>
                  <a:gd name="T87" fmla="*/ 268 h 306"/>
                  <a:gd name="T88" fmla="*/ 0 w 209"/>
                  <a:gd name="T89" fmla="*/ 285 h 306"/>
                  <a:gd name="T90" fmla="*/ 20 w 209"/>
                  <a:gd name="T91" fmla="*/ 305 h 306"/>
                  <a:gd name="T92" fmla="*/ 34 w 209"/>
                  <a:gd name="T93" fmla="*/ 302 h 306"/>
                  <a:gd name="T94" fmla="*/ 24 w 209"/>
                  <a:gd name="T95" fmla="*/ 289 h 306"/>
                  <a:gd name="T96" fmla="*/ 31 w 209"/>
                  <a:gd name="T97" fmla="*/ 272 h 306"/>
                  <a:gd name="T98" fmla="*/ 64 w 209"/>
                  <a:gd name="T99" fmla="*/ 234 h 306"/>
                  <a:gd name="T100" fmla="*/ 88 w 209"/>
                  <a:gd name="T101" fmla="*/ 206 h 306"/>
                  <a:gd name="T102" fmla="*/ 99 w 209"/>
                  <a:gd name="T103" fmla="*/ 200 h 306"/>
                  <a:gd name="T104" fmla="*/ 114 w 209"/>
                  <a:gd name="T105" fmla="*/ 209 h 306"/>
                  <a:gd name="T106" fmla="*/ 148 w 209"/>
                  <a:gd name="T107" fmla="*/ 255 h 306"/>
                  <a:gd name="T108" fmla="*/ 175 w 209"/>
                  <a:gd name="T109" fmla="*/ 294 h 306"/>
                  <a:gd name="T110" fmla="*/ 186 w 209"/>
                  <a:gd name="T111" fmla="*/ 297 h 306"/>
                  <a:gd name="T112" fmla="*/ 200 w 209"/>
                  <a:gd name="T113" fmla="*/ 287 h 30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209"/>
                  <a:gd name="T172" fmla="*/ 0 h 306"/>
                  <a:gd name="T173" fmla="*/ 209 w 209"/>
                  <a:gd name="T174" fmla="*/ 306 h 30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209" h="306">
                    <a:moveTo>
                      <a:pt x="207" y="281"/>
                    </a:moveTo>
                    <a:lnTo>
                      <a:pt x="208" y="276"/>
                    </a:lnTo>
                    <a:lnTo>
                      <a:pt x="200" y="277"/>
                    </a:lnTo>
                    <a:lnTo>
                      <a:pt x="192" y="276"/>
                    </a:lnTo>
                    <a:lnTo>
                      <a:pt x="182" y="268"/>
                    </a:lnTo>
                    <a:lnTo>
                      <a:pt x="165" y="241"/>
                    </a:lnTo>
                    <a:lnTo>
                      <a:pt x="140" y="200"/>
                    </a:lnTo>
                    <a:lnTo>
                      <a:pt x="127" y="177"/>
                    </a:lnTo>
                    <a:lnTo>
                      <a:pt x="118" y="159"/>
                    </a:lnTo>
                    <a:lnTo>
                      <a:pt x="116" y="149"/>
                    </a:lnTo>
                    <a:lnTo>
                      <a:pt x="116" y="137"/>
                    </a:lnTo>
                    <a:lnTo>
                      <a:pt x="119" y="129"/>
                    </a:lnTo>
                    <a:lnTo>
                      <a:pt x="124" y="125"/>
                    </a:lnTo>
                    <a:lnTo>
                      <a:pt x="128" y="125"/>
                    </a:lnTo>
                    <a:lnTo>
                      <a:pt x="133" y="128"/>
                    </a:lnTo>
                    <a:lnTo>
                      <a:pt x="143" y="135"/>
                    </a:lnTo>
                    <a:lnTo>
                      <a:pt x="154" y="143"/>
                    </a:lnTo>
                    <a:lnTo>
                      <a:pt x="162" y="147"/>
                    </a:lnTo>
                    <a:lnTo>
                      <a:pt x="167" y="149"/>
                    </a:lnTo>
                    <a:lnTo>
                      <a:pt x="171" y="147"/>
                    </a:lnTo>
                    <a:lnTo>
                      <a:pt x="174" y="143"/>
                    </a:lnTo>
                    <a:lnTo>
                      <a:pt x="173" y="141"/>
                    </a:lnTo>
                    <a:lnTo>
                      <a:pt x="171" y="137"/>
                    </a:lnTo>
                    <a:lnTo>
                      <a:pt x="164" y="129"/>
                    </a:lnTo>
                    <a:lnTo>
                      <a:pt x="149" y="120"/>
                    </a:lnTo>
                    <a:lnTo>
                      <a:pt x="141" y="113"/>
                    </a:lnTo>
                    <a:lnTo>
                      <a:pt x="136" y="104"/>
                    </a:lnTo>
                    <a:lnTo>
                      <a:pt x="132" y="91"/>
                    </a:lnTo>
                    <a:lnTo>
                      <a:pt x="131" y="78"/>
                    </a:lnTo>
                    <a:lnTo>
                      <a:pt x="128" y="72"/>
                    </a:lnTo>
                    <a:lnTo>
                      <a:pt x="124" y="66"/>
                    </a:lnTo>
                    <a:lnTo>
                      <a:pt x="118" y="59"/>
                    </a:lnTo>
                    <a:lnTo>
                      <a:pt x="114" y="55"/>
                    </a:lnTo>
                    <a:lnTo>
                      <a:pt x="114" y="50"/>
                    </a:lnTo>
                    <a:lnTo>
                      <a:pt x="116" y="42"/>
                    </a:lnTo>
                    <a:lnTo>
                      <a:pt x="119" y="38"/>
                    </a:lnTo>
                    <a:lnTo>
                      <a:pt x="122" y="33"/>
                    </a:lnTo>
                    <a:lnTo>
                      <a:pt x="124" y="25"/>
                    </a:lnTo>
                    <a:lnTo>
                      <a:pt x="122" y="16"/>
                    </a:lnTo>
                    <a:lnTo>
                      <a:pt x="120" y="9"/>
                    </a:lnTo>
                    <a:lnTo>
                      <a:pt x="116" y="4"/>
                    </a:lnTo>
                    <a:lnTo>
                      <a:pt x="110" y="1"/>
                    </a:lnTo>
                    <a:lnTo>
                      <a:pt x="101" y="0"/>
                    </a:lnTo>
                    <a:lnTo>
                      <a:pt x="94" y="3"/>
                    </a:lnTo>
                    <a:lnTo>
                      <a:pt x="90" y="7"/>
                    </a:lnTo>
                    <a:lnTo>
                      <a:pt x="88" y="13"/>
                    </a:lnTo>
                    <a:lnTo>
                      <a:pt x="86" y="18"/>
                    </a:lnTo>
                    <a:lnTo>
                      <a:pt x="88" y="24"/>
                    </a:lnTo>
                    <a:lnTo>
                      <a:pt x="90" y="32"/>
                    </a:lnTo>
                    <a:lnTo>
                      <a:pt x="92" y="37"/>
                    </a:lnTo>
                    <a:lnTo>
                      <a:pt x="93" y="42"/>
                    </a:lnTo>
                    <a:lnTo>
                      <a:pt x="92" y="49"/>
                    </a:lnTo>
                    <a:lnTo>
                      <a:pt x="88" y="54"/>
                    </a:lnTo>
                    <a:lnTo>
                      <a:pt x="81" y="59"/>
                    </a:lnTo>
                    <a:lnTo>
                      <a:pt x="73" y="63"/>
                    </a:lnTo>
                    <a:lnTo>
                      <a:pt x="68" y="67"/>
                    </a:lnTo>
                    <a:lnTo>
                      <a:pt x="63" y="72"/>
                    </a:lnTo>
                    <a:lnTo>
                      <a:pt x="58" y="79"/>
                    </a:lnTo>
                    <a:lnTo>
                      <a:pt x="52" y="91"/>
                    </a:lnTo>
                    <a:lnTo>
                      <a:pt x="48" y="104"/>
                    </a:lnTo>
                    <a:lnTo>
                      <a:pt x="44" y="114"/>
                    </a:lnTo>
                    <a:lnTo>
                      <a:pt x="43" y="128"/>
                    </a:lnTo>
                    <a:lnTo>
                      <a:pt x="42" y="143"/>
                    </a:lnTo>
                    <a:lnTo>
                      <a:pt x="42" y="153"/>
                    </a:lnTo>
                    <a:lnTo>
                      <a:pt x="42" y="160"/>
                    </a:lnTo>
                    <a:lnTo>
                      <a:pt x="43" y="166"/>
                    </a:lnTo>
                    <a:lnTo>
                      <a:pt x="46" y="168"/>
                    </a:lnTo>
                    <a:lnTo>
                      <a:pt x="51" y="170"/>
                    </a:lnTo>
                    <a:lnTo>
                      <a:pt x="54" y="168"/>
                    </a:lnTo>
                    <a:lnTo>
                      <a:pt x="55" y="166"/>
                    </a:lnTo>
                    <a:lnTo>
                      <a:pt x="55" y="155"/>
                    </a:lnTo>
                    <a:lnTo>
                      <a:pt x="55" y="139"/>
                    </a:lnTo>
                    <a:lnTo>
                      <a:pt x="56" y="129"/>
                    </a:lnTo>
                    <a:lnTo>
                      <a:pt x="58" y="122"/>
                    </a:lnTo>
                    <a:lnTo>
                      <a:pt x="61" y="116"/>
                    </a:lnTo>
                    <a:lnTo>
                      <a:pt x="67" y="114"/>
                    </a:lnTo>
                    <a:lnTo>
                      <a:pt x="72" y="116"/>
                    </a:lnTo>
                    <a:lnTo>
                      <a:pt x="73" y="120"/>
                    </a:lnTo>
                    <a:lnTo>
                      <a:pt x="72" y="131"/>
                    </a:lnTo>
                    <a:lnTo>
                      <a:pt x="71" y="147"/>
                    </a:lnTo>
                    <a:lnTo>
                      <a:pt x="68" y="162"/>
                    </a:lnTo>
                    <a:lnTo>
                      <a:pt x="64" y="175"/>
                    </a:lnTo>
                    <a:lnTo>
                      <a:pt x="60" y="192"/>
                    </a:lnTo>
                    <a:lnTo>
                      <a:pt x="55" y="206"/>
                    </a:lnTo>
                    <a:lnTo>
                      <a:pt x="43" y="225"/>
                    </a:lnTo>
                    <a:lnTo>
                      <a:pt x="34" y="237"/>
                    </a:lnTo>
                    <a:lnTo>
                      <a:pt x="18" y="255"/>
                    </a:lnTo>
                    <a:lnTo>
                      <a:pt x="8" y="268"/>
                    </a:lnTo>
                    <a:lnTo>
                      <a:pt x="0" y="280"/>
                    </a:lnTo>
                    <a:lnTo>
                      <a:pt x="0" y="285"/>
                    </a:lnTo>
                    <a:lnTo>
                      <a:pt x="8" y="294"/>
                    </a:lnTo>
                    <a:lnTo>
                      <a:pt x="20" y="305"/>
                    </a:lnTo>
                    <a:lnTo>
                      <a:pt x="31" y="305"/>
                    </a:lnTo>
                    <a:lnTo>
                      <a:pt x="34" y="302"/>
                    </a:lnTo>
                    <a:lnTo>
                      <a:pt x="29" y="296"/>
                    </a:lnTo>
                    <a:lnTo>
                      <a:pt x="24" y="289"/>
                    </a:lnTo>
                    <a:lnTo>
                      <a:pt x="24" y="284"/>
                    </a:lnTo>
                    <a:lnTo>
                      <a:pt x="31" y="272"/>
                    </a:lnTo>
                    <a:lnTo>
                      <a:pt x="44" y="259"/>
                    </a:lnTo>
                    <a:lnTo>
                      <a:pt x="64" y="234"/>
                    </a:lnTo>
                    <a:lnTo>
                      <a:pt x="81" y="213"/>
                    </a:lnTo>
                    <a:lnTo>
                      <a:pt x="88" y="206"/>
                    </a:lnTo>
                    <a:lnTo>
                      <a:pt x="92" y="201"/>
                    </a:lnTo>
                    <a:lnTo>
                      <a:pt x="99" y="200"/>
                    </a:lnTo>
                    <a:lnTo>
                      <a:pt x="106" y="204"/>
                    </a:lnTo>
                    <a:lnTo>
                      <a:pt x="114" y="209"/>
                    </a:lnTo>
                    <a:lnTo>
                      <a:pt x="130" y="230"/>
                    </a:lnTo>
                    <a:lnTo>
                      <a:pt x="148" y="255"/>
                    </a:lnTo>
                    <a:lnTo>
                      <a:pt x="165" y="280"/>
                    </a:lnTo>
                    <a:lnTo>
                      <a:pt x="175" y="294"/>
                    </a:lnTo>
                    <a:lnTo>
                      <a:pt x="179" y="297"/>
                    </a:lnTo>
                    <a:lnTo>
                      <a:pt x="186" y="297"/>
                    </a:lnTo>
                    <a:lnTo>
                      <a:pt x="192" y="292"/>
                    </a:lnTo>
                    <a:lnTo>
                      <a:pt x="200" y="287"/>
                    </a:lnTo>
                    <a:lnTo>
                      <a:pt x="207" y="281"/>
                    </a:lnTo>
                  </a:path>
                </a:pathLst>
              </a:custGeom>
              <a:solidFill>
                <a:srgbClr val="CECECE"/>
              </a:solidFill>
              <a:ln w="2540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25" name="Group 111">
                <a:extLst>
                  <a:ext uri="{FF2B5EF4-FFF2-40B4-BE49-F238E27FC236}">
                    <a16:creationId xmlns:a16="http://schemas.microsoft.com/office/drawing/2014/main" id="{CF3477A7-2AC0-48ED-958A-C5E1365B239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65" y="1447"/>
                <a:ext cx="262" cy="298"/>
                <a:chOff x="1035" y="1465"/>
                <a:chExt cx="262" cy="298"/>
              </a:xfrm>
            </p:grpSpPr>
            <p:grpSp>
              <p:nvGrpSpPr>
                <p:cNvPr id="126" name="Group 112">
                  <a:extLst>
                    <a:ext uri="{FF2B5EF4-FFF2-40B4-BE49-F238E27FC236}">
                      <a16:creationId xmlns:a16="http://schemas.microsoft.com/office/drawing/2014/main" id="{63201C68-1F4D-4B80-B82E-97076C9B6CA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35" y="1465"/>
                  <a:ext cx="262" cy="298"/>
                  <a:chOff x="1035" y="1465"/>
                  <a:chExt cx="262" cy="298"/>
                </a:xfrm>
              </p:grpSpPr>
              <p:sp>
                <p:nvSpPr>
                  <p:cNvPr id="129" name="AutoShape 113">
                    <a:extLst>
                      <a:ext uri="{FF2B5EF4-FFF2-40B4-BE49-F238E27FC236}">
                        <a16:creationId xmlns:a16="http://schemas.microsoft.com/office/drawing/2014/main" id="{C1807D22-DFEA-4918-8749-45FDB22C198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35" y="1514"/>
                    <a:ext cx="262" cy="249"/>
                  </a:xfrm>
                  <a:prstGeom prst="cube">
                    <a:avLst>
                      <a:gd name="adj" fmla="val 24995"/>
                    </a:avLst>
                  </a:prstGeom>
                  <a:solidFill>
                    <a:schemeClr val="bg1"/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30" name="AutoShape 114">
                    <a:extLst>
                      <a:ext uri="{FF2B5EF4-FFF2-40B4-BE49-F238E27FC236}">
                        <a16:creationId xmlns:a16="http://schemas.microsoft.com/office/drawing/2014/main" id="{EBEF6529-9EDF-4DBF-87FA-87AB1555F89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97" y="1465"/>
                    <a:ext cx="200" cy="42"/>
                  </a:xfrm>
                  <a:prstGeom prst="cube">
                    <a:avLst>
                      <a:gd name="adj" fmla="val 24995"/>
                    </a:avLst>
                  </a:prstGeom>
                  <a:solidFill>
                    <a:schemeClr val="bg1"/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127" name="Oval 115">
                  <a:extLst>
                    <a:ext uri="{FF2B5EF4-FFF2-40B4-BE49-F238E27FC236}">
                      <a16:creationId xmlns:a16="http://schemas.microsoft.com/office/drawing/2014/main" id="{C1871FCC-959E-4853-99FD-9C88BDF9D08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12" y="1486"/>
                  <a:ext cx="27" cy="8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8" name="AutoShape 116">
                  <a:extLst>
                    <a:ext uri="{FF2B5EF4-FFF2-40B4-BE49-F238E27FC236}">
                      <a16:creationId xmlns:a16="http://schemas.microsoft.com/office/drawing/2014/main" id="{13381558-5650-449A-9365-B8FB6133F5D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63" y="1640"/>
                  <a:ext cx="140" cy="58"/>
                </a:xfrm>
                <a:prstGeom prst="octagon">
                  <a:avLst>
                    <a:gd name="adj" fmla="val 29282"/>
                  </a:avLst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46" name="Group 117">
              <a:extLst>
                <a:ext uri="{FF2B5EF4-FFF2-40B4-BE49-F238E27FC236}">
                  <a16:creationId xmlns:a16="http://schemas.microsoft.com/office/drawing/2014/main" id="{7E0C8450-53F3-42A4-93CC-B5F8D7B446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44" y="2052"/>
              <a:ext cx="1088" cy="305"/>
              <a:chOff x="801" y="1476"/>
              <a:chExt cx="1088" cy="305"/>
            </a:xfrm>
          </p:grpSpPr>
          <p:grpSp>
            <p:nvGrpSpPr>
              <p:cNvPr id="104" name="Group 118">
                <a:extLst>
                  <a:ext uri="{FF2B5EF4-FFF2-40B4-BE49-F238E27FC236}">
                    <a16:creationId xmlns:a16="http://schemas.microsoft.com/office/drawing/2014/main" id="{08D1E84C-A4D7-4655-AB9D-F47F86F4AB0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01" y="1491"/>
                <a:ext cx="218" cy="288"/>
                <a:chOff x="801" y="1491"/>
                <a:chExt cx="218" cy="288"/>
              </a:xfrm>
            </p:grpSpPr>
            <p:sp>
              <p:nvSpPr>
                <p:cNvPr id="119" name="AutoShape 119">
                  <a:extLst>
                    <a:ext uri="{FF2B5EF4-FFF2-40B4-BE49-F238E27FC236}">
                      <a16:creationId xmlns:a16="http://schemas.microsoft.com/office/drawing/2014/main" id="{CA3DD5E4-68E8-48D0-B5CB-54C4578AD13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1" y="1543"/>
                  <a:ext cx="218" cy="236"/>
                </a:xfrm>
                <a:prstGeom prst="cube">
                  <a:avLst>
                    <a:gd name="adj" fmla="val 24995"/>
                  </a:avLst>
                </a:prstGeom>
                <a:solidFill>
                  <a:srgbClr val="DC008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0" name="AutoShape 120">
                  <a:extLst>
                    <a:ext uri="{FF2B5EF4-FFF2-40B4-BE49-F238E27FC236}">
                      <a16:creationId xmlns:a16="http://schemas.microsoft.com/office/drawing/2014/main" id="{E61B172E-77F8-44FF-87C1-6F91D2AC13E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54" y="1491"/>
                  <a:ext cx="165" cy="42"/>
                </a:xfrm>
                <a:prstGeom prst="cube">
                  <a:avLst>
                    <a:gd name="adj" fmla="val 24995"/>
                  </a:avLst>
                </a:prstGeom>
                <a:solidFill>
                  <a:srgbClr val="DC008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1" name="AutoShape 121">
                  <a:extLst>
                    <a:ext uri="{FF2B5EF4-FFF2-40B4-BE49-F238E27FC236}">
                      <a16:creationId xmlns:a16="http://schemas.microsoft.com/office/drawing/2014/main" id="{1F31C236-C29F-4D4F-AC31-B3B0053F79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45" y="1565"/>
                  <a:ext cx="114" cy="18"/>
                </a:xfrm>
                <a:prstGeom prst="parallelogram">
                  <a:avLst>
                    <a:gd name="adj" fmla="val 158304"/>
                  </a:avLst>
                </a:prstGeom>
                <a:solidFill>
                  <a:srgbClr val="DC008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5" name="Group 122">
                <a:extLst>
                  <a:ext uri="{FF2B5EF4-FFF2-40B4-BE49-F238E27FC236}">
                    <a16:creationId xmlns:a16="http://schemas.microsoft.com/office/drawing/2014/main" id="{D515BCAD-0CD9-49C9-A43A-5FC4393C6E4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92" y="1488"/>
                <a:ext cx="213" cy="269"/>
                <a:chOff x="1345" y="1500"/>
                <a:chExt cx="213" cy="269"/>
              </a:xfrm>
            </p:grpSpPr>
            <p:sp>
              <p:nvSpPr>
                <p:cNvPr id="113" name="Freeform 123">
                  <a:extLst>
                    <a:ext uri="{FF2B5EF4-FFF2-40B4-BE49-F238E27FC236}">
                      <a16:creationId xmlns:a16="http://schemas.microsoft.com/office/drawing/2014/main" id="{05D0CDC1-061D-43B1-8815-98942E1E6AF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83" y="1625"/>
                  <a:ext cx="64" cy="144"/>
                </a:xfrm>
                <a:custGeom>
                  <a:avLst/>
                  <a:gdLst>
                    <a:gd name="T0" fmla="*/ 46 w 64"/>
                    <a:gd name="T1" fmla="*/ 0 h 144"/>
                    <a:gd name="T2" fmla="*/ 63 w 64"/>
                    <a:gd name="T3" fmla="*/ 0 h 144"/>
                    <a:gd name="T4" fmla="*/ 17 w 64"/>
                    <a:gd name="T5" fmla="*/ 143 h 144"/>
                    <a:gd name="T6" fmla="*/ 0 w 64"/>
                    <a:gd name="T7" fmla="*/ 143 h 144"/>
                    <a:gd name="T8" fmla="*/ 46 w 64"/>
                    <a:gd name="T9" fmla="*/ 0 h 14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4"/>
                    <a:gd name="T16" fmla="*/ 0 h 144"/>
                    <a:gd name="T17" fmla="*/ 64 w 64"/>
                    <a:gd name="T18" fmla="*/ 144 h 14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4" h="144">
                      <a:moveTo>
                        <a:pt x="46" y="0"/>
                      </a:moveTo>
                      <a:lnTo>
                        <a:pt x="63" y="0"/>
                      </a:lnTo>
                      <a:lnTo>
                        <a:pt x="17" y="143"/>
                      </a:lnTo>
                      <a:lnTo>
                        <a:pt x="0" y="143"/>
                      </a:lnTo>
                      <a:lnTo>
                        <a:pt x="46" y="0"/>
                      </a:lnTo>
                    </a:path>
                  </a:pathLst>
                </a:custGeom>
                <a:solidFill>
                  <a:srgbClr val="F39FD1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4" name="Rectangle 124">
                  <a:extLst>
                    <a:ext uri="{FF2B5EF4-FFF2-40B4-BE49-F238E27FC236}">
                      <a16:creationId xmlns:a16="http://schemas.microsoft.com/office/drawing/2014/main" id="{3F62082A-CF32-472C-A6CA-CE0A22C6C28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8" y="1625"/>
                  <a:ext cx="80" cy="12"/>
                </a:xfrm>
                <a:prstGeom prst="rect">
                  <a:avLst/>
                </a:prstGeom>
                <a:solidFill>
                  <a:srgbClr val="F39FD1"/>
                </a:solidFill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5" name="Rectangle 125">
                  <a:extLst>
                    <a:ext uri="{FF2B5EF4-FFF2-40B4-BE49-F238E27FC236}">
                      <a16:creationId xmlns:a16="http://schemas.microsoft.com/office/drawing/2014/main" id="{CB829CB0-4399-4811-8604-B49DA02B4F4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86" y="1683"/>
                  <a:ext cx="60" cy="14"/>
                </a:xfrm>
                <a:prstGeom prst="rect">
                  <a:avLst/>
                </a:prstGeom>
                <a:solidFill>
                  <a:srgbClr val="F39FD1"/>
                </a:solidFill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6" name="Rectangle 126">
                  <a:extLst>
                    <a:ext uri="{FF2B5EF4-FFF2-40B4-BE49-F238E27FC236}">
                      <a16:creationId xmlns:a16="http://schemas.microsoft.com/office/drawing/2014/main" id="{A7E32B15-D2A7-4454-8E16-929E5B68E8C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47" y="1683"/>
                  <a:ext cx="79" cy="10"/>
                </a:xfrm>
                <a:prstGeom prst="rect">
                  <a:avLst/>
                </a:prstGeom>
                <a:solidFill>
                  <a:srgbClr val="F39FD1"/>
                </a:solidFill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7" name="Oval 127">
                  <a:extLst>
                    <a:ext uri="{FF2B5EF4-FFF2-40B4-BE49-F238E27FC236}">
                      <a16:creationId xmlns:a16="http://schemas.microsoft.com/office/drawing/2014/main" id="{53561DF6-2CA5-4542-A39C-DA84BB5C83F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09" y="1500"/>
                  <a:ext cx="24" cy="27"/>
                </a:xfrm>
                <a:prstGeom prst="ellipse">
                  <a:avLst/>
                </a:prstGeom>
                <a:solidFill>
                  <a:srgbClr val="F39FD1"/>
                </a:solidFill>
                <a:ln w="254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8" name="Freeform 128">
                  <a:extLst>
                    <a:ext uri="{FF2B5EF4-FFF2-40B4-BE49-F238E27FC236}">
                      <a16:creationId xmlns:a16="http://schemas.microsoft.com/office/drawing/2014/main" id="{D6B1CA7B-A13B-4490-B960-8B8FBA1E39B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345" y="1547"/>
                  <a:ext cx="146" cy="222"/>
                </a:xfrm>
                <a:custGeom>
                  <a:avLst/>
                  <a:gdLst>
                    <a:gd name="T0" fmla="*/ 1 w 146"/>
                    <a:gd name="T1" fmla="*/ 102 h 222"/>
                    <a:gd name="T2" fmla="*/ 1 w 146"/>
                    <a:gd name="T3" fmla="*/ 105 h 222"/>
                    <a:gd name="T4" fmla="*/ 0 w 146"/>
                    <a:gd name="T5" fmla="*/ 109 h 222"/>
                    <a:gd name="T6" fmla="*/ 0 w 146"/>
                    <a:gd name="T7" fmla="*/ 112 h 222"/>
                    <a:gd name="T8" fmla="*/ 1 w 146"/>
                    <a:gd name="T9" fmla="*/ 116 h 222"/>
                    <a:gd name="T10" fmla="*/ 3 w 146"/>
                    <a:gd name="T11" fmla="*/ 119 h 222"/>
                    <a:gd name="T12" fmla="*/ 6 w 146"/>
                    <a:gd name="T13" fmla="*/ 122 h 222"/>
                    <a:gd name="T14" fmla="*/ 9 w 146"/>
                    <a:gd name="T15" fmla="*/ 124 h 222"/>
                    <a:gd name="T16" fmla="*/ 12 w 146"/>
                    <a:gd name="T17" fmla="*/ 125 h 222"/>
                    <a:gd name="T18" fmla="*/ 16 w 146"/>
                    <a:gd name="T19" fmla="*/ 125 h 222"/>
                    <a:gd name="T20" fmla="*/ 95 w 146"/>
                    <a:gd name="T21" fmla="*/ 221 h 222"/>
                    <a:gd name="T22" fmla="*/ 120 w 146"/>
                    <a:gd name="T23" fmla="*/ 106 h 222"/>
                    <a:gd name="T24" fmla="*/ 119 w 146"/>
                    <a:gd name="T25" fmla="*/ 104 h 222"/>
                    <a:gd name="T26" fmla="*/ 118 w 146"/>
                    <a:gd name="T27" fmla="*/ 102 h 222"/>
                    <a:gd name="T28" fmla="*/ 116 w 146"/>
                    <a:gd name="T29" fmla="*/ 100 h 222"/>
                    <a:gd name="T30" fmla="*/ 114 w 146"/>
                    <a:gd name="T31" fmla="*/ 98 h 222"/>
                    <a:gd name="T32" fmla="*/ 111 w 146"/>
                    <a:gd name="T33" fmla="*/ 97 h 222"/>
                    <a:gd name="T34" fmla="*/ 108 w 146"/>
                    <a:gd name="T35" fmla="*/ 96 h 222"/>
                    <a:gd name="T36" fmla="*/ 106 w 146"/>
                    <a:gd name="T37" fmla="*/ 96 h 222"/>
                    <a:gd name="T38" fmla="*/ 103 w 146"/>
                    <a:gd name="T39" fmla="*/ 96 h 222"/>
                    <a:gd name="T40" fmla="*/ 70 w 146"/>
                    <a:gd name="T41" fmla="*/ 56 h 222"/>
                    <a:gd name="T42" fmla="*/ 135 w 146"/>
                    <a:gd name="T43" fmla="*/ 70 h 222"/>
                    <a:gd name="T44" fmla="*/ 137 w 146"/>
                    <a:gd name="T45" fmla="*/ 69 h 222"/>
                    <a:gd name="T46" fmla="*/ 139 w 146"/>
                    <a:gd name="T47" fmla="*/ 68 h 222"/>
                    <a:gd name="T48" fmla="*/ 142 w 146"/>
                    <a:gd name="T49" fmla="*/ 66 h 222"/>
                    <a:gd name="T50" fmla="*/ 144 w 146"/>
                    <a:gd name="T51" fmla="*/ 65 h 222"/>
                    <a:gd name="T52" fmla="*/ 144 w 146"/>
                    <a:gd name="T53" fmla="*/ 62 h 222"/>
                    <a:gd name="T54" fmla="*/ 145 w 146"/>
                    <a:gd name="T55" fmla="*/ 59 h 222"/>
                    <a:gd name="T56" fmla="*/ 144 w 146"/>
                    <a:gd name="T57" fmla="*/ 55 h 222"/>
                    <a:gd name="T58" fmla="*/ 143 w 146"/>
                    <a:gd name="T59" fmla="*/ 53 h 222"/>
                    <a:gd name="T60" fmla="*/ 141 w 146"/>
                    <a:gd name="T61" fmla="*/ 51 h 222"/>
                    <a:gd name="T62" fmla="*/ 139 w 146"/>
                    <a:gd name="T63" fmla="*/ 49 h 222"/>
                    <a:gd name="T64" fmla="*/ 136 w 146"/>
                    <a:gd name="T65" fmla="*/ 48 h 222"/>
                    <a:gd name="T66" fmla="*/ 92 w 146"/>
                    <a:gd name="T67" fmla="*/ 48 h 222"/>
                    <a:gd name="T68" fmla="*/ 84 w 146"/>
                    <a:gd name="T69" fmla="*/ 31 h 222"/>
                    <a:gd name="T70" fmla="*/ 85 w 146"/>
                    <a:gd name="T71" fmla="*/ 27 h 222"/>
                    <a:gd name="T72" fmla="*/ 85 w 146"/>
                    <a:gd name="T73" fmla="*/ 23 h 222"/>
                    <a:gd name="T74" fmla="*/ 85 w 146"/>
                    <a:gd name="T75" fmla="*/ 18 h 222"/>
                    <a:gd name="T76" fmla="*/ 84 w 146"/>
                    <a:gd name="T77" fmla="*/ 14 h 222"/>
                    <a:gd name="T78" fmla="*/ 83 w 146"/>
                    <a:gd name="T79" fmla="*/ 11 h 222"/>
                    <a:gd name="T80" fmla="*/ 80 w 146"/>
                    <a:gd name="T81" fmla="*/ 8 h 222"/>
                    <a:gd name="T82" fmla="*/ 77 w 146"/>
                    <a:gd name="T83" fmla="*/ 5 h 222"/>
                    <a:gd name="T84" fmla="*/ 74 w 146"/>
                    <a:gd name="T85" fmla="*/ 3 h 222"/>
                    <a:gd name="T86" fmla="*/ 70 w 146"/>
                    <a:gd name="T87" fmla="*/ 1 h 222"/>
                    <a:gd name="T88" fmla="*/ 65 w 146"/>
                    <a:gd name="T89" fmla="*/ 0 h 222"/>
                    <a:gd name="T90" fmla="*/ 61 w 146"/>
                    <a:gd name="T91" fmla="*/ 0 h 222"/>
                    <a:gd name="T92" fmla="*/ 56 w 146"/>
                    <a:gd name="T93" fmla="*/ 1 h 222"/>
                    <a:gd name="T94" fmla="*/ 52 w 146"/>
                    <a:gd name="T95" fmla="*/ 2 h 222"/>
                    <a:gd name="T96" fmla="*/ 47 w 146"/>
                    <a:gd name="T97" fmla="*/ 5 h 222"/>
                    <a:gd name="T98" fmla="*/ 44 w 146"/>
                    <a:gd name="T99" fmla="*/ 8 h 222"/>
                    <a:gd name="T100" fmla="*/ 41 w 146"/>
                    <a:gd name="T101" fmla="*/ 12 h 222"/>
                    <a:gd name="T102" fmla="*/ 39 w 146"/>
                    <a:gd name="T103" fmla="*/ 17 h 222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w 146"/>
                    <a:gd name="T157" fmla="*/ 0 h 222"/>
                    <a:gd name="T158" fmla="*/ 146 w 146"/>
                    <a:gd name="T159" fmla="*/ 222 h 222"/>
                  </a:gdLst>
                  <a:ahLst/>
                  <a:cxnLst>
                    <a:cxn ang="T104">
                      <a:pos x="T0" y="T1"/>
                    </a:cxn>
                    <a:cxn ang="T105">
                      <a:pos x="T2" y="T3"/>
                    </a:cxn>
                    <a:cxn ang="T106">
                      <a:pos x="T4" y="T5"/>
                    </a:cxn>
                    <a:cxn ang="T107">
                      <a:pos x="T6" y="T7"/>
                    </a:cxn>
                    <a:cxn ang="T108">
                      <a:pos x="T8" y="T9"/>
                    </a:cxn>
                    <a:cxn ang="T109">
                      <a:pos x="T10" y="T11"/>
                    </a:cxn>
                    <a:cxn ang="T110">
                      <a:pos x="T12" y="T13"/>
                    </a:cxn>
                    <a:cxn ang="T111">
                      <a:pos x="T14" y="T15"/>
                    </a:cxn>
                    <a:cxn ang="T112">
                      <a:pos x="T16" y="T17"/>
                    </a:cxn>
                    <a:cxn ang="T113">
                      <a:pos x="T18" y="T19"/>
                    </a:cxn>
                    <a:cxn ang="T114">
                      <a:pos x="T20" y="T21"/>
                    </a:cxn>
                    <a:cxn ang="T115">
                      <a:pos x="T22" y="T23"/>
                    </a:cxn>
                    <a:cxn ang="T116">
                      <a:pos x="T24" y="T25"/>
                    </a:cxn>
                    <a:cxn ang="T117">
                      <a:pos x="T26" y="T27"/>
                    </a:cxn>
                    <a:cxn ang="T118">
                      <a:pos x="T28" y="T29"/>
                    </a:cxn>
                    <a:cxn ang="T119">
                      <a:pos x="T30" y="T31"/>
                    </a:cxn>
                    <a:cxn ang="T120">
                      <a:pos x="T32" y="T33"/>
                    </a:cxn>
                    <a:cxn ang="T121">
                      <a:pos x="T34" y="T35"/>
                    </a:cxn>
                    <a:cxn ang="T122">
                      <a:pos x="T36" y="T37"/>
                    </a:cxn>
                    <a:cxn ang="T123">
                      <a:pos x="T38" y="T39"/>
                    </a:cxn>
                    <a:cxn ang="T124">
                      <a:pos x="T40" y="T41"/>
                    </a:cxn>
                    <a:cxn ang="T125">
                      <a:pos x="T42" y="T43"/>
                    </a:cxn>
                    <a:cxn ang="T126">
                      <a:pos x="T44" y="T45"/>
                    </a:cxn>
                    <a:cxn ang="T127">
                      <a:pos x="T46" y="T47"/>
                    </a:cxn>
                    <a:cxn ang="T128">
                      <a:pos x="T48" y="T49"/>
                    </a:cxn>
                    <a:cxn ang="T129">
                      <a:pos x="T50" y="T51"/>
                    </a:cxn>
                    <a:cxn ang="T130">
                      <a:pos x="T52" y="T53"/>
                    </a:cxn>
                    <a:cxn ang="T131">
                      <a:pos x="T54" y="T55"/>
                    </a:cxn>
                    <a:cxn ang="T132">
                      <a:pos x="T56" y="T57"/>
                    </a:cxn>
                    <a:cxn ang="T133">
                      <a:pos x="T58" y="T59"/>
                    </a:cxn>
                    <a:cxn ang="T134">
                      <a:pos x="T60" y="T61"/>
                    </a:cxn>
                    <a:cxn ang="T135">
                      <a:pos x="T62" y="T63"/>
                    </a:cxn>
                    <a:cxn ang="T136">
                      <a:pos x="T64" y="T65"/>
                    </a:cxn>
                    <a:cxn ang="T137">
                      <a:pos x="T66" y="T67"/>
                    </a:cxn>
                    <a:cxn ang="T138">
                      <a:pos x="T68" y="T69"/>
                    </a:cxn>
                    <a:cxn ang="T139">
                      <a:pos x="T70" y="T71"/>
                    </a:cxn>
                    <a:cxn ang="T140">
                      <a:pos x="T72" y="T73"/>
                    </a:cxn>
                    <a:cxn ang="T141">
                      <a:pos x="T74" y="T75"/>
                    </a:cxn>
                    <a:cxn ang="T142">
                      <a:pos x="T76" y="T77"/>
                    </a:cxn>
                    <a:cxn ang="T143">
                      <a:pos x="T78" y="T79"/>
                    </a:cxn>
                    <a:cxn ang="T144">
                      <a:pos x="T80" y="T81"/>
                    </a:cxn>
                    <a:cxn ang="T145">
                      <a:pos x="T82" y="T83"/>
                    </a:cxn>
                    <a:cxn ang="T146">
                      <a:pos x="T84" y="T85"/>
                    </a:cxn>
                    <a:cxn ang="T147">
                      <a:pos x="T86" y="T87"/>
                    </a:cxn>
                    <a:cxn ang="T148">
                      <a:pos x="T88" y="T89"/>
                    </a:cxn>
                    <a:cxn ang="T149">
                      <a:pos x="T90" y="T91"/>
                    </a:cxn>
                    <a:cxn ang="T150">
                      <a:pos x="T92" y="T93"/>
                    </a:cxn>
                    <a:cxn ang="T151">
                      <a:pos x="T94" y="T95"/>
                    </a:cxn>
                    <a:cxn ang="T152">
                      <a:pos x="T96" y="T97"/>
                    </a:cxn>
                    <a:cxn ang="T153">
                      <a:pos x="T98" y="T99"/>
                    </a:cxn>
                    <a:cxn ang="T154">
                      <a:pos x="T100" y="T101"/>
                    </a:cxn>
                    <a:cxn ang="T155">
                      <a:pos x="T102" y="T103"/>
                    </a:cxn>
                  </a:cxnLst>
                  <a:rect l="T156" t="T157" r="T158" b="T159"/>
                  <a:pathLst>
                    <a:path w="146" h="222">
                      <a:moveTo>
                        <a:pt x="39" y="17"/>
                      </a:moveTo>
                      <a:lnTo>
                        <a:pt x="1" y="102"/>
                      </a:lnTo>
                      <a:lnTo>
                        <a:pt x="1" y="104"/>
                      </a:lnTo>
                      <a:lnTo>
                        <a:pt x="1" y="105"/>
                      </a:lnTo>
                      <a:lnTo>
                        <a:pt x="0" y="106"/>
                      </a:lnTo>
                      <a:lnTo>
                        <a:pt x="0" y="109"/>
                      </a:lnTo>
                      <a:lnTo>
                        <a:pt x="0" y="110"/>
                      </a:lnTo>
                      <a:lnTo>
                        <a:pt x="0" y="112"/>
                      </a:lnTo>
                      <a:lnTo>
                        <a:pt x="1" y="114"/>
                      </a:lnTo>
                      <a:lnTo>
                        <a:pt x="1" y="116"/>
                      </a:lnTo>
                      <a:lnTo>
                        <a:pt x="2" y="117"/>
                      </a:lnTo>
                      <a:lnTo>
                        <a:pt x="3" y="119"/>
                      </a:lnTo>
                      <a:lnTo>
                        <a:pt x="5" y="121"/>
                      </a:lnTo>
                      <a:lnTo>
                        <a:pt x="6" y="122"/>
                      </a:lnTo>
                      <a:lnTo>
                        <a:pt x="8" y="123"/>
                      </a:lnTo>
                      <a:lnTo>
                        <a:pt x="9" y="124"/>
                      </a:lnTo>
                      <a:lnTo>
                        <a:pt x="10" y="124"/>
                      </a:lnTo>
                      <a:lnTo>
                        <a:pt x="12" y="125"/>
                      </a:lnTo>
                      <a:lnTo>
                        <a:pt x="14" y="125"/>
                      </a:lnTo>
                      <a:lnTo>
                        <a:pt x="16" y="125"/>
                      </a:lnTo>
                      <a:lnTo>
                        <a:pt x="95" y="125"/>
                      </a:lnTo>
                      <a:lnTo>
                        <a:pt x="95" y="221"/>
                      </a:lnTo>
                      <a:lnTo>
                        <a:pt x="120" y="221"/>
                      </a:lnTo>
                      <a:lnTo>
                        <a:pt x="120" y="106"/>
                      </a:lnTo>
                      <a:lnTo>
                        <a:pt x="120" y="105"/>
                      </a:lnTo>
                      <a:lnTo>
                        <a:pt x="119" y="104"/>
                      </a:lnTo>
                      <a:lnTo>
                        <a:pt x="118" y="102"/>
                      </a:lnTo>
                      <a:lnTo>
                        <a:pt x="117" y="101"/>
                      </a:lnTo>
                      <a:lnTo>
                        <a:pt x="116" y="100"/>
                      </a:lnTo>
                      <a:lnTo>
                        <a:pt x="115" y="99"/>
                      </a:lnTo>
                      <a:lnTo>
                        <a:pt x="114" y="98"/>
                      </a:lnTo>
                      <a:lnTo>
                        <a:pt x="113" y="98"/>
                      </a:lnTo>
                      <a:lnTo>
                        <a:pt x="111" y="97"/>
                      </a:lnTo>
                      <a:lnTo>
                        <a:pt x="110" y="97"/>
                      </a:lnTo>
                      <a:lnTo>
                        <a:pt x="108" y="96"/>
                      </a:lnTo>
                      <a:lnTo>
                        <a:pt x="107" y="96"/>
                      </a:lnTo>
                      <a:lnTo>
                        <a:pt x="106" y="96"/>
                      </a:lnTo>
                      <a:lnTo>
                        <a:pt x="104" y="96"/>
                      </a:lnTo>
                      <a:lnTo>
                        <a:pt x="103" y="96"/>
                      </a:lnTo>
                      <a:lnTo>
                        <a:pt x="57" y="94"/>
                      </a:lnTo>
                      <a:lnTo>
                        <a:pt x="70" y="56"/>
                      </a:lnTo>
                      <a:lnTo>
                        <a:pt x="79" y="70"/>
                      </a:lnTo>
                      <a:lnTo>
                        <a:pt x="135" y="70"/>
                      </a:lnTo>
                      <a:lnTo>
                        <a:pt x="136" y="69"/>
                      </a:lnTo>
                      <a:lnTo>
                        <a:pt x="137" y="69"/>
                      </a:lnTo>
                      <a:lnTo>
                        <a:pt x="139" y="68"/>
                      </a:lnTo>
                      <a:lnTo>
                        <a:pt x="140" y="67"/>
                      </a:lnTo>
                      <a:lnTo>
                        <a:pt x="142" y="66"/>
                      </a:lnTo>
                      <a:lnTo>
                        <a:pt x="142" y="65"/>
                      </a:lnTo>
                      <a:lnTo>
                        <a:pt x="144" y="65"/>
                      </a:lnTo>
                      <a:lnTo>
                        <a:pt x="144" y="63"/>
                      </a:lnTo>
                      <a:lnTo>
                        <a:pt x="144" y="62"/>
                      </a:lnTo>
                      <a:lnTo>
                        <a:pt x="145" y="61"/>
                      </a:lnTo>
                      <a:lnTo>
                        <a:pt x="145" y="59"/>
                      </a:lnTo>
                      <a:lnTo>
                        <a:pt x="145" y="57"/>
                      </a:lnTo>
                      <a:lnTo>
                        <a:pt x="144" y="55"/>
                      </a:lnTo>
                      <a:lnTo>
                        <a:pt x="144" y="54"/>
                      </a:lnTo>
                      <a:lnTo>
                        <a:pt x="143" y="53"/>
                      </a:lnTo>
                      <a:lnTo>
                        <a:pt x="142" y="52"/>
                      </a:lnTo>
                      <a:lnTo>
                        <a:pt x="141" y="51"/>
                      </a:lnTo>
                      <a:lnTo>
                        <a:pt x="140" y="50"/>
                      </a:lnTo>
                      <a:lnTo>
                        <a:pt x="139" y="49"/>
                      </a:lnTo>
                      <a:lnTo>
                        <a:pt x="138" y="48"/>
                      </a:lnTo>
                      <a:lnTo>
                        <a:pt x="136" y="48"/>
                      </a:lnTo>
                      <a:lnTo>
                        <a:pt x="135" y="48"/>
                      </a:lnTo>
                      <a:lnTo>
                        <a:pt x="92" y="48"/>
                      </a:lnTo>
                      <a:lnTo>
                        <a:pt x="83" y="33"/>
                      </a:lnTo>
                      <a:lnTo>
                        <a:pt x="84" y="31"/>
                      </a:lnTo>
                      <a:lnTo>
                        <a:pt x="85" y="29"/>
                      </a:lnTo>
                      <a:lnTo>
                        <a:pt x="85" y="27"/>
                      </a:lnTo>
                      <a:lnTo>
                        <a:pt x="85" y="25"/>
                      </a:lnTo>
                      <a:lnTo>
                        <a:pt x="85" y="23"/>
                      </a:lnTo>
                      <a:lnTo>
                        <a:pt x="85" y="21"/>
                      </a:lnTo>
                      <a:lnTo>
                        <a:pt x="85" y="18"/>
                      </a:lnTo>
                      <a:lnTo>
                        <a:pt x="85" y="16"/>
                      </a:lnTo>
                      <a:lnTo>
                        <a:pt x="84" y="14"/>
                      </a:lnTo>
                      <a:lnTo>
                        <a:pt x="84" y="13"/>
                      </a:lnTo>
                      <a:lnTo>
                        <a:pt x="83" y="11"/>
                      </a:lnTo>
                      <a:lnTo>
                        <a:pt x="82" y="10"/>
                      </a:lnTo>
                      <a:lnTo>
                        <a:pt x="80" y="8"/>
                      </a:lnTo>
                      <a:lnTo>
                        <a:pt x="79" y="7"/>
                      </a:lnTo>
                      <a:lnTo>
                        <a:pt x="77" y="5"/>
                      </a:lnTo>
                      <a:lnTo>
                        <a:pt x="76" y="4"/>
                      </a:lnTo>
                      <a:lnTo>
                        <a:pt x="74" y="3"/>
                      </a:lnTo>
                      <a:lnTo>
                        <a:pt x="72" y="2"/>
                      </a:lnTo>
                      <a:lnTo>
                        <a:pt x="70" y="1"/>
                      </a:lnTo>
                      <a:lnTo>
                        <a:pt x="67" y="1"/>
                      </a:lnTo>
                      <a:lnTo>
                        <a:pt x="65" y="0"/>
                      </a:lnTo>
                      <a:lnTo>
                        <a:pt x="63" y="0"/>
                      </a:lnTo>
                      <a:lnTo>
                        <a:pt x="61" y="0"/>
                      </a:lnTo>
                      <a:lnTo>
                        <a:pt x="59" y="0"/>
                      </a:lnTo>
                      <a:lnTo>
                        <a:pt x="56" y="1"/>
                      </a:lnTo>
                      <a:lnTo>
                        <a:pt x="54" y="1"/>
                      </a:lnTo>
                      <a:lnTo>
                        <a:pt x="52" y="2"/>
                      </a:lnTo>
                      <a:lnTo>
                        <a:pt x="50" y="3"/>
                      </a:lnTo>
                      <a:lnTo>
                        <a:pt x="47" y="5"/>
                      </a:lnTo>
                      <a:lnTo>
                        <a:pt x="46" y="7"/>
                      </a:lnTo>
                      <a:lnTo>
                        <a:pt x="44" y="8"/>
                      </a:lnTo>
                      <a:lnTo>
                        <a:pt x="43" y="10"/>
                      </a:lnTo>
                      <a:lnTo>
                        <a:pt x="41" y="12"/>
                      </a:lnTo>
                      <a:lnTo>
                        <a:pt x="40" y="14"/>
                      </a:lnTo>
                      <a:lnTo>
                        <a:pt x="39" y="17"/>
                      </a:lnTo>
                    </a:path>
                  </a:pathLst>
                </a:custGeom>
                <a:solidFill>
                  <a:srgbClr val="F39FD1"/>
                </a:solidFill>
                <a:ln w="1270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06" name="Freeform 129">
                <a:extLst>
                  <a:ext uri="{FF2B5EF4-FFF2-40B4-BE49-F238E27FC236}">
                    <a16:creationId xmlns:a16="http://schemas.microsoft.com/office/drawing/2014/main" id="{54FA36C9-A7EC-4DA2-AD9F-F691F125E5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80" y="1476"/>
                <a:ext cx="209" cy="293"/>
              </a:xfrm>
              <a:custGeom>
                <a:avLst/>
                <a:gdLst>
                  <a:gd name="T0" fmla="*/ 208 w 209"/>
                  <a:gd name="T1" fmla="*/ 276 h 306"/>
                  <a:gd name="T2" fmla="*/ 192 w 209"/>
                  <a:gd name="T3" fmla="*/ 276 h 306"/>
                  <a:gd name="T4" fmla="*/ 165 w 209"/>
                  <a:gd name="T5" fmla="*/ 241 h 306"/>
                  <a:gd name="T6" fmla="*/ 127 w 209"/>
                  <a:gd name="T7" fmla="*/ 177 h 306"/>
                  <a:gd name="T8" fmla="*/ 116 w 209"/>
                  <a:gd name="T9" fmla="*/ 149 h 306"/>
                  <a:gd name="T10" fmla="*/ 119 w 209"/>
                  <a:gd name="T11" fmla="*/ 129 h 306"/>
                  <a:gd name="T12" fmla="*/ 128 w 209"/>
                  <a:gd name="T13" fmla="*/ 125 h 306"/>
                  <a:gd name="T14" fmla="*/ 143 w 209"/>
                  <a:gd name="T15" fmla="*/ 135 h 306"/>
                  <a:gd name="T16" fmla="*/ 162 w 209"/>
                  <a:gd name="T17" fmla="*/ 147 h 306"/>
                  <a:gd name="T18" fmla="*/ 171 w 209"/>
                  <a:gd name="T19" fmla="*/ 147 h 306"/>
                  <a:gd name="T20" fmla="*/ 173 w 209"/>
                  <a:gd name="T21" fmla="*/ 141 h 306"/>
                  <a:gd name="T22" fmla="*/ 164 w 209"/>
                  <a:gd name="T23" fmla="*/ 129 h 306"/>
                  <a:gd name="T24" fmla="*/ 141 w 209"/>
                  <a:gd name="T25" fmla="*/ 113 h 306"/>
                  <a:gd name="T26" fmla="*/ 132 w 209"/>
                  <a:gd name="T27" fmla="*/ 91 h 306"/>
                  <a:gd name="T28" fmla="*/ 128 w 209"/>
                  <a:gd name="T29" fmla="*/ 72 h 306"/>
                  <a:gd name="T30" fmla="*/ 118 w 209"/>
                  <a:gd name="T31" fmla="*/ 59 h 306"/>
                  <a:gd name="T32" fmla="*/ 114 w 209"/>
                  <a:gd name="T33" fmla="*/ 50 h 306"/>
                  <a:gd name="T34" fmla="*/ 119 w 209"/>
                  <a:gd name="T35" fmla="*/ 38 h 306"/>
                  <a:gd name="T36" fmla="*/ 124 w 209"/>
                  <a:gd name="T37" fmla="*/ 25 h 306"/>
                  <a:gd name="T38" fmla="*/ 120 w 209"/>
                  <a:gd name="T39" fmla="*/ 9 h 306"/>
                  <a:gd name="T40" fmla="*/ 110 w 209"/>
                  <a:gd name="T41" fmla="*/ 1 h 306"/>
                  <a:gd name="T42" fmla="*/ 94 w 209"/>
                  <a:gd name="T43" fmla="*/ 3 h 306"/>
                  <a:gd name="T44" fmla="*/ 88 w 209"/>
                  <a:gd name="T45" fmla="*/ 13 h 306"/>
                  <a:gd name="T46" fmla="*/ 88 w 209"/>
                  <a:gd name="T47" fmla="*/ 24 h 306"/>
                  <a:gd name="T48" fmla="*/ 92 w 209"/>
                  <a:gd name="T49" fmla="*/ 37 h 306"/>
                  <a:gd name="T50" fmla="*/ 92 w 209"/>
                  <a:gd name="T51" fmla="*/ 49 h 306"/>
                  <a:gd name="T52" fmla="*/ 81 w 209"/>
                  <a:gd name="T53" fmla="*/ 59 h 306"/>
                  <a:gd name="T54" fmla="*/ 68 w 209"/>
                  <a:gd name="T55" fmla="*/ 67 h 306"/>
                  <a:gd name="T56" fmla="*/ 58 w 209"/>
                  <a:gd name="T57" fmla="*/ 79 h 306"/>
                  <a:gd name="T58" fmla="*/ 48 w 209"/>
                  <a:gd name="T59" fmla="*/ 104 h 306"/>
                  <a:gd name="T60" fmla="*/ 43 w 209"/>
                  <a:gd name="T61" fmla="*/ 128 h 306"/>
                  <a:gd name="T62" fmla="*/ 42 w 209"/>
                  <a:gd name="T63" fmla="*/ 153 h 306"/>
                  <a:gd name="T64" fmla="*/ 43 w 209"/>
                  <a:gd name="T65" fmla="*/ 166 h 306"/>
                  <a:gd name="T66" fmla="*/ 51 w 209"/>
                  <a:gd name="T67" fmla="*/ 170 h 306"/>
                  <a:gd name="T68" fmla="*/ 55 w 209"/>
                  <a:gd name="T69" fmla="*/ 166 h 306"/>
                  <a:gd name="T70" fmla="*/ 55 w 209"/>
                  <a:gd name="T71" fmla="*/ 139 h 306"/>
                  <a:gd name="T72" fmla="*/ 58 w 209"/>
                  <a:gd name="T73" fmla="*/ 122 h 306"/>
                  <a:gd name="T74" fmla="*/ 67 w 209"/>
                  <a:gd name="T75" fmla="*/ 114 h 306"/>
                  <a:gd name="T76" fmla="*/ 73 w 209"/>
                  <a:gd name="T77" fmla="*/ 120 h 306"/>
                  <a:gd name="T78" fmla="*/ 71 w 209"/>
                  <a:gd name="T79" fmla="*/ 147 h 306"/>
                  <a:gd name="T80" fmla="*/ 64 w 209"/>
                  <a:gd name="T81" fmla="*/ 175 h 306"/>
                  <a:gd name="T82" fmla="*/ 55 w 209"/>
                  <a:gd name="T83" fmla="*/ 206 h 306"/>
                  <a:gd name="T84" fmla="*/ 34 w 209"/>
                  <a:gd name="T85" fmla="*/ 237 h 306"/>
                  <a:gd name="T86" fmla="*/ 8 w 209"/>
                  <a:gd name="T87" fmla="*/ 268 h 306"/>
                  <a:gd name="T88" fmla="*/ 0 w 209"/>
                  <a:gd name="T89" fmla="*/ 285 h 306"/>
                  <a:gd name="T90" fmla="*/ 20 w 209"/>
                  <a:gd name="T91" fmla="*/ 305 h 306"/>
                  <a:gd name="T92" fmla="*/ 34 w 209"/>
                  <a:gd name="T93" fmla="*/ 302 h 306"/>
                  <a:gd name="T94" fmla="*/ 24 w 209"/>
                  <a:gd name="T95" fmla="*/ 289 h 306"/>
                  <a:gd name="T96" fmla="*/ 31 w 209"/>
                  <a:gd name="T97" fmla="*/ 272 h 306"/>
                  <a:gd name="T98" fmla="*/ 64 w 209"/>
                  <a:gd name="T99" fmla="*/ 234 h 306"/>
                  <a:gd name="T100" fmla="*/ 88 w 209"/>
                  <a:gd name="T101" fmla="*/ 206 h 306"/>
                  <a:gd name="T102" fmla="*/ 99 w 209"/>
                  <a:gd name="T103" fmla="*/ 200 h 306"/>
                  <a:gd name="T104" fmla="*/ 114 w 209"/>
                  <a:gd name="T105" fmla="*/ 209 h 306"/>
                  <a:gd name="T106" fmla="*/ 148 w 209"/>
                  <a:gd name="T107" fmla="*/ 255 h 306"/>
                  <a:gd name="T108" fmla="*/ 175 w 209"/>
                  <a:gd name="T109" fmla="*/ 294 h 306"/>
                  <a:gd name="T110" fmla="*/ 186 w 209"/>
                  <a:gd name="T111" fmla="*/ 297 h 306"/>
                  <a:gd name="T112" fmla="*/ 200 w 209"/>
                  <a:gd name="T113" fmla="*/ 287 h 30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209"/>
                  <a:gd name="T172" fmla="*/ 0 h 306"/>
                  <a:gd name="T173" fmla="*/ 209 w 209"/>
                  <a:gd name="T174" fmla="*/ 306 h 30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209" h="306">
                    <a:moveTo>
                      <a:pt x="207" y="281"/>
                    </a:moveTo>
                    <a:lnTo>
                      <a:pt x="208" y="276"/>
                    </a:lnTo>
                    <a:lnTo>
                      <a:pt x="200" y="277"/>
                    </a:lnTo>
                    <a:lnTo>
                      <a:pt x="192" y="276"/>
                    </a:lnTo>
                    <a:lnTo>
                      <a:pt x="182" y="268"/>
                    </a:lnTo>
                    <a:lnTo>
                      <a:pt x="165" y="241"/>
                    </a:lnTo>
                    <a:lnTo>
                      <a:pt x="140" y="200"/>
                    </a:lnTo>
                    <a:lnTo>
                      <a:pt x="127" y="177"/>
                    </a:lnTo>
                    <a:lnTo>
                      <a:pt x="118" y="159"/>
                    </a:lnTo>
                    <a:lnTo>
                      <a:pt x="116" y="149"/>
                    </a:lnTo>
                    <a:lnTo>
                      <a:pt x="116" y="137"/>
                    </a:lnTo>
                    <a:lnTo>
                      <a:pt x="119" y="129"/>
                    </a:lnTo>
                    <a:lnTo>
                      <a:pt x="124" y="125"/>
                    </a:lnTo>
                    <a:lnTo>
                      <a:pt x="128" y="125"/>
                    </a:lnTo>
                    <a:lnTo>
                      <a:pt x="133" y="128"/>
                    </a:lnTo>
                    <a:lnTo>
                      <a:pt x="143" y="135"/>
                    </a:lnTo>
                    <a:lnTo>
                      <a:pt x="154" y="143"/>
                    </a:lnTo>
                    <a:lnTo>
                      <a:pt x="162" y="147"/>
                    </a:lnTo>
                    <a:lnTo>
                      <a:pt x="167" y="149"/>
                    </a:lnTo>
                    <a:lnTo>
                      <a:pt x="171" y="147"/>
                    </a:lnTo>
                    <a:lnTo>
                      <a:pt x="174" y="143"/>
                    </a:lnTo>
                    <a:lnTo>
                      <a:pt x="173" y="141"/>
                    </a:lnTo>
                    <a:lnTo>
                      <a:pt x="171" y="137"/>
                    </a:lnTo>
                    <a:lnTo>
                      <a:pt x="164" y="129"/>
                    </a:lnTo>
                    <a:lnTo>
                      <a:pt x="149" y="120"/>
                    </a:lnTo>
                    <a:lnTo>
                      <a:pt x="141" y="113"/>
                    </a:lnTo>
                    <a:lnTo>
                      <a:pt x="136" y="104"/>
                    </a:lnTo>
                    <a:lnTo>
                      <a:pt x="132" y="91"/>
                    </a:lnTo>
                    <a:lnTo>
                      <a:pt x="131" y="78"/>
                    </a:lnTo>
                    <a:lnTo>
                      <a:pt x="128" y="72"/>
                    </a:lnTo>
                    <a:lnTo>
                      <a:pt x="124" y="66"/>
                    </a:lnTo>
                    <a:lnTo>
                      <a:pt x="118" y="59"/>
                    </a:lnTo>
                    <a:lnTo>
                      <a:pt x="114" y="55"/>
                    </a:lnTo>
                    <a:lnTo>
                      <a:pt x="114" y="50"/>
                    </a:lnTo>
                    <a:lnTo>
                      <a:pt x="116" y="42"/>
                    </a:lnTo>
                    <a:lnTo>
                      <a:pt x="119" y="38"/>
                    </a:lnTo>
                    <a:lnTo>
                      <a:pt x="122" y="33"/>
                    </a:lnTo>
                    <a:lnTo>
                      <a:pt x="124" y="25"/>
                    </a:lnTo>
                    <a:lnTo>
                      <a:pt x="122" y="16"/>
                    </a:lnTo>
                    <a:lnTo>
                      <a:pt x="120" y="9"/>
                    </a:lnTo>
                    <a:lnTo>
                      <a:pt x="116" y="4"/>
                    </a:lnTo>
                    <a:lnTo>
                      <a:pt x="110" y="1"/>
                    </a:lnTo>
                    <a:lnTo>
                      <a:pt x="101" y="0"/>
                    </a:lnTo>
                    <a:lnTo>
                      <a:pt x="94" y="3"/>
                    </a:lnTo>
                    <a:lnTo>
                      <a:pt x="90" y="7"/>
                    </a:lnTo>
                    <a:lnTo>
                      <a:pt x="88" y="13"/>
                    </a:lnTo>
                    <a:lnTo>
                      <a:pt x="86" y="18"/>
                    </a:lnTo>
                    <a:lnTo>
                      <a:pt x="88" y="24"/>
                    </a:lnTo>
                    <a:lnTo>
                      <a:pt x="90" y="32"/>
                    </a:lnTo>
                    <a:lnTo>
                      <a:pt x="92" y="37"/>
                    </a:lnTo>
                    <a:lnTo>
                      <a:pt x="93" y="42"/>
                    </a:lnTo>
                    <a:lnTo>
                      <a:pt x="92" y="49"/>
                    </a:lnTo>
                    <a:lnTo>
                      <a:pt x="88" y="54"/>
                    </a:lnTo>
                    <a:lnTo>
                      <a:pt x="81" y="59"/>
                    </a:lnTo>
                    <a:lnTo>
                      <a:pt x="73" y="63"/>
                    </a:lnTo>
                    <a:lnTo>
                      <a:pt x="68" y="67"/>
                    </a:lnTo>
                    <a:lnTo>
                      <a:pt x="63" y="72"/>
                    </a:lnTo>
                    <a:lnTo>
                      <a:pt x="58" y="79"/>
                    </a:lnTo>
                    <a:lnTo>
                      <a:pt x="52" y="91"/>
                    </a:lnTo>
                    <a:lnTo>
                      <a:pt x="48" y="104"/>
                    </a:lnTo>
                    <a:lnTo>
                      <a:pt x="44" y="114"/>
                    </a:lnTo>
                    <a:lnTo>
                      <a:pt x="43" y="128"/>
                    </a:lnTo>
                    <a:lnTo>
                      <a:pt x="42" y="143"/>
                    </a:lnTo>
                    <a:lnTo>
                      <a:pt x="42" y="153"/>
                    </a:lnTo>
                    <a:lnTo>
                      <a:pt x="42" y="160"/>
                    </a:lnTo>
                    <a:lnTo>
                      <a:pt x="43" y="166"/>
                    </a:lnTo>
                    <a:lnTo>
                      <a:pt x="46" y="168"/>
                    </a:lnTo>
                    <a:lnTo>
                      <a:pt x="51" y="170"/>
                    </a:lnTo>
                    <a:lnTo>
                      <a:pt x="54" y="168"/>
                    </a:lnTo>
                    <a:lnTo>
                      <a:pt x="55" y="166"/>
                    </a:lnTo>
                    <a:lnTo>
                      <a:pt x="55" y="155"/>
                    </a:lnTo>
                    <a:lnTo>
                      <a:pt x="55" y="139"/>
                    </a:lnTo>
                    <a:lnTo>
                      <a:pt x="56" y="129"/>
                    </a:lnTo>
                    <a:lnTo>
                      <a:pt x="58" y="122"/>
                    </a:lnTo>
                    <a:lnTo>
                      <a:pt x="61" y="116"/>
                    </a:lnTo>
                    <a:lnTo>
                      <a:pt x="67" y="114"/>
                    </a:lnTo>
                    <a:lnTo>
                      <a:pt x="72" y="116"/>
                    </a:lnTo>
                    <a:lnTo>
                      <a:pt x="73" y="120"/>
                    </a:lnTo>
                    <a:lnTo>
                      <a:pt x="72" y="131"/>
                    </a:lnTo>
                    <a:lnTo>
                      <a:pt x="71" y="147"/>
                    </a:lnTo>
                    <a:lnTo>
                      <a:pt x="68" y="162"/>
                    </a:lnTo>
                    <a:lnTo>
                      <a:pt x="64" y="175"/>
                    </a:lnTo>
                    <a:lnTo>
                      <a:pt x="60" y="192"/>
                    </a:lnTo>
                    <a:lnTo>
                      <a:pt x="55" y="206"/>
                    </a:lnTo>
                    <a:lnTo>
                      <a:pt x="43" y="225"/>
                    </a:lnTo>
                    <a:lnTo>
                      <a:pt x="34" y="237"/>
                    </a:lnTo>
                    <a:lnTo>
                      <a:pt x="18" y="255"/>
                    </a:lnTo>
                    <a:lnTo>
                      <a:pt x="8" y="268"/>
                    </a:lnTo>
                    <a:lnTo>
                      <a:pt x="0" y="280"/>
                    </a:lnTo>
                    <a:lnTo>
                      <a:pt x="0" y="285"/>
                    </a:lnTo>
                    <a:lnTo>
                      <a:pt x="8" y="294"/>
                    </a:lnTo>
                    <a:lnTo>
                      <a:pt x="20" y="305"/>
                    </a:lnTo>
                    <a:lnTo>
                      <a:pt x="31" y="305"/>
                    </a:lnTo>
                    <a:lnTo>
                      <a:pt x="34" y="302"/>
                    </a:lnTo>
                    <a:lnTo>
                      <a:pt x="29" y="296"/>
                    </a:lnTo>
                    <a:lnTo>
                      <a:pt x="24" y="289"/>
                    </a:lnTo>
                    <a:lnTo>
                      <a:pt x="24" y="284"/>
                    </a:lnTo>
                    <a:lnTo>
                      <a:pt x="31" y="272"/>
                    </a:lnTo>
                    <a:lnTo>
                      <a:pt x="44" y="259"/>
                    </a:lnTo>
                    <a:lnTo>
                      <a:pt x="64" y="234"/>
                    </a:lnTo>
                    <a:lnTo>
                      <a:pt x="81" y="213"/>
                    </a:lnTo>
                    <a:lnTo>
                      <a:pt x="88" y="206"/>
                    </a:lnTo>
                    <a:lnTo>
                      <a:pt x="92" y="201"/>
                    </a:lnTo>
                    <a:lnTo>
                      <a:pt x="99" y="200"/>
                    </a:lnTo>
                    <a:lnTo>
                      <a:pt x="106" y="204"/>
                    </a:lnTo>
                    <a:lnTo>
                      <a:pt x="114" y="209"/>
                    </a:lnTo>
                    <a:lnTo>
                      <a:pt x="130" y="230"/>
                    </a:lnTo>
                    <a:lnTo>
                      <a:pt x="148" y="255"/>
                    </a:lnTo>
                    <a:lnTo>
                      <a:pt x="165" y="280"/>
                    </a:lnTo>
                    <a:lnTo>
                      <a:pt x="175" y="294"/>
                    </a:lnTo>
                    <a:lnTo>
                      <a:pt x="179" y="297"/>
                    </a:lnTo>
                    <a:lnTo>
                      <a:pt x="186" y="297"/>
                    </a:lnTo>
                    <a:lnTo>
                      <a:pt x="192" y="292"/>
                    </a:lnTo>
                    <a:lnTo>
                      <a:pt x="200" y="287"/>
                    </a:lnTo>
                    <a:lnTo>
                      <a:pt x="207" y="281"/>
                    </a:lnTo>
                  </a:path>
                </a:pathLst>
              </a:custGeom>
              <a:solidFill>
                <a:srgbClr val="CECECE"/>
              </a:solidFill>
              <a:ln w="2540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7" name="Group 130">
                <a:extLst>
                  <a:ext uri="{FF2B5EF4-FFF2-40B4-BE49-F238E27FC236}">
                    <a16:creationId xmlns:a16="http://schemas.microsoft.com/office/drawing/2014/main" id="{E8D0CD0F-C5D0-484A-9050-99EAF0F8C67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76" y="1479"/>
                <a:ext cx="251" cy="302"/>
                <a:chOff x="1046" y="1497"/>
                <a:chExt cx="251" cy="302"/>
              </a:xfrm>
            </p:grpSpPr>
            <p:grpSp>
              <p:nvGrpSpPr>
                <p:cNvPr id="108" name="Group 131">
                  <a:extLst>
                    <a:ext uri="{FF2B5EF4-FFF2-40B4-BE49-F238E27FC236}">
                      <a16:creationId xmlns:a16="http://schemas.microsoft.com/office/drawing/2014/main" id="{B6AD1F14-7580-4F19-B8DB-222A200668A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46" y="1497"/>
                  <a:ext cx="251" cy="302"/>
                  <a:chOff x="1046" y="1497"/>
                  <a:chExt cx="251" cy="302"/>
                </a:xfrm>
              </p:grpSpPr>
              <p:sp>
                <p:nvSpPr>
                  <p:cNvPr id="111" name="AutoShape 132">
                    <a:extLst>
                      <a:ext uri="{FF2B5EF4-FFF2-40B4-BE49-F238E27FC236}">
                        <a16:creationId xmlns:a16="http://schemas.microsoft.com/office/drawing/2014/main" id="{B25E6184-7F1B-4352-8DC5-4441C6693F5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46" y="1549"/>
                    <a:ext cx="251" cy="250"/>
                  </a:xfrm>
                  <a:prstGeom prst="cube">
                    <a:avLst>
                      <a:gd name="adj" fmla="val 24995"/>
                    </a:avLst>
                  </a:prstGeom>
                  <a:solidFill>
                    <a:schemeClr val="bg1"/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" name="AutoShape 133">
                    <a:extLst>
                      <a:ext uri="{FF2B5EF4-FFF2-40B4-BE49-F238E27FC236}">
                        <a16:creationId xmlns:a16="http://schemas.microsoft.com/office/drawing/2014/main" id="{52C2D253-A1C0-406F-8B44-08C6C1BC81F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105" y="1497"/>
                    <a:ext cx="192" cy="45"/>
                  </a:xfrm>
                  <a:prstGeom prst="cube">
                    <a:avLst>
                      <a:gd name="adj" fmla="val 24995"/>
                    </a:avLst>
                  </a:prstGeom>
                  <a:solidFill>
                    <a:schemeClr val="bg1"/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109" name="Oval 134">
                  <a:extLst>
                    <a:ext uri="{FF2B5EF4-FFF2-40B4-BE49-F238E27FC236}">
                      <a16:creationId xmlns:a16="http://schemas.microsoft.com/office/drawing/2014/main" id="{6173D175-E66B-4587-9C6F-7788E4B3133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12" y="1525"/>
                  <a:ext cx="27" cy="8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0" name="AutoShape 135">
                  <a:extLst>
                    <a:ext uri="{FF2B5EF4-FFF2-40B4-BE49-F238E27FC236}">
                      <a16:creationId xmlns:a16="http://schemas.microsoft.com/office/drawing/2014/main" id="{DC5D9694-5E66-4385-8E80-8B904E7BBE2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69" y="1679"/>
                  <a:ext cx="134" cy="54"/>
                </a:xfrm>
                <a:prstGeom prst="octagon">
                  <a:avLst>
                    <a:gd name="adj" fmla="val 29282"/>
                  </a:avLst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47" name="Group 136">
              <a:extLst>
                <a:ext uri="{FF2B5EF4-FFF2-40B4-BE49-F238E27FC236}">
                  <a16:creationId xmlns:a16="http://schemas.microsoft.com/office/drawing/2014/main" id="{B8C3AA9C-7883-40E2-B8AA-5022B146E18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2" y="2386"/>
              <a:ext cx="1065" cy="310"/>
              <a:chOff x="801" y="1474"/>
              <a:chExt cx="1065" cy="310"/>
            </a:xfrm>
          </p:grpSpPr>
          <p:grpSp>
            <p:nvGrpSpPr>
              <p:cNvPr id="86" name="Group 137">
                <a:extLst>
                  <a:ext uri="{FF2B5EF4-FFF2-40B4-BE49-F238E27FC236}">
                    <a16:creationId xmlns:a16="http://schemas.microsoft.com/office/drawing/2014/main" id="{C8D22174-51CA-4DA4-B81E-80E80F18825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01" y="1480"/>
                <a:ext cx="218" cy="304"/>
                <a:chOff x="801" y="1480"/>
                <a:chExt cx="218" cy="304"/>
              </a:xfrm>
            </p:grpSpPr>
            <p:sp>
              <p:nvSpPr>
                <p:cNvPr id="101" name="AutoShape 138">
                  <a:extLst>
                    <a:ext uri="{FF2B5EF4-FFF2-40B4-BE49-F238E27FC236}">
                      <a16:creationId xmlns:a16="http://schemas.microsoft.com/office/drawing/2014/main" id="{8929BBDC-6ACC-4AEF-9B9E-451F28944D7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1" y="1532"/>
                  <a:ext cx="218" cy="252"/>
                </a:xfrm>
                <a:prstGeom prst="cube">
                  <a:avLst>
                    <a:gd name="adj" fmla="val 24995"/>
                  </a:avLst>
                </a:prstGeom>
                <a:solidFill>
                  <a:srgbClr val="DC008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2" name="AutoShape 139">
                  <a:extLst>
                    <a:ext uri="{FF2B5EF4-FFF2-40B4-BE49-F238E27FC236}">
                      <a16:creationId xmlns:a16="http://schemas.microsoft.com/office/drawing/2014/main" id="{EF7445D9-3E69-4665-9A27-FDCCA89DCD8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54" y="1480"/>
                  <a:ext cx="165" cy="45"/>
                </a:xfrm>
                <a:prstGeom prst="cube">
                  <a:avLst>
                    <a:gd name="adj" fmla="val 24995"/>
                  </a:avLst>
                </a:prstGeom>
                <a:solidFill>
                  <a:srgbClr val="DC008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3" name="AutoShape 140">
                  <a:extLst>
                    <a:ext uri="{FF2B5EF4-FFF2-40B4-BE49-F238E27FC236}">
                      <a16:creationId xmlns:a16="http://schemas.microsoft.com/office/drawing/2014/main" id="{332613EE-9387-42F1-A9B3-B29381D0BF5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45" y="1554"/>
                  <a:ext cx="114" cy="27"/>
                </a:xfrm>
                <a:prstGeom prst="parallelogram">
                  <a:avLst>
                    <a:gd name="adj" fmla="val 158304"/>
                  </a:avLst>
                </a:prstGeom>
                <a:solidFill>
                  <a:srgbClr val="DC008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7" name="Group 141">
                <a:extLst>
                  <a:ext uri="{FF2B5EF4-FFF2-40B4-BE49-F238E27FC236}">
                    <a16:creationId xmlns:a16="http://schemas.microsoft.com/office/drawing/2014/main" id="{23FCD185-5C6E-43C6-BB9A-0B506B38272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92" y="1488"/>
                <a:ext cx="213" cy="269"/>
                <a:chOff x="1345" y="1500"/>
                <a:chExt cx="213" cy="269"/>
              </a:xfrm>
            </p:grpSpPr>
            <p:sp>
              <p:nvSpPr>
                <p:cNvPr id="95" name="Freeform 142">
                  <a:extLst>
                    <a:ext uri="{FF2B5EF4-FFF2-40B4-BE49-F238E27FC236}">
                      <a16:creationId xmlns:a16="http://schemas.microsoft.com/office/drawing/2014/main" id="{762921A3-0C64-4624-951B-044AF136B0A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83" y="1625"/>
                  <a:ext cx="64" cy="144"/>
                </a:xfrm>
                <a:custGeom>
                  <a:avLst/>
                  <a:gdLst>
                    <a:gd name="T0" fmla="*/ 46 w 64"/>
                    <a:gd name="T1" fmla="*/ 0 h 144"/>
                    <a:gd name="T2" fmla="*/ 63 w 64"/>
                    <a:gd name="T3" fmla="*/ 0 h 144"/>
                    <a:gd name="T4" fmla="*/ 17 w 64"/>
                    <a:gd name="T5" fmla="*/ 143 h 144"/>
                    <a:gd name="T6" fmla="*/ 0 w 64"/>
                    <a:gd name="T7" fmla="*/ 143 h 144"/>
                    <a:gd name="T8" fmla="*/ 46 w 64"/>
                    <a:gd name="T9" fmla="*/ 0 h 14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4"/>
                    <a:gd name="T16" fmla="*/ 0 h 144"/>
                    <a:gd name="T17" fmla="*/ 64 w 64"/>
                    <a:gd name="T18" fmla="*/ 144 h 14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4" h="144">
                      <a:moveTo>
                        <a:pt x="46" y="0"/>
                      </a:moveTo>
                      <a:lnTo>
                        <a:pt x="63" y="0"/>
                      </a:lnTo>
                      <a:lnTo>
                        <a:pt x="17" y="143"/>
                      </a:lnTo>
                      <a:lnTo>
                        <a:pt x="0" y="143"/>
                      </a:lnTo>
                      <a:lnTo>
                        <a:pt x="46" y="0"/>
                      </a:lnTo>
                    </a:path>
                  </a:pathLst>
                </a:custGeom>
                <a:solidFill>
                  <a:srgbClr val="F39FD1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" name="Rectangle 143">
                  <a:extLst>
                    <a:ext uri="{FF2B5EF4-FFF2-40B4-BE49-F238E27FC236}">
                      <a16:creationId xmlns:a16="http://schemas.microsoft.com/office/drawing/2014/main" id="{D145B4E9-9E4A-493E-BD20-FB4EF236374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8" y="1625"/>
                  <a:ext cx="80" cy="12"/>
                </a:xfrm>
                <a:prstGeom prst="rect">
                  <a:avLst/>
                </a:prstGeom>
                <a:solidFill>
                  <a:srgbClr val="F39FD1"/>
                </a:solidFill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7" name="Rectangle 144">
                  <a:extLst>
                    <a:ext uri="{FF2B5EF4-FFF2-40B4-BE49-F238E27FC236}">
                      <a16:creationId xmlns:a16="http://schemas.microsoft.com/office/drawing/2014/main" id="{4103C5BD-1403-439F-BEE5-9BF6DC151D1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86" y="1683"/>
                  <a:ext cx="60" cy="14"/>
                </a:xfrm>
                <a:prstGeom prst="rect">
                  <a:avLst/>
                </a:prstGeom>
                <a:solidFill>
                  <a:srgbClr val="F39FD1"/>
                </a:solidFill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8" name="Rectangle 145">
                  <a:extLst>
                    <a:ext uri="{FF2B5EF4-FFF2-40B4-BE49-F238E27FC236}">
                      <a16:creationId xmlns:a16="http://schemas.microsoft.com/office/drawing/2014/main" id="{CD5D8626-291B-4E03-B5C5-78624FD4CC1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47" y="1683"/>
                  <a:ext cx="79" cy="10"/>
                </a:xfrm>
                <a:prstGeom prst="rect">
                  <a:avLst/>
                </a:prstGeom>
                <a:solidFill>
                  <a:srgbClr val="F39FD1"/>
                </a:solidFill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9" name="Oval 146">
                  <a:extLst>
                    <a:ext uri="{FF2B5EF4-FFF2-40B4-BE49-F238E27FC236}">
                      <a16:creationId xmlns:a16="http://schemas.microsoft.com/office/drawing/2014/main" id="{8DA6E5FE-EB82-4681-AD88-FCCC55B9DF0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09" y="1500"/>
                  <a:ext cx="24" cy="27"/>
                </a:xfrm>
                <a:prstGeom prst="ellipse">
                  <a:avLst/>
                </a:prstGeom>
                <a:solidFill>
                  <a:srgbClr val="F39FD1"/>
                </a:solidFill>
                <a:ln w="254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0" name="Freeform 147">
                  <a:extLst>
                    <a:ext uri="{FF2B5EF4-FFF2-40B4-BE49-F238E27FC236}">
                      <a16:creationId xmlns:a16="http://schemas.microsoft.com/office/drawing/2014/main" id="{F6006266-43E8-438C-9917-CA55E172759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345" y="1547"/>
                  <a:ext cx="146" cy="222"/>
                </a:xfrm>
                <a:custGeom>
                  <a:avLst/>
                  <a:gdLst>
                    <a:gd name="T0" fmla="*/ 1 w 146"/>
                    <a:gd name="T1" fmla="*/ 102 h 222"/>
                    <a:gd name="T2" fmla="*/ 1 w 146"/>
                    <a:gd name="T3" fmla="*/ 105 h 222"/>
                    <a:gd name="T4" fmla="*/ 0 w 146"/>
                    <a:gd name="T5" fmla="*/ 109 h 222"/>
                    <a:gd name="T6" fmla="*/ 0 w 146"/>
                    <a:gd name="T7" fmla="*/ 112 h 222"/>
                    <a:gd name="T8" fmla="*/ 1 w 146"/>
                    <a:gd name="T9" fmla="*/ 116 h 222"/>
                    <a:gd name="T10" fmla="*/ 3 w 146"/>
                    <a:gd name="T11" fmla="*/ 119 h 222"/>
                    <a:gd name="T12" fmla="*/ 6 w 146"/>
                    <a:gd name="T13" fmla="*/ 122 h 222"/>
                    <a:gd name="T14" fmla="*/ 9 w 146"/>
                    <a:gd name="T15" fmla="*/ 124 h 222"/>
                    <a:gd name="T16" fmla="*/ 12 w 146"/>
                    <a:gd name="T17" fmla="*/ 125 h 222"/>
                    <a:gd name="T18" fmla="*/ 16 w 146"/>
                    <a:gd name="T19" fmla="*/ 125 h 222"/>
                    <a:gd name="T20" fmla="*/ 95 w 146"/>
                    <a:gd name="T21" fmla="*/ 221 h 222"/>
                    <a:gd name="T22" fmla="*/ 120 w 146"/>
                    <a:gd name="T23" fmla="*/ 106 h 222"/>
                    <a:gd name="T24" fmla="*/ 119 w 146"/>
                    <a:gd name="T25" fmla="*/ 104 h 222"/>
                    <a:gd name="T26" fmla="*/ 118 w 146"/>
                    <a:gd name="T27" fmla="*/ 102 h 222"/>
                    <a:gd name="T28" fmla="*/ 116 w 146"/>
                    <a:gd name="T29" fmla="*/ 100 h 222"/>
                    <a:gd name="T30" fmla="*/ 114 w 146"/>
                    <a:gd name="T31" fmla="*/ 98 h 222"/>
                    <a:gd name="T32" fmla="*/ 111 w 146"/>
                    <a:gd name="T33" fmla="*/ 97 h 222"/>
                    <a:gd name="T34" fmla="*/ 108 w 146"/>
                    <a:gd name="T35" fmla="*/ 96 h 222"/>
                    <a:gd name="T36" fmla="*/ 106 w 146"/>
                    <a:gd name="T37" fmla="*/ 96 h 222"/>
                    <a:gd name="T38" fmla="*/ 103 w 146"/>
                    <a:gd name="T39" fmla="*/ 96 h 222"/>
                    <a:gd name="T40" fmla="*/ 70 w 146"/>
                    <a:gd name="T41" fmla="*/ 56 h 222"/>
                    <a:gd name="T42" fmla="*/ 135 w 146"/>
                    <a:gd name="T43" fmla="*/ 70 h 222"/>
                    <a:gd name="T44" fmla="*/ 137 w 146"/>
                    <a:gd name="T45" fmla="*/ 69 h 222"/>
                    <a:gd name="T46" fmla="*/ 139 w 146"/>
                    <a:gd name="T47" fmla="*/ 68 h 222"/>
                    <a:gd name="T48" fmla="*/ 142 w 146"/>
                    <a:gd name="T49" fmla="*/ 66 h 222"/>
                    <a:gd name="T50" fmla="*/ 144 w 146"/>
                    <a:gd name="T51" fmla="*/ 65 h 222"/>
                    <a:gd name="T52" fmla="*/ 144 w 146"/>
                    <a:gd name="T53" fmla="*/ 62 h 222"/>
                    <a:gd name="T54" fmla="*/ 145 w 146"/>
                    <a:gd name="T55" fmla="*/ 59 h 222"/>
                    <a:gd name="T56" fmla="*/ 144 w 146"/>
                    <a:gd name="T57" fmla="*/ 55 h 222"/>
                    <a:gd name="T58" fmla="*/ 143 w 146"/>
                    <a:gd name="T59" fmla="*/ 53 h 222"/>
                    <a:gd name="T60" fmla="*/ 141 w 146"/>
                    <a:gd name="T61" fmla="*/ 51 h 222"/>
                    <a:gd name="T62" fmla="*/ 139 w 146"/>
                    <a:gd name="T63" fmla="*/ 49 h 222"/>
                    <a:gd name="T64" fmla="*/ 136 w 146"/>
                    <a:gd name="T65" fmla="*/ 48 h 222"/>
                    <a:gd name="T66" fmla="*/ 92 w 146"/>
                    <a:gd name="T67" fmla="*/ 48 h 222"/>
                    <a:gd name="T68" fmla="*/ 84 w 146"/>
                    <a:gd name="T69" fmla="*/ 31 h 222"/>
                    <a:gd name="T70" fmla="*/ 85 w 146"/>
                    <a:gd name="T71" fmla="*/ 27 h 222"/>
                    <a:gd name="T72" fmla="*/ 85 w 146"/>
                    <a:gd name="T73" fmla="*/ 23 h 222"/>
                    <a:gd name="T74" fmla="*/ 85 w 146"/>
                    <a:gd name="T75" fmla="*/ 18 h 222"/>
                    <a:gd name="T76" fmla="*/ 84 w 146"/>
                    <a:gd name="T77" fmla="*/ 14 h 222"/>
                    <a:gd name="T78" fmla="*/ 83 w 146"/>
                    <a:gd name="T79" fmla="*/ 11 h 222"/>
                    <a:gd name="T80" fmla="*/ 80 w 146"/>
                    <a:gd name="T81" fmla="*/ 8 h 222"/>
                    <a:gd name="T82" fmla="*/ 77 w 146"/>
                    <a:gd name="T83" fmla="*/ 5 h 222"/>
                    <a:gd name="T84" fmla="*/ 74 w 146"/>
                    <a:gd name="T85" fmla="*/ 3 h 222"/>
                    <a:gd name="T86" fmla="*/ 70 w 146"/>
                    <a:gd name="T87" fmla="*/ 1 h 222"/>
                    <a:gd name="T88" fmla="*/ 65 w 146"/>
                    <a:gd name="T89" fmla="*/ 0 h 222"/>
                    <a:gd name="T90" fmla="*/ 61 w 146"/>
                    <a:gd name="T91" fmla="*/ 0 h 222"/>
                    <a:gd name="T92" fmla="*/ 56 w 146"/>
                    <a:gd name="T93" fmla="*/ 1 h 222"/>
                    <a:gd name="T94" fmla="*/ 52 w 146"/>
                    <a:gd name="T95" fmla="*/ 2 h 222"/>
                    <a:gd name="T96" fmla="*/ 47 w 146"/>
                    <a:gd name="T97" fmla="*/ 5 h 222"/>
                    <a:gd name="T98" fmla="*/ 44 w 146"/>
                    <a:gd name="T99" fmla="*/ 8 h 222"/>
                    <a:gd name="T100" fmla="*/ 41 w 146"/>
                    <a:gd name="T101" fmla="*/ 12 h 222"/>
                    <a:gd name="T102" fmla="*/ 39 w 146"/>
                    <a:gd name="T103" fmla="*/ 17 h 222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w 146"/>
                    <a:gd name="T157" fmla="*/ 0 h 222"/>
                    <a:gd name="T158" fmla="*/ 146 w 146"/>
                    <a:gd name="T159" fmla="*/ 222 h 222"/>
                  </a:gdLst>
                  <a:ahLst/>
                  <a:cxnLst>
                    <a:cxn ang="T104">
                      <a:pos x="T0" y="T1"/>
                    </a:cxn>
                    <a:cxn ang="T105">
                      <a:pos x="T2" y="T3"/>
                    </a:cxn>
                    <a:cxn ang="T106">
                      <a:pos x="T4" y="T5"/>
                    </a:cxn>
                    <a:cxn ang="T107">
                      <a:pos x="T6" y="T7"/>
                    </a:cxn>
                    <a:cxn ang="T108">
                      <a:pos x="T8" y="T9"/>
                    </a:cxn>
                    <a:cxn ang="T109">
                      <a:pos x="T10" y="T11"/>
                    </a:cxn>
                    <a:cxn ang="T110">
                      <a:pos x="T12" y="T13"/>
                    </a:cxn>
                    <a:cxn ang="T111">
                      <a:pos x="T14" y="T15"/>
                    </a:cxn>
                    <a:cxn ang="T112">
                      <a:pos x="T16" y="T17"/>
                    </a:cxn>
                    <a:cxn ang="T113">
                      <a:pos x="T18" y="T19"/>
                    </a:cxn>
                    <a:cxn ang="T114">
                      <a:pos x="T20" y="T21"/>
                    </a:cxn>
                    <a:cxn ang="T115">
                      <a:pos x="T22" y="T23"/>
                    </a:cxn>
                    <a:cxn ang="T116">
                      <a:pos x="T24" y="T25"/>
                    </a:cxn>
                    <a:cxn ang="T117">
                      <a:pos x="T26" y="T27"/>
                    </a:cxn>
                    <a:cxn ang="T118">
                      <a:pos x="T28" y="T29"/>
                    </a:cxn>
                    <a:cxn ang="T119">
                      <a:pos x="T30" y="T31"/>
                    </a:cxn>
                    <a:cxn ang="T120">
                      <a:pos x="T32" y="T33"/>
                    </a:cxn>
                    <a:cxn ang="T121">
                      <a:pos x="T34" y="T35"/>
                    </a:cxn>
                    <a:cxn ang="T122">
                      <a:pos x="T36" y="T37"/>
                    </a:cxn>
                    <a:cxn ang="T123">
                      <a:pos x="T38" y="T39"/>
                    </a:cxn>
                    <a:cxn ang="T124">
                      <a:pos x="T40" y="T41"/>
                    </a:cxn>
                    <a:cxn ang="T125">
                      <a:pos x="T42" y="T43"/>
                    </a:cxn>
                    <a:cxn ang="T126">
                      <a:pos x="T44" y="T45"/>
                    </a:cxn>
                    <a:cxn ang="T127">
                      <a:pos x="T46" y="T47"/>
                    </a:cxn>
                    <a:cxn ang="T128">
                      <a:pos x="T48" y="T49"/>
                    </a:cxn>
                    <a:cxn ang="T129">
                      <a:pos x="T50" y="T51"/>
                    </a:cxn>
                    <a:cxn ang="T130">
                      <a:pos x="T52" y="T53"/>
                    </a:cxn>
                    <a:cxn ang="T131">
                      <a:pos x="T54" y="T55"/>
                    </a:cxn>
                    <a:cxn ang="T132">
                      <a:pos x="T56" y="T57"/>
                    </a:cxn>
                    <a:cxn ang="T133">
                      <a:pos x="T58" y="T59"/>
                    </a:cxn>
                    <a:cxn ang="T134">
                      <a:pos x="T60" y="T61"/>
                    </a:cxn>
                    <a:cxn ang="T135">
                      <a:pos x="T62" y="T63"/>
                    </a:cxn>
                    <a:cxn ang="T136">
                      <a:pos x="T64" y="T65"/>
                    </a:cxn>
                    <a:cxn ang="T137">
                      <a:pos x="T66" y="T67"/>
                    </a:cxn>
                    <a:cxn ang="T138">
                      <a:pos x="T68" y="T69"/>
                    </a:cxn>
                    <a:cxn ang="T139">
                      <a:pos x="T70" y="T71"/>
                    </a:cxn>
                    <a:cxn ang="T140">
                      <a:pos x="T72" y="T73"/>
                    </a:cxn>
                    <a:cxn ang="T141">
                      <a:pos x="T74" y="T75"/>
                    </a:cxn>
                    <a:cxn ang="T142">
                      <a:pos x="T76" y="T77"/>
                    </a:cxn>
                    <a:cxn ang="T143">
                      <a:pos x="T78" y="T79"/>
                    </a:cxn>
                    <a:cxn ang="T144">
                      <a:pos x="T80" y="T81"/>
                    </a:cxn>
                    <a:cxn ang="T145">
                      <a:pos x="T82" y="T83"/>
                    </a:cxn>
                    <a:cxn ang="T146">
                      <a:pos x="T84" y="T85"/>
                    </a:cxn>
                    <a:cxn ang="T147">
                      <a:pos x="T86" y="T87"/>
                    </a:cxn>
                    <a:cxn ang="T148">
                      <a:pos x="T88" y="T89"/>
                    </a:cxn>
                    <a:cxn ang="T149">
                      <a:pos x="T90" y="T91"/>
                    </a:cxn>
                    <a:cxn ang="T150">
                      <a:pos x="T92" y="T93"/>
                    </a:cxn>
                    <a:cxn ang="T151">
                      <a:pos x="T94" y="T95"/>
                    </a:cxn>
                    <a:cxn ang="T152">
                      <a:pos x="T96" y="T97"/>
                    </a:cxn>
                    <a:cxn ang="T153">
                      <a:pos x="T98" y="T99"/>
                    </a:cxn>
                    <a:cxn ang="T154">
                      <a:pos x="T100" y="T101"/>
                    </a:cxn>
                    <a:cxn ang="T155">
                      <a:pos x="T102" y="T103"/>
                    </a:cxn>
                  </a:cxnLst>
                  <a:rect l="T156" t="T157" r="T158" b="T159"/>
                  <a:pathLst>
                    <a:path w="146" h="222">
                      <a:moveTo>
                        <a:pt x="39" y="17"/>
                      </a:moveTo>
                      <a:lnTo>
                        <a:pt x="1" y="102"/>
                      </a:lnTo>
                      <a:lnTo>
                        <a:pt x="1" y="104"/>
                      </a:lnTo>
                      <a:lnTo>
                        <a:pt x="1" y="105"/>
                      </a:lnTo>
                      <a:lnTo>
                        <a:pt x="0" y="106"/>
                      </a:lnTo>
                      <a:lnTo>
                        <a:pt x="0" y="109"/>
                      </a:lnTo>
                      <a:lnTo>
                        <a:pt x="0" y="110"/>
                      </a:lnTo>
                      <a:lnTo>
                        <a:pt x="0" y="112"/>
                      </a:lnTo>
                      <a:lnTo>
                        <a:pt x="1" y="114"/>
                      </a:lnTo>
                      <a:lnTo>
                        <a:pt x="1" y="116"/>
                      </a:lnTo>
                      <a:lnTo>
                        <a:pt x="2" y="117"/>
                      </a:lnTo>
                      <a:lnTo>
                        <a:pt x="3" y="119"/>
                      </a:lnTo>
                      <a:lnTo>
                        <a:pt x="5" y="121"/>
                      </a:lnTo>
                      <a:lnTo>
                        <a:pt x="6" y="122"/>
                      </a:lnTo>
                      <a:lnTo>
                        <a:pt x="8" y="123"/>
                      </a:lnTo>
                      <a:lnTo>
                        <a:pt x="9" y="124"/>
                      </a:lnTo>
                      <a:lnTo>
                        <a:pt x="10" y="124"/>
                      </a:lnTo>
                      <a:lnTo>
                        <a:pt x="12" y="125"/>
                      </a:lnTo>
                      <a:lnTo>
                        <a:pt x="14" y="125"/>
                      </a:lnTo>
                      <a:lnTo>
                        <a:pt x="16" y="125"/>
                      </a:lnTo>
                      <a:lnTo>
                        <a:pt x="95" y="125"/>
                      </a:lnTo>
                      <a:lnTo>
                        <a:pt x="95" y="221"/>
                      </a:lnTo>
                      <a:lnTo>
                        <a:pt x="120" y="221"/>
                      </a:lnTo>
                      <a:lnTo>
                        <a:pt x="120" y="106"/>
                      </a:lnTo>
                      <a:lnTo>
                        <a:pt x="120" y="105"/>
                      </a:lnTo>
                      <a:lnTo>
                        <a:pt x="119" y="104"/>
                      </a:lnTo>
                      <a:lnTo>
                        <a:pt x="118" y="102"/>
                      </a:lnTo>
                      <a:lnTo>
                        <a:pt x="117" y="101"/>
                      </a:lnTo>
                      <a:lnTo>
                        <a:pt x="116" y="100"/>
                      </a:lnTo>
                      <a:lnTo>
                        <a:pt x="115" y="99"/>
                      </a:lnTo>
                      <a:lnTo>
                        <a:pt x="114" y="98"/>
                      </a:lnTo>
                      <a:lnTo>
                        <a:pt x="113" y="98"/>
                      </a:lnTo>
                      <a:lnTo>
                        <a:pt x="111" y="97"/>
                      </a:lnTo>
                      <a:lnTo>
                        <a:pt x="110" y="97"/>
                      </a:lnTo>
                      <a:lnTo>
                        <a:pt x="108" y="96"/>
                      </a:lnTo>
                      <a:lnTo>
                        <a:pt x="107" y="96"/>
                      </a:lnTo>
                      <a:lnTo>
                        <a:pt x="106" y="96"/>
                      </a:lnTo>
                      <a:lnTo>
                        <a:pt x="104" y="96"/>
                      </a:lnTo>
                      <a:lnTo>
                        <a:pt x="103" y="96"/>
                      </a:lnTo>
                      <a:lnTo>
                        <a:pt x="57" y="94"/>
                      </a:lnTo>
                      <a:lnTo>
                        <a:pt x="70" y="56"/>
                      </a:lnTo>
                      <a:lnTo>
                        <a:pt x="79" y="70"/>
                      </a:lnTo>
                      <a:lnTo>
                        <a:pt x="135" y="70"/>
                      </a:lnTo>
                      <a:lnTo>
                        <a:pt x="136" y="69"/>
                      </a:lnTo>
                      <a:lnTo>
                        <a:pt x="137" y="69"/>
                      </a:lnTo>
                      <a:lnTo>
                        <a:pt x="139" y="68"/>
                      </a:lnTo>
                      <a:lnTo>
                        <a:pt x="140" y="67"/>
                      </a:lnTo>
                      <a:lnTo>
                        <a:pt x="142" y="66"/>
                      </a:lnTo>
                      <a:lnTo>
                        <a:pt x="142" y="65"/>
                      </a:lnTo>
                      <a:lnTo>
                        <a:pt x="144" y="65"/>
                      </a:lnTo>
                      <a:lnTo>
                        <a:pt x="144" y="63"/>
                      </a:lnTo>
                      <a:lnTo>
                        <a:pt x="144" y="62"/>
                      </a:lnTo>
                      <a:lnTo>
                        <a:pt x="145" y="61"/>
                      </a:lnTo>
                      <a:lnTo>
                        <a:pt x="145" y="59"/>
                      </a:lnTo>
                      <a:lnTo>
                        <a:pt x="145" y="57"/>
                      </a:lnTo>
                      <a:lnTo>
                        <a:pt x="144" y="55"/>
                      </a:lnTo>
                      <a:lnTo>
                        <a:pt x="144" y="54"/>
                      </a:lnTo>
                      <a:lnTo>
                        <a:pt x="143" y="53"/>
                      </a:lnTo>
                      <a:lnTo>
                        <a:pt x="142" y="52"/>
                      </a:lnTo>
                      <a:lnTo>
                        <a:pt x="141" y="51"/>
                      </a:lnTo>
                      <a:lnTo>
                        <a:pt x="140" y="50"/>
                      </a:lnTo>
                      <a:lnTo>
                        <a:pt x="139" y="49"/>
                      </a:lnTo>
                      <a:lnTo>
                        <a:pt x="138" y="48"/>
                      </a:lnTo>
                      <a:lnTo>
                        <a:pt x="136" y="48"/>
                      </a:lnTo>
                      <a:lnTo>
                        <a:pt x="135" y="48"/>
                      </a:lnTo>
                      <a:lnTo>
                        <a:pt x="92" y="48"/>
                      </a:lnTo>
                      <a:lnTo>
                        <a:pt x="83" y="33"/>
                      </a:lnTo>
                      <a:lnTo>
                        <a:pt x="84" y="31"/>
                      </a:lnTo>
                      <a:lnTo>
                        <a:pt x="85" y="29"/>
                      </a:lnTo>
                      <a:lnTo>
                        <a:pt x="85" y="27"/>
                      </a:lnTo>
                      <a:lnTo>
                        <a:pt x="85" y="25"/>
                      </a:lnTo>
                      <a:lnTo>
                        <a:pt x="85" y="23"/>
                      </a:lnTo>
                      <a:lnTo>
                        <a:pt x="85" y="21"/>
                      </a:lnTo>
                      <a:lnTo>
                        <a:pt x="85" y="18"/>
                      </a:lnTo>
                      <a:lnTo>
                        <a:pt x="85" y="16"/>
                      </a:lnTo>
                      <a:lnTo>
                        <a:pt x="84" y="14"/>
                      </a:lnTo>
                      <a:lnTo>
                        <a:pt x="84" y="13"/>
                      </a:lnTo>
                      <a:lnTo>
                        <a:pt x="83" y="11"/>
                      </a:lnTo>
                      <a:lnTo>
                        <a:pt x="82" y="10"/>
                      </a:lnTo>
                      <a:lnTo>
                        <a:pt x="80" y="8"/>
                      </a:lnTo>
                      <a:lnTo>
                        <a:pt x="79" y="7"/>
                      </a:lnTo>
                      <a:lnTo>
                        <a:pt x="77" y="5"/>
                      </a:lnTo>
                      <a:lnTo>
                        <a:pt x="76" y="4"/>
                      </a:lnTo>
                      <a:lnTo>
                        <a:pt x="74" y="3"/>
                      </a:lnTo>
                      <a:lnTo>
                        <a:pt x="72" y="2"/>
                      </a:lnTo>
                      <a:lnTo>
                        <a:pt x="70" y="1"/>
                      </a:lnTo>
                      <a:lnTo>
                        <a:pt x="67" y="1"/>
                      </a:lnTo>
                      <a:lnTo>
                        <a:pt x="65" y="0"/>
                      </a:lnTo>
                      <a:lnTo>
                        <a:pt x="63" y="0"/>
                      </a:lnTo>
                      <a:lnTo>
                        <a:pt x="61" y="0"/>
                      </a:lnTo>
                      <a:lnTo>
                        <a:pt x="59" y="0"/>
                      </a:lnTo>
                      <a:lnTo>
                        <a:pt x="56" y="1"/>
                      </a:lnTo>
                      <a:lnTo>
                        <a:pt x="54" y="1"/>
                      </a:lnTo>
                      <a:lnTo>
                        <a:pt x="52" y="2"/>
                      </a:lnTo>
                      <a:lnTo>
                        <a:pt x="50" y="3"/>
                      </a:lnTo>
                      <a:lnTo>
                        <a:pt x="47" y="5"/>
                      </a:lnTo>
                      <a:lnTo>
                        <a:pt x="46" y="7"/>
                      </a:lnTo>
                      <a:lnTo>
                        <a:pt x="44" y="8"/>
                      </a:lnTo>
                      <a:lnTo>
                        <a:pt x="43" y="10"/>
                      </a:lnTo>
                      <a:lnTo>
                        <a:pt x="41" y="12"/>
                      </a:lnTo>
                      <a:lnTo>
                        <a:pt x="40" y="14"/>
                      </a:lnTo>
                      <a:lnTo>
                        <a:pt x="39" y="17"/>
                      </a:lnTo>
                    </a:path>
                  </a:pathLst>
                </a:custGeom>
                <a:solidFill>
                  <a:srgbClr val="F39FD1"/>
                </a:solidFill>
                <a:ln w="1270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88" name="Freeform 148">
                <a:extLst>
                  <a:ext uri="{FF2B5EF4-FFF2-40B4-BE49-F238E27FC236}">
                    <a16:creationId xmlns:a16="http://schemas.microsoft.com/office/drawing/2014/main" id="{F56D7154-81D4-4212-8D68-B5A271C78F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7" y="1481"/>
                <a:ext cx="209" cy="288"/>
              </a:xfrm>
              <a:custGeom>
                <a:avLst/>
                <a:gdLst>
                  <a:gd name="T0" fmla="*/ 208 w 209"/>
                  <a:gd name="T1" fmla="*/ 276 h 306"/>
                  <a:gd name="T2" fmla="*/ 192 w 209"/>
                  <a:gd name="T3" fmla="*/ 276 h 306"/>
                  <a:gd name="T4" fmla="*/ 165 w 209"/>
                  <a:gd name="T5" fmla="*/ 241 h 306"/>
                  <a:gd name="T6" fmla="*/ 127 w 209"/>
                  <a:gd name="T7" fmla="*/ 177 h 306"/>
                  <a:gd name="T8" fmla="*/ 116 w 209"/>
                  <a:gd name="T9" fmla="*/ 149 h 306"/>
                  <a:gd name="T10" fmla="*/ 119 w 209"/>
                  <a:gd name="T11" fmla="*/ 129 h 306"/>
                  <a:gd name="T12" fmla="*/ 128 w 209"/>
                  <a:gd name="T13" fmla="*/ 125 h 306"/>
                  <a:gd name="T14" fmla="*/ 143 w 209"/>
                  <a:gd name="T15" fmla="*/ 135 h 306"/>
                  <a:gd name="T16" fmla="*/ 162 w 209"/>
                  <a:gd name="T17" fmla="*/ 147 h 306"/>
                  <a:gd name="T18" fmla="*/ 171 w 209"/>
                  <a:gd name="T19" fmla="*/ 147 h 306"/>
                  <a:gd name="T20" fmla="*/ 173 w 209"/>
                  <a:gd name="T21" fmla="*/ 141 h 306"/>
                  <a:gd name="T22" fmla="*/ 164 w 209"/>
                  <a:gd name="T23" fmla="*/ 129 h 306"/>
                  <a:gd name="T24" fmla="*/ 141 w 209"/>
                  <a:gd name="T25" fmla="*/ 113 h 306"/>
                  <a:gd name="T26" fmla="*/ 132 w 209"/>
                  <a:gd name="T27" fmla="*/ 91 h 306"/>
                  <a:gd name="T28" fmla="*/ 128 w 209"/>
                  <a:gd name="T29" fmla="*/ 72 h 306"/>
                  <a:gd name="T30" fmla="*/ 118 w 209"/>
                  <a:gd name="T31" fmla="*/ 59 h 306"/>
                  <a:gd name="T32" fmla="*/ 114 w 209"/>
                  <a:gd name="T33" fmla="*/ 50 h 306"/>
                  <a:gd name="T34" fmla="*/ 119 w 209"/>
                  <a:gd name="T35" fmla="*/ 38 h 306"/>
                  <a:gd name="T36" fmla="*/ 124 w 209"/>
                  <a:gd name="T37" fmla="*/ 25 h 306"/>
                  <a:gd name="T38" fmla="*/ 120 w 209"/>
                  <a:gd name="T39" fmla="*/ 9 h 306"/>
                  <a:gd name="T40" fmla="*/ 110 w 209"/>
                  <a:gd name="T41" fmla="*/ 1 h 306"/>
                  <a:gd name="T42" fmla="*/ 94 w 209"/>
                  <a:gd name="T43" fmla="*/ 3 h 306"/>
                  <a:gd name="T44" fmla="*/ 88 w 209"/>
                  <a:gd name="T45" fmla="*/ 13 h 306"/>
                  <a:gd name="T46" fmla="*/ 88 w 209"/>
                  <a:gd name="T47" fmla="*/ 24 h 306"/>
                  <a:gd name="T48" fmla="*/ 92 w 209"/>
                  <a:gd name="T49" fmla="*/ 37 h 306"/>
                  <a:gd name="T50" fmla="*/ 92 w 209"/>
                  <a:gd name="T51" fmla="*/ 49 h 306"/>
                  <a:gd name="T52" fmla="*/ 81 w 209"/>
                  <a:gd name="T53" fmla="*/ 59 h 306"/>
                  <a:gd name="T54" fmla="*/ 68 w 209"/>
                  <a:gd name="T55" fmla="*/ 67 h 306"/>
                  <a:gd name="T56" fmla="*/ 58 w 209"/>
                  <a:gd name="T57" fmla="*/ 79 h 306"/>
                  <a:gd name="T58" fmla="*/ 48 w 209"/>
                  <a:gd name="T59" fmla="*/ 104 h 306"/>
                  <a:gd name="T60" fmla="*/ 43 w 209"/>
                  <a:gd name="T61" fmla="*/ 128 h 306"/>
                  <a:gd name="T62" fmla="*/ 42 w 209"/>
                  <a:gd name="T63" fmla="*/ 153 h 306"/>
                  <a:gd name="T64" fmla="*/ 43 w 209"/>
                  <a:gd name="T65" fmla="*/ 166 h 306"/>
                  <a:gd name="T66" fmla="*/ 51 w 209"/>
                  <a:gd name="T67" fmla="*/ 170 h 306"/>
                  <a:gd name="T68" fmla="*/ 55 w 209"/>
                  <a:gd name="T69" fmla="*/ 166 h 306"/>
                  <a:gd name="T70" fmla="*/ 55 w 209"/>
                  <a:gd name="T71" fmla="*/ 139 h 306"/>
                  <a:gd name="T72" fmla="*/ 58 w 209"/>
                  <a:gd name="T73" fmla="*/ 122 h 306"/>
                  <a:gd name="T74" fmla="*/ 67 w 209"/>
                  <a:gd name="T75" fmla="*/ 114 h 306"/>
                  <a:gd name="T76" fmla="*/ 73 w 209"/>
                  <a:gd name="T77" fmla="*/ 120 h 306"/>
                  <a:gd name="T78" fmla="*/ 71 w 209"/>
                  <a:gd name="T79" fmla="*/ 147 h 306"/>
                  <a:gd name="T80" fmla="*/ 64 w 209"/>
                  <a:gd name="T81" fmla="*/ 175 h 306"/>
                  <a:gd name="T82" fmla="*/ 55 w 209"/>
                  <a:gd name="T83" fmla="*/ 206 h 306"/>
                  <a:gd name="T84" fmla="*/ 34 w 209"/>
                  <a:gd name="T85" fmla="*/ 237 h 306"/>
                  <a:gd name="T86" fmla="*/ 8 w 209"/>
                  <a:gd name="T87" fmla="*/ 268 h 306"/>
                  <a:gd name="T88" fmla="*/ 0 w 209"/>
                  <a:gd name="T89" fmla="*/ 285 h 306"/>
                  <a:gd name="T90" fmla="*/ 20 w 209"/>
                  <a:gd name="T91" fmla="*/ 305 h 306"/>
                  <a:gd name="T92" fmla="*/ 34 w 209"/>
                  <a:gd name="T93" fmla="*/ 302 h 306"/>
                  <a:gd name="T94" fmla="*/ 24 w 209"/>
                  <a:gd name="T95" fmla="*/ 289 h 306"/>
                  <a:gd name="T96" fmla="*/ 31 w 209"/>
                  <a:gd name="T97" fmla="*/ 272 h 306"/>
                  <a:gd name="T98" fmla="*/ 64 w 209"/>
                  <a:gd name="T99" fmla="*/ 234 h 306"/>
                  <a:gd name="T100" fmla="*/ 88 w 209"/>
                  <a:gd name="T101" fmla="*/ 206 h 306"/>
                  <a:gd name="T102" fmla="*/ 99 w 209"/>
                  <a:gd name="T103" fmla="*/ 200 h 306"/>
                  <a:gd name="T104" fmla="*/ 114 w 209"/>
                  <a:gd name="T105" fmla="*/ 209 h 306"/>
                  <a:gd name="T106" fmla="*/ 148 w 209"/>
                  <a:gd name="T107" fmla="*/ 255 h 306"/>
                  <a:gd name="T108" fmla="*/ 175 w 209"/>
                  <a:gd name="T109" fmla="*/ 294 h 306"/>
                  <a:gd name="T110" fmla="*/ 186 w 209"/>
                  <a:gd name="T111" fmla="*/ 297 h 306"/>
                  <a:gd name="T112" fmla="*/ 200 w 209"/>
                  <a:gd name="T113" fmla="*/ 287 h 30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209"/>
                  <a:gd name="T172" fmla="*/ 0 h 306"/>
                  <a:gd name="T173" fmla="*/ 209 w 209"/>
                  <a:gd name="T174" fmla="*/ 306 h 30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209" h="306">
                    <a:moveTo>
                      <a:pt x="207" y="281"/>
                    </a:moveTo>
                    <a:lnTo>
                      <a:pt x="208" y="276"/>
                    </a:lnTo>
                    <a:lnTo>
                      <a:pt x="200" y="277"/>
                    </a:lnTo>
                    <a:lnTo>
                      <a:pt x="192" y="276"/>
                    </a:lnTo>
                    <a:lnTo>
                      <a:pt x="182" y="268"/>
                    </a:lnTo>
                    <a:lnTo>
                      <a:pt x="165" y="241"/>
                    </a:lnTo>
                    <a:lnTo>
                      <a:pt x="140" y="200"/>
                    </a:lnTo>
                    <a:lnTo>
                      <a:pt x="127" y="177"/>
                    </a:lnTo>
                    <a:lnTo>
                      <a:pt x="118" y="159"/>
                    </a:lnTo>
                    <a:lnTo>
                      <a:pt x="116" y="149"/>
                    </a:lnTo>
                    <a:lnTo>
                      <a:pt x="116" y="137"/>
                    </a:lnTo>
                    <a:lnTo>
                      <a:pt x="119" y="129"/>
                    </a:lnTo>
                    <a:lnTo>
                      <a:pt x="124" y="125"/>
                    </a:lnTo>
                    <a:lnTo>
                      <a:pt x="128" y="125"/>
                    </a:lnTo>
                    <a:lnTo>
                      <a:pt x="133" y="128"/>
                    </a:lnTo>
                    <a:lnTo>
                      <a:pt x="143" y="135"/>
                    </a:lnTo>
                    <a:lnTo>
                      <a:pt x="154" y="143"/>
                    </a:lnTo>
                    <a:lnTo>
                      <a:pt x="162" y="147"/>
                    </a:lnTo>
                    <a:lnTo>
                      <a:pt x="167" y="149"/>
                    </a:lnTo>
                    <a:lnTo>
                      <a:pt x="171" y="147"/>
                    </a:lnTo>
                    <a:lnTo>
                      <a:pt x="174" y="143"/>
                    </a:lnTo>
                    <a:lnTo>
                      <a:pt x="173" y="141"/>
                    </a:lnTo>
                    <a:lnTo>
                      <a:pt x="171" y="137"/>
                    </a:lnTo>
                    <a:lnTo>
                      <a:pt x="164" y="129"/>
                    </a:lnTo>
                    <a:lnTo>
                      <a:pt x="149" y="120"/>
                    </a:lnTo>
                    <a:lnTo>
                      <a:pt x="141" y="113"/>
                    </a:lnTo>
                    <a:lnTo>
                      <a:pt x="136" y="104"/>
                    </a:lnTo>
                    <a:lnTo>
                      <a:pt x="132" y="91"/>
                    </a:lnTo>
                    <a:lnTo>
                      <a:pt x="131" y="78"/>
                    </a:lnTo>
                    <a:lnTo>
                      <a:pt x="128" y="72"/>
                    </a:lnTo>
                    <a:lnTo>
                      <a:pt x="124" y="66"/>
                    </a:lnTo>
                    <a:lnTo>
                      <a:pt x="118" y="59"/>
                    </a:lnTo>
                    <a:lnTo>
                      <a:pt x="114" y="55"/>
                    </a:lnTo>
                    <a:lnTo>
                      <a:pt x="114" y="50"/>
                    </a:lnTo>
                    <a:lnTo>
                      <a:pt x="116" y="42"/>
                    </a:lnTo>
                    <a:lnTo>
                      <a:pt x="119" y="38"/>
                    </a:lnTo>
                    <a:lnTo>
                      <a:pt x="122" y="33"/>
                    </a:lnTo>
                    <a:lnTo>
                      <a:pt x="124" y="25"/>
                    </a:lnTo>
                    <a:lnTo>
                      <a:pt x="122" y="16"/>
                    </a:lnTo>
                    <a:lnTo>
                      <a:pt x="120" y="9"/>
                    </a:lnTo>
                    <a:lnTo>
                      <a:pt x="116" y="4"/>
                    </a:lnTo>
                    <a:lnTo>
                      <a:pt x="110" y="1"/>
                    </a:lnTo>
                    <a:lnTo>
                      <a:pt x="101" y="0"/>
                    </a:lnTo>
                    <a:lnTo>
                      <a:pt x="94" y="3"/>
                    </a:lnTo>
                    <a:lnTo>
                      <a:pt x="90" y="7"/>
                    </a:lnTo>
                    <a:lnTo>
                      <a:pt x="88" y="13"/>
                    </a:lnTo>
                    <a:lnTo>
                      <a:pt x="86" y="18"/>
                    </a:lnTo>
                    <a:lnTo>
                      <a:pt x="88" y="24"/>
                    </a:lnTo>
                    <a:lnTo>
                      <a:pt x="90" y="32"/>
                    </a:lnTo>
                    <a:lnTo>
                      <a:pt x="92" y="37"/>
                    </a:lnTo>
                    <a:lnTo>
                      <a:pt x="93" y="42"/>
                    </a:lnTo>
                    <a:lnTo>
                      <a:pt x="92" y="49"/>
                    </a:lnTo>
                    <a:lnTo>
                      <a:pt x="88" y="54"/>
                    </a:lnTo>
                    <a:lnTo>
                      <a:pt x="81" y="59"/>
                    </a:lnTo>
                    <a:lnTo>
                      <a:pt x="73" y="63"/>
                    </a:lnTo>
                    <a:lnTo>
                      <a:pt x="68" y="67"/>
                    </a:lnTo>
                    <a:lnTo>
                      <a:pt x="63" y="72"/>
                    </a:lnTo>
                    <a:lnTo>
                      <a:pt x="58" y="79"/>
                    </a:lnTo>
                    <a:lnTo>
                      <a:pt x="52" y="91"/>
                    </a:lnTo>
                    <a:lnTo>
                      <a:pt x="48" y="104"/>
                    </a:lnTo>
                    <a:lnTo>
                      <a:pt x="44" y="114"/>
                    </a:lnTo>
                    <a:lnTo>
                      <a:pt x="43" y="128"/>
                    </a:lnTo>
                    <a:lnTo>
                      <a:pt x="42" y="143"/>
                    </a:lnTo>
                    <a:lnTo>
                      <a:pt x="42" y="153"/>
                    </a:lnTo>
                    <a:lnTo>
                      <a:pt x="42" y="160"/>
                    </a:lnTo>
                    <a:lnTo>
                      <a:pt x="43" y="166"/>
                    </a:lnTo>
                    <a:lnTo>
                      <a:pt x="46" y="168"/>
                    </a:lnTo>
                    <a:lnTo>
                      <a:pt x="51" y="170"/>
                    </a:lnTo>
                    <a:lnTo>
                      <a:pt x="54" y="168"/>
                    </a:lnTo>
                    <a:lnTo>
                      <a:pt x="55" y="166"/>
                    </a:lnTo>
                    <a:lnTo>
                      <a:pt x="55" y="155"/>
                    </a:lnTo>
                    <a:lnTo>
                      <a:pt x="55" y="139"/>
                    </a:lnTo>
                    <a:lnTo>
                      <a:pt x="56" y="129"/>
                    </a:lnTo>
                    <a:lnTo>
                      <a:pt x="58" y="122"/>
                    </a:lnTo>
                    <a:lnTo>
                      <a:pt x="61" y="116"/>
                    </a:lnTo>
                    <a:lnTo>
                      <a:pt x="67" y="114"/>
                    </a:lnTo>
                    <a:lnTo>
                      <a:pt x="72" y="116"/>
                    </a:lnTo>
                    <a:lnTo>
                      <a:pt x="73" y="120"/>
                    </a:lnTo>
                    <a:lnTo>
                      <a:pt x="72" y="131"/>
                    </a:lnTo>
                    <a:lnTo>
                      <a:pt x="71" y="147"/>
                    </a:lnTo>
                    <a:lnTo>
                      <a:pt x="68" y="162"/>
                    </a:lnTo>
                    <a:lnTo>
                      <a:pt x="64" y="175"/>
                    </a:lnTo>
                    <a:lnTo>
                      <a:pt x="60" y="192"/>
                    </a:lnTo>
                    <a:lnTo>
                      <a:pt x="55" y="206"/>
                    </a:lnTo>
                    <a:lnTo>
                      <a:pt x="43" y="225"/>
                    </a:lnTo>
                    <a:lnTo>
                      <a:pt x="34" y="237"/>
                    </a:lnTo>
                    <a:lnTo>
                      <a:pt x="18" y="255"/>
                    </a:lnTo>
                    <a:lnTo>
                      <a:pt x="8" y="268"/>
                    </a:lnTo>
                    <a:lnTo>
                      <a:pt x="0" y="280"/>
                    </a:lnTo>
                    <a:lnTo>
                      <a:pt x="0" y="285"/>
                    </a:lnTo>
                    <a:lnTo>
                      <a:pt x="8" y="294"/>
                    </a:lnTo>
                    <a:lnTo>
                      <a:pt x="20" y="305"/>
                    </a:lnTo>
                    <a:lnTo>
                      <a:pt x="31" y="305"/>
                    </a:lnTo>
                    <a:lnTo>
                      <a:pt x="34" y="302"/>
                    </a:lnTo>
                    <a:lnTo>
                      <a:pt x="29" y="296"/>
                    </a:lnTo>
                    <a:lnTo>
                      <a:pt x="24" y="289"/>
                    </a:lnTo>
                    <a:lnTo>
                      <a:pt x="24" y="284"/>
                    </a:lnTo>
                    <a:lnTo>
                      <a:pt x="31" y="272"/>
                    </a:lnTo>
                    <a:lnTo>
                      <a:pt x="44" y="259"/>
                    </a:lnTo>
                    <a:lnTo>
                      <a:pt x="64" y="234"/>
                    </a:lnTo>
                    <a:lnTo>
                      <a:pt x="81" y="213"/>
                    </a:lnTo>
                    <a:lnTo>
                      <a:pt x="88" y="206"/>
                    </a:lnTo>
                    <a:lnTo>
                      <a:pt x="92" y="201"/>
                    </a:lnTo>
                    <a:lnTo>
                      <a:pt x="99" y="200"/>
                    </a:lnTo>
                    <a:lnTo>
                      <a:pt x="106" y="204"/>
                    </a:lnTo>
                    <a:lnTo>
                      <a:pt x="114" y="209"/>
                    </a:lnTo>
                    <a:lnTo>
                      <a:pt x="130" y="230"/>
                    </a:lnTo>
                    <a:lnTo>
                      <a:pt x="148" y="255"/>
                    </a:lnTo>
                    <a:lnTo>
                      <a:pt x="165" y="280"/>
                    </a:lnTo>
                    <a:lnTo>
                      <a:pt x="175" y="294"/>
                    </a:lnTo>
                    <a:lnTo>
                      <a:pt x="179" y="297"/>
                    </a:lnTo>
                    <a:lnTo>
                      <a:pt x="186" y="297"/>
                    </a:lnTo>
                    <a:lnTo>
                      <a:pt x="192" y="292"/>
                    </a:lnTo>
                    <a:lnTo>
                      <a:pt x="200" y="287"/>
                    </a:lnTo>
                    <a:lnTo>
                      <a:pt x="207" y="281"/>
                    </a:lnTo>
                  </a:path>
                </a:pathLst>
              </a:custGeom>
              <a:solidFill>
                <a:srgbClr val="CECECE"/>
              </a:solidFill>
              <a:ln w="2540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9" name="Group 149">
                <a:extLst>
                  <a:ext uri="{FF2B5EF4-FFF2-40B4-BE49-F238E27FC236}">
                    <a16:creationId xmlns:a16="http://schemas.microsoft.com/office/drawing/2014/main" id="{D7AFE22F-A4E8-44D0-AFDC-05559508313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71" y="1474"/>
                <a:ext cx="256" cy="308"/>
                <a:chOff x="1041" y="1492"/>
                <a:chExt cx="256" cy="308"/>
              </a:xfrm>
            </p:grpSpPr>
            <p:grpSp>
              <p:nvGrpSpPr>
                <p:cNvPr id="90" name="Group 150">
                  <a:extLst>
                    <a:ext uri="{FF2B5EF4-FFF2-40B4-BE49-F238E27FC236}">
                      <a16:creationId xmlns:a16="http://schemas.microsoft.com/office/drawing/2014/main" id="{12EA909E-ADB8-4652-95A4-3C844EC533B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41" y="1492"/>
                  <a:ext cx="256" cy="308"/>
                  <a:chOff x="1041" y="1492"/>
                  <a:chExt cx="256" cy="308"/>
                </a:xfrm>
              </p:grpSpPr>
              <p:sp>
                <p:nvSpPr>
                  <p:cNvPr id="93" name="AutoShape 151">
                    <a:extLst>
                      <a:ext uri="{FF2B5EF4-FFF2-40B4-BE49-F238E27FC236}">
                        <a16:creationId xmlns:a16="http://schemas.microsoft.com/office/drawing/2014/main" id="{69A80F60-8C59-4E1D-8DA2-76466A10B68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41" y="1544"/>
                    <a:ext cx="256" cy="256"/>
                  </a:xfrm>
                  <a:prstGeom prst="cube">
                    <a:avLst>
                      <a:gd name="adj" fmla="val 24995"/>
                    </a:avLst>
                  </a:prstGeom>
                  <a:solidFill>
                    <a:schemeClr val="bg1"/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94" name="AutoShape 152">
                    <a:extLst>
                      <a:ext uri="{FF2B5EF4-FFF2-40B4-BE49-F238E27FC236}">
                        <a16:creationId xmlns:a16="http://schemas.microsoft.com/office/drawing/2014/main" id="{B43E6387-7287-46F4-ACCE-0B9985805BD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101" y="1492"/>
                    <a:ext cx="196" cy="46"/>
                  </a:xfrm>
                  <a:prstGeom prst="cube">
                    <a:avLst>
                      <a:gd name="adj" fmla="val 24995"/>
                    </a:avLst>
                  </a:prstGeom>
                  <a:solidFill>
                    <a:schemeClr val="bg1"/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91" name="Oval 153">
                  <a:extLst>
                    <a:ext uri="{FF2B5EF4-FFF2-40B4-BE49-F238E27FC236}">
                      <a16:creationId xmlns:a16="http://schemas.microsoft.com/office/drawing/2014/main" id="{858B89B6-DBD8-4110-AEFB-7248CB5E764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12" y="1520"/>
                  <a:ext cx="27" cy="28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2" name="AutoShape 154">
                  <a:extLst>
                    <a:ext uri="{FF2B5EF4-FFF2-40B4-BE49-F238E27FC236}">
                      <a16:creationId xmlns:a16="http://schemas.microsoft.com/office/drawing/2014/main" id="{9F83BC40-48FF-4466-87D4-7C9424EBEF0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66" y="1674"/>
                  <a:ext cx="137" cy="55"/>
                </a:xfrm>
                <a:prstGeom prst="octagon">
                  <a:avLst>
                    <a:gd name="adj" fmla="val 29282"/>
                  </a:avLst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48" name="Line 155">
              <a:extLst>
                <a:ext uri="{FF2B5EF4-FFF2-40B4-BE49-F238E27FC236}">
                  <a16:creationId xmlns:a16="http://schemas.microsoft.com/office/drawing/2014/main" id="{C776F24E-6EA2-4121-B522-0BE8303FAD1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33" y="1028"/>
              <a:ext cx="3" cy="1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Line 156">
              <a:extLst>
                <a:ext uri="{FF2B5EF4-FFF2-40B4-BE49-F238E27FC236}">
                  <a16:creationId xmlns:a16="http://schemas.microsoft.com/office/drawing/2014/main" id="{665B3D23-125D-46BE-8D87-AC977F4B1C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18" y="1028"/>
              <a:ext cx="3" cy="1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Line 157">
              <a:extLst>
                <a:ext uri="{FF2B5EF4-FFF2-40B4-BE49-F238E27FC236}">
                  <a16:creationId xmlns:a16="http://schemas.microsoft.com/office/drawing/2014/main" id="{114D722B-0E35-4517-B106-2340B81884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02" y="1028"/>
              <a:ext cx="3" cy="1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Line 158">
              <a:extLst>
                <a:ext uri="{FF2B5EF4-FFF2-40B4-BE49-F238E27FC236}">
                  <a16:creationId xmlns:a16="http://schemas.microsoft.com/office/drawing/2014/main" id="{1502FF82-0841-48FA-820C-4CE2497880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35" y="1108"/>
              <a:ext cx="27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Line 159">
              <a:extLst>
                <a:ext uri="{FF2B5EF4-FFF2-40B4-BE49-F238E27FC236}">
                  <a16:creationId xmlns:a16="http://schemas.microsoft.com/office/drawing/2014/main" id="{59C82FA1-CB1B-437D-A119-3C92AE7596C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18" y="1028"/>
              <a:ext cx="3" cy="1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Line 160">
              <a:extLst>
                <a:ext uri="{FF2B5EF4-FFF2-40B4-BE49-F238E27FC236}">
                  <a16:creationId xmlns:a16="http://schemas.microsoft.com/office/drawing/2014/main" id="{F36A89F0-9B72-45C1-BE28-32845707E94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02" y="1028"/>
              <a:ext cx="3" cy="1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Rectangle 161">
              <a:extLst>
                <a:ext uri="{FF2B5EF4-FFF2-40B4-BE49-F238E27FC236}">
                  <a16:creationId xmlns:a16="http://schemas.microsoft.com/office/drawing/2014/main" id="{B5933D64-DC08-4974-9E35-DDD014A27F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8" y="1146"/>
              <a:ext cx="292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/>
              <a:r>
                <a:rPr lang="en-US" sz="2000" b="1">
                  <a:latin typeface="FranklinGothic" charset="0"/>
                </a:rPr>
                <a:t>30</a:t>
              </a:r>
            </a:p>
          </p:txBody>
        </p:sp>
        <p:sp>
          <p:nvSpPr>
            <p:cNvPr id="55" name="Line 162">
              <a:extLst>
                <a:ext uri="{FF2B5EF4-FFF2-40B4-BE49-F238E27FC236}">
                  <a16:creationId xmlns:a16="http://schemas.microsoft.com/office/drawing/2014/main" id="{E63F1DD7-D32C-4EE3-A0FF-EB7D0672C8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85" y="1028"/>
              <a:ext cx="3" cy="1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Line 163">
              <a:extLst>
                <a:ext uri="{FF2B5EF4-FFF2-40B4-BE49-F238E27FC236}">
                  <a16:creationId xmlns:a16="http://schemas.microsoft.com/office/drawing/2014/main" id="{7F2F318C-5375-4C59-8CB9-B620DB073C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8" y="1108"/>
              <a:ext cx="28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Line 164">
              <a:extLst>
                <a:ext uri="{FF2B5EF4-FFF2-40B4-BE49-F238E27FC236}">
                  <a16:creationId xmlns:a16="http://schemas.microsoft.com/office/drawing/2014/main" id="{CF09D899-8124-40FB-9A60-E01AF91C7D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02" y="1028"/>
              <a:ext cx="3" cy="1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Line 165">
              <a:extLst>
                <a:ext uri="{FF2B5EF4-FFF2-40B4-BE49-F238E27FC236}">
                  <a16:creationId xmlns:a16="http://schemas.microsoft.com/office/drawing/2014/main" id="{0542CA6C-05D5-41C9-A5AD-9FE4667D7C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85" y="1028"/>
              <a:ext cx="3" cy="1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Line 166">
              <a:extLst>
                <a:ext uri="{FF2B5EF4-FFF2-40B4-BE49-F238E27FC236}">
                  <a16:creationId xmlns:a16="http://schemas.microsoft.com/office/drawing/2014/main" id="{5FB0E7B4-6F96-47F0-8F2B-5449CEDF3B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2" y="1108"/>
              <a:ext cx="27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Line 167">
              <a:extLst>
                <a:ext uri="{FF2B5EF4-FFF2-40B4-BE49-F238E27FC236}">
                  <a16:creationId xmlns:a16="http://schemas.microsoft.com/office/drawing/2014/main" id="{F52D7FD6-7E1F-416D-BC26-84E1E2D135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39" y="1063"/>
              <a:ext cx="268" cy="0"/>
            </a:xfrm>
            <a:prstGeom prst="line">
              <a:avLst/>
            </a:prstGeom>
            <a:noFill/>
            <a:ln w="25400">
              <a:solidFill>
                <a:srgbClr val="DC008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Line 168">
              <a:extLst>
                <a:ext uri="{FF2B5EF4-FFF2-40B4-BE49-F238E27FC236}">
                  <a16:creationId xmlns:a16="http://schemas.microsoft.com/office/drawing/2014/main" id="{673E02A4-3A8B-402B-BE91-CC928CD2A6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4" y="1063"/>
              <a:ext cx="268" cy="0"/>
            </a:xfrm>
            <a:prstGeom prst="line">
              <a:avLst/>
            </a:prstGeom>
            <a:noFill/>
            <a:ln w="25400">
              <a:solidFill>
                <a:srgbClr val="DC008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Line 169">
              <a:extLst>
                <a:ext uri="{FF2B5EF4-FFF2-40B4-BE49-F238E27FC236}">
                  <a16:creationId xmlns:a16="http://schemas.microsoft.com/office/drawing/2014/main" id="{7A32ACEB-2EEE-4B39-8B4E-A3958C4CD9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0" y="1063"/>
              <a:ext cx="270" cy="0"/>
            </a:xfrm>
            <a:prstGeom prst="line">
              <a:avLst/>
            </a:prstGeom>
            <a:noFill/>
            <a:ln w="25400">
              <a:solidFill>
                <a:srgbClr val="DC008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Rectangle 170">
              <a:extLst>
                <a:ext uri="{FF2B5EF4-FFF2-40B4-BE49-F238E27FC236}">
                  <a16:creationId xmlns:a16="http://schemas.microsoft.com/office/drawing/2014/main" id="{51F3B23A-5EDE-4AE6-84AE-B3245BF4A4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4" y="1146"/>
              <a:ext cx="292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/>
              <a:r>
                <a:rPr lang="en-US" sz="2000" b="1">
                  <a:latin typeface="FranklinGothic" charset="0"/>
                </a:rPr>
                <a:t>30</a:t>
              </a:r>
            </a:p>
          </p:txBody>
        </p:sp>
        <p:sp>
          <p:nvSpPr>
            <p:cNvPr id="64" name="Rectangle 171">
              <a:extLst>
                <a:ext uri="{FF2B5EF4-FFF2-40B4-BE49-F238E27FC236}">
                  <a16:creationId xmlns:a16="http://schemas.microsoft.com/office/drawing/2014/main" id="{2AE94D03-BEA8-404C-A7D4-AA16891DFE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0" y="1146"/>
              <a:ext cx="292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/>
              <a:r>
                <a:rPr lang="en-US" sz="2000" b="1">
                  <a:latin typeface="FranklinGothic" charset="0"/>
                </a:rPr>
                <a:t>30</a:t>
              </a:r>
            </a:p>
          </p:txBody>
        </p:sp>
        <p:sp>
          <p:nvSpPr>
            <p:cNvPr id="65" name="Line 172">
              <a:extLst>
                <a:ext uri="{FF2B5EF4-FFF2-40B4-BE49-F238E27FC236}">
                  <a16:creationId xmlns:a16="http://schemas.microsoft.com/office/drawing/2014/main" id="{7DA07E46-1FCC-4C07-8601-7FB70B0005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0" y="1108"/>
              <a:ext cx="27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Rectangle 173">
              <a:extLst>
                <a:ext uri="{FF2B5EF4-FFF2-40B4-BE49-F238E27FC236}">
                  <a16:creationId xmlns:a16="http://schemas.microsoft.com/office/drawing/2014/main" id="{E8C6331A-E342-4920-BBD4-197B504403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5" y="1146"/>
              <a:ext cx="292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/>
              <a:r>
                <a:rPr lang="en-US" sz="2000" b="1">
                  <a:latin typeface="FranklinGothic" charset="0"/>
                </a:rPr>
                <a:t>30</a:t>
              </a:r>
            </a:p>
          </p:txBody>
        </p:sp>
        <p:sp>
          <p:nvSpPr>
            <p:cNvPr id="67" name="Rectangle 174">
              <a:extLst>
                <a:ext uri="{FF2B5EF4-FFF2-40B4-BE49-F238E27FC236}">
                  <a16:creationId xmlns:a16="http://schemas.microsoft.com/office/drawing/2014/main" id="{A67AC775-ECEC-4B37-B917-753B15CA73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5" y="1146"/>
              <a:ext cx="292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/>
              <a:r>
                <a:rPr lang="en-US" sz="2000" b="1">
                  <a:latin typeface="FranklinGothic" charset="0"/>
                </a:rPr>
                <a:t>30</a:t>
              </a:r>
            </a:p>
          </p:txBody>
        </p:sp>
        <p:sp>
          <p:nvSpPr>
            <p:cNvPr id="68" name="Line 175">
              <a:extLst>
                <a:ext uri="{FF2B5EF4-FFF2-40B4-BE49-F238E27FC236}">
                  <a16:creationId xmlns:a16="http://schemas.microsoft.com/office/drawing/2014/main" id="{4ECF57A2-3966-48AB-B424-90B7E631A0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2" y="1158"/>
              <a:ext cx="264" cy="0"/>
            </a:xfrm>
            <a:prstGeom prst="line">
              <a:avLst/>
            </a:prstGeom>
            <a:noFill/>
            <a:ln w="25400">
              <a:solidFill>
                <a:srgbClr val="F39FD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Line 176">
              <a:extLst>
                <a:ext uri="{FF2B5EF4-FFF2-40B4-BE49-F238E27FC236}">
                  <a16:creationId xmlns:a16="http://schemas.microsoft.com/office/drawing/2014/main" id="{886DD30D-C33F-4A56-BBE8-4790DB8ACB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4" y="1202"/>
              <a:ext cx="266" cy="1"/>
            </a:xfrm>
            <a:prstGeom prst="line">
              <a:avLst/>
            </a:prstGeom>
            <a:noFill/>
            <a:ln w="25400">
              <a:solidFill>
                <a:srgbClr val="91919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Line 177">
              <a:extLst>
                <a:ext uri="{FF2B5EF4-FFF2-40B4-BE49-F238E27FC236}">
                  <a16:creationId xmlns:a16="http://schemas.microsoft.com/office/drawing/2014/main" id="{7BD9492E-0CA0-4965-9E41-5BB96F5466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4" y="1159"/>
              <a:ext cx="266" cy="0"/>
            </a:xfrm>
            <a:prstGeom prst="line">
              <a:avLst/>
            </a:prstGeom>
            <a:noFill/>
            <a:ln w="25400">
              <a:solidFill>
                <a:srgbClr val="F39FD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Line 178">
              <a:extLst>
                <a:ext uri="{FF2B5EF4-FFF2-40B4-BE49-F238E27FC236}">
                  <a16:creationId xmlns:a16="http://schemas.microsoft.com/office/drawing/2014/main" id="{1BE0F817-9523-4785-BC6F-C19C1972AE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9" y="1158"/>
              <a:ext cx="266" cy="0"/>
            </a:xfrm>
            <a:prstGeom prst="line">
              <a:avLst/>
            </a:prstGeom>
            <a:noFill/>
            <a:ln w="25400">
              <a:solidFill>
                <a:srgbClr val="F39FD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Line 179">
              <a:extLst>
                <a:ext uri="{FF2B5EF4-FFF2-40B4-BE49-F238E27FC236}">
                  <a16:creationId xmlns:a16="http://schemas.microsoft.com/office/drawing/2014/main" id="{C180FA3C-7E70-4013-8142-6902D5B139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8" y="1202"/>
              <a:ext cx="267" cy="1"/>
            </a:xfrm>
            <a:prstGeom prst="line">
              <a:avLst/>
            </a:prstGeom>
            <a:noFill/>
            <a:ln w="25400">
              <a:solidFill>
                <a:srgbClr val="91919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Line 180">
              <a:extLst>
                <a:ext uri="{FF2B5EF4-FFF2-40B4-BE49-F238E27FC236}">
                  <a16:creationId xmlns:a16="http://schemas.microsoft.com/office/drawing/2014/main" id="{9647C902-8CAB-42D7-94C4-28143B4D23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94" y="1158"/>
              <a:ext cx="265" cy="0"/>
            </a:xfrm>
            <a:prstGeom prst="line">
              <a:avLst/>
            </a:prstGeom>
            <a:noFill/>
            <a:ln w="25400">
              <a:solidFill>
                <a:srgbClr val="F39FD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Line 181">
              <a:extLst>
                <a:ext uri="{FF2B5EF4-FFF2-40B4-BE49-F238E27FC236}">
                  <a16:creationId xmlns:a16="http://schemas.microsoft.com/office/drawing/2014/main" id="{1EB06F55-10E0-4FDA-BAD3-E61E214259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92" y="1202"/>
              <a:ext cx="267" cy="1"/>
            </a:xfrm>
            <a:prstGeom prst="line">
              <a:avLst/>
            </a:prstGeom>
            <a:noFill/>
            <a:ln w="25400">
              <a:solidFill>
                <a:srgbClr val="91919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Line 182">
              <a:extLst>
                <a:ext uri="{FF2B5EF4-FFF2-40B4-BE49-F238E27FC236}">
                  <a16:creationId xmlns:a16="http://schemas.microsoft.com/office/drawing/2014/main" id="{D47B049C-1E1D-4E29-B55C-74A9E96295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77" y="1202"/>
              <a:ext cx="266" cy="1"/>
            </a:xfrm>
            <a:prstGeom prst="line">
              <a:avLst/>
            </a:prstGeom>
            <a:noFill/>
            <a:ln w="25400">
              <a:solidFill>
                <a:srgbClr val="91919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Line 183">
              <a:extLst>
                <a:ext uri="{FF2B5EF4-FFF2-40B4-BE49-F238E27FC236}">
                  <a16:creationId xmlns:a16="http://schemas.microsoft.com/office/drawing/2014/main" id="{682CFE6A-3EF3-40D3-A233-610E04DED7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5" y="1063"/>
              <a:ext cx="269" cy="0"/>
            </a:xfrm>
            <a:prstGeom prst="line">
              <a:avLst/>
            </a:prstGeom>
            <a:noFill/>
            <a:ln w="25400">
              <a:solidFill>
                <a:srgbClr val="DC008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Rectangle 184">
              <a:extLst>
                <a:ext uri="{FF2B5EF4-FFF2-40B4-BE49-F238E27FC236}">
                  <a16:creationId xmlns:a16="http://schemas.microsoft.com/office/drawing/2014/main" id="{DB9BABDA-C25C-4ABB-B5EE-83250A52F6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82" y="1152"/>
              <a:ext cx="292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/>
              <a:r>
                <a:rPr lang="en-US" sz="2000" b="1">
                  <a:latin typeface="FranklinGothic" charset="0"/>
                </a:rPr>
                <a:t>30</a:t>
              </a:r>
            </a:p>
          </p:txBody>
        </p:sp>
        <p:sp>
          <p:nvSpPr>
            <p:cNvPr id="78" name="Rectangle 185">
              <a:extLst>
                <a:ext uri="{FF2B5EF4-FFF2-40B4-BE49-F238E27FC236}">
                  <a16:creationId xmlns:a16="http://schemas.microsoft.com/office/drawing/2014/main" id="{5AF391CF-567E-4FFE-8F88-5179C79B55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6" y="1152"/>
              <a:ext cx="292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/>
              <a:r>
                <a:rPr lang="en-US" sz="2000" b="1">
                  <a:latin typeface="FranklinGothic" charset="0"/>
                </a:rPr>
                <a:t>30</a:t>
              </a:r>
            </a:p>
          </p:txBody>
        </p:sp>
        <p:sp>
          <p:nvSpPr>
            <p:cNvPr id="79" name="Line 186">
              <a:extLst>
                <a:ext uri="{FF2B5EF4-FFF2-40B4-BE49-F238E27FC236}">
                  <a16:creationId xmlns:a16="http://schemas.microsoft.com/office/drawing/2014/main" id="{1FD0E560-5209-47EC-9531-EBAE6397DE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85" y="1028"/>
              <a:ext cx="3" cy="1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Line 187">
              <a:extLst>
                <a:ext uri="{FF2B5EF4-FFF2-40B4-BE49-F238E27FC236}">
                  <a16:creationId xmlns:a16="http://schemas.microsoft.com/office/drawing/2014/main" id="{6497575A-7DDA-4ADB-A8B9-EE35853C29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0" y="1028"/>
              <a:ext cx="0" cy="19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Line 188">
              <a:extLst>
                <a:ext uri="{FF2B5EF4-FFF2-40B4-BE49-F238E27FC236}">
                  <a16:creationId xmlns:a16="http://schemas.microsoft.com/office/drawing/2014/main" id="{0A3C6397-972C-44DC-AC47-664059AE37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35" y="1028"/>
              <a:ext cx="0" cy="19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Line 189">
              <a:extLst>
                <a:ext uri="{FF2B5EF4-FFF2-40B4-BE49-F238E27FC236}">
                  <a16:creationId xmlns:a16="http://schemas.microsoft.com/office/drawing/2014/main" id="{B09976EA-046C-4176-A567-299442C395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9" y="1028"/>
              <a:ext cx="0" cy="19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Line 190">
              <a:extLst>
                <a:ext uri="{FF2B5EF4-FFF2-40B4-BE49-F238E27FC236}">
                  <a16:creationId xmlns:a16="http://schemas.microsoft.com/office/drawing/2014/main" id="{5D9834AA-9D79-40B7-8AF5-66BC95CCC6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3" y="1028"/>
              <a:ext cx="0" cy="19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Line 191">
              <a:extLst>
                <a:ext uri="{FF2B5EF4-FFF2-40B4-BE49-F238E27FC236}">
                  <a16:creationId xmlns:a16="http://schemas.microsoft.com/office/drawing/2014/main" id="{69F82779-0233-418E-8BC1-B50D57E8657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69" y="1028"/>
              <a:ext cx="3" cy="1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Line 192">
              <a:extLst>
                <a:ext uri="{FF2B5EF4-FFF2-40B4-BE49-F238E27FC236}">
                  <a16:creationId xmlns:a16="http://schemas.microsoft.com/office/drawing/2014/main" id="{B2C488BF-AF26-43E6-AC0D-CDCDEC4B6C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54" y="1028"/>
              <a:ext cx="3" cy="1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97564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563312" cy="644577"/>
          </a:xfrm>
        </p:spPr>
        <p:txBody>
          <a:bodyPr>
            <a:normAutofit fontScale="90000"/>
          </a:bodyPr>
          <a:lstStyle/>
          <a:p>
            <a:pPr marL="1976438" indent="-1976438"/>
            <a:r>
              <a:rPr lang="en-GB" sz="3600" dirty="0">
                <a:solidFill>
                  <a:srgbClr val="0000FF"/>
                </a:solidFill>
              </a:rPr>
              <a:t>1. Introduction: What If: Slow Dryer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#20: Pipelining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8</a:t>
            </a:fld>
            <a:endParaRPr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71" name="Rectangle 3">
            <a:extLst>
              <a:ext uri="{FF2B5EF4-FFF2-40B4-BE49-F238E27FC236}">
                <a16:creationId xmlns:a16="http://schemas.microsoft.com/office/drawing/2014/main" id="{240B14AC-6A9C-4EBC-9ADC-4475DBC7FFA2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4922836"/>
            <a:ext cx="7924800" cy="1401763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5113" indent="-265113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rgbClr val="660066"/>
                </a:solidFill>
              </a:rPr>
              <a:t>Pipelined laundry now takes 5.5 hours!</a:t>
            </a:r>
          </a:p>
          <a:p>
            <a:pPr marL="265113" indent="-265113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Steady state: One load every 1 hour (dryer speed)</a:t>
            </a:r>
          </a:p>
          <a:p>
            <a:pPr marL="265113" indent="-265113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rgbClr val="C00000"/>
                </a:solidFill>
              </a:rPr>
              <a:t>Pipeline rate is limited by the slowest stage</a:t>
            </a:r>
          </a:p>
        </p:txBody>
      </p:sp>
      <p:grpSp>
        <p:nvGrpSpPr>
          <p:cNvPr id="72" name="Group 272">
            <a:extLst>
              <a:ext uri="{FF2B5EF4-FFF2-40B4-BE49-F238E27FC236}">
                <a16:creationId xmlns:a16="http://schemas.microsoft.com/office/drawing/2014/main" id="{4106FA68-1F91-4EA5-AA75-4065B5F1C49E}"/>
              </a:ext>
            </a:extLst>
          </p:cNvPr>
          <p:cNvGrpSpPr>
            <a:grpSpLocks/>
          </p:cNvGrpSpPr>
          <p:nvPr/>
        </p:nvGrpSpPr>
        <p:grpSpPr bwMode="auto">
          <a:xfrm>
            <a:off x="358438" y="1237078"/>
            <a:ext cx="8364458" cy="3617913"/>
            <a:chOff x="88" y="646"/>
            <a:chExt cx="5628" cy="2279"/>
          </a:xfrm>
        </p:grpSpPr>
        <p:sp>
          <p:nvSpPr>
            <p:cNvPr id="73" name="Rectangle 5">
              <a:extLst>
                <a:ext uri="{FF2B5EF4-FFF2-40B4-BE49-F238E27FC236}">
                  <a16:creationId xmlns:a16="http://schemas.microsoft.com/office/drawing/2014/main" id="{3E31D6E5-44C0-453B-BD3E-60A53B5FA4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" y="1104"/>
              <a:ext cx="212" cy="182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/>
              <a:r>
                <a:rPr lang="en-US" b="1" i="1" dirty="0">
                  <a:latin typeface="FranklinGothic" charset="0"/>
                </a:rPr>
                <a:t>T</a:t>
              </a:r>
            </a:p>
            <a:p>
              <a:pPr algn="ctr" eaLnBrk="0" hangingPunct="0"/>
              <a:r>
                <a:rPr lang="en-US" b="1" i="1" dirty="0">
                  <a:latin typeface="FranklinGothic" charset="0"/>
                </a:rPr>
                <a:t>a</a:t>
              </a:r>
            </a:p>
            <a:p>
              <a:pPr algn="ctr" eaLnBrk="0" hangingPunct="0"/>
              <a:r>
                <a:rPr lang="en-US" b="1" i="1" dirty="0">
                  <a:latin typeface="FranklinGothic" charset="0"/>
                </a:rPr>
                <a:t>s</a:t>
              </a:r>
            </a:p>
            <a:p>
              <a:pPr algn="ctr" eaLnBrk="0" hangingPunct="0"/>
              <a:r>
                <a:rPr lang="en-US" b="1" i="1" dirty="0">
                  <a:latin typeface="FranklinGothic" charset="0"/>
                </a:rPr>
                <a:t>k</a:t>
              </a:r>
            </a:p>
            <a:p>
              <a:pPr algn="ctr" eaLnBrk="0" hangingPunct="0"/>
              <a:endParaRPr lang="en-US" b="1" i="1" dirty="0">
                <a:latin typeface="FranklinGothic" charset="0"/>
              </a:endParaRPr>
            </a:p>
            <a:p>
              <a:pPr algn="ctr" eaLnBrk="0" hangingPunct="0"/>
              <a:r>
                <a:rPr lang="en-US" b="1" i="1" dirty="0">
                  <a:latin typeface="FranklinGothic" charset="0"/>
                </a:rPr>
                <a:t>O</a:t>
              </a:r>
            </a:p>
            <a:p>
              <a:pPr algn="ctr" eaLnBrk="0" hangingPunct="0"/>
              <a:r>
                <a:rPr lang="en-US" b="1" i="1" dirty="0">
                  <a:latin typeface="FranklinGothic" charset="0"/>
                </a:rPr>
                <a:t>r</a:t>
              </a:r>
            </a:p>
            <a:p>
              <a:pPr algn="ctr" eaLnBrk="0" hangingPunct="0"/>
              <a:r>
                <a:rPr lang="en-US" b="1" i="1" dirty="0">
                  <a:latin typeface="FranklinGothic" charset="0"/>
                </a:rPr>
                <a:t>d</a:t>
              </a:r>
            </a:p>
            <a:p>
              <a:pPr algn="ctr" eaLnBrk="0" hangingPunct="0"/>
              <a:r>
                <a:rPr lang="en-US" b="1" i="1" dirty="0">
                  <a:latin typeface="FranklinGothic" charset="0"/>
                </a:rPr>
                <a:t>e</a:t>
              </a:r>
            </a:p>
            <a:p>
              <a:pPr algn="ctr" eaLnBrk="0" hangingPunct="0"/>
              <a:r>
                <a:rPr lang="en-US" b="1" i="1" dirty="0">
                  <a:latin typeface="FranklinGothic" charset="0"/>
                </a:rPr>
                <a:t>r</a:t>
              </a:r>
              <a:endParaRPr lang="en-US" sz="2000" b="1" i="1" dirty="0">
                <a:latin typeface="FranklinGothic" charset="0"/>
              </a:endParaRPr>
            </a:p>
          </p:txBody>
        </p:sp>
        <p:grpSp>
          <p:nvGrpSpPr>
            <p:cNvPr id="74" name="Group 6">
              <a:extLst>
                <a:ext uri="{FF2B5EF4-FFF2-40B4-BE49-F238E27FC236}">
                  <a16:creationId xmlns:a16="http://schemas.microsoft.com/office/drawing/2014/main" id="{313474A6-B21E-4A6F-B736-626230F7DE6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2" y="1811"/>
              <a:ext cx="250" cy="249"/>
              <a:chOff x="440" y="1867"/>
              <a:chExt cx="250" cy="249"/>
            </a:xfrm>
          </p:grpSpPr>
          <p:sp>
            <p:nvSpPr>
              <p:cNvPr id="217" name="Freeform 7">
                <a:extLst>
                  <a:ext uri="{FF2B5EF4-FFF2-40B4-BE49-F238E27FC236}">
                    <a16:creationId xmlns:a16="http://schemas.microsoft.com/office/drawing/2014/main" id="{4D328E97-A02E-4C84-BAE6-46CC679C12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" y="1867"/>
                <a:ext cx="246" cy="221"/>
              </a:xfrm>
              <a:custGeom>
                <a:avLst/>
                <a:gdLst>
                  <a:gd name="T0" fmla="*/ 69 w 246"/>
                  <a:gd name="T1" fmla="*/ 10 h 221"/>
                  <a:gd name="T2" fmla="*/ 117 w 246"/>
                  <a:gd name="T3" fmla="*/ 12 h 221"/>
                  <a:gd name="T4" fmla="*/ 167 w 246"/>
                  <a:gd name="T5" fmla="*/ 0 h 221"/>
                  <a:gd name="T6" fmla="*/ 228 w 246"/>
                  <a:gd name="T7" fmla="*/ 0 h 221"/>
                  <a:gd name="T8" fmla="*/ 161 w 246"/>
                  <a:gd name="T9" fmla="*/ 63 h 221"/>
                  <a:gd name="T10" fmla="*/ 179 w 246"/>
                  <a:gd name="T11" fmla="*/ 67 h 221"/>
                  <a:gd name="T12" fmla="*/ 196 w 246"/>
                  <a:gd name="T13" fmla="*/ 74 h 221"/>
                  <a:gd name="T14" fmla="*/ 213 w 246"/>
                  <a:gd name="T15" fmla="*/ 83 h 221"/>
                  <a:gd name="T16" fmla="*/ 226 w 246"/>
                  <a:gd name="T17" fmla="*/ 94 h 221"/>
                  <a:gd name="T18" fmla="*/ 236 w 246"/>
                  <a:gd name="T19" fmla="*/ 108 h 221"/>
                  <a:gd name="T20" fmla="*/ 243 w 246"/>
                  <a:gd name="T21" fmla="*/ 123 h 221"/>
                  <a:gd name="T22" fmla="*/ 245 w 246"/>
                  <a:gd name="T23" fmla="*/ 140 h 221"/>
                  <a:gd name="T24" fmla="*/ 242 w 246"/>
                  <a:gd name="T25" fmla="*/ 157 h 221"/>
                  <a:gd name="T26" fmla="*/ 237 w 246"/>
                  <a:gd name="T27" fmla="*/ 171 h 221"/>
                  <a:gd name="T28" fmla="*/ 226 w 246"/>
                  <a:gd name="T29" fmla="*/ 185 h 221"/>
                  <a:gd name="T30" fmla="*/ 209 w 246"/>
                  <a:gd name="T31" fmla="*/ 200 h 221"/>
                  <a:gd name="T32" fmla="*/ 192 w 246"/>
                  <a:gd name="T33" fmla="*/ 209 h 221"/>
                  <a:gd name="T34" fmla="*/ 176 w 246"/>
                  <a:gd name="T35" fmla="*/ 215 h 221"/>
                  <a:gd name="T36" fmla="*/ 161 w 246"/>
                  <a:gd name="T37" fmla="*/ 219 h 221"/>
                  <a:gd name="T38" fmla="*/ 141 w 246"/>
                  <a:gd name="T39" fmla="*/ 220 h 221"/>
                  <a:gd name="T40" fmla="*/ 91 w 246"/>
                  <a:gd name="T41" fmla="*/ 219 h 221"/>
                  <a:gd name="T42" fmla="*/ 67 w 246"/>
                  <a:gd name="T43" fmla="*/ 215 h 221"/>
                  <a:gd name="T44" fmla="*/ 42 w 246"/>
                  <a:gd name="T45" fmla="*/ 204 h 221"/>
                  <a:gd name="T46" fmla="*/ 22 w 246"/>
                  <a:gd name="T47" fmla="*/ 189 h 221"/>
                  <a:gd name="T48" fmla="*/ 10 w 246"/>
                  <a:gd name="T49" fmla="*/ 174 h 221"/>
                  <a:gd name="T50" fmla="*/ 3 w 246"/>
                  <a:gd name="T51" fmla="*/ 157 h 221"/>
                  <a:gd name="T52" fmla="*/ 0 w 246"/>
                  <a:gd name="T53" fmla="*/ 143 h 221"/>
                  <a:gd name="T54" fmla="*/ 2 w 246"/>
                  <a:gd name="T55" fmla="*/ 126 h 221"/>
                  <a:gd name="T56" fmla="*/ 10 w 246"/>
                  <a:gd name="T57" fmla="*/ 106 h 221"/>
                  <a:gd name="T58" fmla="*/ 26 w 246"/>
                  <a:gd name="T59" fmla="*/ 88 h 221"/>
                  <a:gd name="T60" fmla="*/ 47 w 246"/>
                  <a:gd name="T61" fmla="*/ 74 h 221"/>
                  <a:gd name="T62" fmla="*/ 76 w 246"/>
                  <a:gd name="T63" fmla="*/ 64 h 221"/>
                  <a:gd name="T64" fmla="*/ 30 w 246"/>
                  <a:gd name="T65" fmla="*/ 3 h 221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46"/>
                  <a:gd name="T100" fmla="*/ 0 h 221"/>
                  <a:gd name="T101" fmla="*/ 246 w 246"/>
                  <a:gd name="T102" fmla="*/ 221 h 221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46" h="221">
                    <a:moveTo>
                      <a:pt x="30" y="3"/>
                    </a:moveTo>
                    <a:lnTo>
                      <a:pt x="69" y="10"/>
                    </a:lnTo>
                    <a:lnTo>
                      <a:pt x="69" y="0"/>
                    </a:lnTo>
                    <a:lnTo>
                      <a:pt x="117" y="12"/>
                    </a:lnTo>
                    <a:lnTo>
                      <a:pt x="117" y="0"/>
                    </a:lnTo>
                    <a:lnTo>
                      <a:pt x="167" y="0"/>
                    </a:lnTo>
                    <a:lnTo>
                      <a:pt x="167" y="11"/>
                    </a:lnTo>
                    <a:lnTo>
                      <a:pt x="228" y="0"/>
                    </a:lnTo>
                    <a:lnTo>
                      <a:pt x="153" y="62"/>
                    </a:lnTo>
                    <a:lnTo>
                      <a:pt x="161" y="63"/>
                    </a:lnTo>
                    <a:lnTo>
                      <a:pt x="169" y="64"/>
                    </a:lnTo>
                    <a:lnTo>
                      <a:pt x="179" y="67"/>
                    </a:lnTo>
                    <a:lnTo>
                      <a:pt x="187" y="70"/>
                    </a:lnTo>
                    <a:lnTo>
                      <a:pt x="196" y="74"/>
                    </a:lnTo>
                    <a:lnTo>
                      <a:pt x="205" y="78"/>
                    </a:lnTo>
                    <a:lnTo>
                      <a:pt x="213" y="83"/>
                    </a:lnTo>
                    <a:lnTo>
                      <a:pt x="220" y="89"/>
                    </a:lnTo>
                    <a:lnTo>
                      <a:pt x="226" y="94"/>
                    </a:lnTo>
                    <a:lnTo>
                      <a:pt x="231" y="101"/>
                    </a:lnTo>
                    <a:lnTo>
                      <a:pt x="236" y="108"/>
                    </a:lnTo>
                    <a:lnTo>
                      <a:pt x="240" y="116"/>
                    </a:lnTo>
                    <a:lnTo>
                      <a:pt x="243" y="123"/>
                    </a:lnTo>
                    <a:lnTo>
                      <a:pt x="244" y="130"/>
                    </a:lnTo>
                    <a:lnTo>
                      <a:pt x="245" y="140"/>
                    </a:lnTo>
                    <a:lnTo>
                      <a:pt x="244" y="150"/>
                    </a:lnTo>
                    <a:lnTo>
                      <a:pt x="242" y="157"/>
                    </a:lnTo>
                    <a:lnTo>
                      <a:pt x="240" y="165"/>
                    </a:lnTo>
                    <a:lnTo>
                      <a:pt x="237" y="171"/>
                    </a:lnTo>
                    <a:lnTo>
                      <a:pt x="232" y="177"/>
                    </a:lnTo>
                    <a:lnTo>
                      <a:pt x="226" y="185"/>
                    </a:lnTo>
                    <a:lnTo>
                      <a:pt x="218" y="193"/>
                    </a:lnTo>
                    <a:lnTo>
                      <a:pt x="209" y="200"/>
                    </a:lnTo>
                    <a:lnTo>
                      <a:pt x="200" y="205"/>
                    </a:lnTo>
                    <a:lnTo>
                      <a:pt x="192" y="209"/>
                    </a:lnTo>
                    <a:lnTo>
                      <a:pt x="184" y="213"/>
                    </a:lnTo>
                    <a:lnTo>
                      <a:pt x="176" y="215"/>
                    </a:lnTo>
                    <a:lnTo>
                      <a:pt x="167" y="217"/>
                    </a:lnTo>
                    <a:lnTo>
                      <a:pt x="161" y="219"/>
                    </a:lnTo>
                    <a:lnTo>
                      <a:pt x="150" y="219"/>
                    </a:lnTo>
                    <a:lnTo>
                      <a:pt x="141" y="220"/>
                    </a:lnTo>
                    <a:lnTo>
                      <a:pt x="99" y="220"/>
                    </a:lnTo>
                    <a:lnTo>
                      <a:pt x="91" y="219"/>
                    </a:lnTo>
                    <a:lnTo>
                      <a:pt x="81" y="218"/>
                    </a:lnTo>
                    <a:lnTo>
                      <a:pt x="67" y="215"/>
                    </a:lnTo>
                    <a:lnTo>
                      <a:pt x="55" y="210"/>
                    </a:lnTo>
                    <a:lnTo>
                      <a:pt x="42" y="204"/>
                    </a:lnTo>
                    <a:lnTo>
                      <a:pt x="31" y="196"/>
                    </a:lnTo>
                    <a:lnTo>
                      <a:pt x="22" y="189"/>
                    </a:lnTo>
                    <a:lnTo>
                      <a:pt x="16" y="183"/>
                    </a:lnTo>
                    <a:lnTo>
                      <a:pt x="10" y="174"/>
                    </a:lnTo>
                    <a:lnTo>
                      <a:pt x="5" y="164"/>
                    </a:lnTo>
                    <a:lnTo>
                      <a:pt x="3" y="157"/>
                    </a:lnTo>
                    <a:lnTo>
                      <a:pt x="1" y="150"/>
                    </a:lnTo>
                    <a:lnTo>
                      <a:pt x="0" y="143"/>
                    </a:lnTo>
                    <a:lnTo>
                      <a:pt x="1" y="137"/>
                    </a:lnTo>
                    <a:lnTo>
                      <a:pt x="2" y="126"/>
                    </a:lnTo>
                    <a:lnTo>
                      <a:pt x="5" y="117"/>
                    </a:lnTo>
                    <a:lnTo>
                      <a:pt x="10" y="106"/>
                    </a:lnTo>
                    <a:lnTo>
                      <a:pt x="18" y="97"/>
                    </a:lnTo>
                    <a:lnTo>
                      <a:pt x="26" y="88"/>
                    </a:lnTo>
                    <a:lnTo>
                      <a:pt x="37" y="80"/>
                    </a:lnTo>
                    <a:lnTo>
                      <a:pt x="47" y="74"/>
                    </a:lnTo>
                    <a:lnTo>
                      <a:pt x="61" y="68"/>
                    </a:lnTo>
                    <a:lnTo>
                      <a:pt x="76" y="64"/>
                    </a:lnTo>
                    <a:lnTo>
                      <a:pt x="86" y="62"/>
                    </a:lnTo>
                    <a:lnTo>
                      <a:pt x="30" y="3"/>
                    </a:lnTo>
                  </a:path>
                </a:pathLst>
              </a:custGeom>
              <a:solidFill>
                <a:schemeClr val="bg2"/>
              </a:solidFill>
              <a:ln w="254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8" name="Rectangle 8">
                <a:extLst>
                  <a:ext uri="{FF2B5EF4-FFF2-40B4-BE49-F238E27FC236}">
                    <a16:creationId xmlns:a16="http://schemas.microsoft.com/office/drawing/2014/main" id="{92EDD16E-8F4E-4634-A802-FCB20D2282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" y="1885"/>
                <a:ext cx="246" cy="231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square" lIns="90488" tIns="44450" rIns="90488" bIns="44450">
                <a:spAutoFit/>
              </a:bodyPr>
              <a:lstStyle/>
              <a:p>
                <a:pPr algn="ctr" eaLnBrk="0" hangingPunct="0"/>
                <a:r>
                  <a:rPr lang="en-US" b="1" dirty="0">
                    <a:solidFill>
                      <a:srgbClr val="C00000"/>
                    </a:solidFill>
                    <a:latin typeface="FranklinGothic" charset="0"/>
                  </a:rPr>
                  <a:t>B</a:t>
                </a:r>
              </a:p>
            </p:txBody>
          </p:sp>
        </p:grpSp>
        <p:grpSp>
          <p:nvGrpSpPr>
            <p:cNvPr id="75" name="Group 9">
              <a:extLst>
                <a:ext uri="{FF2B5EF4-FFF2-40B4-BE49-F238E27FC236}">
                  <a16:creationId xmlns:a16="http://schemas.microsoft.com/office/drawing/2014/main" id="{232DA028-762D-4C38-A86C-DF41C8B611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8" y="2150"/>
              <a:ext cx="255" cy="304"/>
              <a:chOff x="436" y="2217"/>
              <a:chExt cx="255" cy="304"/>
            </a:xfrm>
          </p:grpSpPr>
          <p:sp>
            <p:nvSpPr>
              <p:cNvPr id="215" name="Freeform 10">
                <a:extLst>
                  <a:ext uri="{FF2B5EF4-FFF2-40B4-BE49-F238E27FC236}">
                    <a16:creationId xmlns:a16="http://schemas.microsoft.com/office/drawing/2014/main" id="{7549AE22-37FB-4410-A0ED-46E37629B4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" y="2217"/>
                <a:ext cx="246" cy="222"/>
              </a:xfrm>
              <a:custGeom>
                <a:avLst/>
                <a:gdLst>
                  <a:gd name="T0" fmla="*/ 69 w 246"/>
                  <a:gd name="T1" fmla="*/ 11 h 222"/>
                  <a:gd name="T2" fmla="*/ 117 w 246"/>
                  <a:gd name="T3" fmla="*/ 12 h 222"/>
                  <a:gd name="T4" fmla="*/ 167 w 246"/>
                  <a:gd name="T5" fmla="*/ 0 h 222"/>
                  <a:gd name="T6" fmla="*/ 228 w 246"/>
                  <a:gd name="T7" fmla="*/ 0 h 222"/>
                  <a:gd name="T8" fmla="*/ 161 w 246"/>
                  <a:gd name="T9" fmla="*/ 63 h 222"/>
                  <a:gd name="T10" fmla="*/ 179 w 246"/>
                  <a:gd name="T11" fmla="*/ 67 h 222"/>
                  <a:gd name="T12" fmla="*/ 196 w 246"/>
                  <a:gd name="T13" fmla="*/ 74 h 222"/>
                  <a:gd name="T14" fmla="*/ 213 w 246"/>
                  <a:gd name="T15" fmla="*/ 83 h 222"/>
                  <a:gd name="T16" fmla="*/ 226 w 246"/>
                  <a:gd name="T17" fmla="*/ 95 h 222"/>
                  <a:gd name="T18" fmla="*/ 236 w 246"/>
                  <a:gd name="T19" fmla="*/ 108 h 222"/>
                  <a:gd name="T20" fmla="*/ 243 w 246"/>
                  <a:gd name="T21" fmla="*/ 124 h 222"/>
                  <a:gd name="T22" fmla="*/ 245 w 246"/>
                  <a:gd name="T23" fmla="*/ 141 h 222"/>
                  <a:gd name="T24" fmla="*/ 242 w 246"/>
                  <a:gd name="T25" fmla="*/ 158 h 222"/>
                  <a:gd name="T26" fmla="*/ 237 w 246"/>
                  <a:gd name="T27" fmla="*/ 171 h 222"/>
                  <a:gd name="T28" fmla="*/ 226 w 246"/>
                  <a:gd name="T29" fmla="*/ 186 h 222"/>
                  <a:gd name="T30" fmla="*/ 209 w 246"/>
                  <a:gd name="T31" fmla="*/ 201 h 222"/>
                  <a:gd name="T32" fmla="*/ 192 w 246"/>
                  <a:gd name="T33" fmla="*/ 210 h 222"/>
                  <a:gd name="T34" fmla="*/ 176 w 246"/>
                  <a:gd name="T35" fmla="*/ 216 h 222"/>
                  <a:gd name="T36" fmla="*/ 161 w 246"/>
                  <a:gd name="T37" fmla="*/ 219 h 222"/>
                  <a:gd name="T38" fmla="*/ 141 w 246"/>
                  <a:gd name="T39" fmla="*/ 221 h 222"/>
                  <a:gd name="T40" fmla="*/ 91 w 246"/>
                  <a:gd name="T41" fmla="*/ 220 h 222"/>
                  <a:gd name="T42" fmla="*/ 67 w 246"/>
                  <a:gd name="T43" fmla="*/ 216 h 222"/>
                  <a:gd name="T44" fmla="*/ 42 w 246"/>
                  <a:gd name="T45" fmla="*/ 204 h 222"/>
                  <a:gd name="T46" fmla="*/ 22 w 246"/>
                  <a:gd name="T47" fmla="*/ 190 h 222"/>
                  <a:gd name="T48" fmla="*/ 10 w 246"/>
                  <a:gd name="T49" fmla="*/ 174 h 222"/>
                  <a:gd name="T50" fmla="*/ 3 w 246"/>
                  <a:gd name="T51" fmla="*/ 158 h 222"/>
                  <a:gd name="T52" fmla="*/ 0 w 246"/>
                  <a:gd name="T53" fmla="*/ 144 h 222"/>
                  <a:gd name="T54" fmla="*/ 2 w 246"/>
                  <a:gd name="T55" fmla="*/ 127 h 222"/>
                  <a:gd name="T56" fmla="*/ 10 w 246"/>
                  <a:gd name="T57" fmla="*/ 106 h 222"/>
                  <a:gd name="T58" fmla="*/ 26 w 246"/>
                  <a:gd name="T59" fmla="*/ 89 h 222"/>
                  <a:gd name="T60" fmla="*/ 47 w 246"/>
                  <a:gd name="T61" fmla="*/ 74 h 222"/>
                  <a:gd name="T62" fmla="*/ 76 w 246"/>
                  <a:gd name="T63" fmla="*/ 65 h 222"/>
                  <a:gd name="T64" fmla="*/ 30 w 246"/>
                  <a:gd name="T65" fmla="*/ 3 h 222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46"/>
                  <a:gd name="T100" fmla="*/ 0 h 222"/>
                  <a:gd name="T101" fmla="*/ 246 w 246"/>
                  <a:gd name="T102" fmla="*/ 222 h 222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46" h="222">
                    <a:moveTo>
                      <a:pt x="30" y="3"/>
                    </a:moveTo>
                    <a:lnTo>
                      <a:pt x="69" y="11"/>
                    </a:lnTo>
                    <a:lnTo>
                      <a:pt x="69" y="0"/>
                    </a:lnTo>
                    <a:lnTo>
                      <a:pt x="117" y="12"/>
                    </a:lnTo>
                    <a:lnTo>
                      <a:pt x="117" y="0"/>
                    </a:lnTo>
                    <a:lnTo>
                      <a:pt x="167" y="0"/>
                    </a:lnTo>
                    <a:lnTo>
                      <a:pt x="167" y="11"/>
                    </a:lnTo>
                    <a:lnTo>
                      <a:pt x="228" y="0"/>
                    </a:lnTo>
                    <a:lnTo>
                      <a:pt x="153" y="62"/>
                    </a:lnTo>
                    <a:lnTo>
                      <a:pt x="161" y="63"/>
                    </a:lnTo>
                    <a:lnTo>
                      <a:pt x="169" y="65"/>
                    </a:lnTo>
                    <a:lnTo>
                      <a:pt x="179" y="67"/>
                    </a:lnTo>
                    <a:lnTo>
                      <a:pt x="187" y="70"/>
                    </a:lnTo>
                    <a:lnTo>
                      <a:pt x="196" y="74"/>
                    </a:lnTo>
                    <a:lnTo>
                      <a:pt x="205" y="78"/>
                    </a:lnTo>
                    <a:lnTo>
                      <a:pt x="213" y="83"/>
                    </a:lnTo>
                    <a:lnTo>
                      <a:pt x="220" y="89"/>
                    </a:lnTo>
                    <a:lnTo>
                      <a:pt x="226" y="95"/>
                    </a:lnTo>
                    <a:lnTo>
                      <a:pt x="231" y="101"/>
                    </a:lnTo>
                    <a:lnTo>
                      <a:pt x="236" y="108"/>
                    </a:lnTo>
                    <a:lnTo>
                      <a:pt x="240" y="117"/>
                    </a:lnTo>
                    <a:lnTo>
                      <a:pt x="243" y="124"/>
                    </a:lnTo>
                    <a:lnTo>
                      <a:pt x="244" y="131"/>
                    </a:lnTo>
                    <a:lnTo>
                      <a:pt x="245" y="141"/>
                    </a:lnTo>
                    <a:lnTo>
                      <a:pt x="244" y="150"/>
                    </a:lnTo>
                    <a:lnTo>
                      <a:pt x="242" y="158"/>
                    </a:lnTo>
                    <a:lnTo>
                      <a:pt x="240" y="165"/>
                    </a:lnTo>
                    <a:lnTo>
                      <a:pt x="237" y="171"/>
                    </a:lnTo>
                    <a:lnTo>
                      <a:pt x="232" y="178"/>
                    </a:lnTo>
                    <a:lnTo>
                      <a:pt x="226" y="186"/>
                    </a:lnTo>
                    <a:lnTo>
                      <a:pt x="218" y="194"/>
                    </a:lnTo>
                    <a:lnTo>
                      <a:pt x="209" y="201"/>
                    </a:lnTo>
                    <a:lnTo>
                      <a:pt x="200" y="206"/>
                    </a:lnTo>
                    <a:lnTo>
                      <a:pt x="192" y="210"/>
                    </a:lnTo>
                    <a:lnTo>
                      <a:pt x="184" y="213"/>
                    </a:lnTo>
                    <a:lnTo>
                      <a:pt x="176" y="216"/>
                    </a:lnTo>
                    <a:lnTo>
                      <a:pt x="167" y="218"/>
                    </a:lnTo>
                    <a:lnTo>
                      <a:pt x="161" y="219"/>
                    </a:lnTo>
                    <a:lnTo>
                      <a:pt x="150" y="220"/>
                    </a:lnTo>
                    <a:lnTo>
                      <a:pt x="141" y="221"/>
                    </a:lnTo>
                    <a:lnTo>
                      <a:pt x="99" y="221"/>
                    </a:lnTo>
                    <a:lnTo>
                      <a:pt x="91" y="220"/>
                    </a:lnTo>
                    <a:lnTo>
                      <a:pt x="81" y="219"/>
                    </a:lnTo>
                    <a:lnTo>
                      <a:pt x="67" y="216"/>
                    </a:lnTo>
                    <a:lnTo>
                      <a:pt x="55" y="210"/>
                    </a:lnTo>
                    <a:lnTo>
                      <a:pt x="42" y="204"/>
                    </a:lnTo>
                    <a:lnTo>
                      <a:pt x="31" y="197"/>
                    </a:lnTo>
                    <a:lnTo>
                      <a:pt x="22" y="190"/>
                    </a:lnTo>
                    <a:lnTo>
                      <a:pt x="16" y="183"/>
                    </a:lnTo>
                    <a:lnTo>
                      <a:pt x="10" y="174"/>
                    </a:lnTo>
                    <a:lnTo>
                      <a:pt x="5" y="165"/>
                    </a:lnTo>
                    <a:lnTo>
                      <a:pt x="3" y="158"/>
                    </a:lnTo>
                    <a:lnTo>
                      <a:pt x="1" y="151"/>
                    </a:lnTo>
                    <a:lnTo>
                      <a:pt x="0" y="144"/>
                    </a:lnTo>
                    <a:lnTo>
                      <a:pt x="1" y="138"/>
                    </a:lnTo>
                    <a:lnTo>
                      <a:pt x="2" y="127"/>
                    </a:lnTo>
                    <a:lnTo>
                      <a:pt x="5" y="117"/>
                    </a:lnTo>
                    <a:lnTo>
                      <a:pt x="10" y="106"/>
                    </a:lnTo>
                    <a:lnTo>
                      <a:pt x="18" y="97"/>
                    </a:lnTo>
                    <a:lnTo>
                      <a:pt x="26" y="89"/>
                    </a:lnTo>
                    <a:lnTo>
                      <a:pt x="37" y="80"/>
                    </a:lnTo>
                    <a:lnTo>
                      <a:pt x="47" y="74"/>
                    </a:lnTo>
                    <a:lnTo>
                      <a:pt x="61" y="68"/>
                    </a:lnTo>
                    <a:lnTo>
                      <a:pt x="76" y="65"/>
                    </a:lnTo>
                    <a:lnTo>
                      <a:pt x="86" y="62"/>
                    </a:lnTo>
                    <a:lnTo>
                      <a:pt x="30" y="3"/>
                    </a:lnTo>
                  </a:path>
                </a:pathLst>
              </a:custGeom>
              <a:solidFill>
                <a:schemeClr val="bg2"/>
              </a:solidFill>
              <a:ln w="254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" name="Rectangle 11">
                <a:extLst>
                  <a:ext uri="{FF2B5EF4-FFF2-40B4-BE49-F238E27FC236}">
                    <a16:creationId xmlns:a16="http://schemas.microsoft.com/office/drawing/2014/main" id="{F1A51052-F82D-481D-A5AF-353306473E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6" y="2232"/>
                <a:ext cx="255" cy="289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pPr algn="ctr" eaLnBrk="0" hangingPunct="0"/>
                <a:r>
                  <a:rPr lang="en-US" b="1" dirty="0">
                    <a:solidFill>
                      <a:srgbClr val="C00000"/>
                    </a:solidFill>
                    <a:latin typeface="FranklinGothic" charset="0"/>
                  </a:rPr>
                  <a:t>C</a:t>
                </a:r>
              </a:p>
            </p:txBody>
          </p:sp>
        </p:grpSp>
        <p:grpSp>
          <p:nvGrpSpPr>
            <p:cNvPr id="76" name="Group 12">
              <a:extLst>
                <a:ext uri="{FF2B5EF4-FFF2-40B4-BE49-F238E27FC236}">
                  <a16:creationId xmlns:a16="http://schemas.microsoft.com/office/drawing/2014/main" id="{F99E6C45-C6CA-49B9-8438-3B98E9CDCF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2" y="2473"/>
              <a:ext cx="260" cy="305"/>
              <a:chOff x="440" y="2521"/>
              <a:chExt cx="260" cy="305"/>
            </a:xfrm>
          </p:grpSpPr>
          <p:sp>
            <p:nvSpPr>
              <p:cNvPr id="213" name="Freeform 13">
                <a:extLst>
                  <a:ext uri="{FF2B5EF4-FFF2-40B4-BE49-F238E27FC236}">
                    <a16:creationId xmlns:a16="http://schemas.microsoft.com/office/drawing/2014/main" id="{57F74989-45C6-4812-9992-A756AD6997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" y="2521"/>
                <a:ext cx="246" cy="221"/>
              </a:xfrm>
              <a:custGeom>
                <a:avLst/>
                <a:gdLst>
                  <a:gd name="T0" fmla="*/ 69 w 246"/>
                  <a:gd name="T1" fmla="*/ 10 h 221"/>
                  <a:gd name="T2" fmla="*/ 117 w 246"/>
                  <a:gd name="T3" fmla="*/ 12 h 221"/>
                  <a:gd name="T4" fmla="*/ 167 w 246"/>
                  <a:gd name="T5" fmla="*/ 0 h 221"/>
                  <a:gd name="T6" fmla="*/ 228 w 246"/>
                  <a:gd name="T7" fmla="*/ 0 h 221"/>
                  <a:gd name="T8" fmla="*/ 161 w 246"/>
                  <a:gd name="T9" fmla="*/ 63 h 221"/>
                  <a:gd name="T10" fmla="*/ 179 w 246"/>
                  <a:gd name="T11" fmla="*/ 67 h 221"/>
                  <a:gd name="T12" fmla="*/ 196 w 246"/>
                  <a:gd name="T13" fmla="*/ 74 h 221"/>
                  <a:gd name="T14" fmla="*/ 213 w 246"/>
                  <a:gd name="T15" fmla="*/ 83 h 221"/>
                  <a:gd name="T16" fmla="*/ 226 w 246"/>
                  <a:gd name="T17" fmla="*/ 94 h 221"/>
                  <a:gd name="T18" fmla="*/ 236 w 246"/>
                  <a:gd name="T19" fmla="*/ 108 h 221"/>
                  <a:gd name="T20" fmla="*/ 243 w 246"/>
                  <a:gd name="T21" fmla="*/ 123 h 221"/>
                  <a:gd name="T22" fmla="*/ 245 w 246"/>
                  <a:gd name="T23" fmla="*/ 140 h 221"/>
                  <a:gd name="T24" fmla="*/ 242 w 246"/>
                  <a:gd name="T25" fmla="*/ 157 h 221"/>
                  <a:gd name="T26" fmla="*/ 237 w 246"/>
                  <a:gd name="T27" fmla="*/ 171 h 221"/>
                  <a:gd name="T28" fmla="*/ 226 w 246"/>
                  <a:gd name="T29" fmla="*/ 185 h 221"/>
                  <a:gd name="T30" fmla="*/ 209 w 246"/>
                  <a:gd name="T31" fmla="*/ 200 h 221"/>
                  <a:gd name="T32" fmla="*/ 192 w 246"/>
                  <a:gd name="T33" fmla="*/ 209 h 221"/>
                  <a:gd name="T34" fmla="*/ 176 w 246"/>
                  <a:gd name="T35" fmla="*/ 215 h 221"/>
                  <a:gd name="T36" fmla="*/ 161 w 246"/>
                  <a:gd name="T37" fmla="*/ 219 h 221"/>
                  <a:gd name="T38" fmla="*/ 141 w 246"/>
                  <a:gd name="T39" fmla="*/ 220 h 221"/>
                  <a:gd name="T40" fmla="*/ 91 w 246"/>
                  <a:gd name="T41" fmla="*/ 219 h 221"/>
                  <a:gd name="T42" fmla="*/ 67 w 246"/>
                  <a:gd name="T43" fmla="*/ 215 h 221"/>
                  <a:gd name="T44" fmla="*/ 42 w 246"/>
                  <a:gd name="T45" fmla="*/ 204 h 221"/>
                  <a:gd name="T46" fmla="*/ 22 w 246"/>
                  <a:gd name="T47" fmla="*/ 189 h 221"/>
                  <a:gd name="T48" fmla="*/ 10 w 246"/>
                  <a:gd name="T49" fmla="*/ 174 h 221"/>
                  <a:gd name="T50" fmla="*/ 3 w 246"/>
                  <a:gd name="T51" fmla="*/ 157 h 221"/>
                  <a:gd name="T52" fmla="*/ 0 w 246"/>
                  <a:gd name="T53" fmla="*/ 143 h 221"/>
                  <a:gd name="T54" fmla="*/ 2 w 246"/>
                  <a:gd name="T55" fmla="*/ 126 h 221"/>
                  <a:gd name="T56" fmla="*/ 10 w 246"/>
                  <a:gd name="T57" fmla="*/ 106 h 221"/>
                  <a:gd name="T58" fmla="*/ 26 w 246"/>
                  <a:gd name="T59" fmla="*/ 88 h 221"/>
                  <a:gd name="T60" fmla="*/ 47 w 246"/>
                  <a:gd name="T61" fmla="*/ 74 h 221"/>
                  <a:gd name="T62" fmla="*/ 76 w 246"/>
                  <a:gd name="T63" fmla="*/ 64 h 221"/>
                  <a:gd name="T64" fmla="*/ 30 w 246"/>
                  <a:gd name="T65" fmla="*/ 3 h 221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46"/>
                  <a:gd name="T100" fmla="*/ 0 h 221"/>
                  <a:gd name="T101" fmla="*/ 246 w 246"/>
                  <a:gd name="T102" fmla="*/ 221 h 221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46" h="221">
                    <a:moveTo>
                      <a:pt x="30" y="3"/>
                    </a:moveTo>
                    <a:lnTo>
                      <a:pt x="69" y="10"/>
                    </a:lnTo>
                    <a:lnTo>
                      <a:pt x="69" y="0"/>
                    </a:lnTo>
                    <a:lnTo>
                      <a:pt x="117" y="12"/>
                    </a:lnTo>
                    <a:lnTo>
                      <a:pt x="117" y="0"/>
                    </a:lnTo>
                    <a:lnTo>
                      <a:pt x="167" y="0"/>
                    </a:lnTo>
                    <a:lnTo>
                      <a:pt x="167" y="11"/>
                    </a:lnTo>
                    <a:lnTo>
                      <a:pt x="228" y="0"/>
                    </a:lnTo>
                    <a:lnTo>
                      <a:pt x="153" y="62"/>
                    </a:lnTo>
                    <a:lnTo>
                      <a:pt x="161" y="63"/>
                    </a:lnTo>
                    <a:lnTo>
                      <a:pt x="169" y="64"/>
                    </a:lnTo>
                    <a:lnTo>
                      <a:pt x="179" y="67"/>
                    </a:lnTo>
                    <a:lnTo>
                      <a:pt x="187" y="70"/>
                    </a:lnTo>
                    <a:lnTo>
                      <a:pt x="196" y="74"/>
                    </a:lnTo>
                    <a:lnTo>
                      <a:pt x="205" y="78"/>
                    </a:lnTo>
                    <a:lnTo>
                      <a:pt x="213" y="83"/>
                    </a:lnTo>
                    <a:lnTo>
                      <a:pt x="220" y="89"/>
                    </a:lnTo>
                    <a:lnTo>
                      <a:pt x="226" y="94"/>
                    </a:lnTo>
                    <a:lnTo>
                      <a:pt x="231" y="101"/>
                    </a:lnTo>
                    <a:lnTo>
                      <a:pt x="236" y="108"/>
                    </a:lnTo>
                    <a:lnTo>
                      <a:pt x="240" y="116"/>
                    </a:lnTo>
                    <a:lnTo>
                      <a:pt x="243" y="123"/>
                    </a:lnTo>
                    <a:lnTo>
                      <a:pt x="244" y="130"/>
                    </a:lnTo>
                    <a:lnTo>
                      <a:pt x="245" y="140"/>
                    </a:lnTo>
                    <a:lnTo>
                      <a:pt x="244" y="150"/>
                    </a:lnTo>
                    <a:lnTo>
                      <a:pt x="242" y="157"/>
                    </a:lnTo>
                    <a:lnTo>
                      <a:pt x="240" y="165"/>
                    </a:lnTo>
                    <a:lnTo>
                      <a:pt x="237" y="171"/>
                    </a:lnTo>
                    <a:lnTo>
                      <a:pt x="232" y="177"/>
                    </a:lnTo>
                    <a:lnTo>
                      <a:pt x="226" y="185"/>
                    </a:lnTo>
                    <a:lnTo>
                      <a:pt x="218" y="193"/>
                    </a:lnTo>
                    <a:lnTo>
                      <a:pt x="209" y="200"/>
                    </a:lnTo>
                    <a:lnTo>
                      <a:pt x="200" y="205"/>
                    </a:lnTo>
                    <a:lnTo>
                      <a:pt x="192" y="209"/>
                    </a:lnTo>
                    <a:lnTo>
                      <a:pt x="184" y="213"/>
                    </a:lnTo>
                    <a:lnTo>
                      <a:pt x="176" y="215"/>
                    </a:lnTo>
                    <a:lnTo>
                      <a:pt x="167" y="217"/>
                    </a:lnTo>
                    <a:lnTo>
                      <a:pt x="161" y="219"/>
                    </a:lnTo>
                    <a:lnTo>
                      <a:pt x="150" y="219"/>
                    </a:lnTo>
                    <a:lnTo>
                      <a:pt x="141" y="220"/>
                    </a:lnTo>
                    <a:lnTo>
                      <a:pt x="99" y="220"/>
                    </a:lnTo>
                    <a:lnTo>
                      <a:pt x="91" y="219"/>
                    </a:lnTo>
                    <a:lnTo>
                      <a:pt x="81" y="218"/>
                    </a:lnTo>
                    <a:lnTo>
                      <a:pt x="67" y="215"/>
                    </a:lnTo>
                    <a:lnTo>
                      <a:pt x="55" y="210"/>
                    </a:lnTo>
                    <a:lnTo>
                      <a:pt x="42" y="204"/>
                    </a:lnTo>
                    <a:lnTo>
                      <a:pt x="31" y="196"/>
                    </a:lnTo>
                    <a:lnTo>
                      <a:pt x="22" y="189"/>
                    </a:lnTo>
                    <a:lnTo>
                      <a:pt x="16" y="183"/>
                    </a:lnTo>
                    <a:lnTo>
                      <a:pt x="10" y="174"/>
                    </a:lnTo>
                    <a:lnTo>
                      <a:pt x="5" y="164"/>
                    </a:lnTo>
                    <a:lnTo>
                      <a:pt x="3" y="157"/>
                    </a:lnTo>
                    <a:lnTo>
                      <a:pt x="1" y="150"/>
                    </a:lnTo>
                    <a:lnTo>
                      <a:pt x="0" y="143"/>
                    </a:lnTo>
                    <a:lnTo>
                      <a:pt x="1" y="137"/>
                    </a:lnTo>
                    <a:lnTo>
                      <a:pt x="2" y="126"/>
                    </a:lnTo>
                    <a:lnTo>
                      <a:pt x="5" y="117"/>
                    </a:lnTo>
                    <a:lnTo>
                      <a:pt x="10" y="106"/>
                    </a:lnTo>
                    <a:lnTo>
                      <a:pt x="18" y="97"/>
                    </a:lnTo>
                    <a:lnTo>
                      <a:pt x="26" y="88"/>
                    </a:lnTo>
                    <a:lnTo>
                      <a:pt x="37" y="80"/>
                    </a:lnTo>
                    <a:lnTo>
                      <a:pt x="47" y="74"/>
                    </a:lnTo>
                    <a:lnTo>
                      <a:pt x="61" y="68"/>
                    </a:lnTo>
                    <a:lnTo>
                      <a:pt x="76" y="64"/>
                    </a:lnTo>
                    <a:lnTo>
                      <a:pt x="86" y="62"/>
                    </a:lnTo>
                    <a:lnTo>
                      <a:pt x="30" y="3"/>
                    </a:lnTo>
                  </a:path>
                </a:pathLst>
              </a:custGeom>
              <a:solidFill>
                <a:schemeClr val="bg2"/>
              </a:solidFill>
              <a:ln w="254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4" name="Rectangle 14">
                <a:extLst>
                  <a:ext uri="{FF2B5EF4-FFF2-40B4-BE49-F238E27FC236}">
                    <a16:creationId xmlns:a16="http://schemas.microsoft.com/office/drawing/2014/main" id="{65FAE7A5-66E1-4C16-833F-6BBAA2940E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" y="2537"/>
                <a:ext cx="255" cy="289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pPr algn="ctr" eaLnBrk="0" hangingPunct="0"/>
                <a:r>
                  <a:rPr lang="en-US" b="1" dirty="0">
                    <a:solidFill>
                      <a:srgbClr val="C00000"/>
                    </a:solidFill>
                    <a:latin typeface="FranklinGothic" charset="0"/>
                  </a:rPr>
                  <a:t>D</a:t>
                </a:r>
              </a:p>
            </p:txBody>
          </p:sp>
        </p:grpSp>
        <p:grpSp>
          <p:nvGrpSpPr>
            <p:cNvPr id="77" name="Group 15">
              <a:extLst>
                <a:ext uri="{FF2B5EF4-FFF2-40B4-BE49-F238E27FC236}">
                  <a16:creationId xmlns:a16="http://schemas.microsoft.com/office/drawing/2014/main" id="{719BADC4-B8CD-4E24-A6D8-7D72792819F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0" y="1479"/>
              <a:ext cx="260" cy="303"/>
              <a:chOff x="440" y="1479"/>
              <a:chExt cx="260" cy="303"/>
            </a:xfrm>
          </p:grpSpPr>
          <p:sp>
            <p:nvSpPr>
              <p:cNvPr id="211" name="Freeform 16">
                <a:extLst>
                  <a:ext uri="{FF2B5EF4-FFF2-40B4-BE49-F238E27FC236}">
                    <a16:creationId xmlns:a16="http://schemas.microsoft.com/office/drawing/2014/main" id="{FBAC03FC-0E5E-4AD8-9BAB-0EAFABBFA5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" y="1479"/>
                <a:ext cx="246" cy="221"/>
              </a:xfrm>
              <a:custGeom>
                <a:avLst/>
                <a:gdLst>
                  <a:gd name="T0" fmla="*/ 69 w 246"/>
                  <a:gd name="T1" fmla="*/ 10 h 221"/>
                  <a:gd name="T2" fmla="*/ 117 w 246"/>
                  <a:gd name="T3" fmla="*/ 12 h 221"/>
                  <a:gd name="T4" fmla="*/ 167 w 246"/>
                  <a:gd name="T5" fmla="*/ 0 h 221"/>
                  <a:gd name="T6" fmla="*/ 228 w 246"/>
                  <a:gd name="T7" fmla="*/ 0 h 221"/>
                  <a:gd name="T8" fmla="*/ 161 w 246"/>
                  <a:gd name="T9" fmla="*/ 63 h 221"/>
                  <a:gd name="T10" fmla="*/ 179 w 246"/>
                  <a:gd name="T11" fmla="*/ 67 h 221"/>
                  <a:gd name="T12" fmla="*/ 196 w 246"/>
                  <a:gd name="T13" fmla="*/ 74 h 221"/>
                  <a:gd name="T14" fmla="*/ 213 w 246"/>
                  <a:gd name="T15" fmla="*/ 83 h 221"/>
                  <a:gd name="T16" fmla="*/ 226 w 246"/>
                  <a:gd name="T17" fmla="*/ 94 h 221"/>
                  <a:gd name="T18" fmla="*/ 236 w 246"/>
                  <a:gd name="T19" fmla="*/ 108 h 221"/>
                  <a:gd name="T20" fmla="*/ 243 w 246"/>
                  <a:gd name="T21" fmla="*/ 123 h 221"/>
                  <a:gd name="T22" fmla="*/ 245 w 246"/>
                  <a:gd name="T23" fmla="*/ 140 h 221"/>
                  <a:gd name="T24" fmla="*/ 242 w 246"/>
                  <a:gd name="T25" fmla="*/ 157 h 221"/>
                  <a:gd name="T26" fmla="*/ 237 w 246"/>
                  <a:gd name="T27" fmla="*/ 171 h 221"/>
                  <a:gd name="T28" fmla="*/ 226 w 246"/>
                  <a:gd name="T29" fmla="*/ 185 h 221"/>
                  <a:gd name="T30" fmla="*/ 209 w 246"/>
                  <a:gd name="T31" fmla="*/ 200 h 221"/>
                  <a:gd name="T32" fmla="*/ 192 w 246"/>
                  <a:gd name="T33" fmla="*/ 209 h 221"/>
                  <a:gd name="T34" fmla="*/ 176 w 246"/>
                  <a:gd name="T35" fmla="*/ 215 h 221"/>
                  <a:gd name="T36" fmla="*/ 161 w 246"/>
                  <a:gd name="T37" fmla="*/ 219 h 221"/>
                  <a:gd name="T38" fmla="*/ 141 w 246"/>
                  <a:gd name="T39" fmla="*/ 220 h 221"/>
                  <a:gd name="T40" fmla="*/ 91 w 246"/>
                  <a:gd name="T41" fmla="*/ 219 h 221"/>
                  <a:gd name="T42" fmla="*/ 67 w 246"/>
                  <a:gd name="T43" fmla="*/ 215 h 221"/>
                  <a:gd name="T44" fmla="*/ 42 w 246"/>
                  <a:gd name="T45" fmla="*/ 204 h 221"/>
                  <a:gd name="T46" fmla="*/ 22 w 246"/>
                  <a:gd name="T47" fmla="*/ 189 h 221"/>
                  <a:gd name="T48" fmla="*/ 10 w 246"/>
                  <a:gd name="T49" fmla="*/ 174 h 221"/>
                  <a:gd name="T50" fmla="*/ 3 w 246"/>
                  <a:gd name="T51" fmla="*/ 157 h 221"/>
                  <a:gd name="T52" fmla="*/ 0 w 246"/>
                  <a:gd name="T53" fmla="*/ 143 h 221"/>
                  <a:gd name="T54" fmla="*/ 2 w 246"/>
                  <a:gd name="T55" fmla="*/ 126 h 221"/>
                  <a:gd name="T56" fmla="*/ 10 w 246"/>
                  <a:gd name="T57" fmla="*/ 106 h 221"/>
                  <a:gd name="T58" fmla="*/ 26 w 246"/>
                  <a:gd name="T59" fmla="*/ 88 h 221"/>
                  <a:gd name="T60" fmla="*/ 47 w 246"/>
                  <a:gd name="T61" fmla="*/ 74 h 221"/>
                  <a:gd name="T62" fmla="*/ 76 w 246"/>
                  <a:gd name="T63" fmla="*/ 64 h 221"/>
                  <a:gd name="T64" fmla="*/ 30 w 246"/>
                  <a:gd name="T65" fmla="*/ 3 h 221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46"/>
                  <a:gd name="T100" fmla="*/ 0 h 221"/>
                  <a:gd name="T101" fmla="*/ 246 w 246"/>
                  <a:gd name="T102" fmla="*/ 221 h 221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46" h="221">
                    <a:moveTo>
                      <a:pt x="30" y="3"/>
                    </a:moveTo>
                    <a:lnTo>
                      <a:pt x="69" y="10"/>
                    </a:lnTo>
                    <a:lnTo>
                      <a:pt x="69" y="0"/>
                    </a:lnTo>
                    <a:lnTo>
                      <a:pt x="117" y="12"/>
                    </a:lnTo>
                    <a:lnTo>
                      <a:pt x="117" y="0"/>
                    </a:lnTo>
                    <a:lnTo>
                      <a:pt x="167" y="0"/>
                    </a:lnTo>
                    <a:lnTo>
                      <a:pt x="167" y="11"/>
                    </a:lnTo>
                    <a:lnTo>
                      <a:pt x="228" y="0"/>
                    </a:lnTo>
                    <a:lnTo>
                      <a:pt x="153" y="62"/>
                    </a:lnTo>
                    <a:lnTo>
                      <a:pt x="161" y="63"/>
                    </a:lnTo>
                    <a:lnTo>
                      <a:pt x="169" y="64"/>
                    </a:lnTo>
                    <a:lnTo>
                      <a:pt x="179" y="67"/>
                    </a:lnTo>
                    <a:lnTo>
                      <a:pt x="187" y="70"/>
                    </a:lnTo>
                    <a:lnTo>
                      <a:pt x="196" y="74"/>
                    </a:lnTo>
                    <a:lnTo>
                      <a:pt x="205" y="78"/>
                    </a:lnTo>
                    <a:lnTo>
                      <a:pt x="213" y="83"/>
                    </a:lnTo>
                    <a:lnTo>
                      <a:pt x="220" y="89"/>
                    </a:lnTo>
                    <a:lnTo>
                      <a:pt x="226" y="94"/>
                    </a:lnTo>
                    <a:lnTo>
                      <a:pt x="231" y="101"/>
                    </a:lnTo>
                    <a:lnTo>
                      <a:pt x="236" y="108"/>
                    </a:lnTo>
                    <a:lnTo>
                      <a:pt x="240" y="116"/>
                    </a:lnTo>
                    <a:lnTo>
                      <a:pt x="243" y="123"/>
                    </a:lnTo>
                    <a:lnTo>
                      <a:pt x="244" y="130"/>
                    </a:lnTo>
                    <a:lnTo>
                      <a:pt x="245" y="140"/>
                    </a:lnTo>
                    <a:lnTo>
                      <a:pt x="244" y="150"/>
                    </a:lnTo>
                    <a:lnTo>
                      <a:pt x="242" y="157"/>
                    </a:lnTo>
                    <a:lnTo>
                      <a:pt x="240" y="165"/>
                    </a:lnTo>
                    <a:lnTo>
                      <a:pt x="237" y="171"/>
                    </a:lnTo>
                    <a:lnTo>
                      <a:pt x="232" y="177"/>
                    </a:lnTo>
                    <a:lnTo>
                      <a:pt x="226" y="185"/>
                    </a:lnTo>
                    <a:lnTo>
                      <a:pt x="218" y="193"/>
                    </a:lnTo>
                    <a:lnTo>
                      <a:pt x="209" y="200"/>
                    </a:lnTo>
                    <a:lnTo>
                      <a:pt x="200" y="205"/>
                    </a:lnTo>
                    <a:lnTo>
                      <a:pt x="192" y="209"/>
                    </a:lnTo>
                    <a:lnTo>
                      <a:pt x="184" y="213"/>
                    </a:lnTo>
                    <a:lnTo>
                      <a:pt x="176" y="215"/>
                    </a:lnTo>
                    <a:lnTo>
                      <a:pt x="167" y="217"/>
                    </a:lnTo>
                    <a:lnTo>
                      <a:pt x="161" y="219"/>
                    </a:lnTo>
                    <a:lnTo>
                      <a:pt x="150" y="219"/>
                    </a:lnTo>
                    <a:lnTo>
                      <a:pt x="141" y="220"/>
                    </a:lnTo>
                    <a:lnTo>
                      <a:pt x="99" y="220"/>
                    </a:lnTo>
                    <a:lnTo>
                      <a:pt x="91" y="219"/>
                    </a:lnTo>
                    <a:lnTo>
                      <a:pt x="81" y="218"/>
                    </a:lnTo>
                    <a:lnTo>
                      <a:pt x="67" y="215"/>
                    </a:lnTo>
                    <a:lnTo>
                      <a:pt x="55" y="210"/>
                    </a:lnTo>
                    <a:lnTo>
                      <a:pt x="42" y="204"/>
                    </a:lnTo>
                    <a:lnTo>
                      <a:pt x="31" y="196"/>
                    </a:lnTo>
                    <a:lnTo>
                      <a:pt x="22" y="189"/>
                    </a:lnTo>
                    <a:lnTo>
                      <a:pt x="16" y="183"/>
                    </a:lnTo>
                    <a:lnTo>
                      <a:pt x="10" y="174"/>
                    </a:lnTo>
                    <a:lnTo>
                      <a:pt x="5" y="164"/>
                    </a:lnTo>
                    <a:lnTo>
                      <a:pt x="3" y="157"/>
                    </a:lnTo>
                    <a:lnTo>
                      <a:pt x="1" y="150"/>
                    </a:lnTo>
                    <a:lnTo>
                      <a:pt x="0" y="143"/>
                    </a:lnTo>
                    <a:lnTo>
                      <a:pt x="1" y="137"/>
                    </a:lnTo>
                    <a:lnTo>
                      <a:pt x="2" y="126"/>
                    </a:lnTo>
                    <a:lnTo>
                      <a:pt x="5" y="117"/>
                    </a:lnTo>
                    <a:lnTo>
                      <a:pt x="10" y="106"/>
                    </a:lnTo>
                    <a:lnTo>
                      <a:pt x="18" y="97"/>
                    </a:lnTo>
                    <a:lnTo>
                      <a:pt x="26" y="88"/>
                    </a:lnTo>
                    <a:lnTo>
                      <a:pt x="37" y="80"/>
                    </a:lnTo>
                    <a:lnTo>
                      <a:pt x="47" y="74"/>
                    </a:lnTo>
                    <a:lnTo>
                      <a:pt x="61" y="68"/>
                    </a:lnTo>
                    <a:lnTo>
                      <a:pt x="76" y="64"/>
                    </a:lnTo>
                    <a:lnTo>
                      <a:pt x="86" y="62"/>
                    </a:lnTo>
                    <a:lnTo>
                      <a:pt x="30" y="3"/>
                    </a:lnTo>
                  </a:path>
                </a:pathLst>
              </a:custGeom>
              <a:solidFill>
                <a:schemeClr val="bg2"/>
              </a:solidFill>
              <a:ln w="254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2" name="Rectangle 17">
                <a:extLst>
                  <a:ext uri="{FF2B5EF4-FFF2-40B4-BE49-F238E27FC236}">
                    <a16:creationId xmlns:a16="http://schemas.microsoft.com/office/drawing/2014/main" id="{3CB7E74F-5B91-45B6-81C7-8C4302A9E6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" y="1493"/>
                <a:ext cx="255" cy="289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pPr algn="ctr" eaLnBrk="0" hangingPunct="0"/>
                <a:r>
                  <a:rPr lang="en-US" b="1" dirty="0">
                    <a:solidFill>
                      <a:srgbClr val="C00000"/>
                    </a:solidFill>
                    <a:latin typeface="FranklinGothic" charset="0"/>
                  </a:rPr>
                  <a:t>A</a:t>
                </a:r>
              </a:p>
            </p:txBody>
          </p:sp>
        </p:grpSp>
        <p:sp>
          <p:nvSpPr>
            <p:cNvPr id="78" name="Line 18">
              <a:extLst>
                <a:ext uri="{FF2B5EF4-FFF2-40B4-BE49-F238E27FC236}">
                  <a16:creationId xmlns:a16="http://schemas.microsoft.com/office/drawing/2014/main" id="{B75D2479-9656-46CD-9518-39AFC39C90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9" y="1371"/>
              <a:ext cx="3" cy="13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Rectangle 19">
              <a:extLst>
                <a:ext uri="{FF2B5EF4-FFF2-40B4-BE49-F238E27FC236}">
                  <a16:creationId xmlns:a16="http://schemas.microsoft.com/office/drawing/2014/main" id="{1DBCC008-9572-46EC-A983-A97417BD18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8" y="1104"/>
              <a:ext cx="541" cy="28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i="1">
                  <a:latin typeface="FranklinGothic" charset="0"/>
                </a:rPr>
                <a:t>Time</a:t>
              </a:r>
            </a:p>
          </p:txBody>
        </p:sp>
        <p:sp>
          <p:nvSpPr>
            <p:cNvPr id="80" name="Rectangle 39">
              <a:extLst>
                <a:ext uri="{FF2B5EF4-FFF2-40B4-BE49-F238E27FC236}">
                  <a16:creationId xmlns:a16="http://schemas.microsoft.com/office/drawing/2014/main" id="{E767D62B-6633-4D7C-9AFD-8CAB70AA7B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" y="658"/>
              <a:ext cx="487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2000" b="1">
                  <a:latin typeface="FranklinGothic" charset="0"/>
                </a:rPr>
                <a:t>6 PM</a:t>
              </a:r>
            </a:p>
          </p:txBody>
        </p:sp>
        <p:sp>
          <p:nvSpPr>
            <p:cNvPr id="81" name="Rectangle 41">
              <a:extLst>
                <a:ext uri="{FF2B5EF4-FFF2-40B4-BE49-F238E27FC236}">
                  <a16:creationId xmlns:a16="http://schemas.microsoft.com/office/drawing/2014/main" id="{B61DA767-6952-4634-8A29-6F0211268D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9" y="669"/>
              <a:ext cx="203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2000" b="1">
                  <a:latin typeface="FranklinGothic" charset="0"/>
                </a:rPr>
                <a:t>7</a:t>
              </a:r>
            </a:p>
          </p:txBody>
        </p:sp>
        <p:sp>
          <p:nvSpPr>
            <p:cNvPr id="82" name="Rectangle 42">
              <a:extLst>
                <a:ext uri="{FF2B5EF4-FFF2-40B4-BE49-F238E27FC236}">
                  <a16:creationId xmlns:a16="http://schemas.microsoft.com/office/drawing/2014/main" id="{625A5549-0288-4319-B5BE-13D04F197A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5" y="664"/>
              <a:ext cx="203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2000" b="1">
                  <a:latin typeface="FranklinGothic" charset="0"/>
                </a:rPr>
                <a:t>8</a:t>
              </a:r>
            </a:p>
          </p:txBody>
        </p:sp>
        <p:sp>
          <p:nvSpPr>
            <p:cNvPr id="83" name="Rectangle 43">
              <a:extLst>
                <a:ext uri="{FF2B5EF4-FFF2-40B4-BE49-F238E27FC236}">
                  <a16:creationId xmlns:a16="http://schemas.microsoft.com/office/drawing/2014/main" id="{5B0A5905-BEF4-46DB-B4BD-4267FD1A7F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6" y="681"/>
              <a:ext cx="203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2000" b="1">
                  <a:latin typeface="FranklinGothic" charset="0"/>
                </a:rPr>
                <a:t>9</a:t>
              </a:r>
            </a:p>
          </p:txBody>
        </p:sp>
        <p:sp>
          <p:nvSpPr>
            <p:cNvPr id="84" name="Rectangle 44">
              <a:extLst>
                <a:ext uri="{FF2B5EF4-FFF2-40B4-BE49-F238E27FC236}">
                  <a16:creationId xmlns:a16="http://schemas.microsoft.com/office/drawing/2014/main" id="{8BD10227-F485-4480-9BF7-99A435B253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0" y="671"/>
              <a:ext cx="292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2000" b="1">
                  <a:latin typeface="FranklinGothic" charset="0"/>
                </a:rPr>
                <a:t>10</a:t>
              </a:r>
            </a:p>
          </p:txBody>
        </p:sp>
        <p:sp>
          <p:nvSpPr>
            <p:cNvPr id="85" name="Rectangle 45">
              <a:extLst>
                <a:ext uri="{FF2B5EF4-FFF2-40B4-BE49-F238E27FC236}">
                  <a16:creationId xmlns:a16="http://schemas.microsoft.com/office/drawing/2014/main" id="{DC14B482-0BDC-4CE1-AA1E-8F65B86AB0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6" y="669"/>
              <a:ext cx="292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2000" b="1">
                  <a:latin typeface="FranklinGothic" charset="0"/>
                </a:rPr>
                <a:t>11</a:t>
              </a:r>
            </a:p>
          </p:txBody>
        </p:sp>
        <p:sp>
          <p:nvSpPr>
            <p:cNvPr id="86" name="Rectangle 46">
              <a:extLst>
                <a:ext uri="{FF2B5EF4-FFF2-40B4-BE49-F238E27FC236}">
                  <a16:creationId xmlns:a16="http://schemas.microsoft.com/office/drawing/2014/main" id="{1947A65E-B4A4-45BA-BC0D-171A2F551D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5" y="652"/>
              <a:ext cx="292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/>
              <a:r>
                <a:rPr lang="en-US" sz="2000" b="1">
                  <a:latin typeface="FranklinGothic" charset="0"/>
                </a:rPr>
                <a:t>12</a:t>
              </a:r>
            </a:p>
          </p:txBody>
        </p:sp>
        <p:sp>
          <p:nvSpPr>
            <p:cNvPr id="87" name="Rectangle 47">
              <a:extLst>
                <a:ext uri="{FF2B5EF4-FFF2-40B4-BE49-F238E27FC236}">
                  <a16:creationId xmlns:a16="http://schemas.microsoft.com/office/drawing/2014/main" id="{BE2562D3-1D55-4876-8716-4E9D76B340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16" y="663"/>
              <a:ext cx="203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/>
              <a:r>
                <a:rPr lang="en-US" sz="2000" b="1">
                  <a:latin typeface="FranklinGothic" charset="0"/>
                </a:rPr>
                <a:t>1</a:t>
              </a:r>
            </a:p>
          </p:txBody>
        </p:sp>
        <p:sp>
          <p:nvSpPr>
            <p:cNvPr id="88" name="Line 48">
              <a:extLst>
                <a:ext uri="{FF2B5EF4-FFF2-40B4-BE49-F238E27FC236}">
                  <a16:creationId xmlns:a16="http://schemas.microsoft.com/office/drawing/2014/main" id="{72E62466-9434-4B53-B45E-8900F270EA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6" y="978"/>
              <a:ext cx="47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Rectangle 49">
              <a:extLst>
                <a:ext uri="{FF2B5EF4-FFF2-40B4-BE49-F238E27FC236}">
                  <a16:creationId xmlns:a16="http://schemas.microsoft.com/office/drawing/2014/main" id="{CCBE4062-53AF-4887-8477-32DFCBA518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20" y="646"/>
              <a:ext cx="496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/>
              <a:r>
                <a:rPr lang="en-US" sz="2000" b="1">
                  <a:latin typeface="FranklinGothic" charset="0"/>
                </a:rPr>
                <a:t>2 AM</a:t>
              </a:r>
            </a:p>
          </p:txBody>
        </p:sp>
        <p:grpSp>
          <p:nvGrpSpPr>
            <p:cNvPr id="90" name="Group 268">
              <a:extLst>
                <a:ext uri="{FF2B5EF4-FFF2-40B4-BE49-F238E27FC236}">
                  <a16:creationId xmlns:a16="http://schemas.microsoft.com/office/drawing/2014/main" id="{597741AE-6968-41FF-9059-DB8B1B39D5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56" y="1742"/>
              <a:ext cx="1736" cy="311"/>
              <a:chOff x="1056" y="1742"/>
              <a:chExt cx="1736" cy="311"/>
            </a:xfrm>
          </p:grpSpPr>
          <p:sp>
            <p:nvSpPr>
              <p:cNvPr id="194" name="AutoShape 145">
                <a:extLst>
                  <a:ext uri="{FF2B5EF4-FFF2-40B4-BE49-F238E27FC236}">
                    <a16:creationId xmlns:a16="http://schemas.microsoft.com/office/drawing/2014/main" id="{E3A08AC2-BF9B-4F5E-80A2-97FF042BDB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1794"/>
                <a:ext cx="208" cy="259"/>
              </a:xfrm>
              <a:prstGeom prst="cube">
                <a:avLst>
                  <a:gd name="adj" fmla="val 24995"/>
                </a:avLst>
              </a:prstGeom>
              <a:solidFill>
                <a:srgbClr val="DC008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5" name="AutoShape 146">
                <a:extLst>
                  <a:ext uri="{FF2B5EF4-FFF2-40B4-BE49-F238E27FC236}">
                    <a16:creationId xmlns:a16="http://schemas.microsoft.com/office/drawing/2014/main" id="{E615C407-34F6-4DC0-8CB4-D5FBE0FEE7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7" y="1742"/>
                <a:ext cx="157" cy="46"/>
              </a:xfrm>
              <a:prstGeom prst="cube">
                <a:avLst>
                  <a:gd name="adj" fmla="val 24995"/>
                </a:avLst>
              </a:prstGeom>
              <a:solidFill>
                <a:srgbClr val="DC008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6" name="AutoShape 147">
                <a:extLst>
                  <a:ext uri="{FF2B5EF4-FFF2-40B4-BE49-F238E27FC236}">
                    <a16:creationId xmlns:a16="http://schemas.microsoft.com/office/drawing/2014/main" id="{ACCEE57A-84B3-4041-B313-6BF4870A74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98" y="1814"/>
                <a:ext cx="107" cy="15"/>
              </a:xfrm>
              <a:prstGeom prst="parallelogram">
                <a:avLst>
                  <a:gd name="adj" fmla="val 178300"/>
                </a:avLst>
              </a:prstGeom>
              <a:solidFill>
                <a:srgbClr val="DC008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97" name="Group 148">
                <a:extLst>
                  <a:ext uri="{FF2B5EF4-FFF2-40B4-BE49-F238E27FC236}">
                    <a16:creationId xmlns:a16="http://schemas.microsoft.com/office/drawing/2014/main" id="{F6457268-AC1C-45C9-BBF0-B20CBC4EEEE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02" y="1769"/>
                <a:ext cx="201" cy="257"/>
                <a:chOff x="1811" y="1710"/>
                <a:chExt cx="201" cy="257"/>
              </a:xfrm>
            </p:grpSpPr>
            <p:sp>
              <p:nvSpPr>
                <p:cNvPr id="205" name="Freeform 149">
                  <a:extLst>
                    <a:ext uri="{FF2B5EF4-FFF2-40B4-BE49-F238E27FC236}">
                      <a16:creationId xmlns:a16="http://schemas.microsoft.com/office/drawing/2014/main" id="{ED6C52F9-0A96-4828-9E7E-9AB6A2FA61E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40" y="1829"/>
                  <a:ext cx="60" cy="138"/>
                </a:xfrm>
                <a:custGeom>
                  <a:avLst/>
                  <a:gdLst>
                    <a:gd name="T0" fmla="*/ 43 w 60"/>
                    <a:gd name="T1" fmla="*/ 0 h 138"/>
                    <a:gd name="T2" fmla="*/ 59 w 60"/>
                    <a:gd name="T3" fmla="*/ 0 h 138"/>
                    <a:gd name="T4" fmla="*/ 16 w 60"/>
                    <a:gd name="T5" fmla="*/ 137 h 138"/>
                    <a:gd name="T6" fmla="*/ 0 w 60"/>
                    <a:gd name="T7" fmla="*/ 137 h 138"/>
                    <a:gd name="T8" fmla="*/ 43 w 60"/>
                    <a:gd name="T9" fmla="*/ 0 h 13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0"/>
                    <a:gd name="T16" fmla="*/ 0 h 138"/>
                    <a:gd name="T17" fmla="*/ 60 w 60"/>
                    <a:gd name="T18" fmla="*/ 138 h 13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0" h="138">
                      <a:moveTo>
                        <a:pt x="43" y="0"/>
                      </a:moveTo>
                      <a:lnTo>
                        <a:pt x="59" y="0"/>
                      </a:lnTo>
                      <a:lnTo>
                        <a:pt x="16" y="137"/>
                      </a:lnTo>
                      <a:lnTo>
                        <a:pt x="0" y="137"/>
                      </a:lnTo>
                      <a:lnTo>
                        <a:pt x="43" y="0"/>
                      </a:lnTo>
                    </a:path>
                  </a:pathLst>
                </a:custGeom>
                <a:solidFill>
                  <a:srgbClr val="F39FD1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6" name="Rectangle 150">
                  <a:extLst>
                    <a:ext uri="{FF2B5EF4-FFF2-40B4-BE49-F238E27FC236}">
                      <a16:creationId xmlns:a16="http://schemas.microsoft.com/office/drawing/2014/main" id="{6C14C7C6-742C-4348-97E1-3728C3F69C0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36" y="1829"/>
                  <a:ext cx="76" cy="12"/>
                </a:xfrm>
                <a:prstGeom prst="rect">
                  <a:avLst/>
                </a:prstGeom>
                <a:solidFill>
                  <a:srgbClr val="F39FD1"/>
                </a:solidFill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7" name="Rectangle 151">
                  <a:extLst>
                    <a:ext uri="{FF2B5EF4-FFF2-40B4-BE49-F238E27FC236}">
                      <a16:creationId xmlns:a16="http://schemas.microsoft.com/office/drawing/2014/main" id="{BFD6DF48-FC2E-48C8-B1A9-E40109C47AC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42" y="1887"/>
                  <a:ext cx="57" cy="11"/>
                </a:xfrm>
                <a:prstGeom prst="rect">
                  <a:avLst/>
                </a:prstGeom>
                <a:solidFill>
                  <a:srgbClr val="F39FD1"/>
                </a:solidFill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8" name="Rectangle 152">
                  <a:extLst>
                    <a:ext uri="{FF2B5EF4-FFF2-40B4-BE49-F238E27FC236}">
                      <a16:creationId xmlns:a16="http://schemas.microsoft.com/office/drawing/2014/main" id="{20924C96-D423-46D4-8709-4DB0EE8081C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11" y="1887"/>
                  <a:ext cx="75" cy="7"/>
                </a:xfrm>
                <a:prstGeom prst="rect">
                  <a:avLst/>
                </a:prstGeom>
                <a:solidFill>
                  <a:srgbClr val="F39FD1"/>
                </a:solidFill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9" name="Oval 153">
                  <a:extLst>
                    <a:ext uri="{FF2B5EF4-FFF2-40B4-BE49-F238E27FC236}">
                      <a16:creationId xmlns:a16="http://schemas.microsoft.com/office/drawing/2014/main" id="{42103D6E-7E4E-4772-B322-CCAE2977A54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0" y="1710"/>
                  <a:ext cx="22" cy="26"/>
                </a:xfrm>
                <a:prstGeom prst="ellipse">
                  <a:avLst/>
                </a:prstGeom>
                <a:solidFill>
                  <a:srgbClr val="F39FD1"/>
                </a:solidFill>
                <a:ln w="254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0" name="Freeform 154">
                  <a:extLst>
                    <a:ext uri="{FF2B5EF4-FFF2-40B4-BE49-F238E27FC236}">
                      <a16:creationId xmlns:a16="http://schemas.microsoft.com/office/drawing/2014/main" id="{E7A8DC97-AD97-46E4-A2F8-EFD3E9F971F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11" y="1755"/>
                  <a:ext cx="138" cy="212"/>
                </a:xfrm>
                <a:custGeom>
                  <a:avLst/>
                  <a:gdLst>
                    <a:gd name="T0" fmla="*/ 1 w 138"/>
                    <a:gd name="T1" fmla="*/ 98 h 212"/>
                    <a:gd name="T2" fmla="*/ 1 w 138"/>
                    <a:gd name="T3" fmla="*/ 100 h 212"/>
                    <a:gd name="T4" fmla="*/ 0 w 138"/>
                    <a:gd name="T5" fmla="*/ 104 h 212"/>
                    <a:gd name="T6" fmla="*/ 0 w 138"/>
                    <a:gd name="T7" fmla="*/ 107 h 212"/>
                    <a:gd name="T8" fmla="*/ 1 w 138"/>
                    <a:gd name="T9" fmla="*/ 111 h 212"/>
                    <a:gd name="T10" fmla="*/ 3 w 138"/>
                    <a:gd name="T11" fmla="*/ 114 h 212"/>
                    <a:gd name="T12" fmla="*/ 6 w 138"/>
                    <a:gd name="T13" fmla="*/ 116 h 212"/>
                    <a:gd name="T14" fmla="*/ 9 w 138"/>
                    <a:gd name="T15" fmla="*/ 118 h 212"/>
                    <a:gd name="T16" fmla="*/ 11 w 138"/>
                    <a:gd name="T17" fmla="*/ 119 h 212"/>
                    <a:gd name="T18" fmla="*/ 15 w 138"/>
                    <a:gd name="T19" fmla="*/ 119 h 212"/>
                    <a:gd name="T20" fmla="*/ 89 w 138"/>
                    <a:gd name="T21" fmla="*/ 211 h 212"/>
                    <a:gd name="T22" fmla="*/ 113 w 138"/>
                    <a:gd name="T23" fmla="*/ 101 h 212"/>
                    <a:gd name="T24" fmla="*/ 113 w 138"/>
                    <a:gd name="T25" fmla="*/ 99 h 212"/>
                    <a:gd name="T26" fmla="*/ 111 w 138"/>
                    <a:gd name="T27" fmla="*/ 97 h 212"/>
                    <a:gd name="T28" fmla="*/ 109 w 138"/>
                    <a:gd name="T29" fmla="*/ 95 h 212"/>
                    <a:gd name="T30" fmla="*/ 108 w 138"/>
                    <a:gd name="T31" fmla="*/ 94 h 212"/>
                    <a:gd name="T32" fmla="*/ 105 w 138"/>
                    <a:gd name="T33" fmla="*/ 93 h 212"/>
                    <a:gd name="T34" fmla="*/ 102 w 138"/>
                    <a:gd name="T35" fmla="*/ 92 h 212"/>
                    <a:gd name="T36" fmla="*/ 100 w 138"/>
                    <a:gd name="T37" fmla="*/ 92 h 212"/>
                    <a:gd name="T38" fmla="*/ 97 w 138"/>
                    <a:gd name="T39" fmla="*/ 92 h 212"/>
                    <a:gd name="T40" fmla="*/ 66 w 138"/>
                    <a:gd name="T41" fmla="*/ 54 h 212"/>
                    <a:gd name="T42" fmla="*/ 127 w 138"/>
                    <a:gd name="T43" fmla="*/ 67 h 212"/>
                    <a:gd name="T44" fmla="*/ 130 w 138"/>
                    <a:gd name="T45" fmla="*/ 66 h 212"/>
                    <a:gd name="T46" fmla="*/ 131 w 138"/>
                    <a:gd name="T47" fmla="*/ 65 h 212"/>
                    <a:gd name="T48" fmla="*/ 134 w 138"/>
                    <a:gd name="T49" fmla="*/ 63 h 212"/>
                    <a:gd name="T50" fmla="*/ 136 w 138"/>
                    <a:gd name="T51" fmla="*/ 62 h 212"/>
                    <a:gd name="T52" fmla="*/ 136 w 138"/>
                    <a:gd name="T53" fmla="*/ 59 h 212"/>
                    <a:gd name="T54" fmla="*/ 137 w 138"/>
                    <a:gd name="T55" fmla="*/ 56 h 212"/>
                    <a:gd name="T56" fmla="*/ 136 w 138"/>
                    <a:gd name="T57" fmla="*/ 53 h 212"/>
                    <a:gd name="T58" fmla="*/ 135 w 138"/>
                    <a:gd name="T59" fmla="*/ 50 h 212"/>
                    <a:gd name="T60" fmla="*/ 133 w 138"/>
                    <a:gd name="T61" fmla="*/ 49 h 212"/>
                    <a:gd name="T62" fmla="*/ 131 w 138"/>
                    <a:gd name="T63" fmla="*/ 47 h 212"/>
                    <a:gd name="T64" fmla="*/ 128 w 138"/>
                    <a:gd name="T65" fmla="*/ 46 h 212"/>
                    <a:gd name="T66" fmla="*/ 87 w 138"/>
                    <a:gd name="T67" fmla="*/ 46 h 212"/>
                    <a:gd name="T68" fmla="*/ 80 w 138"/>
                    <a:gd name="T69" fmla="*/ 30 h 212"/>
                    <a:gd name="T70" fmla="*/ 80 w 138"/>
                    <a:gd name="T71" fmla="*/ 26 h 212"/>
                    <a:gd name="T72" fmla="*/ 81 w 138"/>
                    <a:gd name="T73" fmla="*/ 22 h 212"/>
                    <a:gd name="T74" fmla="*/ 81 w 138"/>
                    <a:gd name="T75" fmla="*/ 17 h 212"/>
                    <a:gd name="T76" fmla="*/ 80 w 138"/>
                    <a:gd name="T77" fmla="*/ 14 h 212"/>
                    <a:gd name="T78" fmla="*/ 78 w 138"/>
                    <a:gd name="T79" fmla="*/ 11 h 212"/>
                    <a:gd name="T80" fmla="*/ 76 w 138"/>
                    <a:gd name="T81" fmla="*/ 7 h 212"/>
                    <a:gd name="T82" fmla="*/ 73 w 138"/>
                    <a:gd name="T83" fmla="*/ 5 h 212"/>
                    <a:gd name="T84" fmla="*/ 70 w 138"/>
                    <a:gd name="T85" fmla="*/ 2 h 212"/>
                    <a:gd name="T86" fmla="*/ 66 w 138"/>
                    <a:gd name="T87" fmla="*/ 1 h 212"/>
                    <a:gd name="T88" fmla="*/ 62 w 138"/>
                    <a:gd name="T89" fmla="*/ 0 h 212"/>
                    <a:gd name="T90" fmla="*/ 57 w 138"/>
                    <a:gd name="T91" fmla="*/ 0 h 212"/>
                    <a:gd name="T92" fmla="*/ 53 w 138"/>
                    <a:gd name="T93" fmla="*/ 1 h 212"/>
                    <a:gd name="T94" fmla="*/ 49 w 138"/>
                    <a:gd name="T95" fmla="*/ 2 h 212"/>
                    <a:gd name="T96" fmla="*/ 45 w 138"/>
                    <a:gd name="T97" fmla="*/ 4 h 212"/>
                    <a:gd name="T98" fmla="*/ 42 w 138"/>
                    <a:gd name="T99" fmla="*/ 8 h 212"/>
                    <a:gd name="T100" fmla="*/ 39 w 138"/>
                    <a:gd name="T101" fmla="*/ 12 h 212"/>
                    <a:gd name="T102" fmla="*/ 37 w 138"/>
                    <a:gd name="T103" fmla="*/ 16 h 212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w 138"/>
                    <a:gd name="T157" fmla="*/ 0 h 212"/>
                    <a:gd name="T158" fmla="*/ 138 w 138"/>
                    <a:gd name="T159" fmla="*/ 212 h 212"/>
                  </a:gdLst>
                  <a:ahLst/>
                  <a:cxnLst>
                    <a:cxn ang="T104">
                      <a:pos x="T0" y="T1"/>
                    </a:cxn>
                    <a:cxn ang="T105">
                      <a:pos x="T2" y="T3"/>
                    </a:cxn>
                    <a:cxn ang="T106">
                      <a:pos x="T4" y="T5"/>
                    </a:cxn>
                    <a:cxn ang="T107">
                      <a:pos x="T6" y="T7"/>
                    </a:cxn>
                    <a:cxn ang="T108">
                      <a:pos x="T8" y="T9"/>
                    </a:cxn>
                    <a:cxn ang="T109">
                      <a:pos x="T10" y="T11"/>
                    </a:cxn>
                    <a:cxn ang="T110">
                      <a:pos x="T12" y="T13"/>
                    </a:cxn>
                    <a:cxn ang="T111">
                      <a:pos x="T14" y="T15"/>
                    </a:cxn>
                    <a:cxn ang="T112">
                      <a:pos x="T16" y="T17"/>
                    </a:cxn>
                    <a:cxn ang="T113">
                      <a:pos x="T18" y="T19"/>
                    </a:cxn>
                    <a:cxn ang="T114">
                      <a:pos x="T20" y="T21"/>
                    </a:cxn>
                    <a:cxn ang="T115">
                      <a:pos x="T22" y="T23"/>
                    </a:cxn>
                    <a:cxn ang="T116">
                      <a:pos x="T24" y="T25"/>
                    </a:cxn>
                    <a:cxn ang="T117">
                      <a:pos x="T26" y="T27"/>
                    </a:cxn>
                    <a:cxn ang="T118">
                      <a:pos x="T28" y="T29"/>
                    </a:cxn>
                    <a:cxn ang="T119">
                      <a:pos x="T30" y="T31"/>
                    </a:cxn>
                    <a:cxn ang="T120">
                      <a:pos x="T32" y="T33"/>
                    </a:cxn>
                    <a:cxn ang="T121">
                      <a:pos x="T34" y="T35"/>
                    </a:cxn>
                    <a:cxn ang="T122">
                      <a:pos x="T36" y="T37"/>
                    </a:cxn>
                    <a:cxn ang="T123">
                      <a:pos x="T38" y="T39"/>
                    </a:cxn>
                    <a:cxn ang="T124">
                      <a:pos x="T40" y="T41"/>
                    </a:cxn>
                    <a:cxn ang="T125">
                      <a:pos x="T42" y="T43"/>
                    </a:cxn>
                    <a:cxn ang="T126">
                      <a:pos x="T44" y="T45"/>
                    </a:cxn>
                    <a:cxn ang="T127">
                      <a:pos x="T46" y="T47"/>
                    </a:cxn>
                    <a:cxn ang="T128">
                      <a:pos x="T48" y="T49"/>
                    </a:cxn>
                    <a:cxn ang="T129">
                      <a:pos x="T50" y="T51"/>
                    </a:cxn>
                    <a:cxn ang="T130">
                      <a:pos x="T52" y="T53"/>
                    </a:cxn>
                    <a:cxn ang="T131">
                      <a:pos x="T54" y="T55"/>
                    </a:cxn>
                    <a:cxn ang="T132">
                      <a:pos x="T56" y="T57"/>
                    </a:cxn>
                    <a:cxn ang="T133">
                      <a:pos x="T58" y="T59"/>
                    </a:cxn>
                    <a:cxn ang="T134">
                      <a:pos x="T60" y="T61"/>
                    </a:cxn>
                    <a:cxn ang="T135">
                      <a:pos x="T62" y="T63"/>
                    </a:cxn>
                    <a:cxn ang="T136">
                      <a:pos x="T64" y="T65"/>
                    </a:cxn>
                    <a:cxn ang="T137">
                      <a:pos x="T66" y="T67"/>
                    </a:cxn>
                    <a:cxn ang="T138">
                      <a:pos x="T68" y="T69"/>
                    </a:cxn>
                    <a:cxn ang="T139">
                      <a:pos x="T70" y="T71"/>
                    </a:cxn>
                    <a:cxn ang="T140">
                      <a:pos x="T72" y="T73"/>
                    </a:cxn>
                    <a:cxn ang="T141">
                      <a:pos x="T74" y="T75"/>
                    </a:cxn>
                    <a:cxn ang="T142">
                      <a:pos x="T76" y="T77"/>
                    </a:cxn>
                    <a:cxn ang="T143">
                      <a:pos x="T78" y="T79"/>
                    </a:cxn>
                    <a:cxn ang="T144">
                      <a:pos x="T80" y="T81"/>
                    </a:cxn>
                    <a:cxn ang="T145">
                      <a:pos x="T82" y="T83"/>
                    </a:cxn>
                    <a:cxn ang="T146">
                      <a:pos x="T84" y="T85"/>
                    </a:cxn>
                    <a:cxn ang="T147">
                      <a:pos x="T86" y="T87"/>
                    </a:cxn>
                    <a:cxn ang="T148">
                      <a:pos x="T88" y="T89"/>
                    </a:cxn>
                    <a:cxn ang="T149">
                      <a:pos x="T90" y="T91"/>
                    </a:cxn>
                    <a:cxn ang="T150">
                      <a:pos x="T92" y="T93"/>
                    </a:cxn>
                    <a:cxn ang="T151">
                      <a:pos x="T94" y="T95"/>
                    </a:cxn>
                    <a:cxn ang="T152">
                      <a:pos x="T96" y="T97"/>
                    </a:cxn>
                    <a:cxn ang="T153">
                      <a:pos x="T98" y="T99"/>
                    </a:cxn>
                    <a:cxn ang="T154">
                      <a:pos x="T100" y="T101"/>
                    </a:cxn>
                    <a:cxn ang="T155">
                      <a:pos x="T102" y="T103"/>
                    </a:cxn>
                  </a:cxnLst>
                  <a:rect l="T156" t="T157" r="T158" b="T159"/>
                  <a:pathLst>
                    <a:path w="138" h="212">
                      <a:moveTo>
                        <a:pt x="37" y="16"/>
                      </a:moveTo>
                      <a:lnTo>
                        <a:pt x="1" y="98"/>
                      </a:lnTo>
                      <a:lnTo>
                        <a:pt x="1" y="99"/>
                      </a:lnTo>
                      <a:lnTo>
                        <a:pt x="1" y="100"/>
                      </a:lnTo>
                      <a:lnTo>
                        <a:pt x="0" y="101"/>
                      </a:lnTo>
                      <a:lnTo>
                        <a:pt x="0" y="104"/>
                      </a:lnTo>
                      <a:lnTo>
                        <a:pt x="0" y="105"/>
                      </a:lnTo>
                      <a:lnTo>
                        <a:pt x="0" y="107"/>
                      </a:lnTo>
                      <a:lnTo>
                        <a:pt x="1" y="109"/>
                      </a:lnTo>
                      <a:lnTo>
                        <a:pt x="1" y="111"/>
                      </a:lnTo>
                      <a:lnTo>
                        <a:pt x="2" y="112"/>
                      </a:lnTo>
                      <a:lnTo>
                        <a:pt x="3" y="114"/>
                      </a:lnTo>
                      <a:lnTo>
                        <a:pt x="4" y="115"/>
                      </a:lnTo>
                      <a:lnTo>
                        <a:pt x="6" y="116"/>
                      </a:lnTo>
                      <a:lnTo>
                        <a:pt x="7" y="117"/>
                      </a:lnTo>
                      <a:lnTo>
                        <a:pt x="9" y="118"/>
                      </a:lnTo>
                      <a:lnTo>
                        <a:pt x="10" y="118"/>
                      </a:lnTo>
                      <a:lnTo>
                        <a:pt x="11" y="119"/>
                      </a:lnTo>
                      <a:lnTo>
                        <a:pt x="13" y="119"/>
                      </a:lnTo>
                      <a:lnTo>
                        <a:pt x="15" y="119"/>
                      </a:lnTo>
                      <a:lnTo>
                        <a:pt x="89" y="119"/>
                      </a:lnTo>
                      <a:lnTo>
                        <a:pt x="89" y="211"/>
                      </a:lnTo>
                      <a:lnTo>
                        <a:pt x="113" y="211"/>
                      </a:lnTo>
                      <a:lnTo>
                        <a:pt x="113" y="101"/>
                      </a:lnTo>
                      <a:lnTo>
                        <a:pt x="113" y="100"/>
                      </a:lnTo>
                      <a:lnTo>
                        <a:pt x="113" y="99"/>
                      </a:lnTo>
                      <a:lnTo>
                        <a:pt x="112" y="98"/>
                      </a:lnTo>
                      <a:lnTo>
                        <a:pt x="111" y="97"/>
                      </a:lnTo>
                      <a:lnTo>
                        <a:pt x="111" y="96"/>
                      </a:lnTo>
                      <a:lnTo>
                        <a:pt x="109" y="95"/>
                      </a:lnTo>
                      <a:lnTo>
                        <a:pt x="108" y="94"/>
                      </a:lnTo>
                      <a:lnTo>
                        <a:pt x="106" y="93"/>
                      </a:lnTo>
                      <a:lnTo>
                        <a:pt x="105" y="93"/>
                      </a:lnTo>
                      <a:lnTo>
                        <a:pt x="104" y="93"/>
                      </a:lnTo>
                      <a:lnTo>
                        <a:pt x="102" y="92"/>
                      </a:lnTo>
                      <a:lnTo>
                        <a:pt x="101" y="92"/>
                      </a:lnTo>
                      <a:lnTo>
                        <a:pt x="100" y="92"/>
                      </a:lnTo>
                      <a:lnTo>
                        <a:pt x="98" y="92"/>
                      </a:lnTo>
                      <a:lnTo>
                        <a:pt x="97" y="92"/>
                      </a:lnTo>
                      <a:lnTo>
                        <a:pt x="54" y="90"/>
                      </a:lnTo>
                      <a:lnTo>
                        <a:pt x="66" y="54"/>
                      </a:lnTo>
                      <a:lnTo>
                        <a:pt x="75" y="67"/>
                      </a:lnTo>
                      <a:lnTo>
                        <a:pt x="127" y="67"/>
                      </a:lnTo>
                      <a:lnTo>
                        <a:pt x="128" y="66"/>
                      </a:lnTo>
                      <a:lnTo>
                        <a:pt x="130" y="66"/>
                      </a:lnTo>
                      <a:lnTo>
                        <a:pt x="131" y="65"/>
                      </a:lnTo>
                      <a:lnTo>
                        <a:pt x="133" y="64"/>
                      </a:lnTo>
                      <a:lnTo>
                        <a:pt x="134" y="63"/>
                      </a:lnTo>
                      <a:lnTo>
                        <a:pt x="135" y="62"/>
                      </a:lnTo>
                      <a:lnTo>
                        <a:pt x="136" y="62"/>
                      </a:lnTo>
                      <a:lnTo>
                        <a:pt x="136" y="60"/>
                      </a:lnTo>
                      <a:lnTo>
                        <a:pt x="136" y="59"/>
                      </a:lnTo>
                      <a:lnTo>
                        <a:pt x="137" y="58"/>
                      </a:lnTo>
                      <a:lnTo>
                        <a:pt x="137" y="56"/>
                      </a:lnTo>
                      <a:lnTo>
                        <a:pt x="137" y="54"/>
                      </a:lnTo>
                      <a:lnTo>
                        <a:pt x="136" y="53"/>
                      </a:lnTo>
                      <a:lnTo>
                        <a:pt x="136" y="52"/>
                      </a:lnTo>
                      <a:lnTo>
                        <a:pt x="135" y="50"/>
                      </a:lnTo>
                      <a:lnTo>
                        <a:pt x="134" y="49"/>
                      </a:lnTo>
                      <a:lnTo>
                        <a:pt x="133" y="49"/>
                      </a:lnTo>
                      <a:lnTo>
                        <a:pt x="132" y="47"/>
                      </a:lnTo>
                      <a:lnTo>
                        <a:pt x="131" y="47"/>
                      </a:lnTo>
                      <a:lnTo>
                        <a:pt x="130" y="46"/>
                      </a:lnTo>
                      <a:lnTo>
                        <a:pt x="128" y="46"/>
                      </a:lnTo>
                      <a:lnTo>
                        <a:pt x="127" y="46"/>
                      </a:lnTo>
                      <a:lnTo>
                        <a:pt x="87" y="46"/>
                      </a:lnTo>
                      <a:lnTo>
                        <a:pt x="78" y="31"/>
                      </a:lnTo>
                      <a:lnTo>
                        <a:pt x="80" y="30"/>
                      </a:lnTo>
                      <a:lnTo>
                        <a:pt x="80" y="28"/>
                      </a:lnTo>
                      <a:lnTo>
                        <a:pt x="80" y="26"/>
                      </a:lnTo>
                      <a:lnTo>
                        <a:pt x="81" y="24"/>
                      </a:lnTo>
                      <a:lnTo>
                        <a:pt x="81" y="22"/>
                      </a:lnTo>
                      <a:lnTo>
                        <a:pt x="81" y="20"/>
                      </a:lnTo>
                      <a:lnTo>
                        <a:pt x="81" y="17"/>
                      </a:lnTo>
                      <a:lnTo>
                        <a:pt x="80" y="16"/>
                      </a:lnTo>
                      <a:lnTo>
                        <a:pt x="80" y="14"/>
                      </a:lnTo>
                      <a:lnTo>
                        <a:pt x="79" y="12"/>
                      </a:lnTo>
                      <a:lnTo>
                        <a:pt x="78" y="11"/>
                      </a:lnTo>
                      <a:lnTo>
                        <a:pt x="77" y="9"/>
                      </a:lnTo>
                      <a:lnTo>
                        <a:pt x="76" y="7"/>
                      </a:lnTo>
                      <a:lnTo>
                        <a:pt x="75" y="6"/>
                      </a:lnTo>
                      <a:lnTo>
                        <a:pt x="73" y="5"/>
                      </a:lnTo>
                      <a:lnTo>
                        <a:pt x="72" y="4"/>
                      </a:lnTo>
                      <a:lnTo>
                        <a:pt x="70" y="2"/>
                      </a:lnTo>
                      <a:lnTo>
                        <a:pt x="68" y="2"/>
                      </a:lnTo>
                      <a:lnTo>
                        <a:pt x="66" y="1"/>
                      </a:lnTo>
                      <a:lnTo>
                        <a:pt x="64" y="1"/>
                      </a:lnTo>
                      <a:lnTo>
                        <a:pt x="62" y="0"/>
                      </a:lnTo>
                      <a:lnTo>
                        <a:pt x="60" y="0"/>
                      </a:lnTo>
                      <a:lnTo>
                        <a:pt x="57" y="0"/>
                      </a:lnTo>
                      <a:lnTo>
                        <a:pt x="56" y="0"/>
                      </a:lnTo>
                      <a:lnTo>
                        <a:pt x="53" y="1"/>
                      </a:lnTo>
                      <a:lnTo>
                        <a:pt x="51" y="1"/>
                      </a:lnTo>
                      <a:lnTo>
                        <a:pt x="49" y="2"/>
                      </a:lnTo>
                      <a:lnTo>
                        <a:pt x="47" y="3"/>
                      </a:lnTo>
                      <a:lnTo>
                        <a:pt x="45" y="4"/>
                      </a:lnTo>
                      <a:lnTo>
                        <a:pt x="43" y="6"/>
                      </a:lnTo>
                      <a:lnTo>
                        <a:pt x="42" y="8"/>
                      </a:lnTo>
                      <a:lnTo>
                        <a:pt x="40" y="9"/>
                      </a:lnTo>
                      <a:lnTo>
                        <a:pt x="39" y="12"/>
                      </a:lnTo>
                      <a:lnTo>
                        <a:pt x="38" y="14"/>
                      </a:lnTo>
                      <a:lnTo>
                        <a:pt x="37" y="16"/>
                      </a:lnTo>
                    </a:path>
                  </a:pathLst>
                </a:custGeom>
                <a:solidFill>
                  <a:srgbClr val="F39FD1"/>
                </a:solidFill>
                <a:ln w="1270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98" name="Freeform 155">
                <a:extLst>
                  <a:ext uri="{FF2B5EF4-FFF2-40B4-BE49-F238E27FC236}">
                    <a16:creationId xmlns:a16="http://schemas.microsoft.com/office/drawing/2014/main" id="{83AC1C37-25D9-4EBB-91D6-BC8529659E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2" y="1752"/>
                <a:ext cx="200" cy="292"/>
              </a:xfrm>
              <a:custGeom>
                <a:avLst/>
                <a:gdLst>
                  <a:gd name="T0" fmla="*/ 199 w 200"/>
                  <a:gd name="T1" fmla="*/ 263 h 292"/>
                  <a:gd name="T2" fmla="*/ 184 w 200"/>
                  <a:gd name="T3" fmla="*/ 263 h 292"/>
                  <a:gd name="T4" fmla="*/ 158 w 200"/>
                  <a:gd name="T5" fmla="*/ 230 h 292"/>
                  <a:gd name="T6" fmla="*/ 121 w 200"/>
                  <a:gd name="T7" fmla="*/ 169 h 292"/>
                  <a:gd name="T8" fmla="*/ 111 w 200"/>
                  <a:gd name="T9" fmla="*/ 142 h 292"/>
                  <a:gd name="T10" fmla="*/ 114 w 200"/>
                  <a:gd name="T11" fmla="*/ 123 h 292"/>
                  <a:gd name="T12" fmla="*/ 123 w 200"/>
                  <a:gd name="T13" fmla="*/ 119 h 292"/>
                  <a:gd name="T14" fmla="*/ 136 w 200"/>
                  <a:gd name="T15" fmla="*/ 129 h 292"/>
                  <a:gd name="T16" fmla="*/ 155 w 200"/>
                  <a:gd name="T17" fmla="*/ 140 h 292"/>
                  <a:gd name="T18" fmla="*/ 164 w 200"/>
                  <a:gd name="T19" fmla="*/ 140 h 292"/>
                  <a:gd name="T20" fmla="*/ 165 w 200"/>
                  <a:gd name="T21" fmla="*/ 134 h 292"/>
                  <a:gd name="T22" fmla="*/ 156 w 200"/>
                  <a:gd name="T23" fmla="*/ 123 h 292"/>
                  <a:gd name="T24" fmla="*/ 135 w 200"/>
                  <a:gd name="T25" fmla="*/ 108 h 292"/>
                  <a:gd name="T26" fmla="*/ 126 w 200"/>
                  <a:gd name="T27" fmla="*/ 87 h 292"/>
                  <a:gd name="T28" fmla="*/ 123 w 200"/>
                  <a:gd name="T29" fmla="*/ 69 h 292"/>
                  <a:gd name="T30" fmla="*/ 113 w 200"/>
                  <a:gd name="T31" fmla="*/ 56 h 292"/>
                  <a:gd name="T32" fmla="*/ 109 w 200"/>
                  <a:gd name="T33" fmla="*/ 48 h 292"/>
                  <a:gd name="T34" fmla="*/ 114 w 200"/>
                  <a:gd name="T35" fmla="*/ 36 h 292"/>
                  <a:gd name="T36" fmla="*/ 119 w 200"/>
                  <a:gd name="T37" fmla="*/ 24 h 292"/>
                  <a:gd name="T38" fmla="*/ 115 w 200"/>
                  <a:gd name="T39" fmla="*/ 9 h 292"/>
                  <a:gd name="T40" fmla="*/ 105 w 200"/>
                  <a:gd name="T41" fmla="*/ 1 h 292"/>
                  <a:gd name="T42" fmla="*/ 90 w 200"/>
                  <a:gd name="T43" fmla="*/ 3 h 292"/>
                  <a:gd name="T44" fmla="*/ 84 w 200"/>
                  <a:gd name="T45" fmla="*/ 13 h 292"/>
                  <a:gd name="T46" fmla="*/ 84 w 200"/>
                  <a:gd name="T47" fmla="*/ 23 h 292"/>
                  <a:gd name="T48" fmla="*/ 88 w 200"/>
                  <a:gd name="T49" fmla="*/ 35 h 292"/>
                  <a:gd name="T50" fmla="*/ 88 w 200"/>
                  <a:gd name="T51" fmla="*/ 46 h 292"/>
                  <a:gd name="T52" fmla="*/ 78 w 200"/>
                  <a:gd name="T53" fmla="*/ 56 h 292"/>
                  <a:gd name="T54" fmla="*/ 65 w 200"/>
                  <a:gd name="T55" fmla="*/ 64 h 292"/>
                  <a:gd name="T56" fmla="*/ 55 w 200"/>
                  <a:gd name="T57" fmla="*/ 75 h 292"/>
                  <a:gd name="T58" fmla="*/ 46 w 200"/>
                  <a:gd name="T59" fmla="*/ 99 h 292"/>
                  <a:gd name="T60" fmla="*/ 41 w 200"/>
                  <a:gd name="T61" fmla="*/ 122 h 292"/>
                  <a:gd name="T62" fmla="*/ 40 w 200"/>
                  <a:gd name="T63" fmla="*/ 146 h 292"/>
                  <a:gd name="T64" fmla="*/ 41 w 200"/>
                  <a:gd name="T65" fmla="*/ 158 h 292"/>
                  <a:gd name="T66" fmla="*/ 49 w 200"/>
                  <a:gd name="T67" fmla="*/ 162 h 292"/>
                  <a:gd name="T68" fmla="*/ 53 w 200"/>
                  <a:gd name="T69" fmla="*/ 158 h 292"/>
                  <a:gd name="T70" fmla="*/ 53 w 200"/>
                  <a:gd name="T71" fmla="*/ 133 h 292"/>
                  <a:gd name="T72" fmla="*/ 55 w 200"/>
                  <a:gd name="T73" fmla="*/ 117 h 292"/>
                  <a:gd name="T74" fmla="*/ 64 w 200"/>
                  <a:gd name="T75" fmla="*/ 109 h 292"/>
                  <a:gd name="T76" fmla="*/ 70 w 200"/>
                  <a:gd name="T77" fmla="*/ 114 h 292"/>
                  <a:gd name="T78" fmla="*/ 68 w 200"/>
                  <a:gd name="T79" fmla="*/ 140 h 292"/>
                  <a:gd name="T80" fmla="*/ 61 w 200"/>
                  <a:gd name="T81" fmla="*/ 167 h 292"/>
                  <a:gd name="T82" fmla="*/ 53 w 200"/>
                  <a:gd name="T83" fmla="*/ 197 h 292"/>
                  <a:gd name="T84" fmla="*/ 33 w 200"/>
                  <a:gd name="T85" fmla="*/ 226 h 292"/>
                  <a:gd name="T86" fmla="*/ 8 w 200"/>
                  <a:gd name="T87" fmla="*/ 256 h 292"/>
                  <a:gd name="T88" fmla="*/ 0 w 200"/>
                  <a:gd name="T89" fmla="*/ 272 h 292"/>
                  <a:gd name="T90" fmla="*/ 19 w 200"/>
                  <a:gd name="T91" fmla="*/ 291 h 292"/>
                  <a:gd name="T92" fmla="*/ 33 w 200"/>
                  <a:gd name="T93" fmla="*/ 288 h 292"/>
                  <a:gd name="T94" fmla="*/ 23 w 200"/>
                  <a:gd name="T95" fmla="*/ 276 h 292"/>
                  <a:gd name="T96" fmla="*/ 30 w 200"/>
                  <a:gd name="T97" fmla="*/ 260 h 292"/>
                  <a:gd name="T98" fmla="*/ 61 w 200"/>
                  <a:gd name="T99" fmla="*/ 223 h 292"/>
                  <a:gd name="T100" fmla="*/ 84 w 200"/>
                  <a:gd name="T101" fmla="*/ 197 h 292"/>
                  <a:gd name="T102" fmla="*/ 95 w 200"/>
                  <a:gd name="T103" fmla="*/ 191 h 292"/>
                  <a:gd name="T104" fmla="*/ 109 w 200"/>
                  <a:gd name="T105" fmla="*/ 199 h 292"/>
                  <a:gd name="T106" fmla="*/ 141 w 200"/>
                  <a:gd name="T107" fmla="*/ 243 h 292"/>
                  <a:gd name="T108" fmla="*/ 168 w 200"/>
                  <a:gd name="T109" fmla="*/ 281 h 292"/>
                  <a:gd name="T110" fmla="*/ 178 w 200"/>
                  <a:gd name="T111" fmla="*/ 283 h 292"/>
                  <a:gd name="T112" fmla="*/ 191 w 200"/>
                  <a:gd name="T113" fmla="*/ 273 h 292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200"/>
                  <a:gd name="T172" fmla="*/ 0 h 292"/>
                  <a:gd name="T173" fmla="*/ 200 w 200"/>
                  <a:gd name="T174" fmla="*/ 292 h 292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200" h="292">
                    <a:moveTo>
                      <a:pt x="198" y="268"/>
                    </a:moveTo>
                    <a:lnTo>
                      <a:pt x="199" y="263"/>
                    </a:lnTo>
                    <a:lnTo>
                      <a:pt x="191" y="265"/>
                    </a:lnTo>
                    <a:lnTo>
                      <a:pt x="184" y="263"/>
                    </a:lnTo>
                    <a:lnTo>
                      <a:pt x="174" y="256"/>
                    </a:lnTo>
                    <a:lnTo>
                      <a:pt x="158" y="230"/>
                    </a:lnTo>
                    <a:lnTo>
                      <a:pt x="134" y="191"/>
                    </a:lnTo>
                    <a:lnTo>
                      <a:pt x="121" y="169"/>
                    </a:lnTo>
                    <a:lnTo>
                      <a:pt x="113" y="152"/>
                    </a:lnTo>
                    <a:lnTo>
                      <a:pt x="111" y="142"/>
                    </a:lnTo>
                    <a:lnTo>
                      <a:pt x="111" y="130"/>
                    </a:lnTo>
                    <a:lnTo>
                      <a:pt x="114" y="123"/>
                    </a:lnTo>
                    <a:lnTo>
                      <a:pt x="119" y="119"/>
                    </a:lnTo>
                    <a:lnTo>
                      <a:pt x="123" y="119"/>
                    </a:lnTo>
                    <a:lnTo>
                      <a:pt x="128" y="122"/>
                    </a:lnTo>
                    <a:lnTo>
                      <a:pt x="136" y="129"/>
                    </a:lnTo>
                    <a:lnTo>
                      <a:pt x="148" y="137"/>
                    </a:lnTo>
                    <a:lnTo>
                      <a:pt x="155" y="140"/>
                    </a:lnTo>
                    <a:lnTo>
                      <a:pt x="160" y="142"/>
                    </a:lnTo>
                    <a:lnTo>
                      <a:pt x="164" y="140"/>
                    </a:lnTo>
                    <a:lnTo>
                      <a:pt x="166" y="137"/>
                    </a:lnTo>
                    <a:lnTo>
                      <a:pt x="165" y="134"/>
                    </a:lnTo>
                    <a:lnTo>
                      <a:pt x="164" y="130"/>
                    </a:lnTo>
                    <a:lnTo>
                      <a:pt x="156" y="123"/>
                    </a:lnTo>
                    <a:lnTo>
                      <a:pt x="143" y="114"/>
                    </a:lnTo>
                    <a:lnTo>
                      <a:pt x="135" y="108"/>
                    </a:lnTo>
                    <a:lnTo>
                      <a:pt x="130" y="99"/>
                    </a:lnTo>
                    <a:lnTo>
                      <a:pt x="126" y="87"/>
                    </a:lnTo>
                    <a:lnTo>
                      <a:pt x="125" y="74"/>
                    </a:lnTo>
                    <a:lnTo>
                      <a:pt x="123" y="69"/>
                    </a:lnTo>
                    <a:lnTo>
                      <a:pt x="119" y="63"/>
                    </a:lnTo>
                    <a:lnTo>
                      <a:pt x="113" y="56"/>
                    </a:lnTo>
                    <a:lnTo>
                      <a:pt x="109" y="53"/>
                    </a:lnTo>
                    <a:lnTo>
                      <a:pt x="109" y="48"/>
                    </a:lnTo>
                    <a:lnTo>
                      <a:pt x="111" y="40"/>
                    </a:lnTo>
                    <a:lnTo>
                      <a:pt x="114" y="36"/>
                    </a:lnTo>
                    <a:lnTo>
                      <a:pt x="116" y="31"/>
                    </a:lnTo>
                    <a:lnTo>
                      <a:pt x="119" y="24"/>
                    </a:lnTo>
                    <a:lnTo>
                      <a:pt x="116" y="15"/>
                    </a:lnTo>
                    <a:lnTo>
                      <a:pt x="115" y="9"/>
                    </a:lnTo>
                    <a:lnTo>
                      <a:pt x="111" y="4"/>
                    </a:lnTo>
                    <a:lnTo>
                      <a:pt x="105" y="1"/>
                    </a:lnTo>
                    <a:lnTo>
                      <a:pt x="96" y="0"/>
                    </a:lnTo>
                    <a:lnTo>
                      <a:pt x="90" y="3"/>
                    </a:lnTo>
                    <a:lnTo>
                      <a:pt x="86" y="6"/>
                    </a:lnTo>
                    <a:lnTo>
                      <a:pt x="84" y="13"/>
                    </a:lnTo>
                    <a:lnTo>
                      <a:pt x="83" y="18"/>
                    </a:lnTo>
                    <a:lnTo>
                      <a:pt x="84" y="23"/>
                    </a:lnTo>
                    <a:lnTo>
                      <a:pt x="86" y="30"/>
                    </a:lnTo>
                    <a:lnTo>
                      <a:pt x="88" y="35"/>
                    </a:lnTo>
                    <a:lnTo>
                      <a:pt x="89" y="40"/>
                    </a:lnTo>
                    <a:lnTo>
                      <a:pt x="88" y="46"/>
                    </a:lnTo>
                    <a:lnTo>
                      <a:pt x="84" y="51"/>
                    </a:lnTo>
                    <a:lnTo>
                      <a:pt x="78" y="56"/>
                    </a:lnTo>
                    <a:lnTo>
                      <a:pt x="70" y="60"/>
                    </a:lnTo>
                    <a:lnTo>
                      <a:pt x="65" y="64"/>
                    </a:lnTo>
                    <a:lnTo>
                      <a:pt x="60" y="69"/>
                    </a:lnTo>
                    <a:lnTo>
                      <a:pt x="55" y="75"/>
                    </a:lnTo>
                    <a:lnTo>
                      <a:pt x="50" y="87"/>
                    </a:lnTo>
                    <a:lnTo>
                      <a:pt x="46" y="99"/>
                    </a:lnTo>
                    <a:lnTo>
                      <a:pt x="43" y="109"/>
                    </a:lnTo>
                    <a:lnTo>
                      <a:pt x="41" y="122"/>
                    </a:lnTo>
                    <a:lnTo>
                      <a:pt x="40" y="137"/>
                    </a:lnTo>
                    <a:lnTo>
                      <a:pt x="40" y="146"/>
                    </a:lnTo>
                    <a:lnTo>
                      <a:pt x="40" y="153"/>
                    </a:lnTo>
                    <a:lnTo>
                      <a:pt x="41" y="158"/>
                    </a:lnTo>
                    <a:lnTo>
                      <a:pt x="44" y="161"/>
                    </a:lnTo>
                    <a:lnTo>
                      <a:pt x="49" y="162"/>
                    </a:lnTo>
                    <a:lnTo>
                      <a:pt x="51" y="161"/>
                    </a:lnTo>
                    <a:lnTo>
                      <a:pt x="53" y="158"/>
                    </a:lnTo>
                    <a:lnTo>
                      <a:pt x="53" y="148"/>
                    </a:lnTo>
                    <a:lnTo>
                      <a:pt x="53" y="133"/>
                    </a:lnTo>
                    <a:lnTo>
                      <a:pt x="54" y="123"/>
                    </a:lnTo>
                    <a:lnTo>
                      <a:pt x="55" y="117"/>
                    </a:lnTo>
                    <a:lnTo>
                      <a:pt x="59" y="110"/>
                    </a:lnTo>
                    <a:lnTo>
                      <a:pt x="64" y="109"/>
                    </a:lnTo>
                    <a:lnTo>
                      <a:pt x="69" y="110"/>
                    </a:lnTo>
                    <a:lnTo>
                      <a:pt x="70" y="114"/>
                    </a:lnTo>
                    <a:lnTo>
                      <a:pt x="69" y="125"/>
                    </a:lnTo>
                    <a:lnTo>
                      <a:pt x="68" y="140"/>
                    </a:lnTo>
                    <a:lnTo>
                      <a:pt x="65" y="154"/>
                    </a:lnTo>
                    <a:lnTo>
                      <a:pt x="61" y="167"/>
                    </a:lnTo>
                    <a:lnTo>
                      <a:pt x="58" y="183"/>
                    </a:lnTo>
                    <a:lnTo>
                      <a:pt x="53" y="197"/>
                    </a:lnTo>
                    <a:lnTo>
                      <a:pt x="41" y="214"/>
                    </a:lnTo>
                    <a:lnTo>
                      <a:pt x="33" y="226"/>
                    </a:lnTo>
                    <a:lnTo>
                      <a:pt x="18" y="243"/>
                    </a:lnTo>
                    <a:lnTo>
                      <a:pt x="8" y="256"/>
                    </a:lnTo>
                    <a:lnTo>
                      <a:pt x="0" y="267"/>
                    </a:lnTo>
                    <a:lnTo>
                      <a:pt x="0" y="272"/>
                    </a:lnTo>
                    <a:lnTo>
                      <a:pt x="8" y="281"/>
                    </a:lnTo>
                    <a:lnTo>
                      <a:pt x="19" y="291"/>
                    </a:lnTo>
                    <a:lnTo>
                      <a:pt x="30" y="291"/>
                    </a:lnTo>
                    <a:lnTo>
                      <a:pt x="33" y="288"/>
                    </a:lnTo>
                    <a:lnTo>
                      <a:pt x="28" y="282"/>
                    </a:lnTo>
                    <a:lnTo>
                      <a:pt x="23" y="276"/>
                    </a:lnTo>
                    <a:lnTo>
                      <a:pt x="23" y="271"/>
                    </a:lnTo>
                    <a:lnTo>
                      <a:pt x="30" y="260"/>
                    </a:lnTo>
                    <a:lnTo>
                      <a:pt x="43" y="247"/>
                    </a:lnTo>
                    <a:lnTo>
                      <a:pt x="61" y="223"/>
                    </a:lnTo>
                    <a:lnTo>
                      <a:pt x="78" y="203"/>
                    </a:lnTo>
                    <a:lnTo>
                      <a:pt x="84" y="197"/>
                    </a:lnTo>
                    <a:lnTo>
                      <a:pt x="88" y="192"/>
                    </a:lnTo>
                    <a:lnTo>
                      <a:pt x="95" y="191"/>
                    </a:lnTo>
                    <a:lnTo>
                      <a:pt x="101" y="194"/>
                    </a:lnTo>
                    <a:lnTo>
                      <a:pt x="109" y="199"/>
                    </a:lnTo>
                    <a:lnTo>
                      <a:pt x="124" y="220"/>
                    </a:lnTo>
                    <a:lnTo>
                      <a:pt x="141" y="243"/>
                    </a:lnTo>
                    <a:lnTo>
                      <a:pt x="158" y="267"/>
                    </a:lnTo>
                    <a:lnTo>
                      <a:pt x="168" y="281"/>
                    </a:lnTo>
                    <a:lnTo>
                      <a:pt x="171" y="283"/>
                    </a:lnTo>
                    <a:lnTo>
                      <a:pt x="178" y="283"/>
                    </a:lnTo>
                    <a:lnTo>
                      <a:pt x="184" y="278"/>
                    </a:lnTo>
                    <a:lnTo>
                      <a:pt x="191" y="273"/>
                    </a:lnTo>
                    <a:lnTo>
                      <a:pt x="198" y="268"/>
                    </a:lnTo>
                  </a:path>
                </a:pathLst>
              </a:custGeom>
              <a:solidFill>
                <a:srgbClr val="CECECE"/>
              </a:solidFill>
              <a:ln w="2540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99" name="Group 156">
                <a:extLst>
                  <a:ext uri="{FF2B5EF4-FFF2-40B4-BE49-F238E27FC236}">
                    <a16:creationId xmlns:a16="http://schemas.microsoft.com/office/drawing/2014/main" id="{C73A687E-899B-4BD0-9F4A-74DAE1B2197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32" y="1742"/>
                <a:ext cx="521" cy="311"/>
                <a:chOff x="1509" y="1675"/>
                <a:chExt cx="260" cy="311"/>
              </a:xfrm>
            </p:grpSpPr>
            <p:grpSp>
              <p:nvGrpSpPr>
                <p:cNvPr id="200" name="Group 157">
                  <a:extLst>
                    <a:ext uri="{FF2B5EF4-FFF2-40B4-BE49-F238E27FC236}">
                      <a16:creationId xmlns:a16="http://schemas.microsoft.com/office/drawing/2014/main" id="{022BC315-6AC7-4ABE-AFC9-6A30642A6CC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509" y="1675"/>
                  <a:ext cx="260" cy="311"/>
                  <a:chOff x="1509" y="1675"/>
                  <a:chExt cx="260" cy="311"/>
                </a:xfrm>
              </p:grpSpPr>
              <p:sp>
                <p:nvSpPr>
                  <p:cNvPr id="203" name="AutoShape 158">
                    <a:extLst>
                      <a:ext uri="{FF2B5EF4-FFF2-40B4-BE49-F238E27FC236}">
                        <a16:creationId xmlns:a16="http://schemas.microsoft.com/office/drawing/2014/main" id="{074251DE-576A-441D-A5F6-E0171051651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509" y="1727"/>
                    <a:ext cx="260" cy="259"/>
                  </a:xfrm>
                  <a:prstGeom prst="cube">
                    <a:avLst>
                      <a:gd name="adj" fmla="val 24995"/>
                    </a:avLst>
                  </a:prstGeom>
                  <a:solidFill>
                    <a:schemeClr val="bg1"/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04" name="AutoShape 159">
                    <a:extLst>
                      <a:ext uri="{FF2B5EF4-FFF2-40B4-BE49-F238E27FC236}">
                        <a16:creationId xmlns:a16="http://schemas.microsoft.com/office/drawing/2014/main" id="{E518C387-BE71-4584-82CF-F0395E94FE2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572" y="1675"/>
                    <a:ext cx="197" cy="46"/>
                  </a:xfrm>
                  <a:prstGeom prst="cube">
                    <a:avLst>
                      <a:gd name="adj" fmla="val 24995"/>
                    </a:avLst>
                  </a:prstGeom>
                  <a:solidFill>
                    <a:schemeClr val="bg1"/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201" name="Oval 160">
                  <a:extLst>
                    <a:ext uri="{FF2B5EF4-FFF2-40B4-BE49-F238E27FC236}">
                      <a16:creationId xmlns:a16="http://schemas.microsoft.com/office/drawing/2014/main" id="{3F1CB984-9D15-4C23-B5A3-DFDA27AE58A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92" y="1702"/>
                  <a:ext cx="25" cy="9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2" name="AutoShape 161">
                  <a:extLst>
                    <a:ext uri="{FF2B5EF4-FFF2-40B4-BE49-F238E27FC236}">
                      <a16:creationId xmlns:a16="http://schemas.microsoft.com/office/drawing/2014/main" id="{EC07B8F4-D06D-43C1-8785-E3276989CA8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40" y="1849"/>
                  <a:ext cx="137" cy="55"/>
                </a:xfrm>
                <a:prstGeom prst="octagon">
                  <a:avLst>
                    <a:gd name="adj" fmla="val 29282"/>
                  </a:avLst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91" name="Group 269">
              <a:extLst>
                <a:ext uri="{FF2B5EF4-FFF2-40B4-BE49-F238E27FC236}">
                  <a16:creationId xmlns:a16="http://schemas.microsoft.com/office/drawing/2014/main" id="{33736D95-2A16-4569-9904-4D38B3FB6F9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7" y="1392"/>
              <a:ext cx="1371" cy="335"/>
              <a:chOff x="797" y="1392"/>
              <a:chExt cx="1371" cy="335"/>
            </a:xfrm>
          </p:grpSpPr>
          <p:grpSp>
            <p:nvGrpSpPr>
              <p:cNvPr id="176" name="Group 184">
                <a:extLst>
                  <a:ext uri="{FF2B5EF4-FFF2-40B4-BE49-F238E27FC236}">
                    <a16:creationId xmlns:a16="http://schemas.microsoft.com/office/drawing/2014/main" id="{1C96716E-A100-4E7B-AE84-BF56A9E3A91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97" y="1417"/>
                <a:ext cx="206" cy="310"/>
                <a:chOff x="1013" y="1348"/>
                <a:chExt cx="206" cy="310"/>
              </a:xfrm>
            </p:grpSpPr>
            <p:sp>
              <p:nvSpPr>
                <p:cNvPr id="191" name="AutoShape 185">
                  <a:extLst>
                    <a:ext uri="{FF2B5EF4-FFF2-40B4-BE49-F238E27FC236}">
                      <a16:creationId xmlns:a16="http://schemas.microsoft.com/office/drawing/2014/main" id="{8B2DABF6-7CCB-44E6-BD07-09065A3F25A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13" y="1398"/>
                  <a:ext cx="206" cy="260"/>
                </a:xfrm>
                <a:prstGeom prst="cube">
                  <a:avLst>
                    <a:gd name="adj" fmla="val 24995"/>
                  </a:avLst>
                </a:prstGeom>
                <a:solidFill>
                  <a:srgbClr val="DC008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92" name="AutoShape 186">
                  <a:extLst>
                    <a:ext uri="{FF2B5EF4-FFF2-40B4-BE49-F238E27FC236}">
                      <a16:creationId xmlns:a16="http://schemas.microsoft.com/office/drawing/2014/main" id="{0BAB788C-8B2F-46D2-8442-0D33DFB8735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61" y="1348"/>
                  <a:ext cx="158" cy="46"/>
                </a:xfrm>
                <a:prstGeom prst="cube">
                  <a:avLst>
                    <a:gd name="adj" fmla="val 24995"/>
                  </a:avLst>
                </a:prstGeom>
                <a:solidFill>
                  <a:srgbClr val="DC008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93" name="AutoShape 187">
                  <a:extLst>
                    <a:ext uri="{FF2B5EF4-FFF2-40B4-BE49-F238E27FC236}">
                      <a16:creationId xmlns:a16="http://schemas.microsoft.com/office/drawing/2014/main" id="{EC2BF4C9-9E2B-4A55-A55F-8F1B9C714A5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52" y="1419"/>
                  <a:ext cx="108" cy="15"/>
                </a:xfrm>
                <a:prstGeom prst="parallelogram">
                  <a:avLst>
                    <a:gd name="adj" fmla="val 179967"/>
                  </a:avLst>
                </a:prstGeom>
                <a:solidFill>
                  <a:srgbClr val="DC008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77" name="Group 188">
                <a:extLst>
                  <a:ext uri="{FF2B5EF4-FFF2-40B4-BE49-F238E27FC236}">
                    <a16:creationId xmlns:a16="http://schemas.microsoft.com/office/drawing/2014/main" id="{BE201456-949D-4EBB-A8D3-0BA4479FD86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80" y="1440"/>
                <a:ext cx="203" cy="257"/>
                <a:chOff x="1531" y="1389"/>
                <a:chExt cx="203" cy="257"/>
              </a:xfrm>
            </p:grpSpPr>
            <p:sp>
              <p:nvSpPr>
                <p:cNvPr id="185" name="Freeform 189">
                  <a:extLst>
                    <a:ext uri="{FF2B5EF4-FFF2-40B4-BE49-F238E27FC236}">
                      <a16:creationId xmlns:a16="http://schemas.microsoft.com/office/drawing/2014/main" id="{126F95A5-B0AB-45B6-8A42-72EC914795E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60" y="1506"/>
                  <a:ext cx="62" cy="140"/>
                </a:xfrm>
                <a:custGeom>
                  <a:avLst/>
                  <a:gdLst>
                    <a:gd name="T0" fmla="*/ 44 w 62"/>
                    <a:gd name="T1" fmla="*/ 0 h 140"/>
                    <a:gd name="T2" fmla="*/ 61 w 62"/>
                    <a:gd name="T3" fmla="*/ 0 h 140"/>
                    <a:gd name="T4" fmla="*/ 17 w 62"/>
                    <a:gd name="T5" fmla="*/ 139 h 140"/>
                    <a:gd name="T6" fmla="*/ 0 w 62"/>
                    <a:gd name="T7" fmla="*/ 139 h 140"/>
                    <a:gd name="T8" fmla="*/ 44 w 62"/>
                    <a:gd name="T9" fmla="*/ 0 h 1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2"/>
                    <a:gd name="T16" fmla="*/ 0 h 140"/>
                    <a:gd name="T17" fmla="*/ 62 w 62"/>
                    <a:gd name="T18" fmla="*/ 140 h 1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2" h="140">
                      <a:moveTo>
                        <a:pt x="44" y="0"/>
                      </a:moveTo>
                      <a:lnTo>
                        <a:pt x="61" y="0"/>
                      </a:lnTo>
                      <a:lnTo>
                        <a:pt x="17" y="139"/>
                      </a:lnTo>
                      <a:lnTo>
                        <a:pt x="0" y="139"/>
                      </a:lnTo>
                      <a:lnTo>
                        <a:pt x="44" y="0"/>
                      </a:lnTo>
                    </a:path>
                  </a:pathLst>
                </a:custGeom>
                <a:solidFill>
                  <a:srgbClr val="F39FD1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6" name="Rectangle 190">
                  <a:extLst>
                    <a:ext uri="{FF2B5EF4-FFF2-40B4-BE49-F238E27FC236}">
                      <a16:creationId xmlns:a16="http://schemas.microsoft.com/office/drawing/2014/main" id="{091D6BDE-E947-4F2F-8CDD-9F3E3E71713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57" y="1506"/>
                  <a:ext cx="77" cy="12"/>
                </a:xfrm>
                <a:prstGeom prst="rect">
                  <a:avLst/>
                </a:prstGeom>
                <a:solidFill>
                  <a:srgbClr val="F39FD1"/>
                </a:solidFill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7" name="Rectangle 191">
                  <a:extLst>
                    <a:ext uri="{FF2B5EF4-FFF2-40B4-BE49-F238E27FC236}">
                      <a16:creationId xmlns:a16="http://schemas.microsoft.com/office/drawing/2014/main" id="{C1E01A4A-76DD-4544-8C1C-BBAD494389D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3" y="1564"/>
                  <a:ext cx="58" cy="12"/>
                </a:xfrm>
                <a:prstGeom prst="rect">
                  <a:avLst/>
                </a:prstGeom>
                <a:solidFill>
                  <a:srgbClr val="F39FD1"/>
                </a:solidFill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8" name="Rectangle 192">
                  <a:extLst>
                    <a:ext uri="{FF2B5EF4-FFF2-40B4-BE49-F238E27FC236}">
                      <a16:creationId xmlns:a16="http://schemas.microsoft.com/office/drawing/2014/main" id="{071FA301-6C27-449C-910F-1E6002DC4D6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32" y="1564"/>
                  <a:ext cx="74" cy="7"/>
                </a:xfrm>
                <a:prstGeom prst="rect">
                  <a:avLst/>
                </a:prstGeom>
                <a:solidFill>
                  <a:srgbClr val="F39FD1"/>
                </a:solidFill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9" name="Oval 193">
                  <a:extLst>
                    <a:ext uri="{FF2B5EF4-FFF2-40B4-BE49-F238E27FC236}">
                      <a16:creationId xmlns:a16="http://schemas.microsoft.com/office/drawing/2014/main" id="{EB930607-C3C5-42EB-8C78-544D31DC120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92" y="1389"/>
                  <a:ext cx="22" cy="25"/>
                </a:xfrm>
                <a:prstGeom prst="ellipse">
                  <a:avLst/>
                </a:prstGeom>
                <a:solidFill>
                  <a:srgbClr val="F39FD1"/>
                </a:solidFill>
                <a:ln w="254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90" name="Freeform 194">
                  <a:extLst>
                    <a:ext uri="{FF2B5EF4-FFF2-40B4-BE49-F238E27FC236}">
                      <a16:creationId xmlns:a16="http://schemas.microsoft.com/office/drawing/2014/main" id="{B68C79CB-90F1-435F-B000-68A20F07594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31" y="1433"/>
                  <a:ext cx="139" cy="213"/>
                </a:xfrm>
                <a:custGeom>
                  <a:avLst/>
                  <a:gdLst>
                    <a:gd name="T0" fmla="*/ 1 w 139"/>
                    <a:gd name="T1" fmla="*/ 98 h 213"/>
                    <a:gd name="T2" fmla="*/ 1 w 139"/>
                    <a:gd name="T3" fmla="*/ 101 h 213"/>
                    <a:gd name="T4" fmla="*/ 0 w 139"/>
                    <a:gd name="T5" fmla="*/ 104 h 213"/>
                    <a:gd name="T6" fmla="*/ 0 w 139"/>
                    <a:gd name="T7" fmla="*/ 108 h 213"/>
                    <a:gd name="T8" fmla="*/ 1 w 139"/>
                    <a:gd name="T9" fmla="*/ 111 h 213"/>
                    <a:gd name="T10" fmla="*/ 3 w 139"/>
                    <a:gd name="T11" fmla="*/ 114 h 213"/>
                    <a:gd name="T12" fmla="*/ 6 w 139"/>
                    <a:gd name="T13" fmla="*/ 117 h 213"/>
                    <a:gd name="T14" fmla="*/ 9 w 139"/>
                    <a:gd name="T15" fmla="*/ 119 h 213"/>
                    <a:gd name="T16" fmla="*/ 11 w 139"/>
                    <a:gd name="T17" fmla="*/ 119 h 213"/>
                    <a:gd name="T18" fmla="*/ 15 w 139"/>
                    <a:gd name="T19" fmla="*/ 119 h 213"/>
                    <a:gd name="T20" fmla="*/ 90 w 139"/>
                    <a:gd name="T21" fmla="*/ 212 h 213"/>
                    <a:gd name="T22" fmla="*/ 114 w 139"/>
                    <a:gd name="T23" fmla="*/ 102 h 213"/>
                    <a:gd name="T24" fmla="*/ 113 w 139"/>
                    <a:gd name="T25" fmla="*/ 99 h 213"/>
                    <a:gd name="T26" fmla="*/ 112 w 139"/>
                    <a:gd name="T27" fmla="*/ 98 h 213"/>
                    <a:gd name="T28" fmla="*/ 110 w 139"/>
                    <a:gd name="T29" fmla="*/ 96 h 213"/>
                    <a:gd name="T30" fmla="*/ 108 w 139"/>
                    <a:gd name="T31" fmla="*/ 94 h 213"/>
                    <a:gd name="T32" fmla="*/ 106 w 139"/>
                    <a:gd name="T33" fmla="*/ 93 h 213"/>
                    <a:gd name="T34" fmla="*/ 103 w 139"/>
                    <a:gd name="T35" fmla="*/ 93 h 213"/>
                    <a:gd name="T36" fmla="*/ 100 w 139"/>
                    <a:gd name="T37" fmla="*/ 93 h 213"/>
                    <a:gd name="T38" fmla="*/ 98 w 139"/>
                    <a:gd name="T39" fmla="*/ 93 h 213"/>
                    <a:gd name="T40" fmla="*/ 67 w 139"/>
                    <a:gd name="T41" fmla="*/ 54 h 213"/>
                    <a:gd name="T42" fmla="*/ 128 w 139"/>
                    <a:gd name="T43" fmla="*/ 67 h 213"/>
                    <a:gd name="T44" fmla="*/ 131 w 139"/>
                    <a:gd name="T45" fmla="*/ 66 h 213"/>
                    <a:gd name="T46" fmla="*/ 132 w 139"/>
                    <a:gd name="T47" fmla="*/ 66 h 213"/>
                    <a:gd name="T48" fmla="*/ 135 w 139"/>
                    <a:gd name="T49" fmla="*/ 64 h 213"/>
                    <a:gd name="T50" fmla="*/ 137 w 139"/>
                    <a:gd name="T51" fmla="*/ 62 h 213"/>
                    <a:gd name="T52" fmla="*/ 137 w 139"/>
                    <a:gd name="T53" fmla="*/ 59 h 213"/>
                    <a:gd name="T54" fmla="*/ 138 w 139"/>
                    <a:gd name="T55" fmla="*/ 56 h 213"/>
                    <a:gd name="T56" fmla="*/ 137 w 139"/>
                    <a:gd name="T57" fmla="*/ 53 h 213"/>
                    <a:gd name="T58" fmla="*/ 136 w 139"/>
                    <a:gd name="T59" fmla="*/ 51 h 213"/>
                    <a:gd name="T60" fmla="*/ 134 w 139"/>
                    <a:gd name="T61" fmla="*/ 49 h 213"/>
                    <a:gd name="T62" fmla="*/ 132 w 139"/>
                    <a:gd name="T63" fmla="*/ 47 h 213"/>
                    <a:gd name="T64" fmla="*/ 129 w 139"/>
                    <a:gd name="T65" fmla="*/ 46 h 213"/>
                    <a:gd name="T66" fmla="*/ 87 w 139"/>
                    <a:gd name="T67" fmla="*/ 46 h 213"/>
                    <a:gd name="T68" fmla="*/ 80 w 139"/>
                    <a:gd name="T69" fmla="*/ 30 h 213"/>
                    <a:gd name="T70" fmla="*/ 81 w 139"/>
                    <a:gd name="T71" fmla="*/ 26 h 213"/>
                    <a:gd name="T72" fmla="*/ 81 w 139"/>
                    <a:gd name="T73" fmla="*/ 22 h 213"/>
                    <a:gd name="T74" fmla="*/ 81 w 139"/>
                    <a:gd name="T75" fmla="*/ 18 h 213"/>
                    <a:gd name="T76" fmla="*/ 80 w 139"/>
                    <a:gd name="T77" fmla="*/ 14 h 213"/>
                    <a:gd name="T78" fmla="*/ 79 w 139"/>
                    <a:gd name="T79" fmla="*/ 11 h 213"/>
                    <a:gd name="T80" fmla="*/ 76 w 139"/>
                    <a:gd name="T81" fmla="*/ 8 h 213"/>
                    <a:gd name="T82" fmla="*/ 73 w 139"/>
                    <a:gd name="T83" fmla="*/ 5 h 213"/>
                    <a:gd name="T84" fmla="*/ 70 w 139"/>
                    <a:gd name="T85" fmla="*/ 3 h 213"/>
                    <a:gd name="T86" fmla="*/ 67 w 139"/>
                    <a:gd name="T87" fmla="*/ 1 h 213"/>
                    <a:gd name="T88" fmla="*/ 62 w 139"/>
                    <a:gd name="T89" fmla="*/ 0 h 213"/>
                    <a:gd name="T90" fmla="*/ 58 w 139"/>
                    <a:gd name="T91" fmla="*/ 0 h 213"/>
                    <a:gd name="T92" fmla="*/ 54 w 139"/>
                    <a:gd name="T93" fmla="*/ 1 h 213"/>
                    <a:gd name="T94" fmla="*/ 49 w 139"/>
                    <a:gd name="T95" fmla="*/ 2 h 213"/>
                    <a:gd name="T96" fmla="*/ 45 w 139"/>
                    <a:gd name="T97" fmla="*/ 4 h 213"/>
                    <a:gd name="T98" fmla="*/ 42 w 139"/>
                    <a:gd name="T99" fmla="*/ 8 h 213"/>
                    <a:gd name="T100" fmla="*/ 39 w 139"/>
                    <a:gd name="T101" fmla="*/ 12 h 213"/>
                    <a:gd name="T102" fmla="*/ 38 w 139"/>
                    <a:gd name="T103" fmla="*/ 16 h 213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w 139"/>
                    <a:gd name="T157" fmla="*/ 0 h 213"/>
                    <a:gd name="T158" fmla="*/ 139 w 139"/>
                    <a:gd name="T159" fmla="*/ 213 h 213"/>
                  </a:gdLst>
                  <a:ahLst/>
                  <a:cxnLst>
                    <a:cxn ang="T104">
                      <a:pos x="T0" y="T1"/>
                    </a:cxn>
                    <a:cxn ang="T105">
                      <a:pos x="T2" y="T3"/>
                    </a:cxn>
                    <a:cxn ang="T106">
                      <a:pos x="T4" y="T5"/>
                    </a:cxn>
                    <a:cxn ang="T107">
                      <a:pos x="T6" y="T7"/>
                    </a:cxn>
                    <a:cxn ang="T108">
                      <a:pos x="T8" y="T9"/>
                    </a:cxn>
                    <a:cxn ang="T109">
                      <a:pos x="T10" y="T11"/>
                    </a:cxn>
                    <a:cxn ang="T110">
                      <a:pos x="T12" y="T13"/>
                    </a:cxn>
                    <a:cxn ang="T111">
                      <a:pos x="T14" y="T15"/>
                    </a:cxn>
                    <a:cxn ang="T112">
                      <a:pos x="T16" y="T17"/>
                    </a:cxn>
                    <a:cxn ang="T113">
                      <a:pos x="T18" y="T19"/>
                    </a:cxn>
                    <a:cxn ang="T114">
                      <a:pos x="T20" y="T21"/>
                    </a:cxn>
                    <a:cxn ang="T115">
                      <a:pos x="T22" y="T23"/>
                    </a:cxn>
                    <a:cxn ang="T116">
                      <a:pos x="T24" y="T25"/>
                    </a:cxn>
                    <a:cxn ang="T117">
                      <a:pos x="T26" y="T27"/>
                    </a:cxn>
                    <a:cxn ang="T118">
                      <a:pos x="T28" y="T29"/>
                    </a:cxn>
                    <a:cxn ang="T119">
                      <a:pos x="T30" y="T31"/>
                    </a:cxn>
                    <a:cxn ang="T120">
                      <a:pos x="T32" y="T33"/>
                    </a:cxn>
                    <a:cxn ang="T121">
                      <a:pos x="T34" y="T35"/>
                    </a:cxn>
                    <a:cxn ang="T122">
                      <a:pos x="T36" y="T37"/>
                    </a:cxn>
                    <a:cxn ang="T123">
                      <a:pos x="T38" y="T39"/>
                    </a:cxn>
                    <a:cxn ang="T124">
                      <a:pos x="T40" y="T41"/>
                    </a:cxn>
                    <a:cxn ang="T125">
                      <a:pos x="T42" y="T43"/>
                    </a:cxn>
                    <a:cxn ang="T126">
                      <a:pos x="T44" y="T45"/>
                    </a:cxn>
                    <a:cxn ang="T127">
                      <a:pos x="T46" y="T47"/>
                    </a:cxn>
                    <a:cxn ang="T128">
                      <a:pos x="T48" y="T49"/>
                    </a:cxn>
                    <a:cxn ang="T129">
                      <a:pos x="T50" y="T51"/>
                    </a:cxn>
                    <a:cxn ang="T130">
                      <a:pos x="T52" y="T53"/>
                    </a:cxn>
                    <a:cxn ang="T131">
                      <a:pos x="T54" y="T55"/>
                    </a:cxn>
                    <a:cxn ang="T132">
                      <a:pos x="T56" y="T57"/>
                    </a:cxn>
                    <a:cxn ang="T133">
                      <a:pos x="T58" y="T59"/>
                    </a:cxn>
                    <a:cxn ang="T134">
                      <a:pos x="T60" y="T61"/>
                    </a:cxn>
                    <a:cxn ang="T135">
                      <a:pos x="T62" y="T63"/>
                    </a:cxn>
                    <a:cxn ang="T136">
                      <a:pos x="T64" y="T65"/>
                    </a:cxn>
                    <a:cxn ang="T137">
                      <a:pos x="T66" y="T67"/>
                    </a:cxn>
                    <a:cxn ang="T138">
                      <a:pos x="T68" y="T69"/>
                    </a:cxn>
                    <a:cxn ang="T139">
                      <a:pos x="T70" y="T71"/>
                    </a:cxn>
                    <a:cxn ang="T140">
                      <a:pos x="T72" y="T73"/>
                    </a:cxn>
                    <a:cxn ang="T141">
                      <a:pos x="T74" y="T75"/>
                    </a:cxn>
                    <a:cxn ang="T142">
                      <a:pos x="T76" y="T77"/>
                    </a:cxn>
                    <a:cxn ang="T143">
                      <a:pos x="T78" y="T79"/>
                    </a:cxn>
                    <a:cxn ang="T144">
                      <a:pos x="T80" y="T81"/>
                    </a:cxn>
                    <a:cxn ang="T145">
                      <a:pos x="T82" y="T83"/>
                    </a:cxn>
                    <a:cxn ang="T146">
                      <a:pos x="T84" y="T85"/>
                    </a:cxn>
                    <a:cxn ang="T147">
                      <a:pos x="T86" y="T87"/>
                    </a:cxn>
                    <a:cxn ang="T148">
                      <a:pos x="T88" y="T89"/>
                    </a:cxn>
                    <a:cxn ang="T149">
                      <a:pos x="T90" y="T91"/>
                    </a:cxn>
                    <a:cxn ang="T150">
                      <a:pos x="T92" y="T93"/>
                    </a:cxn>
                    <a:cxn ang="T151">
                      <a:pos x="T94" y="T95"/>
                    </a:cxn>
                    <a:cxn ang="T152">
                      <a:pos x="T96" y="T97"/>
                    </a:cxn>
                    <a:cxn ang="T153">
                      <a:pos x="T98" y="T99"/>
                    </a:cxn>
                    <a:cxn ang="T154">
                      <a:pos x="T100" y="T101"/>
                    </a:cxn>
                    <a:cxn ang="T155">
                      <a:pos x="T102" y="T103"/>
                    </a:cxn>
                  </a:cxnLst>
                  <a:rect l="T156" t="T157" r="T158" b="T159"/>
                  <a:pathLst>
                    <a:path w="139" h="213">
                      <a:moveTo>
                        <a:pt x="38" y="16"/>
                      </a:moveTo>
                      <a:lnTo>
                        <a:pt x="1" y="98"/>
                      </a:lnTo>
                      <a:lnTo>
                        <a:pt x="1" y="99"/>
                      </a:lnTo>
                      <a:lnTo>
                        <a:pt x="1" y="101"/>
                      </a:lnTo>
                      <a:lnTo>
                        <a:pt x="0" y="102"/>
                      </a:lnTo>
                      <a:lnTo>
                        <a:pt x="0" y="104"/>
                      </a:lnTo>
                      <a:lnTo>
                        <a:pt x="0" y="106"/>
                      </a:lnTo>
                      <a:lnTo>
                        <a:pt x="0" y="108"/>
                      </a:lnTo>
                      <a:lnTo>
                        <a:pt x="1" y="109"/>
                      </a:lnTo>
                      <a:lnTo>
                        <a:pt x="1" y="111"/>
                      </a:lnTo>
                      <a:lnTo>
                        <a:pt x="2" y="113"/>
                      </a:lnTo>
                      <a:lnTo>
                        <a:pt x="3" y="114"/>
                      </a:lnTo>
                      <a:lnTo>
                        <a:pt x="4" y="116"/>
                      </a:lnTo>
                      <a:lnTo>
                        <a:pt x="6" y="117"/>
                      </a:lnTo>
                      <a:lnTo>
                        <a:pt x="7" y="118"/>
                      </a:lnTo>
                      <a:lnTo>
                        <a:pt x="9" y="119"/>
                      </a:lnTo>
                      <a:lnTo>
                        <a:pt x="10" y="119"/>
                      </a:lnTo>
                      <a:lnTo>
                        <a:pt x="11" y="119"/>
                      </a:lnTo>
                      <a:lnTo>
                        <a:pt x="13" y="119"/>
                      </a:lnTo>
                      <a:lnTo>
                        <a:pt x="15" y="119"/>
                      </a:lnTo>
                      <a:lnTo>
                        <a:pt x="90" y="119"/>
                      </a:lnTo>
                      <a:lnTo>
                        <a:pt x="90" y="212"/>
                      </a:lnTo>
                      <a:lnTo>
                        <a:pt x="114" y="212"/>
                      </a:lnTo>
                      <a:lnTo>
                        <a:pt x="114" y="102"/>
                      </a:lnTo>
                      <a:lnTo>
                        <a:pt x="114" y="101"/>
                      </a:lnTo>
                      <a:lnTo>
                        <a:pt x="113" y="99"/>
                      </a:lnTo>
                      <a:lnTo>
                        <a:pt x="113" y="98"/>
                      </a:lnTo>
                      <a:lnTo>
                        <a:pt x="112" y="98"/>
                      </a:lnTo>
                      <a:lnTo>
                        <a:pt x="112" y="97"/>
                      </a:lnTo>
                      <a:lnTo>
                        <a:pt x="110" y="96"/>
                      </a:lnTo>
                      <a:lnTo>
                        <a:pt x="110" y="95"/>
                      </a:lnTo>
                      <a:lnTo>
                        <a:pt x="108" y="94"/>
                      </a:lnTo>
                      <a:lnTo>
                        <a:pt x="107" y="94"/>
                      </a:lnTo>
                      <a:lnTo>
                        <a:pt x="106" y="93"/>
                      </a:lnTo>
                      <a:lnTo>
                        <a:pt x="105" y="93"/>
                      </a:lnTo>
                      <a:lnTo>
                        <a:pt x="103" y="93"/>
                      </a:lnTo>
                      <a:lnTo>
                        <a:pt x="102" y="93"/>
                      </a:lnTo>
                      <a:lnTo>
                        <a:pt x="100" y="93"/>
                      </a:lnTo>
                      <a:lnTo>
                        <a:pt x="99" y="93"/>
                      </a:lnTo>
                      <a:lnTo>
                        <a:pt x="98" y="93"/>
                      </a:lnTo>
                      <a:lnTo>
                        <a:pt x="54" y="90"/>
                      </a:lnTo>
                      <a:lnTo>
                        <a:pt x="67" y="54"/>
                      </a:lnTo>
                      <a:lnTo>
                        <a:pt x="75" y="67"/>
                      </a:lnTo>
                      <a:lnTo>
                        <a:pt x="128" y="67"/>
                      </a:lnTo>
                      <a:lnTo>
                        <a:pt x="129" y="66"/>
                      </a:lnTo>
                      <a:lnTo>
                        <a:pt x="131" y="66"/>
                      </a:lnTo>
                      <a:lnTo>
                        <a:pt x="132" y="66"/>
                      </a:lnTo>
                      <a:lnTo>
                        <a:pt x="134" y="64"/>
                      </a:lnTo>
                      <a:lnTo>
                        <a:pt x="135" y="64"/>
                      </a:lnTo>
                      <a:lnTo>
                        <a:pt x="136" y="63"/>
                      </a:lnTo>
                      <a:lnTo>
                        <a:pt x="137" y="62"/>
                      </a:lnTo>
                      <a:lnTo>
                        <a:pt x="137" y="61"/>
                      </a:lnTo>
                      <a:lnTo>
                        <a:pt x="137" y="59"/>
                      </a:lnTo>
                      <a:lnTo>
                        <a:pt x="138" y="58"/>
                      </a:lnTo>
                      <a:lnTo>
                        <a:pt x="138" y="56"/>
                      </a:lnTo>
                      <a:lnTo>
                        <a:pt x="138" y="54"/>
                      </a:lnTo>
                      <a:lnTo>
                        <a:pt x="137" y="53"/>
                      </a:lnTo>
                      <a:lnTo>
                        <a:pt x="137" y="52"/>
                      </a:lnTo>
                      <a:lnTo>
                        <a:pt x="136" y="51"/>
                      </a:lnTo>
                      <a:lnTo>
                        <a:pt x="135" y="49"/>
                      </a:lnTo>
                      <a:lnTo>
                        <a:pt x="134" y="49"/>
                      </a:lnTo>
                      <a:lnTo>
                        <a:pt x="133" y="48"/>
                      </a:lnTo>
                      <a:lnTo>
                        <a:pt x="132" y="47"/>
                      </a:lnTo>
                      <a:lnTo>
                        <a:pt x="131" y="46"/>
                      </a:lnTo>
                      <a:lnTo>
                        <a:pt x="129" y="46"/>
                      </a:lnTo>
                      <a:lnTo>
                        <a:pt x="128" y="46"/>
                      </a:lnTo>
                      <a:lnTo>
                        <a:pt x="87" y="46"/>
                      </a:lnTo>
                      <a:lnTo>
                        <a:pt x="79" y="31"/>
                      </a:lnTo>
                      <a:lnTo>
                        <a:pt x="80" y="30"/>
                      </a:lnTo>
                      <a:lnTo>
                        <a:pt x="81" y="28"/>
                      </a:lnTo>
                      <a:lnTo>
                        <a:pt x="81" y="26"/>
                      </a:lnTo>
                      <a:lnTo>
                        <a:pt x="81" y="24"/>
                      </a:lnTo>
                      <a:lnTo>
                        <a:pt x="81" y="22"/>
                      </a:lnTo>
                      <a:lnTo>
                        <a:pt x="81" y="20"/>
                      </a:lnTo>
                      <a:lnTo>
                        <a:pt x="81" y="18"/>
                      </a:lnTo>
                      <a:lnTo>
                        <a:pt x="81" y="16"/>
                      </a:lnTo>
                      <a:lnTo>
                        <a:pt x="80" y="14"/>
                      </a:lnTo>
                      <a:lnTo>
                        <a:pt x="79" y="13"/>
                      </a:lnTo>
                      <a:lnTo>
                        <a:pt x="79" y="11"/>
                      </a:lnTo>
                      <a:lnTo>
                        <a:pt x="78" y="9"/>
                      </a:lnTo>
                      <a:lnTo>
                        <a:pt x="76" y="8"/>
                      </a:lnTo>
                      <a:lnTo>
                        <a:pt x="75" y="6"/>
                      </a:lnTo>
                      <a:lnTo>
                        <a:pt x="73" y="5"/>
                      </a:lnTo>
                      <a:lnTo>
                        <a:pt x="72" y="4"/>
                      </a:lnTo>
                      <a:lnTo>
                        <a:pt x="70" y="3"/>
                      </a:lnTo>
                      <a:lnTo>
                        <a:pt x="68" y="2"/>
                      </a:lnTo>
                      <a:lnTo>
                        <a:pt x="67" y="1"/>
                      </a:lnTo>
                      <a:lnTo>
                        <a:pt x="64" y="1"/>
                      </a:lnTo>
                      <a:lnTo>
                        <a:pt x="62" y="0"/>
                      </a:lnTo>
                      <a:lnTo>
                        <a:pt x="60" y="0"/>
                      </a:lnTo>
                      <a:lnTo>
                        <a:pt x="58" y="0"/>
                      </a:lnTo>
                      <a:lnTo>
                        <a:pt x="56" y="0"/>
                      </a:lnTo>
                      <a:lnTo>
                        <a:pt x="54" y="1"/>
                      </a:lnTo>
                      <a:lnTo>
                        <a:pt x="52" y="1"/>
                      </a:lnTo>
                      <a:lnTo>
                        <a:pt x="49" y="2"/>
                      </a:lnTo>
                      <a:lnTo>
                        <a:pt x="47" y="3"/>
                      </a:lnTo>
                      <a:lnTo>
                        <a:pt x="45" y="4"/>
                      </a:lnTo>
                      <a:lnTo>
                        <a:pt x="44" y="6"/>
                      </a:lnTo>
                      <a:lnTo>
                        <a:pt x="42" y="8"/>
                      </a:lnTo>
                      <a:lnTo>
                        <a:pt x="41" y="9"/>
                      </a:lnTo>
                      <a:lnTo>
                        <a:pt x="39" y="12"/>
                      </a:lnTo>
                      <a:lnTo>
                        <a:pt x="38" y="14"/>
                      </a:lnTo>
                      <a:lnTo>
                        <a:pt x="38" y="16"/>
                      </a:lnTo>
                    </a:path>
                  </a:pathLst>
                </a:custGeom>
                <a:solidFill>
                  <a:srgbClr val="F39FD1"/>
                </a:solidFill>
                <a:ln w="1270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78" name="Freeform 195">
                <a:extLst>
                  <a:ext uri="{FF2B5EF4-FFF2-40B4-BE49-F238E27FC236}">
                    <a16:creationId xmlns:a16="http://schemas.microsoft.com/office/drawing/2014/main" id="{8F5FA121-40D6-4F1C-8D46-5D6B9B411E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68" y="1392"/>
                <a:ext cx="200" cy="291"/>
              </a:xfrm>
              <a:custGeom>
                <a:avLst/>
                <a:gdLst>
                  <a:gd name="T0" fmla="*/ 199 w 200"/>
                  <a:gd name="T1" fmla="*/ 263 h 291"/>
                  <a:gd name="T2" fmla="*/ 184 w 200"/>
                  <a:gd name="T3" fmla="*/ 263 h 291"/>
                  <a:gd name="T4" fmla="*/ 158 w 200"/>
                  <a:gd name="T5" fmla="*/ 229 h 291"/>
                  <a:gd name="T6" fmla="*/ 121 w 200"/>
                  <a:gd name="T7" fmla="*/ 169 h 291"/>
                  <a:gd name="T8" fmla="*/ 111 w 200"/>
                  <a:gd name="T9" fmla="*/ 141 h 291"/>
                  <a:gd name="T10" fmla="*/ 114 w 200"/>
                  <a:gd name="T11" fmla="*/ 123 h 291"/>
                  <a:gd name="T12" fmla="*/ 123 w 200"/>
                  <a:gd name="T13" fmla="*/ 119 h 291"/>
                  <a:gd name="T14" fmla="*/ 136 w 200"/>
                  <a:gd name="T15" fmla="*/ 129 h 291"/>
                  <a:gd name="T16" fmla="*/ 155 w 200"/>
                  <a:gd name="T17" fmla="*/ 140 h 291"/>
                  <a:gd name="T18" fmla="*/ 164 w 200"/>
                  <a:gd name="T19" fmla="*/ 140 h 291"/>
                  <a:gd name="T20" fmla="*/ 165 w 200"/>
                  <a:gd name="T21" fmla="*/ 134 h 291"/>
                  <a:gd name="T22" fmla="*/ 156 w 200"/>
                  <a:gd name="T23" fmla="*/ 123 h 291"/>
                  <a:gd name="T24" fmla="*/ 135 w 200"/>
                  <a:gd name="T25" fmla="*/ 108 h 291"/>
                  <a:gd name="T26" fmla="*/ 126 w 200"/>
                  <a:gd name="T27" fmla="*/ 86 h 291"/>
                  <a:gd name="T28" fmla="*/ 123 w 200"/>
                  <a:gd name="T29" fmla="*/ 69 h 291"/>
                  <a:gd name="T30" fmla="*/ 113 w 200"/>
                  <a:gd name="T31" fmla="*/ 56 h 291"/>
                  <a:gd name="T32" fmla="*/ 109 w 200"/>
                  <a:gd name="T33" fmla="*/ 48 h 291"/>
                  <a:gd name="T34" fmla="*/ 114 w 200"/>
                  <a:gd name="T35" fmla="*/ 36 h 291"/>
                  <a:gd name="T36" fmla="*/ 119 w 200"/>
                  <a:gd name="T37" fmla="*/ 24 h 291"/>
                  <a:gd name="T38" fmla="*/ 115 w 200"/>
                  <a:gd name="T39" fmla="*/ 9 h 291"/>
                  <a:gd name="T40" fmla="*/ 105 w 200"/>
                  <a:gd name="T41" fmla="*/ 1 h 291"/>
                  <a:gd name="T42" fmla="*/ 90 w 200"/>
                  <a:gd name="T43" fmla="*/ 3 h 291"/>
                  <a:gd name="T44" fmla="*/ 84 w 200"/>
                  <a:gd name="T45" fmla="*/ 13 h 291"/>
                  <a:gd name="T46" fmla="*/ 84 w 200"/>
                  <a:gd name="T47" fmla="*/ 23 h 291"/>
                  <a:gd name="T48" fmla="*/ 88 w 200"/>
                  <a:gd name="T49" fmla="*/ 35 h 291"/>
                  <a:gd name="T50" fmla="*/ 88 w 200"/>
                  <a:gd name="T51" fmla="*/ 46 h 291"/>
                  <a:gd name="T52" fmla="*/ 78 w 200"/>
                  <a:gd name="T53" fmla="*/ 56 h 291"/>
                  <a:gd name="T54" fmla="*/ 65 w 200"/>
                  <a:gd name="T55" fmla="*/ 64 h 291"/>
                  <a:gd name="T56" fmla="*/ 55 w 200"/>
                  <a:gd name="T57" fmla="*/ 75 h 291"/>
                  <a:gd name="T58" fmla="*/ 46 w 200"/>
                  <a:gd name="T59" fmla="*/ 99 h 291"/>
                  <a:gd name="T60" fmla="*/ 41 w 200"/>
                  <a:gd name="T61" fmla="*/ 121 h 291"/>
                  <a:gd name="T62" fmla="*/ 40 w 200"/>
                  <a:gd name="T63" fmla="*/ 145 h 291"/>
                  <a:gd name="T64" fmla="*/ 41 w 200"/>
                  <a:gd name="T65" fmla="*/ 158 h 291"/>
                  <a:gd name="T66" fmla="*/ 49 w 200"/>
                  <a:gd name="T67" fmla="*/ 161 h 291"/>
                  <a:gd name="T68" fmla="*/ 53 w 200"/>
                  <a:gd name="T69" fmla="*/ 158 h 291"/>
                  <a:gd name="T70" fmla="*/ 53 w 200"/>
                  <a:gd name="T71" fmla="*/ 133 h 291"/>
                  <a:gd name="T72" fmla="*/ 55 w 200"/>
                  <a:gd name="T73" fmla="*/ 116 h 291"/>
                  <a:gd name="T74" fmla="*/ 64 w 200"/>
                  <a:gd name="T75" fmla="*/ 109 h 291"/>
                  <a:gd name="T76" fmla="*/ 70 w 200"/>
                  <a:gd name="T77" fmla="*/ 114 h 291"/>
                  <a:gd name="T78" fmla="*/ 68 w 200"/>
                  <a:gd name="T79" fmla="*/ 140 h 291"/>
                  <a:gd name="T80" fmla="*/ 61 w 200"/>
                  <a:gd name="T81" fmla="*/ 166 h 291"/>
                  <a:gd name="T82" fmla="*/ 53 w 200"/>
                  <a:gd name="T83" fmla="*/ 196 h 291"/>
                  <a:gd name="T84" fmla="*/ 33 w 200"/>
                  <a:gd name="T85" fmla="*/ 225 h 291"/>
                  <a:gd name="T86" fmla="*/ 8 w 200"/>
                  <a:gd name="T87" fmla="*/ 255 h 291"/>
                  <a:gd name="T88" fmla="*/ 0 w 200"/>
                  <a:gd name="T89" fmla="*/ 271 h 291"/>
                  <a:gd name="T90" fmla="*/ 19 w 200"/>
                  <a:gd name="T91" fmla="*/ 290 h 291"/>
                  <a:gd name="T92" fmla="*/ 33 w 200"/>
                  <a:gd name="T93" fmla="*/ 288 h 291"/>
                  <a:gd name="T94" fmla="*/ 23 w 200"/>
                  <a:gd name="T95" fmla="*/ 275 h 291"/>
                  <a:gd name="T96" fmla="*/ 30 w 200"/>
                  <a:gd name="T97" fmla="*/ 259 h 291"/>
                  <a:gd name="T98" fmla="*/ 61 w 200"/>
                  <a:gd name="T99" fmla="*/ 223 h 291"/>
                  <a:gd name="T100" fmla="*/ 84 w 200"/>
                  <a:gd name="T101" fmla="*/ 196 h 291"/>
                  <a:gd name="T102" fmla="*/ 95 w 200"/>
                  <a:gd name="T103" fmla="*/ 190 h 291"/>
                  <a:gd name="T104" fmla="*/ 109 w 200"/>
                  <a:gd name="T105" fmla="*/ 199 h 291"/>
                  <a:gd name="T106" fmla="*/ 141 w 200"/>
                  <a:gd name="T107" fmla="*/ 243 h 291"/>
                  <a:gd name="T108" fmla="*/ 168 w 200"/>
                  <a:gd name="T109" fmla="*/ 280 h 291"/>
                  <a:gd name="T110" fmla="*/ 178 w 200"/>
                  <a:gd name="T111" fmla="*/ 283 h 291"/>
                  <a:gd name="T112" fmla="*/ 191 w 200"/>
                  <a:gd name="T113" fmla="*/ 273 h 291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200"/>
                  <a:gd name="T172" fmla="*/ 0 h 291"/>
                  <a:gd name="T173" fmla="*/ 200 w 200"/>
                  <a:gd name="T174" fmla="*/ 291 h 291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200" h="291">
                    <a:moveTo>
                      <a:pt x="198" y="268"/>
                    </a:moveTo>
                    <a:lnTo>
                      <a:pt x="199" y="263"/>
                    </a:lnTo>
                    <a:lnTo>
                      <a:pt x="191" y="264"/>
                    </a:lnTo>
                    <a:lnTo>
                      <a:pt x="184" y="263"/>
                    </a:lnTo>
                    <a:lnTo>
                      <a:pt x="174" y="255"/>
                    </a:lnTo>
                    <a:lnTo>
                      <a:pt x="158" y="229"/>
                    </a:lnTo>
                    <a:lnTo>
                      <a:pt x="134" y="190"/>
                    </a:lnTo>
                    <a:lnTo>
                      <a:pt x="121" y="169"/>
                    </a:lnTo>
                    <a:lnTo>
                      <a:pt x="113" y="151"/>
                    </a:lnTo>
                    <a:lnTo>
                      <a:pt x="111" y="141"/>
                    </a:lnTo>
                    <a:lnTo>
                      <a:pt x="111" y="130"/>
                    </a:lnTo>
                    <a:lnTo>
                      <a:pt x="114" y="123"/>
                    </a:lnTo>
                    <a:lnTo>
                      <a:pt x="119" y="119"/>
                    </a:lnTo>
                    <a:lnTo>
                      <a:pt x="123" y="119"/>
                    </a:lnTo>
                    <a:lnTo>
                      <a:pt x="128" y="121"/>
                    </a:lnTo>
                    <a:lnTo>
                      <a:pt x="136" y="129"/>
                    </a:lnTo>
                    <a:lnTo>
                      <a:pt x="148" y="136"/>
                    </a:lnTo>
                    <a:lnTo>
                      <a:pt x="155" y="140"/>
                    </a:lnTo>
                    <a:lnTo>
                      <a:pt x="160" y="141"/>
                    </a:lnTo>
                    <a:lnTo>
                      <a:pt x="164" y="140"/>
                    </a:lnTo>
                    <a:lnTo>
                      <a:pt x="166" y="136"/>
                    </a:lnTo>
                    <a:lnTo>
                      <a:pt x="165" y="134"/>
                    </a:lnTo>
                    <a:lnTo>
                      <a:pt x="164" y="130"/>
                    </a:lnTo>
                    <a:lnTo>
                      <a:pt x="156" y="123"/>
                    </a:lnTo>
                    <a:lnTo>
                      <a:pt x="143" y="114"/>
                    </a:lnTo>
                    <a:lnTo>
                      <a:pt x="135" y="108"/>
                    </a:lnTo>
                    <a:lnTo>
                      <a:pt x="130" y="99"/>
                    </a:lnTo>
                    <a:lnTo>
                      <a:pt x="126" y="86"/>
                    </a:lnTo>
                    <a:lnTo>
                      <a:pt x="125" y="74"/>
                    </a:lnTo>
                    <a:lnTo>
                      <a:pt x="123" y="69"/>
                    </a:lnTo>
                    <a:lnTo>
                      <a:pt x="119" y="63"/>
                    </a:lnTo>
                    <a:lnTo>
                      <a:pt x="113" y="56"/>
                    </a:lnTo>
                    <a:lnTo>
                      <a:pt x="109" y="53"/>
                    </a:lnTo>
                    <a:lnTo>
                      <a:pt x="109" y="48"/>
                    </a:lnTo>
                    <a:lnTo>
                      <a:pt x="111" y="40"/>
                    </a:lnTo>
                    <a:lnTo>
                      <a:pt x="114" y="36"/>
                    </a:lnTo>
                    <a:lnTo>
                      <a:pt x="116" y="31"/>
                    </a:lnTo>
                    <a:lnTo>
                      <a:pt x="119" y="24"/>
                    </a:lnTo>
                    <a:lnTo>
                      <a:pt x="116" y="15"/>
                    </a:lnTo>
                    <a:lnTo>
                      <a:pt x="115" y="9"/>
                    </a:lnTo>
                    <a:lnTo>
                      <a:pt x="111" y="4"/>
                    </a:lnTo>
                    <a:lnTo>
                      <a:pt x="105" y="1"/>
                    </a:lnTo>
                    <a:lnTo>
                      <a:pt x="96" y="0"/>
                    </a:lnTo>
                    <a:lnTo>
                      <a:pt x="90" y="3"/>
                    </a:lnTo>
                    <a:lnTo>
                      <a:pt x="86" y="6"/>
                    </a:lnTo>
                    <a:lnTo>
                      <a:pt x="84" y="13"/>
                    </a:lnTo>
                    <a:lnTo>
                      <a:pt x="83" y="18"/>
                    </a:lnTo>
                    <a:lnTo>
                      <a:pt x="84" y="23"/>
                    </a:lnTo>
                    <a:lnTo>
                      <a:pt x="86" y="30"/>
                    </a:lnTo>
                    <a:lnTo>
                      <a:pt x="88" y="35"/>
                    </a:lnTo>
                    <a:lnTo>
                      <a:pt x="89" y="40"/>
                    </a:lnTo>
                    <a:lnTo>
                      <a:pt x="88" y="46"/>
                    </a:lnTo>
                    <a:lnTo>
                      <a:pt x="84" y="51"/>
                    </a:lnTo>
                    <a:lnTo>
                      <a:pt x="78" y="56"/>
                    </a:lnTo>
                    <a:lnTo>
                      <a:pt x="70" y="60"/>
                    </a:lnTo>
                    <a:lnTo>
                      <a:pt x="65" y="64"/>
                    </a:lnTo>
                    <a:lnTo>
                      <a:pt x="60" y="69"/>
                    </a:lnTo>
                    <a:lnTo>
                      <a:pt x="55" y="75"/>
                    </a:lnTo>
                    <a:lnTo>
                      <a:pt x="50" y="86"/>
                    </a:lnTo>
                    <a:lnTo>
                      <a:pt x="46" y="99"/>
                    </a:lnTo>
                    <a:lnTo>
                      <a:pt x="43" y="109"/>
                    </a:lnTo>
                    <a:lnTo>
                      <a:pt x="41" y="121"/>
                    </a:lnTo>
                    <a:lnTo>
                      <a:pt x="40" y="136"/>
                    </a:lnTo>
                    <a:lnTo>
                      <a:pt x="40" y="145"/>
                    </a:lnTo>
                    <a:lnTo>
                      <a:pt x="40" y="153"/>
                    </a:lnTo>
                    <a:lnTo>
                      <a:pt x="41" y="158"/>
                    </a:lnTo>
                    <a:lnTo>
                      <a:pt x="44" y="160"/>
                    </a:lnTo>
                    <a:lnTo>
                      <a:pt x="49" y="161"/>
                    </a:lnTo>
                    <a:lnTo>
                      <a:pt x="51" y="160"/>
                    </a:lnTo>
                    <a:lnTo>
                      <a:pt x="53" y="158"/>
                    </a:lnTo>
                    <a:lnTo>
                      <a:pt x="53" y="148"/>
                    </a:lnTo>
                    <a:lnTo>
                      <a:pt x="53" y="133"/>
                    </a:lnTo>
                    <a:lnTo>
                      <a:pt x="54" y="123"/>
                    </a:lnTo>
                    <a:lnTo>
                      <a:pt x="55" y="116"/>
                    </a:lnTo>
                    <a:lnTo>
                      <a:pt x="59" y="110"/>
                    </a:lnTo>
                    <a:lnTo>
                      <a:pt x="64" y="109"/>
                    </a:lnTo>
                    <a:lnTo>
                      <a:pt x="69" y="110"/>
                    </a:lnTo>
                    <a:lnTo>
                      <a:pt x="70" y="114"/>
                    </a:lnTo>
                    <a:lnTo>
                      <a:pt x="69" y="125"/>
                    </a:lnTo>
                    <a:lnTo>
                      <a:pt x="68" y="140"/>
                    </a:lnTo>
                    <a:lnTo>
                      <a:pt x="65" y="154"/>
                    </a:lnTo>
                    <a:lnTo>
                      <a:pt x="61" y="166"/>
                    </a:lnTo>
                    <a:lnTo>
                      <a:pt x="58" y="183"/>
                    </a:lnTo>
                    <a:lnTo>
                      <a:pt x="53" y="196"/>
                    </a:lnTo>
                    <a:lnTo>
                      <a:pt x="41" y="214"/>
                    </a:lnTo>
                    <a:lnTo>
                      <a:pt x="33" y="225"/>
                    </a:lnTo>
                    <a:lnTo>
                      <a:pt x="18" y="243"/>
                    </a:lnTo>
                    <a:lnTo>
                      <a:pt x="8" y="255"/>
                    </a:lnTo>
                    <a:lnTo>
                      <a:pt x="0" y="266"/>
                    </a:lnTo>
                    <a:lnTo>
                      <a:pt x="0" y="271"/>
                    </a:lnTo>
                    <a:lnTo>
                      <a:pt x="8" y="280"/>
                    </a:lnTo>
                    <a:lnTo>
                      <a:pt x="19" y="290"/>
                    </a:lnTo>
                    <a:lnTo>
                      <a:pt x="30" y="290"/>
                    </a:lnTo>
                    <a:lnTo>
                      <a:pt x="33" y="288"/>
                    </a:lnTo>
                    <a:lnTo>
                      <a:pt x="28" y="281"/>
                    </a:lnTo>
                    <a:lnTo>
                      <a:pt x="23" y="275"/>
                    </a:lnTo>
                    <a:lnTo>
                      <a:pt x="23" y="270"/>
                    </a:lnTo>
                    <a:lnTo>
                      <a:pt x="30" y="259"/>
                    </a:lnTo>
                    <a:lnTo>
                      <a:pt x="43" y="246"/>
                    </a:lnTo>
                    <a:lnTo>
                      <a:pt x="61" y="223"/>
                    </a:lnTo>
                    <a:lnTo>
                      <a:pt x="78" y="203"/>
                    </a:lnTo>
                    <a:lnTo>
                      <a:pt x="84" y="196"/>
                    </a:lnTo>
                    <a:lnTo>
                      <a:pt x="88" y="191"/>
                    </a:lnTo>
                    <a:lnTo>
                      <a:pt x="95" y="190"/>
                    </a:lnTo>
                    <a:lnTo>
                      <a:pt x="101" y="194"/>
                    </a:lnTo>
                    <a:lnTo>
                      <a:pt x="109" y="199"/>
                    </a:lnTo>
                    <a:lnTo>
                      <a:pt x="124" y="219"/>
                    </a:lnTo>
                    <a:lnTo>
                      <a:pt x="141" y="243"/>
                    </a:lnTo>
                    <a:lnTo>
                      <a:pt x="158" y="266"/>
                    </a:lnTo>
                    <a:lnTo>
                      <a:pt x="168" y="280"/>
                    </a:lnTo>
                    <a:lnTo>
                      <a:pt x="171" y="283"/>
                    </a:lnTo>
                    <a:lnTo>
                      <a:pt x="178" y="283"/>
                    </a:lnTo>
                    <a:lnTo>
                      <a:pt x="184" y="278"/>
                    </a:lnTo>
                    <a:lnTo>
                      <a:pt x="191" y="273"/>
                    </a:lnTo>
                    <a:lnTo>
                      <a:pt x="198" y="268"/>
                    </a:lnTo>
                  </a:path>
                </a:pathLst>
              </a:custGeom>
              <a:solidFill>
                <a:srgbClr val="CECECE"/>
              </a:solidFill>
              <a:ln w="2540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79" name="Group 196">
                <a:extLst>
                  <a:ext uri="{FF2B5EF4-FFF2-40B4-BE49-F238E27FC236}">
                    <a16:creationId xmlns:a16="http://schemas.microsoft.com/office/drawing/2014/main" id="{69C0C689-D99F-476A-A2F8-80EDA5D6953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56" y="1392"/>
                <a:ext cx="521" cy="311"/>
                <a:chOff x="1509" y="1675"/>
                <a:chExt cx="260" cy="311"/>
              </a:xfrm>
            </p:grpSpPr>
            <p:grpSp>
              <p:nvGrpSpPr>
                <p:cNvPr id="180" name="Group 197">
                  <a:extLst>
                    <a:ext uri="{FF2B5EF4-FFF2-40B4-BE49-F238E27FC236}">
                      <a16:creationId xmlns:a16="http://schemas.microsoft.com/office/drawing/2014/main" id="{54893C85-5512-49EB-9F23-371F1B00A7E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509" y="1675"/>
                  <a:ext cx="260" cy="311"/>
                  <a:chOff x="1509" y="1675"/>
                  <a:chExt cx="260" cy="311"/>
                </a:xfrm>
              </p:grpSpPr>
              <p:sp>
                <p:nvSpPr>
                  <p:cNvPr id="183" name="AutoShape 198">
                    <a:extLst>
                      <a:ext uri="{FF2B5EF4-FFF2-40B4-BE49-F238E27FC236}">
                        <a16:creationId xmlns:a16="http://schemas.microsoft.com/office/drawing/2014/main" id="{14989A1F-70EE-4B4D-86B4-AE03F8C8FFB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509" y="1727"/>
                    <a:ext cx="260" cy="259"/>
                  </a:xfrm>
                  <a:prstGeom prst="cube">
                    <a:avLst>
                      <a:gd name="adj" fmla="val 24995"/>
                    </a:avLst>
                  </a:prstGeom>
                  <a:solidFill>
                    <a:schemeClr val="bg1"/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84" name="AutoShape 199">
                    <a:extLst>
                      <a:ext uri="{FF2B5EF4-FFF2-40B4-BE49-F238E27FC236}">
                        <a16:creationId xmlns:a16="http://schemas.microsoft.com/office/drawing/2014/main" id="{5FA3E043-0178-4F5C-A8A8-C75B37E215E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572" y="1675"/>
                    <a:ext cx="197" cy="46"/>
                  </a:xfrm>
                  <a:prstGeom prst="cube">
                    <a:avLst>
                      <a:gd name="adj" fmla="val 24995"/>
                    </a:avLst>
                  </a:prstGeom>
                  <a:solidFill>
                    <a:schemeClr val="bg1"/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181" name="Oval 200">
                  <a:extLst>
                    <a:ext uri="{FF2B5EF4-FFF2-40B4-BE49-F238E27FC236}">
                      <a16:creationId xmlns:a16="http://schemas.microsoft.com/office/drawing/2014/main" id="{0C89349C-B4CA-4BCC-A4E0-DDEC5E6A31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92" y="1702"/>
                  <a:ext cx="25" cy="9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2" name="AutoShape 201">
                  <a:extLst>
                    <a:ext uri="{FF2B5EF4-FFF2-40B4-BE49-F238E27FC236}">
                      <a16:creationId xmlns:a16="http://schemas.microsoft.com/office/drawing/2014/main" id="{F351902B-D0C0-4201-8D09-567405C499D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40" y="1849"/>
                  <a:ext cx="137" cy="55"/>
                </a:xfrm>
                <a:prstGeom prst="octagon">
                  <a:avLst>
                    <a:gd name="adj" fmla="val 29282"/>
                  </a:avLst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92" name="Group 267">
              <a:extLst>
                <a:ext uri="{FF2B5EF4-FFF2-40B4-BE49-F238E27FC236}">
                  <a16:creationId xmlns:a16="http://schemas.microsoft.com/office/drawing/2014/main" id="{7B6C7189-9ECC-4A89-BC50-C3C160F778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36" y="2063"/>
              <a:ext cx="2033" cy="324"/>
              <a:chOff x="1336" y="2063"/>
              <a:chExt cx="2033" cy="324"/>
            </a:xfrm>
          </p:grpSpPr>
          <p:sp>
            <p:nvSpPr>
              <p:cNvPr id="159" name="AutoShape 162">
                <a:extLst>
                  <a:ext uri="{FF2B5EF4-FFF2-40B4-BE49-F238E27FC236}">
                    <a16:creationId xmlns:a16="http://schemas.microsoft.com/office/drawing/2014/main" id="{577A3419-0C46-4E5F-89DA-3ED82B6ECF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36" y="2128"/>
                <a:ext cx="206" cy="259"/>
              </a:xfrm>
              <a:prstGeom prst="cube">
                <a:avLst>
                  <a:gd name="adj" fmla="val 24995"/>
                </a:avLst>
              </a:prstGeom>
              <a:solidFill>
                <a:srgbClr val="DC008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0" name="AutoShape 163">
                <a:extLst>
                  <a:ext uri="{FF2B5EF4-FFF2-40B4-BE49-F238E27FC236}">
                    <a16:creationId xmlns:a16="http://schemas.microsoft.com/office/drawing/2014/main" id="{1A468ADC-A779-470A-82A4-8CB108CEC6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86" y="2077"/>
                <a:ext cx="156" cy="45"/>
              </a:xfrm>
              <a:prstGeom prst="cube">
                <a:avLst>
                  <a:gd name="adj" fmla="val 24995"/>
                </a:avLst>
              </a:prstGeom>
              <a:solidFill>
                <a:srgbClr val="DC008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1" name="AutoShape 164">
                <a:extLst>
                  <a:ext uri="{FF2B5EF4-FFF2-40B4-BE49-F238E27FC236}">
                    <a16:creationId xmlns:a16="http://schemas.microsoft.com/office/drawing/2014/main" id="{201AEA71-13C5-4B66-ADC8-E1723D4DFC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77" y="2148"/>
                <a:ext cx="106" cy="15"/>
              </a:xfrm>
              <a:prstGeom prst="parallelogram">
                <a:avLst>
                  <a:gd name="adj" fmla="val 176634"/>
                </a:avLst>
              </a:prstGeom>
              <a:solidFill>
                <a:srgbClr val="DC008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62" name="Group 165">
                <a:extLst>
                  <a:ext uri="{FF2B5EF4-FFF2-40B4-BE49-F238E27FC236}">
                    <a16:creationId xmlns:a16="http://schemas.microsoft.com/office/drawing/2014/main" id="{97BA971E-CE80-432F-89E1-A9B55EBE2FA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94" y="2110"/>
                <a:ext cx="202" cy="257"/>
                <a:chOff x="2105" y="2049"/>
                <a:chExt cx="202" cy="257"/>
              </a:xfrm>
            </p:grpSpPr>
            <p:sp>
              <p:nvSpPr>
                <p:cNvPr id="170" name="Freeform 166">
                  <a:extLst>
                    <a:ext uri="{FF2B5EF4-FFF2-40B4-BE49-F238E27FC236}">
                      <a16:creationId xmlns:a16="http://schemas.microsoft.com/office/drawing/2014/main" id="{81DC2164-DD6E-4BB2-9503-CD5E6EFDF76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35" y="2168"/>
                  <a:ext cx="61" cy="138"/>
                </a:xfrm>
                <a:custGeom>
                  <a:avLst/>
                  <a:gdLst>
                    <a:gd name="T0" fmla="*/ 44 w 61"/>
                    <a:gd name="T1" fmla="*/ 0 h 138"/>
                    <a:gd name="T2" fmla="*/ 60 w 61"/>
                    <a:gd name="T3" fmla="*/ 0 h 138"/>
                    <a:gd name="T4" fmla="*/ 16 w 61"/>
                    <a:gd name="T5" fmla="*/ 137 h 138"/>
                    <a:gd name="T6" fmla="*/ 0 w 61"/>
                    <a:gd name="T7" fmla="*/ 137 h 138"/>
                    <a:gd name="T8" fmla="*/ 44 w 61"/>
                    <a:gd name="T9" fmla="*/ 0 h 13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1"/>
                    <a:gd name="T16" fmla="*/ 0 h 138"/>
                    <a:gd name="T17" fmla="*/ 61 w 61"/>
                    <a:gd name="T18" fmla="*/ 138 h 13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1" h="138">
                      <a:moveTo>
                        <a:pt x="44" y="0"/>
                      </a:moveTo>
                      <a:lnTo>
                        <a:pt x="60" y="0"/>
                      </a:lnTo>
                      <a:lnTo>
                        <a:pt x="16" y="137"/>
                      </a:lnTo>
                      <a:lnTo>
                        <a:pt x="0" y="137"/>
                      </a:lnTo>
                      <a:lnTo>
                        <a:pt x="44" y="0"/>
                      </a:lnTo>
                    </a:path>
                  </a:pathLst>
                </a:custGeom>
                <a:solidFill>
                  <a:srgbClr val="F39FD1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1" name="Rectangle 167">
                  <a:extLst>
                    <a:ext uri="{FF2B5EF4-FFF2-40B4-BE49-F238E27FC236}">
                      <a16:creationId xmlns:a16="http://schemas.microsoft.com/office/drawing/2014/main" id="{386E69A8-406F-4C97-8966-C421A3D69A7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30" y="2168"/>
                  <a:ext cx="77" cy="12"/>
                </a:xfrm>
                <a:prstGeom prst="rect">
                  <a:avLst/>
                </a:prstGeom>
                <a:solidFill>
                  <a:srgbClr val="F39FD1"/>
                </a:solidFill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72" name="Rectangle 168">
                  <a:extLst>
                    <a:ext uri="{FF2B5EF4-FFF2-40B4-BE49-F238E27FC236}">
                      <a16:creationId xmlns:a16="http://schemas.microsoft.com/office/drawing/2014/main" id="{62E6F7E4-4EDE-4332-BE2E-129FB60B838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38" y="2225"/>
                  <a:ext cx="57" cy="12"/>
                </a:xfrm>
                <a:prstGeom prst="rect">
                  <a:avLst/>
                </a:prstGeom>
                <a:solidFill>
                  <a:srgbClr val="F39FD1"/>
                </a:solidFill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73" name="Rectangle 169">
                  <a:extLst>
                    <a:ext uri="{FF2B5EF4-FFF2-40B4-BE49-F238E27FC236}">
                      <a16:creationId xmlns:a16="http://schemas.microsoft.com/office/drawing/2014/main" id="{54CDFC22-E6E3-4F73-B676-91836C23E6F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07" y="2225"/>
                  <a:ext cx="73" cy="8"/>
                </a:xfrm>
                <a:prstGeom prst="rect">
                  <a:avLst/>
                </a:prstGeom>
                <a:solidFill>
                  <a:srgbClr val="F39FD1"/>
                </a:solidFill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74" name="Oval 170">
                  <a:extLst>
                    <a:ext uri="{FF2B5EF4-FFF2-40B4-BE49-F238E27FC236}">
                      <a16:creationId xmlns:a16="http://schemas.microsoft.com/office/drawing/2014/main" id="{59A38B34-10D7-499D-9CE6-58041579A40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65" y="2049"/>
                  <a:ext cx="22" cy="26"/>
                </a:xfrm>
                <a:prstGeom prst="ellipse">
                  <a:avLst/>
                </a:prstGeom>
                <a:solidFill>
                  <a:srgbClr val="F39FD1"/>
                </a:solidFill>
                <a:ln w="254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75" name="Freeform 171">
                  <a:extLst>
                    <a:ext uri="{FF2B5EF4-FFF2-40B4-BE49-F238E27FC236}">
                      <a16:creationId xmlns:a16="http://schemas.microsoft.com/office/drawing/2014/main" id="{E99BAB95-D8C0-4BC6-9921-7F6F3A5F633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05" y="2094"/>
                  <a:ext cx="138" cy="212"/>
                </a:xfrm>
                <a:custGeom>
                  <a:avLst/>
                  <a:gdLst>
                    <a:gd name="T0" fmla="*/ 1 w 138"/>
                    <a:gd name="T1" fmla="*/ 98 h 212"/>
                    <a:gd name="T2" fmla="*/ 1 w 138"/>
                    <a:gd name="T3" fmla="*/ 100 h 212"/>
                    <a:gd name="T4" fmla="*/ 0 w 138"/>
                    <a:gd name="T5" fmla="*/ 104 h 212"/>
                    <a:gd name="T6" fmla="*/ 0 w 138"/>
                    <a:gd name="T7" fmla="*/ 107 h 212"/>
                    <a:gd name="T8" fmla="*/ 1 w 138"/>
                    <a:gd name="T9" fmla="*/ 111 h 212"/>
                    <a:gd name="T10" fmla="*/ 3 w 138"/>
                    <a:gd name="T11" fmla="*/ 114 h 212"/>
                    <a:gd name="T12" fmla="*/ 6 w 138"/>
                    <a:gd name="T13" fmla="*/ 116 h 212"/>
                    <a:gd name="T14" fmla="*/ 9 w 138"/>
                    <a:gd name="T15" fmla="*/ 118 h 212"/>
                    <a:gd name="T16" fmla="*/ 11 w 138"/>
                    <a:gd name="T17" fmla="*/ 119 h 212"/>
                    <a:gd name="T18" fmla="*/ 15 w 138"/>
                    <a:gd name="T19" fmla="*/ 119 h 212"/>
                    <a:gd name="T20" fmla="*/ 89 w 138"/>
                    <a:gd name="T21" fmla="*/ 211 h 212"/>
                    <a:gd name="T22" fmla="*/ 113 w 138"/>
                    <a:gd name="T23" fmla="*/ 101 h 212"/>
                    <a:gd name="T24" fmla="*/ 113 w 138"/>
                    <a:gd name="T25" fmla="*/ 99 h 212"/>
                    <a:gd name="T26" fmla="*/ 111 w 138"/>
                    <a:gd name="T27" fmla="*/ 97 h 212"/>
                    <a:gd name="T28" fmla="*/ 109 w 138"/>
                    <a:gd name="T29" fmla="*/ 95 h 212"/>
                    <a:gd name="T30" fmla="*/ 108 w 138"/>
                    <a:gd name="T31" fmla="*/ 94 h 212"/>
                    <a:gd name="T32" fmla="*/ 105 w 138"/>
                    <a:gd name="T33" fmla="*/ 93 h 212"/>
                    <a:gd name="T34" fmla="*/ 102 w 138"/>
                    <a:gd name="T35" fmla="*/ 92 h 212"/>
                    <a:gd name="T36" fmla="*/ 100 w 138"/>
                    <a:gd name="T37" fmla="*/ 92 h 212"/>
                    <a:gd name="T38" fmla="*/ 97 w 138"/>
                    <a:gd name="T39" fmla="*/ 92 h 212"/>
                    <a:gd name="T40" fmla="*/ 66 w 138"/>
                    <a:gd name="T41" fmla="*/ 54 h 212"/>
                    <a:gd name="T42" fmla="*/ 127 w 138"/>
                    <a:gd name="T43" fmla="*/ 67 h 212"/>
                    <a:gd name="T44" fmla="*/ 130 w 138"/>
                    <a:gd name="T45" fmla="*/ 66 h 212"/>
                    <a:gd name="T46" fmla="*/ 131 w 138"/>
                    <a:gd name="T47" fmla="*/ 65 h 212"/>
                    <a:gd name="T48" fmla="*/ 134 w 138"/>
                    <a:gd name="T49" fmla="*/ 63 h 212"/>
                    <a:gd name="T50" fmla="*/ 136 w 138"/>
                    <a:gd name="T51" fmla="*/ 62 h 212"/>
                    <a:gd name="T52" fmla="*/ 136 w 138"/>
                    <a:gd name="T53" fmla="*/ 59 h 212"/>
                    <a:gd name="T54" fmla="*/ 137 w 138"/>
                    <a:gd name="T55" fmla="*/ 56 h 212"/>
                    <a:gd name="T56" fmla="*/ 136 w 138"/>
                    <a:gd name="T57" fmla="*/ 53 h 212"/>
                    <a:gd name="T58" fmla="*/ 135 w 138"/>
                    <a:gd name="T59" fmla="*/ 50 h 212"/>
                    <a:gd name="T60" fmla="*/ 133 w 138"/>
                    <a:gd name="T61" fmla="*/ 49 h 212"/>
                    <a:gd name="T62" fmla="*/ 131 w 138"/>
                    <a:gd name="T63" fmla="*/ 47 h 212"/>
                    <a:gd name="T64" fmla="*/ 128 w 138"/>
                    <a:gd name="T65" fmla="*/ 46 h 212"/>
                    <a:gd name="T66" fmla="*/ 87 w 138"/>
                    <a:gd name="T67" fmla="*/ 46 h 212"/>
                    <a:gd name="T68" fmla="*/ 80 w 138"/>
                    <a:gd name="T69" fmla="*/ 30 h 212"/>
                    <a:gd name="T70" fmla="*/ 80 w 138"/>
                    <a:gd name="T71" fmla="*/ 26 h 212"/>
                    <a:gd name="T72" fmla="*/ 81 w 138"/>
                    <a:gd name="T73" fmla="*/ 22 h 212"/>
                    <a:gd name="T74" fmla="*/ 81 w 138"/>
                    <a:gd name="T75" fmla="*/ 17 h 212"/>
                    <a:gd name="T76" fmla="*/ 80 w 138"/>
                    <a:gd name="T77" fmla="*/ 14 h 212"/>
                    <a:gd name="T78" fmla="*/ 78 w 138"/>
                    <a:gd name="T79" fmla="*/ 11 h 212"/>
                    <a:gd name="T80" fmla="*/ 76 w 138"/>
                    <a:gd name="T81" fmla="*/ 7 h 212"/>
                    <a:gd name="T82" fmla="*/ 73 w 138"/>
                    <a:gd name="T83" fmla="*/ 5 h 212"/>
                    <a:gd name="T84" fmla="*/ 70 w 138"/>
                    <a:gd name="T85" fmla="*/ 2 h 212"/>
                    <a:gd name="T86" fmla="*/ 66 w 138"/>
                    <a:gd name="T87" fmla="*/ 1 h 212"/>
                    <a:gd name="T88" fmla="*/ 62 w 138"/>
                    <a:gd name="T89" fmla="*/ 0 h 212"/>
                    <a:gd name="T90" fmla="*/ 57 w 138"/>
                    <a:gd name="T91" fmla="*/ 0 h 212"/>
                    <a:gd name="T92" fmla="*/ 53 w 138"/>
                    <a:gd name="T93" fmla="*/ 1 h 212"/>
                    <a:gd name="T94" fmla="*/ 49 w 138"/>
                    <a:gd name="T95" fmla="*/ 2 h 212"/>
                    <a:gd name="T96" fmla="*/ 45 w 138"/>
                    <a:gd name="T97" fmla="*/ 4 h 212"/>
                    <a:gd name="T98" fmla="*/ 42 w 138"/>
                    <a:gd name="T99" fmla="*/ 8 h 212"/>
                    <a:gd name="T100" fmla="*/ 39 w 138"/>
                    <a:gd name="T101" fmla="*/ 12 h 212"/>
                    <a:gd name="T102" fmla="*/ 37 w 138"/>
                    <a:gd name="T103" fmla="*/ 16 h 212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w 138"/>
                    <a:gd name="T157" fmla="*/ 0 h 212"/>
                    <a:gd name="T158" fmla="*/ 138 w 138"/>
                    <a:gd name="T159" fmla="*/ 212 h 212"/>
                  </a:gdLst>
                  <a:ahLst/>
                  <a:cxnLst>
                    <a:cxn ang="T104">
                      <a:pos x="T0" y="T1"/>
                    </a:cxn>
                    <a:cxn ang="T105">
                      <a:pos x="T2" y="T3"/>
                    </a:cxn>
                    <a:cxn ang="T106">
                      <a:pos x="T4" y="T5"/>
                    </a:cxn>
                    <a:cxn ang="T107">
                      <a:pos x="T6" y="T7"/>
                    </a:cxn>
                    <a:cxn ang="T108">
                      <a:pos x="T8" y="T9"/>
                    </a:cxn>
                    <a:cxn ang="T109">
                      <a:pos x="T10" y="T11"/>
                    </a:cxn>
                    <a:cxn ang="T110">
                      <a:pos x="T12" y="T13"/>
                    </a:cxn>
                    <a:cxn ang="T111">
                      <a:pos x="T14" y="T15"/>
                    </a:cxn>
                    <a:cxn ang="T112">
                      <a:pos x="T16" y="T17"/>
                    </a:cxn>
                    <a:cxn ang="T113">
                      <a:pos x="T18" y="T19"/>
                    </a:cxn>
                    <a:cxn ang="T114">
                      <a:pos x="T20" y="T21"/>
                    </a:cxn>
                    <a:cxn ang="T115">
                      <a:pos x="T22" y="T23"/>
                    </a:cxn>
                    <a:cxn ang="T116">
                      <a:pos x="T24" y="T25"/>
                    </a:cxn>
                    <a:cxn ang="T117">
                      <a:pos x="T26" y="T27"/>
                    </a:cxn>
                    <a:cxn ang="T118">
                      <a:pos x="T28" y="T29"/>
                    </a:cxn>
                    <a:cxn ang="T119">
                      <a:pos x="T30" y="T31"/>
                    </a:cxn>
                    <a:cxn ang="T120">
                      <a:pos x="T32" y="T33"/>
                    </a:cxn>
                    <a:cxn ang="T121">
                      <a:pos x="T34" y="T35"/>
                    </a:cxn>
                    <a:cxn ang="T122">
                      <a:pos x="T36" y="T37"/>
                    </a:cxn>
                    <a:cxn ang="T123">
                      <a:pos x="T38" y="T39"/>
                    </a:cxn>
                    <a:cxn ang="T124">
                      <a:pos x="T40" y="T41"/>
                    </a:cxn>
                    <a:cxn ang="T125">
                      <a:pos x="T42" y="T43"/>
                    </a:cxn>
                    <a:cxn ang="T126">
                      <a:pos x="T44" y="T45"/>
                    </a:cxn>
                    <a:cxn ang="T127">
                      <a:pos x="T46" y="T47"/>
                    </a:cxn>
                    <a:cxn ang="T128">
                      <a:pos x="T48" y="T49"/>
                    </a:cxn>
                    <a:cxn ang="T129">
                      <a:pos x="T50" y="T51"/>
                    </a:cxn>
                    <a:cxn ang="T130">
                      <a:pos x="T52" y="T53"/>
                    </a:cxn>
                    <a:cxn ang="T131">
                      <a:pos x="T54" y="T55"/>
                    </a:cxn>
                    <a:cxn ang="T132">
                      <a:pos x="T56" y="T57"/>
                    </a:cxn>
                    <a:cxn ang="T133">
                      <a:pos x="T58" y="T59"/>
                    </a:cxn>
                    <a:cxn ang="T134">
                      <a:pos x="T60" y="T61"/>
                    </a:cxn>
                    <a:cxn ang="T135">
                      <a:pos x="T62" y="T63"/>
                    </a:cxn>
                    <a:cxn ang="T136">
                      <a:pos x="T64" y="T65"/>
                    </a:cxn>
                    <a:cxn ang="T137">
                      <a:pos x="T66" y="T67"/>
                    </a:cxn>
                    <a:cxn ang="T138">
                      <a:pos x="T68" y="T69"/>
                    </a:cxn>
                    <a:cxn ang="T139">
                      <a:pos x="T70" y="T71"/>
                    </a:cxn>
                    <a:cxn ang="T140">
                      <a:pos x="T72" y="T73"/>
                    </a:cxn>
                    <a:cxn ang="T141">
                      <a:pos x="T74" y="T75"/>
                    </a:cxn>
                    <a:cxn ang="T142">
                      <a:pos x="T76" y="T77"/>
                    </a:cxn>
                    <a:cxn ang="T143">
                      <a:pos x="T78" y="T79"/>
                    </a:cxn>
                    <a:cxn ang="T144">
                      <a:pos x="T80" y="T81"/>
                    </a:cxn>
                    <a:cxn ang="T145">
                      <a:pos x="T82" y="T83"/>
                    </a:cxn>
                    <a:cxn ang="T146">
                      <a:pos x="T84" y="T85"/>
                    </a:cxn>
                    <a:cxn ang="T147">
                      <a:pos x="T86" y="T87"/>
                    </a:cxn>
                    <a:cxn ang="T148">
                      <a:pos x="T88" y="T89"/>
                    </a:cxn>
                    <a:cxn ang="T149">
                      <a:pos x="T90" y="T91"/>
                    </a:cxn>
                    <a:cxn ang="T150">
                      <a:pos x="T92" y="T93"/>
                    </a:cxn>
                    <a:cxn ang="T151">
                      <a:pos x="T94" y="T95"/>
                    </a:cxn>
                    <a:cxn ang="T152">
                      <a:pos x="T96" y="T97"/>
                    </a:cxn>
                    <a:cxn ang="T153">
                      <a:pos x="T98" y="T99"/>
                    </a:cxn>
                    <a:cxn ang="T154">
                      <a:pos x="T100" y="T101"/>
                    </a:cxn>
                    <a:cxn ang="T155">
                      <a:pos x="T102" y="T103"/>
                    </a:cxn>
                  </a:cxnLst>
                  <a:rect l="T156" t="T157" r="T158" b="T159"/>
                  <a:pathLst>
                    <a:path w="138" h="212">
                      <a:moveTo>
                        <a:pt x="37" y="16"/>
                      </a:moveTo>
                      <a:lnTo>
                        <a:pt x="1" y="98"/>
                      </a:lnTo>
                      <a:lnTo>
                        <a:pt x="1" y="99"/>
                      </a:lnTo>
                      <a:lnTo>
                        <a:pt x="1" y="100"/>
                      </a:lnTo>
                      <a:lnTo>
                        <a:pt x="0" y="101"/>
                      </a:lnTo>
                      <a:lnTo>
                        <a:pt x="0" y="104"/>
                      </a:lnTo>
                      <a:lnTo>
                        <a:pt x="0" y="105"/>
                      </a:lnTo>
                      <a:lnTo>
                        <a:pt x="0" y="107"/>
                      </a:lnTo>
                      <a:lnTo>
                        <a:pt x="1" y="109"/>
                      </a:lnTo>
                      <a:lnTo>
                        <a:pt x="1" y="111"/>
                      </a:lnTo>
                      <a:lnTo>
                        <a:pt x="2" y="112"/>
                      </a:lnTo>
                      <a:lnTo>
                        <a:pt x="3" y="114"/>
                      </a:lnTo>
                      <a:lnTo>
                        <a:pt x="4" y="115"/>
                      </a:lnTo>
                      <a:lnTo>
                        <a:pt x="6" y="116"/>
                      </a:lnTo>
                      <a:lnTo>
                        <a:pt x="7" y="117"/>
                      </a:lnTo>
                      <a:lnTo>
                        <a:pt x="9" y="118"/>
                      </a:lnTo>
                      <a:lnTo>
                        <a:pt x="10" y="118"/>
                      </a:lnTo>
                      <a:lnTo>
                        <a:pt x="11" y="119"/>
                      </a:lnTo>
                      <a:lnTo>
                        <a:pt x="13" y="119"/>
                      </a:lnTo>
                      <a:lnTo>
                        <a:pt x="15" y="119"/>
                      </a:lnTo>
                      <a:lnTo>
                        <a:pt x="89" y="119"/>
                      </a:lnTo>
                      <a:lnTo>
                        <a:pt x="89" y="211"/>
                      </a:lnTo>
                      <a:lnTo>
                        <a:pt x="113" y="211"/>
                      </a:lnTo>
                      <a:lnTo>
                        <a:pt x="113" y="101"/>
                      </a:lnTo>
                      <a:lnTo>
                        <a:pt x="113" y="100"/>
                      </a:lnTo>
                      <a:lnTo>
                        <a:pt x="113" y="99"/>
                      </a:lnTo>
                      <a:lnTo>
                        <a:pt x="112" y="98"/>
                      </a:lnTo>
                      <a:lnTo>
                        <a:pt x="111" y="97"/>
                      </a:lnTo>
                      <a:lnTo>
                        <a:pt x="111" y="96"/>
                      </a:lnTo>
                      <a:lnTo>
                        <a:pt x="109" y="95"/>
                      </a:lnTo>
                      <a:lnTo>
                        <a:pt x="108" y="94"/>
                      </a:lnTo>
                      <a:lnTo>
                        <a:pt x="106" y="93"/>
                      </a:lnTo>
                      <a:lnTo>
                        <a:pt x="105" y="93"/>
                      </a:lnTo>
                      <a:lnTo>
                        <a:pt x="104" y="93"/>
                      </a:lnTo>
                      <a:lnTo>
                        <a:pt x="102" y="92"/>
                      </a:lnTo>
                      <a:lnTo>
                        <a:pt x="101" y="92"/>
                      </a:lnTo>
                      <a:lnTo>
                        <a:pt x="100" y="92"/>
                      </a:lnTo>
                      <a:lnTo>
                        <a:pt x="98" y="92"/>
                      </a:lnTo>
                      <a:lnTo>
                        <a:pt x="97" y="92"/>
                      </a:lnTo>
                      <a:lnTo>
                        <a:pt x="54" y="90"/>
                      </a:lnTo>
                      <a:lnTo>
                        <a:pt x="66" y="54"/>
                      </a:lnTo>
                      <a:lnTo>
                        <a:pt x="75" y="67"/>
                      </a:lnTo>
                      <a:lnTo>
                        <a:pt x="127" y="67"/>
                      </a:lnTo>
                      <a:lnTo>
                        <a:pt x="128" y="66"/>
                      </a:lnTo>
                      <a:lnTo>
                        <a:pt x="130" y="66"/>
                      </a:lnTo>
                      <a:lnTo>
                        <a:pt x="131" y="65"/>
                      </a:lnTo>
                      <a:lnTo>
                        <a:pt x="133" y="64"/>
                      </a:lnTo>
                      <a:lnTo>
                        <a:pt x="134" y="63"/>
                      </a:lnTo>
                      <a:lnTo>
                        <a:pt x="135" y="62"/>
                      </a:lnTo>
                      <a:lnTo>
                        <a:pt x="136" y="62"/>
                      </a:lnTo>
                      <a:lnTo>
                        <a:pt x="136" y="60"/>
                      </a:lnTo>
                      <a:lnTo>
                        <a:pt x="136" y="59"/>
                      </a:lnTo>
                      <a:lnTo>
                        <a:pt x="137" y="58"/>
                      </a:lnTo>
                      <a:lnTo>
                        <a:pt x="137" y="56"/>
                      </a:lnTo>
                      <a:lnTo>
                        <a:pt x="137" y="54"/>
                      </a:lnTo>
                      <a:lnTo>
                        <a:pt x="136" y="53"/>
                      </a:lnTo>
                      <a:lnTo>
                        <a:pt x="136" y="52"/>
                      </a:lnTo>
                      <a:lnTo>
                        <a:pt x="135" y="50"/>
                      </a:lnTo>
                      <a:lnTo>
                        <a:pt x="134" y="49"/>
                      </a:lnTo>
                      <a:lnTo>
                        <a:pt x="133" y="49"/>
                      </a:lnTo>
                      <a:lnTo>
                        <a:pt x="132" y="47"/>
                      </a:lnTo>
                      <a:lnTo>
                        <a:pt x="131" y="47"/>
                      </a:lnTo>
                      <a:lnTo>
                        <a:pt x="130" y="46"/>
                      </a:lnTo>
                      <a:lnTo>
                        <a:pt x="128" y="46"/>
                      </a:lnTo>
                      <a:lnTo>
                        <a:pt x="127" y="46"/>
                      </a:lnTo>
                      <a:lnTo>
                        <a:pt x="87" y="46"/>
                      </a:lnTo>
                      <a:lnTo>
                        <a:pt x="78" y="31"/>
                      </a:lnTo>
                      <a:lnTo>
                        <a:pt x="80" y="30"/>
                      </a:lnTo>
                      <a:lnTo>
                        <a:pt x="80" y="28"/>
                      </a:lnTo>
                      <a:lnTo>
                        <a:pt x="80" y="26"/>
                      </a:lnTo>
                      <a:lnTo>
                        <a:pt x="81" y="24"/>
                      </a:lnTo>
                      <a:lnTo>
                        <a:pt x="81" y="22"/>
                      </a:lnTo>
                      <a:lnTo>
                        <a:pt x="81" y="20"/>
                      </a:lnTo>
                      <a:lnTo>
                        <a:pt x="81" y="17"/>
                      </a:lnTo>
                      <a:lnTo>
                        <a:pt x="80" y="16"/>
                      </a:lnTo>
                      <a:lnTo>
                        <a:pt x="80" y="14"/>
                      </a:lnTo>
                      <a:lnTo>
                        <a:pt x="79" y="12"/>
                      </a:lnTo>
                      <a:lnTo>
                        <a:pt x="78" y="11"/>
                      </a:lnTo>
                      <a:lnTo>
                        <a:pt x="77" y="9"/>
                      </a:lnTo>
                      <a:lnTo>
                        <a:pt x="76" y="7"/>
                      </a:lnTo>
                      <a:lnTo>
                        <a:pt x="75" y="6"/>
                      </a:lnTo>
                      <a:lnTo>
                        <a:pt x="73" y="5"/>
                      </a:lnTo>
                      <a:lnTo>
                        <a:pt x="72" y="4"/>
                      </a:lnTo>
                      <a:lnTo>
                        <a:pt x="70" y="2"/>
                      </a:lnTo>
                      <a:lnTo>
                        <a:pt x="68" y="2"/>
                      </a:lnTo>
                      <a:lnTo>
                        <a:pt x="66" y="1"/>
                      </a:lnTo>
                      <a:lnTo>
                        <a:pt x="64" y="1"/>
                      </a:lnTo>
                      <a:lnTo>
                        <a:pt x="62" y="0"/>
                      </a:lnTo>
                      <a:lnTo>
                        <a:pt x="60" y="0"/>
                      </a:lnTo>
                      <a:lnTo>
                        <a:pt x="57" y="0"/>
                      </a:lnTo>
                      <a:lnTo>
                        <a:pt x="56" y="0"/>
                      </a:lnTo>
                      <a:lnTo>
                        <a:pt x="53" y="1"/>
                      </a:lnTo>
                      <a:lnTo>
                        <a:pt x="51" y="1"/>
                      </a:lnTo>
                      <a:lnTo>
                        <a:pt x="49" y="2"/>
                      </a:lnTo>
                      <a:lnTo>
                        <a:pt x="47" y="3"/>
                      </a:lnTo>
                      <a:lnTo>
                        <a:pt x="45" y="4"/>
                      </a:lnTo>
                      <a:lnTo>
                        <a:pt x="43" y="6"/>
                      </a:lnTo>
                      <a:lnTo>
                        <a:pt x="42" y="8"/>
                      </a:lnTo>
                      <a:lnTo>
                        <a:pt x="40" y="9"/>
                      </a:lnTo>
                      <a:lnTo>
                        <a:pt x="39" y="12"/>
                      </a:lnTo>
                      <a:lnTo>
                        <a:pt x="38" y="14"/>
                      </a:lnTo>
                      <a:lnTo>
                        <a:pt x="37" y="16"/>
                      </a:lnTo>
                    </a:path>
                  </a:pathLst>
                </a:custGeom>
                <a:solidFill>
                  <a:srgbClr val="F39FD1"/>
                </a:solidFill>
                <a:ln w="1270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63" name="Freeform 172">
                <a:extLst>
                  <a:ext uri="{FF2B5EF4-FFF2-40B4-BE49-F238E27FC236}">
                    <a16:creationId xmlns:a16="http://schemas.microsoft.com/office/drawing/2014/main" id="{A7E94738-7691-4DB1-8318-58B0C623E6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8" y="2063"/>
                <a:ext cx="201" cy="291"/>
              </a:xfrm>
              <a:custGeom>
                <a:avLst/>
                <a:gdLst>
                  <a:gd name="T0" fmla="*/ 200 w 201"/>
                  <a:gd name="T1" fmla="*/ 263 h 291"/>
                  <a:gd name="T2" fmla="*/ 185 w 201"/>
                  <a:gd name="T3" fmla="*/ 263 h 291"/>
                  <a:gd name="T4" fmla="*/ 158 w 201"/>
                  <a:gd name="T5" fmla="*/ 229 h 291"/>
                  <a:gd name="T6" fmla="*/ 122 w 201"/>
                  <a:gd name="T7" fmla="*/ 169 h 291"/>
                  <a:gd name="T8" fmla="*/ 112 w 201"/>
                  <a:gd name="T9" fmla="*/ 141 h 291"/>
                  <a:gd name="T10" fmla="*/ 114 w 201"/>
                  <a:gd name="T11" fmla="*/ 123 h 291"/>
                  <a:gd name="T12" fmla="*/ 123 w 201"/>
                  <a:gd name="T13" fmla="*/ 119 h 291"/>
                  <a:gd name="T14" fmla="*/ 137 w 201"/>
                  <a:gd name="T15" fmla="*/ 129 h 291"/>
                  <a:gd name="T16" fmla="*/ 156 w 201"/>
                  <a:gd name="T17" fmla="*/ 140 h 291"/>
                  <a:gd name="T18" fmla="*/ 165 w 201"/>
                  <a:gd name="T19" fmla="*/ 140 h 291"/>
                  <a:gd name="T20" fmla="*/ 166 w 201"/>
                  <a:gd name="T21" fmla="*/ 134 h 291"/>
                  <a:gd name="T22" fmla="*/ 157 w 201"/>
                  <a:gd name="T23" fmla="*/ 123 h 291"/>
                  <a:gd name="T24" fmla="*/ 136 w 201"/>
                  <a:gd name="T25" fmla="*/ 108 h 291"/>
                  <a:gd name="T26" fmla="*/ 127 w 201"/>
                  <a:gd name="T27" fmla="*/ 86 h 291"/>
                  <a:gd name="T28" fmla="*/ 123 w 201"/>
                  <a:gd name="T29" fmla="*/ 69 h 291"/>
                  <a:gd name="T30" fmla="*/ 113 w 201"/>
                  <a:gd name="T31" fmla="*/ 56 h 291"/>
                  <a:gd name="T32" fmla="*/ 109 w 201"/>
                  <a:gd name="T33" fmla="*/ 48 h 291"/>
                  <a:gd name="T34" fmla="*/ 114 w 201"/>
                  <a:gd name="T35" fmla="*/ 36 h 291"/>
                  <a:gd name="T36" fmla="*/ 119 w 201"/>
                  <a:gd name="T37" fmla="*/ 24 h 291"/>
                  <a:gd name="T38" fmla="*/ 116 w 201"/>
                  <a:gd name="T39" fmla="*/ 9 h 291"/>
                  <a:gd name="T40" fmla="*/ 106 w 201"/>
                  <a:gd name="T41" fmla="*/ 1 h 291"/>
                  <a:gd name="T42" fmla="*/ 91 w 201"/>
                  <a:gd name="T43" fmla="*/ 3 h 291"/>
                  <a:gd name="T44" fmla="*/ 84 w 201"/>
                  <a:gd name="T45" fmla="*/ 13 h 291"/>
                  <a:gd name="T46" fmla="*/ 84 w 201"/>
                  <a:gd name="T47" fmla="*/ 23 h 291"/>
                  <a:gd name="T48" fmla="*/ 88 w 201"/>
                  <a:gd name="T49" fmla="*/ 35 h 291"/>
                  <a:gd name="T50" fmla="*/ 88 w 201"/>
                  <a:gd name="T51" fmla="*/ 46 h 291"/>
                  <a:gd name="T52" fmla="*/ 78 w 201"/>
                  <a:gd name="T53" fmla="*/ 56 h 291"/>
                  <a:gd name="T54" fmla="*/ 65 w 201"/>
                  <a:gd name="T55" fmla="*/ 64 h 291"/>
                  <a:gd name="T56" fmla="*/ 55 w 201"/>
                  <a:gd name="T57" fmla="*/ 75 h 291"/>
                  <a:gd name="T58" fmla="*/ 47 w 201"/>
                  <a:gd name="T59" fmla="*/ 99 h 291"/>
                  <a:gd name="T60" fmla="*/ 42 w 201"/>
                  <a:gd name="T61" fmla="*/ 121 h 291"/>
                  <a:gd name="T62" fmla="*/ 40 w 201"/>
                  <a:gd name="T63" fmla="*/ 145 h 291"/>
                  <a:gd name="T64" fmla="*/ 42 w 201"/>
                  <a:gd name="T65" fmla="*/ 158 h 291"/>
                  <a:gd name="T66" fmla="*/ 49 w 201"/>
                  <a:gd name="T67" fmla="*/ 161 h 291"/>
                  <a:gd name="T68" fmla="*/ 53 w 201"/>
                  <a:gd name="T69" fmla="*/ 158 h 291"/>
                  <a:gd name="T70" fmla="*/ 53 w 201"/>
                  <a:gd name="T71" fmla="*/ 133 h 291"/>
                  <a:gd name="T72" fmla="*/ 55 w 201"/>
                  <a:gd name="T73" fmla="*/ 116 h 291"/>
                  <a:gd name="T74" fmla="*/ 64 w 201"/>
                  <a:gd name="T75" fmla="*/ 109 h 291"/>
                  <a:gd name="T76" fmla="*/ 70 w 201"/>
                  <a:gd name="T77" fmla="*/ 114 h 291"/>
                  <a:gd name="T78" fmla="*/ 68 w 201"/>
                  <a:gd name="T79" fmla="*/ 140 h 291"/>
                  <a:gd name="T80" fmla="*/ 62 w 201"/>
                  <a:gd name="T81" fmla="*/ 166 h 291"/>
                  <a:gd name="T82" fmla="*/ 53 w 201"/>
                  <a:gd name="T83" fmla="*/ 196 h 291"/>
                  <a:gd name="T84" fmla="*/ 33 w 201"/>
                  <a:gd name="T85" fmla="*/ 225 h 291"/>
                  <a:gd name="T86" fmla="*/ 8 w 201"/>
                  <a:gd name="T87" fmla="*/ 255 h 291"/>
                  <a:gd name="T88" fmla="*/ 0 w 201"/>
                  <a:gd name="T89" fmla="*/ 271 h 291"/>
                  <a:gd name="T90" fmla="*/ 19 w 201"/>
                  <a:gd name="T91" fmla="*/ 290 h 291"/>
                  <a:gd name="T92" fmla="*/ 33 w 201"/>
                  <a:gd name="T93" fmla="*/ 288 h 291"/>
                  <a:gd name="T94" fmla="*/ 23 w 201"/>
                  <a:gd name="T95" fmla="*/ 275 h 291"/>
                  <a:gd name="T96" fmla="*/ 30 w 201"/>
                  <a:gd name="T97" fmla="*/ 259 h 291"/>
                  <a:gd name="T98" fmla="*/ 62 w 201"/>
                  <a:gd name="T99" fmla="*/ 223 h 291"/>
                  <a:gd name="T100" fmla="*/ 84 w 201"/>
                  <a:gd name="T101" fmla="*/ 196 h 291"/>
                  <a:gd name="T102" fmla="*/ 96 w 201"/>
                  <a:gd name="T103" fmla="*/ 190 h 291"/>
                  <a:gd name="T104" fmla="*/ 109 w 201"/>
                  <a:gd name="T105" fmla="*/ 199 h 291"/>
                  <a:gd name="T106" fmla="*/ 142 w 201"/>
                  <a:gd name="T107" fmla="*/ 243 h 291"/>
                  <a:gd name="T108" fmla="*/ 169 w 201"/>
                  <a:gd name="T109" fmla="*/ 280 h 291"/>
                  <a:gd name="T110" fmla="*/ 179 w 201"/>
                  <a:gd name="T111" fmla="*/ 283 h 291"/>
                  <a:gd name="T112" fmla="*/ 192 w 201"/>
                  <a:gd name="T113" fmla="*/ 273 h 291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201"/>
                  <a:gd name="T172" fmla="*/ 0 h 291"/>
                  <a:gd name="T173" fmla="*/ 201 w 201"/>
                  <a:gd name="T174" fmla="*/ 291 h 291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201" h="291">
                    <a:moveTo>
                      <a:pt x="199" y="268"/>
                    </a:moveTo>
                    <a:lnTo>
                      <a:pt x="200" y="263"/>
                    </a:lnTo>
                    <a:lnTo>
                      <a:pt x="192" y="264"/>
                    </a:lnTo>
                    <a:lnTo>
                      <a:pt x="185" y="263"/>
                    </a:lnTo>
                    <a:lnTo>
                      <a:pt x="175" y="255"/>
                    </a:lnTo>
                    <a:lnTo>
                      <a:pt x="158" y="229"/>
                    </a:lnTo>
                    <a:lnTo>
                      <a:pt x="135" y="190"/>
                    </a:lnTo>
                    <a:lnTo>
                      <a:pt x="122" y="169"/>
                    </a:lnTo>
                    <a:lnTo>
                      <a:pt x="113" y="151"/>
                    </a:lnTo>
                    <a:lnTo>
                      <a:pt x="112" y="141"/>
                    </a:lnTo>
                    <a:lnTo>
                      <a:pt x="112" y="130"/>
                    </a:lnTo>
                    <a:lnTo>
                      <a:pt x="114" y="123"/>
                    </a:lnTo>
                    <a:lnTo>
                      <a:pt x="119" y="119"/>
                    </a:lnTo>
                    <a:lnTo>
                      <a:pt x="123" y="119"/>
                    </a:lnTo>
                    <a:lnTo>
                      <a:pt x="128" y="121"/>
                    </a:lnTo>
                    <a:lnTo>
                      <a:pt x="137" y="129"/>
                    </a:lnTo>
                    <a:lnTo>
                      <a:pt x="148" y="136"/>
                    </a:lnTo>
                    <a:lnTo>
                      <a:pt x="156" y="140"/>
                    </a:lnTo>
                    <a:lnTo>
                      <a:pt x="161" y="141"/>
                    </a:lnTo>
                    <a:lnTo>
                      <a:pt x="165" y="140"/>
                    </a:lnTo>
                    <a:lnTo>
                      <a:pt x="167" y="136"/>
                    </a:lnTo>
                    <a:lnTo>
                      <a:pt x="166" y="134"/>
                    </a:lnTo>
                    <a:lnTo>
                      <a:pt x="165" y="130"/>
                    </a:lnTo>
                    <a:lnTo>
                      <a:pt x="157" y="123"/>
                    </a:lnTo>
                    <a:lnTo>
                      <a:pt x="143" y="114"/>
                    </a:lnTo>
                    <a:lnTo>
                      <a:pt x="136" y="108"/>
                    </a:lnTo>
                    <a:lnTo>
                      <a:pt x="131" y="99"/>
                    </a:lnTo>
                    <a:lnTo>
                      <a:pt x="127" y="86"/>
                    </a:lnTo>
                    <a:lnTo>
                      <a:pt x="126" y="74"/>
                    </a:lnTo>
                    <a:lnTo>
                      <a:pt x="123" y="69"/>
                    </a:lnTo>
                    <a:lnTo>
                      <a:pt x="119" y="63"/>
                    </a:lnTo>
                    <a:lnTo>
                      <a:pt x="113" y="56"/>
                    </a:lnTo>
                    <a:lnTo>
                      <a:pt x="109" y="53"/>
                    </a:lnTo>
                    <a:lnTo>
                      <a:pt x="109" y="48"/>
                    </a:lnTo>
                    <a:lnTo>
                      <a:pt x="112" y="40"/>
                    </a:lnTo>
                    <a:lnTo>
                      <a:pt x="114" y="36"/>
                    </a:lnTo>
                    <a:lnTo>
                      <a:pt x="117" y="31"/>
                    </a:lnTo>
                    <a:lnTo>
                      <a:pt x="119" y="24"/>
                    </a:lnTo>
                    <a:lnTo>
                      <a:pt x="117" y="15"/>
                    </a:lnTo>
                    <a:lnTo>
                      <a:pt x="116" y="9"/>
                    </a:lnTo>
                    <a:lnTo>
                      <a:pt x="112" y="4"/>
                    </a:lnTo>
                    <a:lnTo>
                      <a:pt x="106" y="1"/>
                    </a:lnTo>
                    <a:lnTo>
                      <a:pt x="97" y="0"/>
                    </a:lnTo>
                    <a:lnTo>
                      <a:pt x="91" y="3"/>
                    </a:lnTo>
                    <a:lnTo>
                      <a:pt x="87" y="6"/>
                    </a:lnTo>
                    <a:lnTo>
                      <a:pt x="84" y="13"/>
                    </a:lnTo>
                    <a:lnTo>
                      <a:pt x="83" y="18"/>
                    </a:lnTo>
                    <a:lnTo>
                      <a:pt x="84" y="23"/>
                    </a:lnTo>
                    <a:lnTo>
                      <a:pt x="87" y="30"/>
                    </a:lnTo>
                    <a:lnTo>
                      <a:pt x="88" y="35"/>
                    </a:lnTo>
                    <a:lnTo>
                      <a:pt x="89" y="40"/>
                    </a:lnTo>
                    <a:lnTo>
                      <a:pt x="88" y="46"/>
                    </a:lnTo>
                    <a:lnTo>
                      <a:pt x="84" y="51"/>
                    </a:lnTo>
                    <a:lnTo>
                      <a:pt x="78" y="56"/>
                    </a:lnTo>
                    <a:lnTo>
                      <a:pt x="70" y="60"/>
                    </a:lnTo>
                    <a:lnTo>
                      <a:pt x="65" y="64"/>
                    </a:lnTo>
                    <a:lnTo>
                      <a:pt x="60" y="69"/>
                    </a:lnTo>
                    <a:lnTo>
                      <a:pt x="55" y="75"/>
                    </a:lnTo>
                    <a:lnTo>
                      <a:pt x="50" y="86"/>
                    </a:lnTo>
                    <a:lnTo>
                      <a:pt x="47" y="99"/>
                    </a:lnTo>
                    <a:lnTo>
                      <a:pt x="43" y="109"/>
                    </a:lnTo>
                    <a:lnTo>
                      <a:pt x="42" y="121"/>
                    </a:lnTo>
                    <a:lnTo>
                      <a:pt x="40" y="136"/>
                    </a:lnTo>
                    <a:lnTo>
                      <a:pt x="40" y="145"/>
                    </a:lnTo>
                    <a:lnTo>
                      <a:pt x="40" y="153"/>
                    </a:lnTo>
                    <a:lnTo>
                      <a:pt x="42" y="158"/>
                    </a:lnTo>
                    <a:lnTo>
                      <a:pt x="44" y="160"/>
                    </a:lnTo>
                    <a:lnTo>
                      <a:pt x="49" y="161"/>
                    </a:lnTo>
                    <a:lnTo>
                      <a:pt x="52" y="160"/>
                    </a:lnTo>
                    <a:lnTo>
                      <a:pt x="53" y="158"/>
                    </a:lnTo>
                    <a:lnTo>
                      <a:pt x="53" y="148"/>
                    </a:lnTo>
                    <a:lnTo>
                      <a:pt x="53" y="133"/>
                    </a:lnTo>
                    <a:lnTo>
                      <a:pt x="54" y="123"/>
                    </a:lnTo>
                    <a:lnTo>
                      <a:pt x="55" y="116"/>
                    </a:lnTo>
                    <a:lnTo>
                      <a:pt x="59" y="110"/>
                    </a:lnTo>
                    <a:lnTo>
                      <a:pt x="64" y="109"/>
                    </a:lnTo>
                    <a:lnTo>
                      <a:pt x="69" y="110"/>
                    </a:lnTo>
                    <a:lnTo>
                      <a:pt x="70" y="114"/>
                    </a:lnTo>
                    <a:lnTo>
                      <a:pt x="69" y="125"/>
                    </a:lnTo>
                    <a:lnTo>
                      <a:pt x="68" y="140"/>
                    </a:lnTo>
                    <a:lnTo>
                      <a:pt x="65" y="154"/>
                    </a:lnTo>
                    <a:lnTo>
                      <a:pt x="62" y="166"/>
                    </a:lnTo>
                    <a:lnTo>
                      <a:pt x="58" y="183"/>
                    </a:lnTo>
                    <a:lnTo>
                      <a:pt x="53" y="196"/>
                    </a:lnTo>
                    <a:lnTo>
                      <a:pt x="42" y="214"/>
                    </a:lnTo>
                    <a:lnTo>
                      <a:pt x="33" y="225"/>
                    </a:lnTo>
                    <a:lnTo>
                      <a:pt x="18" y="243"/>
                    </a:lnTo>
                    <a:lnTo>
                      <a:pt x="8" y="255"/>
                    </a:lnTo>
                    <a:lnTo>
                      <a:pt x="0" y="266"/>
                    </a:lnTo>
                    <a:lnTo>
                      <a:pt x="0" y="271"/>
                    </a:lnTo>
                    <a:lnTo>
                      <a:pt x="8" y="280"/>
                    </a:lnTo>
                    <a:lnTo>
                      <a:pt x="19" y="290"/>
                    </a:lnTo>
                    <a:lnTo>
                      <a:pt x="30" y="290"/>
                    </a:lnTo>
                    <a:lnTo>
                      <a:pt x="33" y="288"/>
                    </a:lnTo>
                    <a:lnTo>
                      <a:pt x="28" y="281"/>
                    </a:lnTo>
                    <a:lnTo>
                      <a:pt x="23" y="275"/>
                    </a:lnTo>
                    <a:lnTo>
                      <a:pt x="23" y="270"/>
                    </a:lnTo>
                    <a:lnTo>
                      <a:pt x="30" y="259"/>
                    </a:lnTo>
                    <a:lnTo>
                      <a:pt x="43" y="246"/>
                    </a:lnTo>
                    <a:lnTo>
                      <a:pt x="62" y="223"/>
                    </a:lnTo>
                    <a:lnTo>
                      <a:pt x="78" y="203"/>
                    </a:lnTo>
                    <a:lnTo>
                      <a:pt x="84" y="196"/>
                    </a:lnTo>
                    <a:lnTo>
                      <a:pt x="88" y="191"/>
                    </a:lnTo>
                    <a:lnTo>
                      <a:pt x="96" y="190"/>
                    </a:lnTo>
                    <a:lnTo>
                      <a:pt x="102" y="194"/>
                    </a:lnTo>
                    <a:lnTo>
                      <a:pt x="109" y="199"/>
                    </a:lnTo>
                    <a:lnTo>
                      <a:pt x="125" y="219"/>
                    </a:lnTo>
                    <a:lnTo>
                      <a:pt x="142" y="243"/>
                    </a:lnTo>
                    <a:lnTo>
                      <a:pt x="158" y="266"/>
                    </a:lnTo>
                    <a:lnTo>
                      <a:pt x="169" y="280"/>
                    </a:lnTo>
                    <a:lnTo>
                      <a:pt x="172" y="283"/>
                    </a:lnTo>
                    <a:lnTo>
                      <a:pt x="179" y="283"/>
                    </a:lnTo>
                    <a:lnTo>
                      <a:pt x="185" y="278"/>
                    </a:lnTo>
                    <a:lnTo>
                      <a:pt x="192" y="273"/>
                    </a:lnTo>
                    <a:lnTo>
                      <a:pt x="199" y="268"/>
                    </a:lnTo>
                  </a:path>
                </a:pathLst>
              </a:custGeom>
              <a:solidFill>
                <a:srgbClr val="CECECE"/>
              </a:solidFill>
              <a:ln w="2540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64" name="Group 202">
                <a:extLst>
                  <a:ext uri="{FF2B5EF4-FFF2-40B4-BE49-F238E27FC236}">
                    <a16:creationId xmlns:a16="http://schemas.microsoft.com/office/drawing/2014/main" id="{B4F47CD1-B007-47DF-9965-D5B7912D68B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56" y="2074"/>
                <a:ext cx="521" cy="311"/>
                <a:chOff x="1509" y="1675"/>
                <a:chExt cx="260" cy="311"/>
              </a:xfrm>
            </p:grpSpPr>
            <p:grpSp>
              <p:nvGrpSpPr>
                <p:cNvPr id="165" name="Group 203">
                  <a:extLst>
                    <a:ext uri="{FF2B5EF4-FFF2-40B4-BE49-F238E27FC236}">
                      <a16:creationId xmlns:a16="http://schemas.microsoft.com/office/drawing/2014/main" id="{0DCBBB42-D9F3-4799-92E5-54026729022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509" y="1675"/>
                  <a:ext cx="260" cy="311"/>
                  <a:chOff x="1509" y="1675"/>
                  <a:chExt cx="260" cy="311"/>
                </a:xfrm>
              </p:grpSpPr>
              <p:sp>
                <p:nvSpPr>
                  <p:cNvPr id="168" name="AutoShape 204">
                    <a:extLst>
                      <a:ext uri="{FF2B5EF4-FFF2-40B4-BE49-F238E27FC236}">
                        <a16:creationId xmlns:a16="http://schemas.microsoft.com/office/drawing/2014/main" id="{5597C4ED-A40F-4DD7-ACC8-7022A7D7A8D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509" y="1727"/>
                    <a:ext cx="260" cy="259"/>
                  </a:xfrm>
                  <a:prstGeom prst="cube">
                    <a:avLst>
                      <a:gd name="adj" fmla="val 24995"/>
                    </a:avLst>
                  </a:prstGeom>
                  <a:solidFill>
                    <a:schemeClr val="bg1"/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69" name="AutoShape 205">
                    <a:extLst>
                      <a:ext uri="{FF2B5EF4-FFF2-40B4-BE49-F238E27FC236}">
                        <a16:creationId xmlns:a16="http://schemas.microsoft.com/office/drawing/2014/main" id="{F55E19A9-9345-4DBB-AC52-C432822C8EF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572" y="1675"/>
                    <a:ext cx="197" cy="46"/>
                  </a:xfrm>
                  <a:prstGeom prst="cube">
                    <a:avLst>
                      <a:gd name="adj" fmla="val 24995"/>
                    </a:avLst>
                  </a:prstGeom>
                  <a:solidFill>
                    <a:schemeClr val="bg1"/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166" name="Oval 206">
                  <a:extLst>
                    <a:ext uri="{FF2B5EF4-FFF2-40B4-BE49-F238E27FC236}">
                      <a16:creationId xmlns:a16="http://schemas.microsoft.com/office/drawing/2014/main" id="{F2A0A1E2-CDA0-48B8-910A-601D7216BCD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92" y="1702"/>
                  <a:ext cx="25" cy="9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67" name="AutoShape 207">
                  <a:extLst>
                    <a:ext uri="{FF2B5EF4-FFF2-40B4-BE49-F238E27FC236}">
                      <a16:creationId xmlns:a16="http://schemas.microsoft.com/office/drawing/2014/main" id="{5111799D-0D0A-4492-B9B5-C9BCFE74126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40" y="1849"/>
                  <a:ext cx="137" cy="55"/>
                </a:xfrm>
                <a:prstGeom prst="octagon">
                  <a:avLst>
                    <a:gd name="adj" fmla="val 29282"/>
                  </a:avLst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93" name="Group 266">
              <a:extLst>
                <a:ext uri="{FF2B5EF4-FFF2-40B4-BE49-F238E27FC236}">
                  <a16:creationId xmlns:a16="http://schemas.microsoft.com/office/drawing/2014/main" id="{8654B502-0105-4853-AEB6-83C14FEE0B1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01" y="2384"/>
              <a:ext cx="2297" cy="347"/>
              <a:chOff x="1601" y="2384"/>
              <a:chExt cx="2297" cy="347"/>
            </a:xfrm>
          </p:grpSpPr>
          <p:sp>
            <p:nvSpPr>
              <p:cNvPr id="142" name="AutoShape 173">
                <a:extLst>
                  <a:ext uri="{FF2B5EF4-FFF2-40B4-BE49-F238E27FC236}">
                    <a16:creationId xmlns:a16="http://schemas.microsoft.com/office/drawing/2014/main" id="{9936CEDF-042C-4A04-B471-CC2323498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01" y="2441"/>
                <a:ext cx="207" cy="260"/>
              </a:xfrm>
              <a:prstGeom prst="cube">
                <a:avLst>
                  <a:gd name="adj" fmla="val 24995"/>
                </a:avLst>
              </a:prstGeom>
              <a:solidFill>
                <a:srgbClr val="DC008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3" name="AutoShape 174">
                <a:extLst>
                  <a:ext uri="{FF2B5EF4-FFF2-40B4-BE49-F238E27FC236}">
                    <a16:creationId xmlns:a16="http://schemas.microsoft.com/office/drawing/2014/main" id="{3FF6DC0F-20B7-43C7-8EBD-DD4FCFBB09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0" y="2390"/>
                <a:ext cx="158" cy="46"/>
              </a:xfrm>
              <a:prstGeom prst="cube">
                <a:avLst>
                  <a:gd name="adj" fmla="val 24995"/>
                </a:avLst>
              </a:prstGeom>
              <a:solidFill>
                <a:srgbClr val="DC008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4" name="AutoShape 175">
                <a:extLst>
                  <a:ext uri="{FF2B5EF4-FFF2-40B4-BE49-F238E27FC236}">
                    <a16:creationId xmlns:a16="http://schemas.microsoft.com/office/drawing/2014/main" id="{3EFBEEC7-43B9-492C-A11F-DD95220149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42" y="2462"/>
                <a:ext cx="107" cy="15"/>
              </a:xfrm>
              <a:prstGeom prst="parallelogram">
                <a:avLst>
                  <a:gd name="adj" fmla="val 178300"/>
                </a:avLst>
              </a:prstGeom>
              <a:solidFill>
                <a:srgbClr val="DC008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45" name="Group 176">
                <a:extLst>
                  <a:ext uri="{FF2B5EF4-FFF2-40B4-BE49-F238E27FC236}">
                    <a16:creationId xmlns:a16="http://schemas.microsoft.com/office/drawing/2014/main" id="{66656392-50A7-4409-8E7F-54BEA579508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51" y="2420"/>
                <a:ext cx="202" cy="257"/>
                <a:chOff x="2416" y="2388"/>
                <a:chExt cx="202" cy="257"/>
              </a:xfrm>
            </p:grpSpPr>
            <p:sp>
              <p:nvSpPr>
                <p:cNvPr id="153" name="Freeform 177">
                  <a:extLst>
                    <a:ext uri="{FF2B5EF4-FFF2-40B4-BE49-F238E27FC236}">
                      <a16:creationId xmlns:a16="http://schemas.microsoft.com/office/drawing/2014/main" id="{DDDA7E0C-1047-4055-9005-375577570A1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546" y="2507"/>
                  <a:ext cx="61" cy="138"/>
                </a:xfrm>
                <a:custGeom>
                  <a:avLst/>
                  <a:gdLst>
                    <a:gd name="T0" fmla="*/ 44 w 61"/>
                    <a:gd name="T1" fmla="*/ 0 h 138"/>
                    <a:gd name="T2" fmla="*/ 60 w 61"/>
                    <a:gd name="T3" fmla="*/ 0 h 138"/>
                    <a:gd name="T4" fmla="*/ 16 w 61"/>
                    <a:gd name="T5" fmla="*/ 137 h 138"/>
                    <a:gd name="T6" fmla="*/ 0 w 61"/>
                    <a:gd name="T7" fmla="*/ 137 h 138"/>
                    <a:gd name="T8" fmla="*/ 44 w 61"/>
                    <a:gd name="T9" fmla="*/ 0 h 13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1"/>
                    <a:gd name="T16" fmla="*/ 0 h 138"/>
                    <a:gd name="T17" fmla="*/ 61 w 61"/>
                    <a:gd name="T18" fmla="*/ 138 h 13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1" h="138">
                      <a:moveTo>
                        <a:pt x="44" y="0"/>
                      </a:moveTo>
                      <a:lnTo>
                        <a:pt x="60" y="0"/>
                      </a:lnTo>
                      <a:lnTo>
                        <a:pt x="16" y="137"/>
                      </a:lnTo>
                      <a:lnTo>
                        <a:pt x="0" y="137"/>
                      </a:lnTo>
                      <a:lnTo>
                        <a:pt x="44" y="0"/>
                      </a:lnTo>
                    </a:path>
                  </a:pathLst>
                </a:custGeom>
                <a:solidFill>
                  <a:srgbClr val="F39FD1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4" name="Rectangle 178">
                  <a:extLst>
                    <a:ext uri="{FF2B5EF4-FFF2-40B4-BE49-F238E27FC236}">
                      <a16:creationId xmlns:a16="http://schemas.microsoft.com/office/drawing/2014/main" id="{DE1E38C3-20CA-45C8-8BCF-68A2EE9E97E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41" y="2507"/>
                  <a:ext cx="77" cy="12"/>
                </a:xfrm>
                <a:prstGeom prst="rect">
                  <a:avLst/>
                </a:prstGeom>
                <a:solidFill>
                  <a:srgbClr val="F39FD1"/>
                </a:solidFill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5" name="Rectangle 179">
                  <a:extLst>
                    <a:ext uri="{FF2B5EF4-FFF2-40B4-BE49-F238E27FC236}">
                      <a16:creationId xmlns:a16="http://schemas.microsoft.com/office/drawing/2014/main" id="{A7BE0F90-ED64-44EE-A6A7-4E71369D221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49" y="2563"/>
                  <a:ext cx="57" cy="13"/>
                </a:xfrm>
                <a:prstGeom prst="rect">
                  <a:avLst/>
                </a:prstGeom>
                <a:solidFill>
                  <a:srgbClr val="F39FD1"/>
                </a:solidFill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6" name="Rectangle 180">
                  <a:extLst>
                    <a:ext uri="{FF2B5EF4-FFF2-40B4-BE49-F238E27FC236}">
                      <a16:creationId xmlns:a16="http://schemas.microsoft.com/office/drawing/2014/main" id="{73726E5D-A337-43F0-8A85-23503EF5CC8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18" y="2563"/>
                  <a:ext cx="73" cy="9"/>
                </a:xfrm>
                <a:prstGeom prst="rect">
                  <a:avLst/>
                </a:prstGeom>
                <a:solidFill>
                  <a:srgbClr val="F39FD1"/>
                </a:solidFill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7" name="Oval 181">
                  <a:extLst>
                    <a:ext uri="{FF2B5EF4-FFF2-40B4-BE49-F238E27FC236}">
                      <a16:creationId xmlns:a16="http://schemas.microsoft.com/office/drawing/2014/main" id="{484732C3-1CDB-4116-809A-4854BC16C8C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76" y="2388"/>
                  <a:ext cx="22" cy="25"/>
                </a:xfrm>
                <a:prstGeom prst="ellipse">
                  <a:avLst/>
                </a:prstGeom>
                <a:solidFill>
                  <a:srgbClr val="F39FD1"/>
                </a:solidFill>
                <a:ln w="254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8" name="Freeform 182">
                  <a:extLst>
                    <a:ext uri="{FF2B5EF4-FFF2-40B4-BE49-F238E27FC236}">
                      <a16:creationId xmlns:a16="http://schemas.microsoft.com/office/drawing/2014/main" id="{DBC4AD47-D313-4627-8204-9EB9F6E6D2A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16" y="2432"/>
                  <a:ext cx="140" cy="213"/>
                </a:xfrm>
                <a:custGeom>
                  <a:avLst/>
                  <a:gdLst>
                    <a:gd name="T0" fmla="*/ 1 w 140"/>
                    <a:gd name="T1" fmla="*/ 98 h 213"/>
                    <a:gd name="T2" fmla="*/ 1 w 140"/>
                    <a:gd name="T3" fmla="*/ 101 h 213"/>
                    <a:gd name="T4" fmla="*/ 0 w 140"/>
                    <a:gd name="T5" fmla="*/ 104 h 213"/>
                    <a:gd name="T6" fmla="*/ 0 w 140"/>
                    <a:gd name="T7" fmla="*/ 108 h 213"/>
                    <a:gd name="T8" fmla="*/ 1 w 140"/>
                    <a:gd name="T9" fmla="*/ 111 h 213"/>
                    <a:gd name="T10" fmla="*/ 3 w 140"/>
                    <a:gd name="T11" fmla="*/ 114 h 213"/>
                    <a:gd name="T12" fmla="*/ 6 w 140"/>
                    <a:gd name="T13" fmla="*/ 117 h 213"/>
                    <a:gd name="T14" fmla="*/ 9 w 140"/>
                    <a:gd name="T15" fmla="*/ 119 h 213"/>
                    <a:gd name="T16" fmla="*/ 11 w 140"/>
                    <a:gd name="T17" fmla="*/ 119 h 213"/>
                    <a:gd name="T18" fmla="*/ 15 w 140"/>
                    <a:gd name="T19" fmla="*/ 119 h 213"/>
                    <a:gd name="T20" fmla="*/ 91 w 140"/>
                    <a:gd name="T21" fmla="*/ 212 h 213"/>
                    <a:gd name="T22" fmla="*/ 115 w 140"/>
                    <a:gd name="T23" fmla="*/ 102 h 213"/>
                    <a:gd name="T24" fmla="*/ 114 w 140"/>
                    <a:gd name="T25" fmla="*/ 99 h 213"/>
                    <a:gd name="T26" fmla="*/ 113 w 140"/>
                    <a:gd name="T27" fmla="*/ 98 h 213"/>
                    <a:gd name="T28" fmla="*/ 111 w 140"/>
                    <a:gd name="T29" fmla="*/ 96 h 213"/>
                    <a:gd name="T30" fmla="*/ 109 w 140"/>
                    <a:gd name="T31" fmla="*/ 94 h 213"/>
                    <a:gd name="T32" fmla="*/ 107 w 140"/>
                    <a:gd name="T33" fmla="*/ 93 h 213"/>
                    <a:gd name="T34" fmla="*/ 104 w 140"/>
                    <a:gd name="T35" fmla="*/ 93 h 213"/>
                    <a:gd name="T36" fmla="*/ 101 w 140"/>
                    <a:gd name="T37" fmla="*/ 93 h 213"/>
                    <a:gd name="T38" fmla="*/ 99 w 140"/>
                    <a:gd name="T39" fmla="*/ 93 h 213"/>
                    <a:gd name="T40" fmla="*/ 67 w 140"/>
                    <a:gd name="T41" fmla="*/ 54 h 213"/>
                    <a:gd name="T42" fmla="*/ 129 w 140"/>
                    <a:gd name="T43" fmla="*/ 67 h 213"/>
                    <a:gd name="T44" fmla="*/ 132 w 140"/>
                    <a:gd name="T45" fmla="*/ 66 h 213"/>
                    <a:gd name="T46" fmla="*/ 133 w 140"/>
                    <a:gd name="T47" fmla="*/ 66 h 213"/>
                    <a:gd name="T48" fmla="*/ 136 w 140"/>
                    <a:gd name="T49" fmla="*/ 64 h 213"/>
                    <a:gd name="T50" fmla="*/ 138 w 140"/>
                    <a:gd name="T51" fmla="*/ 62 h 213"/>
                    <a:gd name="T52" fmla="*/ 138 w 140"/>
                    <a:gd name="T53" fmla="*/ 59 h 213"/>
                    <a:gd name="T54" fmla="*/ 139 w 140"/>
                    <a:gd name="T55" fmla="*/ 56 h 213"/>
                    <a:gd name="T56" fmla="*/ 138 w 140"/>
                    <a:gd name="T57" fmla="*/ 53 h 213"/>
                    <a:gd name="T58" fmla="*/ 137 w 140"/>
                    <a:gd name="T59" fmla="*/ 51 h 213"/>
                    <a:gd name="T60" fmla="*/ 135 w 140"/>
                    <a:gd name="T61" fmla="*/ 49 h 213"/>
                    <a:gd name="T62" fmla="*/ 133 w 140"/>
                    <a:gd name="T63" fmla="*/ 47 h 213"/>
                    <a:gd name="T64" fmla="*/ 130 w 140"/>
                    <a:gd name="T65" fmla="*/ 46 h 213"/>
                    <a:gd name="T66" fmla="*/ 88 w 140"/>
                    <a:gd name="T67" fmla="*/ 46 h 213"/>
                    <a:gd name="T68" fmla="*/ 81 w 140"/>
                    <a:gd name="T69" fmla="*/ 30 h 213"/>
                    <a:gd name="T70" fmla="*/ 81 w 140"/>
                    <a:gd name="T71" fmla="*/ 26 h 213"/>
                    <a:gd name="T72" fmla="*/ 82 w 140"/>
                    <a:gd name="T73" fmla="*/ 22 h 213"/>
                    <a:gd name="T74" fmla="*/ 82 w 140"/>
                    <a:gd name="T75" fmla="*/ 18 h 213"/>
                    <a:gd name="T76" fmla="*/ 81 w 140"/>
                    <a:gd name="T77" fmla="*/ 14 h 213"/>
                    <a:gd name="T78" fmla="*/ 79 w 140"/>
                    <a:gd name="T79" fmla="*/ 11 h 213"/>
                    <a:gd name="T80" fmla="*/ 77 w 140"/>
                    <a:gd name="T81" fmla="*/ 8 h 213"/>
                    <a:gd name="T82" fmla="*/ 74 w 140"/>
                    <a:gd name="T83" fmla="*/ 5 h 213"/>
                    <a:gd name="T84" fmla="*/ 71 w 140"/>
                    <a:gd name="T85" fmla="*/ 3 h 213"/>
                    <a:gd name="T86" fmla="*/ 67 w 140"/>
                    <a:gd name="T87" fmla="*/ 1 h 213"/>
                    <a:gd name="T88" fmla="*/ 63 w 140"/>
                    <a:gd name="T89" fmla="*/ 0 h 213"/>
                    <a:gd name="T90" fmla="*/ 58 w 140"/>
                    <a:gd name="T91" fmla="*/ 0 h 213"/>
                    <a:gd name="T92" fmla="*/ 54 w 140"/>
                    <a:gd name="T93" fmla="*/ 1 h 213"/>
                    <a:gd name="T94" fmla="*/ 50 w 140"/>
                    <a:gd name="T95" fmla="*/ 2 h 213"/>
                    <a:gd name="T96" fmla="*/ 45 w 140"/>
                    <a:gd name="T97" fmla="*/ 4 h 213"/>
                    <a:gd name="T98" fmla="*/ 42 w 140"/>
                    <a:gd name="T99" fmla="*/ 8 h 213"/>
                    <a:gd name="T100" fmla="*/ 40 w 140"/>
                    <a:gd name="T101" fmla="*/ 12 h 213"/>
                    <a:gd name="T102" fmla="*/ 38 w 140"/>
                    <a:gd name="T103" fmla="*/ 16 h 213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w 140"/>
                    <a:gd name="T157" fmla="*/ 0 h 213"/>
                    <a:gd name="T158" fmla="*/ 140 w 140"/>
                    <a:gd name="T159" fmla="*/ 213 h 213"/>
                  </a:gdLst>
                  <a:ahLst/>
                  <a:cxnLst>
                    <a:cxn ang="T104">
                      <a:pos x="T0" y="T1"/>
                    </a:cxn>
                    <a:cxn ang="T105">
                      <a:pos x="T2" y="T3"/>
                    </a:cxn>
                    <a:cxn ang="T106">
                      <a:pos x="T4" y="T5"/>
                    </a:cxn>
                    <a:cxn ang="T107">
                      <a:pos x="T6" y="T7"/>
                    </a:cxn>
                    <a:cxn ang="T108">
                      <a:pos x="T8" y="T9"/>
                    </a:cxn>
                    <a:cxn ang="T109">
                      <a:pos x="T10" y="T11"/>
                    </a:cxn>
                    <a:cxn ang="T110">
                      <a:pos x="T12" y="T13"/>
                    </a:cxn>
                    <a:cxn ang="T111">
                      <a:pos x="T14" y="T15"/>
                    </a:cxn>
                    <a:cxn ang="T112">
                      <a:pos x="T16" y="T17"/>
                    </a:cxn>
                    <a:cxn ang="T113">
                      <a:pos x="T18" y="T19"/>
                    </a:cxn>
                    <a:cxn ang="T114">
                      <a:pos x="T20" y="T21"/>
                    </a:cxn>
                    <a:cxn ang="T115">
                      <a:pos x="T22" y="T23"/>
                    </a:cxn>
                    <a:cxn ang="T116">
                      <a:pos x="T24" y="T25"/>
                    </a:cxn>
                    <a:cxn ang="T117">
                      <a:pos x="T26" y="T27"/>
                    </a:cxn>
                    <a:cxn ang="T118">
                      <a:pos x="T28" y="T29"/>
                    </a:cxn>
                    <a:cxn ang="T119">
                      <a:pos x="T30" y="T31"/>
                    </a:cxn>
                    <a:cxn ang="T120">
                      <a:pos x="T32" y="T33"/>
                    </a:cxn>
                    <a:cxn ang="T121">
                      <a:pos x="T34" y="T35"/>
                    </a:cxn>
                    <a:cxn ang="T122">
                      <a:pos x="T36" y="T37"/>
                    </a:cxn>
                    <a:cxn ang="T123">
                      <a:pos x="T38" y="T39"/>
                    </a:cxn>
                    <a:cxn ang="T124">
                      <a:pos x="T40" y="T41"/>
                    </a:cxn>
                    <a:cxn ang="T125">
                      <a:pos x="T42" y="T43"/>
                    </a:cxn>
                    <a:cxn ang="T126">
                      <a:pos x="T44" y="T45"/>
                    </a:cxn>
                    <a:cxn ang="T127">
                      <a:pos x="T46" y="T47"/>
                    </a:cxn>
                    <a:cxn ang="T128">
                      <a:pos x="T48" y="T49"/>
                    </a:cxn>
                    <a:cxn ang="T129">
                      <a:pos x="T50" y="T51"/>
                    </a:cxn>
                    <a:cxn ang="T130">
                      <a:pos x="T52" y="T53"/>
                    </a:cxn>
                    <a:cxn ang="T131">
                      <a:pos x="T54" y="T55"/>
                    </a:cxn>
                    <a:cxn ang="T132">
                      <a:pos x="T56" y="T57"/>
                    </a:cxn>
                    <a:cxn ang="T133">
                      <a:pos x="T58" y="T59"/>
                    </a:cxn>
                    <a:cxn ang="T134">
                      <a:pos x="T60" y="T61"/>
                    </a:cxn>
                    <a:cxn ang="T135">
                      <a:pos x="T62" y="T63"/>
                    </a:cxn>
                    <a:cxn ang="T136">
                      <a:pos x="T64" y="T65"/>
                    </a:cxn>
                    <a:cxn ang="T137">
                      <a:pos x="T66" y="T67"/>
                    </a:cxn>
                    <a:cxn ang="T138">
                      <a:pos x="T68" y="T69"/>
                    </a:cxn>
                    <a:cxn ang="T139">
                      <a:pos x="T70" y="T71"/>
                    </a:cxn>
                    <a:cxn ang="T140">
                      <a:pos x="T72" y="T73"/>
                    </a:cxn>
                    <a:cxn ang="T141">
                      <a:pos x="T74" y="T75"/>
                    </a:cxn>
                    <a:cxn ang="T142">
                      <a:pos x="T76" y="T77"/>
                    </a:cxn>
                    <a:cxn ang="T143">
                      <a:pos x="T78" y="T79"/>
                    </a:cxn>
                    <a:cxn ang="T144">
                      <a:pos x="T80" y="T81"/>
                    </a:cxn>
                    <a:cxn ang="T145">
                      <a:pos x="T82" y="T83"/>
                    </a:cxn>
                    <a:cxn ang="T146">
                      <a:pos x="T84" y="T85"/>
                    </a:cxn>
                    <a:cxn ang="T147">
                      <a:pos x="T86" y="T87"/>
                    </a:cxn>
                    <a:cxn ang="T148">
                      <a:pos x="T88" y="T89"/>
                    </a:cxn>
                    <a:cxn ang="T149">
                      <a:pos x="T90" y="T91"/>
                    </a:cxn>
                    <a:cxn ang="T150">
                      <a:pos x="T92" y="T93"/>
                    </a:cxn>
                    <a:cxn ang="T151">
                      <a:pos x="T94" y="T95"/>
                    </a:cxn>
                    <a:cxn ang="T152">
                      <a:pos x="T96" y="T97"/>
                    </a:cxn>
                    <a:cxn ang="T153">
                      <a:pos x="T98" y="T99"/>
                    </a:cxn>
                    <a:cxn ang="T154">
                      <a:pos x="T100" y="T101"/>
                    </a:cxn>
                    <a:cxn ang="T155">
                      <a:pos x="T102" y="T103"/>
                    </a:cxn>
                  </a:cxnLst>
                  <a:rect l="T156" t="T157" r="T158" b="T159"/>
                  <a:pathLst>
                    <a:path w="140" h="213">
                      <a:moveTo>
                        <a:pt x="38" y="16"/>
                      </a:moveTo>
                      <a:lnTo>
                        <a:pt x="1" y="98"/>
                      </a:lnTo>
                      <a:lnTo>
                        <a:pt x="1" y="99"/>
                      </a:lnTo>
                      <a:lnTo>
                        <a:pt x="1" y="101"/>
                      </a:lnTo>
                      <a:lnTo>
                        <a:pt x="0" y="102"/>
                      </a:lnTo>
                      <a:lnTo>
                        <a:pt x="0" y="104"/>
                      </a:lnTo>
                      <a:lnTo>
                        <a:pt x="0" y="106"/>
                      </a:lnTo>
                      <a:lnTo>
                        <a:pt x="0" y="108"/>
                      </a:lnTo>
                      <a:lnTo>
                        <a:pt x="1" y="109"/>
                      </a:lnTo>
                      <a:lnTo>
                        <a:pt x="1" y="111"/>
                      </a:lnTo>
                      <a:lnTo>
                        <a:pt x="2" y="113"/>
                      </a:lnTo>
                      <a:lnTo>
                        <a:pt x="3" y="114"/>
                      </a:lnTo>
                      <a:lnTo>
                        <a:pt x="4" y="116"/>
                      </a:lnTo>
                      <a:lnTo>
                        <a:pt x="6" y="117"/>
                      </a:lnTo>
                      <a:lnTo>
                        <a:pt x="7" y="118"/>
                      </a:lnTo>
                      <a:lnTo>
                        <a:pt x="9" y="119"/>
                      </a:lnTo>
                      <a:lnTo>
                        <a:pt x="10" y="119"/>
                      </a:lnTo>
                      <a:lnTo>
                        <a:pt x="11" y="119"/>
                      </a:lnTo>
                      <a:lnTo>
                        <a:pt x="13" y="119"/>
                      </a:lnTo>
                      <a:lnTo>
                        <a:pt x="15" y="119"/>
                      </a:lnTo>
                      <a:lnTo>
                        <a:pt x="91" y="119"/>
                      </a:lnTo>
                      <a:lnTo>
                        <a:pt x="91" y="212"/>
                      </a:lnTo>
                      <a:lnTo>
                        <a:pt x="115" y="212"/>
                      </a:lnTo>
                      <a:lnTo>
                        <a:pt x="115" y="102"/>
                      </a:lnTo>
                      <a:lnTo>
                        <a:pt x="115" y="101"/>
                      </a:lnTo>
                      <a:lnTo>
                        <a:pt x="114" y="99"/>
                      </a:lnTo>
                      <a:lnTo>
                        <a:pt x="114" y="98"/>
                      </a:lnTo>
                      <a:lnTo>
                        <a:pt x="113" y="98"/>
                      </a:lnTo>
                      <a:lnTo>
                        <a:pt x="112" y="97"/>
                      </a:lnTo>
                      <a:lnTo>
                        <a:pt x="111" y="96"/>
                      </a:lnTo>
                      <a:lnTo>
                        <a:pt x="110" y="95"/>
                      </a:lnTo>
                      <a:lnTo>
                        <a:pt x="109" y="94"/>
                      </a:lnTo>
                      <a:lnTo>
                        <a:pt x="108" y="94"/>
                      </a:lnTo>
                      <a:lnTo>
                        <a:pt x="107" y="93"/>
                      </a:lnTo>
                      <a:lnTo>
                        <a:pt x="105" y="93"/>
                      </a:lnTo>
                      <a:lnTo>
                        <a:pt x="104" y="93"/>
                      </a:lnTo>
                      <a:lnTo>
                        <a:pt x="102" y="93"/>
                      </a:lnTo>
                      <a:lnTo>
                        <a:pt x="101" y="93"/>
                      </a:lnTo>
                      <a:lnTo>
                        <a:pt x="100" y="93"/>
                      </a:lnTo>
                      <a:lnTo>
                        <a:pt x="99" y="93"/>
                      </a:lnTo>
                      <a:lnTo>
                        <a:pt x="55" y="90"/>
                      </a:lnTo>
                      <a:lnTo>
                        <a:pt x="67" y="54"/>
                      </a:lnTo>
                      <a:lnTo>
                        <a:pt x="76" y="67"/>
                      </a:lnTo>
                      <a:lnTo>
                        <a:pt x="129" y="67"/>
                      </a:lnTo>
                      <a:lnTo>
                        <a:pt x="130" y="66"/>
                      </a:lnTo>
                      <a:lnTo>
                        <a:pt x="132" y="66"/>
                      </a:lnTo>
                      <a:lnTo>
                        <a:pt x="133" y="66"/>
                      </a:lnTo>
                      <a:lnTo>
                        <a:pt x="135" y="64"/>
                      </a:lnTo>
                      <a:lnTo>
                        <a:pt x="136" y="64"/>
                      </a:lnTo>
                      <a:lnTo>
                        <a:pt x="137" y="63"/>
                      </a:lnTo>
                      <a:lnTo>
                        <a:pt x="138" y="62"/>
                      </a:lnTo>
                      <a:lnTo>
                        <a:pt x="138" y="61"/>
                      </a:lnTo>
                      <a:lnTo>
                        <a:pt x="138" y="59"/>
                      </a:lnTo>
                      <a:lnTo>
                        <a:pt x="139" y="58"/>
                      </a:lnTo>
                      <a:lnTo>
                        <a:pt x="139" y="56"/>
                      </a:lnTo>
                      <a:lnTo>
                        <a:pt x="139" y="54"/>
                      </a:lnTo>
                      <a:lnTo>
                        <a:pt x="138" y="53"/>
                      </a:lnTo>
                      <a:lnTo>
                        <a:pt x="138" y="52"/>
                      </a:lnTo>
                      <a:lnTo>
                        <a:pt x="137" y="51"/>
                      </a:lnTo>
                      <a:lnTo>
                        <a:pt x="136" y="49"/>
                      </a:lnTo>
                      <a:lnTo>
                        <a:pt x="135" y="49"/>
                      </a:lnTo>
                      <a:lnTo>
                        <a:pt x="134" y="48"/>
                      </a:lnTo>
                      <a:lnTo>
                        <a:pt x="133" y="47"/>
                      </a:lnTo>
                      <a:lnTo>
                        <a:pt x="132" y="46"/>
                      </a:lnTo>
                      <a:lnTo>
                        <a:pt x="130" y="46"/>
                      </a:lnTo>
                      <a:lnTo>
                        <a:pt x="129" y="46"/>
                      </a:lnTo>
                      <a:lnTo>
                        <a:pt x="88" y="46"/>
                      </a:lnTo>
                      <a:lnTo>
                        <a:pt x="79" y="31"/>
                      </a:lnTo>
                      <a:lnTo>
                        <a:pt x="81" y="30"/>
                      </a:lnTo>
                      <a:lnTo>
                        <a:pt x="81" y="28"/>
                      </a:lnTo>
                      <a:lnTo>
                        <a:pt x="81" y="26"/>
                      </a:lnTo>
                      <a:lnTo>
                        <a:pt x="82" y="24"/>
                      </a:lnTo>
                      <a:lnTo>
                        <a:pt x="82" y="22"/>
                      </a:lnTo>
                      <a:lnTo>
                        <a:pt x="82" y="20"/>
                      </a:lnTo>
                      <a:lnTo>
                        <a:pt x="82" y="18"/>
                      </a:lnTo>
                      <a:lnTo>
                        <a:pt x="81" y="16"/>
                      </a:lnTo>
                      <a:lnTo>
                        <a:pt x="81" y="14"/>
                      </a:lnTo>
                      <a:lnTo>
                        <a:pt x="80" y="13"/>
                      </a:lnTo>
                      <a:lnTo>
                        <a:pt x="79" y="11"/>
                      </a:lnTo>
                      <a:lnTo>
                        <a:pt x="78" y="9"/>
                      </a:lnTo>
                      <a:lnTo>
                        <a:pt x="77" y="8"/>
                      </a:lnTo>
                      <a:lnTo>
                        <a:pt x="76" y="6"/>
                      </a:lnTo>
                      <a:lnTo>
                        <a:pt x="74" y="5"/>
                      </a:lnTo>
                      <a:lnTo>
                        <a:pt x="73" y="4"/>
                      </a:lnTo>
                      <a:lnTo>
                        <a:pt x="71" y="3"/>
                      </a:lnTo>
                      <a:lnTo>
                        <a:pt x="69" y="2"/>
                      </a:lnTo>
                      <a:lnTo>
                        <a:pt x="67" y="1"/>
                      </a:lnTo>
                      <a:lnTo>
                        <a:pt x="65" y="1"/>
                      </a:lnTo>
                      <a:lnTo>
                        <a:pt x="63" y="0"/>
                      </a:lnTo>
                      <a:lnTo>
                        <a:pt x="61" y="0"/>
                      </a:lnTo>
                      <a:lnTo>
                        <a:pt x="58" y="0"/>
                      </a:lnTo>
                      <a:lnTo>
                        <a:pt x="56" y="0"/>
                      </a:lnTo>
                      <a:lnTo>
                        <a:pt x="54" y="1"/>
                      </a:lnTo>
                      <a:lnTo>
                        <a:pt x="52" y="1"/>
                      </a:lnTo>
                      <a:lnTo>
                        <a:pt x="50" y="2"/>
                      </a:lnTo>
                      <a:lnTo>
                        <a:pt x="48" y="3"/>
                      </a:lnTo>
                      <a:lnTo>
                        <a:pt x="45" y="4"/>
                      </a:lnTo>
                      <a:lnTo>
                        <a:pt x="44" y="6"/>
                      </a:lnTo>
                      <a:lnTo>
                        <a:pt x="42" y="8"/>
                      </a:lnTo>
                      <a:lnTo>
                        <a:pt x="41" y="9"/>
                      </a:lnTo>
                      <a:lnTo>
                        <a:pt x="40" y="12"/>
                      </a:lnTo>
                      <a:lnTo>
                        <a:pt x="38" y="14"/>
                      </a:lnTo>
                      <a:lnTo>
                        <a:pt x="38" y="16"/>
                      </a:lnTo>
                    </a:path>
                  </a:pathLst>
                </a:custGeom>
                <a:solidFill>
                  <a:srgbClr val="F39FD1"/>
                </a:solidFill>
                <a:ln w="1270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46" name="Freeform 183">
                <a:extLst>
                  <a:ext uri="{FF2B5EF4-FFF2-40B4-BE49-F238E27FC236}">
                    <a16:creationId xmlns:a16="http://schemas.microsoft.com/office/drawing/2014/main" id="{B70BF117-4A26-4A3D-A528-4E68FFD56C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96" y="2384"/>
                <a:ext cx="202" cy="293"/>
              </a:xfrm>
              <a:custGeom>
                <a:avLst/>
                <a:gdLst>
                  <a:gd name="T0" fmla="*/ 201 w 202"/>
                  <a:gd name="T1" fmla="*/ 264 h 293"/>
                  <a:gd name="T2" fmla="*/ 186 w 202"/>
                  <a:gd name="T3" fmla="*/ 264 h 293"/>
                  <a:gd name="T4" fmla="*/ 159 w 202"/>
                  <a:gd name="T5" fmla="*/ 230 h 293"/>
                  <a:gd name="T6" fmla="*/ 123 w 202"/>
                  <a:gd name="T7" fmla="*/ 170 h 293"/>
                  <a:gd name="T8" fmla="*/ 113 w 202"/>
                  <a:gd name="T9" fmla="*/ 142 h 293"/>
                  <a:gd name="T10" fmla="*/ 115 w 202"/>
                  <a:gd name="T11" fmla="*/ 123 h 293"/>
                  <a:gd name="T12" fmla="*/ 124 w 202"/>
                  <a:gd name="T13" fmla="*/ 120 h 293"/>
                  <a:gd name="T14" fmla="*/ 138 w 202"/>
                  <a:gd name="T15" fmla="*/ 130 h 293"/>
                  <a:gd name="T16" fmla="*/ 157 w 202"/>
                  <a:gd name="T17" fmla="*/ 141 h 293"/>
                  <a:gd name="T18" fmla="*/ 166 w 202"/>
                  <a:gd name="T19" fmla="*/ 141 h 293"/>
                  <a:gd name="T20" fmla="*/ 167 w 202"/>
                  <a:gd name="T21" fmla="*/ 135 h 293"/>
                  <a:gd name="T22" fmla="*/ 158 w 202"/>
                  <a:gd name="T23" fmla="*/ 123 h 293"/>
                  <a:gd name="T24" fmla="*/ 137 w 202"/>
                  <a:gd name="T25" fmla="*/ 108 h 293"/>
                  <a:gd name="T26" fmla="*/ 128 w 202"/>
                  <a:gd name="T27" fmla="*/ 87 h 293"/>
                  <a:gd name="T28" fmla="*/ 124 w 202"/>
                  <a:gd name="T29" fmla="*/ 69 h 293"/>
                  <a:gd name="T30" fmla="*/ 114 w 202"/>
                  <a:gd name="T31" fmla="*/ 57 h 293"/>
                  <a:gd name="T32" fmla="*/ 110 w 202"/>
                  <a:gd name="T33" fmla="*/ 48 h 293"/>
                  <a:gd name="T34" fmla="*/ 115 w 202"/>
                  <a:gd name="T35" fmla="*/ 37 h 293"/>
                  <a:gd name="T36" fmla="*/ 120 w 202"/>
                  <a:gd name="T37" fmla="*/ 24 h 293"/>
                  <a:gd name="T38" fmla="*/ 116 w 202"/>
                  <a:gd name="T39" fmla="*/ 9 h 293"/>
                  <a:gd name="T40" fmla="*/ 106 w 202"/>
                  <a:gd name="T41" fmla="*/ 1 h 293"/>
                  <a:gd name="T42" fmla="*/ 91 w 202"/>
                  <a:gd name="T43" fmla="*/ 3 h 293"/>
                  <a:gd name="T44" fmla="*/ 85 w 202"/>
                  <a:gd name="T45" fmla="*/ 13 h 293"/>
                  <a:gd name="T46" fmla="*/ 85 w 202"/>
                  <a:gd name="T47" fmla="*/ 23 h 293"/>
                  <a:gd name="T48" fmla="*/ 88 w 202"/>
                  <a:gd name="T49" fmla="*/ 35 h 293"/>
                  <a:gd name="T50" fmla="*/ 88 w 202"/>
                  <a:gd name="T51" fmla="*/ 47 h 293"/>
                  <a:gd name="T52" fmla="*/ 78 w 202"/>
                  <a:gd name="T53" fmla="*/ 57 h 293"/>
                  <a:gd name="T54" fmla="*/ 66 w 202"/>
                  <a:gd name="T55" fmla="*/ 64 h 293"/>
                  <a:gd name="T56" fmla="*/ 56 w 202"/>
                  <a:gd name="T57" fmla="*/ 76 h 293"/>
                  <a:gd name="T58" fmla="*/ 47 w 202"/>
                  <a:gd name="T59" fmla="*/ 99 h 293"/>
                  <a:gd name="T60" fmla="*/ 42 w 202"/>
                  <a:gd name="T61" fmla="*/ 122 h 293"/>
                  <a:gd name="T62" fmla="*/ 40 w 202"/>
                  <a:gd name="T63" fmla="*/ 146 h 293"/>
                  <a:gd name="T64" fmla="*/ 42 w 202"/>
                  <a:gd name="T65" fmla="*/ 159 h 293"/>
                  <a:gd name="T66" fmla="*/ 49 w 202"/>
                  <a:gd name="T67" fmla="*/ 162 h 293"/>
                  <a:gd name="T68" fmla="*/ 53 w 202"/>
                  <a:gd name="T69" fmla="*/ 159 h 293"/>
                  <a:gd name="T70" fmla="*/ 53 w 202"/>
                  <a:gd name="T71" fmla="*/ 133 h 293"/>
                  <a:gd name="T72" fmla="*/ 56 w 202"/>
                  <a:gd name="T73" fmla="*/ 117 h 293"/>
                  <a:gd name="T74" fmla="*/ 64 w 202"/>
                  <a:gd name="T75" fmla="*/ 110 h 293"/>
                  <a:gd name="T76" fmla="*/ 71 w 202"/>
                  <a:gd name="T77" fmla="*/ 115 h 293"/>
                  <a:gd name="T78" fmla="*/ 68 w 202"/>
                  <a:gd name="T79" fmla="*/ 141 h 293"/>
                  <a:gd name="T80" fmla="*/ 62 w 202"/>
                  <a:gd name="T81" fmla="*/ 167 h 293"/>
                  <a:gd name="T82" fmla="*/ 53 w 202"/>
                  <a:gd name="T83" fmla="*/ 198 h 293"/>
                  <a:gd name="T84" fmla="*/ 33 w 202"/>
                  <a:gd name="T85" fmla="*/ 227 h 293"/>
                  <a:gd name="T86" fmla="*/ 8 w 202"/>
                  <a:gd name="T87" fmla="*/ 257 h 293"/>
                  <a:gd name="T88" fmla="*/ 0 w 202"/>
                  <a:gd name="T89" fmla="*/ 273 h 293"/>
                  <a:gd name="T90" fmla="*/ 19 w 202"/>
                  <a:gd name="T91" fmla="*/ 292 h 293"/>
                  <a:gd name="T92" fmla="*/ 33 w 202"/>
                  <a:gd name="T93" fmla="*/ 289 h 293"/>
                  <a:gd name="T94" fmla="*/ 23 w 202"/>
                  <a:gd name="T95" fmla="*/ 277 h 293"/>
                  <a:gd name="T96" fmla="*/ 30 w 202"/>
                  <a:gd name="T97" fmla="*/ 261 h 293"/>
                  <a:gd name="T98" fmla="*/ 62 w 202"/>
                  <a:gd name="T99" fmla="*/ 224 h 293"/>
                  <a:gd name="T100" fmla="*/ 85 w 202"/>
                  <a:gd name="T101" fmla="*/ 198 h 293"/>
                  <a:gd name="T102" fmla="*/ 96 w 202"/>
                  <a:gd name="T103" fmla="*/ 191 h 293"/>
                  <a:gd name="T104" fmla="*/ 110 w 202"/>
                  <a:gd name="T105" fmla="*/ 200 h 293"/>
                  <a:gd name="T106" fmla="*/ 143 w 202"/>
                  <a:gd name="T107" fmla="*/ 244 h 293"/>
                  <a:gd name="T108" fmla="*/ 169 w 202"/>
                  <a:gd name="T109" fmla="*/ 282 h 293"/>
                  <a:gd name="T110" fmla="*/ 180 w 202"/>
                  <a:gd name="T111" fmla="*/ 284 h 293"/>
                  <a:gd name="T112" fmla="*/ 193 w 202"/>
                  <a:gd name="T113" fmla="*/ 274 h 293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202"/>
                  <a:gd name="T172" fmla="*/ 0 h 293"/>
                  <a:gd name="T173" fmla="*/ 202 w 202"/>
                  <a:gd name="T174" fmla="*/ 293 h 293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202" h="293">
                    <a:moveTo>
                      <a:pt x="200" y="269"/>
                    </a:moveTo>
                    <a:lnTo>
                      <a:pt x="201" y="264"/>
                    </a:lnTo>
                    <a:lnTo>
                      <a:pt x="193" y="266"/>
                    </a:lnTo>
                    <a:lnTo>
                      <a:pt x="186" y="264"/>
                    </a:lnTo>
                    <a:lnTo>
                      <a:pt x="176" y="257"/>
                    </a:lnTo>
                    <a:lnTo>
                      <a:pt x="159" y="230"/>
                    </a:lnTo>
                    <a:lnTo>
                      <a:pt x="135" y="191"/>
                    </a:lnTo>
                    <a:lnTo>
                      <a:pt x="123" y="170"/>
                    </a:lnTo>
                    <a:lnTo>
                      <a:pt x="114" y="152"/>
                    </a:lnTo>
                    <a:lnTo>
                      <a:pt x="113" y="142"/>
                    </a:lnTo>
                    <a:lnTo>
                      <a:pt x="113" y="131"/>
                    </a:lnTo>
                    <a:lnTo>
                      <a:pt x="115" y="123"/>
                    </a:lnTo>
                    <a:lnTo>
                      <a:pt x="120" y="120"/>
                    </a:lnTo>
                    <a:lnTo>
                      <a:pt x="124" y="120"/>
                    </a:lnTo>
                    <a:lnTo>
                      <a:pt x="129" y="122"/>
                    </a:lnTo>
                    <a:lnTo>
                      <a:pt x="138" y="130"/>
                    </a:lnTo>
                    <a:lnTo>
                      <a:pt x="149" y="137"/>
                    </a:lnTo>
                    <a:lnTo>
                      <a:pt x="157" y="141"/>
                    </a:lnTo>
                    <a:lnTo>
                      <a:pt x="162" y="142"/>
                    </a:lnTo>
                    <a:lnTo>
                      <a:pt x="166" y="141"/>
                    </a:lnTo>
                    <a:lnTo>
                      <a:pt x="168" y="137"/>
                    </a:lnTo>
                    <a:lnTo>
                      <a:pt x="167" y="135"/>
                    </a:lnTo>
                    <a:lnTo>
                      <a:pt x="166" y="131"/>
                    </a:lnTo>
                    <a:lnTo>
                      <a:pt x="158" y="123"/>
                    </a:lnTo>
                    <a:lnTo>
                      <a:pt x="144" y="115"/>
                    </a:lnTo>
                    <a:lnTo>
                      <a:pt x="137" y="108"/>
                    </a:lnTo>
                    <a:lnTo>
                      <a:pt x="131" y="99"/>
                    </a:lnTo>
                    <a:lnTo>
                      <a:pt x="128" y="87"/>
                    </a:lnTo>
                    <a:lnTo>
                      <a:pt x="126" y="74"/>
                    </a:lnTo>
                    <a:lnTo>
                      <a:pt x="124" y="69"/>
                    </a:lnTo>
                    <a:lnTo>
                      <a:pt x="120" y="63"/>
                    </a:lnTo>
                    <a:lnTo>
                      <a:pt x="114" y="57"/>
                    </a:lnTo>
                    <a:lnTo>
                      <a:pt x="110" y="53"/>
                    </a:lnTo>
                    <a:lnTo>
                      <a:pt x="110" y="48"/>
                    </a:lnTo>
                    <a:lnTo>
                      <a:pt x="113" y="40"/>
                    </a:lnTo>
                    <a:lnTo>
                      <a:pt x="115" y="37"/>
                    </a:lnTo>
                    <a:lnTo>
                      <a:pt x="118" y="31"/>
                    </a:lnTo>
                    <a:lnTo>
                      <a:pt x="120" y="24"/>
                    </a:lnTo>
                    <a:lnTo>
                      <a:pt x="118" y="15"/>
                    </a:lnTo>
                    <a:lnTo>
                      <a:pt x="116" y="9"/>
                    </a:lnTo>
                    <a:lnTo>
                      <a:pt x="113" y="4"/>
                    </a:lnTo>
                    <a:lnTo>
                      <a:pt x="106" y="1"/>
                    </a:lnTo>
                    <a:lnTo>
                      <a:pt x="97" y="0"/>
                    </a:lnTo>
                    <a:lnTo>
                      <a:pt x="91" y="3"/>
                    </a:lnTo>
                    <a:lnTo>
                      <a:pt x="87" y="6"/>
                    </a:lnTo>
                    <a:lnTo>
                      <a:pt x="85" y="13"/>
                    </a:lnTo>
                    <a:lnTo>
                      <a:pt x="83" y="18"/>
                    </a:lnTo>
                    <a:lnTo>
                      <a:pt x="85" y="23"/>
                    </a:lnTo>
                    <a:lnTo>
                      <a:pt x="87" y="30"/>
                    </a:lnTo>
                    <a:lnTo>
                      <a:pt x="88" y="35"/>
                    </a:lnTo>
                    <a:lnTo>
                      <a:pt x="90" y="40"/>
                    </a:lnTo>
                    <a:lnTo>
                      <a:pt x="88" y="47"/>
                    </a:lnTo>
                    <a:lnTo>
                      <a:pt x="85" y="52"/>
                    </a:lnTo>
                    <a:lnTo>
                      <a:pt x="78" y="57"/>
                    </a:lnTo>
                    <a:lnTo>
                      <a:pt x="71" y="60"/>
                    </a:lnTo>
                    <a:lnTo>
                      <a:pt x="66" y="64"/>
                    </a:lnTo>
                    <a:lnTo>
                      <a:pt x="61" y="69"/>
                    </a:lnTo>
                    <a:lnTo>
                      <a:pt x="56" y="76"/>
                    </a:lnTo>
                    <a:lnTo>
                      <a:pt x="51" y="87"/>
                    </a:lnTo>
                    <a:lnTo>
                      <a:pt x="47" y="99"/>
                    </a:lnTo>
                    <a:lnTo>
                      <a:pt x="43" y="110"/>
                    </a:lnTo>
                    <a:lnTo>
                      <a:pt x="42" y="122"/>
                    </a:lnTo>
                    <a:lnTo>
                      <a:pt x="40" y="137"/>
                    </a:lnTo>
                    <a:lnTo>
                      <a:pt x="40" y="146"/>
                    </a:lnTo>
                    <a:lnTo>
                      <a:pt x="40" y="154"/>
                    </a:lnTo>
                    <a:lnTo>
                      <a:pt x="42" y="159"/>
                    </a:lnTo>
                    <a:lnTo>
                      <a:pt x="44" y="161"/>
                    </a:lnTo>
                    <a:lnTo>
                      <a:pt x="49" y="162"/>
                    </a:lnTo>
                    <a:lnTo>
                      <a:pt x="52" y="161"/>
                    </a:lnTo>
                    <a:lnTo>
                      <a:pt x="53" y="159"/>
                    </a:lnTo>
                    <a:lnTo>
                      <a:pt x="53" y="149"/>
                    </a:lnTo>
                    <a:lnTo>
                      <a:pt x="53" y="133"/>
                    </a:lnTo>
                    <a:lnTo>
                      <a:pt x="54" y="123"/>
                    </a:lnTo>
                    <a:lnTo>
                      <a:pt x="56" y="117"/>
                    </a:lnTo>
                    <a:lnTo>
                      <a:pt x="59" y="111"/>
                    </a:lnTo>
                    <a:lnTo>
                      <a:pt x="64" y="110"/>
                    </a:lnTo>
                    <a:lnTo>
                      <a:pt x="70" y="111"/>
                    </a:lnTo>
                    <a:lnTo>
                      <a:pt x="71" y="115"/>
                    </a:lnTo>
                    <a:lnTo>
                      <a:pt x="70" y="126"/>
                    </a:lnTo>
                    <a:lnTo>
                      <a:pt x="68" y="141"/>
                    </a:lnTo>
                    <a:lnTo>
                      <a:pt x="66" y="155"/>
                    </a:lnTo>
                    <a:lnTo>
                      <a:pt x="62" y="167"/>
                    </a:lnTo>
                    <a:lnTo>
                      <a:pt x="58" y="184"/>
                    </a:lnTo>
                    <a:lnTo>
                      <a:pt x="53" y="198"/>
                    </a:lnTo>
                    <a:lnTo>
                      <a:pt x="42" y="215"/>
                    </a:lnTo>
                    <a:lnTo>
                      <a:pt x="33" y="227"/>
                    </a:lnTo>
                    <a:lnTo>
                      <a:pt x="18" y="244"/>
                    </a:lnTo>
                    <a:lnTo>
                      <a:pt x="8" y="257"/>
                    </a:lnTo>
                    <a:lnTo>
                      <a:pt x="0" y="268"/>
                    </a:lnTo>
                    <a:lnTo>
                      <a:pt x="0" y="273"/>
                    </a:lnTo>
                    <a:lnTo>
                      <a:pt x="8" y="282"/>
                    </a:lnTo>
                    <a:lnTo>
                      <a:pt x="19" y="292"/>
                    </a:lnTo>
                    <a:lnTo>
                      <a:pt x="30" y="292"/>
                    </a:lnTo>
                    <a:lnTo>
                      <a:pt x="33" y="289"/>
                    </a:lnTo>
                    <a:lnTo>
                      <a:pt x="28" y="283"/>
                    </a:lnTo>
                    <a:lnTo>
                      <a:pt x="23" y="277"/>
                    </a:lnTo>
                    <a:lnTo>
                      <a:pt x="23" y="272"/>
                    </a:lnTo>
                    <a:lnTo>
                      <a:pt x="30" y="261"/>
                    </a:lnTo>
                    <a:lnTo>
                      <a:pt x="43" y="248"/>
                    </a:lnTo>
                    <a:lnTo>
                      <a:pt x="62" y="224"/>
                    </a:lnTo>
                    <a:lnTo>
                      <a:pt x="78" y="204"/>
                    </a:lnTo>
                    <a:lnTo>
                      <a:pt x="85" y="198"/>
                    </a:lnTo>
                    <a:lnTo>
                      <a:pt x="88" y="193"/>
                    </a:lnTo>
                    <a:lnTo>
                      <a:pt x="96" y="191"/>
                    </a:lnTo>
                    <a:lnTo>
                      <a:pt x="102" y="195"/>
                    </a:lnTo>
                    <a:lnTo>
                      <a:pt x="110" y="200"/>
                    </a:lnTo>
                    <a:lnTo>
                      <a:pt x="125" y="220"/>
                    </a:lnTo>
                    <a:lnTo>
                      <a:pt x="143" y="244"/>
                    </a:lnTo>
                    <a:lnTo>
                      <a:pt x="159" y="268"/>
                    </a:lnTo>
                    <a:lnTo>
                      <a:pt x="169" y="282"/>
                    </a:lnTo>
                    <a:lnTo>
                      <a:pt x="173" y="284"/>
                    </a:lnTo>
                    <a:lnTo>
                      <a:pt x="180" y="284"/>
                    </a:lnTo>
                    <a:lnTo>
                      <a:pt x="186" y="279"/>
                    </a:lnTo>
                    <a:lnTo>
                      <a:pt x="193" y="274"/>
                    </a:lnTo>
                    <a:lnTo>
                      <a:pt x="200" y="269"/>
                    </a:lnTo>
                  </a:path>
                </a:pathLst>
              </a:custGeom>
              <a:solidFill>
                <a:srgbClr val="CECECE"/>
              </a:solidFill>
              <a:ln w="2540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47" name="Group 208">
                <a:extLst>
                  <a:ext uri="{FF2B5EF4-FFF2-40B4-BE49-F238E27FC236}">
                    <a16:creationId xmlns:a16="http://schemas.microsoft.com/office/drawing/2014/main" id="{6ACBC248-53C5-4C23-85B7-C1CEB82A2BE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37" y="2420"/>
                <a:ext cx="521" cy="311"/>
                <a:chOff x="1509" y="1675"/>
                <a:chExt cx="260" cy="311"/>
              </a:xfrm>
            </p:grpSpPr>
            <p:grpSp>
              <p:nvGrpSpPr>
                <p:cNvPr id="148" name="Group 209">
                  <a:extLst>
                    <a:ext uri="{FF2B5EF4-FFF2-40B4-BE49-F238E27FC236}">
                      <a16:creationId xmlns:a16="http://schemas.microsoft.com/office/drawing/2014/main" id="{5975AF44-35D8-49BD-B409-5700DC2E4F7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509" y="1675"/>
                  <a:ext cx="260" cy="311"/>
                  <a:chOff x="1509" y="1675"/>
                  <a:chExt cx="260" cy="311"/>
                </a:xfrm>
              </p:grpSpPr>
              <p:sp>
                <p:nvSpPr>
                  <p:cNvPr id="151" name="AutoShape 210">
                    <a:extLst>
                      <a:ext uri="{FF2B5EF4-FFF2-40B4-BE49-F238E27FC236}">
                        <a16:creationId xmlns:a16="http://schemas.microsoft.com/office/drawing/2014/main" id="{D6AD0959-903F-42BA-BE36-EB977ABA673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509" y="1727"/>
                    <a:ext cx="260" cy="259"/>
                  </a:xfrm>
                  <a:prstGeom prst="cube">
                    <a:avLst>
                      <a:gd name="adj" fmla="val 24995"/>
                    </a:avLst>
                  </a:prstGeom>
                  <a:solidFill>
                    <a:schemeClr val="bg1"/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52" name="AutoShape 211">
                    <a:extLst>
                      <a:ext uri="{FF2B5EF4-FFF2-40B4-BE49-F238E27FC236}">
                        <a16:creationId xmlns:a16="http://schemas.microsoft.com/office/drawing/2014/main" id="{FAFA8071-C485-477A-8CA2-8A66A67EB76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572" y="1675"/>
                    <a:ext cx="197" cy="46"/>
                  </a:xfrm>
                  <a:prstGeom prst="cube">
                    <a:avLst>
                      <a:gd name="adj" fmla="val 24995"/>
                    </a:avLst>
                  </a:prstGeom>
                  <a:solidFill>
                    <a:schemeClr val="bg1"/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149" name="Oval 212">
                  <a:extLst>
                    <a:ext uri="{FF2B5EF4-FFF2-40B4-BE49-F238E27FC236}">
                      <a16:creationId xmlns:a16="http://schemas.microsoft.com/office/drawing/2014/main" id="{11899636-57F5-44CA-9BAC-4D168BC536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92" y="1702"/>
                  <a:ext cx="25" cy="9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0" name="AutoShape 213">
                  <a:extLst>
                    <a:ext uri="{FF2B5EF4-FFF2-40B4-BE49-F238E27FC236}">
                      <a16:creationId xmlns:a16="http://schemas.microsoft.com/office/drawing/2014/main" id="{3E809735-312B-42C2-8A30-C4D192E93E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40" y="1849"/>
                  <a:ext cx="137" cy="55"/>
                </a:xfrm>
                <a:prstGeom prst="octagon">
                  <a:avLst>
                    <a:gd name="adj" fmla="val 29282"/>
                  </a:avLst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94" name="Group 271">
              <a:extLst>
                <a:ext uri="{FF2B5EF4-FFF2-40B4-BE49-F238E27FC236}">
                  <a16:creationId xmlns:a16="http://schemas.microsoft.com/office/drawing/2014/main" id="{C19668FC-DDED-4B6C-AC49-B78B59ACFE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7" y="873"/>
              <a:ext cx="3271" cy="527"/>
              <a:chOff x="717" y="873"/>
              <a:chExt cx="3271" cy="527"/>
            </a:xfrm>
          </p:grpSpPr>
          <p:sp>
            <p:nvSpPr>
              <p:cNvPr id="95" name="Line 40">
                <a:extLst>
                  <a:ext uri="{FF2B5EF4-FFF2-40B4-BE49-F238E27FC236}">
                    <a16:creationId xmlns:a16="http://schemas.microsoft.com/office/drawing/2014/main" id="{4D6ED488-6296-4CD4-AEA7-83581F06BF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46" y="873"/>
                <a:ext cx="0" cy="18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" name="Line 218">
                <a:extLst>
                  <a:ext uri="{FF2B5EF4-FFF2-40B4-BE49-F238E27FC236}">
                    <a16:creationId xmlns:a16="http://schemas.microsoft.com/office/drawing/2014/main" id="{8DBE64A0-DD37-4A2E-B468-CE6114100A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328" y="1014"/>
                <a:ext cx="3" cy="18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" name="Line 219">
                <a:extLst>
                  <a:ext uri="{FF2B5EF4-FFF2-40B4-BE49-F238E27FC236}">
                    <a16:creationId xmlns:a16="http://schemas.microsoft.com/office/drawing/2014/main" id="{E40CCE3B-BF22-4FA0-A845-C9F4583ED6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633" y="1014"/>
                <a:ext cx="3" cy="18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" name="Line 220">
                <a:extLst>
                  <a:ext uri="{FF2B5EF4-FFF2-40B4-BE49-F238E27FC236}">
                    <a16:creationId xmlns:a16="http://schemas.microsoft.com/office/drawing/2014/main" id="{9C4D4E06-86D7-4F84-9214-C57101FD9F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37" y="1014"/>
                <a:ext cx="3" cy="18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" name="Line 221">
                <a:extLst>
                  <a:ext uri="{FF2B5EF4-FFF2-40B4-BE49-F238E27FC236}">
                    <a16:creationId xmlns:a16="http://schemas.microsoft.com/office/drawing/2014/main" id="{4A72F78E-00CE-4E4C-8E57-854FB423B1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30" y="1094"/>
                <a:ext cx="297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" name="Line 222">
                <a:extLst>
                  <a:ext uri="{FF2B5EF4-FFF2-40B4-BE49-F238E27FC236}">
                    <a16:creationId xmlns:a16="http://schemas.microsoft.com/office/drawing/2014/main" id="{94C9A394-B472-4A94-B8EE-E40D037421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633" y="1014"/>
                <a:ext cx="3" cy="18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" name="Line 223">
                <a:extLst>
                  <a:ext uri="{FF2B5EF4-FFF2-40B4-BE49-F238E27FC236}">
                    <a16:creationId xmlns:a16="http://schemas.microsoft.com/office/drawing/2014/main" id="{562B7F91-AF58-4320-90F5-25FEC380DC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37" y="1014"/>
                <a:ext cx="3" cy="18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" name="Rectangle 224">
                <a:extLst>
                  <a:ext uri="{FF2B5EF4-FFF2-40B4-BE49-F238E27FC236}">
                    <a16:creationId xmlns:a16="http://schemas.microsoft.com/office/drawing/2014/main" id="{36E1BC88-A86C-45BE-A05A-771FAE1C10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0" y="1152"/>
                <a:ext cx="292" cy="248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pPr algn="ctr" eaLnBrk="0" hangingPunct="0"/>
                <a:r>
                  <a:rPr lang="en-US" sz="2000" b="1">
                    <a:latin typeface="FranklinGothic" charset="0"/>
                  </a:rPr>
                  <a:t>30</a:t>
                </a:r>
              </a:p>
            </p:txBody>
          </p:sp>
          <p:sp>
            <p:nvSpPr>
              <p:cNvPr id="103" name="Line 225">
                <a:extLst>
                  <a:ext uri="{FF2B5EF4-FFF2-40B4-BE49-F238E27FC236}">
                    <a16:creationId xmlns:a16="http://schemas.microsoft.com/office/drawing/2014/main" id="{03CB7783-9683-43B6-87A1-10939BC167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240" y="1014"/>
                <a:ext cx="3" cy="18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" name="Line 226">
                <a:extLst>
                  <a:ext uri="{FF2B5EF4-FFF2-40B4-BE49-F238E27FC236}">
                    <a16:creationId xmlns:a16="http://schemas.microsoft.com/office/drawing/2014/main" id="{1294C40B-6DBF-4F30-A22C-28CF9B082A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3" y="1094"/>
                <a:ext cx="299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" name="Line 227">
                <a:extLst>
                  <a:ext uri="{FF2B5EF4-FFF2-40B4-BE49-F238E27FC236}">
                    <a16:creationId xmlns:a16="http://schemas.microsoft.com/office/drawing/2014/main" id="{397B5161-BCEA-489F-BFF8-D5A571F1DB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37" y="1014"/>
                <a:ext cx="3" cy="18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" name="Line 228">
                <a:extLst>
                  <a:ext uri="{FF2B5EF4-FFF2-40B4-BE49-F238E27FC236}">
                    <a16:creationId xmlns:a16="http://schemas.microsoft.com/office/drawing/2014/main" id="{7BEAEF8A-58D1-40C7-9E6B-D22A97C10E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240" y="1014"/>
                <a:ext cx="3" cy="18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" name="Line 229">
                <a:extLst>
                  <a:ext uri="{FF2B5EF4-FFF2-40B4-BE49-F238E27FC236}">
                    <a16:creationId xmlns:a16="http://schemas.microsoft.com/office/drawing/2014/main" id="{BF57235F-BBDC-4C1F-B680-E6C76CB974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37" y="1094"/>
                <a:ext cx="90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" name="Line 230">
                <a:extLst>
                  <a:ext uri="{FF2B5EF4-FFF2-40B4-BE49-F238E27FC236}">
                    <a16:creationId xmlns:a16="http://schemas.microsoft.com/office/drawing/2014/main" id="{E11AAEF9-08CB-4B2F-AAC4-8BB50AB0B7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34" y="1049"/>
                <a:ext cx="287" cy="0"/>
              </a:xfrm>
              <a:prstGeom prst="line">
                <a:avLst/>
              </a:prstGeom>
              <a:noFill/>
              <a:ln w="25400">
                <a:solidFill>
                  <a:srgbClr val="DC008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" name="Line 231">
                <a:extLst>
                  <a:ext uri="{FF2B5EF4-FFF2-40B4-BE49-F238E27FC236}">
                    <a16:creationId xmlns:a16="http://schemas.microsoft.com/office/drawing/2014/main" id="{1274CB76-C89C-4F65-9770-7D0537E501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9" y="1049"/>
                <a:ext cx="604" cy="0"/>
              </a:xfrm>
              <a:prstGeom prst="line">
                <a:avLst/>
              </a:prstGeom>
              <a:noFill/>
              <a:ln w="25400">
                <a:solidFill>
                  <a:srgbClr val="DC008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" name="Line 232">
                <a:extLst>
                  <a:ext uri="{FF2B5EF4-FFF2-40B4-BE49-F238E27FC236}">
                    <a16:creationId xmlns:a16="http://schemas.microsoft.com/office/drawing/2014/main" id="{084E29EA-6F68-4B1C-8B08-C7533FD5DA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5" y="1049"/>
                <a:ext cx="289" cy="0"/>
              </a:xfrm>
              <a:prstGeom prst="line">
                <a:avLst/>
              </a:prstGeom>
              <a:noFill/>
              <a:ln w="25400">
                <a:solidFill>
                  <a:srgbClr val="DC008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" name="Rectangle 233">
                <a:extLst>
                  <a:ext uri="{FF2B5EF4-FFF2-40B4-BE49-F238E27FC236}">
                    <a16:creationId xmlns:a16="http://schemas.microsoft.com/office/drawing/2014/main" id="{A204DCB7-F23A-4D36-A51D-986913B879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" y="1152"/>
                <a:ext cx="292" cy="248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pPr algn="ctr" eaLnBrk="0" hangingPunct="0"/>
                <a:r>
                  <a:rPr lang="en-US" sz="2000" b="1">
                    <a:latin typeface="FranklinGothic" charset="0"/>
                  </a:rPr>
                  <a:t>30</a:t>
                </a:r>
              </a:p>
            </p:txBody>
          </p:sp>
          <p:sp>
            <p:nvSpPr>
              <p:cNvPr id="112" name="Rectangle 234">
                <a:extLst>
                  <a:ext uri="{FF2B5EF4-FFF2-40B4-BE49-F238E27FC236}">
                    <a16:creationId xmlns:a16="http://schemas.microsoft.com/office/drawing/2014/main" id="{4C1BBCC2-5976-4A1C-9698-D69933207F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1" y="1152"/>
                <a:ext cx="292" cy="248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pPr algn="ctr" eaLnBrk="0" hangingPunct="0"/>
                <a:r>
                  <a:rPr lang="en-US" sz="2000" b="1">
                    <a:latin typeface="FranklinGothic" charset="0"/>
                  </a:rPr>
                  <a:t>30</a:t>
                </a:r>
              </a:p>
            </p:txBody>
          </p:sp>
          <p:sp>
            <p:nvSpPr>
              <p:cNvPr id="113" name="Line 235">
                <a:extLst>
                  <a:ext uri="{FF2B5EF4-FFF2-40B4-BE49-F238E27FC236}">
                    <a16:creationId xmlns:a16="http://schemas.microsoft.com/office/drawing/2014/main" id="{8FC15256-BE40-47D3-9038-A5BC7F42B8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25" y="1094"/>
                <a:ext cx="29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" name="Rectangle 236">
                <a:extLst>
                  <a:ext uri="{FF2B5EF4-FFF2-40B4-BE49-F238E27FC236}">
                    <a16:creationId xmlns:a16="http://schemas.microsoft.com/office/drawing/2014/main" id="{FA67526C-D1DD-4CAE-85AC-206DACAF2E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7" y="1152"/>
                <a:ext cx="292" cy="248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pPr algn="ctr" eaLnBrk="0" hangingPunct="0"/>
                <a:r>
                  <a:rPr lang="en-US" sz="2000" b="1">
                    <a:latin typeface="FranklinGothic" charset="0"/>
                  </a:rPr>
                  <a:t>30</a:t>
                </a:r>
              </a:p>
            </p:txBody>
          </p:sp>
          <p:sp>
            <p:nvSpPr>
              <p:cNvPr id="115" name="Rectangle 237">
                <a:extLst>
                  <a:ext uri="{FF2B5EF4-FFF2-40B4-BE49-F238E27FC236}">
                    <a16:creationId xmlns:a16="http://schemas.microsoft.com/office/drawing/2014/main" id="{F776858B-844D-42B8-B932-F61C89E5D7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8" y="1152"/>
                <a:ext cx="291" cy="248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pPr algn="ctr" eaLnBrk="0" hangingPunct="0"/>
                <a:r>
                  <a:rPr lang="en-US" sz="2000" b="1">
                    <a:latin typeface="FranklinGothic" charset="0"/>
                  </a:rPr>
                  <a:t>30</a:t>
                </a:r>
              </a:p>
            </p:txBody>
          </p:sp>
          <p:sp>
            <p:nvSpPr>
              <p:cNvPr id="116" name="Line 238">
                <a:extLst>
                  <a:ext uri="{FF2B5EF4-FFF2-40B4-BE49-F238E27FC236}">
                    <a16:creationId xmlns:a16="http://schemas.microsoft.com/office/drawing/2014/main" id="{9776F38B-40D0-4C8C-BF94-327994FC32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37" y="1144"/>
                <a:ext cx="283" cy="0"/>
              </a:xfrm>
              <a:prstGeom prst="line">
                <a:avLst/>
              </a:prstGeom>
              <a:noFill/>
              <a:ln w="25400">
                <a:solidFill>
                  <a:srgbClr val="F39FD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" name="Line 239">
                <a:extLst>
                  <a:ext uri="{FF2B5EF4-FFF2-40B4-BE49-F238E27FC236}">
                    <a16:creationId xmlns:a16="http://schemas.microsoft.com/office/drawing/2014/main" id="{D24C1AA7-92DF-488A-8F97-88C95C6C0B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9" y="1188"/>
                <a:ext cx="285" cy="1"/>
              </a:xfrm>
              <a:prstGeom prst="line">
                <a:avLst/>
              </a:prstGeom>
              <a:noFill/>
              <a:ln w="25400">
                <a:solidFill>
                  <a:srgbClr val="91919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" name="Line 240">
                <a:extLst>
                  <a:ext uri="{FF2B5EF4-FFF2-40B4-BE49-F238E27FC236}">
                    <a16:creationId xmlns:a16="http://schemas.microsoft.com/office/drawing/2014/main" id="{F6FF99C8-AF78-4B5D-82C6-31FE42D6C7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9" y="1145"/>
                <a:ext cx="285" cy="0"/>
              </a:xfrm>
              <a:prstGeom prst="line">
                <a:avLst/>
              </a:prstGeom>
              <a:noFill/>
              <a:ln w="25400">
                <a:solidFill>
                  <a:srgbClr val="F39FD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" name="Line 241">
                <a:extLst>
                  <a:ext uri="{FF2B5EF4-FFF2-40B4-BE49-F238E27FC236}">
                    <a16:creationId xmlns:a16="http://schemas.microsoft.com/office/drawing/2014/main" id="{5BED67F5-1671-4E4C-BB83-0A1D436EA7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44" y="1144"/>
                <a:ext cx="285" cy="0"/>
              </a:xfrm>
              <a:prstGeom prst="line">
                <a:avLst/>
              </a:prstGeom>
              <a:noFill/>
              <a:ln w="25400">
                <a:solidFill>
                  <a:srgbClr val="F39FD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" name="Line 242">
                <a:extLst>
                  <a:ext uri="{FF2B5EF4-FFF2-40B4-BE49-F238E27FC236}">
                    <a16:creationId xmlns:a16="http://schemas.microsoft.com/office/drawing/2014/main" id="{8CFC80C7-972A-41EF-9FAC-74119D81A6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43" y="1188"/>
                <a:ext cx="286" cy="1"/>
              </a:xfrm>
              <a:prstGeom prst="line">
                <a:avLst/>
              </a:prstGeom>
              <a:noFill/>
              <a:ln w="25400">
                <a:solidFill>
                  <a:srgbClr val="91919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" name="Line 243">
                <a:extLst>
                  <a:ext uri="{FF2B5EF4-FFF2-40B4-BE49-F238E27FC236}">
                    <a16:creationId xmlns:a16="http://schemas.microsoft.com/office/drawing/2014/main" id="{FFB1B3E7-9895-4336-A8D4-2B93F8D0FB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49" y="1132"/>
                <a:ext cx="1118" cy="12"/>
              </a:xfrm>
              <a:prstGeom prst="line">
                <a:avLst/>
              </a:prstGeom>
              <a:noFill/>
              <a:ln w="25400">
                <a:solidFill>
                  <a:srgbClr val="F39FD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2" name="Line 244">
                <a:extLst>
                  <a:ext uri="{FF2B5EF4-FFF2-40B4-BE49-F238E27FC236}">
                    <a16:creationId xmlns:a16="http://schemas.microsoft.com/office/drawing/2014/main" id="{6D489765-6532-4EF0-97E9-D46DB10F67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47" y="1188"/>
                <a:ext cx="286" cy="1"/>
              </a:xfrm>
              <a:prstGeom prst="line">
                <a:avLst/>
              </a:prstGeom>
              <a:noFill/>
              <a:ln w="25400">
                <a:solidFill>
                  <a:srgbClr val="91919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" name="Line 245">
                <a:extLst>
                  <a:ext uri="{FF2B5EF4-FFF2-40B4-BE49-F238E27FC236}">
                    <a16:creationId xmlns:a16="http://schemas.microsoft.com/office/drawing/2014/main" id="{7E329554-F48C-45D9-9C2A-41A02FA31A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552" y="1187"/>
                <a:ext cx="1433" cy="1"/>
              </a:xfrm>
              <a:prstGeom prst="line">
                <a:avLst/>
              </a:prstGeom>
              <a:noFill/>
              <a:ln w="25400">
                <a:solidFill>
                  <a:srgbClr val="91919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" name="Line 246">
                <a:extLst>
                  <a:ext uri="{FF2B5EF4-FFF2-40B4-BE49-F238E27FC236}">
                    <a16:creationId xmlns:a16="http://schemas.microsoft.com/office/drawing/2014/main" id="{1B89F9E5-EE36-4235-899A-D1A9797838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30" y="1049"/>
                <a:ext cx="288" cy="0"/>
              </a:xfrm>
              <a:prstGeom prst="line">
                <a:avLst/>
              </a:prstGeom>
              <a:noFill/>
              <a:ln w="25400">
                <a:solidFill>
                  <a:srgbClr val="DC008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" name="Rectangle 247">
                <a:extLst>
                  <a:ext uri="{FF2B5EF4-FFF2-40B4-BE49-F238E27FC236}">
                    <a16:creationId xmlns:a16="http://schemas.microsoft.com/office/drawing/2014/main" id="{B2C751AB-C650-47EC-BAD9-5A9BC8F89C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5" y="1152"/>
                <a:ext cx="292" cy="248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pPr algn="ctr" eaLnBrk="0" hangingPunct="0"/>
                <a:r>
                  <a:rPr lang="en-US" sz="2000" b="1">
                    <a:latin typeface="FranklinGothic" charset="0"/>
                  </a:rPr>
                  <a:t>30</a:t>
                </a:r>
              </a:p>
            </p:txBody>
          </p:sp>
          <p:sp>
            <p:nvSpPr>
              <p:cNvPr id="126" name="Rectangle 248">
                <a:extLst>
                  <a:ext uri="{FF2B5EF4-FFF2-40B4-BE49-F238E27FC236}">
                    <a16:creationId xmlns:a16="http://schemas.microsoft.com/office/drawing/2014/main" id="{567A7E70-9689-474B-88EE-0C8888BAD5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29" y="1152"/>
                <a:ext cx="292" cy="248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pPr algn="ctr" eaLnBrk="0" hangingPunct="0"/>
                <a:r>
                  <a:rPr lang="en-US" sz="2000" b="1">
                    <a:latin typeface="FranklinGothic" charset="0"/>
                  </a:rPr>
                  <a:t>30</a:t>
                </a:r>
              </a:p>
            </p:txBody>
          </p:sp>
          <p:sp>
            <p:nvSpPr>
              <p:cNvPr id="127" name="Line 249">
                <a:extLst>
                  <a:ext uri="{FF2B5EF4-FFF2-40B4-BE49-F238E27FC236}">
                    <a16:creationId xmlns:a16="http://schemas.microsoft.com/office/drawing/2014/main" id="{9F6D2234-D0A0-43E6-B7E5-431D7F9C70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240" y="1014"/>
                <a:ext cx="3" cy="18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" name="Line 250">
                <a:extLst>
                  <a:ext uri="{FF2B5EF4-FFF2-40B4-BE49-F238E27FC236}">
                    <a16:creationId xmlns:a16="http://schemas.microsoft.com/office/drawing/2014/main" id="{D839AE52-736E-4D39-AC60-5610DAC783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25" y="1014"/>
                <a:ext cx="0" cy="19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" name="Line 251">
                <a:extLst>
                  <a:ext uri="{FF2B5EF4-FFF2-40B4-BE49-F238E27FC236}">
                    <a16:creationId xmlns:a16="http://schemas.microsoft.com/office/drawing/2014/main" id="{6F68E041-14D6-47ED-B224-C67CC35905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30" y="1014"/>
                <a:ext cx="0" cy="19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" name="Line 252">
                <a:extLst>
                  <a:ext uri="{FF2B5EF4-FFF2-40B4-BE49-F238E27FC236}">
                    <a16:creationId xmlns:a16="http://schemas.microsoft.com/office/drawing/2014/main" id="{497EFE37-3530-43A2-B1D4-BBDE7DCCD9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4" y="1014"/>
                <a:ext cx="0" cy="19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" name="Line 253">
                <a:extLst>
                  <a:ext uri="{FF2B5EF4-FFF2-40B4-BE49-F238E27FC236}">
                    <a16:creationId xmlns:a16="http://schemas.microsoft.com/office/drawing/2014/main" id="{787ADBA3-25F8-4C11-AA52-F1D5168AFA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38" y="1014"/>
                <a:ext cx="0" cy="19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" name="Line 254">
                <a:extLst>
                  <a:ext uri="{FF2B5EF4-FFF2-40B4-BE49-F238E27FC236}">
                    <a16:creationId xmlns:a16="http://schemas.microsoft.com/office/drawing/2014/main" id="{A44BBCC9-280F-46BC-AF1B-F52D045766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544" y="1014"/>
                <a:ext cx="3" cy="18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" name="Line 255">
                <a:extLst>
                  <a:ext uri="{FF2B5EF4-FFF2-40B4-BE49-F238E27FC236}">
                    <a16:creationId xmlns:a16="http://schemas.microsoft.com/office/drawing/2014/main" id="{01AAB77B-9FB0-45F5-B38B-96C0E1A9FC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849" y="1014"/>
                <a:ext cx="3" cy="18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" name="Line 256">
                <a:extLst>
                  <a:ext uri="{FF2B5EF4-FFF2-40B4-BE49-F238E27FC236}">
                    <a16:creationId xmlns:a16="http://schemas.microsoft.com/office/drawing/2014/main" id="{3B15B791-3545-48EF-A845-FDE02D2D16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33" y="1003"/>
                <a:ext cx="3" cy="18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" name="Line 257">
                <a:extLst>
                  <a:ext uri="{FF2B5EF4-FFF2-40B4-BE49-F238E27FC236}">
                    <a16:creationId xmlns:a16="http://schemas.microsoft.com/office/drawing/2014/main" id="{1E72DD4E-DDE2-4E95-8405-1A275A0BD8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00" y="1001"/>
                <a:ext cx="3" cy="18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" name="Line 258">
                <a:extLst>
                  <a:ext uri="{FF2B5EF4-FFF2-40B4-BE49-F238E27FC236}">
                    <a16:creationId xmlns:a16="http://schemas.microsoft.com/office/drawing/2014/main" id="{AC6BD7C4-6C03-4A10-B80A-6887EE1B21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713" y="1007"/>
                <a:ext cx="3" cy="18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7" name="Line 259">
                <a:extLst>
                  <a:ext uri="{FF2B5EF4-FFF2-40B4-BE49-F238E27FC236}">
                    <a16:creationId xmlns:a16="http://schemas.microsoft.com/office/drawing/2014/main" id="{83732133-1A59-4F22-8A65-DFD3D35AF0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985" y="1001"/>
                <a:ext cx="3" cy="18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8" name="Rectangle 260">
                <a:extLst>
                  <a:ext uri="{FF2B5EF4-FFF2-40B4-BE49-F238E27FC236}">
                    <a16:creationId xmlns:a16="http://schemas.microsoft.com/office/drawing/2014/main" id="{44706A8A-BC47-42E9-B783-3F4F9E4074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2" y="1152"/>
                <a:ext cx="292" cy="248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pPr algn="ctr" eaLnBrk="0" hangingPunct="0"/>
                <a:r>
                  <a:rPr lang="en-US" sz="2000" b="1">
                    <a:latin typeface="FranklinGothic" charset="0"/>
                  </a:rPr>
                  <a:t>30</a:t>
                </a:r>
              </a:p>
            </p:txBody>
          </p:sp>
          <p:sp>
            <p:nvSpPr>
              <p:cNvPr id="139" name="Rectangle 261">
                <a:extLst>
                  <a:ext uri="{FF2B5EF4-FFF2-40B4-BE49-F238E27FC236}">
                    <a16:creationId xmlns:a16="http://schemas.microsoft.com/office/drawing/2014/main" id="{F886437D-AB33-45ED-975E-EF05A5894D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2" y="1152"/>
                <a:ext cx="292" cy="248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pPr algn="ctr" eaLnBrk="0" hangingPunct="0"/>
                <a:r>
                  <a:rPr lang="en-US" sz="2000" b="1">
                    <a:latin typeface="FranklinGothic" charset="0"/>
                  </a:rPr>
                  <a:t>30</a:t>
                </a:r>
              </a:p>
            </p:txBody>
          </p:sp>
          <p:sp>
            <p:nvSpPr>
              <p:cNvPr id="140" name="Rectangle 262">
                <a:extLst>
                  <a:ext uri="{FF2B5EF4-FFF2-40B4-BE49-F238E27FC236}">
                    <a16:creationId xmlns:a16="http://schemas.microsoft.com/office/drawing/2014/main" id="{3614CCD7-2FD0-40CF-980B-50A7A4CDC8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81" y="1152"/>
                <a:ext cx="292" cy="248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pPr algn="ctr" eaLnBrk="0" hangingPunct="0"/>
                <a:r>
                  <a:rPr lang="en-US" sz="2000" b="1">
                    <a:latin typeface="FranklinGothic" charset="0"/>
                  </a:rPr>
                  <a:t>30</a:t>
                </a:r>
              </a:p>
            </p:txBody>
          </p:sp>
          <p:sp>
            <p:nvSpPr>
              <p:cNvPr id="141" name="Rectangle 263">
                <a:extLst>
                  <a:ext uri="{FF2B5EF4-FFF2-40B4-BE49-F238E27FC236}">
                    <a16:creationId xmlns:a16="http://schemas.microsoft.com/office/drawing/2014/main" id="{AF6275AB-64D0-4DED-BADA-FAAF457B7D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96" y="1152"/>
                <a:ext cx="292" cy="248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pPr algn="ctr" eaLnBrk="0" hangingPunct="0"/>
                <a:r>
                  <a:rPr lang="en-US" sz="2000" b="1">
                    <a:latin typeface="FranklinGothic" charset="0"/>
                  </a:rPr>
                  <a:t>30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43554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1" y="524656"/>
            <a:ext cx="8574887" cy="644577"/>
          </a:xfrm>
        </p:spPr>
        <p:txBody>
          <a:bodyPr>
            <a:normAutofit fontScale="90000"/>
          </a:bodyPr>
          <a:lstStyle/>
          <a:p>
            <a:pPr marL="1976438" indent="-1976438"/>
            <a:r>
              <a:rPr lang="en-GB" sz="3600" dirty="0">
                <a:solidFill>
                  <a:srgbClr val="0000FF"/>
                </a:solidFill>
              </a:rPr>
              <a:t>1. Introduction: What If: Dependency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#20: Pipelining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9</a:t>
            </a:fld>
            <a:endParaRPr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65" name="Rectangle 3">
            <a:extLst>
              <a:ext uri="{FF2B5EF4-FFF2-40B4-BE49-F238E27FC236}">
                <a16:creationId xmlns:a16="http://schemas.microsoft.com/office/drawing/2014/main" id="{F8214F56-C5B6-4375-8B25-8250A8B21BE0}"/>
              </a:ext>
            </a:extLst>
          </p:cNvPr>
          <p:cNvSpPr txBox="1">
            <a:spLocks noChangeArrowheads="1"/>
          </p:cNvSpPr>
          <p:nvPr/>
        </p:nvSpPr>
        <p:spPr>
          <a:xfrm>
            <a:off x="540077" y="4768485"/>
            <a:ext cx="7924800" cy="1676400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5113" indent="-265113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Brian is using the laundry for the first time; he wants to see the outcome of one wash + dry cycle first before putting in his clothes</a:t>
            </a:r>
          </a:p>
          <a:p>
            <a:pPr marL="265113" indent="-265113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C00000"/>
                </a:solidFill>
              </a:rPr>
              <a:t>Pipelined laundry now takes 4 hours</a:t>
            </a:r>
          </a:p>
        </p:txBody>
      </p:sp>
      <p:grpSp>
        <p:nvGrpSpPr>
          <p:cNvPr id="166" name="Group 311">
            <a:extLst>
              <a:ext uri="{FF2B5EF4-FFF2-40B4-BE49-F238E27FC236}">
                <a16:creationId xmlns:a16="http://schemas.microsoft.com/office/drawing/2014/main" id="{C58BEF02-F3D6-416F-A4E3-874412B52CE2}"/>
              </a:ext>
            </a:extLst>
          </p:cNvPr>
          <p:cNvGrpSpPr>
            <a:grpSpLocks/>
          </p:cNvGrpSpPr>
          <p:nvPr/>
        </p:nvGrpSpPr>
        <p:grpSpPr bwMode="auto">
          <a:xfrm>
            <a:off x="418640" y="1212900"/>
            <a:ext cx="8306719" cy="3617913"/>
            <a:chOff x="84" y="646"/>
            <a:chExt cx="5632" cy="2279"/>
          </a:xfrm>
        </p:grpSpPr>
        <p:sp>
          <p:nvSpPr>
            <p:cNvPr id="167" name="Rectangle 5">
              <a:extLst>
                <a:ext uri="{FF2B5EF4-FFF2-40B4-BE49-F238E27FC236}">
                  <a16:creationId xmlns:a16="http://schemas.microsoft.com/office/drawing/2014/main" id="{CF8318F7-7141-4D47-A299-A7BA51425B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" y="1104"/>
              <a:ext cx="220" cy="182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/>
              <a:r>
                <a:rPr lang="en-US" b="1" i="1" dirty="0">
                  <a:latin typeface="FranklinGothic" charset="0"/>
                </a:rPr>
                <a:t>T</a:t>
              </a:r>
            </a:p>
            <a:p>
              <a:pPr algn="ctr" eaLnBrk="0" hangingPunct="0"/>
              <a:r>
                <a:rPr lang="en-US" b="1" i="1" dirty="0">
                  <a:latin typeface="FranklinGothic" charset="0"/>
                </a:rPr>
                <a:t>a</a:t>
              </a:r>
            </a:p>
            <a:p>
              <a:pPr algn="ctr" eaLnBrk="0" hangingPunct="0"/>
              <a:r>
                <a:rPr lang="en-US" b="1" i="1" dirty="0">
                  <a:latin typeface="FranklinGothic" charset="0"/>
                </a:rPr>
                <a:t>s</a:t>
              </a:r>
            </a:p>
            <a:p>
              <a:pPr algn="ctr" eaLnBrk="0" hangingPunct="0"/>
              <a:r>
                <a:rPr lang="en-US" b="1" i="1" dirty="0">
                  <a:latin typeface="FranklinGothic" charset="0"/>
                </a:rPr>
                <a:t>k</a:t>
              </a:r>
            </a:p>
            <a:p>
              <a:pPr algn="ctr" eaLnBrk="0" hangingPunct="0"/>
              <a:endParaRPr lang="en-US" b="1" i="1" dirty="0">
                <a:latin typeface="FranklinGothic" charset="0"/>
              </a:endParaRPr>
            </a:p>
            <a:p>
              <a:pPr algn="ctr" eaLnBrk="0" hangingPunct="0"/>
              <a:r>
                <a:rPr lang="en-US" b="1" i="1" dirty="0">
                  <a:latin typeface="FranklinGothic" charset="0"/>
                </a:rPr>
                <a:t>O</a:t>
              </a:r>
            </a:p>
            <a:p>
              <a:pPr algn="ctr" eaLnBrk="0" hangingPunct="0"/>
              <a:r>
                <a:rPr lang="en-US" b="1" i="1" dirty="0">
                  <a:latin typeface="FranklinGothic" charset="0"/>
                </a:rPr>
                <a:t>r</a:t>
              </a:r>
            </a:p>
            <a:p>
              <a:pPr algn="ctr" eaLnBrk="0" hangingPunct="0"/>
              <a:r>
                <a:rPr lang="en-US" b="1" i="1" dirty="0">
                  <a:latin typeface="FranklinGothic" charset="0"/>
                </a:rPr>
                <a:t>d</a:t>
              </a:r>
            </a:p>
            <a:p>
              <a:pPr algn="ctr" eaLnBrk="0" hangingPunct="0"/>
              <a:r>
                <a:rPr lang="en-US" b="1" i="1" dirty="0">
                  <a:latin typeface="FranklinGothic" charset="0"/>
                </a:rPr>
                <a:t>e</a:t>
              </a:r>
            </a:p>
            <a:p>
              <a:pPr algn="ctr" eaLnBrk="0" hangingPunct="0"/>
              <a:r>
                <a:rPr lang="en-US" b="1" i="1" dirty="0">
                  <a:latin typeface="FranklinGothic" charset="0"/>
                </a:rPr>
                <a:t>r</a:t>
              </a:r>
              <a:endParaRPr lang="en-US" sz="2000" b="1" i="1" dirty="0">
                <a:latin typeface="FranklinGothic" charset="0"/>
              </a:endParaRPr>
            </a:p>
          </p:txBody>
        </p:sp>
        <p:grpSp>
          <p:nvGrpSpPr>
            <p:cNvPr id="168" name="Group 6">
              <a:extLst>
                <a:ext uri="{FF2B5EF4-FFF2-40B4-BE49-F238E27FC236}">
                  <a16:creationId xmlns:a16="http://schemas.microsoft.com/office/drawing/2014/main" id="{CF68ED04-05BE-4181-BBE8-CF5EF3AEB3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2" y="1811"/>
              <a:ext cx="260" cy="300"/>
              <a:chOff x="440" y="1867"/>
              <a:chExt cx="260" cy="300"/>
            </a:xfrm>
          </p:grpSpPr>
          <p:sp>
            <p:nvSpPr>
              <p:cNvPr id="308" name="Freeform 7">
                <a:extLst>
                  <a:ext uri="{FF2B5EF4-FFF2-40B4-BE49-F238E27FC236}">
                    <a16:creationId xmlns:a16="http://schemas.microsoft.com/office/drawing/2014/main" id="{B2E7CFD3-DBDF-481F-8230-39FAF7E6DC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" y="1867"/>
                <a:ext cx="246" cy="221"/>
              </a:xfrm>
              <a:custGeom>
                <a:avLst/>
                <a:gdLst>
                  <a:gd name="T0" fmla="*/ 69 w 246"/>
                  <a:gd name="T1" fmla="*/ 10 h 221"/>
                  <a:gd name="T2" fmla="*/ 117 w 246"/>
                  <a:gd name="T3" fmla="*/ 12 h 221"/>
                  <a:gd name="T4" fmla="*/ 167 w 246"/>
                  <a:gd name="T5" fmla="*/ 0 h 221"/>
                  <a:gd name="T6" fmla="*/ 228 w 246"/>
                  <a:gd name="T7" fmla="*/ 0 h 221"/>
                  <a:gd name="T8" fmla="*/ 161 w 246"/>
                  <a:gd name="T9" fmla="*/ 63 h 221"/>
                  <a:gd name="T10" fmla="*/ 179 w 246"/>
                  <a:gd name="T11" fmla="*/ 67 h 221"/>
                  <a:gd name="T12" fmla="*/ 196 w 246"/>
                  <a:gd name="T13" fmla="*/ 74 h 221"/>
                  <a:gd name="T14" fmla="*/ 213 w 246"/>
                  <a:gd name="T15" fmla="*/ 83 h 221"/>
                  <a:gd name="T16" fmla="*/ 226 w 246"/>
                  <a:gd name="T17" fmla="*/ 94 h 221"/>
                  <a:gd name="T18" fmla="*/ 236 w 246"/>
                  <a:gd name="T19" fmla="*/ 108 h 221"/>
                  <a:gd name="T20" fmla="*/ 243 w 246"/>
                  <a:gd name="T21" fmla="*/ 123 h 221"/>
                  <a:gd name="T22" fmla="*/ 245 w 246"/>
                  <a:gd name="T23" fmla="*/ 140 h 221"/>
                  <a:gd name="T24" fmla="*/ 242 w 246"/>
                  <a:gd name="T25" fmla="*/ 157 h 221"/>
                  <a:gd name="T26" fmla="*/ 237 w 246"/>
                  <a:gd name="T27" fmla="*/ 171 h 221"/>
                  <a:gd name="T28" fmla="*/ 226 w 246"/>
                  <a:gd name="T29" fmla="*/ 185 h 221"/>
                  <a:gd name="T30" fmla="*/ 209 w 246"/>
                  <a:gd name="T31" fmla="*/ 200 h 221"/>
                  <a:gd name="T32" fmla="*/ 192 w 246"/>
                  <a:gd name="T33" fmla="*/ 209 h 221"/>
                  <a:gd name="T34" fmla="*/ 176 w 246"/>
                  <a:gd name="T35" fmla="*/ 215 h 221"/>
                  <a:gd name="T36" fmla="*/ 161 w 246"/>
                  <a:gd name="T37" fmla="*/ 219 h 221"/>
                  <a:gd name="T38" fmla="*/ 141 w 246"/>
                  <a:gd name="T39" fmla="*/ 220 h 221"/>
                  <a:gd name="T40" fmla="*/ 91 w 246"/>
                  <a:gd name="T41" fmla="*/ 219 h 221"/>
                  <a:gd name="T42" fmla="*/ 67 w 246"/>
                  <a:gd name="T43" fmla="*/ 215 h 221"/>
                  <a:gd name="T44" fmla="*/ 42 w 246"/>
                  <a:gd name="T45" fmla="*/ 204 h 221"/>
                  <a:gd name="T46" fmla="*/ 22 w 246"/>
                  <a:gd name="T47" fmla="*/ 189 h 221"/>
                  <a:gd name="T48" fmla="*/ 10 w 246"/>
                  <a:gd name="T49" fmla="*/ 174 h 221"/>
                  <a:gd name="T50" fmla="*/ 3 w 246"/>
                  <a:gd name="T51" fmla="*/ 157 h 221"/>
                  <a:gd name="T52" fmla="*/ 0 w 246"/>
                  <a:gd name="T53" fmla="*/ 143 h 221"/>
                  <a:gd name="T54" fmla="*/ 2 w 246"/>
                  <a:gd name="T55" fmla="*/ 126 h 221"/>
                  <a:gd name="T56" fmla="*/ 10 w 246"/>
                  <a:gd name="T57" fmla="*/ 106 h 221"/>
                  <a:gd name="T58" fmla="*/ 26 w 246"/>
                  <a:gd name="T59" fmla="*/ 88 h 221"/>
                  <a:gd name="T60" fmla="*/ 47 w 246"/>
                  <a:gd name="T61" fmla="*/ 74 h 221"/>
                  <a:gd name="T62" fmla="*/ 76 w 246"/>
                  <a:gd name="T63" fmla="*/ 64 h 221"/>
                  <a:gd name="T64" fmla="*/ 30 w 246"/>
                  <a:gd name="T65" fmla="*/ 3 h 221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46"/>
                  <a:gd name="T100" fmla="*/ 0 h 221"/>
                  <a:gd name="T101" fmla="*/ 246 w 246"/>
                  <a:gd name="T102" fmla="*/ 221 h 221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46" h="221">
                    <a:moveTo>
                      <a:pt x="30" y="3"/>
                    </a:moveTo>
                    <a:lnTo>
                      <a:pt x="69" y="10"/>
                    </a:lnTo>
                    <a:lnTo>
                      <a:pt x="69" y="0"/>
                    </a:lnTo>
                    <a:lnTo>
                      <a:pt x="117" y="12"/>
                    </a:lnTo>
                    <a:lnTo>
                      <a:pt x="117" y="0"/>
                    </a:lnTo>
                    <a:lnTo>
                      <a:pt x="167" y="0"/>
                    </a:lnTo>
                    <a:lnTo>
                      <a:pt x="167" y="11"/>
                    </a:lnTo>
                    <a:lnTo>
                      <a:pt x="228" y="0"/>
                    </a:lnTo>
                    <a:lnTo>
                      <a:pt x="153" y="62"/>
                    </a:lnTo>
                    <a:lnTo>
                      <a:pt x="161" y="63"/>
                    </a:lnTo>
                    <a:lnTo>
                      <a:pt x="169" y="64"/>
                    </a:lnTo>
                    <a:lnTo>
                      <a:pt x="179" y="67"/>
                    </a:lnTo>
                    <a:lnTo>
                      <a:pt x="187" y="70"/>
                    </a:lnTo>
                    <a:lnTo>
                      <a:pt x="196" y="74"/>
                    </a:lnTo>
                    <a:lnTo>
                      <a:pt x="205" y="78"/>
                    </a:lnTo>
                    <a:lnTo>
                      <a:pt x="213" y="83"/>
                    </a:lnTo>
                    <a:lnTo>
                      <a:pt x="220" y="89"/>
                    </a:lnTo>
                    <a:lnTo>
                      <a:pt x="226" y="94"/>
                    </a:lnTo>
                    <a:lnTo>
                      <a:pt x="231" y="101"/>
                    </a:lnTo>
                    <a:lnTo>
                      <a:pt x="236" y="108"/>
                    </a:lnTo>
                    <a:lnTo>
                      <a:pt x="240" y="116"/>
                    </a:lnTo>
                    <a:lnTo>
                      <a:pt x="243" y="123"/>
                    </a:lnTo>
                    <a:lnTo>
                      <a:pt x="244" y="130"/>
                    </a:lnTo>
                    <a:lnTo>
                      <a:pt x="245" y="140"/>
                    </a:lnTo>
                    <a:lnTo>
                      <a:pt x="244" y="150"/>
                    </a:lnTo>
                    <a:lnTo>
                      <a:pt x="242" y="157"/>
                    </a:lnTo>
                    <a:lnTo>
                      <a:pt x="240" y="165"/>
                    </a:lnTo>
                    <a:lnTo>
                      <a:pt x="237" y="171"/>
                    </a:lnTo>
                    <a:lnTo>
                      <a:pt x="232" y="177"/>
                    </a:lnTo>
                    <a:lnTo>
                      <a:pt x="226" y="185"/>
                    </a:lnTo>
                    <a:lnTo>
                      <a:pt x="218" y="193"/>
                    </a:lnTo>
                    <a:lnTo>
                      <a:pt x="209" y="200"/>
                    </a:lnTo>
                    <a:lnTo>
                      <a:pt x="200" y="205"/>
                    </a:lnTo>
                    <a:lnTo>
                      <a:pt x="192" y="209"/>
                    </a:lnTo>
                    <a:lnTo>
                      <a:pt x="184" y="213"/>
                    </a:lnTo>
                    <a:lnTo>
                      <a:pt x="176" y="215"/>
                    </a:lnTo>
                    <a:lnTo>
                      <a:pt x="167" y="217"/>
                    </a:lnTo>
                    <a:lnTo>
                      <a:pt x="161" y="219"/>
                    </a:lnTo>
                    <a:lnTo>
                      <a:pt x="150" y="219"/>
                    </a:lnTo>
                    <a:lnTo>
                      <a:pt x="141" y="220"/>
                    </a:lnTo>
                    <a:lnTo>
                      <a:pt x="99" y="220"/>
                    </a:lnTo>
                    <a:lnTo>
                      <a:pt x="91" y="219"/>
                    </a:lnTo>
                    <a:lnTo>
                      <a:pt x="81" y="218"/>
                    </a:lnTo>
                    <a:lnTo>
                      <a:pt x="67" y="215"/>
                    </a:lnTo>
                    <a:lnTo>
                      <a:pt x="55" y="210"/>
                    </a:lnTo>
                    <a:lnTo>
                      <a:pt x="42" y="204"/>
                    </a:lnTo>
                    <a:lnTo>
                      <a:pt x="31" y="196"/>
                    </a:lnTo>
                    <a:lnTo>
                      <a:pt x="22" y="189"/>
                    </a:lnTo>
                    <a:lnTo>
                      <a:pt x="16" y="183"/>
                    </a:lnTo>
                    <a:lnTo>
                      <a:pt x="10" y="174"/>
                    </a:lnTo>
                    <a:lnTo>
                      <a:pt x="5" y="164"/>
                    </a:lnTo>
                    <a:lnTo>
                      <a:pt x="3" y="157"/>
                    </a:lnTo>
                    <a:lnTo>
                      <a:pt x="1" y="150"/>
                    </a:lnTo>
                    <a:lnTo>
                      <a:pt x="0" y="143"/>
                    </a:lnTo>
                    <a:lnTo>
                      <a:pt x="1" y="137"/>
                    </a:lnTo>
                    <a:lnTo>
                      <a:pt x="2" y="126"/>
                    </a:lnTo>
                    <a:lnTo>
                      <a:pt x="5" y="117"/>
                    </a:lnTo>
                    <a:lnTo>
                      <a:pt x="10" y="106"/>
                    </a:lnTo>
                    <a:lnTo>
                      <a:pt x="18" y="97"/>
                    </a:lnTo>
                    <a:lnTo>
                      <a:pt x="26" y="88"/>
                    </a:lnTo>
                    <a:lnTo>
                      <a:pt x="37" y="80"/>
                    </a:lnTo>
                    <a:lnTo>
                      <a:pt x="47" y="74"/>
                    </a:lnTo>
                    <a:lnTo>
                      <a:pt x="61" y="68"/>
                    </a:lnTo>
                    <a:lnTo>
                      <a:pt x="76" y="64"/>
                    </a:lnTo>
                    <a:lnTo>
                      <a:pt x="86" y="62"/>
                    </a:lnTo>
                    <a:lnTo>
                      <a:pt x="30" y="3"/>
                    </a:lnTo>
                  </a:path>
                </a:pathLst>
              </a:custGeom>
              <a:solidFill>
                <a:schemeClr val="bg2"/>
              </a:solidFill>
              <a:ln w="254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9" name="Rectangle 8">
                <a:extLst>
                  <a:ext uri="{FF2B5EF4-FFF2-40B4-BE49-F238E27FC236}">
                    <a16:creationId xmlns:a16="http://schemas.microsoft.com/office/drawing/2014/main" id="{5E609E3F-C138-45E9-98B5-B903EF138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" y="1878"/>
                <a:ext cx="255" cy="289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pPr algn="ctr" eaLnBrk="0" hangingPunct="0"/>
                <a:r>
                  <a:rPr lang="en-US" b="1" dirty="0">
                    <a:solidFill>
                      <a:srgbClr val="C00000"/>
                    </a:solidFill>
                    <a:latin typeface="FranklinGothic" charset="0"/>
                  </a:rPr>
                  <a:t>B</a:t>
                </a:r>
              </a:p>
            </p:txBody>
          </p:sp>
        </p:grpSp>
        <p:grpSp>
          <p:nvGrpSpPr>
            <p:cNvPr id="169" name="Group 9">
              <a:extLst>
                <a:ext uri="{FF2B5EF4-FFF2-40B4-BE49-F238E27FC236}">
                  <a16:creationId xmlns:a16="http://schemas.microsoft.com/office/drawing/2014/main" id="{F8D2B0F8-C1B6-49BB-8BCD-2D474E7941D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2" y="2150"/>
              <a:ext cx="260" cy="246"/>
              <a:chOff x="440" y="2217"/>
              <a:chExt cx="260" cy="246"/>
            </a:xfrm>
          </p:grpSpPr>
          <p:sp>
            <p:nvSpPr>
              <p:cNvPr id="306" name="Freeform 10">
                <a:extLst>
                  <a:ext uri="{FF2B5EF4-FFF2-40B4-BE49-F238E27FC236}">
                    <a16:creationId xmlns:a16="http://schemas.microsoft.com/office/drawing/2014/main" id="{2E168348-31A7-4674-8309-92604FF5FE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" y="2217"/>
                <a:ext cx="246" cy="222"/>
              </a:xfrm>
              <a:custGeom>
                <a:avLst/>
                <a:gdLst>
                  <a:gd name="T0" fmla="*/ 69 w 246"/>
                  <a:gd name="T1" fmla="*/ 11 h 222"/>
                  <a:gd name="T2" fmla="*/ 117 w 246"/>
                  <a:gd name="T3" fmla="*/ 12 h 222"/>
                  <a:gd name="T4" fmla="*/ 167 w 246"/>
                  <a:gd name="T5" fmla="*/ 0 h 222"/>
                  <a:gd name="T6" fmla="*/ 228 w 246"/>
                  <a:gd name="T7" fmla="*/ 0 h 222"/>
                  <a:gd name="T8" fmla="*/ 161 w 246"/>
                  <a:gd name="T9" fmla="*/ 63 h 222"/>
                  <a:gd name="T10" fmla="*/ 179 w 246"/>
                  <a:gd name="T11" fmla="*/ 67 h 222"/>
                  <a:gd name="T12" fmla="*/ 196 w 246"/>
                  <a:gd name="T13" fmla="*/ 74 h 222"/>
                  <a:gd name="T14" fmla="*/ 213 w 246"/>
                  <a:gd name="T15" fmla="*/ 83 h 222"/>
                  <a:gd name="T16" fmla="*/ 226 w 246"/>
                  <a:gd name="T17" fmla="*/ 95 h 222"/>
                  <a:gd name="T18" fmla="*/ 236 w 246"/>
                  <a:gd name="T19" fmla="*/ 108 h 222"/>
                  <a:gd name="T20" fmla="*/ 243 w 246"/>
                  <a:gd name="T21" fmla="*/ 124 h 222"/>
                  <a:gd name="T22" fmla="*/ 245 w 246"/>
                  <a:gd name="T23" fmla="*/ 141 h 222"/>
                  <a:gd name="T24" fmla="*/ 242 w 246"/>
                  <a:gd name="T25" fmla="*/ 158 h 222"/>
                  <a:gd name="T26" fmla="*/ 237 w 246"/>
                  <a:gd name="T27" fmla="*/ 171 h 222"/>
                  <a:gd name="T28" fmla="*/ 226 w 246"/>
                  <a:gd name="T29" fmla="*/ 186 h 222"/>
                  <a:gd name="T30" fmla="*/ 209 w 246"/>
                  <a:gd name="T31" fmla="*/ 201 h 222"/>
                  <a:gd name="T32" fmla="*/ 192 w 246"/>
                  <a:gd name="T33" fmla="*/ 210 h 222"/>
                  <a:gd name="T34" fmla="*/ 176 w 246"/>
                  <a:gd name="T35" fmla="*/ 216 h 222"/>
                  <a:gd name="T36" fmla="*/ 161 w 246"/>
                  <a:gd name="T37" fmla="*/ 219 h 222"/>
                  <a:gd name="T38" fmla="*/ 141 w 246"/>
                  <a:gd name="T39" fmla="*/ 221 h 222"/>
                  <a:gd name="T40" fmla="*/ 91 w 246"/>
                  <a:gd name="T41" fmla="*/ 220 h 222"/>
                  <a:gd name="T42" fmla="*/ 67 w 246"/>
                  <a:gd name="T43" fmla="*/ 216 h 222"/>
                  <a:gd name="T44" fmla="*/ 42 w 246"/>
                  <a:gd name="T45" fmla="*/ 204 h 222"/>
                  <a:gd name="T46" fmla="*/ 22 w 246"/>
                  <a:gd name="T47" fmla="*/ 190 h 222"/>
                  <a:gd name="T48" fmla="*/ 10 w 246"/>
                  <a:gd name="T49" fmla="*/ 174 h 222"/>
                  <a:gd name="T50" fmla="*/ 3 w 246"/>
                  <a:gd name="T51" fmla="*/ 158 h 222"/>
                  <a:gd name="T52" fmla="*/ 0 w 246"/>
                  <a:gd name="T53" fmla="*/ 144 h 222"/>
                  <a:gd name="T54" fmla="*/ 2 w 246"/>
                  <a:gd name="T55" fmla="*/ 127 h 222"/>
                  <a:gd name="T56" fmla="*/ 10 w 246"/>
                  <a:gd name="T57" fmla="*/ 106 h 222"/>
                  <a:gd name="T58" fmla="*/ 26 w 246"/>
                  <a:gd name="T59" fmla="*/ 89 h 222"/>
                  <a:gd name="T60" fmla="*/ 47 w 246"/>
                  <a:gd name="T61" fmla="*/ 74 h 222"/>
                  <a:gd name="T62" fmla="*/ 76 w 246"/>
                  <a:gd name="T63" fmla="*/ 65 h 222"/>
                  <a:gd name="T64" fmla="*/ 30 w 246"/>
                  <a:gd name="T65" fmla="*/ 3 h 222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46"/>
                  <a:gd name="T100" fmla="*/ 0 h 222"/>
                  <a:gd name="T101" fmla="*/ 246 w 246"/>
                  <a:gd name="T102" fmla="*/ 222 h 222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46" h="222">
                    <a:moveTo>
                      <a:pt x="30" y="3"/>
                    </a:moveTo>
                    <a:lnTo>
                      <a:pt x="69" y="11"/>
                    </a:lnTo>
                    <a:lnTo>
                      <a:pt x="69" y="0"/>
                    </a:lnTo>
                    <a:lnTo>
                      <a:pt x="117" y="12"/>
                    </a:lnTo>
                    <a:lnTo>
                      <a:pt x="117" y="0"/>
                    </a:lnTo>
                    <a:lnTo>
                      <a:pt x="167" y="0"/>
                    </a:lnTo>
                    <a:lnTo>
                      <a:pt x="167" y="11"/>
                    </a:lnTo>
                    <a:lnTo>
                      <a:pt x="228" y="0"/>
                    </a:lnTo>
                    <a:lnTo>
                      <a:pt x="153" y="62"/>
                    </a:lnTo>
                    <a:lnTo>
                      <a:pt x="161" y="63"/>
                    </a:lnTo>
                    <a:lnTo>
                      <a:pt x="169" y="65"/>
                    </a:lnTo>
                    <a:lnTo>
                      <a:pt x="179" y="67"/>
                    </a:lnTo>
                    <a:lnTo>
                      <a:pt x="187" y="70"/>
                    </a:lnTo>
                    <a:lnTo>
                      <a:pt x="196" y="74"/>
                    </a:lnTo>
                    <a:lnTo>
                      <a:pt x="205" y="78"/>
                    </a:lnTo>
                    <a:lnTo>
                      <a:pt x="213" y="83"/>
                    </a:lnTo>
                    <a:lnTo>
                      <a:pt x="220" y="89"/>
                    </a:lnTo>
                    <a:lnTo>
                      <a:pt x="226" y="95"/>
                    </a:lnTo>
                    <a:lnTo>
                      <a:pt x="231" y="101"/>
                    </a:lnTo>
                    <a:lnTo>
                      <a:pt x="236" y="108"/>
                    </a:lnTo>
                    <a:lnTo>
                      <a:pt x="240" y="117"/>
                    </a:lnTo>
                    <a:lnTo>
                      <a:pt x="243" y="124"/>
                    </a:lnTo>
                    <a:lnTo>
                      <a:pt x="244" y="131"/>
                    </a:lnTo>
                    <a:lnTo>
                      <a:pt x="245" y="141"/>
                    </a:lnTo>
                    <a:lnTo>
                      <a:pt x="244" y="150"/>
                    </a:lnTo>
                    <a:lnTo>
                      <a:pt x="242" y="158"/>
                    </a:lnTo>
                    <a:lnTo>
                      <a:pt x="240" y="165"/>
                    </a:lnTo>
                    <a:lnTo>
                      <a:pt x="237" y="171"/>
                    </a:lnTo>
                    <a:lnTo>
                      <a:pt x="232" y="178"/>
                    </a:lnTo>
                    <a:lnTo>
                      <a:pt x="226" y="186"/>
                    </a:lnTo>
                    <a:lnTo>
                      <a:pt x="218" y="194"/>
                    </a:lnTo>
                    <a:lnTo>
                      <a:pt x="209" y="201"/>
                    </a:lnTo>
                    <a:lnTo>
                      <a:pt x="200" y="206"/>
                    </a:lnTo>
                    <a:lnTo>
                      <a:pt x="192" y="210"/>
                    </a:lnTo>
                    <a:lnTo>
                      <a:pt x="184" y="213"/>
                    </a:lnTo>
                    <a:lnTo>
                      <a:pt x="176" y="216"/>
                    </a:lnTo>
                    <a:lnTo>
                      <a:pt x="167" y="218"/>
                    </a:lnTo>
                    <a:lnTo>
                      <a:pt x="161" y="219"/>
                    </a:lnTo>
                    <a:lnTo>
                      <a:pt x="150" y="220"/>
                    </a:lnTo>
                    <a:lnTo>
                      <a:pt x="141" y="221"/>
                    </a:lnTo>
                    <a:lnTo>
                      <a:pt x="99" y="221"/>
                    </a:lnTo>
                    <a:lnTo>
                      <a:pt x="91" y="220"/>
                    </a:lnTo>
                    <a:lnTo>
                      <a:pt x="81" y="219"/>
                    </a:lnTo>
                    <a:lnTo>
                      <a:pt x="67" y="216"/>
                    </a:lnTo>
                    <a:lnTo>
                      <a:pt x="55" y="210"/>
                    </a:lnTo>
                    <a:lnTo>
                      <a:pt x="42" y="204"/>
                    </a:lnTo>
                    <a:lnTo>
                      <a:pt x="31" y="197"/>
                    </a:lnTo>
                    <a:lnTo>
                      <a:pt x="22" y="190"/>
                    </a:lnTo>
                    <a:lnTo>
                      <a:pt x="16" y="183"/>
                    </a:lnTo>
                    <a:lnTo>
                      <a:pt x="10" y="174"/>
                    </a:lnTo>
                    <a:lnTo>
                      <a:pt x="5" y="165"/>
                    </a:lnTo>
                    <a:lnTo>
                      <a:pt x="3" y="158"/>
                    </a:lnTo>
                    <a:lnTo>
                      <a:pt x="1" y="151"/>
                    </a:lnTo>
                    <a:lnTo>
                      <a:pt x="0" y="144"/>
                    </a:lnTo>
                    <a:lnTo>
                      <a:pt x="1" y="138"/>
                    </a:lnTo>
                    <a:lnTo>
                      <a:pt x="2" y="127"/>
                    </a:lnTo>
                    <a:lnTo>
                      <a:pt x="5" y="117"/>
                    </a:lnTo>
                    <a:lnTo>
                      <a:pt x="10" y="106"/>
                    </a:lnTo>
                    <a:lnTo>
                      <a:pt x="18" y="97"/>
                    </a:lnTo>
                    <a:lnTo>
                      <a:pt x="26" y="89"/>
                    </a:lnTo>
                    <a:lnTo>
                      <a:pt x="37" y="80"/>
                    </a:lnTo>
                    <a:lnTo>
                      <a:pt x="47" y="74"/>
                    </a:lnTo>
                    <a:lnTo>
                      <a:pt x="61" y="68"/>
                    </a:lnTo>
                    <a:lnTo>
                      <a:pt x="76" y="65"/>
                    </a:lnTo>
                    <a:lnTo>
                      <a:pt x="86" y="62"/>
                    </a:lnTo>
                    <a:lnTo>
                      <a:pt x="30" y="3"/>
                    </a:lnTo>
                  </a:path>
                </a:pathLst>
              </a:custGeom>
              <a:solidFill>
                <a:schemeClr val="bg2"/>
              </a:solidFill>
              <a:ln w="254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7" name="Rectangle 11">
                <a:extLst>
                  <a:ext uri="{FF2B5EF4-FFF2-40B4-BE49-F238E27FC236}">
                    <a16:creationId xmlns:a16="http://schemas.microsoft.com/office/drawing/2014/main" id="{D98FA92C-C593-44D2-8B03-B60EA9E232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" y="2232"/>
                <a:ext cx="255" cy="231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square" lIns="90488" tIns="44450" rIns="90488" bIns="44450">
                <a:spAutoFit/>
              </a:bodyPr>
              <a:lstStyle/>
              <a:p>
                <a:pPr algn="ctr" eaLnBrk="0" hangingPunct="0"/>
                <a:r>
                  <a:rPr lang="en-US" b="1" dirty="0">
                    <a:solidFill>
                      <a:srgbClr val="C00000"/>
                    </a:solidFill>
                    <a:latin typeface="FranklinGothic" charset="0"/>
                  </a:rPr>
                  <a:t>C</a:t>
                </a:r>
              </a:p>
            </p:txBody>
          </p:sp>
        </p:grpSp>
        <p:grpSp>
          <p:nvGrpSpPr>
            <p:cNvPr id="170" name="Group 12">
              <a:extLst>
                <a:ext uri="{FF2B5EF4-FFF2-40B4-BE49-F238E27FC236}">
                  <a16:creationId xmlns:a16="http://schemas.microsoft.com/office/drawing/2014/main" id="{BA5A9A4E-0673-4AE5-9F62-7F586B14403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2" y="2473"/>
              <a:ext cx="260" cy="303"/>
              <a:chOff x="440" y="2521"/>
              <a:chExt cx="260" cy="303"/>
            </a:xfrm>
          </p:grpSpPr>
          <p:sp>
            <p:nvSpPr>
              <p:cNvPr id="304" name="Freeform 13">
                <a:extLst>
                  <a:ext uri="{FF2B5EF4-FFF2-40B4-BE49-F238E27FC236}">
                    <a16:creationId xmlns:a16="http://schemas.microsoft.com/office/drawing/2014/main" id="{EAE09B4A-3C6D-4A5F-879B-5B40E037AA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" y="2521"/>
                <a:ext cx="246" cy="221"/>
              </a:xfrm>
              <a:custGeom>
                <a:avLst/>
                <a:gdLst>
                  <a:gd name="T0" fmla="*/ 69 w 246"/>
                  <a:gd name="T1" fmla="*/ 10 h 221"/>
                  <a:gd name="T2" fmla="*/ 117 w 246"/>
                  <a:gd name="T3" fmla="*/ 12 h 221"/>
                  <a:gd name="T4" fmla="*/ 167 w 246"/>
                  <a:gd name="T5" fmla="*/ 0 h 221"/>
                  <a:gd name="T6" fmla="*/ 228 w 246"/>
                  <a:gd name="T7" fmla="*/ 0 h 221"/>
                  <a:gd name="T8" fmla="*/ 161 w 246"/>
                  <a:gd name="T9" fmla="*/ 63 h 221"/>
                  <a:gd name="T10" fmla="*/ 179 w 246"/>
                  <a:gd name="T11" fmla="*/ 67 h 221"/>
                  <a:gd name="T12" fmla="*/ 196 w 246"/>
                  <a:gd name="T13" fmla="*/ 74 h 221"/>
                  <a:gd name="T14" fmla="*/ 213 w 246"/>
                  <a:gd name="T15" fmla="*/ 83 h 221"/>
                  <a:gd name="T16" fmla="*/ 226 w 246"/>
                  <a:gd name="T17" fmla="*/ 94 h 221"/>
                  <a:gd name="T18" fmla="*/ 236 w 246"/>
                  <a:gd name="T19" fmla="*/ 108 h 221"/>
                  <a:gd name="T20" fmla="*/ 243 w 246"/>
                  <a:gd name="T21" fmla="*/ 123 h 221"/>
                  <a:gd name="T22" fmla="*/ 245 w 246"/>
                  <a:gd name="T23" fmla="*/ 140 h 221"/>
                  <a:gd name="T24" fmla="*/ 242 w 246"/>
                  <a:gd name="T25" fmla="*/ 157 h 221"/>
                  <a:gd name="T26" fmla="*/ 237 w 246"/>
                  <a:gd name="T27" fmla="*/ 171 h 221"/>
                  <a:gd name="T28" fmla="*/ 226 w 246"/>
                  <a:gd name="T29" fmla="*/ 185 h 221"/>
                  <a:gd name="T30" fmla="*/ 209 w 246"/>
                  <a:gd name="T31" fmla="*/ 200 h 221"/>
                  <a:gd name="T32" fmla="*/ 192 w 246"/>
                  <a:gd name="T33" fmla="*/ 209 h 221"/>
                  <a:gd name="T34" fmla="*/ 176 w 246"/>
                  <a:gd name="T35" fmla="*/ 215 h 221"/>
                  <a:gd name="T36" fmla="*/ 161 w 246"/>
                  <a:gd name="T37" fmla="*/ 219 h 221"/>
                  <a:gd name="T38" fmla="*/ 141 w 246"/>
                  <a:gd name="T39" fmla="*/ 220 h 221"/>
                  <a:gd name="T40" fmla="*/ 91 w 246"/>
                  <a:gd name="T41" fmla="*/ 219 h 221"/>
                  <a:gd name="T42" fmla="*/ 67 w 246"/>
                  <a:gd name="T43" fmla="*/ 215 h 221"/>
                  <a:gd name="T44" fmla="*/ 42 w 246"/>
                  <a:gd name="T45" fmla="*/ 204 h 221"/>
                  <a:gd name="T46" fmla="*/ 22 w 246"/>
                  <a:gd name="T47" fmla="*/ 189 h 221"/>
                  <a:gd name="T48" fmla="*/ 10 w 246"/>
                  <a:gd name="T49" fmla="*/ 174 h 221"/>
                  <a:gd name="T50" fmla="*/ 3 w 246"/>
                  <a:gd name="T51" fmla="*/ 157 h 221"/>
                  <a:gd name="T52" fmla="*/ 0 w 246"/>
                  <a:gd name="T53" fmla="*/ 143 h 221"/>
                  <a:gd name="T54" fmla="*/ 2 w 246"/>
                  <a:gd name="T55" fmla="*/ 126 h 221"/>
                  <a:gd name="T56" fmla="*/ 10 w 246"/>
                  <a:gd name="T57" fmla="*/ 106 h 221"/>
                  <a:gd name="T58" fmla="*/ 26 w 246"/>
                  <a:gd name="T59" fmla="*/ 88 h 221"/>
                  <a:gd name="T60" fmla="*/ 47 w 246"/>
                  <a:gd name="T61" fmla="*/ 74 h 221"/>
                  <a:gd name="T62" fmla="*/ 76 w 246"/>
                  <a:gd name="T63" fmla="*/ 64 h 221"/>
                  <a:gd name="T64" fmla="*/ 30 w 246"/>
                  <a:gd name="T65" fmla="*/ 3 h 221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46"/>
                  <a:gd name="T100" fmla="*/ 0 h 221"/>
                  <a:gd name="T101" fmla="*/ 246 w 246"/>
                  <a:gd name="T102" fmla="*/ 221 h 221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46" h="221">
                    <a:moveTo>
                      <a:pt x="30" y="3"/>
                    </a:moveTo>
                    <a:lnTo>
                      <a:pt x="69" y="10"/>
                    </a:lnTo>
                    <a:lnTo>
                      <a:pt x="69" y="0"/>
                    </a:lnTo>
                    <a:lnTo>
                      <a:pt x="117" y="12"/>
                    </a:lnTo>
                    <a:lnTo>
                      <a:pt x="117" y="0"/>
                    </a:lnTo>
                    <a:lnTo>
                      <a:pt x="167" y="0"/>
                    </a:lnTo>
                    <a:lnTo>
                      <a:pt x="167" y="11"/>
                    </a:lnTo>
                    <a:lnTo>
                      <a:pt x="228" y="0"/>
                    </a:lnTo>
                    <a:lnTo>
                      <a:pt x="153" y="62"/>
                    </a:lnTo>
                    <a:lnTo>
                      <a:pt x="161" y="63"/>
                    </a:lnTo>
                    <a:lnTo>
                      <a:pt x="169" y="64"/>
                    </a:lnTo>
                    <a:lnTo>
                      <a:pt x="179" y="67"/>
                    </a:lnTo>
                    <a:lnTo>
                      <a:pt x="187" y="70"/>
                    </a:lnTo>
                    <a:lnTo>
                      <a:pt x="196" y="74"/>
                    </a:lnTo>
                    <a:lnTo>
                      <a:pt x="205" y="78"/>
                    </a:lnTo>
                    <a:lnTo>
                      <a:pt x="213" y="83"/>
                    </a:lnTo>
                    <a:lnTo>
                      <a:pt x="220" y="89"/>
                    </a:lnTo>
                    <a:lnTo>
                      <a:pt x="226" y="94"/>
                    </a:lnTo>
                    <a:lnTo>
                      <a:pt x="231" y="101"/>
                    </a:lnTo>
                    <a:lnTo>
                      <a:pt x="236" y="108"/>
                    </a:lnTo>
                    <a:lnTo>
                      <a:pt x="240" y="116"/>
                    </a:lnTo>
                    <a:lnTo>
                      <a:pt x="243" y="123"/>
                    </a:lnTo>
                    <a:lnTo>
                      <a:pt x="244" y="130"/>
                    </a:lnTo>
                    <a:lnTo>
                      <a:pt x="245" y="140"/>
                    </a:lnTo>
                    <a:lnTo>
                      <a:pt x="244" y="150"/>
                    </a:lnTo>
                    <a:lnTo>
                      <a:pt x="242" y="157"/>
                    </a:lnTo>
                    <a:lnTo>
                      <a:pt x="240" y="165"/>
                    </a:lnTo>
                    <a:lnTo>
                      <a:pt x="237" y="171"/>
                    </a:lnTo>
                    <a:lnTo>
                      <a:pt x="232" y="177"/>
                    </a:lnTo>
                    <a:lnTo>
                      <a:pt x="226" y="185"/>
                    </a:lnTo>
                    <a:lnTo>
                      <a:pt x="218" y="193"/>
                    </a:lnTo>
                    <a:lnTo>
                      <a:pt x="209" y="200"/>
                    </a:lnTo>
                    <a:lnTo>
                      <a:pt x="200" y="205"/>
                    </a:lnTo>
                    <a:lnTo>
                      <a:pt x="192" y="209"/>
                    </a:lnTo>
                    <a:lnTo>
                      <a:pt x="184" y="213"/>
                    </a:lnTo>
                    <a:lnTo>
                      <a:pt x="176" y="215"/>
                    </a:lnTo>
                    <a:lnTo>
                      <a:pt x="167" y="217"/>
                    </a:lnTo>
                    <a:lnTo>
                      <a:pt x="161" y="219"/>
                    </a:lnTo>
                    <a:lnTo>
                      <a:pt x="150" y="219"/>
                    </a:lnTo>
                    <a:lnTo>
                      <a:pt x="141" y="220"/>
                    </a:lnTo>
                    <a:lnTo>
                      <a:pt x="99" y="220"/>
                    </a:lnTo>
                    <a:lnTo>
                      <a:pt x="91" y="219"/>
                    </a:lnTo>
                    <a:lnTo>
                      <a:pt x="81" y="218"/>
                    </a:lnTo>
                    <a:lnTo>
                      <a:pt x="67" y="215"/>
                    </a:lnTo>
                    <a:lnTo>
                      <a:pt x="55" y="210"/>
                    </a:lnTo>
                    <a:lnTo>
                      <a:pt x="42" y="204"/>
                    </a:lnTo>
                    <a:lnTo>
                      <a:pt x="31" y="196"/>
                    </a:lnTo>
                    <a:lnTo>
                      <a:pt x="22" y="189"/>
                    </a:lnTo>
                    <a:lnTo>
                      <a:pt x="16" y="183"/>
                    </a:lnTo>
                    <a:lnTo>
                      <a:pt x="10" y="174"/>
                    </a:lnTo>
                    <a:lnTo>
                      <a:pt x="5" y="164"/>
                    </a:lnTo>
                    <a:lnTo>
                      <a:pt x="3" y="157"/>
                    </a:lnTo>
                    <a:lnTo>
                      <a:pt x="1" y="150"/>
                    </a:lnTo>
                    <a:lnTo>
                      <a:pt x="0" y="143"/>
                    </a:lnTo>
                    <a:lnTo>
                      <a:pt x="1" y="137"/>
                    </a:lnTo>
                    <a:lnTo>
                      <a:pt x="2" y="126"/>
                    </a:lnTo>
                    <a:lnTo>
                      <a:pt x="5" y="117"/>
                    </a:lnTo>
                    <a:lnTo>
                      <a:pt x="10" y="106"/>
                    </a:lnTo>
                    <a:lnTo>
                      <a:pt x="18" y="97"/>
                    </a:lnTo>
                    <a:lnTo>
                      <a:pt x="26" y="88"/>
                    </a:lnTo>
                    <a:lnTo>
                      <a:pt x="37" y="80"/>
                    </a:lnTo>
                    <a:lnTo>
                      <a:pt x="47" y="74"/>
                    </a:lnTo>
                    <a:lnTo>
                      <a:pt x="61" y="68"/>
                    </a:lnTo>
                    <a:lnTo>
                      <a:pt x="76" y="64"/>
                    </a:lnTo>
                    <a:lnTo>
                      <a:pt x="86" y="62"/>
                    </a:lnTo>
                    <a:lnTo>
                      <a:pt x="30" y="3"/>
                    </a:lnTo>
                  </a:path>
                </a:pathLst>
              </a:custGeom>
              <a:solidFill>
                <a:schemeClr val="bg2"/>
              </a:solidFill>
              <a:ln w="254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5" name="Rectangle 14">
                <a:extLst>
                  <a:ext uri="{FF2B5EF4-FFF2-40B4-BE49-F238E27FC236}">
                    <a16:creationId xmlns:a16="http://schemas.microsoft.com/office/drawing/2014/main" id="{D48FB8A9-8AC9-40A5-BA2A-E97F246A4A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" y="2535"/>
                <a:ext cx="255" cy="289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pPr algn="ctr" eaLnBrk="0" hangingPunct="0"/>
                <a:r>
                  <a:rPr lang="en-US" b="1">
                    <a:solidFill>
                      <a:srgbClr val="C00000"/>
                    </a:solidFill>
                    <a:latin typeface="FranklinGothic" charset="0"/>
                  </a:rPr>
                  <a:t>D</a:t>
                </a:r>
              </a:p>
            </p:txBody>
          </p:sp>
        </p:grpSp>
        <p:grpSp>
          <p:nvGrpSpPr>
            <p:cNvPr id="171" name="Group 15">
              <a:extLst>
                <a:ext uri="{FF2B5EF4-FFF2-40B4-BE49-F238E27FC236}">
                  <a16:creationId xmlns:a16="http://schemas.microsoft.com/office/drawing/2014/main" id="{A35D18BA-A335-4915-BCA3-556F0465FB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0" y="1479"/>
              <a:ext cx="260" cy="304"/>
              <a:chOff x="440" y="1479"/>
              <a:chExt cx="260" cy="304"/>
            </a:xfrm>
          </p:grpSpPr>
          <p:sp>
            <p:nvSpPr>
              <p:cNvPr id="302" name="Freeform 16">
                <a:extLst>
                  <a:ext uri="{FF2B5EF4-FFF2-40B4-BE49-F238E27FC236}">
                    <a16:creationId xmlns:a16="http://schemas.microsoft.com/office/drawing/2014/main" id="{520D35AB-5C63-40D7-A962-EF11F8DC1C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" y="1479"/>
                <a:ext cx="246" cy="221"/>
              </a:xfrm>
              <a:custGeom>
                <a:avLst/>
                <a:gdLst>
                  <a:gd name="T0" fmla="*/ 69 w 246"/>
                  <a:gd name="T1" fmla="*/ 10 h 221"/>
                  <a:gd name="T2" fmla="*/ 117 w 246"/>
                  <a:gd name="T3" fmla="*/ 12 h 221"/>
                  <a:gd name="T4" fmla="*/ 167 w 246"/>
                  <a:gd name="T5" fmla="*/ 0 h 221"/>
                  <a:gd name="T6" fmla="*/ 228 w 246"/>
                  <a:gd name="T7" fmla="*/ 0 h 221"/>
                  <a:gd name="T8" fmla="*/ 161 w 246"/>
                  <a:gd name="T9" fmla="*/ 63 h 221"/>
                  <a:gd name="T10" fmla="*/ 179 w 246"/>
                  <a:gd name="T11" fmla="*/ 67 h 221"/>
                  <a:gd name="T12" fmla="*/ 196 w 246"/>
                  <a:gd name="T13" fmla="*/ 74 h 221"/>
                  <a:gd name="T14" fmla="*/ 213 w 246"/>
                  <a:gd name="T15" fmla="*/ 83 h 221"/>
                  <a:gd name="T16" fmla="*/ 226 w 246"/>
                  <a:gd name="T17" fmla="*/ 94 h 221"/>
                  <a:gd name="T18" fmla="*/ 236 w 246"/>
                  <a:gd name="T19" fmla="*/ 108 h 221"/>
                  <a:gd name="T20" fmla="*/ 243 w 246"/>
                  <a:gd name="T21" fmla="*/ 123 h 221"/>
                  <a:gd name="T22" fmla="*/ 245 w 246"/>
                  <a:gd name="T23" fmla="*/ 140 h 221"/>
                  <a:gd name="T24" fmla="*/ 242 w 246"/>
                  <a:gd name="T25" fmla="*/ 157 h 221"/>
                  <a:gd name="T26" fmla="*/ 237 w 246"/>
                  <a:gd name="T27" fmla="*/ 171 h 221"/>
                  <a:gd name="T28" fmla="*/ 226 w 246"/>
                  <a:gd name="T29" fmla="*/ 185 h 221"/>
                  <a:gd name="T30" fmla="*/ 209 w 246"/>
                  <a:gd name="T31" fmla="*/ 200 h 221"/>
                  <a:gd name="T32" fmla="*/ 192 w 246"/>
                  <a:gd name="T33" fmla="*/ 209 h 221"/>
                  <a:gd name="T34" fmla="*/ 176 w 246"/>
                  <a:gd name="T35" fmla="*/ 215 h 221"/>
                  <a:gd name="T36" fmla="*/ 161 w 246"/>
                  <a:gd name="T37" fmla="*/ 219 h 221"/>
                  <a:gd name="T38" fmla="*/ 141 w 246"/>
                  <a:gd name="T39" fmla="*/ 220 h 221"/>
                  <a:gd name="T40" fmla="*/ 91 w 246"/>
                  <a:gd name="T41" fmla="*/ 219 h 221"/>
                  <a:gd name="T42" fmla="*/ 67 w 246"/>
                  <a:gd name="T43" fmla="*/ 215 h 221"/>
                  <a:gd name="T44" fmla="*/ 42 w 246"/>
                  <a:gd name="T45" fmla="*/ 204 h 221"/>
                  <a:gd name="T46" fmla="*/ 22 w 246"/>
                  <a:gd name="T47" fmla="*/ 189 h 221"/>
                  <a:gd name="T48" fmla="*/ 10 w 246"/>
                  <a:gd name="T49" fmla="*/ 174 h 221"/>
                  <a:gd name="T50" fmla="*/ 3 w 246"/>
                  <a:gd name="T51" fmla="*/ 157 h 221"/>
                  <a:gd name="T52" fmla="*/ 0 w 246"/>
                  <a:gd name="T53" fmla="*/ 143 h 221"/>
                  <a:gd name="T54" fmla="*/ 2 w 246"/>
                  <a:gd name="T55" fmla="*/ 126 h 221"/>
                  <a:gd name="T56" fmla="*/ 10 w 246"/>
                  <a:gd name="T57" fmla="*/ 106 h 221"/>
                  <a:gd name="T58" fmla="*/ 26 w 246"/>
                  <a:gd name="T59" fmla="*/ 88 h 221"/>
                  <a:gd name="T60" fmla="*/ 47 w 246"/>
                  <a:gd name="T61" fmla="*/ 74 h 221"/>
                  <a:gd name="T62" fmla="*/ 76 w 246"/>
                  <a:gd name="T63" fmla="*/ 64 h 221"/>
                  <a:gd name="T64" fmla="*/ 30 w 246"/>
                  <a:gd name="T65" fmla="*/ 3 h 221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46"/>
                  <a:gd name="T100" fmla="*/ 0 h 221"/>
                  <a:gd name="T101" fmla="*/ 246 w 246"/>
                  <a:gd name="T102" fmla="*/ 221 h 221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46" h="221">
                    <a:moveTo>
                      <a:pt x="30" y="3"/>
                    </a:moveTo>
                    <a:lnTo>
                      <a:pt x="69" y="10"/>
                    </a:lnTo>
                    <a:lnTo>
                      <a:pt x="69" y="0"/>
                    </a:lnTo>
                    <a:lnTo>
                      <a:pt x="117" y="12"/>
                    </a:lnTo>
                    <a:lnTo>
                      <a:pt x="117" y="0"/>
                    </a:lnTo>
                    <a:lnTo>
                      <a:pt x="167" y="0"/>
                    </a:lnTo>
                    <a:lnTo>
                      <a:pt x="167" y="11"/>
                    </a:lnTo>
                    <a:lnTo>
                      <a:pt x="228" y="0"/>
                    </a:lnTo>
                    <a:lnTo>
                      <a:pt x="153" y="62"/>
                    </a:lnTo>
                    <a:lnTo>
                      <a:pt x="161" y="63"/>
                    </a:lnTo>
                    <a:lnTo>
                      <a:pt x="169" y="64"/>
                    </a:lnTo>
                    <a:lnTo>
                      <a:pt x="179" y="67"/>
                    </a:lnTo>
                    <a:lnTo>
                      <a:pt x="187" y="70"/>
                    </a:lnTo>
                    <a:lnTo>
                      <a:pt x="196" y="74"/>
                    </a:lnTo>
                    <a:lnTo>
                      <a:pt x="205" y="78"/>
                    </a:lnTo>
                    <a:lnTo>
                      <a:pt x="213" y="83"/>
                    </a:lnTo>
                    <a:lnTo>
                      <a:pt x="220" y="89"/>
                    </a:lnTo>
                    <a:lnTo>
                      <a:pt x="226" y="94"/>
                    </a:lnTo>
                    <a:lnTo>
                      <a:pt x="231" y="101"/>
                    </a:lnTo>
                    <a:lnTo>
                      <a:pt x="236" y="108"/>
                    </a:lnTo>
                    <a:lnTo>
                      <a:pt x="240" y="116"/>
                    </a:lnTo>
                    <a:lnTo>
                      <a:pt x="243" y="123"/>
                    </a:lnTo>
                    <a:lnTo>
                      <a:pt x="244" y="130"/>
                    </a:lnTo>
                    <a:lnTo>
                      <a:pt x="245" y="140"/>
                    </a:lnTo>
                    <a:lnTo>
                      <a:pt x="244" y="150"/>
                    </a:lnTo>
                    <a:lnTo>
                      <a:pt x="242" y="157"/>
                    </a:lnTo>
                    <a:lnTo>
                      <a:pt x="240" y="165"/>
                    </a:lnTo>
                    <a:lnTo>
                      <a:pt x="237" y="171"/>
                    </a:lnTo>
                    <a:lnTo>
                      <a:pt x="232" y="177"/>
                    </a:lnTo>
                    <a:lnTo>
                      <a:pt x="226" y="185"/>
                    </a:lnTo>
                    <a:lnTo>
                      <a:pt x="218" y="193"/>
                    </a:lnTo>
                    <a:lnTo>
                      <a:pt x="209" y="200"/>
                    </a:lnTo>
                    <a:lnTo>
                      <a:pt x="200" y="205"/>
                    </a:lnTo>
                    <a:lnTo>
                      <a:pt x="192" y="209"/>
                    </a:lnTo>
                    <a:lnTo>
                      <a:pt x="184" y="213"/>
                    </a:lnTo>
                    <a:lnTo>
                      <a:pt x="176" y="215"/>
                    </a:lnTo>
                    <a:lnTo>
                      <a:pt x="167" y="217"/>
                    </a:lnTo>
                    <a:lnTo>
                      <a:pt x="161" y="219"/>
                    </a:lnTo>
                    <a:lnTo>
                      <a:pt x="150" y="219"/>
                    </a:lnTo>
                    <a:lnTo>
                      <a:pt x="141" y="220"/>
                    </a:lnTo>
                    <a:lnTo>
                      <a:pt x="99" y="220"/>
                    </a:lnTo>
                    <a:lnTo>
                      <a:pt x="91" y="219"/>
                    </a:lnTo>
                    <a:lnTo>
                      <a:pt x="81" y="218"/>
                    </a:lnTo>
                    <a:lnTo>
                      <a:pt x="67" y="215"/>
                    </a:lnTo>
                    <a:lnTo>
                      <a:pt x="55" y="210"/>
                    </a:lnTo>
                    <a:lnTo>
                      <a:pt x="42" y="204"/>
                    </a:lnTo>
                    <a:lnTo>
                      <a:pt x="31" y="196"/>
                    </a:lnTo>
                    <a:lnTo>
                      <a:pt x="22" y="189"/>
                    </a:lnTo>
                    <a:lnTo>
                      <a:pt x="16" y="183"/>
                    </a:lnTo>
                    <a:lnTo>
                      <a:pt x="10" y="174"/>
                    </a:lnTo>
                    <a:lnTo>
                      <a:pt x="5" y="164"/>
                    </a:lnTo>
                    <a:lnTo>
                      <a:pt x="3" y="157"/>
                    </a:lnTo>
                    <a:lnTo>
                      <a:pt x="1" y="150"/>
                    </a:lnTo>
                    <a:lnTo>
                      <a:pt x="0" y="143"/>
                    </a:lnTo>
                    <a:lnTo>
                      <a:pt x="1" y="137"/>
                    </a:lnTo>
                    <a:lnTo>
                      <a:pt x="2" y="126"/>
                    </a:lnTo>
                    <a:lnTo>
                      <a:pt x="5" y="117"/>
                    </a:lnTo>
                    <a:lnTo>
                      <a:pt x="10" y="106"/>
                    </a:lnTo>
                    <a:lnTo>
                      <a:pt x="18" y="97"/>
                    </a:lnTo>
                    <a:lnTo>
                      <a:pt x="26" y="88"/>
                    </a:lnTo>
                    <a:lnTo>
                      <a:pt x="37" y="80"/>
                    </a:lnTo>
                    <a:lnTo>
                      <a:pt x="47" y="74"/>
                    </a:lnTo>
                    <a:lnTo>
                      <a:pt x="61" y="68"/>
                    </a:lnTo>
                    <a:lnTo>
                      <a:pt x="76" y="64"/>
                    </a:lnTo>
                    <a:lnTo>
                      <a:pt x="86" y="62"/>
                    </a:lnTo>
                    <a:lnTo>
                      <a:pt x="30" y="3"/>
                    </a:lnTo>
                  </a:path>
                </a:pathLst>
              </a:custGeom>
              <a:solidFill>
                <a:schemeClr val="bg2"/>
              </a:solidFill>
              <a:ln w="254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3" name="Rectangle 17">
                <a:extLst>
                  <a:ext uri="{FF2B5EF4-FFF2-40B4-BE49-F238E27FC236}">
                    <a16:creationId xmlns:a16="http://schemas.microsoft.com/office/drawing/2014/main" id="{73A455B4-1695-4C58-81EE-3F318BF318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" y="1494"/>
                <a:ext cx="255" cy="289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square" lIns="90488" tIns="44450" rIns="90488" bIns="44450">
                <a:spAutoFit/>
              </a:bodyPr>
              <a:lstStyle/>
              <a:p>
                <a:pPr algn="ctr" eaLnBrk="0" hangingPunct="0"/>
                <a:r>
                  <a:rPr lang="en-US" b="1" dirty="0">
                    <a:solidFill>
                      <a:srgbClr val="C00000"/>
                    </a:solidFill>
                    <a:latin typeface="FranklinGothic" charset="0"/>
                  </a:rPr>
                  <a:t>A</a:t>
                </a:r>
              </a:p>
            </p:txBody>
          </p:sp>
        </p:grpSp>
        <p:sp>
          <p:nvSpPr>
            <p:cNvPr id="172" name="Line 18">
              <a:extLst>
                <a:ext uri="{FF2B5EF4-FFF2-40B4-BE49-F238E27FC236}">
                  <a16:creationId xmlns:a16="http://schemas.microsoft.com/office/drawing/2014/main" id="{D7377802-0453-4409-B5F8-823F682720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9" y="1371"/>
              <a:ext cx="3" cy="13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3" name="Rectangle 19">
              <a:extLst>
                <a:ext uri="{FF2B5EF4-FFF2-40B4-BE49-F238E27FC236}">
                  <a16:creationId xmlns:a16="http://schemas.microsoft.com/office/drawing/2014/main" id="{2BB01EEE-3DD6-4AFC-BB40-0043BEA907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2" y="1104"/>
              <a:ext cx="541" cy="28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i="1">
                  <a:latin typeface="FranklinGothic" charset="0"/>
                </a:rPr>
                <a:t>Time</a:t>
              </a:r>
            </a:p>
          </p:txBody>
        </p:sp>
        <p:sp>
          <p:nvSpPr>
            <p:cNvPr id="174" name="Rectangle 20">
              <a:extLst>
                <a:ext uri="{FF2B5EF4-FFF2-40B4-BE49-F238E27FC236}">
                  <a16:creationId xmlns:a16="http://schemas.microsoft.com/office/drawing/2014/main" id="{E9CCA826-F0C6-42B0-A6E1-1E73F5D9A7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" y="658"/>
              <a:ext cx="487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2000" b="1">
                  <a:latin typeface="FranklinGothic" charset="0"/>
                </a:rPr>
                <a:t>6 PM</a:t>
              </a:r>
            </a:p>
          </p:txBody>
        </p:sp>
        <p:sp>
          <p:nvSpPr>
            <p:cNvPr id="175" name="Rectangle 21">
              <a:extLst>
                <a:ext uri="{FF2B5EF4-FFF2-40B4-BE49-F238E27FC236}">
                  <a16:creationId xmlns:a16="http://schemas.microsoft.com/office/drawing/2014/main" id="{199089ED-C7BD-42B5-855B-49C9E24D92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9" y="669"/>
              <a:ext cx="203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2000" b="1">
                  <a:latin typeface="FranklinGothic" charset="0"/>
                </a:rPr>
                <a:t>7</a:t>
              </a:r>
            </a:p>
          </p:txBody>
        </p:sp>
        <p:sp>
          <p:nvSpPr>
            <p:cNvPr id="176" name="Rectangle 22">
              <a:extLst>
                <a:ext uri="{FF2B5EF4-FFF2-40B4-BE49-F238E27FC236}">
                  <a16:creationId xmlns:a16="http://schemas.microsoft.com/office/drawing/2014/main" id="{80106276-E39B-4688-A556-0AAB0499B2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5" y="664"/>
              <a:ext cx="203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2000" b="1">
                  <a:latin typeface="FranklinGothic" charset="0"/>
                </a:rPr>
                <a:t>8</a:t>
              </a:r>
            </a:p>
          </p:txBody>
        </p:sp>
        <p:sp>
          <p:nvSpPr>
            <p:cNvPr id="177" name="Rectangle 23">
              <a:extLst>
                <a:ext uri="{FF2B5EF4-FFF2-40B4-BE49-F238E27FC236}">
                  <a16:creationId xmlns:a16="http://schemas.microsoft.com/office/drawing/2014/main" id="{638B1033-5342-47E1-B771-F4E118BE90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6" y="681"/>
              <a:ext cx="203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2000" b="1">
                  <a:latin typeface="FranklinGothic" charset="0"/>
                </a:rPr>
                <a:t>9</a:t>
              </a:r>
            </a:p>
          </p:txBody>
        </p:sp>
        <p:sp>
          <p:nvSpPr>
            <p:cNvPr id="178" name="Rectangle 24">
              <a:extLst>
                <a:ext uri="{FF2B5EF4-FFF2-40B4-BE49-F238E27FC236}">
                  <a16:creationId xmlns:a16="http://schemas.microsoft.com/office/drawing/2014/main" id="{F26249D7-3259-41EF-8F0D-0E2A8E08A0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0" y="671"/>
              <a:ext cx="292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2000" b="1">
                  <a:latin typeface="FranklinGothic" charset="0"/>
                </a:rPr>
                <a:t>10</a:t>
              </a:r>
            </a:p>
          </p:txBody>
        </p:sp>
        <p:sp>
          <p:nvSpPr>
            <p:cNvPr id="179" name="Rectangle 25">
              <a:extLst>
                <a:ext uri="{FF2B5EF4-FFF2-40B4-BE49-F238E27FC236}">
                  <a16:creationId xmlns:a16="http://schemas.microsoft.com/office/drawing/2014/main" id="{5CDB1365-BE6E-4330-BD13-05DC468A4D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6" y="669"/>
              <a:ext cx="292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2000" b="1">
                  <a:latin typeface="FranklinGothic" charset="0"/>
                </a:rPr>
                <a:t>11</a:t>
              </a:r>
            </a:p>
          </p:txBody>
        </p:sp>
        <p:sp>
          <p:nvSpPr>
            <p:cNvPr id="180" name="Rectangle 26">
              <a:extLst>
                <a:ext uri="{FF2B5EF4-FFF2-40B4-BE49-F238E27FC236}">
                  <a16:creationId xmlns:a16="http://schemas.microsoft.com/office/drawing/2014/main" id="{A8CEE528-8805-47F1-A924-EDC1A3760F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5" y="652"/>
              <a:ext cx="292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/>
              <a:r>
                <a:rPr lang="en-US" sz="2000" b="1">
                  <a:latin typeface="FranklinGothic" charset="0"/>
                </a:rPr>
                <a:t>12</a:t>
              </a:r>
            </a:p>
          </p:txBody>
        </p:sp>
        <p:sp>
          <p:nvSpPr>
            <p:cNvPr id="181" name="Rectangle 27">
              <a:extLst>
                <a:ext uri="{FF2B5EF4-FFF2-40B4-BE49-F238E27FC236}">
                  <a16:creationId xmlns:a16="http://schemas.microsoft.com/office/drawing/2014/main" id="{96542A1E-D0DD-4BF1-869F-A2EF5FB361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16" y="663"/>
              <a:ext cx="203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/>
              <a:r>
                <a:rPr lang="en-US" sz="2000" b="1">
                  <a:latin typeface="FranklinGothic" charset="0"/>
                </a:rPr>
                <a:t>1</a:t>
              </a:r>
            </a:p>
          </p:txBody>
        </p:sp>
        <p:sp>
          <p:nvSpPr>
            <p:cNvPr id="182" name="Line 28">
              <a:extLst>
                <a:ext uri="{FF2B5EF4-FFF2-40B4-BE49-F238E27FC236}">
                  <a16:creationId xmlns:a16="http://schemas.microsoft.com/office/drawing/2014/main" id="{7CFF6493-C2DE-4982-A30D-C1A5D2477D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6" y="978"/>
              <a:ext cx="47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3" name="Rectangle 29">
              <a:extLst>
                <a:ext uri="{FF2B5EF4-FFF2-40B4-BE49-F238E27FC236}">
                  <a16:creationId xmlns:a16="http://schemas.microsoft.com/office/drawing/2014/main" id="{2A2CC6BA-995A-4621-80E1-B19D14F30B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20" y="646"/>
              <a:ext cx="496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/>
              <a:r>
                <a:rPr lang="en-US" sz="2000" b="1">
                  <a:latin typeface="FranklinGothic" charset="0"/>
                </a:rPr>
                <a:t>2 AM</a:t>
              </a:r>
            </a:p>
          </p:txBody>
        </p:sp>
        <p:sp>
          <p:nvSpPr>
            <p:cNvPr id="184" name="Line 104">
              <a:extLst>
                <a:ext uri="{FF2B5EF4-FFF2-40B4-BE49-F238E27FC236}">
                  <a16:creationId xmlns:a16="http://schemas.microsoft.com/office/drawing/2014/main" id="{17090B56-6B57-4A2D-A4F8-CA356A231E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6" y="873"/>
              <a:ext cx="0" cy="18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85" name="Group 250">
              <a:extLst>
                <a:ext uri="{FF2B5EF4-FFF2-40B4-BE49-F238E27FC236}">
                  <a16:creationId xmlns:a16="http://schemas.microsoft.com/office/drawing/2014/main" id="{30363C9B-5AC0-4AF6-B05F-C329D3DB9C1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8" y="1392"/>
              <a:ext cx="1064" cy="310"/>
              <a:chOff x="768" y="1392"/>
              <a:chExt cx="1064" cy="310"/>
            </a:xfrm>
          </p:grpSpPr>
          <p:grpSp>
            <p:nvGrpSpPr>
              <p:cNvPr id="284" name="Group 230">
                <a:extLst>
                  <a:ext uri="{FF2B5EF4-FFF2-40B4-BE49-F238E27FC236}">
                    <a16:creationId xmlns:a16="http://schemas.microsoft.com/office/drawing/2014/main" id="{26B40F9F-5683-42F5-A76D-9A15C2C023F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68" y="1392"/>
                <a:ext cx="206" cy="310"/>
                <a:chOff x="1013" y="1348"/>
                <a:chExt cx="206" cy="310"/>
              </a:xfrm>
            </p:grpSpPr>
            <p:sp>
              <p:nvSpPr>
                <p:cNvPr id="299" name="AutoShape 231">
                  <a:extLst>
                    <a:ext uri="{FF2B5EF4-FFF2-40B4-BE49-F238E27FC236}">
                      <a16:creationId xmlns:a16="http://schemas.microsoft.com/office/drawing/2014/main" id="{01E9C777-833B-47E4-923A-A89C7411470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13" y="1398"/>
                  <a:ext cx="206" cy="260"/>
                </a:xfrm>
                <a:prstGeom prst="cube">
                  <a:avLst>
                    <a:gd name="adj" fmla="val 24995"/>
                  </a:avLst>
                </a:prstGeom>
                <a:solidFill>
                  <a:srgbClr val="DC008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00" name="AutoShape 232">
                  <a:extLst>
                    <a:ext uri="{FF2B5EF4-FFF2-40B4-BE49-F238E27FC236}">
                      <a16:creationId xmlns:a16="http://schemas.microsoft.com/office/drawing/2014/main" id="{6D772263-BA6B-46D2-AA4A-AD15C397FB6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61" y="1348"/>
                  <a:ext cx="158" cy="46"/>
                </a:xfrm>
                <a:prstGeom prst="cube">
                  <a:avLst>
                    <a:gd name="adj" fmla="val 24995"/>
                  </a:avLst>
                </a:prstGeom>
                <a:solidFill>
                  <a:srgbClr val="DC008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01" name="AutoShape 233">
                  <a:extLst>
                    <a:ext uri="{FF2B5EF4-FFF2-40B4-BE49-F238E27FC236}">
                      <a16:creationId xmlns:a16="http://schemas.microsoft.com/office/drawing/2014/main" id="{CBC88E15-9490-4C12-A35E-A64026C6498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52" y="1419"/>
                  <a:ext cx="108" cy="15"/>
                </a:xfrm>
                <a:prstGeom prst="parallelogram">
                  <a:avLst>
                    <a:gd name="adj" fmla="val 179967"/>
                  </a:avLst>
                </a:prstGeom>
                <a:solidFill>
                  <a:srgbClr val="DC008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85" name="Group 234">
                <a:extLst>
                  <a:ext uri="{FF2B5EF4-FFF2-40B4-BE49-F238E27FC236}">
                    <a16:creationId xmlns:a16="http://schemas.microsoft.com/office/drawing/2014/main" id="{FAC04F3B-1049-43C7-BC6C-08A99641D6C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44" y="1440"/>
                <a:ext cx="203" cy="257"/>
                <a:chOff x="1531" y="1389"/>
                <a:chExt cx="203" cy="257"/>
              </a:xfrm>
            </p:grpSpPr>
            <p:sp>
              <p:nvSpPr>
                <p:cNvPr id="293" name="Freeform 235">
                  <a:extLst>
                    <a:ext uri="{FF2B5EF4-FFF2-40B4-BE49-F238E27FC236}">
                      <a16:creationId xmlns:a16="http://schemas.microsoft.com/office/drawing/2014/main" id="{15A30A02-FACE-44F1-B2DE-BFCD02BCD83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60" y="1506"/>
                  <a:ext cx="62" cy="140"/>
                </a:xfrm>
                <a:custGeom>
                  <a:avLst/>
                  <a:gdLst>
                    <a:gd name="T0" fmla="*/ 44 w 62"/>
                    <a:gd name="T1" fmla="*/ 0 h 140"/>
                    <a:gd name="T2" fmla="*/ 61 w 62"/>
                    <a:gd name="T3" fmla="*/ 0 h 140"/>
                    <a:gd name="T4" fmla="*/ 17 w 62"/>
                    <a:gd name="T5" fmla="*/ 139 h 140"/>
                    <a:gd name="T6" fmla="*/ 0 w 62"/>
                    <a:gd name="T7" fmla="*/ 139 h 140"/>
                    <a:gd name="T8" fmla="*/ 44 w 62"/>
                    <a:gd name="T9" fmla="*/ 0 h 1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2"/>
                    <a:gd name="T16" fmla="*/ 0 h 140"/>
                    <a:gd name="T17" fmla="*/ 62 w 62"/>
                    <a:gd name="T18" fmla="*/ 140 h 1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2" h="140">
                      <a:moveTo>
                        <a:pt x="44" y="0"/>
                      </a:moveTo>
                      <a:lnTo>
                        <a:pt x="61" y="0"/>
                      </a:lnTo>
                      <a:lnTo>
                        <a:pt x="17" y="139"/>
                      </a:lnTo>
                      <a:lnTo>
                        <a:pt x="0" y="139"/>
                      </a:lnTo>
                      <a:lnTo>
                        <a:pt x="44" y="0"/>
                      </a:lnTo>
                    </a:path>
                  </a:pathLst>
                </a:custGeom>
                <a:solidFill>
                  <a:srgbClr val="F39FD1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4" name="Rectangle 236">
                  <a:extLst>
                    <a:ext uri="{FF2B5EF4-FFF2-40B4-BE49-F238E27FC236}">
                      <a16:creationId xmlns:a16="http://schemas.microsoft.com/office/drawing/2014/main" id="{7DF6D87E-1964-47CF-B3CF-F18AB956B7E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57" y="1506"/>
                  <a:ext cx="77" cy="12"/>
                </a:xfrm>
                <a:prstGeom prst="rect">
                  <a:avLst/>
                </a:prstGeom>
                <a:solidFill>
                  <a:srgbClr val="F39FD1"/>
                </a:solidFill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95" name="Rectangle 237">
                  <a:extLst>
                    <a:ext uri="{FF2B5EF4-FFF2-40B4-BE49-F238E27FC236}">
                      <a16:creationId xmlns:a16="http://schemas.microsoft.com/office/drawing/2014/main" id="{04F57ECA-C50A-48BF-8329-D893A770D4D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3" y="1564"/>
                  <a:ext cx="58" cy="12"/>
                </a:xfrm>
                <a:prstGeom prst="rect">
                  <a:avLst/>
                </a:prstGeom>
                <a:solidFill>
                  <a:srgbClr val="F39FD1"/>
                </a:solidFill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96" name="Rectangle 238">
                  <a:extLst>
                    <a:ext uri="{FF2B5EF4-FFF2-40B4-BE49-F238E27FC236}">
                      <a16:creationId xmlns:a16="http://schemas.microsoft.com/office/drawing/2014/main" id="{60B8EF87-3A49-47BD-932D-B633D74A8D2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32" y="1564"/>
                  <a:ext cx="74" cy="7"/>
                </a:xfrm>
                <a:prstGeom prst="rect">
                  <a:avLst/>
                </a:prstGeom>
                <a:solidFill>
                  <a:srgbClr val="F39FD1"/>
                </a:solidFill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97" name="Oval 239">
                  <a:extLst>
                    <a:ext uri="{FF2B5EF4-FFF2-40B4-BE49-F238E27FC236}">
                      <a16:creationId xmlns:a16="http://schemas.microsoft.com/office/drawing/2014/main" id="{AC3BCEFC-AF25-43A1-A17B-6B12368F0B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92" y="1389"/>
                  <a:ext cx="22" cy="25"/>
                </a:xfrm>
                <a:prstGeom prst="ellipse">
                  <a:avLst/>
                </a:prstGeom>
                <a:solidFill>
                  <a:srgbClr val="F39FD1"/>
                </a:solidFill>
                <a:ln w="254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98" name="Freeform 240">
                  <a:extLst>
                    <a:ext uri="{FF2B5EF4-FFF2-40B4-BE49-F238E27FC236}">
                      <a16:creationId xmlns:a16="http://schemas.microsoft.com/office/drawing/2014/main" id="{EB00E140-7954-49CD-A0C2-B7BA5E36611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31" y="1433"/>
                  <a:ext cx="139" cy="213"/>
                </a:xfrm>
                <a:custGeom>
                  <a:avLst/>
                  <a:gdLst>
                    <a:gd name="T0" fmla="*/ 1 w 139"/>
                    <a:gd name="T1" fmla="*/ 98 h 213"/>
                    <a:gd name="T2" fmla="*/ 1 w 139"/>
                    <a:gd name="T3" fmla="*/ 101 h 213"/>
                    <a:gd name="T4" fmla="*/ 0 w 139"/>
                    <a:gd name="T5" fmla="*/ 104 h 213"/>
                    <a:gd name="T6" fmla="*/ 0 w 139"/>
                    <a:gd name="T7" fmla="*/ 108 h 213"/>
                    <a:gd name="T8" fmla="*/ 1 w 139"/>
                    <a:gd name="T9" fmla="*/ 111 h 213"/>
                    <a:gd name="T10" fmla="*/ 3 w 139"/>
                    <a:gd name="T11" fmla="*/ 114 h 213"/>
                    <a:gd name="T12" fmla="*/ 6 w 139"/>
                    <a:gd name="T13" fmla="*/ 117 h 213"/>
                    <a:gd name="T14" fmla="*/ 9 w 139"/>
                    <a:gd name="T15" fmla="*/ 119 h 213"/>
                    <a:gd name="T16" fmla="*/ 11 w 139"/>
                    <a:gd name="T17" fmla="*/ 119 h 213"/>
                    <a:gd name="T18" fmla="*/ 15 w 139"/>
                    <a:gd name="T19" fmla="*/ 119 h 213"/>
                    <a:gd name="T20" fmla="*/ 90 w 139"/>
                    <a:gd name="T21" fmla="*/ 212 h 213"/>
                    <a:gd name="T22" fmla="*/ 114 w 139"/>
                    <a:gd name="T23" fmla="*/ 102 h 213"/>
                    <a:gd name="T24" fmla="*/ 113 w 139"/>
                    <a:gd name="T25" fmla="*/ 99 h 213"/>
                    <a:gd name="T26" fmla="*/ 112 w 139"/>
                    <a:gd name="T27" fmla="*/ 98 h 213"/>
                    <a:gd name="T28" fmla="*/ 110 w 139"/>
                    <a:gd name="T29" fmla="*/ 96 h 213"/>
                    <a:gd name="T30" fmla="*/ 108 w 139"/>
                    <a:gd name="T31" fmla="*/ 94 h 213"/>
                    <a:gd name="T32" fmla="*/ 106 w 139"/>
                    <a:gd name="T33" fmla="*/ 93 h 213"/>
                    <a:gd name="T34" fmla="*/ 103 w 139"/>
                    <a:gd name="T35" fmla="*/ 93 h 213"/>
                    <a:gd name="T36" fmla="*/ 100 w 139"/>
                    <a:gd name="T37" fmla="*/ 93 h 213"/>
                    <a:gd name="T38" fmla="*/ 98 w 139"/>
                    <a:gd name="T39" fmla="*/ 93 h 213"/>
                    <a:gd name="T40" fmla="*/ 67 w 139"/>
                    <a:gd name="T41" fmla="*/ 54 h 213"/>
                    <a:gd name="T42" fmla="*/ 128 w 139"/>
                    <a:gd name="T43" fmla="*/ 67 h 213"/>
                    <a:gd name="T44" fmla="*/ 131 w 139"/>
                    <a:gd name="T45" fmla="*/ 66 h 213"/>
                    <a:gd name="T46" fmla="*/ 132 w 139"/>
                    <a:gd name="T47" fmla="*/ 66 h 213"/>
                    <a:gd name="T48" fmla="*/ 135 w 139"/>
                    <a:gd name="T49" fmla="*/ 64 h 213"/>
                    <a:gd name="T50" fmla="*/ 137 w 139"/>
                    <a:gd name="T51" fmla="*/ 62 h 213"/>
                    <a:gd name="T52" fmla="*/ 137 w 139"/>
                    <a:gd name="T53" fmla="*/ 59 h 213"/>
                    <a:gd name="T54" fmla="*/ 138 w 139"/>
                    <a:gd name="T55" fmla="*/ 56 h 213"/>
                    <a:gd name="T56" fmla="*/ 137 w 139"/>
                    <a:gd name="T57" fmla="*/ 53 h 213"/>
                    <a:gd name="T58" fmla="*/ 136 w 139"/>
                    <a:gd name="T59" fmla="*/ 51 h 213"/>
                    <a:gd name="T60" fmla="*/ 134 w 139"/>
                    <a:gd name="T61" fmla="*/ 49 h 213"/>
                    <a:gd name="T62" fmla="*/ 132 w 139"/>
                    <a:gd name="T63" fmla="*/ 47 h 213"/>
                    <a:gd name="T64" fmla="*/ 129 w 139"/>
                    <a:gd name="T65" fmla="*/ 46 h 213"/>
                    <a:gd name="T66" fmla="*/ 87 w 139"/>
                    <a:gd name="T67" fmla="*/ 46 h 213"/>
                    <a:gd name="T68" fmla="*/ 80 w 139"/>
                    <a:gd name="T69" fmla="*/ 30 h 213"/>
                    <a:gd name="T70" fmla="*/ 81 w 139"/>
                    <a:gd name="T71" fmla="*/ 26 h 213"/>
                    <a:gd name="T72" fmla="*/ 81 w 139"/>
                    <a:gd name="T73" fmla="*/ 22 h 213"/>
                    <a:gd name="T74" fmla="*/ 81 w 139"/>
                    <a:gd name="T75" fmla="*/ 18 h 213"/>
                    <a:gd name="T76" fmla="*/ 80 w 139"/>
                    <a:gd name="T77" fmla="*/ 14 h 213"/>
                    <a:gd name="T78" fmla="*/ 79 w 139"/>
                    <a:gd name="T79" fmla="*/ 11 h 213"/>
                    <a:gd name="T80" fmla="*/ 76 w 139"/>
                    <a:gd name="T81" fmla="*/ 8 h 213"/>
                    <a:gd name="T82" fmla="*/ 73 w 139"/>
                    <a:gd name="T83" fmla="*/ 5 h 213"/>
                    <a:gd name="T84" fmla="*/ 70 w 139"/>
                    <a:gd name="T85" fmla="*/ 3 h 213"/>
                    <a:gd name="T86" fmla="*/ 67 w 139"/>
                    <a:gd name="T87" fmla="*/ 1 h 213"/>
                    <a:gd name="T88" fmla="*/ 62 w 139"/>
                    <a:gd name="T89" fmla="*/ 0 h 213"/>
                    <a:gd name="T90" fmla="*/ 58 w 139"/>
                    <a:gd name="T91" fmla="*/ 0 h 213"/>
                    <a:gd name="T92" fmla="*/ 54 w 139"/>
                    <a:gd name="T93" fmla="*/ 1 h 213"/>
                    <a:gd name="T94" fmla="*/ 49 w 139"/>
                    <a:gd name="T95" fmla="*/ 2 h 213"/>
                    <a:gd name="T96" fmla="*/ 45 w 139"/>
                    <a:gd name="T97" fmla="*/ 4 h 213"/>
                    <a:gd name="T98" fmla="*/ 42 w 139"/>
                    <a:gd name="T99" fmla="*/ 8 h 213"/>
                    <a:gd name="T100" fmla="*/ 39 w 139"/>
                    <a:gd name="T101" fmla="*/ 12 h 213"/>
                    <a:gd name="T102" fmla="*/ 38 w 139"/>
                    <a:gd name="T103" fmla="*/ 16 h 213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w 139"/>
                    <a:gd name="T157" fmla="*/ 0 h 213"/>
                    <a:gd name="T158" fmla="*/ 139 w 139"/>
                    <a:gd name="T159" fmla="*/ 213 h 213"/>
                  </a:gdLst>
                  <a:ahLst/>
                  <a:cxnLst>
                    <a:cxn ang="T104">
                      <a:pos x="T0" y="T1"/>
                    </a:cxn>
                    <a:cxn ang="T105">
                      <a:pos x="T2" y="T3"/>
                    </a:cxn>
                    <a:cxn ang="T106">
                      <a:pos x="T4" y="T5"/>
                    </a:cxn>
                    <a:cxn ang="T107">
                      <a:pos x="T6" y="T7"/>
                    </a:cxn>
                    <a:cxn ang="T108">
                      <a:pos x="T8" y="T9"/>
                    </a:cxn>
                    <a:cxn ang="T109">
                      <a:pos x="T10" y="T11"/>
                    </a:cxn>
                    <a:cxn ang="T110">
                      <a:pos x="T12" y="T13"/>
                    </a:cxn>
                    <a:cxn ang="T111">
                      <a:pos x="T14" y="T15"/>
                    </a:cxn>
                    <a:cxn ang="T112">
                      <a:pos x="T16" y="T17"/>
                    </a:cxn>
                    <a:cxn ang="T113">
                      <a:pos x="T18" y="T19"/>
                    </a:cxn>
                    <a:cxn ang="T114">
                      <a:pos x="T20" y="T21"/>
                    </a:cxn>
                    <a:cxn ang="T115">
                      <a:pos x="T22" y="T23"/>
                    </a:cxn>
                    <a:cxn ang="T116">
                      <a:pos x="T24" y="T25"/>
                    </a:cxn>
                    <a:cxn ang="T117">
                      <a:pos x="T26" y="T27"/>
                    </a:cxn>
                    <a:cxn ang="T118">
                      <a:pos x="T28" y="T29"/>
                    </a:cxn>
                    <a:cxn ang="T119">
                      <a:pos x="T30" y="T31"/>
                    </a:cxn>
                    <a:cxn ang="T120">
                      <a:pos x="T32" y="T33"/>
                    </a:cxn>
                    <a:cxn ang="T121">
                      <a:pos x="T34" y="T35"/>
                    </a:cxn>
                    <a:cxn ang="T122">
                      <a:pos x="T36" y="T37"/>
                    </a:cxn>
                    <a:cxn ang="T123">
                      <a:pos x="T38" y="T39"/>
                    </a:cxn>
                    <a:cxn ang="T124">
                      <a:pos x="T40" y="T41"/>
                    </a:cxn>
                    <a:cxn ang="T125">
                      <a:pos x="T42" y="T43"/>
                    </a:cxn>
                    <a:cxn ang="T126">
                      <a:pos x="T44" y="T45"/>
                    </a:cxn>
                    <a:cxn ang="T127">
                      <a:pos x="T46" y="T47"/>
                    </a:cxn>
                    <a:cxn ang="T128">
                      <a:pos x="T48" y="T49"/>
                    </a:cxn>
                    <a:cxn ang="T129">
                      <a:pos x="T50" y="T51"/>
                    </a:cxn>
                    <a:cxn ang="T130">
                      <a:pos x="T52" y="T53"/>
                    </a:cxn>
                    <a:cxn ang="T131">
                      <a:pos x="T54" y="T55"/>
                    </a:cxn>
                    <a:cxn ang="T132">
                      <a:pos x="T56" y="T57"/>
                    </a:cxn>
                    <a:cxn ang="T133">
                      <a:pos x="T58" y="T59"/>
                    </a:cxn>
                    <a:cxn ang="T134">
                      <a:pos x="T60" y="T61"/>
                    </a:cxn>
                    <a:cxn ang="T135">
                      <a:pos x="T62" y="T63"/>
                    </a:cxn>
                    <a:cxn ang="T136">
                      <a:pos x="T64" y="T65"/>
                    </a:cxn>
                    <a:cxn ang="T137">
                      <a:pos x="T66" y="T67"/>
                    </a:cxn>
                    <a:cxn ang="T138">
                      <a:pos x="T68" y="T69"/>
                    </a:cxn>
                    <a:cxn ang="T139">
                      <a:pos x="T70" y="T71"/>
                    </a:cxn>
                    <a:cxn ang="T140">
                      <a:pos x="T72" y="T73"/>
                    </a:cxn>
                    <a:cxn ang="T141">
                      <a:pos x="T74" y="T75"/>
                    </a:cxn>
                    <a:cxn ang="T142">
                      <a:pos x="T76" y="T77"/>
                    </a:cxn>
                    <a:cxn ang="T143">
                      <a:pos x="T78" y="T79"/>
                    </a:cxn>
                    <a:cxn ang="T144">
                      <a:pos x="T80" y="T81"/>
                    </a:cxn>
                    <a:cxn ang="T145">
                      <a:pos x="T82" y="T83"/>
                    </a:cxn>
                    <a:cxn ang="T146">
                      <a:pos x="T84" y="T85"/>
                    </a:cxn>
                    <a:cxn ang="T147">
                      <a:pos x="T86" y="T87"/>
                    </a:cxn>
                    <a:cxn ang="T148">
                      <a:pos x="T88" y="T89"/>
                    </a:cxn>
                    <a:cxn ang="T149">
                      <a:pos x="T90" y="T91"/>
                    </a:cxn>
                    <a:cxn ang="T150">
                      <a:pos x="T92" y="T93"/>
                    </a:cxn>
                    <a:cxn ang="T151">
                      <a:pos x="T94" y="T95"/>
                    </a:cxn>
                    <a:cxn ang="T152">
                      <a:pos x="T96" y="T97"/>
                    </a:cxn>
                    <a:cxn ang="T153">
                      <a:pos x="T98" y="T99"/>
                    </a:cxn>
                    <a:cxn ang="T154">
                      <a:pos x="T100" y="T101"/>
                    </a:cxn>
                    <a:cxn ang="T155">
                      <a:pos x="T102" y="T103"/>
                    </a:cxn>
                  </a:cxnLst>
                  <a:rect l="T156" t="T157" r="T158" b="T159"/>
                  <a:pathLst>
                    <a:path w="139" h="213">
                      <a:moveTo>
                        <a:pt x="38" y="16"/>
                      </a:moveTo>
                      <a:lnTo>
                        <a:pt x="1" y="98"/>
                      </a:lnTo>
                      <a:lnTo>
                        <a:pt x="1" y="99"/>
                      </a:lnTo>
                      <a:lnTo>
                        <a:pt x="1" y="101"/>
                      </a:lnTo>
                      <a:lnTo>
                        <a:pt x="0" y="102"/>
                      </a:lnTo>
                      <a:lnTo>
                        <a:pt x="0" y="104"/>
                      </a:lnTo>
                      <a:lnTo>
                        <a:pt x="0" y="106"/>
                      </a:lnTo>
                      <a:lnTo>
                        <a:pt x="0" y="108"/>
                      </a:lnTo>
                      <a:lnTo>
                        <a:pt x="1" y="109"/>
                      </a:lnTo>
                      <a:lnTo>
                        <a:pt x="1" y="111"/>
                      </a:lnTo>
                      <a:lnTo>
                        <a:pt x="2" y="113"/>
                      </a:lnTo>
                      <a:lnTo>
                        <a:pt x="3" y="114"/>
                      </a:lnTo>
                      <a:lnTo>
                        <a:pt x="4" y="116"/>
                      </a:lnTo>
                      <a:lnTo>
                        <a:pt x="6" y="117"/>
                      </a:lnTo>
                      <a:lnTo>
                        <a:pt x="7" y="118"/>
                      </a:lnTo>
                      <a:lnTo>
                        <a:pt x="9" y="119"/>
                      </a:lnTo>
                      <a:lnTo>
                        <a:pt x="10" y="119"/>
                      </a:lnTo>
                      <a:lnTo>
                        <a:pt x="11" y="119"/>
                      </a:lnTo>
                      <a:lnTo>
                        <a:pt x="13" y="119"/>
                      </a:lnTo>
                      <a:lnTo>
                        <a:pt x="15" y="119"/>
                      </a:lnTo>
                      <a:lnTo>
                        <a:pt x="90" y="119"/>
                      </a:lnTo>
                      <a:lnTo>
                        <a:pt x="90" y="212"/>
                      </a:lnTo>
                      <a:lnTo>
                        <a:pt x="114" y="212"/>
                      </a:lnTo>
                      <a:lnTo>
                        <a:pt x="114" y="102"/>
                      </a:lnTo>
                      <a:lnTo>
                        <a:pt x="114" y="101"/>
                      </a:lnTo>
                      <a:lnTo>
                        <a:pt x="113" y="99"/>
                      </a:lnTo>
                      <a:lnTo>
                        <a:pt x="113" y="98"/>
                      </a:lnTo>
                      <a:lnTo>
                        <a:pt x="112" y="98"/>
                      </a:lnTo>
                      <a:lnTo>
                        <a:pt x="112" y="97"/>
                      </a:lnTo>
                      <a:lnTo>
                        <a:pt x="110" y="96"/>
                      </a:lnTo>
                      <a:lnTo>
                        <a:pt x="110" y="95"/>
                      </a:lnTo>
                      <a:lnTo>
                        <a:pt x="108" y="94"/>
                      </a:lnTo>
                      <a:lnTo>
                        <a:pt x="107" y="94"/>
                      </a:lnTo>
                      <a:lnTo>
                        <a:pt x="106" y="93"/>
                      </a:lnTo>
                      <a:lnTo>
                        <a:pt x="105" y="93"/>
                      </a:lnTo>
                      <a:lnTo>
                        <a:pt x="103" y="93"/>
                      </a:lnTo>
                      <a:lnTo>
                        <a:pt x="102" y="93"/>
                      </a:lnTo>
                      <a:lnTo>
                        <a:pt x="100" y="93"/>
                      </a:lnTo>
                      <a:lnTo>
                        <a:pt x="99" y="93"/>
                      </a:lnTo>
                      <a:lnTo>
                        <a:pt x="98" y="93"/>
                      </a:lnTo>
                      <a:lnTo>
                        <a:pt x="54" y="90"/>
                      </a:lnTo>
                      <a:lnTo>
                        <a:pt x="67" y="54"/>
                      </a:lnTo>
                      <a:lnTo>
                        <a:pt x="75" y="67"/>
                      </a:lnTo>
                      <a:lnTo>
                        <a:pt x="128" y="67"/>
                      </a:lnTo>
                      <a:lnTo>
                        <a:pt x="129" y="66"/>
                      </a:lnTo>
                      <a:lnTo>
                        <a:pt x="131" y="66"/>
                      </a:lnTo>
                      <a:lnTo>
                        <a:pt x="132" y="66"/>
                      </a:lnTo>
                      <a:lnTo>
                        <a:pt x="134" y="64"/>
                      </a:lnTo>
                      <a:lnTo>
                        <a:pt x="135" y="64"/>
                      </a:lnTo>
                      <a:lnTo>
                        <a:pt x="136" y="63"/>
                      </a:lnTo>
                      <a:lnTo>
                        <a:pt x="137" y="62"/>
                      </a:lnTo>
                      <a:lnTo>
                        <a:pt x="137" y="61"/>
                      </a:lnTo>
                      <a:lnTo>
                        <a:pt x="137" y="59"/>
                      </a:lnTo>
                      <a:lnTo>
                        <a:pt x="138" y="58"/>
                      </a:lnTo>
                      <a:lnTo>
                        <a:pt x="138" y="56"/>
                      </a:lnTo>
                      <a:lnTo>
                        <a:pt x="138" y="54"/>
                      </a:lnTo>
                      <a:lnTo>
                        <a:pt x="137" y="53"/>
                      </a:lnTo>
                      <a:lnTo>
                        <a:pt x="137" y="52"/>
                      </a:lnTo>
                      <a:lnTo>
                        <a:pt x="136" y="51"/>
                      </a:lnTo>
                      <a:lnTo>
                        <a:pt x="135" y="49"/>
                      </a:lnTo>
                      <a:lnTo>
                        <a:pt x="134" y="49"/>
                      </a:lnTo>
                      <a:lnTo>
                        <a:pt x="133" y="48"/>
                      </a:lnTo>
                      <a:lnTo>
                        <a:pt x="132" y="47"/>
                      </a:lnTo>
                      <a:lnTo>
                        <a:pt x="131" y="46"/>
                      </a:lnTo>
                      <a:lnTo>
                        <a:pt x="129" y="46"/>
                      </a:lnTo>
                      <a:lnTo>
                        <a:pt x="128" y="46"/>
                      </a:lnTo>
                      <a:lnTo>
                        <a:pt x="87" y="46"/>
                      </a:lnTo>
                      <a:lnTo>
                        <a:pt x="79" y="31"/>
                      </a:lnTo>
                      <a:lnTo>
                        <a:pt x="80" y="30"/>
                      </a:lnTo>
                      <a:lnTo>
                        <a:pt x="81" y="28"/>
                      </a:lnTo>
                      <a:lnTo>
                        <a:pt x="81" y="26"/>
                      </a:lnTo>
                      <a:lnTo>
                        <a:pt x="81" y="24"/>
                      </a:lnTo>
                      <a:lnTo>
                        <a:pt x="81" y="22"/>
                      </a:lnTo>
                      <a:lnTo>
                        <a:pt x="81" y="20"/>
                      </a:lnTo>
                      <a:lnTo>
                        <a:pt x="81" y="18"/>
                      </a:lnTo>
                      <a:lnTo>
                        <a:pt x="81" y="16"/>
                      </a:lnTo>
                      <a:lnTo>
                        <a:pt x="80" y="14"/>
                      </a:lnTo>
                      <a:lnTo>
                        <a:pt x="79" y="13"/>
                      </a:lnTo>
                      <a:lnTo>
                        <a:pt x="79" y="11"/>
                      </a:lnTo>
                      <a:lnTo>
                        <a:pt x="78" y="9"/>
                      </a:lnTo>
                      <a:lnTo>
                        <a:pt x="76" y="8"/>
                      </a:lnTo>
                      <a:lnTo>
                        <a:pt x="75" y="6"/>
                      </a:lnTo>
                      <a:lnTo>
                        <a:pt x="73" y="5"/>
                      </a:lnTo>
                      <a:lnTo>
                        <a:pt x="72" y="4"/>
                      </a:lnTo>
                      <a:lnTo>
                        <a:pt x="70" y="3"/>
                      </a:lnTo>
                      <a:lnTo>
                        <a:pt x="68" y="2"/>
                      </a:lnTo>
                      <a:lnTo>
                        <a:pt x="67" y="1"/>
                      </a:lnTo>
                      <a:lnTo>
                        <a:pt x="64" y="1"/>
                      </a:lnTo>
                      <a:lnTo>
                        <a:pt x="62" y="0"/>
                      </a:lnTo>
                      <a:lnTo>
                        <a:pt x="60" y="0"/>
                      </a:lnTo>
                      <a:lnTo>
                        <a:pt x="58" y="0"/>
                      </a:lnTo>
                      <a:lnTo>
                        <a:pt x="56" y="0"/>
                      </a:lnTo>
                      <a:lnTo>
                        <a:pt x="54" y="1"/>
                      </a:lnTo>
                      <a:lnTo>
                        <a:pt x="52" y="1"/>
                      </a:lnTo>
                      <a:lnTo>
                        <a:pt x="49" y="2"/>
                      </a:lnTo>
                      <a:lnTo>
                        <a:pt x="47" y="3"/>
                      </a:lnTo>
                      <a:lnTo>
                        <a:pt x="45" y="4"/>
                      </a:lnTo>
                      <a:lnTo>
                        <a:pt x="44" y="6"/>
                      </a:lnTo>
                      <a:lnTo>
                        <a:pt x="42" y="8"/>
                      </a:lnTo>
                      <a:lnTo>
                        <a:pt x="41" y="9"/>
                      </a:lnTo>
                      <a:lnTo>
                        <a:pt x="39" y="12"/>
                      </a:lnTo>
                      <a:lnTo>
                        <a:pt x="38" y="14"/>
                      </a:lnTo>
                      <a:lnTo>
                        <a:pt x="38" y="16"/>
                      </a:lnTo>
                    </a:path>
                  </a:pathLst>
                </a:custGeom>
                <a:solidFill>
                  <a:srgbClr val="F39FD1"/>
                </a:solidFill>
                <a:ln w="1270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86" name="Freeform 241">
                <a:extLst>
                  <a:ext uri="{FF2B5EF4-FFF2-40B4-BE49-F238E27FC236}">
                    <a16:creationId xmlns:a16="http://schemas.microsoft.com/office/drawing/2014/main" id="{56C10469-3177-4232-920B-0A28555581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32" y="1392"/>
                <a:ext cx="200" cy="291"/>
              </a:xfrm>
              <a:custGeom>
                <a:avLst/>
                <a:gdLst>
                  <a:gd name="T0" fmla="*/ 199 w 200"/>
                  <a:gd name="T1" fmla="*/ 263 h 291"/>
                  <a:gd name="T2" fmla="*/ 184 w 200"/>
                  <a:gd name="T3" fmla="*/ 263 h 291"/>
                  <a:gd name="T4" fmla="*/ 158 w 200"/>
                  <a:gd name="T5" fmla="*/ 229 h 291"/>
                  <a:gd name="T6" fmla="*/ 121 w 200"/>
                  <a:gd name="T7" fmla="*/ 169 h 291"/>
                  <a:gd name="T8" fmla="*/ 111 w 200"/>
                  <a:gd name="T9" fmla="*/ 141 h 291"/>
                  <a:gd name="T10" fmla="*/ 114 w 200"/>
                  <a:gd name="T11" fmla="*/ 123 h 291"/>
                  <a:gd name="T12" fmla="*/ 123 w 200"/>
                  <a:gd name="T13" fmla="*/ 119 h 291"/>
                  <a:gd name="T14" fmla="*/ 136 w 200"/>
                  <a:gd name="T15" fmla="*/ 129 h 291"/>
                  <a:gd name="T16" fmla="*/ 155 w 200"/>
                  <a:gd name="T17" fmla="*/ 140 h 291"/>
                  <a:gd name="T18" fmla="*/ 164 w 200"/>
                  <a:gd name="T19" fmla="*/ 140 h 291"/>
                  <a:gd name="T20" fmla="*/ 165 w 200"/>
                  <a:gd name="T21" fmla="*/ 134 h 291"/>
                  <a:gd name="T22" fmla="*/ 156 w 200"/>
                  <a:gd name="T23" fmla="*/ 123 h 291"/>
                  <a:gd name="T24" fmla="*/ 135 w 200"/>
                  <a:gd name="T25" fmla="*/ 108 h 291"/>
                  <a:gd name="T26" fmla="*/ 126 w 200"/>
                  <a:gd name="T27" fmla="*/ 86 h 291"/>
                  <a:gd name="T28" fmla="*/ 123 w 200"/>
                  <a:gd name="T29" fmla="*/ 69 h 291"/>
                  <a:gd name="T30" fmla="*/ 113 w 200"/>
                  <a:gd name="T31" fmla="*/ 56 h 291"/>
                  <a:gd name="T32" fmla="*/ 109 w 200"/>
                  <a:gd name="T33" fmla="*/ 48 h 291"/>
                  <a:gd name="T34" fmla="*/ 114 w 200"/>
                  <a:gd name="T35" fmla="*/ 36 h 291"/>
                  <a:gd name="T36" fmla="*/ 119 w 200"/>
                  <a:gd name="T37" fmla="*/ 24 h 291"/>
                  <a:gd name="T38" fmla="*/ 115 w 200"/>
                  <a:gd name="T39" fmla="*/ 9 h 291"/>
                  <a:gd name="T40" fmla="*/ 105 w 200"/>
                  <a:gd name="T41" fmla="*/ 1 h 291"/>
                  <a:gd name="T42" fmla="*/ 90 w 200"/>
                  <a:gd name="T43" fmla="*/ 3 h 291"/>
                  <a:gd name="T44" fmla="*/ 84 w 200"/>
                  <a:gd name="T45" fmla="*/ 13 h 291"/>
                  <a:gd name="T46" fmla="*/ 84 w 200"/>
                  <a:gd name="T47" fmla="*/ 23 h 291"/>
                  <a:gd name="T48" fmla="*/ 88 w 200"/>
                  <a:gd name="T49" fmla="*/ 35 h 291"/>
                  <a:gd name="T50" fmla="*/ 88 w 200"/>
                  <a:gd name="T51" fmla="*/ 46 h 291"/>
                  <a:gd name="T52" fmla="*/ 78 w 200"/>
                  <a:gd name="T53" fmla="*/ 56 h 291"/>
                  <a:gd name="T54" fmla="*/ 65 w 200"/>
                  <a:gd name="T55" fmla="*/ 64 h 291"/>
                  <a:gd name="T56" fmla="*/ 55 w 200"/>
                  <a:gd name="T57" fmla="*/ 75 h 291"/>
                  <a:gd name="T58" fmla="*/ 46 w 200"/>
                  <a:gd name="T59" fmla="*/ 99 h 291"/>
                  <a:gd name="T60" fmla="*/ 41 w 200"/>
                  <a:gd name="T61" fmla="*/ 121 h 291"/>
                  <a:gd name="T62" fmla="*/ 40 w 200"/>
                  <a:gd name="T63" fmla="*/ 145 h 291"/>
                  <a:gd name="T64" fmla="*/ 41 w 200"/>
                  <a:gd name="T65" fmla="*/ 158 h 291"/>
                  <a:gd name="T66" fmla="*/ 49 w 200"/>
                  <a:gd name="T67" fmla="*/ 161 h 291"/>
                  <a:gd name="T68" fmla="*/ 53 w 200"/>
                  <a:gd name="T69" fmla="*/ 158 h 291"/>
                  <a:gd name="T70" fmla="*/ 53 w 200"/>
                  <a:gd name="T71" fmla="*/ 133 h 291"/>
                  <a:gd name="T72" fmla="*/ 55 w 200"/>
                  <a:gd name="T73" fmla="*/ 116 h 291"/>
                  <a:gd name="T74" fmla="*/ 64 w 200"/>
                  <a:gd name="T75" fmla="*/ 109 h 291"/>
                  <a:gd name="T76" fmla="*/ 70 w 200"/>
                  <a:gd name="T77" fmla="*/ 114 h 291"/>
                  <a:gd name="T78" fmla="*/ 68 w 200"/>
                  <a:gd name="T79" fmla="*/ 140 h 291"/>
                  <a:gd name="T80" fmla="*/ 61 w 200"/>
                  <a:gd name="T81" fmla="*/ 166 h 291"/>
                  <a:gd name="T82" fmla="*/ 53 w 200"/>
                  <a:gd name="T83" fmla="*/ 196 h 291"/>
                  <a:gd name="T84" fmla="*/ 33 w 200"/>
                  <a:gd name="T85" fmla="*/ 225 h 291"/>
                  <a:gd name="T86" fmla="*/ 8 w 200"/>
                  <a:gd name="T87" fmla="*/ 255 h 291"/>
                  <a:gd name="T88" fmla="*/ 0 w 200"/>
                  <a:gd name="T89" fmla="*/ 271 h 291"/>
                  <a:gd name="T90" fmla="*/ 19 w 200"/>
                  <a:gd name="T91" fmla="*/ 290 h 291"/>
                  <a:gd name="T92" fmla="*/ 33 w 200"/>
                  <a:gd name="T93" fmla="*/ 288 h 291"/>
                  <a:gd name="T94" fmla="*/ 23 w 200"/>
                  <a:gd name="T95" fmla="*/ 275 h 291"/>
                  <a:gd name="T96" fmla="*/ 30 w 200"/>
                  <a:gd name="T97" fmla="*/ 259 h 291"/>
                  <a:gd name="T98" fmla="*/ 61 w 200"/>
                  <a:gd name="T99" fmla="*/ 223 h 291"/>
                  <a:gd name="T100" fmla="*/ 84 w 200"/>
                  <a:gd name="T101" fmla="*/ 196 h 291"/>
                  <a:gd name="T102" fmla="*/ 95 w 200"/>
                  <a:gd name="T103" fmla="*/ 190 h 291"/>
                  <a:gd name="T104" fmla="*/ 109 w 200"/>
                  <a:gd name="T105" fmla="*/ 199 h 291"/>
                  <a:gd name="T106" fmla="*/ 141 w 200"/>
                  <a:gd name="T107" fmla="*/ 243 h 291"/>
                  <a:gd name="T108" fmla="*/ 168 w 200"/>
                  <a:gd name="T109" fmla="*/ 280 h 291"/>
                  <a:gd name="T110" fmla="*/ 178 w 200"/>
                  <a:gd name="T111" fmla="*/ 283 h 291"/>
                  <a:gd name="T112" fmla="*/ 191 w 200"/>
                  <a:gd name="T113" fmla="*/ 273 h 291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200"/>
                  <a:gd name="T172" fmla="*/ 0 h 291"/>
                  <a:gd name="T173" fmla="*/ 200 w 200"/>
                  <a:gd name="T174" fmla="*/ 291 h 291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200" h="291">
                    <a:moveTo>
                      <a:pt x="198" y="268"/>
                    </a:moveTo>
                    <a:lnTo>
                      <a:pt x="199" y="263"/>
                    </a:lnTo>
                    <a:lnTo>
                      <a:pt x="191" y="264"/>
                    </a:lnTo>
                    <a:lnTo>
                      <a:pt x="184" y="263"/>
                    </a:lnTo>
                    <a:lnTo>
                      <a:pt x="174" y="255"/>
                    </a:lnTo>
                    <a:lnTo>
                      <a:pt x="158" y="229"/>
                    </a:lnTo>
                    <a:lnTo>
                      <a:pt x="134" y="190"/>
                    </a:lnTo>
                    <a:lnTo>
                      <a:pt x="121" y="169"/>
                    </a:lnTo>
                    <a:lnTo>
                      <a:pt x="113" y="151"/>
                    </a:lnTo>
                    <a:lnTo>
                      <a:pt x="111" y="141"/>
                    </a:lnTo>
                    <a:lnTo>
                      <a:pt x="111" y="130"/>
                    </a:lnTo>
                    <a:lnTo>
                      <a:pt x="114" y="123"/>
                    </a:lnTo>
                    <a:lnTo>
                      <a:pt x="119" y="119"/>
                    </a:lnTo>
                    <a:lnTo>
                      <a:pt x="123" y="119"/>
                    </a:lnTo>
                    <a:lnTo>
                      <a:pt x="128" y="121"/>
                    </a:lnTo>
                    <a:lnTo>
                      <a:pt x="136" y="129"/>
                    </a:lnTo>
                    <a:lnTo>
                      <a:pt x="148" y="136"/>
                    </a:lnTo>
                    <a:lnTo>
                      <a:pt x="155" y="140"/>
                    </a:lnTo>
                    <a:lnTo>
                      <a:pt x="160" y="141"/>
                    </a:lnTo>
                    <a:lnTo>
                      <a:pt x="164" y="140"/>
                    </a:lnTo>
                    <a:lnTo>
                      <a:pt x="166" y="136"/>
                    </a:lnTo>
                    <a:lnTo>
                      <a:pt x="165" y="134"/>
                    </a:lnTo>
                    <a:lnTo>
                      <a:pt x="164" y="130"/>
                    </a:lnTo>
                    <a:lnTo>
                      <a:pt x="156" y="123"/>
                    </a:lnTo>
                    <a:lnTo>
                      <a:pt x="143" y="114"/>
                    </a:lnTo>
                    <a:lnTo>
                      <a:pt x="135" y="108"/>
                    </a:lnTo>
                    <a:lnTo>
                      <a:pt x="130" y="99"/>
                    </a:lnTo>
                    <a:lnTo>
                      <a:pt x="126" y="86"/>
                    </a:lnTo>
                    <a:lnTo>
                      <a:pt x="125" y="74"/>
                    </a:lnTo>
                    <a:lnTo>
                      <a:pt x="123" y="69"/>
                    </a:lnTo>
                    <a:lnTo>
                      <a:pt x="119" y="63"/>
                    </a:lnTo>
                    <a:lnTo>
                      <a:pt x="113" y="56"/>
                    </a:lnTo>
                    <a:lnTo>
                      <a:pt x="109" y="53"/>
                    </a:lnTo>
                    <a:lnTo>
                      <a:pt x="109" y="48"/>
                    </a:lnTo>
                    <a:lnTo>
                      <a:pt x="111" y="40"/>
                    </a:lnTo>
                    <a:lnTo>
                      <a:pt x="114" y="36"/>
                    </a:lnTo>
                    <a:lnTo>
                      <a:pt x="116" y="31"/>
                    </a:lnTo>
                    <a:lnTo>
                      <a:pt x="119" y="24"/>
                    </a:lnTo>
                    <a:lnTo>
                      <a:pt x="116" y="15"/>
                    </a:lnTo>
                    <a:lnTo>
                      <a:pt x="115" y="9"/>
                    </a:lnTo>
                    <a:lnTo>
                      <a:pt x="111" y="4"/>
                    </a:lnTo>
                    <a:lnTo>
                      <a:pt x="105" y="1"/>
                    </a:lnTo>
                    <a:lnTo>
                      <a:pt x="96" y="0"/>
                    </a:lnTo>
                    <a:lnTo>
                      <a:pt x="90" y="3"/>
                    </a:lnTo>
                    <a:lnTo>
                      <a:pt x="86" y="6"/>
                    </a:lnTo>
                    <a:lnTo>
                      <a:pt x="84" y="13"/>
                    </a:lnTo>
                    <a:lnTo>
                      <a:pt x="83" y="18"/>
                    </a:lnTo>
                    <a:lnTo>
                      <a:pt x="84" y="23"/>
                    </a:lnTo>
                    <a:lnTo>
                      <a:pt x="86" y="30"/>
                    </a:lnTo>
                    <a:lnTo>
                      <a:pt x="88" y="35"/>
                    </a:lnTo>
                    <a:lnTo>
                      <a:pt x="89" y="40"/>
                    </a:lnTo>
                    <a:lnTo>
                      <a:pt x="88" y="46"/>
                    </a:lnTo>
                    <a:lnTo>
                      <a:pt x="84" y="51"/>
                    </a:lnTo>
                    <a:lnTo>
                      <a:pt x="78" y="56"/>
                    </a:lnTo>
                    <a:lnTo>
                      <a:pt x="70" y="60"/>
                    </a:lnTo>
                    <a:lnTo>
                      <a:pt x="65" y="64"/>
                    </a:lnTo>
                    <a:lnTo>
                      <a:pt x="60" y="69"/>
                    </a:lnTo>
                    <a:lnTo>
                      <a:pt x="55" y="75"/>
                    </a:lnTo>
                    <a:lnTo>
                      <a:pt x="50" y="86"/>
                    </a:lnTo>
                    <a:lnTo>
                      <a:pt x="46" y="99"/>
                    </a:lnTo>
                    <a:lnTo>
                      <a:pt x="43" y="109"/>
                    </a:lnTo>
                    <a:lnTo>
                      <a:pt x="41" y="121"/>
                    </a:lnTo>
                    <a:lnTo>
                      <a:pt x="40" y="136"/>
                    </a:lnTo>
                    <a:lnTo>
                      <a:pt x="40" y="145"/>
                    </a:lnTo>
                    <a:lnTo>
                      <a:pt x="40" y="153"/>
                    </a:lnTo>
                    <a:lnTo>
                      <a:pt x="41" y="158"/>
                    </a:lnTo>
                    <a:lnTo>
                      <a:pt x="44" y="160"/>
                    </a:lnTo>
                    <a:lnTo>
                      <a:pt x="49" y="161"/>
                    </a:lnTo>
                    <a:lnTo>
                      <a:pt x="51" y="160"/>
                    </a:lnTo>
                    <a:lnTo>
                      <a:pt x="53" y="158"/>
                    </a:lnTo>
                    <a:lnTo>
                      <a:pt x="53" y="148"/>
                    </a:lnTo>
                    <a:lnTo>
                      <a:pt x="53" y="133"/>
                    </a:lnTo>
                    <a:lnTo>
                      <a:pt x="54" y="123"/>
                    </a:lnTo>
                    <a:lnTo>
                      <a:pt x="55" y="116"/>
                    </a:lnTo>
                    <a:lnTo>
                      <a:pt x="59" y="110"/>
                    </a:lnTo>
                    <a:lnTo>
                      <a:pt x="64" y="109"/>
                    </a:lnTo>
                    <a:lnTo>
                      <a:pt x="69" y="110"/>
                    </a:lnTo>
                    <a:lnTo>
                      <a:pt x="70" y="114"/>
                    </a:lnTo>
                    <a:lnTo>
                      <a:pt x="69" y="125"/>
                    </a:lnTo>
                    <a:lnTo>
                      <a:pt x="68" y="140"/>
                    </a:lnTo>
                    <a:lnTo>
                      <a:pt x="65" y="154"/>
                    </a:lnTo>
                    <a:lnTo>
                      <a:pt x="61" y="166"/>
                    </a:lnTo>
                    <a:lnTo>
                      <a:pt x="58" y="183"/>
                    </a:lnTo>
                    <a:lnTo>
                      <a:pt x="53" y="196"/>
                    </a:lnTo>
                    <a:lnTo>
                      <a:pt x="41" y="214"/>
                    </a:lnTo>
                    <a:lnTo>
                      <a:pt x="33" y="225"/>
                    </a:lnTo>
                    <a:lnTo>
                      <a:pt x="18" y="243"/>
                    </a:lnTo>
                    <a:lnTo>
                      <a:pt x="8" y="255"/>
                    </a:lnTo>
                    <a:lnTo>
                      <a:pt x="0" y="266"/>
                    </a:lnTo>
                    <a:lnTo>
                      <a:pt x="0" y="271"/>
                    </a:lnTo>
                    <a:lnTo>
                      <a:pt x="8" y="280"/>
                    </a:lnTo>
                    <a:lnTo>
                      <a:pt x="19" y="290"/>
                    </a:lnTo>
                    <a:lnTo>
                      <a:pt x="30" y="290"/>
                    </a:lnTo>
                    <a:lnTo>
                      <a:pt x="33" y="288"/>
                    </a:lnTo>
                    <a:lnTo>
                      <a:pt x="28" y="281"/>
                    </a:lnTo>
                    <a:lnTo>
                      <a:pt x="23" y="275"/>
                    </a:lnTo>
                    <a:lnTo>
                      <a:pt x="23" y="270"/>
                    </a:lnTo>
                    <a:lnTo>
                      <a:pt x="30" y="259"/>
                    </a:lnTo>
                    <a:lnTo>
                      <a:pt x="43" y="246"/>
                    </a:lnTo>
                    <a:lnTo>
                      <a:pt x="61" y="223"/>
                    </a:lnTo>
                    <a:lnTo>
                      <a:pt x="78" y="203"/>
                    </a:lnTo>
                    <a:lnTo>
                      <a:pt x="84" y="196"/>
                    </a:lnTo>
                    <a:lnTo>
                      <a:pt x="88" y="191"/>
                    </a:lnTo>
                    <a:lnTo>
                      <a:pt x="95" y="190"/>
                    </a:lnTo>
                    <a:lnTo>
                      <a:pt x="101" y="194"/>
                    </a:lnTo>
                    <a:lnTo>
                      <a:pt x="109" y="199"/>
                    </a:lnTo>
                    <a:lnTo>
                      <a:pt x="124" y="219"/>
                    </a:lnTo>
                    <a:lnTo>
                      <a:pt x="141" y="243"/>
                    </a:lnTo>
                    <a:lnTo>
                      <a:pt x="158" y="266"/>
                    </a:lnTo>
                    <a:lnTo>
                      <a:pt x="168" y="280"/>
                    </a:lnTo>
                    <a:lnTo>
                      <a:pt x="171" y="283"/>
                    </a:lnTo>
                    <a:lnTo>
                      <a:pt x="178" y="283"/>
                    </a:lnTo>
                    <a:lnTo>
                      <a:pt x="184" y="278"/>
                    </a:lnTo>
                    <a:lnTo>
                      <a:pt x="191" y="273"/>
                    </a:lnTo>
                    <a:lnTo>
                      <a:pt x="198" y="268"/>
                    </a:lnTo>
                  </a:path>
                </a:pathLst>
              </a:custGeom>
              <a:solidFill>
                <a:srgbClr val="CECECE"/>
              </a:solidFill>
              <a:ln w="2540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87" name="Group 242">
                <a:extLst>
                  <a:ext uri="{FF2B5EF4-FFF2-40B4-BE49-F238E27FC236}">
                    <a16:creationId xmlns:a16="http://schemas.microsoft.com/office/drawing/2014/main" id="{ADF790E1-A2EA-41D5-BD23-21A50A53BE6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08" y="1392"/>
                <a:ext cx="259" cy="310"/>
                <a:chOff x="1225" y="1348"/>
                <a:chExt cx="259" cy="310"/>
              </a:xfrm>
            </p:grpSpPr>
            <p:grpSp>
              <p:nvGrpSpPr>
                <p:cNvPr id="288" name="Group 243">
                  <a:extLst>
                    <a:ext uri="{FF2B5EF4-FFF2-40B4-BE49-F238E27FC236}">
                      <a16:creationId xmlns:a16="http://schemas.microsoft.com/office/drawing/2014/main" id="{F5062C4C-DE16-4402-BA8D-7040ECA14EC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225" y="1348"/>
                  <a:ext cx="259" cy="310"/>
                  <a:chOff x="1225" y="1348"/>
                  <a:chExt cx="259" cy="310"/>
                </a:xfrm>
              </p:grpSpPr>
              <p:sp>
                <p:nvSpPr>
                  <p:cNvPr id="291" name="AutoShape 244">
                    <a:extLst>
                      <a:ext uri="{FF2B5EF4-FFF2-40B4-BE49-F238E27FC236}">
                        <a16:creationId xmlns:a16="http://schemas.microsoft.com/office/drawing/2014/main" id="{1D3D0331-71BE-4524-B636-C8D315FA517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225" y="1398"/>
                    <a:ext cx="259" cy="260"/>
                  </a:xfrm>
                  <a:prstGeom prst="cube">
                    <a:avLst>
                      <a:gd name="adj" fmla="val 24995"/>
                    </a:avLst>
                  </a:prstGeom>
                  <a:solidFill>
                    <a:schemeClr val="bg1"/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92" name="AutoShape 245">
                    <a:extLst>
                      <a:ext uri="{FF2B5EF4-FFF2-40B4-BE49-F238E27FC236}">
                        <a16:creationId xmlns:a16="http://schemas.microsoft.com/office/drawing/2014/main" id="{3A420944-BC83-43A3-A8C4-EDCE6143914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288" y="1348"/>
                    <a:ext cx="196" cy="46"/>
                  </a:xfrm>
                  <a:prstGeom prst="cube">
                    <a:avLst>
                      <a:gd name="adj" fmla="val 24995"/>
                    </a:avLst>
                  </a:prstGeom>
                  <a:solidFill>
                    <a:schemeClr val="bg1"/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289" name="Oval 246">
                  <a:extLst>
                    <a:ext uri="{FF2B5EF4-FFF2-40B4-BE49-F238E27FC236}">
                      <a16:creationId xmlns:a16="http://schemas.microsoft.com/office/drawing/2014/main" id="{29EDE779-84D2-40F8-B97D-B05548D888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07" y="1374"/>
                  <a:ext cx="27" cy="8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90" name="AutoShape 247">
                  <a:extLst>
                    <a:ext uri="{FF2B5EF4-FFF2-40B4-BE49-F238E27FC236}">
                      <a16:creationId xmlns:a16="http://schemas.microsoft.com/office/drawing/2014/main" id="{3DF8EC97-C0CE-4A59-9ACB-211528CE5AB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6" y="1522"/>
                  <a:ext cx="137" cy="55"/>
                </a:xfrm>
                <a:prstGeom prst="octagon">
                  <a:avLst>
                    <a:gd name="adj" fmla="val 29282"/>
                  </a:avLst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186" name="Group 249">
              <a:extLst>
                <a:ext uri="{FF2B5EF4-FFF2-40B4-BE49-F238E27FC236}">
                  <a16:creationId xmlns:a16="http://schemas.microsoft.com/office/drawing/2014/main" id="{FF561209-AC87-4DF3-80F3-7E5E7C60F98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2" y="1028"/>
              <a:ext cx="2398" cy="372"/>
              <a:chOff x="722" y="1028"/>
              <a:chExt cx="2265" cy="372"/>
            </a:xfrm>
          </p:grpSpPr>
          <p:sp>
            <p:nvSpPr>
              <p:cNvPr id="244" name="Line 190">
                <a:extLst>
                  <a:ext uri="{FF2B5EF4-FFF2-40B4-BE49-F238E27FC236}">
                    <a16:creationId xmlns:a16="http://schemas.microsoft.com/office/drawing/2014/main" id="{8B8E57C7-6D4A-4815-ABCE-DCB428BEF6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85" y="1028"/>
                <a:ext cx="3" cy="18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5" name="Line 191">
                <a:extLst>
                  <a:ext uri="{FF2B5EF4-FFF2-40B4-BE49-F238E27FC236}">
                    <a16:creationId xmlns:a16="http://schemas.microsoft.com/office/drawing/2014/main" id="{CC318E8A-B3CB-4DE7-A775-90241C8016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570" y="1028"/>
                <a:ext cx="3" cy="18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" name="Line 192">
                <a:extLst>
                  <a:ext uri="{FF2B5EF4-FFF2-40B4-BE49-F238E27FC236}">
                    <a16:creationId xmlns:a16="http://schemas.microsoft.com/office/drawing/2014/main" id="{3CB77858-88C1-41E7-9E4C-B41B5D5B02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854" y="1028"/>
                <a:ext cx="3" cy="18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" name="Line 193">
                <a:extLst>
                  <a:ext uri="{FF2B5EF4-FFF2-40B4-BE49-F238E27FC236}">
                    <a16:creationId xmlns:a16="http://schemas.microsoft.com/office/drawing/2014/main" id="{2FC68748-B57E-4D63-8F85-071B3AD0E9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87" y="1108"/>
                <a:ext cx="27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" name="Line 194">
                <a:extLst>
                  <a:ext uri="{FF2B5EF4-FFF2-40B4-BE49-F238E27FC236}">
                    <a16:creationId xmlns:a16="http://schemas.microsoft.com/office/drawing/2014/main" id="{B0A8A197-051B-44CB-91ED-26147833A6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570" y="1028"/>
                <a:ext cx="3" cy="18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9" name="Line 195">
                <a:extLst>
                  <a:ext uri="{FF2B5EF4-FFF2-40B4-BE49-F238E27FC236}">
                    <a16:creationId xmlns:a16="http://schemas.microsoft.com/office/drawing/2014/main" id="{076CF16E-C02F-4728-BA98-1B1F5F6173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854" y="1028"/>
                <a:ext cx="3" cy="18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0" name="Rectangle 196">
                <a:extLst>
                  <a:ext uri="{FF2B5EF4-FFF2-40B4-BE49-F238E27FC236}">
                    <a16:creationId xmlns:a16="http://schemas.microsoft.com/office/drawing/2014/main" id="{26A746A2-4802-4731-9378-FF278FAB9E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68" y="1146"/>
                <a:ext cx="276" cy="248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pPr algn="ctr" eaLnBrk="0" hangingPunct="0"/>
                <a:r>
                  <a:rPr lang="en-US" sz="2000" b="1">
                    <a:latin typeface="FranklinGothic" charset="0"/>
                  </a:rPr>
                  <a:t>30</a:t>
                </a:r>
              </a:p>
            </p:txBody>
          </p:sp>
          <p:sp>
            <p:nvSpPr>
              <p:cNvPr id="251" name="Line 197">
                <a:extLst>
                  <a:ext uri="{FF2B5EF4-FFF2-40B4-BE49-F238E27FC236}">
                    <a16:creationId xmlns:a16="http://schemas.microsoft.com/office/drawing/2014/main" id="{603561F8-68E8-490D-931E-FD596574F1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137" y="1028"/>
                <a:ext cx="3" cy="18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2" name="Line 198">
                <a:extLst>
                  <a:ext uri="{FF2B5EF4-FFF2-40B4-BE49-F238E27FC236}">
                    <a16:creationId xmlns:a16="http://schemas.microsoft.com/office/drawing/2014/main" id="{61D8C0F8-A387-4306-936A-ADB293DB05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70" y="1108"/>
                <a:ext cx="28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3" name="Line 199">
                <a:extLst>
                  <a:ext uri="{FF2B5EF4-FFF2-40B4-BE49-F238E27FC236}">
                    <a16:creationId xmlns:a16="http://schemas.microsoft.com/office/drawing/2014/main" id="{017ABA50-BFD3-4BD9-B707-8564F03F73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854" y="1028"/>
                <a:ext cx="3" cy="18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4" name="Line 200">
                <a:extLst>
                  <a:ext uri="{FF2B5EF4-FFF2-40B4-BE49-F238E27FC236}">
                    <a16:creationId xmlns:a16="http://schemas.microsoft.com/office/drawing/2014/main" id="{C2E8EEC8-1A96-4CF0-9EE8-FD896CE065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137" y="1028"/>
                <a:ext cx="3" cy="18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5" name="Line 201">
                <a:extLst>
                  <a:ext uri="{FF2B5EF4-FFF2-40B4-BE49-F238E27FC236}">
                    <a16:creationId xmlns:a16="http://schemas.microsoft.com/office/drawing/2014/main" id="{AAEF4A00-247D-4CFD-8D40-8B95194C76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54" y="1108"/>
                <a:ext cx="27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" name="Line 202">
                <a:extLst>
                  <a:ext uri="{FF2B5EF4-FFF2-40B4-BE49-F238E27FC236}">
                    <a16:creationId xmlns:a16="http://schemas.microsoft.com/office/drawing/2014/main" id="{D688A932-D4C1-409B-BCDB-E21FA6B05F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91" y="1063"/>
                <a:ext cx="268" cy="0"/>
              </a:xfrm>
              <a:prstGeom prst="line">
                <a:avLst/>
              </a:prstGeom>
              <a:noFill/>
              <a:ln w="25400">
                <a:solidFill>
                  <a:srgbClr val="DC008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" name="Line 203">
                <a:extLst>
                  <a:ext uri="{FF2B5EF4-FFF2-40B4-BE49-F238E27FC236}">
                    <a16:creationId xmlns:a16="http://schemas.microsoft.com/office/drawing/2014/main" id="{B24BE06D-B84F-433F-A1F5-DF392B0470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76" y="1063"/>
                <a:ext cx="268" cy="0"/>
              </a:xfrm>
              <a:prstGeom prst="line">
                <a:avLst/>
              </a:prstGeom>
              <a:noFill/>
              <a:ln w="25400">
                <a:solidFill>
                  <a:srgbClr val="DC008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" name="Line 204">
                <a:extLst>
                  <a:ext uri="{FF2B5EF4-FFF2-40B4-BE49-F238E27FC236}">
                    <a16:creationId xmlns:a16="http://schemas.microsoft.com/office/drawing/2014/main" id="{4065BF71-18A2-46E7-826F-58CCCA777D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2" y="1063"/>
                <a:ext cx="270" cy="0"/>
              </a:xfrm>
              <a:prstGeom prst="line">
                <a:avLst/>
              </a:prstGeom>
              <a:noFill/>
              <a:ln w="25400">
                <a:solidFill>
                  <a:srgbClr val="DC008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" name="Rectangle 205">
                <a:extLst>
                  <a:ext uri="{FF2B5EF4-FFF2-40B4-BE49-F238E27FC236}">
                    <a16:creationId xmlns:a16="http://schemas.microsoft.com/office/drawing/2014/main" id="{8ABEA5D8-95A1-448A-A881-CD996D90CF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4" y="1146"/>
                <a:ext cx="276" cy="248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pPr algn="ctr" eaLnBrk="0" hangingPunct="0"/>
                <a:r>
                  <a:rPr lang="en-US" sz="2000" b="1">
                    <a:latin typeface="FranklinGothic" charset="0"/>
                  </a:rPr>
                  <a:t>30</a:t>
                </a:r>
              </a:p>
            </p:txBody>
          </p:sp>
          <p:sp>
            <p:nvSpPr>
              <p:cNvPr id="260" name="Rectangle 206">
                <a:extLst>
                  <a:ext uri="{FF2B5EF4-FFF2-40B4-BE49-F238E27FC236}">
                    <a16:creationId xmlns:a16="http://schemas.microsoft.com/office/drawing/2014/main" id="{0037543F-92FE-45DA-B23A-648FE92D69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0" y="1146"/>
                <a:ext cx="275" cy="248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pPr algn="ctr" eaLnBrk="0" hangingPunct="0"/>
                <a:r>
                  <a:rPr lang="en-US" sz="2000" b="1">
                    <a:latin typeface="FranklinGothic" charset="0"/>
                  </a:rPr>
                  <a:t>30</a:t>
                </a:r>
              </a:p>
            </p:txBody>
          </p:sp>
          <p:sp>
            <p:nvSpPr>
              <p:cNvPr id="261" name="Rectangle 207">
                <a:extLst>
                  <a:ext uri="{FF2B5EF4-FFF2-40B4-BE49-F238E27FC236}">
                    <a16:creationId xmlns:a16="http://schemas.microsoft.com/office/drawing/2014/main" id="{E450C274-4A84-40AE-872A-C5726AD77D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84" y="1146"/>
                <a:ext cx="276" cy="248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pPr algn="ctr" eaLnBrk="0" hangingPunct="0"/>
                <a:r>
                  <a:rPr lang="en-US" sz="2000" b="1">
                    <a:latin typeface="FranklinGothic" charset="0"/>
                  </a:rPr>
                  <a:t>30</a:t>
                </a:r>
              </a:p>
            </p:txBody>
          </p:sp>
          <p:sp>
            <p:nvSpPr>
              <p:cNvPr id="262" name="Rectangle 208">
                <a:extLst>
                  <a:ext uri="{FF2B5EF4-FFF2-40B4-BE49-F238E27FC236}">
                    <a16:creationId xmlns:a16="http://schemas.microsoft.com/office/drawing/2014/main" id="{18FABDC2-83B4-4D1B-A8D7-D763D84949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4" y="1146"/>
                <a:ext cx="276" cy="248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pPr algn="ctr" eaLnBrk="0" hangingPunct="0"/>
                <a:r>
                  <a:rPr lang="en-US" sz="2000" b="1">
                    <a:latin typeface="FranklinGothic" charset="0"/>
                  </a:rPr>
                  <a:t>30</a:t>
                </a:r>
              </a:p>
            </p:txBody>
          </p:sp>
          <p:sp>
            <p:nvSpPr>
              <p:cNvPr id="263" name="Line 209">
                <a:extLst>
                  <a:ext uri="{FF2B5EF4-FFF2-40B4-BE49-F238E27FC236}">
                    <a16:creationId xmlns:a16="http://schemas.microsoft.com/office/drawing/2014/main" id="{5965B3E5-BE87-4E57-9FD9-208C183945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76" y="1159"/>
                <a:ext cx="266" cy="0"/>
              </a:xfrm>
              <a:prstGeom prst="line">
                <a:avLst/>
              </a:prstGeom>
              <a:noFill/>
              <a:ln w="25400">
                <a:solidFill>
                  <a:srgbClr val="F39FD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4" name="Line 210">
                <a:extLst>
                  <a:ext uri="{FF2B5EF4-FFF2-40B4-BE49-F238E27FC236}">
                    <a16:creationId xmlns:a16="http://schemas.microsoft.com/office/drawing/2014/main" id="{8879EC27-E0FB-48AC-B47C-C995987ECF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61" y="1158"/>
                <a:ext cx="266" cy="0"/>
              </a:xfrm>
              <a:prstGeom prst="line">
                <a:avLst/>
              </a:prstGeom>
              <a:noFill/>
              <a:ln w="25400">
                <a:solidFill>
                  <a:srgbClr val="F39FD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5" name="Line 211">
                <a:extLst>
                  <a:ext uri="{FF2B5EF4-FFF2-40B4-BE49-F238E27FC236}">
                    <a16:creationId xmlns:a16="http://schemas.microsoft.com/office/drawing/2014/main" id="{319DB826-8802-4810-81B5-6A644089CB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60" y="1202"/>
                <a:ext cx="267" cy="1"/>
              </a:xfrm>
              <a:prstGeom prst="line">
                <a:avLst/>
              </a:prstGeom>
              <a:noFill/>
              <a:ln w="25400">
                <a:solidFill>
                  <a:srgbClr val="91919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" name="Line 212">
                <a:extLst>
                  <a:ext uri="{FF2B5EF4-FFF2-40B4-BE49-F238E27FC236}">
                    <a16:creationId xmlns:a16="http://schemas.microsoft.com/office/drawing/2014/main" id="{A6B650E6-FAFD-4CE4-A5FF-EDE4C64228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46" y="1158"/>
                <a:ext cx="265" cy="0"/>
              </a:xfrm>
              <a:prstGeom prst="line">
                <a:avLst/>
              </a:prstGeom>
              <a:noFill/>
              <a:ln w="25400">
                <a:solidFill>
                  <a:srgbClr val="F39FD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" name="Line 213">
                <a:extLst>
                  <a:ext uri="{FF2B5EF4-FFF2-40B4-BE49-F238E27FC236}">
                    <a16:creationId xmlns:a16="http://schemas.microsoft.com/office/drawing/2014/main" id="{93E166D8-4B15-4550-A6BE-6DC39BF0B7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44" y="1202"/>
                <a:ext cx="267" cy="1"/>
              </a:xfrm>
              <a:prstGeom prst="line">
                <a:avLst/>
              </a:prstGeom>
              <a:noFill/>
              <a:ln w="25400">
                <a:solidFill>
                  <a:srgbClr val="91919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8" name="Line 214">
                <a:extLst>
                  <a:ext uri="{FF2B5EF4-FFF2-40B4-BE49-F238E27FC236}">
                    <a16:creationId xmlns:a16="http://schemas.microsoft.com/office/drawing/2014/main" id="{2106AFBE-9670-47AA-BF9C-06DF8F17FB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29" y="1202"/>
                <a:ext cx="266" cy="1"/>
              </a:xfrm>
              <a:prstGeom prst="line">
                <a:avLst/>
              </a:prstGeom>
              <a:noFill/>
              <a:ln w="25400">
                <a:solidFill>
                  <a:srgbClr val="91919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" name="Line 215">
                <a:extLst>
                  <a:ext uri="{FF2B5EF4-FFF2-40B4-BE49-F238E27FC236}">
                    <a16:creationId xmlns:a16="http://schemas.microsoft.com/office/drawing/2014/main" id="{3379F82C-CFEB-4A7A-B994-D35915BD52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7" y="1063"/>
                <a:ext cx="269" cy="0"/>
              </a:xfrm>
              <a:prstGeom prst="line">
                <a:avLst/>
              </a:prstGeom>
              <a:noFill/>
              <a:ln w="25400">
                <a:solidFill>
                  <a:srgbClr val="DC008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" name="Rectangle 216">
                <a:extLst>
                  <a:ext uri="{FF2B5EF4-FFF2-40B4-BE49-F238E27FC236}">
                    <a16:creationId xmlns:a16="http://schemas.microsoft.com/office/drawing/2014/main" id="{3E0E242B-9DE1-4B57-89DE-120BFF4A17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42" y="1152"/>
                <a:ext cx="275" cy="248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pPr algn="ctr" eaLnBrk="0" hangingPunct="0"/>
                <a:r>
                  <a:rPr lang="en-US" sz="2000" b="1">
                    <a:latin typeface="FranklinGothic" charset="0"/>
                  </a:rPr>
                  <a:t>30</a:t>
                </a:r>
              </a:p>
            </p:txBody>
          </p:sp>
          <p:sp>
            <p:nvSpPr>
              <p:cNvPr id="271" name="Rectangle 217">
                <a:extLst>
                  <a:ext uri="{FF2B5EF4-FFF2-40B4-BE49-F238E27FC236}">
                    <a16:creationId xmlns:a16="http://schemas.microsoft.com/office/drawing/2014/main" id="{1EB73134-B7F1-494C-9FA7-176144D23A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26" y="1152"/>
                <a:ext cx="276" cy="248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pPr algn="ctr" eaLnBrk="0" hangingPunct="0"/>
                <a:r>
                  <a:rPr lang="en-US" sz="2000" b="1">
                    <a:latin typeface="FranklinGothic" charset="0"/>
                  </a:rPr>
                  <a:t>30</a:t>
                </a:r>
              </a:p>
            </p:txBody>
          </p:sp>
          <p:sp>
            <p:nvSpPr>
              <p:cNvPr id="272" name="Line 218">
                <a:extLst>
                  <a:ext uri="{FF2B5EF4-FFF2-40B4-BE49-F238E27FC236}">
                    <a16:creationId xmlns:a16="http://schemas.microsoft.com/office/drawing/2014/main" id="{CC3406A4-F016-457D-B098-05434E8F88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137" y="1028"/>
                <a:ext cx="3" cy="18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3" name="Line 219">
                <a:extLst>
                  <a:ext uri="{FF2B5EF4-FFF2-40B4-BE49-F238E27FC236}">
                    <a16:creationId xmlns:a16="http://schemas.microsoft.com/office/drawing/2014/main" id="{DE0B70FE-264E-48A4-B470-46925BECAF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2" y="1028"/>
                <a:ext cx="0" cy="19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4" name="Line 220">
                <a:extLst>
                  <a:ext uri="{FF2B5EF4-FFF2-40B4-BE49-F238E27FC236}">
                    <a16:creationId xmlns:a16="http://schemas.microsoft.com/office/drawing/2014/main" id="{FE45EEC4-75BF-493D-BC88-93BCCDC389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87" y="1028"/>
                <a:ext cx="0" cy="19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5" name="Line 221">
                <a:extLst>
                  <a:ext uri="{FF2B5EF4-FFF2-40B4-BE49-F238E27FC236}">
                    <a16:creationId xmlns:a16="http://schemas.microsoft.com/office/drawing/2014/main" id="{704496CC-3FC2-4A1B-BD63-9D3571D70C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71" y="1028"/>
                <a:ext cx="0" cy="19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6" name="Line 222">
                <a:extLst>
                  <a:ext uri="{FF2B5EF4-FFF2-40B4-BE49-F238E27FC236}">
                    <a16:creationId xmlns:a16="http://schemas.microsoft.com/office/drawing/2014/main" id="{B4D0F0C7-CBD2-4D1D-9DCB-E197725607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55" y="1028"/>
                <a:ext cx="0" cy="19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7" name="Line 223">
                <a:extLst>
                  <a:ext uri="{FF2B5EF4-FFF2-40B4-BE49-F238E27FC236}">
                    <a16:creationId xmlns:a16="http://schemas.microsoft.com/office/drawing/2014/main" id="{C1632B6B-17B6-482B-B6CA-7208C37087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421" y="1028"/>
                <a:ext cx="3" cy="18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8" name="Line 224">
                <a:extLst>
                  <a:ext uri="{FF2B5EF4-FFF2-40B4-BE49-F238E27FC236}">
                    <a16:creationId xmlns:a16="http://schemas.microsoft.com/office/drawing/2014/main" id="{B5FC24AA-22F5-4F17-9A56-93CC77823C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706" y="1028"/>
                <a:ext cx="3" cy="18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9" name="Line 225">
                <a:extLst>
                  <a:ext uri="{FF2B5EF4-FFF2-40B4-BE49-F238E27FC236}">
                    <a16:creationId xmlns:a16="http://schemas.microsoft.com/office/drawing/2014/main" id="{C33BB1CA-5B69-4940-8888-142ED0082D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984" y="1037"/>
                <a:ext cx="3" cy="18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" name="Line 226">
                <a:extLst>
                  <a:ext uri="{FF2B5EF4-FFF2-40B4-BE49-F238E27FC236}">
                    <a16:creationId xmlns:a16="http://schemas.microsoft.com/office/drawing/2014/main" id="{07423FA6-017E-41C0-BAFE-017364FEAB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43" y="1108"/>
                <a:ext cx="279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1" name="Line 227">
                <a:extLst>
                  <a:ext uri="{FF2B5EF4-FFF2-40B4-BE49-F238E27FC236}">
                    <a16:creationId xmlns:a16="http://schemas.microsoft.com/office/drawing/2014/main" id="{2F96A605-AED2-4F24-8816-13D75827E1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29" y="1158"/>
                <a:ext cx="264" cy="0"/>
              </a:xfrm>
              <a:prstGeom prst="line">
                <a:avLst/>
              </a:prstGeom>
              <a:noFill/>
              <a:ln w="25400">
                <a:solidFill>
                  <a:srgbClr val="F39FD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2" name="Line 228">
                <a:extLst>
                  <a:ext uri="{FF2B5EF4-FFF2-40B4-BE49-F238E27FC236}">
                    <a16:creationId xmlns:a16="http://schemas.microsoft.com/office/drawing/2014/main" id="{D22ECDD0-0FB2-4786-8CDA-94B0B97D76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11" y="1201"/>
                <a:ext cx="266" cy="1"/>
              </a:xfrm>
              <a:prstGeom prst="line">
                <a:avLst/>
              </a:prstGeom>
              <a:noFill/>
              <a:ln w="25400">
                <a:solidFill>
                  <a:srgbClr val="91919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3" name="Rectangle 248">
                <a:extLst>
                  <a:ext uri="{FF2B5EF4-FFF2-40B4-BE49-F238E27FC236}">
                    <a16:creationId xmlns:a16="http://schemas.microsoft.com/office/drawing/2014/main" id="{4808CC85-D4FB-4259-BAEF-40F76A8EAE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95" y="1152"/>
                <a:ext cx="276" cy="248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pPr algn="ctr" eaLnBrk="0" hangingPunct="0"/>
                <a:r>
                  <a:rPr lang="en-US" sz="2000" b="1">
                    <a:latin typeface="FranklinGothic" charset="0"/>
                  </a:rPr>
                  <a:t>30</a:t>
                </a:r>
              </a:p>
            </p:txBody>
          </p:sp>
        </p:grpSp>
        <p:grpSp>
          <p:nvGrpSpPr>
            <p:cNvPr id="187" name="Group 251">
              <a:extLst>
                <a:ext uri="{FF2B5EF4-FFF2-40B4-BE49-F238E27FC236}">
                  <a16:creationId xmlns:a16="http://schemas.microsoft.com/office/drawing/2014/main" id="{3393DF0F-6D5A-4F47-A6A3-19E76DE613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44" y="1776"/>
              <a:ext cx="1064" cy="310"/>
              <a:chOff x="768" y="1392"/>
              <a:chExt cx="1064" cy="310"/>
            </a:xfrm>
          </p:grpSpPr>
          <p:grpSp>
            <p:nvGrpSpPr>
              <p:cNvPr id="226" name="Group 252">
                <a:extLst>
                  <a:ext uri="{FF2B5EF4-FFF2-40B4-BE49-F238E27FC236}">
                    <a16:creationId xmlns:a16="http://schemas.microsoft.com/office/drawing/2014/main" id="{CEE46E84-2664-4B27-A557-E21B60E2C62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68" y="1392"/>
                <a:ext cx="206" cy="310"/>
                <a:chOff x="1013" y="1348"/>
                <a:chExt cx="206" cy="310"/>
              </a:xfrm>
            </p:grpSpPr>
            <p:sp>
              <p:nvSpPr>
                <p:cNvPr id="241" name="AutoShape 253">
                  <a:extLst>
                    <a:ext uri="{FF2B5EF4-FFF2-40B4-BE49-F238E27FC236}">
                      <a16:creationId xmlns:a16="http://schemas.microsoft.com/office/drawing/2014/main" id="{D2FE7437-6319-459F-98EB-46B63399E6F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13" y="1398"/>
                  <a:ext cx="206" cy="260"/>
                </a:xfrm>
                <a:prstGeom prst="cube">
                  <a:avLst>
                    <a:gd name="adj" fmla="val 24995"/>
                  </a:avLst>
                </a:prstGeom>
                <a:solidFill>
                  <a:srgbClr val="DC008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42" name="AutoShape 254">
                  <a:extLst>
                    <a:ext uri="{FF2B5EF4-FFF2-40B4-BE49-F238E27FC236}">
                      <a16:creationId xmlns:a16="http://schemas.microsoft.com/office/drawing/2014/main" id="{72969446-9E67-4C56-B761-41327C0D1E2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61" y="1348"/>
                  <a:ext cx="158" cy="46"/>
                </a:xfrm>
                <a:prstGeom prst="cube">
                  <a:avLst>
                    <a:gd name="adj" fmla="val 24995"/>
                  </a:avLst>
                </a:prstGeom>
                <a:solidFill>
                  <a:srgbClr val="DC008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43" name="AutoShape 255">
                  <a:extLst>
                    <a:ext uri="{FF2B5EF4-FFF2-40B4-BE49-F238E27FC236}">
                      <a16:creationId xmlns:a16="http://schemas.microsoft.com/office/drawing/2014/main" id="{AE858F73-7623-4DEB-BF29-2CB7BDAA37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52" y="1419"/>
                  <a:ext cx="108" cy="15"/>
                </a:xfrm>
                <a:prstGeom prst="parallelogram">
                  <a:avLst>
                    <a:gd name="adj" fmla="val 179967"/>
                  </a:avLst>
                </a:prstGeom>
                <a:solidFill>
                  <a:srgbClr val="DC008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27" name="Group 256">
                <a:extLst>
                  <a:ext uri="{FF2B5EF4-FFF2-40B4-BE49-F238E27FC236}">
                    <a16:creationId xmlns:a16="http://schemas.microsoft.com/office/drawing/2014/main" id="{095F31A3-EDDC-487B-894C-7E038DF441C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44" y="1440"/>
                <a:ext cx="203" cy="257"/>
                <a:chOff x="1531" y="1389"/>
                <a:chExt cx="203" cy="257"/>
              </a:xfrm>
            </p:grpSpPr>
            <p:sp>
              <p:nvSpPr>
                <p:cNvPr id="235" name="Freeform 257">
                  <a:extLst>
                    <a:ext uri="{FF2B5EF4-FFF2-40B4-BE49-F238E27FC236}">
                      <a16:creationId xmlns:a16="http://schemas.microsoft.com/office/drawing/2014/main" id="{434822AD-2AB9-4249-A4EC-375AA461407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60" y="1506"/>
                  <a:ext cx="62" cy="140"/>
                </a:xfrm>
                <a:custGeom>
                  <a:avLst/>
                  <a:gdLst>
                    <a:gd name="T0" fmla="*/ 44 w 62"/>
                    <a:gd name="T1" fmla="*/ 0 h 140"/>
                    <a:gd name="T2" fmla="*/ 61 w 62"/>
                    <a:gd name="T3" fmla="*/ 0 h 140"/>
                    <a:gd name="T4" fmla="*/ 17 w 62"/>
                    <a:gd name="T5" fmla="*/ 139 h 140"/>
                    <a:gd name="T6" fmla="*/ 0 w 62"/>
                    <a:gd name="T7" fmla="*/ 139 h 140"/>
                    <a:gd name="T8" fmla="*/ 44 w 62"/>
                    <a:gd name="T9" fmla="*/ 0 h 1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2"/>
                    <a:gd name="T16" fmla="*/ 0 h 140"/>
                    <a:gd name="T17" fmla="*/ 62 w 62"/>
                    <a:gd name="T18" fmla="*/ 140 h 1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2" h="140">
                      <a:moveTo>
                        <a:pt x="44" y="0"/>
                      </a:moveTo>
                      <a:lnTo>
                        <a:pt x="61" y="0"/>
                      </a:lnTo>
                      <a:lnTo>
                        <a:pt x="17" y="139"/>
                      </a:lnTo>
                      <a:lnTo>
                        <a:pt x="0" y="139"/>
                      </a:lnTo>
                      <a:lnTo>
                        <a:pt x="44" y="0"/>
                      </a:lnTo>
                    </a:path>
                  </a:pathLst>
                </a:custGeom>
                <a:solidFill>
                  <a:srgbClr val="F39FD1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6" name="Rectangle 258">
                  <a:extLst>
                    <a:ext uri="{FF2B5EF4-FFF2-40B4-BE49-F238E27FC236}">
                      <a16:creationId xmlns:a16="http://schemas.microsoft.com/office/drawing/2014/main" id="{A2866AF5-3D12-4F8A-A0CC-A936EE4975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57" y="1506"/>
                  <a:ext cx="77" cy="12"/>
                </a:xfrm>
                <a:prstGeom prst="rect">
                  <a:avLst/>
                </a:prstGeom>
                <a:solidFill>
                  <a:srgbClr val="F39FD1"/>
                </a:solidFill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7" name="Rectangle 259">
                  <a:extLst>
                    <a:ext uri="{FF2B5EF4-FFF2-40B4-BE49-F238E27FC236}">
                      <a16:creationId xmlns:a16="http://schemas.microsoft.com/office/drawing/2014/main" id="{CB262E62-79E7-4107-8A0F-BC08A479ADB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3" y="1564"/>
                  <a:ext cx="58" cy="12"/>
                </a:xfrm>
                <a:prstGeom prst="rect">
                  <a:avLst/>
                </a:prstGeom>
                <a:solidFill>
                  <a:srgbClr val="F39FD1"/>
                </a:solidFill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8" name="Rectangle 260">
                  <a:extLst>
                    <a:ext uri="{FF2B5EF4-FFF2-40B4-BE49-F238E27FC236}">
                      <a16:creationId xmlns:a16="http://schemas.microsoft.com/office/drawing/2014/main" id="{634F374C-E16F-4BE1-B291-3CB326E21BE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32" y="1564"/>
                  <a:ext cx="74" cy="7"/>
                </a:xfrm>
                <a:prstGeom prst="rect">
                  <a:avLst/>
                </a:prstGeom>
                <a:solidFill>
                  <a:srgbClr val="F39FD1"/>
                </a:solidFill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9" name="Oval 261">
                  <a:extLst>
                    <a:ext uri="{FF2B5EF4-FFF2-40B4-BE49-F238E27FC236}">
                      <a16:creationId xmlns:a16="http://schemas.microsoft.com/office/drawing/2014/main" id="{64E32B5C-3879-4677-9C32-9BEB7893DD1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92" y="1389"/>
                  <a:ext cx="22" cy="25"/>
                </a:xfrm>
                <a:prstGeom prst="ellipse">
                  <a:avLst/>
                </a:prstGeom>
                <a:solidFill>
                  <a:srgbClr val="F39FD1"/>
                </a:solidFill>
                <a:ln w="254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40" name="Freeform 262">
                  <a:extLst>
                    <a:ext uri="{FF2B5EF4-FFF2-40B4-BE49-F238E27FC236}">
                      <a16:creationId xmlns:a16="http://schemas.microsoft.com/office/drawing/2014/main" id="{928538CF-EE43-4CC0-AFD3-F12A5CE28E6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31" y="1433"/>
                  <a:ext cx="139" cy="213"/>
                </a:xfrm>
                <a:custGeom>
                  <a:avLst/>
                  <a:gdLst>
                    <a:gd name="T0" fmla="*/ 1 w 139"/>
                    <a:gd name="T1" fmla="*/ 98 h 213"/>
                    <a:gd name="T2" fmla="*/ 1 w 139"/>
                    <a:gd name="T3" fmla="*/ 101 h 213"/>
                    <a:gd name="T4" fmla="*/ 0 w 139"/>
                    <a:gd name="T5" fmla="*/ 104 h 213"/>
                    <a:gd name="T6" fmla="*/ 0 w 139"/>
                    <a:gd name="T7" fmla="*/ 108 h 213"/>
                    <a:gd name="T8" fmla="*/ 1 w 139"/>
                    <a:gd name="T9" fmla="*/ 111 h 213"/>
                    <a:gd name="T10" fmla="*/ 3 w 139"/>
                    <a:gd name="T11" fmla="*/ 114 h 213"/>
                    <a:gd name="T12" fmla="*/ 6 w 139"/>
                    <a:gd name="T13" fmla="*/ 117 h 213"/>
                    <a:gd name="T14" fmla="*/ 9 w 139"/>
                    <a:gd name="T15" fmla="*/ 119 h 213"/>
                    <a:gd name="T16" fmla="*/ 11 w 139"/>
                    <a:gd name="T17" fmla="*/ 119 h 213"/>
                    <a:gd name="T18" fmla="*/ 15 w 139"/>
                    <a:gd name="T19" fmla="*/ 119 h 213"/>
                    <a:gd name="T20" fmla="*/ 90 w 139"/>
                    <a:gd name="T21" fmla="*/ 212 h 213"/>
                    <a:gd name="T22" fmla="*/ 114 w 139"/>
                    <a:gd name="T23" fmla="*/ 102 h 213"/>
                    <a:gd name="T24" fmla="*/ 113 w 139"/>
                    <a:gd name="T25" fmla="*/ 99 h 213"/>
                    <a:gd name="T26" fmla="*/ 112 w 139"/>
                    <a:gd name="T27" fmla="*/ 98 h 213"/>
                    <a:gd name="T28" fmla="*/ 110 w 139"/>
                    <a:gd name="T29" fmla="*/ 96 h 213"/>
                    <a:gd name="T30" fmla="*/ 108 w 139"/>
                    <a:gd name="T31" fmla="*/ 94 h 213"/>
                    <a:gd name="T32" fmla="*/ 106 w 139"/>
                    <a:gd name="T33" fmla="*/ 93 h 213"/>
                    <a:gd name="T34" fmla="*/ 103 w 139"/>
                    <a:gd name="T35" fmla="*/ 93 h 213"/>
                    <a:gd name="T36" fmla="*/ 100 w 139"/>
                    <a:gd name="T37" fmla="*/ 93 h 213"/>
                    <a:gd name="T38" fmla="*/ 98 w 139"/>
                    <a:gd name="T39" fmla="*/ 93 h 213"/>
                    <a:gd name="T40" fmla="*/ 67 w 139"/>
                    <a:gd name="T41" fmla="*/ 54 h 213"/>
                    <a:gd name="T42" fmla="*/ 128 w 139"/>
                    <a:gd name="T43" fmla="*/ 67 h 213"/>
                    <a:gd name="T44" fmla="*/ 131 w 139"/>
                    <a:gd name="T45" fmla="*/ 66 h 213"/>
                    <a:gd name="T46" fmla="*/ 132 w 139"/>
                    <a:gd name="T47" fmla="*/ 66 h 213"/>
                    <a:gd name="T48" fmla="*/ 135 w 139"/>
                    <a:gd name="T49" fmla="*/ 64 h 213"/>
                    <a:gd name="T50" fmla="*/ 137 w 139"/>
                    <a:gd name="T51" fmla="*/ 62 h 213"/>
                    <a:gd name="T52" fmla="*/ 137 w 139"/>
                    <a:gd name="T53" fmla="*/ 59 h 213"/>
                    <a:gd name="T54" fmla="*/ 138 w 139"/>
                    <a:gd name="T55" fmla="*/ 56 h 213"/>
                    <a:gd name="T56" fmla="*/ 137 w 139"/>
                    <a:gd name="T57" fmla="*/ 53 h 213"/>
                    <a:gd name="T58" fmla="*/ 136 w 139"/>
                    <a:gd name="T59" fmla="*/ 51 h 213"/>
                    <a:gd name="T60" fmla="*/ 134 w 139"/>
                    <a:gd name="T61" fmla="*/ 49 h 213"/>
                    <a:gd name="T62" fmla="*/ 132 w 139"/>
                    <a:gd name="T63" fmla="*/ 47 h 213"/>
                    <a:gd name="T64" fmla="*/ 129 w 139"/>
                    <a:gd name="T65" fmla="*/ 46 h 213"/>
                    <a:gd name="T66" fmla="*/ 87 w 139"/>
                    <a:gd name="T67" fmla="*/ 46 h 213"/>
                    <a:gd name="T68" fmla="*/ 80 w 139"/>
                    <a:gd name="T69" fmla="*/ 30 h 213"/>
                    <a:gd name="T70" fmla="*/ 81 w 139"/>
                    <a:gd name="T71" fmla="*/ 26 h 213"/>
                    <a:gd name="T72" fmla="*/ 81 w 139"/>
                    <a:gd name="T73" fmla="*/ 22 h 213"/>
                    <a:gd name="T74" fmla="*/ 81 w 139"/>
                    <a:gd name="T75" fmla="*/ 18 h 213"/>
                    <a:gd name="T76" fmla="*/ 80 w 139"/>
                    <a:gd name="T77" fmla="*/ 14 h 213"/>
                    <a:gd name="T78" fmla="*/ 79 w 139"/>
                    <a:gd name="T79" fmla="*/ 11 h 213"/>
                    <a:gd name="T80" fmla="*/ 76 w 139"/>
                    <a:gd name="T81" fmla="*/ 8 h 213"/>
                    <a:gd name="T82" fmla="*/ 73 w 139"/>
                    <a:gd name="T83" fmla="*/ 5 h 213"/>
                    <a:gd name="T84" fmla="*/ 70 w 139"/>
                    <a:gd name="T85" fmla="*/ 3 h 213"/>
                    <a:gd name="T86" fmla="*/ 67 w 139"/>
                    <a:gd name="T87" fmla="*/ 1 h 213"/>
                    <a:gd name="T88" fmla="*/ 62 w 139"/>
                    <a:gd name="T89" fmla="*/ 0 h 213"/>
                    <a:gd name="T90" fmla="*/ 58 w 139"/>
                    <a:gd name="T91" fmla="*/ 0 h 213"/>
                    <a:gd name="T92" fmla="*/ 54 w 139"/>
                    <a:gd name="T93" fmla="*/ 1 h 213"/>
                    <a:gd name="T94" fmla="*/ 49 w 139"/>
                    <a:gd name="T95" fmla="*/ 2 h 213"/>
                    <a:gd name="T96" fmla="*/ 45 w 139"/>
                    <a:gd name="T97" fmla="*/ 4 h 213"/>
                    <a:gd name="T98" fmla="*/ 42 w 139"/>
                    <a:gd name="T99" fmla="*/ 8 h 213"/>
                    <a:gd name="T100" fmla="*/ 39 w 139"/>
                    <a:gd name="T101" fmla="*/ 12 h 213"/>
                    <a:gd name="T102" fmla="*/ 38 w 139"/>
                    <a:gd name="T103" fmla="*/ 16 h 213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w 139"/>
                    <a:gd name="T157" fmla="*/ 0 h 213"/>
                    <a:gd name="T158" fmla="*/ 139 w 139"/>
                    <a:gd name="T159" fmla="*/ 213 h 213"/>
                  </a:gdLst>
                  <a:ahLst/>
                  <a:cxnLst>
                    <a:cxn ang="T104">
                      <a:pos x="T0" y="T1"/>
                    </a:cxn>
                    <a:cxn ang="T105">
                      <a:pos x="T2" y="T3"/>
                    </a:cxn>
                    <a:cxn ang="T106">
                      <a:pos x="T4" y="T5"/>
                    </a:cxn>
                    <a:cxn ang="T107">
                      <a:pos x="T6" y="T7"/>
                    </a:cxn>
                    <a:cxn ang="T108">
                      <a:pos x="T8" y="T9"/>
                    </a:cxn>
                    <a:cxn ang="T109">
                      <a:pos x="T10" y="T11"/>
                    </a:cxn>
                    <a:cxn ang="T110">
                      <a:pos x="T12" y="T13"/>
                    </a:cxn>
                    <a:cxn ang="T111">
                      <a:pos x="T14" y="T15"/>
                    </a:cxn>
                    <a:cxn ang="T112">
                      <a:pos x="T16" y="T17"/>
                    </a:cxn>
                    <a:cxn ang="T113">
                      <a:pos x="T18" y="T19"/>
                    </a:cxn>
                    <a:cxn ang="T114">
                      <a:pos x="T20" y="T21"/>
                    </a:cxn>
                    <a:cxn ang="T115">
                      <a:pos x="T22" y="T23"/>
                    </a:cxn>
                    <a:cxn ang="T116">
                      <a:pos x="T24" y="T25"/>
                    </a:cxn>
                    <a:cxn ang="T117">
                      <a:pos x="T26" y="T27"/>
                    </a:cxn>
                    <a:cxn ang="T118">
                      <a:pos x="T28" y="T29"/>
                    </a:cxn>
                    <a:cxn ang="T119">
                      <a:pos x="T30" y="T31"/>
                    </a:cxn>
                    <a:cxn ang="T120">
                      <a:pos x="T32" y="T33"/>
                    </a:cxn>
                    <a:cxn ang="T121">
                      <a:pos x="T34" y="T35"/>
                    </a:cxn>
                    <a:cxn ang="T122">
                      <a:pos x="T36" y="T37"/>
                    </a:cxn>
                    <a:cxn ang="T123">
                      <a:pos x="T38" y="T39"/>
                    </a:cxn>
                    <a:cxn ang="T124">
                      <a:pos x="T40" y="T41"/>
                    </a:cxn>
                    <a:cxn ang="T125">
                      <a:pos x="T42" y="T43"/>
                    </a:cxn>
                    <a:cxn ang="T126">
                      <a:pos x="T44" y="T45"/>
                    </a:cxn>
                    <a:cxn ang="T127">
                      <a:pos x="T46" y="T47"/>
                    </a:cxn>
                    <a:cxn ang="T128">
                      <a:pos x="T48" y="T49"/>
                    </a:cxn>
                    <a:cxn ang="T129">
                      <a:pos x="T50" y="T51"/>
                    </a:cxn>
                    <a:cxn ang="T130">
                      <a:pos x="T52" y="T53"/>
                    </a:cxn>
                    <a:cxn ang="T131">
                      <a:pos x="T54" y="T55"/>
                    </a:cxn>
                    <a:cxn ang="T132">
                      <a:pos x="T56" y="T57"/>
                    </a:cxn>
                    <a:cxn ang="T133">
                      <a:pos x="T58" y="T59"/>
                    </a:cxn>
                    <a:cxn ang="T134">
                      <a:pos x="T60" y="T61"/>
                    </a:cxn>
                    <a:cxn ang="T135">
                      <a:pos x="T62" y="T63"/>
                    </a:cxn>
                    <a:cxn ang="T136">
                      <a:pos x="T64" y="T65"/>
                    </a:cxn>
                    <a:cxn ang="T137">
                      <a:pos x="T66" y="T67"/>
                    </a:cxn>
                    <a:cxn ang="T138">
                      <a:pos x="T68" y="T69"/>
                    </a:cxn>
                    <a:cxn ang="T139">
                      <a:pos x="T70" y="T71"/>
                    </a:cxn>
                    <a:cxn ang="T140">
                      <a:pos x="T72" y="T73"/>
                    </a:cxn>
                    <a:cxn ang="T141">
                      <a:pos x="T74" y="T75"/>
                    </a:cxn>
                    <a:cxn ang="T142">
                      <a:pos x="T76" y="T77"/>
                    </a:cxn>
                    <a:cxn ang="T143">
                      <a:pos x="T78" y="T79"/>
                    </a:cxn>
                    <a:cxn ang="T144">
                      <a:pos x="T80" y="T81"/>
                    </a:cxn>
                    <a:cxn ang="T145">
                      <a:pos x="T82" y="T83"/>
                    </a:cxn>
                    <a:cxn ang="T146">
                      <a:pos x="T84" y="T85"/>
                    </a:cxn>
                    <a:cxn ang="T147">
                      <a:pos x="T86" y="T87"/>
                    </a:cxn>
                    <a:cxn ang="T148">
                      <a:pos x="T88" y="T89"/>
                    </a:cxn>
                    <a:cxn ang="T149">
                      <a:pos x="T90" y="T91"/>
                    </a:cxn>
                    <a:cxn ang="T150">
                      <a:pos x="T92" y="T93"/>
                    </a:cxn>
                    <a:cxn ang="T151">
                      <a:pos x="T94" y="T95"/>
                    </a:cxn>
                    <a:cxn ang="T152">
                      <a:pos x="T96" y="T97"/>
                    </a:cxn>
                    <a:cxn ang="T153">
                      <a:pos x="T98" y="T99"/>
                    </a:cxn>
                    <a:cxn ang="T154">
                      <a:pos x="T100" y="T101"/>
                    </a:cxn>
                    <a:cxn ang="T155">
                      <a:pos x="T102" y="T103"/>
                    </a:cxn>
                  </a:cxnLst>
                  <a:rect l="T156" t="T157" r="T158" b="T159"/>
                  <a:pathLst>
                    <a:path w="139" h="213">
                      <a:moveTo>
                        <a:pt x="38" y="16"/>
                      </a:moveTo>
                      <a:lnTo>
                        <a:pt x="1" y="98"/>
                      </a:lnTo>
                      <a:lnTo>
                        <a:pt x="1" y="99"/>
                      </a:lnTo>
                      <a:lnTo>
                        <a:pt x="1" y="101"/>
                      </a:lnTo>
                      <a:lnTo>
                        <a:pt x="0" y="102"/>
                      </a:lnTo>
                      <a:lnTo>
                        <a:pt x="0" y="104"/>
                      </a:lnTo>
                      <a:lnTo>
                        <a:pt x="0" y="106"/>
                      </a:lnTo>
                      <a:lnTo>
                        <a:pt x="0" y="108"/>
                      </a:lnTo>
                      <a:lnTo>
                        <a:pt x="1" y="109"/>
                      </a:lnTo>
                      <a:lnTo>
                        <a:pt x="1" y="111"/>
                      </a:lnTo>
                      <a:lnTo>
                        <a:pt x="2" y="113"/>
                      </a:lnTo>
                      <a:lnTo>
                        <a:pt x="3" y="114"/>
                      </a:lnTo>
                      <a:lnTo>
                        <a:pt x="4" y="116"/>
                      </a:lnTo>
                      <a:lnTo>
                        <a:pt x="6" y="117"/>
                      </a:lnTo>
                      <a:lnTo>
                        <a:pt x="7" y="118"/>
                      </a:lnTo>
                      <a:lnTo>
                        <a:pt x="9" y="119"/>
                      </a:lnTo>
                      <a:lnTo>
                        <a:pt x="10" y="119"/>
                      </a:lnTo>
                      <a:lnTo>
                        <a:pt x="11" y="119"/>
                      </a:lnTo>
                      <a:lnTo>
                        <a:pt x="13" y="119"/>
                      </a:lnTo>
                      <a:lnTo>
                        <a:pt x="15" y="119"/>
                      </a:lnTo>
                      <a:lnTo>
                        <a:pt x="90" y="119"/>
                      </a:lnTo>
                      <a:lnTo>
                        <a:pt x="90" y="212"/>
                      </a:lnTo>
                      <a:lnTo>
                        <a:pt x="114" y="212"/>
                      </a:lnTo>
                      <a:lnTo>
                        <a:pt x="114" y="102"/>
                      </a:lnTo>
                      <a:lnTo>
                        <a:pt x="114" y="101"/>
                      </a:lnTo>
                      <a:lnTo>
                        <a:pt x="113" y="99"/>
                      </a:lnTo>
                      <a:lnTo>
                        <a:pt x="113" y="98"/>
                      </a:lnTo>
                      <a:lnTo>
                        <a:pt x="112" y="98"/>
                      </a:lnTo>
                      <a:lnTo>
                        <a:pt x="112" y="97"/>
                      </a:lnTo>
                      <a:lnTo>
                        <a:pt x="110" y="96"/>
                      </a:lnTo>
                      <a:lnTo>
                        <a:pt x="110" y="95"/>
                      </a:lnTo>
                      <a:lnTo>
                        <a:pt x="108" y="94"/>
                      </a:lnTo>
                      <a:lnTo>
                        <a:pt x="107" y="94"/>
                      </a:lnTo>
                      <a:lnTo>
                        <a:pt x="106" y="93"/>
                      </a:lnTo>
                      <a:lnTo>
                        <a:pt x="105" y="93"/>
                      </a:lnTo>
                      <a:lnTo>
                        <a:pt x="103" y="93"/>
                      </a:lnTo>
                      <a:lnTo>
                        <a:pt x="102" y="93"/>
                      </a:lnTo>
                      <a:lnTo>
                        <a:pt x="100" y="93"/>
                      </a:lnTo>
                      <a:lnTo>
                        <a:pt x="99" y="93"/>
                      </a:lnTo>
                      <a:lnTo>
                        <a:pt x="98" y="93"/>
                      </a:lnTo>
                      <a:lnTo>
                        <a:pt x="54" y="90"/>
                      </a:lnTo>
                      <a:lnTo>
                        <a:pt x="67" y="54"/>
                      </a:lnTo>
                      <a:lnTo>
                        <a:pt x="75" y="67"/>
                      </a:lnTo>
                      <a:lnTo>
                        <a:pt x="128" y="67"/>
                      </a:lnTo>
                      <a:lnTo>
                        <a:pt x="129" y="66"/>
                      </a:lnTo>
                      <a:lnTo>
                        <a:pt x="131" y="66"/>
                      </a:lnTo>
                      <a:lnTo>
                        <a:pt x="132" y="66"/>
                      </a:lnTo>
                      <a:lnTo>
                        <a:pt x="134" y="64"/>
                      </a:lnTo>
                      <a:lnTo>
                        <a:pt x="135" y="64"/>
                      </a:lnTo>
                      <a:lnTo>
                        <a:pt x="136" y="63"/>
                      </a:lnTo>
                      <a:lnTo>
                        <a:pt x="137" y="62"/>
                      </a:lnTo>
                      <a:lnTo>
                        <a:pt x="137" y="61"/>
                      </a:lnTo>
                      <a:lnTo>
                        <a:pt x="137" y="59"/>
                      </a:lnTo>
                      <a:lnTo>
                        <a:pt x="138" y="58"/>
                      </a:lnTo>
                      <a:lnTo>
                        <a:pt x="138" y="56"/>
                      </a:lnTo>
                      <a:lnTo>
                        <a:pt x="138" y="54"/>
                      </a:lnTo>
                      <a:lnTo>
                        <a:pt x="137" y="53"/>
                      </a:lnTo>
                      <a:lnTo>
                        <a:pt x="137" y="52"/>
                      </a:lnTo>
                      <a:lnTo>
                        <a:pt x="136" y="51"/>
                      </a:lnTo>
                      <a:lnTo>
                        <a:pt x="135" y="49"/>
                      </a:lnTo>
                      <a:lnTo>
                        <a:pt x="134" y="49"/>
                      </a:lnTo>
                      <a:lnTo>
                        <a:pt x="133" y="48"/>
                      </a:lnTo>
                      <a:lnTo>
                        <a:pt x="132" y="47"/>
                      </a:lnTo>
                      <a:lnTo>
                        <a:pt x="131" y="46"/>
                      </a:lnTo>
                      <a:lnTo>
                        <a:pt x="129" y="46"/>
                      </a:lnTo>
                      <a:lnTo>
                        <a:pt x="128" y="46"/>
                      </a:lnTo>
                      <a:lnTo>
                        <a:pt x="87" y="46"/>
                      </a:lnTo>
                      <a:lnTo>
                        <a:pt x="79" y="31"/>
                      </a:lnTo>
                      <a:lnTo>
                        <a:pt x="80" y="30"/>
                      </a:lnTo>
                      <a:lnTo>
                        <a:pt x="81" y="28"/>
                      </a:lnTo>
                      <a:lnTo>
                        <a:pt x="81" y="26"/>
                      </a:lnTo>
                      <a:lnTo>
                        <a:pt x="81" y="24"/>
                      </a:lnTo>
                      <a:lnTo>
                        <a:pt x="81" y="22"/>
                      </a:lnTo>
                      <a:lnTo>
                        <a:pt x="81" y="20"/>
                      </a:lnTo>
                      <a:lnTo>
                        <a:pt x="81" y="18"/>
                      </a:lnTo>
                      <a:lnTo>
                        <a:pt x="81" y="16"/>
                      </a:lnTo>
                      <a:lnTo>
                        <a:pt x="80" y="14"/>
                      </a:lnTo>
                      <a:lnTo>
                        <a:pt x="79" y="13"/>
                      </a:lnTo>
                      <a:lnTo>
                        <a:pt x="79" y="11"/>
                      </a:lnTo>
                      <a:lnTo>
                        <a:pt x="78" y="9"/>
                      </a:lnTo>
                      <a:lnTo>
                        <a:pt x="76" y="8"/>
                      </a:lnTo>
                      <a:lnTo>
                        <a:pt x="75" y="6"/>
                      </a:lnTo>
                      <a:lnTo>
                        <a:pt x="73" y="5"/>
                      </a:lnTo>
                      <a:lnTo>
                        <a:pt x="72" y="4"/>
                      </a:lnTo>
                      <a:lnTo>
                        <a:pt x="70" y="3"/>
                      </a:lnTo>
                      <a:lnTo>
                        <a:pt x="68" y="2"/>
                      </a:lnTo>
                      <a:lnTo>
                        <a:pt x="67" y="1"/>
                      </a:lnTo>
                      <a:lnTo>
                        <a:pt x="64" y="1"/>
                      </a:lnTo>
                      <a:lnTo>
                        <a:pt x="62" y="0"/>
                      </a:lnTo>
                      <a:lnTo>
                        <a:pt x="60" y="0"/>
                      </a:lnTo>
                      <a:lnTo>
                        <a:pt x="58" y="0"/>
                      </a:lnTo>
                      <a:lnTo>
                        <a:pt x="56" y="0"/>
                      </a:lnTo>
                      <a:lnTo>
                        <a:pt x="54" y="1"/>
                      </a:lnTo>
                      <a:lnTo>
                        <a:pt x="52" y="1"/>
                      </a:lnTo>
                      <a:lnTo>
                        <a:pt x="49" y="2"/>
                      </a:lnTo>
                      <a:lnTo>
                        <a:pt x="47" y="3"/>
                      </a:lnTo>
                      <a:lnTo>
                        <a:pt x="45" y="4"/>
                      </a:lnTo>
                      <a:lnTo>
                        <a:pt x="44" y="6"/>
                      </a:lnTo>
                      <a:lnTo>
                        <a:pt x="42" y="8"/>
                      </a:lnTo>
                      <a:lnTo>
                        <a:pt x="41" y="9"/>
                      </a:lnTo>
                      <a:lnTo>
                        <a:pt x="39" y="12"/>
                      </a:lnTo>
                      <a:lnTo>
                        <a:pt x="38" y="14"/>
                      </a:lnTo>
                      <a:lnTo>
                        <a:pt x="38" y="16"/>
                      </a:lnTo>
                    </a:path>
                  </a:pathLst>
                </a:custGeom>
                <a:solidFill>
                  <a:srgbClr val="F39FD1"/>
                </a:solidFill>
                <a:ln w="1270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28" name="Freeform 263">
                <a:extLst>
                  <a:ext uri="{FF2B5EF4-FFF2-40B4-BE49-F238E27FC236}">
                    <a16:creationId xmlns:a16="http://schemas.microsoft.com/office/drawing/2014/main" id="{6FF4AE24-2F75-4B73-9CD2-1CCF0B0768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32" y="1392"/>
                <a:ext cx="200" cy="291"/>
              </a:xfrm>
              <a:custGeom>
                <a:avLst/>
                <a:gdLst>
                  <a:gd name="T0" fmla="*/ 199 w 200"/>
                  <a:gd name="T1" fmla="*/ 263 h 291"/>
                  <a:gd name="T2" fmla="*/ 184 w 200"/>
                  <a:gd name="T3" fmla="*/ 263 h 291"/>
                  <a:gd name="T4" fmla="*/ 158 w 200"/>
                  <a:gd name="T5" fmla="*/ 229 h 291"/>
                  <a:gd name="T6" fmla="*/ 121 w 200"/>
                  <a:gd name="T7" fmla="*/ 169 h 291"/>
                  <a:gd name="T8" fmla="*/ 111 w 200"/>
                  <a:gd name="T9" fmla="*/ 141 h 291"/>
                  <a:gd name="T10" fmla="*/ 114 w 200"/>
                  <a:gd name="T11" fmla="*/ 123 h 291"/>
                  <a:gd name="T12" fmla="*/ 123 w 200"/>
                  <a:gd name="T13" fmla="*/ 119 h 291"/>
                  <a:gd name="T14" fmla="*/ 136 w 200"/>
                  <a:gd name="T15" fmla="*/ 129 h 291"/>
                  <a:gd name="T16" fmla="*/ 155 w 200"/>
                  <a:gd name="T17" fmla="*/ 140 h 291"/>
                  <a:gd name="T18" fmla="*/ 164 w 200"/>
                  <a:gd name="T19" fmla="*/ 140 h 291"/>
                  <a:gd name="T20" fmla="*/ 165 w 200"/>
                  <a:gd name="T21" fmla="*/ 134 h 291"/>
                  <a:gd name="T22" fmla="*/ 156 w 200"/>
                  <a:gd name="T23" fmla="*/ 123 h 291"/>
                  <a:gd name="T24" fmla="*/ 135 w 200"/>
                  <a:gd name="T25" fmla="*/ 108 h 291"/>
                  <a:gd name="T26" fmla="*/ 126 w 200"/>
                  <a:gd name="T27" fmla="*/ 86 h 291"/>
                  <a:gd name="T28" fmla="*/ 123 w 200"/>
                  <a:gd name="T29" fmla="*/ 69 h 291"/>
                  <a:gd name="T30" fmla="*/ 113 w 200"/>
                  <a:gd name="T31" fmla="*/ 56 h 291"/>
                  <a:gd name="T32" fmla="*/ 109 w 200"/>
                  <a:gd name="T33" fmla="*/ 48 h 291"/>
                  <a:gd name="T34" fmla="*/ 114 w 200"/>
                  <a:gd name="T35" fmla="*/ 36 h 291"/>
                  <a:gd name="T36" fmla="*/ 119 w 200"/>
                  <a:gd name="T37" fmla="*/ 24 h 291"/>
                  <a:gd name="T38" fmla="*/ 115 w 200"/>
                  <a:gd name="T39" fmla="*/ 9 h 291"/>
                  <a:gd name="T40" fmla="*/ 105 w 200"/>
                  <a:gd name="T41" fmla="*/ 1 h 291"/>
                  <a:gd name="T42" fmla="*/ 90 w 200"/>
                  <a:gd name="T43" fmla="*/ 3 h 291"/>
                  <a:gd name="T44" fmla="*/ 84 w 200"/>
                  <a:gd name="T45" fmla="*/ 13 h 291"/>
                  <a:gd name="T46" fmla="*/ 84 w 200"/>
                  <a:gd name="T47" fmla="*/ 23 h 291"/>
                  <a:gd name="T48" fmla="*/ 88 w 200"/>
                  <a:gd name="T49" fmla="*/ 35 h 291"/>
                  <a:gd name="T50" fmla="*/ 88 w 200"/>
                  <a:gd name="T51" fmla="*/ 46 h 291"/>
                  <a:gd name="T52" fmla="*/ 78 w 200"/>
                  <a:gd name="T53" fmla="*/ 56 h 291"/>
                  <a:gd name="T54" fmla="*/ 65 w 200"/>
                  <a:gd name="T55" fmla="*/ 64 h 291"/>
                  <a:gd name="T56" fmla="*/ 55 w 200"/>
                  <a:gd name="T57" fmla="*/ 75 h 291"/>
                  <a:gd name="T58" fmla="*/ 46 w 200"/>
                  <a:gd name="T59" fmla="*/ 99 h 291"/>
                  <a:gd name="T60" fmla="*/ 41 w 200"/>
                  <a:gd name="T61" fmla="*/ 121 h 291"/>
                  <a:gd name="T62" fmla="*/ 40 w 200"/>
                  <a:gd name="T63" fmla="*/ 145 h 291"/>
                  <a:gd name="T64" fmla="*/ 41 w 200"/>
                  <a:gd name="T65" fmla="*/ 158 h 291"/>
                  <a:gd name="T66" fmla="*/ 49 w 200"/>
                  <a:gd name="T67" fmla="*/ 161 h 291"/>
                  <a:gd name="T68" fmla="*/ 53 w 200"/>
                  <a:gd name="T69" fmla="*/ 158 h 291"/>
                  <a:gd name="T70" fmla="*/ 53 w 200"/>
                  <a:gd name="T71" fmla="*/ 133 h 291"/>
                  <a:gd name="T72" fmla="*/ 55 w 200"/>
                  <a:gd name="T73" fmla="*/ 116 h 291"/>
                  <a:gd name="T74" fmla="*/ 64 w 200"/>
                  <a:gd name="T75" fmla="*/ 109 h 291"/>
                  <a:gd name="T76" fmla="*/ 70 w 200"/>
                  <a:gd name="T77" fmla="*/ 114 h 291"/>
                  <a:gd name="T78" fmla="*/ 68 w 200"/>
                  <a:gd name="T79" fmla="*/ 140 h 291"/>
                  <a:gd name="T80" fmla="*/ 61 w 200"/>
                  <a:gd name="T81" fmla="*/ 166 h 291"/>
                  <a:gd name="T82" fmla="*/ 53 w 200"/>
                  <a:gd name="T83" fmla="*/ 196 h 291"/>
                  <a:gd name="T84" fmla="*/ 33 w 200"/>
                  <a:gd name="T85" fmla="*/ 225 h 291"/>
                  <a:gd name="T86" fmla="*/ 8 w 200"/>
                  <a:gd name="T87" fmla="*/ 255 h 291"/>
                  <a:gd name="T88" fmla="*/ 0 w 200"/>
                  <a:gd name="T89" fmla="*/ 271 h 291"/>
                  <a:gd name="T90" fmla="*/ 19 w 200"/>
                  <a:gd name="T91" fmla="*/ 290 h 291"/>
                  <a:gd name="T92" fmla="*/ 33 w 200"/>
                  <a:gd name="T93" fmla="*/ 288 h 291"/>
                  <a:gd name="T94" fmla="*/ 23 w 200"/>
                  <a:gd name="T95" fmla="*/ 275 h 291"/>
                  <a:gd name="T96" fmla="*/ 30 w 200"/>
                  <a:gd name="T97" fmla="*/ 259 h 291"/>
                  <a:gd name="T98" fmla="*/ 61 w 200"/>
                  <a:gd name="T99" fmla="*/ 223 h 291"/>
                  <a:gd name="T100" fmla="*/ 84 w 200"/>
                  <a:gd name="T101" fmla="*/ 196 h 291"/>
                  <a:gd name="T102" fmla="*/ 95 w 200"/>
                  <a:gd name="T103" fmla="*/ 190 h 291"/>
                  <a:gd name="T104" fmla="*/ 109 w 200"/>
                  <a:gd name="T105" fmla="*/ 199 h 291"/>
                  <a:gd name="T106" fmla="*/ 141 w 200"/>
                  <a:gd name="T107" fmla="*/ 243 h 291"/>
                  <a:gd name="T108" fmla="*/ 168 w 200"/>
                  <a:gd name="T109" fmla="*/ 280 h 291"/>
                  <a:gd name="T110" fmla="*/ 178 w 200"/>
                  <a:gd name="T111" fmla="*/ 283 h 291"/>
                  <a:gd name="T112" fmla="*/ 191 w 200"/>
                  <a:gd name="T113" fmla="*/ 273 h 291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200"/>
                  <a:gd name="T172" fmla="*/ 0 h 291"/>
                  <a:gd name="T173" fmla="*/ 200 w 200"/>
                  <a:gd name="T174" fmla="*/ 291 h 291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200" h="291">
                    <a:moveTo>
                      <a:pt x="198" y="268"/>
                    </a:moveTo>
                    <a:lnTo>
                      <a:pt x="199" y="263"/>
                    </a:lnTo>
                    <a:lnTo>
                      <a:pt x="191" y="264"/>
                    </a:lnTo>
                    <a:lnTo>
                      <a:pt x="184" y="263"/>
                    </a:lnTo>
                    <a:lnTo>
                      <a:pt x="174" y="255"/>
                    </a:lnTo>
                    <a:lnTo>
                      <a:pt x="158" y="229"/>
                    </a:lnTo>
                    <a:lnTo>
                      <a:pt x="134" y="190"/>
                    </a:lnTo>
                    <a:lnTo>
                      <a:pt x="121" y="169"/>
                    </a:lnTo>
                    <a:lnTo>
                      <a:pt x="113" y="151"/>
                    </a:lnTo>
                    <a:lnTo>
                      <a:pt x="111" y="141"/>
                    </a:lnTo>
                    <a:lnTo>
                      <a:pt x="111" y="130"/>
                    </a:lnTo>
                    <a:lnTo>
                      <a:pt x="114" y="123"/>
                    </a:lnTo>
                    <a:lnTo>
                      <a:pt x="119" y="119"/>
                    </a:lnTo>
                    <a:lnTo>
                      <a:pt x="123" y="119"/>
                    </a:lnTo>
                    <a:lnTo>
                      <a:pt x="128" y="121"/>
                    </a:lnTo>
                    <a:lnTo>
                      <a:pt x="136" y="129"/>
                    </a:lnTo>
                    <a:lnTo>
                      <a:pt x="148" y="136"/>
                    </a:lnTo>
                    <a:lnTo>
                      <a:pt x="155" y="140"/>
                    </a:lnTo>
                    <a:lnTo>
                      <a:pt x="160" y="141"/>
                    </a:lnTo>
                    <a:lnTo>
                      <a:pt x="164" y="140"/>
                    </a:lnTo>
                    <a:lnTo>
                      <a:pt x="166" y="136"/>
                    </a:lnTo>
                    <a:lnTo>
                      <a:pt x="165" y="134"/>
                    </a:lnTo>
                    <a:lnTo>
                      <a:pt x="164" y="130"/>
                    </a:lnTo>
                    <a:lnTo>
                      <a:pt x="156" y="123"/>
                    </a:lnTo>
                    <a:lnTo>
                      <a:pt x="143" y="114"/>
                    </a:lnTo>
                    <a:lnTo>
                      <a:pt x="135" y="108"/>
                    </a:lnTo>
                    <a:lnTo>
                      <a:pt x="130" y="99"/>
                    </a:lnTo>
                    <a:lnTo>
                      <a:pt x="126" y="86"/>
                    </a:lnTo>
                    <a:lnTo>
                      <a:pt x="125" y="74"/>
                    </a:lnTo>
                    <a:lnTo>
                      <a:pt x="123" y="69"/>
                    </a:lnTo>
                    <a:lnTo>
                      <a:pt x="119" y="63"/>
                    </a:lnTo>
                    <a:lnTo>
                      <a:pt x="113" y="56"/>
                    </a:lnTo>
                    <a:lnTo>
                      <a:pt x="109" y="53"/>
                    </a:lnTo>
                    <a:lnTo>
                      <a:pt x="109" y="48"/>
                    </a:lnTo>
                    <a:lnTo>
                      <a:pt x="111" y="40"/>
                    </a:lnTo>
                    <a:lnTo>
                      <a:pt x="114" y="36"/>
                    </a:lnTo>
                    <a:lnTo>
                      <a:pt x="116" y="31"/>
                    </a:lnTo>
                    <a:lnTo>
                      <a:pt x="119" y="24"/>
                    </a:lnTo>
                    <a:lnTo>
                      <a:pt x="116" y="15"/>
                    </a:lnTo>
                    <a:lnTo>
                      <a:pt x="115" y="9"/>
                    </a:lnTo>
                    <a:lnTo>
                      <a:pt x="111" y="4"/>
                    </a:lnTo>
                    <a:lnTo>
                      <a:pt x="105" y="1"/>
                    </a:lnTo>
                    <a:lnTo>
                      <a:pt x="96" y="0"/>
                    </a:lnTo>
                    <a:lnTo>
                      <a:pt x="90" y="3"/>
                    </a:lnTo>
                    <a:lnTo>
                      <a:pt x="86" y="6"/>
                    </a:lnTo>
                    <a:lnTo>
                      <a:pt x="84" y="13"/>
                    </a:lnTo>
                    <a:lnTo>
                      <a:pt x="83" y="18"/>
                    </a:lnTo>
                    <a:lnTo>
                      <a:pt x="84" y="23"/>
                    </a:lnTo>
                    <a:lnTo>
                      <a:pt x="86" y="30"/>
                    </a:lnTo>
                    <a:lnTo>
                      <a:pt x="88" y="35"/>
                    </a:lnTo>
                    <a:lnTo>
                      <a:pt x="89" y="40"/>
                    </a:lnTo>
                    <a:lnTo>
                      <a:pt x="88" y="46"/>
                    </a:lnTo>
                    <a:lnTo>
                      <a:pt x="84" y="51"/>
                    </a:lnTo>
                    <a:lnTo>
                      <a:pt x="78" y="56"/>
                    </a:lnTo>
                    <a:lnTo>
                      <a:pt x="70" y="60"/>
                    </a:lnTo>
                    <a:lnTo>
                      <a:pt x="65" y="64"/>
                    </a:lnTo>
                    <a:lnTo>
                      <a:pt x="60" y="69"/>
                    </a:lnTo>
                    <a:lnTo>
                      <a:pt x="55" y="75"/>
                    </a:lnTo>
                    <a:lnTo>
                      <a:pt x="50" y="86"/>
                    </a:lnTo>
                    <a:lnTo>
                      <a:pt x="46" y="99"/>
                    </a:lnTo>
                    <a:lnTo>
                      <a:pt x="43" y="109"/>
                    </a:lnTo>
                    <a:lnTo>
                      <a:pt x="41" y="121"/>
                    </a:lnTo>
                    <a:lnTo>
                      <a:pt x="40" y="136"/>
                    </a:lnTo>
                    <a:lnTo>
                      <a:pt x="40" y="145"/>
                    </a:lnTo>
                    <a:lnTo>
                      <a:pt x="40" y="153"/>
                    </a:lnTo>
                    <a:lnTo>
                      <a:pt x="41" y="158"/>
                    </a:lnTo>
                    <a:lnTo>
                      <a:pt x="44" y="160"/>
                    </a:lnTo>
                    <a:lnTo>
                      <a:pt x="49" y="161"/>
                    </a:lnTo>
                    <a:lnTo>
                      <a:pt x="51" y="160"/>
                    </a:lnTo>
                    <a:lnTo>
                      <a:pt x="53" y="158"/>
                    </a:lnTo>
                    <a:lnTo>
                      <a:pt x="53" y="148"/>
                    </a:lnTo>
                    <a:lnTo>
                      <a:pt x="53" y="133"/>
                    </a:lnTo>
                    <a:lnTo>
                      <a:pt x="54" y="123"/>
                    </a:lnTo>
                    <a:lnTo>
                      <a:pt x="55" y="116"/>
                    </a:lnTo>
                    <a:lnTo>
                      <a:pt x="59" y="110"/>
                    </a:lnTo>
                    <a:lnTo>
                      <a:pt x="64" y="109"/>
                    </a:lnTo>
                    <a:lnTo>
                      <a:pt x="69" y="110"/>
                    </a:lnTo>
                    <a:lnTo>
                      <a:pt x="70" y="114"/>
                    </a:lnTo>
                    <a:lnTo>
                      <a:pt x="69" y="125"/>
                    </a:lnTo>
                    <a:lnTo>
                      <a:pt x="68" y="140"/>
                    </a:lnTo>
                    <a:lnTo>
                      <a:pt x="65" y="154"/>
                    </a:lnTo>
                    <a:lnTo>
                      <a:pt x="61" y="166"/>
                    </a:lnTo>
                    <a:lnTo>
                      <a:pt x="58" y="183"/>
                    </a:lnTo>
                    <a:lnTo>
                      <a:pt x="53" y="196"/>
                    </a:lnTo>
                    <a:lnTo>
                      <a:pt x="41" y="214"/>
                    </a:lnTo>
                    <a:lnTo>
                      <a:pt x="33" y="225"/>
                    </a:lnTo>
                    <a:lnTo>
                      <a:pt x="18" y="243"/>
                    </a:lnTo>
                    <a:lnTo>
                      <a:pt x="8" y="255"/>
                    </a:lnTo>
                    <a:lnTo>
                      <a:pt x="0" y="266"/>
                    </a:lnTo>
                    <a:lnTo>
                      <a:pt x="0" y="271"/>
                    </a:lnTo>
                    <a:lnTo>
                      <a:pt x="8" y="280"/>
                    </a:lnTo>
                    <a:lnTo>
                      <a:pt x="19" y="290"/>
                    </a:lnTo>
                    <a:lnTo>
                      <a:pt x="30" y="290"/>
                    </a:lnTo>
                    <a:lnTo>
                      <a:pt x="33" y="288"/>
                    </a:lnTo>
                    <a:lnTo>
                      <a:pt x="28" y="281"/>
                    </a:lnTo>
                    <a:lnTo>
                      <a:pt x="23" y="275"/>
                    </a:lnTo>
                    <a:lnTo>
                      <a:pt x="23" y="270"/>
                    </a:lnTo>
                    <a:lnTo>
                      <a:pt x="30" y="259"/>
                    </a:lnTo>
                    <a:lnTo>
                      <a:pt x="43" y="246"/>
                    </a:lnTo>
                    <a:lnTo>
                      <a:pt x="61" y="223"/>
                    </a:lnTo>
                    <a:lnTo>
                      <a:pt x="78" y="203"/>
                    </a:lnTo>
                    <a:lnTo>
                      <a:pt x="84" y="196"/>
                    </a:lnTo>
                    <a:lnTo>
                      <a:pt x="88" y="191"/>
                    </a:lnTo>
                    <a:lnTo>
                      <a:pt x="95" y="190"/>
                    </a:lnTo>
                    <a:lnTo>
                      <a:pt x="101" y="194"/>
                    </a:lnTo>
                    <a:lnTo>
                      <a:pt x="109" y="199"/>
                    </a:lnTo>
                    <a:lnTo>
                      <a:pt x="124" y="219"/>
                    </a:lnTo>
                    <a:lnTo>
                      <a:pt x="141" y="243"/>
                    </a:lnTo>
                    <a:lnTo>
                      <a:pt x="158" y="266"/>
                    </a:lnTo>
                    <a:lnTo>
                      <a:pt x="168" y="280"/>
                    </a:lnTo>
                    <a:lnTo>
                      <a:pt x="171" y="283"/>
                    </a:lnTo>
                    <a:lnTo>
                      <a:pt x="178" y="283"/>
                    </a:lnTo>
                    <a:lnTo>
                      <a:pt x="184" y="278"/>
                    </a:lnTo>
                    <a:lnTo>
                      <a:pt x="191" y="273"/>
                    </a:lnTo>
                    <a:lnTo>
                      <a:pt x="198" y="268"/>
                    </a:lnTo>
                  </a:path>
                </a:pathLst>
              </a:custGeom>
              <a:solidFill>
                <a:srgbClr val="CECECE"/>
              </a:solidFill>
              <a:ln w="2540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29" name="Group 264">
                <a:extLst>
                  <a:ext uri="{FF2B5EF4-FFF2-40B4-BE49-F238E27FC236}">
                    <a16:creationId xmlns:a16="http://schemas.microsoft.com/office/drawing/2014/main" id="{D54CBA7A-35CB-4F3C-960F-AAFA29F4ED4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08" y="1392"/>
                <a:ext cx="259" cy="310"/>
                <a:chOff x="1225" y="1348"/>
                <a:chExt cx="259" cy="310"/>
              </a:xfrm>
            </p:grpSpPr>
            <p:grpSp>
              <p:nvGrpSpPr>
                <p:cNvPr id="230" name="Group 265">
                  <a:extLst>
                    <a:ext uri="{FF2B5EF4-FFF2-40B4-BE49-F238E27FC236}">
                      <a16:creationId xmlns:a16="http://schemas.microsoft.com/office/drawing/2014/main" id="{B67356E6-FA4A-4EBE-A17B-DABE2FFBD29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225" y="1348"/>
                  <a:ext cx="259" cy="310"/>
                  <a:chOff x="1225" y="1348"/>
                  <a:chExt cx="259" cy="310"/>
                </a:xfrm>
              </p:grpSpPr>
              <p:sp>
                <p:nvSpPr>
                  <p:cNvPr id="233" name="AutoShape 266">
                    <a:extLst>
                      <a:ext uri="{FF2B5EF4-FFF2-40B4-BE49-F238E27FC236}">
                        <a16:creationId xmlns:a16="http://schemas.microsoft.com/office/drawing/2014/main" id="{D70FA588-3F57-4A57-B509-41722914523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225" y="1398"/>
                    <a:ext cx="259" cy="260"/>
                  </a:xfrm>
                  <a:prstGeom prst="cube">
                    <a:avLst>
                      <a:gd name="adj" fmla="val 24995"/>
                    </a:avLst>
                  </a:prstGeom>
                  <a:solidFill>
                    <a:schemeClr val="bg1"/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34" name="AutoShape 267">
                    <a:extLst>
                      <a:ext uri="{FF2B5EF4-FFF2-40B4-BE49-F238E27FC236}">
                        <a16:creationId xmlns:a16="http://schemas.microsoft.com/office/drawing/2014/main" id="{3B792E5D-3577-4B9D-86A7-BE03C0A0DBE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288" y="1348"/>
                    <a:ext cx="196" cy="46"/>
                  </a:xfrm>
                  <a:prstGeom prst="cube">
                    <a:avLst>
                      <a:gd name="adj" fmla="val 24995"/>
                    </a:avLst>
                  </a:prstGeom>
                  <a:solidFill>
                    <a:schemeClr val="bg1"/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231" name="Oval 268">
                  <a:extLst>
                    <a:ext uri="{FF2B5EF4-FFF2-40B4-BE49-F238E27FC236}">
                      <a16:creationId xmlns:a16="http://schemas.microsoft.com/office/drawing/2014/main" id="{EAD66319-5640-44EE-86B3-DA843F3B810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07" y="1374"/>
                  <a:ext cx="27" cy="8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2" name="AutoShape 269">
                  <a:extLst>
                    <a:ext uri="{FF2B5EF4-FFF2-40B4-BE49-F238E27FC236}">
                      <a16:creationId xmlns:a16="http://schemas.microsoft.com/office/drawing/2014/main" id="{2A2277C6-FCBB-4188-A08B-8C624E759E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6" y="1522"/>
                  <a:ext cx="137" cy="55"/>
                </a:xfrm>
                <a:prstGeom prst="octagon">
                  <a:avLst>
                    <a:gd name="adj" fmla="val 29282"/>
                  </a:avLst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188" name="Group 270">
              <a:extLst>
                <a:ext uri="{FF2B5EF4-FFF2-40B4-BE49-F238E27FC236}">
                  <a16:creationId xmlns:a16="http://schemas.microsoft.com/office/drawing/2014/main" id="{4F6ABAD3-F035-4031-852C-FCDBECB9150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2" y="2112"/>
              <a:ext cx="1064" cy="310"/>
              <a:chOff x="768" y="1392"/>
              <a:chExt cx="1064" cy="310"/>
            </a:xfrm>
          </p:grpSpPr>
          <p:grpSp>
            <p:nvGrpSpPr>
              <p:cNvPr id="208" name="Group 271">
                <a:extLst>
                  <a:ext uri="{FF2B5EF4-FFF2-40B4-BE49-F238E27FC236}">
                    <a16:creationId xmlns:a16="http://schemas.microsoft.com/office/drawing/2014/main" id="{05D6D097-C168-47AB-9625-968648C316F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68" y="1392"/>
                <a:ext cx="206" cy="310"/>
                <a:chOff x="1013" y="1348"/>
                <a:chExt cx="206" cy="310"/>
              </a:xfrm>
            </p:grpSpPr>
            <p:sp>
              <p:nvSpPr>
                <p:cNvPr id="223" name="AutoShape 272">
                  <a:extLst>
                    <a:ext uri="{FF2B5EF4-FFF2-40B4-BE49-F238E27FC236}">
                      <a16:creationId xmlns:a16="http://schemas.microsoft.com/office/drawing/2014/main" id="{B98BB19A-C808-4077-8780-BF216F2D056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13" y="1398"/>
                  <a:ext cx="206" cy="260"/>
                </a:xfrm>
                <a:prstGeom prst="cube">
                  <a:avLst>
                    <a:gd name="adj" fmla="val 24995"/>
                  </a:avLst>
                </a:prstGeom>
                <a:solidFill>
                  <a:srgbClr val="DC008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4" name="AutoShape 273">
                  <a:extLst>
                    <a:ext uri="{FF2B5EF4-FFF2-40B4-BE49-F238E27FC236}">
                      <a16:creationId xmlns:a16="http://schemas.microsoft.com/office/drawing/2014/main" id="{195E72D2-5A42-460F-BE14-79CE3FA5308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61" y="1348"/>
                  <a:ext cx="158" cy="46"/>
                </a:xfrm>
                <a:prstGeom prst="cube">
                  <a:avLst>
                    <a:gd name="adj" fmla="val 24995"/>
                  </a:avLst>
                </a:prstGeom>
                <a:solidFill>
                  <a:srgbClr val="DC008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5" name="AutoShape 274">
                  <a:extLst>
                    <a:ext uri="{FF2B5EF4-FFF2-40B4-BE49-F238E27FC236}">
                      <a16:creationId xmlns:a16="http://schemas.microsoft.com/office/drawing/2014/main" id="{BB769139-63CD-44C1-B05F-26F1DC01E9F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52" y="1419"/>
                  <a:ext cx="108" cy="15"/>
                </a:xfrm>
                <a:prstGeom prst="parallelogram">
                  <a:avLst>
                    <a:gd name="adj" fmla="val 179967"/>
                  </a:avLst>
                </a:prstGeom>
                <a:solidFill>
                  <a:srgbClr val="DC008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09" name="Group 275">
                <a:extLst>
                  <a:ext uri="{FF2B5EF4-FFF2-40B4-BE49-F238E27FC236}">
                    <a16:creationId xmlns:a16="http://schemas.microsoft.com/office/drawing/2014/main" id="{7F4C94CE-F56D-4D19-90B6-40A5C1A372E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44" y="1440"/>
                <a:ext cx="203" cy="257"/>
                <a:chOff x="1531" y="1389"/>
                <a:chExt cx="203" cy="257"/>
              </a:xfrm>
            </p:grpSpPr>
            <p:sp>
              <p:nvSpPr>
                <p:cNvPr id="217" name="Freeform 276">
                  <a:extLst>
                    <a:ext uri="{FF2B5EF4-FFF2-40B4-BE49-F238E27FC236}">
                      <a16:creationId xmlns:a16="http://schemas.microsoft.com/office/drawing/2014/main" id="{CB5F237D-F554-4611-BC4A-EC2B0DE9571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60" y="1506"/>
                  <a:ext cx="62" cy="140"/>
                </a:xfrm>
                <a:custGeom>
                  <a:avLst/>
                  <a:gdLst>
                    <a:gd name="T0" fmla="*/ 44 w 62"/>
                    <a:gd name="T1" fmla="*/ 0 h 140"/>
                    <a:gd name="T2" fmla="*/ 61 w 62"/>
                    <a:gd name="T3" fmla="*/ 0 h 140"/>
                    <a:gd name="T4" fmla="*/ 17 w 62"/>
                    <a:gd name="T5" fmla="*/ 139 h 140"/>
                    <a:gd name="T6" fmla="*/ 0 w 62"/>
                    <a:gd name="T7" fmla="*/ 139 h 140"/>
                    <a:gd name="T8" fmla="*/ 44 w 62"/>
                    <a:gd name="T9" fmla="*/ 0 h 1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2"/>
                    <a:gd name="T16" fmla="*/ 0 h 140"/>
                    <a:gd name="T17" fmla="*/ 62 w 62"/>
                    <a:gd name="T18" fmla="*/ 140 h 1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2" h="140">
                      <a:moveTo>
                        <a:pt x="44" y="0"/>
                      </a:moveTo>
                      <a:lnTo>
                        <a:pt x="61" y="0"/>
                      </a:lnTo>
                      <a:lnTo>
                        <a:pt x="17" y="139"/>
                      </a:lnTo>
                      <a:lnTo>
                        <a:pt x="0" y="139"/>
                      </a:lnTo>
                      <a:lnTo>
                        <a:pt x="44" y="0"/>
                      </a:lnTo>
                    </a:path>
                  </a:pathLst>
                </a:custGeom>
                <a:solidFill>
                  <a:srgbClr val="F39FD1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8" name="Rectangle 277">
                  <a:extLst>
                    <a:ext uri="{FF2B5EF4-FFF2-40B4-BE49-F238E27FC236}">
                      <a16:creationId xmlns:a16="http://schemas.microsoft.com/office/drawing/2014/main" id="{0643B27B-54AA-42E5-92FE-265EBA2FC9C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57" y="1506"/>
                  <a:ext cx="77" cy="12"/>
                </a:xfrm>
                <a:prstGeom prst="rect">
                  <a:avLst/>
                </a:prstGeom>
                <a:solidFill>
                  <a:srgbClr val="F39FD1"/>
                </a:solidFill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9" name="Rectangle 278">
                  <a:extLst>
                    <a:ext uri="{FF2B5EF4-FFF2-40B4-BE49-F238E27FC236}">
                      <a16:creationId xmlns:a16="http://schemas.microsoft.com/office/drawing/2014/main" id="{39F4A731-99F4-48DB-86EA-3A6EAC8C5E0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3" y="1564"/>
                  <a:ext cx="58" cy="12"/>
                </a:xfrm>
                <a:prstGeom prst="rect">
                  <a:avLst/>
                </a:prstGeom>
                <a:solidFill>
                  <a:srgbClr val="F39FD1"/>
                </a:solidFill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0" name="Rectangle 279">
                  <a:extLst>
                    <a:ext uri="{FF2B5EF4-FFF2-40B4-BE49-F238E27FC236}">
                      <a16:creationId xmlns:a16="http://schemas.microsoft.com/office/drawing/2014/main" id="{D2C79E19-580F-4C96-A46E-01FE493FAD8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32" y="1564"/>
                  <a:ext cx="74" cy="7"/>
                </a:xfrm>
                <a:prstGeom prst="rect">
                  <a:avLst/>
                </a:prstGeom>
                <a:solidFill>
                  <a:srgbClr val="F39FD1"/>
                </a:solidFill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1" name="Oval 280">
                  <a:extLst>
                    <a:ext uri="{FF2B5EF4-FFF2-40B4-BE49-F238E27FC236}">
                      <a16:creationId xmlns:a16="http://schemas.microsoft.com/office/drawing/2014/main" id="{699806A3-0925-42EA-9DE7-A8ED8386313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92" y="1389"/>
                  <a:ext cx="22" cy="25"/>
                </a:xfrm>
                <a:prstGeom prst="ellipse">
                  <a:avLst/>
                </a:prstGeom>
                <a:solidFill>
                  <a:srgbClr val="F39FD1"/>
                </a:solidFill>
                <a:ln w="254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2" name="Freeform 281">
                  <a:extLst>
                    <a:ext uri="{FF2B5EF4-FFF2-40B4-BE49-F238E27FC236}">
                      <a16:creationId xmlns:a16="http://schemas.microsoft.com/office/drawing/2014/main" id="{643DBF36-0386-48B1-852D-8FA4E49D52E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31" y="1433"/>
                  <a:ext cx="139" cy="213"/>
                </a:xfrm>
                <a:custGeom>
                  <a:avLst/>
                  <a:gdLst>
                    <a:gd name="T0" fmla="*/ 1 w 139"/>
                    <a:gd name="T1" fmla="*/ 98 h 213"/>
                    <a:gd name="T2" fmla="*/ 1 w 139"/>
                    <a:gd name="T3" fmla="*/ 101 h 213"/>
                    <a:gd name="T4" fmla="*/ 0 w 139"/>
                    <a:gd name="T5" fmla="*/ 104 h 213"/>
                    <a:gd name="T6" fmla="*/ 0 w 139"/>
                    <a:gd name="T7" fmla="*/ 108 h 213"/>
                    <a:gd name="T8" fmla="*/ 1 w 139"/>
                    <a:gd name="T9" fmla="*/ 111 h 213"/>
                    <a:gd name="T10" fmla="*/ 3 w 139"/>
                    <a:gd name="T11" fmla="*/ 114 h 213"/>
                    <a:gd name="T12" fmla="*/ 6 w 139"/>
                    <a:gd name="T13" fmla="*/ 117 h 213"/>
                    <a:gd name="T14" fmla="*/ 9 w 139"/>
                    <a:gd name="T15" fmla="*/ 119 h 213"/>
                    <a:gd name="T16" fmla="*/ 11 w 139"/>
                    <a:gd name="T17" fmla="*/ 119 h 213"/>
                    <a:gd name="T18" fmla="*/ 15 w 139"/>
                    <a:gd name="T19" fmla="*/ 119 h 213"/>
                    <a:gd name="T20" fmla="*/ 90 w 139"/>
                    <a:gd name="T21" fmla="*/ 212 h 213"/>
                    <a:gd name="T22" fmla="*/ 114 w 139"/>
                    <a:gd name="T23" fmla="*/ 102 h 213"/>
                    <a:gd name="T24" fmla="*/ 113 w 139"/>
                    <a:gd name="T25" fmla="*/ 99 h 213"/>
                    <a:gd name="T26" fmla="*/ 112 w 139"/>
                    <a:gd name="T27" fmla="*/ 98 h 213"/>
                    <a:gd name="T28" fmla="*/ 110 w 139"/>
                    <a:gd name="T29" fmla="*/ 96 h 213"/>
                    <a:gd name="T30" fmla="*/ 108 w 139"/>
                    <a:gd name="T31" fmla="*/ 94 h 213"/>
                    <a:gd name="T32" fmla="*/ 106 w 139"/>
                    <a:gd name="T33" fmla="*/ 93 h 213"/>
                    <a:gd name="T34" fmla="*/ 103 w 139"/>
                    <a:gd name="T35" fmla="*/ 93 h 213"/>
                    <a:gd name="T36" fmla="*/ 100 w 139"/>
                    <a:gd name="T37" fmla="*/ 93 h 213"/>
                    <a:gd name="T38" fmla="*/ 98 w 139"/>
                    <a:gd name="T39" fmla="*/ 93 h 213"/>
                    <a:gd name="T40" fmla="*/ 67 w 139"/>
                    <a:gd name="T41" fmla="*/ 54 h 213"/>
                    <a:gd name="T42" fmla="*/ 128 w 139"/>
                    <a:gd name="T43" fmla="*/ 67 h 213"/>
                    <a:gd name="T44" fmla="*/ 131 w 139"/>
                    <a:gd name="T45" fmla="*/ 66 h 213"/>
                    <a:gd name="T46" fmla="*/ 132 w 139"/>
                    <a:gd name="T47" fmla="*/ 66 h 213"/>
                    <a:gd name="T48" fmla="*/ 135 w 139"/>
                    <a:gd name="T49" fmla="*/ 64 h 213"/>
                    <a:gd name="T50" fmla="*/ 137 w 139"/>
                    <a:gd name="T51" fmla="*/ 62 h 213"/>
                    <a:gd name="T52" fmla="*/ 137 w 139"/>
                    <a:gd name="T53" fmla="*/ 59 h 213"/>
                    <a:gd name="T54" fmla="*/ 138 w 139"/>
                    <a:gd name="T55" fmla="*/ 56 h 213"/>
                    <a:gd name="T56" fmla="*/ 137 w 139"/>
                    <a:gd name="T57" fmla="*/ 53 h 213"/>
                    <a:gd name="T58" fmla="*/ 136 w 139"/>
                    <a:gd name="T59" fmla="*/ 51 h 213"/>
                    <a:gd name="T60" fmla="*/ 134 w 139"/>
                    <a:gd name="T61" fmla="*/ 49 h 213"/>
                    <a:gd name="T62" fmla="*/ 132 w 139"/>
                    <a:gd name="T63" fmla="*/ 47 h 213"/>
                    <a:gd name="T64" fmla="*/ 129 w 139"/>
                    <a:gd name="T65" fmla="*/ 46 h 213"/>
                    <a:gd name="T66" fmla="*/ 87 w 139"/>
                    <a:gd name="T67" fmla="*/ 46 h 213"/>
                    <a:gd name="T68" fmla="*/ 80 w 139"/>
                    <a:gd name="T69" fmla="*/ 30 h 213"/>
                    <a:gd name="T70" fmla="*/ 81 w 139"/>
                    <a:gd name="T71" fmla="*/ 26 h 213"/>
                    <a:gd name="T72" fmla="*/ 81 w 139"/>
                    <a:gd name="T73" fmla="*/ 22 h 213"/>
                    <a:gd name="T74" fmla="*/ 81 w 139"/>
                    <a:gd name="T75" fmla="*/ 18 h 213"/>
                    <a:gd name="T76" fmla="*/ 80 w 139"/>
                    <a:gd name="T77" fmla="*/ 14 h 213"/>
                    <a:gd name="T78" fmla="*/ 79 w 139"/>
                    <a:gd name="T79" fmla="*/ 11 h 213"/>
                    <a:gd name="T80" fmla="*/ 76 w 139"/>
                    <a:gd name="T81" fmla="*/ 8 h 213"/>
                    <a:gd name="T82" fmla="*/ 73 w 139"/>
                    <a:gd name="T83" fmla="*/ 5 h 213"/>
                    <a:gd name="T84" fmla="*/ 70 w 139"/>
                    <a:gd name="T85" fmla="*/ 3 h 213"/>
                    <a:gd name="T86" fmla="*/ 67 w 139"/>
                    <a:gd name="T87" fmla="*/ 1 h 213"/>
                    <a:gd name="T88" fmla="*/ 62 w 139"/>
                    <a:gd name="T89" fmla="*/ 0 h 213"/>
                    <a:gd name="T90" fmla="*/ 58 w 139"/>
                    <a:gd name="T91" fmla="*/ 0 h 213"/>
                    <a:gd name="T92" fmla="*/ 54 w 139"/>
                    <a:gd name="T93" fmla="*/ 1 h 213"/>
                    <a:gd name="T94" fmla="*/ 49 w 139"/>
                    <a:gd name="T95" fmla="*/ 2 h 213"/>
                    <a:gd name="T96" fmla="*/ 45 w 139"/>
                    <a:gd name="T97" fmla="*/ 4 h 213"/>
                    <a:gd name="T98" fmla="*/ 42 w 139"/>
                    <a:gd name="T99" fmla="*/ 8 h 213"/>
                    <a:gd name="T100" fmla="*/ 39 w 139"/>
                    <a:gd name="T101" fmla="*/ 12 h 213"/>
                    <a:gd name="T102" fmla="*/ 38 w 139"/>
                    <a:gd name="T103" fmla="*/ 16 h 213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w 139"/>
                    <a:gd name="T157" fmla="*/ 0 h 213"/>
                    <a:gd name="T158" fmla="*/ 139 w 139"/>
                    <a:gd name="T159" fmla="*/ 213 h 213"/>
                  </a:gdLst>
                  <a:ahLst/>
                  <a:cxnLst>
                    <a:cxn ang="T104">
                      <a:pos x="T0" y="T1"/>
                    </a:cxn>
                    <a:cxn ang="T105">
                      <a:pos x="T2" y="T3"/>
                    </a:cxn>
                    <a:cxn ang="T106">
                      <a:pos x="T4" y="T5"/>
                    </a:cxn>
                    <a:cxn ang="T107">
                      <a:pos x="T6" y="T7"/>
                    </a:cxn>
                    <a:cxn ang="T108">
                      <a:pos x="T8" y="T9"/>
                    </a:cxn>
                    <a:cxn ang="T109">
                      <a:pos x="T10" y="T11"/>
                    </a:cxn>
                    <a:cxn ang="T110">
                      <a:pos x="T12" y="T13"/>
                    </a:cxn>
                    <a:cxn ang="T111">
                      <a:pos x="T14" y="T15"/>
                    </a:cxn>
                    <a:cxn ang="T112">
                      <a:pos x="T16" y="T17"/>
                    </a:cxn>
                    <a:cxn ang="T113">
                      <a:pos x="T18" y="T19"/>
                    </a:cxn>
                    <a:cxn ang="T114">
                      <a:pos x="T20" y="T21"/>
                    </a:cxn>
                    <a:cxn ang="T115">
                      <a:pos x="T22" y="T23"/>
                    </a:cxn>
                    <a:cxn ang="T116">
                      <a:pos x="T24" y="T25"/>
                    </a:cxn>
                    <a:cxn ang="T117">
                      <a:pos x="T26" y="T27"/>
                    </a:cxn>
                    <a:cxn ang="T118">
                      <a:pos x="T28" y="T29"/>
                    </a:cxn>
                    <a:cxn ang="T119">
                      <a:pos x="T30" y="T31"/>
                    </a:cxn>
                    <a:cxn ang="T120">
                      <a:pos x="T32" y="T33"/>
                    </a:cxn>
                    <a:cxn ang="T121">
                      <a:pos x="T34" y="T35"/>
                    </a:cxn>
                    <a:cxn ang="T122">
                      <a:pos x="T36" y="T37"/>
                    </a:cxn>
                    <a:cxn ang="T123">
                      <a:pos x="T38" y="T39"/>
                    </a:cxn>
                    <a:cxn ang="T124">
                      <a:pos x="T40" y="T41"/>
                    </a:cxn>
                    <a:cxn ang="T125">
                      <a:pos x="T42" y="T43"/>
                    </a:cxn>
                    <a:cxn ang="T126">
                      <a:pos x="T44" y="T45"/>
                    </a:cxn>
                    <a:cxn ang="T127">
                      <a:pos x="T46" y="T47"/>
                    </a:cxn>
                    <a:cxn ang="T128">
                      <a:pos x="T48" y="T49"/>
                    </a:cxn>
                    <a:cxn ang="T129">
                      <a:pos x="T50" y="T51"/>
                    </a:cxn>
                    <a:cxn ang="T130">
                      <a:pos x="T52" y="T53"/>
                    </a:cxn>
                    <a:cxn ang="T131">
                      <a:pos x="T54" y="T55"/>
                    </a:cxn>
                    <a:cxn ang="T132">
                      <a:pos x="T56" y="T57"/>
                    </a:cxn>
                    <a:cxn ang="T133">
                      <a:pos x="T58" y="T59"/>
                    </a:cxn>
                    <a:cxn ang="T134">
                      <a:pos x="T60" y="T61"/>
                    </a:cxn>
                    <a:cxn ang="T135">
                      <a:pos x="T62" y="T63"/>
                    </a:cxn>
                    <a:cxn ang="T136">
                      <a:pos x="T64" y="T65"/>
                    </a:cxn>
                    <a:cxn ang="T137">
                      <a:pos x="T66" y="T67"/>
                    </a:cxn>
                    <a:cxn ang="T138">
                      <a:pos x="T68" y="T69"/>
                    </a:cxn>
                    <a:cxn ang="T139">
                      <a:pos x="T70" y="T71"/>
                    </a:cxn>
                    <a:cxn ang="T140">
                      <a:pos x="T72" y="T73"/>
                    </a:cxn>
                    <a:cxn ang="T141">
                      <a:pos x="T74" y="T75"/>
                    </a:cxn>
                    <a:cxn ang="T142">
                      <a:pos x="T76" y="T77"/>
                    </a:cxn>
                    <a:cxn ang="T143">
                      <a:pos x="T78" y="T79"/>
                    </a:cxn>
                    <a:cxn ang="T144">
                      <a:pos x="T80" y="T81"/>
                    </a:cxn>
                    <a:cxn ang="T145">
                      <a:pos x="T82" y="T83"/>
                    </a:cxn>
                    <a:cxn ang="T146">
                      <a:pos x="T84" y="T85"/>
                    </a:cxn>
                    <a:cxn ang="T147">
                      <a:pos x="T86" y="T87"/>
                    </a:cxn>
                    <a:cxn ang="T148">
                      <a:pos x="T88" y="T89"/>
                    </a:cxn>
                    <a:cxn ang="T149">
                      <a:pos x="T90" y="T91"/>
                    </a:cxn>
                    <a:cxn ang="T150">
                      <a:pos x="T92" y="T93"/>
                    </a:cxn>
                    <a:cxn ang="T151">
                      <a:pos x="T94" y="T95"/>
                    </a:cxn>
                    <a:cxn ang="T152">
                      <a:pos x="T96" y="T97"/>
                    </a:cxn>
                    <a:cxn ang="T153">
                      <a:pos x="T98" y="T99"/>
                    </a:cxn>
                    <a:cxn ang="T154">
                      <a:pos x="T100" y="T101"/>
                    </a:cxn>
                    <a:cxn ang="T155">
                      <a:pos x="T102" y="T103"/>
                    </a:cxn>
                  </a:cxnLst>
                  <a:rect l="T156" t="T157" r="T158" b="T159"/>
                  <a:pathLst>
                    <a:path w="139" h="213">
                      <a:moveTo>
                        <a:pt x="38" y="16"/>
                      </a:moveTo>
                      <a:lnTo>
                        <a:pt x="1" y="98"/>
                      </a:lnTo>
                      <a:lnTo>
                        <a:pt x="1" y="99"/>
                      </a:lnTo>
                      <a:lnTo>
                        <a:pt x="1" y="101"/>
                      </a:lnTo>
                      <a:lnTo>
                        <a:pt x="0" y="102"/>
                      </a:lnTo>
                      <a:lnTo>
                        <a:pt x="0" y="104"/>
                      </a:lnTo>
                      <a:lnTo>
                        <a:pt x="0" y="106"/>
                      </a:lnTo>
                      <a:lnTo>
                        <a:pt x="0" y="108"/>
                      </a:lnTo>
                      <a:lnTo>
                        <a:pt x="1" y="109"/>
                      </a:lnTo>
                      <a:lnTo>
                        <a:pt x="1" y="111"/>
                      </a:lnTo>
                      <a:lnTo>
                        <a:pt x="2" y="113"/>
                      </a:lnTo>
                      <a:lnTo>
                        <a:pt x="3" y="114"/>
                      </a:lnTo>
                      <a:lnTo>
                        <a:pt x="4" y="116"/>
                      </a:lnTo>
                      <a:lnTo>
                        <a:pt x="6" y="117"/>
                      </a:lnTo>
                      <a:lnTo>
                        <a:pt x="7" y="118"/>
                      </a:lnTo>
                      <a:lnTo>
                        <a:pt x="9" y="119"/>
                      </a:lnTo>
                      <a:lnTo>
                        <a:pt x="10" y="119"/>
                      </a:lnTo>
                      <a:lnTo>
                        <a:pt x="11" y="119"/>
                      </a:lnTo>
                      <a:lnTo>
                        <a:pt x="13" y="119"/>
                      </a:lnTo>
                      <a:lnTo>
                        <a:pt x="15" y="119"/>
                      </a:lnTo>
                      <a:lnTo>
                        <a:pt x="90" y="119"/>
                      </a:lnTo>
                      <a:lnTo>
                        <a:pt x="90" y="212"/>
                      </a:lnTo>
                      <a:lnTo>
                        <a:pt x="114" y="212"/>
                      </a:lnTo>
                      <a:lnTo>
                        <a:pt x="114" y="102"/>
                      </a:lnTo>
                      <a:lnTo>
                        <a:pt x="114" y="101"/>
                      </a:lnTo>
                      <a:lnTo>
                        <a:pt x="113" y="99"/>
                      </a:lnTo>
                      <a:lnTo>
                        <a:pt x="113" y="98"/>
                      </a:lnTo>
                      <a:lnTo>
                        <a:pt x="112" y="98"/>
                      </a:lnTo>
                      <a:lnTo>
                        <a:pt x="112" y="97"/>
                      </a:lnTo>
                      <a:lnTo>
                        <a:pt x="110" y="96"/>
                      </a:lnTo>
                      <a:lnTo>
                        <a:pt x="110" y="95"/>
                      </a:lnTo>
                      <a:lnTo>
                        <a:pt x="108" y="94"/>
                      </a:lnTo>
                      <a:lnTo>
                        <a:pt x="107" y="94"/>
                      </a:lnTo>
                      <a:lnTo>
                        <a:pt x="106" y="93"/>
                      </a:lnTo>
                      <a:lnTo>
                        <a:pt x="105" y="93"/>
                      </a:lnTo>
                      <a:lnTo>
                        <a:pt x="103" y="93"/>
                      </a:lnTo>
                      <a:lnTo>
                        <a:pt x="102" y="93"/>
                      </a:lnTo>
                      <a:lnTo>
                        <a:pt x="100" y="93"/>
                      </a:lnTo>
                      <a:lnTo>
                        <a:pt x="99" y="93"/>
                      </a:lnTo>
                      <a:lnTo>
                        <a:pt x="98" y="93"/>
                      </a:lnTo>
                      <a:lnTo>
                        <a:pt x="54" y="90"/>
                      </a:lnTo>
                      <a:lnTo>
                        <a:pt x="67" y="54"/>
                      </a:lnTo>
                      <a:lnTo>
                        <a:pt x="75" y="67"/>
                      </a:lnTo>
                      <a:lnTo>
                        <a:pt x="128" y="67"/>
                      </a:lnTo>
                      <a:lnTo>
                        <a:pt x="129" y="66"/>
                      </a:lnTo>
                      <a:lnTo>
                        <a:pt x="131" y="66"/>
                      </a:lnTo>
                      <a:lnTo>
                        <a:pt x="132" y="66"/>
                      </a:lnTo>
                      <a:lnTo>
                        <a:pt x="134" y="64"/>
                      </a:lnTo>
                      <a:lnTo>
                        <a:pt x="135" y="64"/>
                      </a:lnTo>
                      <a:lnTo>
                        <a:pt x="136" y="63"/>
                      </a:lnTo>
                      <a:lnTo>
                        <a:pt x="137" y="62"/>
                      </a:lnTo>
                      <a:lnTo>
                        <a:pt x="137" y="61"/>
                      </a:lnTo>
                      <a:lnTo>
                        <a:pt x="137" y="59"/>
                      </a:lnTo>
                      <a:lnTo>
                        <a:pt x="138" y="58"/>
                      </a:lnTo>
                      <a:lnTo>
                        <a:pt x="138" y="56"/>
                      </a:lnTo>
                      <a:lnTo>
                        <a:pt x="138" y="54"/>
                      </a:lnTo>
                      <a:lnTo>
                        <a:pt x="137" y="53"/>
                      </a:lnTo>
                      <a:lnTo>
                        <a:pt x="137" y="52"/>
                      </a:lnTo>
                      <a:lnTo>
                        <a:pt x="136" y="51"/>
                      </a:lnTo>
                      <a:lnTo>
                        <a:pt x="135" y="49"/>
                      </a:lnTo>
                      <a:lnTo>
                        <a:pt x="134" y="49"/>
                      </a:lnTo>
                      <a:lnTo>
                        <a:pt x="133" y="48"/>
                      </a:lnTo>
                      <a:lnTo>
                        <a:pt x="132" y="47"/>
                      </a:lnTo>
                      <a:lnTo>
                        <a:pt x="131" y="46"/>
                      </a:lnTo>
                      <a:lnTo>
                        <a:pt x="129" y="46"/>
                      </a:lnTo>
                      <a:lnTo>
                        <a:pt x="128" y="46"/>
                      </a:lnTo>
                      <a:lnTo>
                        <a:pt x="87" y="46"/>
                      </a:lnTo>
                      <a:lnTo>
                        <a:pt x="79" y="31"/>
                      </a:lnTo>
                      <a:lnTo>
                        <a:pt x="80" y="30"/>
                      </a:lnTo>
                      <a:lnTo>
                        <a:pt x="81" y="28"/>
                      </a:lnTo>
                      <a:lnTo>
                        <a:pt x="81" y="26"/>
                      </a:lnTo>
                      <a:lnTo>
                        <a:pt x="81" y="24"/>
                      </a:lnTo>
                      <a:lnTo>
                        <a:pt x="81" y="22"/>
                      </a:lnTo>
                      <a:lnTo>
                        <a:pt x="81" y="20"/>
                      </a:lnTo>
                      <a:lnTo>
                        <a:pt x="81" y="18"/>
                      </a:lnTo>
                      <a:lnTo>
                        <a:pt x="81" y="16"/>
                      </a:lnTo>
                      <a:lnTo>
                        <a:pt x="80" y="14"/>
                      </a:lnTo>
                      <a:lnTo>
                        <a:pt x="79" y="13"/>
                      </a:lnTo>
                      <a:lnTo>
                        <a:pt x="79" y="11"/>
                      </a:lnTo>
                      <a:lnTo>
                        <a:pt x="78" y="9"/>
                      </a:lnTo>
                      <a:lnTo>
                        <a:pt x="76" y="8"/>
                      </a:lnTo>
                      <a:lnTo>
                        <a:pt x="75" y="6"/>
                      </a:lnTo>
                      <a:lnTo>
                        <a:pt x="73" y="5"/>
                      </a:lnTo>
                      <a:lnTo>
                        <a:pt x="72" y="4"/>
                      </a:lnTo>
                      <a:lnTo>
                        <a:pt x="70" y="3"/>
                      </a:lnTo>
                      <a:lnTo>
                        <a:pt x="68" y="2"/>
                      </a:lnTo>
                      <a:lnTo>
                        <a:pt x="67" y="1"/>
                      </a:lnTo>
                      <a:lnTo>
                        <a:pt x="64" y="1"/>
                      </a:lnTo>
                      <a:lnTo>
                        <a:pt x="62" y="0"/>
                      </a:lnTo>
                      <a:lnTo>
                        <a:pt x="60" y="0"/>
                      </a:lnTo>
                      <a:lnTo>
                        <a:pt x="58" y="0"/>
                      </a:lnTo>
                      <a:lnTo>
                        <a:pt x="56" y="0"/>
                      </a:lnTo>
                      <a:lnTo>
                        <a:pt x="54" y="1"/>
                      </a:lnTo>
                      <a:lnTo>
                        <a:pt x="52" y="1"/>
                      </a:lnTo>
                      <a:lnTo>
                        <a:pt x="49" y="2"/>
                      </a:lnTo>
                      <a:lnTo>
                        <a:pt x="47" y="3"/>
                      </a:lnTo>
                      <a:lnTo>
                        <a:pt x="45" y="4"/>
                      </a:lnTo>
                      <a:lnTo>
                        <a:pt x="44" y="6"/>
                      </a:lnTo>
                      <a:lnTo>
                        <a:pt x="42" y="8"/>
                      </a:lnTo>
                      <a:lnTo>
                        <a:pt x="41" y="9"/>
                      </a:lnTo>
                      <a:lnTo>
                        <a:pt x="39" y="12"/>
                      </a:lnTo>
                      <a:lnTo>
                        <a:pt x="38" y="14"/>
                      </a:lnTo>
                      <a:lnTo>
                        <a:pt x="38" y="16"/>
                      </a:lnTo>
                    </a:path>
                  </a:pathLst>
                </a:custGeom>
                <a:solidFill>
                  <a:srgbClr val="F39FD1"/>
                </a:solidFill>
                <a:ln w="1270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10" name="Freeform 282">
                <a:extLst>
                  <a:ext uri="{FF2B5EF4-FFF2-40B4-BE49-F238E27FC236}">
                    <a16:creationId xmlns:a16="http://schemas.microsoft.com/office/drawing/2014/main" id="{4F2B5F6E-DBB2-474F-A96E-6DA1ECA7A1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32" y="1392"/>
                <a:ext cx="200" cy="291"/>
              </a:xfrm>
              <a:custGeom>
                <a:avLst/>
                <a:gdLst>
                  <a:gd name="T0" fmla="*/ 199 w 200"/>
                  <a:gd name="T1" fmla="*/ 263 h 291"/>
                  <a:gd name="T2" fmla="*/ 184 w 200"/>
                  <a:gd name="T3" fmla="*/ 263 h 291"/>
                  <a:gd name="T4" fmla="*/ 158 w 200"/>
                  <a:gd name="T5" fmla="*/ 229 h 291"/>
                  <a:gd name="T6" fmla="*/ 121 w 200"/>
                  <a:gd name="T7" fmla="*/ 169 h 291"/>
                  <a:gd name="T8" fmla="*/ 111 w 200"/>
                  <a:gd name="T9" fmla="*/ 141 h 291"/>
                  <a:gd name="T10" fmla="*/ 114 w 200"/>
                  <a:gd name="T11" fmla="*/ 123 h 291"/>
                  <a:gd name="T12" fmla="*/ 123 w 200"/>
                  <a:gd name="T13" fmla="*/ 119 h 291"/>
                  <a:gd name="T14" fmla="*/ 136 w 200"/>
                  <a:gd name="T15" fmla="*/ 129 h 291"/>
                  <a:gd name="T16" fmla="*/ 155 w 200"/>
                  <a:gd name="T17" fmla="*/ 140 h 291"/>
                  <a:gd name="T18" fmla="*/ 164 w 200"/>
                  <a:gd name="T19" fmla="*/ 140 h 291"/>
                  <a:gd name="T20" fmla="*/ 165 w 200"/>
                  <a:gd name="T21" fmla="*/ 134 h 291"/>
                  <a:gd name="T22" fmla="*/ 156 w 200"/>
                  <a:gd name="T23" fmla="*/ 123 h 291"/>
                  <a:gd name="T24" fmla="*/ 135 w 200"/>
                  <a:gd name="T25" fmla="*/ 108 h 291"/>
                  <a:gd name="T26" fmla="*/ 126 w 200"/>
                  <a:gd name="T27" fmla="*/ 86 h 291"/>
                  <a:gd name="T28" fmla="*/ 123 w 200"/>
                  <a:gd name="T29" fmla="*/ 69 h 291"/>
                  <a:gd name="T30" fmla="*/ 113 w 200"/>
                  <a:gd name="T31" fmla="*/ 56 h 291"/>
                  <a:gd name="T32" fmla="*/ 109 w 200"/>
                  <a:gd name="T33" fmla="*/ 48 h 291"/>
                  <a:gd name="T34" fmla="*/ 114 w 200"/>
                  <a:gd name="T35" fmla="*/ 36 h 291"/>
                  <a:gd name="T36" fmla="*/ 119 w 200"/>
                  <a:gd name="T37" fmla="*/ 24 h 291"/>
                  <a:gd name="T38" fmla="*/ 115 w 200"/>
                  <a:gd name="T39" fmla="*/ 9 h 291"/>
                  <a:gd name="T40" fmla="*/ 105 w 200"/>
                  <a:gd name="T41" fmla="*/ 1 h 291"/>
                  <a:gd name="T42" fmla="*/ 90 w 200"/>
                  <a:gd name="T43" fmla="*/ 3 h 291"/>
                  <a:gd name="T44" fmla="*/ 84 w 200"/>
                  <a:gd name="T45" fmla="*/ 13 h 291"/>
                  <a:gd name="T46" fmla="*/ 84 w 200"/>
                  <a:gd name="T47" fmla="*/ 23 h 291"/>
                  <a:gd name="T48" fmla="*/ 88 w 200"/>
                  <a:gd name="T49" fmla="*/ 35 h 291"/>
                  <a:gd name="T50" fmla="*/ 88 w 200"/>
                  <a:gd name="T51" fmla="*/ 46 h 291"/>
                  <a:gd name="T52" fmla="*/ 78 w 200"/>
                  <a:gd name="T53" fmla="*/ 56 h 291"/>
                  <a:gd name="T54" fmla="*/ 65 w 200"/>
                  <a:gd name="T55" fmla="*/ 64 h 291"/>
                  <a:gd name="T56" fmla="*/ 55 w 200"/>
                  <a:gd name="T57" fmla="*/ 75 h 291"/>
                  <a:gd name="T58" fmla="*/ 46 w 200"/>
                  <a:gd name="T59" fmla="*/ 99 h 291"/>
                  <a:gd name="T60" fmla="*/ 41 w 200"/>
                  <a:gd name="T61" fmla="*/ 121 h 291"/>
                  <a:gd name="T62" fmla="*/ 40 w 200"/>
                  <a:gd name="T63" fmla="*/ 145 h 291"/>
                  <a:gd name="T64" fmla="*/ 41 w 200"/>
                  <a:gd name="T65" fmla="*/ 158 h 291"/>
                  <a:gd name="T66" fmla="*/ 49 w 200"/>
                  <a:gd name="T67" fmla="*/ 161 h 291"/>
                  <a:gd name="T68" fmla="*/ 53 w 200"/>
                  <a:gd name="T69" fmla="*/ 158 h 291"/>
                  <a:gd name="T70" fmla="*/ 53 w 200"/>
                  <a:gd name="T71" fmla="*/ 133 h 291"/>
                  <a:gd name="T72" fmla="*/ 55 w 200"/>
                  <a:gd name="T73" fmla="*/ 116 h 291"/>
                  <a:gd name="T74" fmla="*/ 64 w 200"/>
                  <a:gd name="T75" fmla="*/ 109 h 291"/>
                  <a:gd name="T76" fmla="*/ 70 w 200"/>
                  <a:gd name="T77" fmla="*/ 114 h 291"/>
                  <a:gd name="T78" fmla="*/ 68 w 200"/>
                  <a:gd name="T79" fmla="*/ 140 h 291"/>
                  <a:gd name="T80" fmla="*/ 61 w 200"/>
                  <a:gd name="T81" fmla="*/ 166 h 291"/>
                  <a:gd name="T82" fmla="*/ 53 w 200"/>
                  <a:gd name="T83" fmla="*/ 196 h 291"/>
                  <a:gd name="T84" fmla="*/ 33 w 200"/>
                  <a:gd name="T85" fmla="*/ 225 h 291"/>
                  <a:gd name="T86" fmla="*/ 8 w 200"/>
                  <a:gd name="T87" fmla="*/ 255 h 291"/>
                  <a:gd name="T88" fmla="*/ 0 w 200"/>
                  <a:gd name="T89" fmla="*/ 271 h 291"/>
                  <a:gd name="T90" fmla="*/ 19 w 200"/>
                  <a:gd name="T91" fmla="*/ 290 h 291"/>
                  <a:gd name="T92" fmla="*/ 33 w 200"/>
                  <a:gd name="T93" fmla="*/ 288 h 291"/>
                  <a:gd name="T94" fmla="*/ 23 w 200"/>
                  <a:gd name="T95" fmla="*/ 275 h 291"/>
                  <a:gd name="T96" fmla="*/ 30 w 200"/>
                  <a:gd name="T97" fmla="*/ 259 h 291"/>
                  <a:gd name="T98" fmla="*/ 61 w 200"/>
                  <a:gd name="T99" fmla="*/ 223 h 291"/>
                  <a:gd name="T100" fmla="*/ 84 w 200"/>
                  <a:gd name="T101" fmla="*/ 196 h 291"/>
                  <a:gd name="T102" fmla="*/ 95 w 200"/>
                  <a:gd name="T103" fmla="*/ 190 h 291"/>
                  <a:gd name="T104" fmla="*/ 109 w 200"/>
                  <a:gd name="T105" fmla="*/ 199 h 291"/>
                  <a:gd name="T106" fmla="*/ 141 w 200"/>
                  <a:gd name="T107" fmla="*/ 243 h 291"/>
                  <a:gd name="T108" fmla="*/ 168 w 200"/>
                  <a:gd name="T109" fmla="*/ 280 h 291"/>
                  <a:gd name="T110" fmla="*/ 178 w 200"/>
                  <a:gd name="T111" fmla="*/ 283 h 291"/>
                  <a:gd name="T112" fmla="*/ 191 w 200"/>
                  <a:gd name="T113" fmla="*/ 273 h 291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200"/>
                  <a:gd name="T172" fmla="*/ 0 h 291"/>
                  <a:gd name="T173" fmla="*/ 200 w 200"/>
                  <a:gd name="T174" fmla="*/ 291 h 291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200" h="291">
                    <a:moveTo>
                      <a:pt x="198" y="268"/>
                    </a:moveTo>
                    <a:lnTo>
                      <a:pt x="199" y="263"/>
                    </a:lnTo>
                    <a:lnTo>
                      <a:pt x="191" y="264"/>
                    </a:lnTo>
                    <a:lnTo>
                      <a:pt x="184" y="263"/>
                    </a:lnTo>
                    <a:lnTo>
                      <a:pt x="174" y="255"/>
                    </a:lnTo>
                    <a:lnTo>
                      <a:pt x="158" y="229"/>
                    </a:lnTo>
                    <a:lnTo>
                      <a:pt x="134" y="190"/>
                    </a:lnTo>
                    <a:lnTo>
                      <a:pt x="121" y="169"/>
                    </a:lnTo>
                    <a:lnTo>
                      <a:pt x="113" y="151"/>
                    </a:lnTo>
                    <a:lnTo>
                      <a:pt x="111" y="141"/>
                    </a:lnTo>
                    <a:lnTo>
                      <a:pt x="111" y="130"/>
                    </a:lnTo>
                    <a:lnTo>
                      <a:pt x="114" y="123"/>
                    </a:lnTo>
                    <a:lnTo>
                      <a:pt x="119" y="119"/>
                    </a:lnTo>
                    <a:lnTo>
                      <a:pt x="123" y="119"/>
                    </a:lnTo>
                    <a:lnTo>
                      <a:pt x="128" y="121"/>
                    </a:lnTo>
                    <a:lnTo>
                      <a:pt x="136" y="129"/>
                    </a:lnTo>
                    <a:lnTo>
                      <a:pt x="148" y="136"/>
                    </a:lnTo>
                    <a:lnTo>
                      <a:pt x="155" y="140"/>
                    </a:lnTo>
                    <a:lnTo>
                      <a:pt x="160" y="141"/>
                    </a:lnTo>
                    <a:lnTo>
                      <a:pt x="164" y="140"/>
                    </a:lnTo>
                    <a:lnTo>
                      <a:pt x="166" y="136"/>
                    </a:lnTo>
                    <a:lnTo>
                      <a:pt x="165" y="134"/>
                    </a:lnTo>
                    <a:lnTo>
                      <a:pt x="164" y="130"/>
                    </a:lnTo>
                    <a:lnTo>
                      <a:pt x="156" y="123"/>
                    </a:lnTo>
                    <a:lnTo>
                      <a:pt x="143" y="114"/>
                    </a:lnTo>
                    <a:lnTo>
                      <a:pt x="135" y="108"/>
                    </a:lnTo>
                    <a:lnTo>
                      <a:pt x="130" y="99"/>
                    </a:lnTo>
                    <a:lnTo>
                      <a:pt x="126" y="86"/>
                    </a:lnTo>
                    <a:lnTo>
                      <a:pt x="125" y="74"/>
                    </a:lnTo>
                    <a:lnTo>
                      <a:pt x="123" y="69"/>
                    </a:lnTo>
                    <a:lnTo>
                      <a:pt x="119" y="63"/>
                    </a:lnTo>
                    <a:lnTo>
                      <a:pt x="113" y="56"/>
                    </a:lnTo>
                    <a:lnTo>
                      <a:pt x="109" y="53"/>
                    </a:lnTo>
                    <a:lnTo>
                      <a:pt x="109" y="48"/>
                    </a:lnTo>
                    <a:lnTo>
                      <a:pt x="111" y="40"/>
                    </a:lnTo>
                    <a:lnTo>
                      <a:pt x="114" y="36"/>
                    </a:lnTo>
                    <a:lnTo>
                      <a:pt x="116" y="31"/>
                    </a:lnTo>
                    <a:lnTo>
                      <a:pt x="119" y="24"/>
                    </a:lnTo>
                    <a:lnTo>
                      <a:pt x="116" y="15"/>
                    </a:lnTo>
                    <a:lnTo>
                      <a:pt x="115" y="9"/>
                    </a:lnTo>
                    <a:lnTo>
                      <a:pt x="111" y="4"/>
                    </a:lnTo>
                    <a:lnTo>
                      <a:pt x="105" y="1"/>
                    </a:lnTo>
                    <a:lnTo>
                      <a:pt x="96" y="0"/>
                    </a:lnTo>
                    <a:lnTo>
                      <a:pt x="90" y="3"/>
                    </a:lnTo>
                    <a:lnTo>
                      <a:pt x="86" y="6"/>
                    </a:lnTo>
                    <a:lnTo>
                      <a:pt x="84" y="13"/>
                    </a:lnTo>
                    <a:lnTo>
                      <a:pt x="83" y="18"/>
                    </a:lnTo>
                    <a:lnTo>
                      <a:pt x="84" y="23"/>
                    </a:lnTo>
                    <a:lnTo>
                      <a:pt x="86" y="30"/>
                    </a:lnTo>
                    <a:lnTo>
                      <a:pt x="88" y="35"/>
                    </a:lnTo>
                    <a:lnTo>
                      <a:pt x="89" y="40"/>
                    </a:lnTo>
                    <a:lnTo>
                      <a:pt x="88" y="46"/>
                    </a:lnTo>
                    <a:lnTo>
                      <a:pt x="84" y="51"/>
                    </a:lnTo>
                    <a:lnTo>
                      <a:pt x="78" y="56"/>
                    </a:lnTo>
                    <a:lnTo>
                      <a:pt x="70" y="60"/>
                    </a:lnTo>
                    <a:lnTo>
                      <a:pt x="65" y="64"/>
                    </a:lnTo>
                    <a:lnTo>
                      <a:pt x="60" y="69"/>
                    </a:lnTo>
                    <a:lnTo>
                      <a:pt x="55" y="75"/>
                    </a:lnTo>
                    <a:lnTo>
                      <a:pt x="50" y="86"/>
                    </a:lnTo>
                    <a:lnTo>
                      <a:pt x="46" y="99"/>
                    </a:lnTo>
                    <a:lnTo>
                      <a:pt x="43" y="109"/>
                    </a:lnTo>
                    <a:lnTo>
                      <a:pt x="41" y="121"/>
                    </a:lnTo>
                    <a:lnTo>
                      <a:pt x="40" y="136"/>
                    </a:lnTo>
                    <a:lnTo>
                      <a:pt x="40" y="145"/>
                    </a:lnTo>
                    <a:lnTo>
                      <a:pt x="40" y="153"/>
                    </a:lnTo>
                    <a:lnTo>
                      <a:pt x="41" y="158"/>
                    </a:lnTo>
                    <a:lnTo>
                      <a:pt x="44" y="160"/>
                    </a:lnTo>
                    <a:lnTo>
                      <a:pt x="49" y="161"/>
                    </a:lnTo>
                    <a:lnTo>
                      <a:pt x="51" y="160"/>
                    </a:lnTo>
                    <a:lnTo>
                      <a:pt x="53" y="158"/>
                    </a:lnTo>
                    <a:lnTo>
                      <a:pt x="53" y="148"/>
                    </a:lnTo>
                    <a:lnTo>
                      <a:pt x="53" y="133"/>
                    </a:lnTo>
                    <a:lnTo>
                      <a:pt x="54" y="123"/>
                    </a:lnTo>
                    <a:lnTo>
                      <a:pt x="55" y="116"/>
                    </a:lnTo>
                    <a:lnTo>
                      <a:pt x="59" y="110"/>
                    </a:lnTo>
                    <a:lnTo>
                      <a:pt x="64" y="109"/>
                    </a:lnTo>
                    <a:lnTo>
                      <a:pt x="69" y="110"/>
                    </a:lnTo>
                    <a:lnTo>
                      <a:pt x="70" y="114"/>
                    </a:lnTo>
                    <a:lnTo>
                      <a:pt x="69" y="125"/>
                    </a:lnTo>
                    <a:lnTo>
                      <a:pt x="68" y="140"/>
                    </a:lnTo>
                    <a:lnTo>
                      <a:pt x="65" y="154"/>
                    </a:lnTo>
                    <a:lnTo>
                      <a:pt x="61" y="166"/>
                    </a:lnTo>
                    <a:lnTo>
                      <a:pt x="58" y="183"/>
                    </a:lnTo>
                    <a:lnTo>
                      <a:pt x="53" y="196"/>
                    </a:lnTo>
                    <a:lnTo>
                      <a:pt x="41" y="214"/>
                    </a:lnTo>
                    <a:lnTo>
                      <a:pt x="33" y="225"/>
                    </a:lnTo>
                    <a:lnTo>
                      <a:pt x="18" y="243"/>
                    </a:lnTo>
                    <a:lnTo>
                      <a:pt x="8" y="255"/>
                    </a:lnTo>
                    <a:lnTo>
                      <a:pt x="0" y="266"/>
                    </a:lnTo>
                    <a:lnTo>
                      <a:pt x="0" y="271"/>
                    </a:lnTo>
                    <a:lnTo>
                      <a:pt x="8" y="280"/>
                    </a:lnTo>
                    <a:lnTo>
                      <a:pt x="19" y="290"/>
                    </a:lnTo>
                    <a:lnTo>
                      <a:pt x="30" y="290"/>
                    </a:lnTo>
                    <a:lnTo>
                      <a:pt x="33" y="288"/>
                    </a:lnTo>
                    <a:lnTo>
                      <a:pt x="28" y="281"/>
                    </a:lnTo>
                    <a:lnTo>
                      <a:pt x="23" y="275"/>
                    </a:lnTo>
                    <a:lnTo>
                      <a:pt x="23" y="270"/>
                    </a:lnTo>
                    <a:lnTo>
                      <a:pt x="30" y="259"/>
                    </a:lnTo>
                    <a:lnTo>
                      <a:pt x="43" y="246"/>
                    </a:lnTo>
                    <a:lnTo>
                      <a:pt x="61" y="223"/>
                    </a:lnTo>
                    <a:lnTo>
                      <a:pt x="78" y="203"/>
                    </a:lnTo>
                    <a:lnTo>
                      <a:pt x="84" y="196"/>
                    </a:lnTo>
                    <a:lnTo>
                      <a:pt x="88" y="191"/>
                    </a:lnTo>
                    <a:lnTo>
                      <a:pt x="95" y="190"/>
                    </a:lnTo>
                    <a:lnTo>
                      <a:pt x="101" y="194"/>
                    </a:lnTo>
                    <a:lnTo>
                      <a:pt x="109" y="199"/>
                    </a:lnTo>
                    <a:lnTo>
                      <a:pt x="124" y="219"/>
                    </a:lnTo>
                    <a:lnTo>
                      <a:pt x="141" y="243"/>
                    </a:lnTo>
                    <a:lnTo>
                      <a:pt x="158" y="266"/>
                    </a:lnTo>
                    <a:lnTo>
                      <a:pt x="168" y="280"/>
                    </a:lnTo>
                    <a:lnTo>
                      <a:pt x="171" y="283"/>
                    </a:lnTo>
                    <a:lnTo>
                      <a:pt x="178" y="283"/>
                    </a:lnTo>
                    <a:lnTo>
                      <a:pt x="184" y="278"/>
                    </a:lnTo>
                    <a:lnTo>
                      <a:pt x="191" y="273"/>
                    </a:lnTo>
                    <a:lnTo>
                      <a:pt x="198" y="268"/>
                    </a:lnTo>
                  </a:path>
                </a:pathLst>
              </a:custGeom>
              <a:solidFill>
                <a:srgbClr val="CECECE"/>
              </a:solidFill>
              <a:ln w="2540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11" name="Group 283">
                <a:extLst>
                  <a:ext uri="{FF2B5EF4-FFF2-40B4-BE49-F238E27FC236}">
                    <a16:creationId xmlns:a16="http://schemas.microsoft.com/office/drawing/2014/main" id="{E97FE12E-7B33-43EC-B85B-2867A0744BC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08" y="1392"/>
                <a:ext cx="259" cy="310"/>
                <a:chOff x="1225" y="1348"/>
                <a:chExt cx="259" cy="310"/>
              </a:xfrm>
            </p:grpSpPr>
            <p:grpSp>
              <p:nvGrpSpPr>
                <p:cNvPr id="212" name="Group 284">
                  <a:extLst>
                    <a:ext uri="{FF2B5EF4-FFF2-40B4-BE49-F238E27FC236}">
                      <a16:creationId xmlns:a16="http://schemas.microsoft.com/office/drawing/2014/main" id="{854FF682-01F8-4E73-A211-8139A230DA6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225" y="1348"/>
                  <a:ext cx="259" cy="310"/>
                  <a:chOff x="1225" y="1348"/>
                  <a:chExt cx="259" cy="310"/>
                </a:xfrm>
              </p:grpSpPr>
              <p:sp>
                <p:nvSpPr>
                  <p:cNvPr id="215" name="AutoShape 285">
                    <a:extLst>
                      <a:ext uri="{FF2B5EF4-FFF2-40B4-BE49-F238E27FC236}">
                        <a16:creationId xmlns:a16="http://schemas.microsoft.com/office/drawing/2014/main" id="{CB29AFDD-A16B-455D-BA1F-1A76E94E4EC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225" y="1398"/>
                    <a:ext cx="259" cy="260"/>
                  </a:xfrm>
                  <a:prstGeom prst="cube">
                    <a:avLst>
                      <a:gd name="adj" fmla="val 24995"/>
                    </a:avLst>
                  </a:prstGeom>
                  <a:solidFill>
                    <a:schemeClr val="bg1"/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16" name="AutoShape 286">
                    <a:extLst>
                      <a:ext uri="{FF2B5EF4-FFF2-40B4-BE49-F238E27FC236}">
                        <a16:creationId xmlns:a16="http://schemas.microsoft.com/office/drawing/2014/main" id="{69386ED4-09C0-4C9A-8B60-DBAD3A11CC5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288" y="1348"/>
                    <a:ext cx="196" cy="46"/>
                  </a:xfrm>
                  <a:prstGeom prst="cube">
                    <a:avLst>
                      <a:gd name="adj" fmla="val 24995"/>
                    </a:avLst>
                  </a:prstGeom>
                  <a:solidFill>
                    <a:schemeClr val="bg1"/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213" name="Oval 287">
                  <a:extLst>
                    <a:ext uri="{FF2B5EF4-FFF2-40B4-BE49-F238E27FC236}">
                      <a16:creationId xmlns:a16="http://schemas.microsoft.com/office/drawing/2014/main" id="{83C7CD6B-FCC0-4E81-838D-F103BEFEB0F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07" y="1374"/>
                  <a:ext cx="27" cy="8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4" name="AutoShape 288">
                  <a:extLst>
                    <a:ext uri="{FF2B5EF4-FFF2-40B4-BE49-F238E27FC236}">
                      <a16:creationId xmlns:a16="http://schemas.microsoft.com/office/drawing/2014/main" id="{67842F59-8D56-4C80-BE6F-63EEF59A4B7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6" y="1522"/>
                  <a:ext cx="137" cy="55"/>
                </a:xfrm>
                <a:prstGeom prst="octagon">
                  <a:avLst>
                    <a:gd name="adj" fmla="val 29282"/>
                  </a:avLst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189" name="Group 289">
              <a:extLst>
                <a:ext uri="{FF2B5EF4-FFF2-40B4-BE49-F238E27FC236}">
                  <a16:creationId xmlns:a16="http://schemas.microsoft.com/office/drawing/2014/main" id="{5BDD3718-9E45-4ED4-855D-0F911A99D3D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0" y="2448"/>
              <a:ext cx="1064" cy="310"/>
              <a:chOff x="768" y="1392"/>
              <a:chExt cx="1064" cy="310"/>
            </a:xfrm>
          </p:grpSpPr>
          <p:grpSp>
            <p:nvGrpSpPr>
              <p:cNvPr id="190" name="Group 290">
                <a:extLst>
                  <a:ext uri="{FF2B5EF4-FFF2-40B4-BE49-F238E27FC236}">
                    <a16:creationId xmlns:a16="http://schemas.microsoft.com/office/drawing/2014/main" id="{C22C8E03-6599-4771-B49F-72FD814444C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68" y="1392"/>
                <a:ext cx="206" cy="310"/>
                <a:chOff x="1013" y="1348"/>
                <a:chExt cx="206" cy="310"/>
              </a:xfrm>
            </p:grpSpPr>
            <p:sp>
              <p:nvSpPr>
                <p:cNvPr id="205" name="AutoShape 291">
                  <a:extLst>
                    <a:ext uri="{FF2B5EF4-FFF2-40B4-BE49-F238E27FC236}">
                      <a16:creationId xmlns:a16="http://schemas.microsoft.com/office/drawing/2014/main" id="{22981016-B2C4-4526-B8F7-7A956358432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13" y="1398"/>
                  <a:ext cx="206" cy="260"/>
                </a:xfrm>
                <a:prstGeom prst="cube">
                  <a:avLst>
                    <a:gd name="adj" fmla="val 24995"/>
                  </a:avLst>
                </a:prstGeom>
                <a:solidFill>
                  <a:srgbClr val="DC008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6" name="AutoShape 292">
                  <a:extLst>
                    <a:ext uri="{FF2B5EF4-FFF2-40B4-BE49-F238E27FC236}">
                      <a16:creationId xmlns:a16="http://schemas.microsoft.com/office/drawing/2014/main" id="{1C45576C-B562-4E9F-BEE1-334D6657DB7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61" y="1348"/>
                  <a:ext cx="158" cy="46"/>
                </a:xfrm>
                <a:prstGeom prst="cube">
                  <a:avLst>
                    <a:gd name="adj" fmla="val 24995"/>
                  </a:avLst>
                </a:prstGeom>
                <a:solidFill>
                  <a:srgbClr val="DC008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7" name="AutoShape 293">
                  <a:extLst>
                    <a:ext uri="{FF2B5EF4-FFF2-40B4-BE49-F238E27FC236}">
                      <a16:creationId xmlns:a16="http://schemas.microsoft.com/office/drawing/2014/main" id="{236620E1-13FA-4474-BDD2-29B7FD7244A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52" y="1419"/>
                  <a:ext cx="108" cy="15"/>
                </a:xfrm>
                <a:prstGeom prst="parallelogram">
                  <a:avLst>
                    <a:gd name="adj" fmla="val 179967"/>
                  </a:avLst>
                </a:prstGeom>
                <a:solidFill>
                  <a:srgbClr val="DC008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91" name="Group 294">
                <a:extLst>
                  <a:ext uri="{FF2B5EF4-FFF2-40B4-BE49-F238E27FC236}">
                    <a16:creationId xmlns:a16="http://schemas.microsoft.com/office/drawing/2014/main" id="{1A844000-8BF5-4895-A7C0-B9303CA76DA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44" y="1440"/>
                <a:ext cx="203" cy="257"/>
                <a:chOff x="1531" y="1389"/>
                <a:chExt cx="203" cy="257"/>
              </a:xfrm>
            </p:grpSpPr>
            <p:sp>
              <p:nvSpPr>
                <p:cNvPr id="199" name="Freeform 295">
                  <a:extLst>
                    <a:ext uri="{FF2B5EF4-FFF2-40B4-BE49-F238E27FC236}">
                      <a16:creationId xmlns:a16="http://schemas.microsoft.com/office/drawing/2014/main" id="{1A798803-CE53-48EF-9689-A76F3E03C60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60" y="1506"/>
                  <a:ext cx="62" cy="140"/>
                </a:xfrm>
                <a:custGeom>
                  <a:avLst/>
                  <a:gdLst>
                    <a:gd name="T0" fmla="*/ 44 w 62"/>
                    <a:gd name="T1" fmla="*/ 0 h 140"/>
                    <a:gd name="T2" fmla="*/ 61 w 62"/>
                    <a:gd name="T3" fmla="*/ 0 h 140"/>
                    <a:gd name="T4" fmla="*/ 17 w 62"/>
                    <a:gd name="T5" fmla="*/ 139 h 140"/>
                    <a:gd name="T6" fmla="*/ 0 w 62"/>
                    <a:gd name="T7" fmla="*/ 139 h 140"/>
                    <a:gd name="T8" fmla="*/ 44 w 62"/>
                    <a:gd name="T9" fmla="*/ 0 h 1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2"/>
                    <a:gd name="T16" fmla="*/ 0 h 140"/>
                    <a:gd name="T17" fmla="*/ 62 w 62"/>
                    <a:gd name="T18" fmla="*/ 140 h 1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2" h="140">
                      <a:moveTo>
                        <a:pt x="44" y="0"/>
                      </a:moveTo>
                      <a:lnTo>
                        <a:pt x="61" y="0"/>
                      </a:lnTo>
                      <a:lnTo>
                        <a:pt x="17" y="139"/>
                      </a:lnTo>
                      <a:lnTo>
                        <a:pt x="0" y="139"/>
                      </a:lnTo>
                      <a:lnTo>
                        <a:pt x="44" y="0"/>
                      </a:lnTo>
                    </a:path>
                  </a:pathLst>
                </a:custGeom>
                <a:solidFill>
                  <a:srgbClr val="F39FD1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0" name="Rectangle 296">
                  <a:extLst>
                    <a:ext uri="{FF2B5EF4-FFF2-40B4-BE49-F238E27FC236}">
                      <a16:creationId xmlns:a16="http://schemas.microsoft.com/office/drawing/2014/main" id="{B7D73CCC-D9D7-476F-B957-282988F4142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57" y="1506"/>
                  <a:ext cx="77" cy="12"/>
                </a:xfrm>
                <a:prstGeom prst="rect">
                  <a:avLst/>
                </a:prstGeom>
                <a:solidFill>
                  <a:srgbClr val="F39FD1"/>
                </a:solidFill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1" name="Rectangle 297">
                  <a:extLst>
                    <a:ext uri="{FF2B5EF4-FFF2-40B4-BE49-F238E27FC236}">
                      <a16:creationId xmlns:a16="http://schemas.microsoft.com/office/drawing/2014/main" id="{F8DBE1C6-4FB5-40C0-92FF-2AF85667AEB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63" y="1564"/>
                  <a:ext cx="58" cy="12"/>
                </a:xfrm>
                <a:prstGeom prst="rect">
                  <a:avLst/>
                </a:prstGeom>
                <a:solidFill>
                  <a:srgbClr val="F39FD1"/>
                </a:solidFill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2" name="Rectangle 298">
                  <a:extLst>
                    <a:ext uri="{FF2B5EF4-FFF2-40B4-BE49-F238E27FC236}">
                      <a16:creationId xmlns:a16="http://schemas.microsoft.com/office/drawing/2014/main" id="{7812172B-68AD-4FB0-82B3-F43052FA050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32" y="1564"/>
                  <a:ext cx="74" cy="7"/>
                </a:xfrm>
                <a:prstGeom prst="rect">
                  <a:avLst/>
                </a:prstGeom>
                <a:solidFill>
                  <a:srgbClr val="F39FD1"/>
                </a:solidFill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3" name="Oval 299">
                  <a:extLst>
                    <a:ext uri="{FF2B5EF4-FFF2-40B4-BE49-F238E27FC236}">
                      <a16:creationId xmlns:a16="http://schemas.microsoft.com/office/drawing/2014/main" id="{FBFA2908-5EF2-4DC4-9A72-A355039A47D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92" y="1389"/>
                  <a:ext cx="22" cy="25"/>
                </a:xfrm>
                <a:prstGeom prst="ellipse">
                  <a:avLst/>
                </a:prstGeom>
                <a:solidFill>
                  <a:srgbClr val="F39FD1"/>
                </a:solidFill>
                <a:ln w="254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4" name="Freeform 300">
                  <a:extLst>
                    <a:ext uri="{FF2B5EF4-FFF2-40B4-BE49-F238E27FC236}">
                      <a16:creationId xmlns:a16="http://schemas.microsoft.com/office/drawing/2014/main" id="{B8C835D1-41CE-463B-935D-DBF93D9B29C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31" y="1433"/>
                  <a:ext cx="139" cy="213"/>
                </a:xfrm>
                <a:custGeom>
                  <a:avLst/>
                  <a:gdLst>
                    <a:gd name="T0" fmla="*/ 1 w 139"/>
                    <a:gd name="T1" fmla="*/ 98 h 213"/>
                    <a:gd name="T2" fmla="*/ 1 w 139"/>
                    <a:gd name="T3" fmla="*/ 101 h 213"/>
                    <a:gd name="T4" fmla="*/ 0 w 139"/>
                    <a:gd name="T5" fmla="*/ 104 h 213"/>
                    <a:gd name="T6" fmla="*/ 0 w 139"/>
                    <a:gd name="T7" fmla="*/ 108 h 213"/>
                    <a:gd name="T8" fmla="*/ 1 w 139"/>
                    <a:gd name="T9" fmla="*/ 111 h 213"/>
                    <a:gd name="T10" fmla="*/ 3 w 139"/>
                    <a:gd name="T11" fmla="*/ 114 h 213"/>
                    <a:gd name="T12" fmla="*/ 6 w 139"/>
                    <a:gd name="T13" fmla="*/ 117 h 213"/>
                    <a:gd name="T14" fmla="*/ 9 w 139"/>
                    <a:gd name="T15" fmla="*/ 119 h 213"/>
                    <a:gd name="T16" fmla="*/ 11 w 139"/>
                    <a:gd name="T17" fmla="*/ 119 h 213"/>
                    <a:gd name="T18" fmla="*/ 15 w 139"/>
                    <a:gd name="T19" fmla="*/ 119 h 213"/>
                    <a:gd name="T20" fmla="*/ 90 w 139"/>
                    <a:gd name="T21" fmla="*/ 212 h 213"/>
                    <a:gd name="T22" fmla="*/ 114 w 139"/>
                    <a:gd name="T23" fmla="*/ 102 h 213"/>
                    <a:gd name="T24" fmla="*/ 113 w 139"/>
                    <a:gd name="T25" fmla="*/ 99 h 213"/>
                    <a:gd name="T26" fmla="*/ 112 w 139"/>
                    <a:gd name="T27" fmla="*/ 98 h 213"/>
                    <a:gd name="T28" fmla="*/ 110 w 139"/>
                    <a:gd name="T29" fmla="*/ 96 h 213"/>
                    <a:gd name="T30" fmla="*/ 108 w 139"/>
                    <a:gd name="T31" fmla="*/ 94 h 213"/>
                    <a:gd name="T32" fmla="*/ 106 w 139"/>
                    <a:gd name="T33" fmla="*/ 93 h 213"/>
                    <a:gd name="T34" fmla="*/ 103 w 139"/>
                    <a:gd name="T35" fmla="*/ 93 h 213"/>
                    <a:gd name="T36" fmla="*/ 100 w 139"/>
                    <a:gd name="T37" fmla="*/ 93 h 213"/>
                    <a:gd name="T38" fmla="*/ 98 w 139"/>
                    <a:gd name="T39" fmla="*/ 93 h 213"/>
                    <a:gd name="T40" fmla="*/ 67 w 139"/>
                    <a:gd name="T41" fmla="*/ 54 h 213"/>
                    <a:gd name="T42" fmla="*/ 128 w 139"/>
                    <a:gd name="T43" fmla="*/ 67 h 213"/>
                    <a:gd name="T44" fmla="*/ 131 w 139"/>
                    <a:gd name="T45" fmla="*/ 66 h 213"/>
                    <a:gd name="T46" fmla="*/ 132 w 139"/>
                    <a:gd name="T47" fmla="*/ 66 h 213"/>
                    <a:gd name="T48" fmla="*/ 135 w 139"/>
                    <a:gd name="T49" fmla="*/ 64 h 213"/>
                    <a:gd name="T50" fmla="*/ 137 w 139"/>
                    <a:gd name="T51" fmla="*/ 62 h 213"/>
                    <a:gd name="T52" fmla="*/ 137 w 139"/>
                    <a:gd name="T53" fmla="*/ 59 h 213"/>
                    <a:gd name="T54" fmla="*/ 138 w 139"/>
                    <a:gd name="T55" fmla="*/ 56 h 213"/>
                    <a:gd name="T56" fmla="*/ 137 w 139"/>
                    <a:gd name="T57" fmla="*/ 53 h 213"/>
                    <a:gd name="T58" fmla="*/ 136 w 139"/>
                    <a:gd name="T59" fmla="*/ 51 h 213"/>
                    <a:gd name="T60" fmla="*/ 134 w 139"/>
                    <a:gd name="T61" fmla="*/ 49 h 213"/>
                    <a:gd name="T62" fmla="*/ 132 w 139"/>
                    <a:gd name="T63" fmla="*/ 47 h 213"/>
                    <a:gd name="T64" fmla="*/ 129 w 139"/>
                    <a:gd name="T65" fmla="*/ 46 h 213"/>
                    <a:gd name="T66" fmla="*/ 87 w 139"/>
                    <a:gd name="T67" fmla="*/ 46 h 213"/>
                    <a:gd name="T68" fmla="*/ 80 w 139"/>
                    <a:gd name="T69" fmla="*/ 30 h 213"/>
                    <a:gd name="T70" fmla="*/ 81 w 139"/>
                    <a:gd name="T71" fmla="*/ 26 h 213"/>
                    <a:gd name="T72" fmla="*/ 81 w 139"/>
                    <a:gd name="T73" fmla="*/ 22 h 213"/>
                    <a:gd name="T74" fmla="*/ 81 w 139"/>
                    <a:gd name="T75" fmla="*/ 18 h 213"/>
                    <a:gd name="T76" fmla="*/ 80 w 139"/>
                    <a:gd name="T77" fmla="*/ 14 h 213"/>
                    <a:gd name="T78" fmla="*/ 79 w 139"/>
                    <a:gd name="T79" fmla="*/ 11 h 213"/>
                    <a:gd name="T80" fmla="*/ 76 w 139"/>
                    <a:gd name="T81" fmla="*/ 8 h 213"/>
                    <a:gd name="T82" fmla="*/ 73 w 139"/>
                    <a:gd name="T83" fmla="*/ 5 h 213"/>
                    <a:gd name="T84" fmla="*/ 70 w 139"/>
                    <a:gd name="T85" fmla="*/ 3 h 213"/>
                    <a:gd name="T86" fmla="*/ 67 w 139"/>
                    <a:gd name="T87" fmla="*/ 1 h 213"/>
                    <a:gd name="T88" fmla="*/ 62 w 139"/>
                    <a:gd name="T89" fmla="*/ 0 h 213"/>
                    <a:gd name="T90" fmla="*/ 58 w 139"/>
                    <a:gd name="T91" fmla="*/ 0 h 213"/>
                    <a:gd name="T92" fmla="*/ 54 w 139"/>
                    <a:gd name="T93" fmla="*/ 1 h 213"/>
                    <a:gd name="T94" fmla="*/ 49 w 139"/>
                    <a:gd name="T95" fmla="*/ 2 h 213"/>
                    <a:gd name="T96" fmla="*/ 45 w 139"/>
                    <a:gd name="T97" fmla="*/ 4 h 213"/>
                    <a:gd name="T98" fmla="*/ 42 w 139"/>
                    <a:gd name="T99" fmla="*/ 8 h 213"/>
                    <a:gd name="T100" fmla="*/ 39 w 139"/>
                    <a:gd name="T101" fmla="*/ 12 h 213"/>
                    <a:gd name="T102" fmla="*/ 38 w 139"/>
                    <a:gd name="T103" fmla="*/ 16 h 213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w 139"/>
                    <a:gd name="T157" fmla="*/ 0 h 213"/>
                    <a:gd name="T158" fmla="*/ 139 w 139"/>
                    <a:gd name="T159" fmla="*/ 213 h 213"/>
                  </a:gdLst>
                  <a:ahLst/>
                  <a:cxnLst>
                    <a:cxn ang="T104">
                      <a:pos x="T0" y="T1"/>
                    </a:cxn>
                    <a:cxn ang="T105">
                      <a:pos x="T2" y="T3"/>
                    </a:cxn>
                    <a:cxn ang="T106">
                      <a:pos x="T4" y="T5"/>
                    </a:cxn>
                    <a:cxn ang="T107">
                      <a:pos x="T6" y="T7"/>
                    </a:cxn>
                    <a:cxn ang="T108">
                      <a:pos x="T8" y="T9"/>
                    </a:cxn>
                    <a:cxn ang="T109">
                      <a:pos x="T10" y="T11"/>
                    </a:cxn>
                    <a:cxn ang="T110">
                      <a:pos x="T12" y="T13"/>
                    </a:cxn>
                    <a:cxn ang="T111">
                      <a:pos x="T14" y="T15"/>
                    </a:cxn>
                    <a:cxn ang="T112">
                      <a:pos x="T16" y="T17"/>
                    </a:cxn>
                    <a:cxn ang="T113">
                      <a:pos x="T18" y="T19"/>
                    </a:cxn>
                    <a:cxn ang="T114">
                      <a:pos x="T20" y="T21"/>
                    </a:cxn>
                    <a:cxn ang="T115">
                      <a:pos x="T22" y="T23"/>
                    </a:cxn>
                    <a:cxn ang="T116">
                      <a:pos x="T24" y="T25"/>
                    </a:cxn>
                    <a:cxn ang="T117">
                      <a:pos x="T26" y="T27"/>
                    </a:cxn>
                    <a:cxn ang="T118">
                      <a:pos x="T28" y="T29"/>
                    </a:cxn>
                    <a:cxn ang="T119">
                      <a:pos x="T30" y="T31"/>
                    </a:cxn>
                    <a:cxn ang="T120">
                      <a:pos x="T32" y="T33"/>
                    </a:cxn>
                    <a:cxn ang="T121">
                      <a:pos x="T34" y="T35"/>
                    </a:cxn>
                    <a:cxn ang="T122">
                      <a:pos x="T36" y="T37"/>
                    </a:cxn>
                    <a:cxn ang="T123">
                      <a:pos x="T38" y="T39"/>
                    </a:cxn>
                    <a:cxn ang="T124">
                      <a:pos x="T40" y="T41"/>
                    </a:cxn>
                    <a:cxn ang="T125">
                      <a:pos x="T42" y="T43"/>
                    </a:cxn>
                    <a:cxn ang="T126">
                      <a:pos x="T44" y="T45"/>
                    </a:cxn>
                    <a:cxn ang="T127">
                      <a:pos x="T46" y="T47"/>
                    </a:cxn>
                    <a:cxn ang="T128">
                      <a:pos x="T48" y="T49"/>
                    </a:cxn>
                    <a:cxn ang="T129">
                      <a:pos x="T50" y="T51"/>
                    </a:cxn>
                    <a:cxn ang="T130">
                      <a:pos x="T52" y="T53"/>
                    </a:cxn>
                    <a:cxn ang="T131">
                      <a:pos x="T54" y="T55"/>
                    </a:cxn>
                    <a:cxn ang="T132">
                      <a:pos x="T56" y="T57"/>
                    </a:cxn>
                    <a:cxn ang="T133">
                      <a:pos x="T58" y="T59"/>
                    </a:cxn>
                    <a:cxn ang="T134">
                      <a:pos x="T60" y="T61"/>
                    </a:cxn>
                    <a:cxn ang="T135">
                      <a:pos x="T62" y="T63"/>
                    </a:cxn>
                    <a:cxn ang="T136">
                      <a:pos x="T64" y="T65"/>
                    </a:cxn>
                    <a:cxn ang="T137">
                      <a:pos x="T66" y="T67"/>
                    </a:cxn>
                    <a:cxn ang="T138">
                      <a:pos x="T68" y="T69"/>
                    </a:cxn>
                    <a:cxn ang="T139">
                      <a:pos x="T70" y="T71"/>
                    </a:cxn>
                    <a:cxn ang="T140">
                      <a:pos x="T72" y="T73"/>
                    </a:cxn>
                    <a:cxn ang="T141">
                      <a:pos x="T74" y="T75"/>
                    </a:cxn>
                    <a:cxn ang="T142">
                      <a:pos x="T76" y="T77"/>
                    </a:cxn>
                    <a:cxn ang="T143">
                      <a:pos x="T78" y="T79"/>
                    </a:cxn>
                    <a:cxn ang="T144">
                      <a:pos x="T80" y="T81"/>
                    </a:cxn>
                    <a:cxn ang="T145">
                      <a:pos x="T82" y="T83"/>
                    </a:cxn>
                    <a:cxn ang="T146">
                      <a:pos x="T84" y="T85"/>
                    </a:cxn>
                    <a:cxn ang="T147">
                      <a:pos x="T86" y="T87"/>
                    </a:cxn>
                    <a:cxn ang="T148">
                      <a:pos x="T88" y="T89"/>
                    </a:cxn>
                    <a:cxn ang="T149">
                      <a:pos x="T90" y="T91"/>
                    </a:cxn>
                    <a:cxn ang="T150">
                      <a:pos x="T92" y="T93"/>
                    </a:cxn>
                    <a:cxn ang="T151">
                      <a:pos x="T94" y="T95"/>
                    </a:cxn>
                    <a:cxn ang="T152">
                      <a:pos x="T96" y="T97"/>
                    </a:cxn>
                    <a:cxn ang="T153">
                      <a:pos x="T98" y="T99"/>
                    </a:cxn>
                    <a:cxn ang="T154">
                      <a:pos x="T100" y="T101"/>
                    </a:cxn>
                    <a:cxn ang="T155">
                      <a:pos x="T102" y="T103"/>
                    </a:cxn>
                  </a:cxnLst>
                  <a:rect l="T156" t="T157" r="T158" b="T159"/>
                  <a:pathLst>
                    <a:path w="139" h="213">
                      <a:moveTo>
                        <a:pt x="38" y="16"/>
                      </a:moveTo>
                      <a:lnTo>
                        <a:pt x="1" y="98"/>
                      </a:lnTo>
                      <a:lnTo>
                        <a:pt x="1" y="99"/>
                      </a:lnTo>
                      <a:lnTo>
                        <a:pt x="1" y="101"/>
                      </a:lnTo>
                      <a:lnTo>
                        <a:pt x="0" y="102"/>
                      </a:lnTo>
                      <a:lnTo>
                        <a:pt x="0" y="104"/>
                      </a:lnTo>
                      <a:lnTo>
                        <a:pt x="0" y="106"/>
                      </a:lnTo>
                      <a:lnTo>
                        <a:pt x="0" y="108"/>
                      </a:lnTo>
                      <a:lnTo>
                        <a:pt x="1" y="109"/>
                      </a:lnTo>
                      <a:lnTo>
                        <a:pt x="1" y="111"/>
                      </a:lnTo>
                      <a:lnTo>
                        <a:pt x="2" y="113"/>
                      </a:lnTo>
                      <a:lnTo>
                        <a:pt x="3" y="114"/>
                      </a:lnTo>
                      <a:lnTo>
                        <a:pt x="4" y="116"/>
                      </a:lnTo>
                      <a:lnTo>
                        <a:pt x="6" y="117"/>
                      </a:lnTo>
                      <a:lnTo>
                        <a:pt x="7" y="118"/>
                      </a:lnTo>
                      <a:lnTo>
                        <a:pt x="9" y="119"/>
                      </a:lnTo>
                      <a:lnTo>
                        <a:pt x="10" y="119"/>
                      </a:lnTo>
                      <a:lnTo>
                        <a:pt x="11" y="119"/>
                      </a:lnTo>
                      <a:lnTo>
                        <a:pt x="13" y="119"/>
                      </a:lnTo>
                      <a:lnTo>
                        <a:pt x="15" y="119"/>
                      </a:lnTo>
                      <a:lnTo>
                        <a:pt x="90" y="119"/>
                      </a:lnTo>
                      <a:lnTo>
                        <a:pt x="90" y="212"/>
                      </a:lnTo>
                      <a:lnTo>
                        <a:pt x="114" y="212"/>
                      </a:lnTo>
                      <a:lnTo>
                        <a:pt x="114" y="102"/>
                      </a:lnTo>
                      <a:lnTo>
                        <a:pt x="114" y="101"/>
                      </a:lnTo>
                      <a:lnTo>
                        <a:pt x="113" y="99"/>
                      </a:lnTo>
                      <a:lnTo>
                        <a:pt x="113" y="98"/>
                      </a:lnTo>
                      <a:lnTo>
                        <a:pt x="112" y="98"/>
                      </a:lnTo>
                      <a:lnTo>
                        <a:pt x="112" y="97"/>
                      </a:lnTo>
                      <a:lnTo>
                        <a:pt x="110" y="96"/>
                      </a:lnTo>
                      <a:lnTo>
                        <a:pt x="110" y="95"/>
                      </a:lnTo>
                      <a:lnTo>
                        <a:pt x="108" y="94"/>
                      </a:lnTo>
                      <a:lnTo>
                        <a:pt x="107" y="94"/>
                      </a:lnTo>
                      <a:lnTo>
                        <a:pt x="106" y="93"/>
                      </a:lnTo>
                      <a:lnTo>
                        <a:pt x="105" y="93"/>
                      </a:lnTo>
                      <a:lnTo>
                        <a:pt x="103" y="93"/>
                      </a:lnTo>
                      <a:lnTo>
                        <a:pt x="102" y="93"/>
                      </a:lnTo>
                      <a:lnTo>
                        <a:pt x="100" y="93"/>
                      </a:lnTo>
                      <a:lnTo>
                        <a:pt x="99" y="93"/>
                      </a:lnTo>
                      <a:lnTo>
                        <a:pt x="98" y="93"/>
                      </a:lnTo>
                      <a:lnTo>
                        <a:pt x="54" y="90"/>
                      </a:lnTo>
                      <a:lnTo>
                        <a:pt x="67" y="54"/>
                      </a:lnTo>
                      <a:lnTo>
                        <a:pt x="75" y="67"/>
                      </a:lnTo>
                      <a:lnTo>
                        <a:pt x="128" y="67"/>
                      </a:lnTo>
                      <a:lnTo>
                        <a:pt x="129" y="66"/>
                      </a:lnTo>
                      <a:lnTo>
                        <a:pt x="131" y="66"/>
                      </a:lnTo>
                      <a:lnTo>
                        <a:pt x="132" y="66"/>
                      </a:lnTo>
                      <a:lnTo>
                        <a:pt x="134" y="64"/>
                      </a:lnTo>
                      <a:lnTo>
                        <a:pt x="135" y="64"/>
                      </a:lnTo>
                      <a:lnTo>
                        <a:pt x="136" y="63"/>
                      </a:lnTo>
                      <a:lnTo>
                        <a:pt x="137" y="62"/>
                      </a:lnTo>
                      <a:lnTo>
                        <a:pt x="137" y="61"/>
                      </a:lnTo>
                      <a:lnTo>
                        <a:pt x="137" y="59"/>
                      </a:lnTo>
                      <a:lnTo>
                        <a:pt x="138" y="58"/>
                      </a:lnTo>
                      <a:lnTo>
                        <a:pt x="138" y="56"/>
                      </a:lnTo>
                      <a:lnTo>
                        <a:pt x="138" y="54"/>
                      </a:lnTo>
                      <a:lnTo>
                        <a:pt x="137" y="53"/>
                      </a:lnTo>
                      <a:lnTo>
                        <a:pt x="137" y="52"/>
                      </a:lnTo>
                      <a:lnTo>
                        <a:pt x="136" y="51"/>
                      </a:lnTo>
                      <a:lnTo>
                        <a:pt x="135" y="49"/>
                      </a:lnTo>
                      <a:lnTo>
                        <a:pt x="134" y="49"/>
                      </a:lnTo>
                      <a:lnTo>
                        <a:pt x="133" y="48"/>
                      </a:lnTo>
                      <a:lnTo>
                        <a:pt x="132" y="47"/>
                      </a:lnTo>
                      <a:lnTo>
                        <a:pt x="131" y="46"/>
                      </a:lnTo>
                      <a:lnTo>
                        <a:pt x="129" y="46"/>
                      </a:lnTo>
                      <a:lnTo>
                        <a:pt x="128" y="46"/>
                      </a:lnTo>
                      <a:lnTo>
                        <a:pt x="87" y="46"/>
                      </a:lnTo>
                      <a:lnTo>
                        <a:pt x="79" y="31"/>
                      </a:lnTo>
                      <a:lnTo>
                        <a:pt x="80" y="30"/>
                      </a:lnTo>
                      <a:lnTo>
                        <a:pt x="81" y="28"/>
                      </a:lnTo>
                      <a:lnTo>
                        <a:pt x="81" y="26"/>
                      </a:lnTo>
                      <a:lnTo>
                        <a:pt x="81" y="24"/>
                      </a:lnTo>
                      <a:lnTo>
                        <a:pt x="81" y="22"/>
                      </a:lnTo>
                      <a:lnTo>
                        <a:pt x="81" y="20"/>
                      </a:lnTo>
                      <a:lnTo>
                        <a:pt x="81" y="18"/>
                      </a:lnTo>
                      <a:lnTo>
                        <a:pt x="81" y="16"/>
                      </a:lnTo>
                      <a:lnTo>
                        <a:pt x="80" y="14"/>
                      </a:lnTo>
                      <a:lnTo>
                        <a:pt x="79" y="13"/>
                      </a:lnTo>
                      <a:lnTo>
                        <a:pt x="79" y="11"/>
                      </a:lnTo>
                      <a:lnTo>
                        <a:pt x="78" y="9"/>
                      </a:lnTo>
                      <a:lnTo>
                        <a:pt x="76" y="8"/>
                      </a:lnTo>
                      <a:lnTo>
                        <a:pt x="75" y="6"/>
                      </a:lnTo>
                      <a:lnTo>
                        <a:pt x="73" y="5"/>
                      </a:lnTo>
                      <a:lnTo>
                        <a:pt x="72" y="4"/>
                      </a:lnTo>
                      <a:lnTo>
                        <a:pt x="70" y="3"/>
                      </a:lnTo>
                      <a:lnTo>
                        <a:pt x="68" y="2"/>
                      </a:lnTo>
                      <a:lnTo>
                        <a:pt x="67" y="1"/>
                      </a:lnTo>
                      <a:lnTo>
                        <a:pt x="64" y="1"/>
                      </a:lnTo>
                      <a:lnTo>
                        <a:pt x="62" y="0"/>
                      </a:lnTo>
                      <a:lnTo>
                        <a:pt x="60" y="0"/>
                      </a:lnTo>
                      <a:lnTo>
                        <a:pt x="58" y="0"/>
                      </a:lnTo>
                      <a:lnTo>
                        <a:pt x="56" y="0"/>
                      </a:lnTo>
                      <a:lnTo>
                        <a:pt x="54" y="1"/>
                      </a:lnTo>
                      <a:lnTo>
                        <a:pt x="52" y="1"/>
                      </a:lnTo>
                      <a:lnTo>
                        <a:pt x="49" y="2"/>
                      </a:lnTo>
                      <a:lnTo>
                        <a:pt x="47" y="3"/>
                      </a:lnTo>
                      <a:lnTo>
                        <a:pt x="45" y="4"/>
                      </a:lnTo>
                      <a:lnTo>
                        <a:pt x="44" y="6"/>
                      </a:lnTo>
                      <a:lnTo>
                        <a:pt x="42" y="8"/>
                      </a:lnTo>
                      <a:lnTo>
                        <a:pt x="41" y="9"/>
                      </a:lnTo>
                      <a:lnTo>
                        <a:pt x="39" y="12"/>
                      </a:lnTo>
                      <a:lnTo>
                        <a:pt x="38" y="14"/>
                      </a:lnTo>
                      <a:lnTo>
                        <a:pt x="38" y="16"/>
                      </a:lnTo>
                    </a:path>
                  </a:pathLst>
                </a:custGeom>
                <a:solidFill>
                  <a:srgbClr val="F39FD1"/>
                </a:solidFill>
                <a:ln w="1270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92" name="Freeform 301">
                <a:extLst>
                  <a:ext uri="{FF2B5EF4-FFF2-40B4-BE49-F238E27FC236}">
                    <a16:creationId xmlns:a16="http://schemas.microsoft.com/office/drawing/2014/main" id="{4C833AB8-BDF7-4A1A-9124-193BF5D9D7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32" y="1392"/>
                <a:ext cx="200" cy="291"/>
              </a:xfrm>
              <a:custGeom>
                <a:avLst/>
                <a:gdLst>
                  <a:gd name="T0" fmla="*/ 199 w 200"/>
                  <a:gd name="T1" fmla="*/ 263 h 291"/>
                  <a:gd name="T2" fmla="*/ 184 w 200"/>
                  <a:gd name="T3" fmla="*/ 263 h 291"/>
                  <a:gd name="T4" fmla="*/ 158 w 200"/>
                  <a:gd name="T5" fmla="*/ 229 h 291"/>
                  <a:gd name="T6" fmla="*/ 121 w 200"/>
                  <a:gd name="T7" fmla="*/ 169 h 291"/>
                  <a:gd name="T8" fmla="*/ 111 w 200"/>
                  <a:gd name="T9" fmla="*/ 141 h 291"/>
                  <a:gd name="T10" fmla="*/ 114 w 200"/>
                  <a:gd name="T11" fmla="*/ 123 h 291"/>
                  <a:gd name="T12" fmla="*/ 123 w 200"/>
                  <a:gd name="T13" fmla="*/ 119 h 291"/>
                  <a:gd name="T14" fmla="*/ 136 w 200"/>
                  <a:gd name="T15" fmla="*/ 129 h 291"/>
                  <a:gd name="T16" fmla="*/ 155 w 200"/>
                  <a:gd name="T17" fmla="*/ 140 h 291"/>
                  <a:gd name="T18" fmla="*/ 164 w 200"/>
                  <a:gd name="T19" fmla="*/ 140 h 291"/>
                  <a:gd name="T20" fmla="*/ 165 w 200"/>
                  <a:gd name="T21" fmla="*/ 134 h 291"/>
                  <a:gd name="T22" fmla="*/ 156 w 200"/>
                  <a:gd name="T23" fmla="*/ 123 h 291"/>
                  <a:gd name="T24" fmla="*/ 135 w 200"/>
                  <a:gd name="T25" fmla="*/ 108 h 291"/>
                  <a:gd name="T26" fmla="*/ 126 w 200"/>
                  <a:gd name="T27" fmla="*/ 86 h 291"/>
                  <a:gd name="T28" fmla="*/ 123 w 200"/>
                  <a:gd name="T29" fmla="*/ 69 h 291"/>
                  <a:gd name="T30" fmla="*/ 113 w 200"/>
                  <a:gd name="T31" fmla="*/ 56 h 291"/>
                  <a:gd name="T32" fmla="*/ 109 w 200"/>
                  <a:gd name="T33" fmla="*/ 48 h 291"/>
                  <a:gd name="T34" fmla="*/ 114 w 200"/>
                  <a:gd name="T35" fmla="*/ 36 h 291"/>
                  <a:gd name="T36" fmla="*/ 119 w 200"/>
                  <a:gd name="T37" fmla="*/ 24 h 291"/>
                  <a:gd name="T38" fmla="*/ 115 w 200"/>
                  <a:gd name="T39" fmla="*/ 9 h 291"/>
                  <a:gd name="T40" fmla="*/ 105 w 200"/>
                  <a:gd name="T41" fmla="*/ 1 h 291"/>
                  <a:gd name="T42" fmla="*/ 90 w 200"/>
                  <a:gd name="T43" fmla="*/ 3 h 291"/>
                  <a:gd name="T44" fmla="*/ 84 w 200"/>
                  <a:gd name="T45" fmla="*/ 13 h 291"/>
                  <a:gd name="T46" fmla="*/ 84 w 200"/>
                  <a:gd name="T47" fmla="*/ 23 h 291"/>
                  <a:gd name="T48" fmla="*/ 88 w 200"/>
                  <a:gd name="T49" fmla="*/ 35 h 291"/>
                  <a:gd name="T50" fmla="*/ 88 w 200"/>
                  <a:gd name="T51" fmla="*/ 46 h 291"/>
                  <a:gd name="T52" fmla="*/ 78 w 200"/>
                  <a:gd name="T53" fmla="*/ 56 h 291"/>
                  <a:gd name="T54" fmla="*/ 65 w 200"/>
                  <a:gd name="T55" fmla="*/ 64 h 291"/>
                  <a:gd name="T56" fmla="*/ 55 w 200"/>
                  <a:gd name="T57" fmla="*/ 75 h 291"/>
                  <a:gd name="T58" fmla="*/ 46 w 200"/>
                  <a:gd name="T59" fmla="*/ 99 h 291"/>
                  <a:gd name="T60" fmla="*/ 41 w 200"/>
                  <a:gd name="T61" fmla="*/ 121 h 291"/>
                  <a:gd name="T62" fmla="*/ 40 w 200"/>
                  <a:gd name="T63" fmla="*/ 145 h 291"/>
                  <a:gd name="T64" fmla="*/ 41 w 200"/>
                  <a:gd name="T65" fmla="*/ 158 h 291"/>
                  <a:gd name="T66" fmla="*/ 49 w 200"/>
                  <a:gd name="T67" fmla="*/ 161 h 291"/>
                  <a:gd name="T68" fmla="*/ 53 w 200"/>
                  <a:gd name="T69" fmla="*/ 158 h 291"/>
                  <a:gd name="T70" fmla="*/ 53 w 200"/>
                  <a:gd name="T71" fmla="*/ 133 h 291"/>
                  <a:gd name="T72" fmla="*/ 55 w 200"/>
                  <a:gd name="T73" fmla="*/ 116 h 291"/>
                  <a:gd name="T74" fmla="*/ 64 w 200"/>
                  <a:gd name="T75" fmla="*/ 109 h 291"/>
                  <a:gd name="T76" fmla="*/ 70 w 200"/>
                  <a:gd name="T77" fmla="*/ 114 h 291"/>
                  <a:gd name="T78" fmla="*/ 68 w 200"/>
                  <a:gd name="T79" fmla="*/ 140 h 291"/>
                  <a:gd name="T80" fmla="*/ 61 w 200"/>
                  <a:gd name="T81" fmla="*/ 166 h 291"/>
                  <a:gd name="T82" fmla="*/ 53 w 200"/>
                  <a:gd name="T83" fmla="*/ 196 h 291"/>
                  <a:gd name="T84" fmla="*/ 33 w 200"/>
                  <a:gd name="T85" fmla="*/ 225 h 291"/>
                  <a:gd name="T86" fmla="*/ 8 w 200"/>
                  <a:gd name="T87" fmla="*/ 255 h 291"/>
                  <a:gd name="T88" fmla="*/ 0 w 200"/>
                  <a:gd name="T89" fmla="*/ 271 h 291"/>
                  <a:gd name="T90" fmla="*/ 19 w 200"/>
                  <a:gd name="T91" fmla="*/ 290 h 291"/>
                  <a:gd name="T92" fmla="*/ 33 w 200"/>
                  <a:gd name="T93" fmla="*/ 288 h 291"/>
                  <a:gd name="T94" fmla="*/ 23 w 200"/>
                  <a:gd name="T95" fmla="*/ 275 h 291"/>
                  <a:gd name="T96" fmla="*/ 30 w 200"/>
                  <a:gd name="T97" fmla="*/ 259 h 291"/>
                  <a:gd name="T98" fmla="*/ 61 w 200"/>
                  <a:gd name="T99" fmla="*/ 223 h 291"/>
                  <a:gd name="T100" fmla="*/ 84 w 200"/>
                  <a:gd name="T101" fmla="*/ 196 h 291"/>
                  <a:gd name="T102" fmla="*/ 95 w 200"/>
                  <a:gd name="T103" fmla="*/ 190 h 291"/>
                  <a:gd name="T104" fmla="*/ 109 w 200"/>
                  <a:gd name="T105" fmla="*/ 199 h 291"/>
                  <a:gd name="T106" fmla="*/ 141 w 200"/>
                  <a:gd name="T107" fmla="*/ 243 h 291"/>
                  <a:gd name="T108" fmla="*/ 168 w 200"/>
                  <a:gd name="T109" fmla="*/ 280 h 291"/>
                  <a:gd name="T110" fmla="*/ 178 w 200"/>
                  <a:gd name="T111" fmla="*/ 283 h 291"/>
                  <a:gd name="T112" fmla="*/ 191 w 200"/>
                  <a:gd name="T113" fmla="*/ 273 h 291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200"/>
                  <a:gd name="T172" fmla="*/ 0 h 291"/>
                  <a:gd name="T173" fmla="*/ 200 w 200"/>
                  <a:gd name="T174" fmla="*/ 291 h 291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200" h="291">
                    <a:moveTo>
                      <a:pt x="198" y="268"/>
                    </a:moveTo>
                    <a:lnTo>
                      <a:pt x="199" y="263"/>
                    </a:lnTo>
                    <a:lnTo>
                      <a:pt x="191" y="264"/>
                    </a:lnTo>
                    <a:lnTo>
                      <a:pt x="184" y="263"/>
                    </a:lnTo>
                    <a:lnTo>
                      <a:pt x="174" y="255"/>
                    </a:lnTo>
                    <a:lnTo>
                      <a:pt x="158" y="229"/>
                    </a:lnTo>
                    <a:lnTo>
                      <a:pt x="134" y="190"/>
                    </a:lnTo>
                    <a:lnTo>
                      <a:pt x="121" y="169"/>
                    </a:lnTo>
                    <a:lnTo>
                      <a:pt x="113" y="151"/>
                    </a:lnTo>
                    <a:lnTo>
                      <a:pt x="111" y="141"/>
                    </a:lnTo>
                    <a:lnTo>
                      <a:pt x="111" y="130"/>
                    </a:lnTo>
                    <a:lnTo>
                      <a:pt x="114" y="123"/>
                    </a:lnTo>
                    <a:lnTo>
                      <a:pt x="119" y="119"/>
                    </a:lnTo>
                    <a:lnTo>
                      <a:pt x="123" y="119"/>
                    </a:lnTo>
                    <a:lnTo>
                      <a:pt x="128" y="121"/>
                    </a:lnTo>
                    <a:lnTo>
                      <a:pt x="136" y="129"/>
                    </a:lnTo>
                    <a:lnTo>
                      <a:pt x="148" y="136"/>
                    </a:lnTo>
                    <a:lnTo>
                      <a:pt x="155" y="140"/>
                    </a:lnTo>
                    <a:lnTo>
                      <a:pt x="160" y="141"/>
                    </a:lnTo>
                    <a:lnTo>
                      <a:pt x="164" y="140"/>
                    </a:lnTo>
                    <a:lnTo>
                      <a:pt x="166" y="136"/>
                    </a:lnTo>
                    <a:lnTo>
                      <a:pt x="165" y="134"/>
                    </a:lnTo>
                    <a:lnTo>
                      <a:pt x="164" y="130"/>
                    </a:lnTo>
                    <a:lnTo>
                      <a:pt x="156" y="123"/>
                    </a:lnTo>
                    <a:lnTo>
                      <a:pt x="143" y="114"/>
                    </a:lnTo>
                    <a:lnTo>
                      <a:pt x="135" y="108"/>
                    </a:lnTo>
                    <a:lnTo>
                      <a:pt x="130" y="99"/>
                    </a:lnTo>
                    <a:lnTo>
                      <a:pt x="126" y="86"/>
                    </a:lnTo>
                    <a:lnTo>
                      <a:pt x="125" y="74"/>
                    </a:lnTo>
                    <a:lnTo>
                      <a:pt x="123" y="69"/>
                    </a:lnTo>
                    <a:lnTo>
                      <a:pt x="119" y="63"/>
                    </a:lnTo>
                    <a:lnTo>
                      <a:pt x="113" y="56"/>
                    </a:lnTo>
                    <a:lnTo>
                      <a:pt x="109" y="53"/>
                    </a:lnTo>
                    <a:lnTo>
                      <a:pt x="109" y="48"/>
                    </a:lnTo>
                    <a:lnTo>
                      <a:pt x="111" y="40"/>
                    </a:lnTo>
                    <a:lnTo>
                      <a:pt x="114" y="36"/>
                    </a:lnTo>
                    <a:lnTo>
                      <a:pt x="116" y="31"/>
                    </a:lnTo>
                    <a:lnTo>
                      <a:pt x="119" y="24"/>
                    </a:lnTo>
                    <a:lnTo>
                      <a:pt x="116" y="15"/>
                    </a:lnTo>
                    <a:lnTo>
                      <a:pt x="115" y="9"/>
                    </a:lnTo>
                    <a:lnTo>
                      <a:pt x="111" y="4"/>
                    </a:lnTo>
                    <a:lnTo>
                      <a:pt x="105" y="1"/>
                    </a:lnTo>
                    <a:lnTo>
                      <a:pt x="96" y="0"/>
                    </a:lnTo>
                    <a:lnTo>
                      <a:pt x="90" y="3"/>
                    </a:lnTo>
                    <a:lnTo>
                      <a:pt x="86" y="6"/>
                    </a:lnTo>
                    <a:lnTo>
                      <a:pt x="84" y="13"/>
                    </a:lnTo>
                    <a:lnTo>
                      <a:pt x="83" y="18"/>
                    </a:lnTo>
                    <a:lnTo>
                      <a:pt x="84" y="23"/>
                    </a:lnTo>
                    <a:lnTo>
                      <a:pt x="86" y="30"/>
                    </a:lnTo>
                    <a:lnTo>
                      <a:pt x="88" y="35"/>
                    </a:lnTo>
                    <a:lnTo>
                      <a:pt x="89" y="40"/>
                    </a:lnTo>
                    <a:lnTo>
                      <a:pt x="88" y="46"/>
                    </a:lnTo>
                    <a:lnTo>
                      <a:pt x="84" y="51"/>
                    </a:lnTo>
                    <a:lnTo>
                      <a:pt x="78" y="56"/>
                    </a:lnTo>
                    <a:lnTo>
                      <a:pt x="70" y="60"/>
                    </a:lnTo>
                    <a:lnTo>
                      <a:pt x="65" y="64"/>
                    </a:lnTo>
                    <a:lnTo>
                      <a:pt x="60" y="69"/>
                    </a:lnTo>
                    <a:lnTo>
                      <a:pt x="55" y="75"/>
                    </a:lnTo>
                    <a:lnTo>
                      <a:pt x="50" y="86"/>
                    </a:lnTo>
                    <a:lnTo>
                      <a:pt x="46" y="99"/>
                    </a:lnTo>
                    <a:lnTo>
                      <a:pt x="43" y="109"/>
                    </a:lnTo>
                    <a:lnTo>
                      <a:pt x="41" y="121"/>
                    </a:lnTo>
                    <a:lnTo>
                      <a:pt x="40" y="136"/>
                    </a:lnTo>
                    <a:lnTo>
                      <a:pt x="40" y="145"/>
                    </a:lnTo>
                    <a:lnTo>
                      <a:pt x="40" y="153"/>
                    </a:lnTo>
                    <a:lnTo>
                      <a:pt x="41" y="158"/>
                    </a:lnTo>
                    <a:lnTo>
                      <a:pt x="44" y="160"/>
                    </a:lnTo>
                    <a:lnTo>
                      <a:pt x="49" y="161"/>
                    </a:lnTo>
                    <a:lnTo>
                      <a:pt x="51" y="160"/>
                    </a:lnTo>
                    <a:lnTo>
                      <a:pt x="53" y="158"/>
                    </a:lnTo>
                    <a:lnTo>
                      <a:pt x="53" y="148"/>
                    </a:lnTo>
                    <a:lnTo>
                      <a:pt x="53" y="133"/>
                    </a:lnTo>
                    <a:lnTo>
                      <a:pt x="54" y="123"/>
                    </a:lnTo>
                    <a:lnTo>
                      <a:pt x="55" y="116"/>
                    </a:lnTo>
                    <a:lnTo>
                      <a:pt x="59" y="110"/>
                    </a:lnTo>
                    <a:lnTo>
                      <a:pt x="64" y="109"/>
                    </a:lnTo>
                    <a:lnTo>
                      <a:pt x="69" y="110"/>
                    </a:lnTo>
                    <a:lnTo>
                      <a:pt x="70" y="114"/>
                    </a:lnTo>
                    <a:lnTo>
                      <a:pt x="69" y="125"/>
                    </a:lnTo>
                    <a:lnTo>
                      <a:pt x="68" y="140"/>
                    </a:lnTo>
                    <a:lnTo>
                      <a:pt x="65" y="154"/>
                    </a:lnTo>
                    <a:lnTo>
                      <a:pt x="61" y="166"/>
                    </a:lnTo>
                    <a:lnTo>
                      <a:pt x="58" y="183"/>
                    </a:lnTo>
                    <a:lnTo>
                      <a:pt x="53" y="196"/>
                    </a:lnTo>
                    <a:lnTo>
                      <a:pt x="41" y="214"/>
                    </a:lnTo>
                    <a:lnTo>
                      <a:pt x="33" y="225"/>
                    </a:lnTo>
                    <a:lnTo>
                      <a:pt x="18" y="243"/>
                    </a:lnTo>
                    <a:lnTo>
                      <a:pt x="8" y="255"/>
                    </a:lnTo>
                    <a:lnTo>
                      <a:pt x="0" y="266"/>
                    </a:lnTo>
                    <a:lnTo>
                      <a:pt x="0" y="271"/>
                    </a:lnTo>
                    <a:lnTo>
                      <a:pt x="8" y="280"/>
                    </a:lnTo>
                    <a:lnTo>
                      <a:pt x="19" y="290"/>
                    </a:lnTo>
                    <a:lnTo>
                      <a:pt x="30" y="290"/>
                    </a:lnTo>
                    <a:lnTo>
                      <a:pt x="33" y="288"/>
                    </a:lnTo>
                    <a:lnTo>
                      <a:pt x="28" y="281"/>
                    </a:lnTo>
                    <a:lnTo>
                      <a:pt x="23" y="275"/>
                    </a:lnTo>
                    <a:lnTo>
                      <a:pt x="23" y="270"/>
                    </a:lnTo>
                    <a:lnTo>
                      <a:pt x="30" y="259"/>
                    </a:lnTo>
                    <a:lnTo>
                      <a:pt x="43" y="246"/>
                    </a:lnTo>
                    <a:lnTo>
                      <a:pt x="61" y="223"/>
                    </a:lnTo>
                    <a:lnTo>
                      <a:pt x="78" y="203"/>
                    </a:lnTo>
                    <a:lnTo>
                      <a:pt x="84" y="196"/>
                    </a:lnTo>
                    <a:lnTo>
                      <a:pt x="88" y="191"/>
                    </a:lnTo>
                    <a:lnTo>
                      <a:pt x="95" y="190"/>
                    </a:lnTo>
                    <a:lnTo>
                      <a:pt x="101" y="194"/>
                    </a:lnTo>
                    <a:lnTo>
                      <a:pt x="109" y="199"/>
                    </a:lnTo>
                    <a:lnTo>
                      <a:pt x="124" y="219"/>
                    </a:lnTo>
                    <a:lnTo>
                      <a:pt x="141" y="243"/>
                    </a:lnTo>
                    <a:lnTo>
                      <a:pt x="158" y="266"/>
                    </a:lnTo>
                    <a:lnTo>
                      <a:pt x="168" y="280"/>
                    </a:lnTo>
                    <a:lnTo>
                      <a:pt x="171" y="283"/>
                    </a:lnTo>
                    <a:lnTo>
                      <a:pt x="178" y="283"/>
                    </a:lnTo>
                    <a:lnTo>
                      <a:pt x="184" y="278"/>
                    </a:lnTo>
                    <a:lnTo>
                      <a:pt x="191" y="273"/>
                    </a:lnTo>
                    <a:lnTo>
                      <a:pt x="198" y="268"/>
                    </a:lnTo>
                  </a:path>
                </a:pathLst>
              </a:custGeom>
              <a:solidFill>
                <a:srgbClr val="CECECE"/>
              </a:solidFill>
              <a:ln w="2540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93" name="Group 302">
                <a:extLst>
                  <a:ext uri="{FF2B5EF4-FFF2-40B4-BE49-F238E27FC236}">
                    <a16:creationId xmlns:a16="http://schemas.microsoft.com/office/drawing/2014/main" id="{13BF0618-47FF-462E-B4DF-44871B4FA3A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08" y="1392"/>
                <a:ext cx="259" cy="310"/>
                <a:chOff x="1225" y="1348"/>
                <a:chExt cx="259" cy="310"/>
              </a:xfrm>
            </p:grpSpPr>
            <p:grpSp>
              <p:nvGrpSpPr>
                <p:cNvPr id="194" name="Group 303">
                  <a:extLst>
                    <a:ext uri="{FF2B5EF4-FFF2-40B4-BE49-F238E27FC236}">
                      <a16:creationId xmlns:a16="http://schemas.microsoft.com/office/drawing/2014/main" id="{D83F692A-62EC-409A-9768-0B2CA37FF52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225" y="1348"/>
                  <a:ext cx="259" cy="310"/>
                  <a:chOff x="1225" y="1348"/>
                  <a:chExt cx="259" cy="310"/>
                </a:xfrm>
              </p:grpSpPr>
              <p:sp>
                <p:nvSpPr>
                  <p:cNvPr id="197" name="AutoShape 304">
                    <a:extLst>
                      <a:ext uri="{FF2B5EF4-FFF2-40B4-BE49-F238E27FC236}">
                        <a16:creationId xmlns:a16="http://schemas.microsoft.com/office/drawing/2014/main" id="{C67DB85E-F7F9-4709-9C07-29DF159F457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225" y="1398"/>
                    <a:ext cx="259" cy="260"/>
                  </a:xfrm>
                  <a:prstGeom prst="cube">
                    <a:avLst>
                      <a:gd name="adj" fmla="val 24995"/>
                    </a:avLst>
                  </a:prstGeom>
                  <a:solidFill>
                    <a:schemeClr val="bg1"/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98" name="AutoShape 305">
                    <a:extLst>
                      <a:ext uri="{FF2B5EF4-FFF2-40B4-BE49-F238E27FC236}">
                        <a16:creationId xmlns:a16="http://schemas.microsoft.com/office/drawing/2014/main" id="{1DA8DF0B-F10E-4B01-9EC9-1D7B71B0205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288" y="1348"/>
                    <a:ext cx="196" cy="46"/>
                  </a:xfrm>
                  <a:prstGeom prst="cube">
                    <a:avLst>
                      <a:gd name="adj" fmla="val 24995"/>
                    </a:avLst>
                  </a:prstGeom>
                  <a:solidFill>
                    <a:schemeClr val="bg1"/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195" name="Oval 306">
                  <a:extLst>
                    <a:ext uri="{FF2B5EF4-FFF2-40B4-BE49-F238E27FC236}">
                      <a16:creationId xmlns:a16="http://schemas.microsoft.com/office/drawing/2014/main" id="{59E4F781-AE59-495B-B952-75F343C1046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07" y="1374"/>
                  <a:ext cx="27" cy="8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96" name="AutoShape 307">
                  <a:extLst>
                    <a:ext uri="{FF2B5EF4-FFF2-40B4-BE49-F238E27FC236}">
                      <a16:creationId xmlns:a16="http://schemas.microsoft.com/office/drawing/2014/main" id="{B306D26B-AD73-4D18-9F4A-A844E89FF83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6" y="1522"/>
                  <a:ext cx="137" cy="55"/>
                </a:xfrm>
                <a:prstGeom prst="octagon">
                  <a:avLst>
                    <a:gd name="adj" fmla="val 29282"/>
                  </a:avLst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310" name="Group 314">
            <a:extLst>
              <a:ext uri="{FF2B5EF4-FFF2-40B4-BE49-F238E27FC236}">
                <a16:creationId xmlns:a16="http://schemas.microsoft.com/office/drawing/2014/main" id="{C5DEA6ED-98DA-4EA4-96A5-2232D7FA52EC}"/>
              </a:ext>
            </a:extLst>
          </p:cNvPr>
          <p:cNvGrpSpPr>
            <a:grpSpLocks/>
          </p:cNvGrpSpPr>
          <p:nvPr/>
        </p:nvGrpSpPr>
        <p:grpSpPr bwMode="auto">
          <a:xfrm>
            <a:off x="765962" y="2636888"/>
            <a:ext cx="1341439" cy="398463"/>
            <a:chOff x="347" y="1561"/>
            <a:chExt cx="845" cy="251"/>
          </a:xfrm>
        </p:grpSpPr>
        <p:sp>
          <p:nvSpPr>
            <p:cNvPr id="311" name="AutoShape 308">
              <a:extLst>
                <a:ext uri="{FF2B5EF4-FFF2-40B4-BE49-F238E27FC236}">
                  <a16:creationId xmlns:a16="http://schemas.microsoft.com/office/drawing/2014/main" id="{27100019-5848-4E65-B1D2-BA1C2E1ED36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3064680">
              <a:off x="1021" y="1641"/>
              <a:ext cx="251" cy="91"/>
            </a:xfrm>
            <a:prstGeom prst="rightArrow">
              <a:avLst>
                <a:gd name="adj1" fmla="val 50000"/>
                <a:gd name="adj2" fmla="val 80208"/>
              </a:avLst>
            </a:prstGeom>
            <a:solidFill>
              <a:srgbClr val="0000FF"/>
            </a:solidFill>
            <a:ln w="12700" algn="ctr">
              <a:solidFill>
                <a:srgbClr val="0000FF"/>
              </a:solidFill>
              <a:miter lim="800000"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endParaRPr lang="en-US"/>
            </a:p>
          </p:txBody>
        </p:sp>
        <p:sp>
          <p:nvSpPr>
            <p:cNvPr id="312" name="Text Box 309">
              <a:extLst>
                <a:ext uri="{FF2B5EF4-FFF2-40B4-BE49-F238E27FC236}">
                  <a16:creationId xmlns:a16="http://schemas.microsoft.com/office/drawing/2014/main" id="{D039B065-9F52-478C-9EC0-44E89FB9E5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7" y="1620"/>
              <a:ext cx="779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0000CC"/>
                  </a:solidFill>
                </a:rPr>
                <a:t>Dependency</a:t>
              </a:r>
            </a:p>
          </p:txBody>
        </p:sp>
      </p:grpSp>
      <p:grpSp>
        <p:nvGrpSpPr>
          <p:cNvPr id="313" name="Group 313">
            <a:extLst>
              <a:ext uri="{FF2B5EF4-FFF2-40B4-BE49-F238E27FC236}">
                <a16:creationId xmlns:a16="http://schemas.microsoft.com/office/drawing/2014/main" id="{4BA0F129-0286-4AE0-A1B6-5ED6ED7D1B14}"/>
              </a:ext>
            </a:extLst>
          </p:cNvPr>
          <p:cNvGrpSpPr>
            <a:grpSpLocks/>
          </p:cNvGrpSpPr>
          <p:nvPr/>
        </p:nvGrpSpPr>
        <p:grpSpPr bwMode="auto">
          <a:xfrm>
            <a:off x="1564679" y="2966975"/>
            <a:ext cx="533400" cy="428625"/>
            <a:chOff x="960" y="1776"/>
            <a:chExt cx="336" cy="270"/>
          </a:xfrm>
        </p:grpSpPr>
        <p:sp>
          <p:nvSpPr>
            <p:cNvPr id="314" name="Text Box 310">
              <a:extLst>
                <a:ext uri="{FF2B5EF4-FFF2-40B4-BE49-F238E27FC236}">
                  <a16:creationId xmlns:a16="http://schemas.microsoft.com/office/drawing/2014/main" id="{CAED8C50-1690-420A-B36D-76CE220AB5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1840"/>
              <a:ext cx="336" cy="14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144" tIns="9144" rIns="9144" bIns="9144">
              <a:spAutoFit/>
            </a:bodyPr>
            <a:lstStyle/>
            <a:p>
              <a:pPr algn="ctr"/>
              <a:r>
                <a:rPr lang="en-US" sz="1400" b="1">
                  <a:solidFill>
                    <a:srgbClr val="CC3300"/>
                  </a:solidFill>
                  <a:latin typeface="Verdana" pitchFamily="34" charset="0"/>
                </a:rPr>
                <a:t>Stall</a:t>
              </a:r>
            </a:p>
          </p:txBody>
        </p:sp>
        <p:sp>
          <p:nvSpPr>
            <p:cNvPr id="315" name="AutoShape 312">
              <a:extLst>
                <a:ext uri="{FF2B5EF4-FFF2-40B4-BE49-F238E27FC236}">
                  <a16:creationId xmlns:a16="http://schemas.microsoft.com/office/drawing/2014/main" id="{CAA01D0D-8443-4FC4-B9F9-8A6883250E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1776"/>
              <a:ext cx="336" cy="270"/>
            </a:xfrm>
            <a:prstGeom prst="cloudCallout">
              <a:avLst>
                <a:gd name="adj1" fmla="val -36310"/>
                <a:gd name="adj2" fmla="val 59630"/>
              </a:avLst>
            </a:prstGeom>
            <a:noFill/>
            <a:ln w="127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 sz="1200" b="1">
                <a:latin typeface="Courier New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16712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586462" cy="644577"/>
          </a:xfrm>
        </p:spPr>
        <p:txBody>
          <a:bodyPr>
            <a:normAutofit fontScale="90000"/>
          </a:bodyPr>
          <a:lstStyle/>
          <a:p>
            <a:pPr marL="1976438" indent="-1976438"/>
            <a:r>
              <a:rPr lang="en-GB" sz="3600" dirty="0">
                <a:solidFill>
                  <a:srgbClr val="0000FF"/>
                </a:solidFill>
              </a:rPr>
              <a:t>1. Introduction: Pipelining Lessons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#20: Pipelining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10</a:t>
            </a:fld>
            <a:endParaRPr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980AE9BB-4E0E-48B7-9D0F-E2D7567AB9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6416"/>
            <a:ext cx="8229600" cy="4978183"/>
          </a:xfrm>
        </p:spPr>
        <p:txBody>
          <a:bodyPr>
            <a:normAutofit/>
          </a:bodyPr>
          <a:lstStyle/>
          <a:p>
            <a:pPr marL="265113" indent="-265113" eaLnBrk="1" hangingPunct="1">
              <a:spcBef>
                <a:spcPts val="6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sz="3200" dirty="0"/>
              <a:t>Pipelining doesn’t help </a:t>
            </a:r>
            <a:r>
              <a:rPr lang="en-US" sz="3200" b="1" dirty="0">
                <a:solidFill>
                  <a:srgbClr val="660066"/>
                </a:solidFill>
              </a:rPr>
              <a:t>latency</a:t>
            </a:r>
            <a:r>
              <a:rPr lang="en-US" sz="3200" dirty="0">
                <a:solidFill>
                  <a:srgbClr val="0000CC"/>
                </a:solidFill>
              </a:rPr>
              <a:t> </a:t>
            </a:r>
            <a:r>
              <a:rPr lang="en-US" sz="3200" dirty="0"/>
              <a:t>of single task:</a:t>
            </a:r>
          </a:p>
          <a:p>
            <a:pPr marL="625475" lvl="1" indent="-265113" eaLnBrk="1" hangingPunct="1">
              <a:spcBef>
                <a:spcPts val="6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It helps the </a:t>
            </a:r>
            <a:r>
              <a:rPr lang="en-US" sz="2800" b="1" dirty="0">
                <a:solidFill>
                  <a:srgbClr val="006600"/>
                </a:solidFill>
              </a:rPr>
              <a:t>throughput</a:t>
            </a:r>
            <a:r>
              <a:rPr lang="en-US" sz="2800" dirty="0">
                <a:solidFill>
                  <a:srgbClr val="0000CC"/>
                </a:solidFill>
              </a:rPr>
              <a:t> </a:t>
            </a:r>
            <a:r>
              <a:rPr lang="en-US" sz="2800" dirty="0"/>
              <a:t>of entire workload</a:t>
            </a:r>
          </a:p>
          <a:p>
            <a:pPr marL="265113" indent="-265113" eaLnBrk="1" hangingPunct="1">
              <a:spcBef>
                <a:spcPts val="18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660066"/>
                </a:solidFill>
              </a:rPr>
              <a:t>Multiple</a:t>
            </a:r>
            <a:r>
              <a:rPr lang="en-US" sz="3200" dirty="0"/>
              <a:t> tasks operating simultaneously using different resources</a:t>
            </a:r>
            <a:endParaRPr lang="en-US" sz="3200" b="1" dirty="0">
              <a:solidFill>
                <a:srgbClr val="C00000"/>
              </a:solidFill>
            </a:endParaRPr>
          </a:p>
          <a:p>
            <a:pPr marL="265113" indent="-265113" eaLnBrk="1" hangingPunct="1">
              <a:spcBef>
                <a:spcPts val="18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sz="3200" dirty="0"/>
              <a:t>Possible delays:</a:t>
            </a:r>
          </a:p>
          <a:p>
            <a:pPr marL="625475" lvl="1" indent="-265113" eaLnBrk="1" hangingPunct="1">
              <a:spcBef>
                <a:spcPts val="6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Pipeline rate limited by </a:t>
            </a:r>
            <a:r>
              <a:rPr lang="en-US" sz="2800" b="1" dirty="0">
                <a:solidFill>
                  <a:srgbClr val="660066"/>
                </a:solidFill>
              </a:rPr>
              <a:t>slowest</a:t>
            </a:r>
            <a:r>
              <a:rPr lang="en-US" sz="2800" dirty="0"/>
              <a:t> pipeline stage</a:t>
            </a:r>
          </a:p>
          <a:p>
            <a:pPr marL="625475" lvl="1" indent="-265113" eaLnBrk="1" hangingPunct="1">
              <a:spcBef>
                <a:spcPts val="6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Stall for </a:t>
            </a:r>
            <a:r>
              <a:rPr lang="en-US" sz="2800" b="1" dirty="0">
                <a:solidFill>
                  <a:srgbClr val="660066"/>
                </a:solidFill>
              </a:rPr>
              <a:t>dependencies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26190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598036" cy="644577"/>
          </a:xfrm>
        </p:spPr>
        <p:txBody>
          <a:bodyPr>
            <a:normAutofit fontScale="90000"/>
          </a:bodyPr>
          <a:lstStyle/>
          <a:p>
            <a:pPr marL="1976438" indent="-1976438"/>
            <a:r>
              <a:rPr lang="en-GB" sz="3600" dirty="0">
                <a:solidFill>
                  <a:srgbClr val="0000FF"/>
                </a:solidFill>
              </a:rPr>
              <a:t>2. MIPS Pipeline Stages (1/2)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#20: Pipelining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11</a:t>
            </a:fld>
            <a:endParaRPr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2B4A613F-456C-4337-867F-4BD1257B26B8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346417"/>
            <a:ext cx="8229600" cy="525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5113" indent="-265113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b="1" dirty="0">
                <a:solidFill>
                  <a:srgbClr val="C00000"/>
                </a:solidFill>
              </a:rPr>
              <a:t>Five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/>
              <a:t>Execution Stages</a:t>
            </a:r>
          </a:p>
          <a:p>
            <a:pPr marL="625475" lvl="1" indent="-265113" fontAlgn="auto">
              <a:spcBef>
                <a:spcPts val="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660066"/>
                </a:solidFill>
                <a:latin typeface="Courier New" pitchFamily="49" charset="0"/>
              </a:rPr>
              <a:t>IF</a:t>
            </a:r>
            <a:r>
              <a:rPr lang="en-US" sz="2400" dirty="0"/>
              <a:t>: Instruction Fetch</a:t>
            </a:r>
          </a:p>
          <a:p>
            <a:pPr marL="625475" lvl="1" indent="-265113" fontAlgn="auto">
              <a:spcBef>
                <a:spcPts val="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006600"/>
                </a:solidFill>
                <a:latin typeface="Courier New" pitchFamily="49" charset="0"/>
              </a:rPr>
              <a:t>ID</a:t>
            </a:r>
            <a:r>
              <a:rPr lang="en-US" sz="2400" dirty="0"/>
              <a:t>: Instruction Decode and Register Read</a:t>
            </a:r>
          </a:p>
          <a:p>
            <a:pPr marL="625475" lvl="1" indent="-265113" fontAlgn="auto">
              <a:spcBef>
                <a:spcPts val="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002060"/>
                </a:solidFill>
                <a:latin typeface="Courier New" pitchFamily="49" charset="0"/>
              </a:rPr>
              <a:t>EX</a:t>
            </a:r>
            <a:r>
              <a:rPr lang="en-US" sz="2400" dirty="0"/>
              <a:t>: Execute an operation or calculate an address</a:t>
            </a:r>
          </a:p>
          <a:p>
            <a:pPr marL="625475" lvl="1" indent="-265113" fontAlgn="auto">
              <a:spcBef>
                <a:spcPts val="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C00000"/>
                </a:solidFill>
                <a:latin typeface="Courier New" pitchFamily="49" charset="0"/>
              </a:rPr>
              <a:t>MEM</a:t>
            </a:r>
            <a:r>
              <a:rPr lang="en-US" sz="2400" dirty="0"/>
              <a:t>: Access an operand in data memory</a:t>
            </a:r>
          </a:p>
          <a:p>
            <a:pPr marL="625475" lvl="1" indent="-265113" fontAlgn="auto">
              <a:spcBef>
                <a:spcPts val="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Courier New" pitchFamily="49" charset="0"/>
              </a:rPr>
              <a:t>WB</a:t>
            </a:r>
            <a:r>
              <a:rPr lang="en-US" sz="2400" dirty="0"/>
              <a:t>: Write back the result into a register</a:t>
            </a:r>
          </a:p>
          <a:p>
            <a:pPr marL="265113" indent="-265113" fontAlgn="auto">
              <a:spcBef>
                <a:spcPts val="12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b="1" dirty="0">
                <a:solidFill>
                  <a:srgbClr val="006600"/>
                </a:solidFill>
              </a:rPr>
              <a:t>Idea:</a:t>
            </a:r>
          </a:p>
          <a:p>
            <a:pPr marL="625475" lvl="1" indent="-265113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b="1" dirty="0"/>
              <a:t>Each execution stage takes 1 clock cycle</a:t>
            </a:r>
          </a:p>
          <a:p>
            <a:pPr marL="625475" lvl="1" indent="-265113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General flow of data is from one stage to the next</a:t>
            </a:r>
          </a:p>
          <a:p>
            <a:pPr marL="265113" indent="-265113" fontAlgn="auto">
              <a:spcBef>
                <a:spcPts val="12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b="1" dirty="0">
                <a:solidFill>
                  <a:srgbClr val="660066"/>
                </a:solidFill>
              </a:rPr>
              <a:t>Exceptions: </a:t>
            </a:r>
          </a:p>
          <a:p>
            <a:pPr marL="625475" lvl="1" indent="-265113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Update of PC and write back of register file – more about this later… </a:t>
            </a:r>
          </a:p>
        </p:txBody>
      </p:sp>
    </p:spTree>
    <p:extLst>
      <p:ext uri="{BB962C8B-B14F-4D97-AF65-F5344CB8AC3E}">
        <p14:creationId xmlns:p14="http://schemas.microsoft.com/office/powerpoint/2010/main" val="9225345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1" y="524656"/>
            <a:ext cx="8574887" cy="644577"/>
          </a:xfrm>
        </p:spPr>
        <p:txBody>
          <a:bodyPr>
            <a:normAutofit fontScale="90000"/>
          </a:bodyPr>
          <a:lstStyle/>
          <a:p>
            <a:pPr marL="1976438" indent="-1976438"/>
            <a:r>
              <a:rPr lang="en-GB" sz="3600" dirty="0">
                <a:solidFill>
                  <a:srgbClr val="0000FF"/>
                </a:solidFill>
              </a:rPr>
              <a:t>2. MIPS Pipeline Stages (2/2)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#20: Pipelining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12</a:t>
            </a:fld>
            <a:endParaRPr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57" name="Rectangle 5">
            <a:extLst>
              <a:ext uri="{FF2B5EF4-FFF2-40B4-BE49-F238E27FC236}">
                <a16:creationId xmlns:a16="http://schemas.microsoft.com/office/drawing/2014/main" id="{1D2A0CB9-6547-4C38-8629-E9417D4D11FB}"/>
              </a:ext>
            </a:extLst>
          </p:cNvPr>
          <p:cNvSpPr txBox="1">
            <a:spLocks noChangeArrowheads="1"/>
          </p:cNvSpPr>
          <p:nvPr/>
        </p:nvSpPr>
        <p:spPr>
          <a:xfrm>
            <a:off x="462303" y="1498816"/>
            <a:ext cx="8229600" cy="5105400"/>
          </a:xfrm>
          <a:prstGeom prst="rect">
            <a:avLst/>
          </a:prstGeom>
          <a:noFill/>
        </p:spPr>
        <p:txBody>
          <a:bodyPr vert="horz" lIns="90488" tIns="44450" rIns="90488" bIns="4445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buFont typeface="Wingdings" pitchFamily="2" charset="2"/>
              <a:buNone/>
            </a:pP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endParaRPr lang="en-US"/>
          </a:p>
        </p:txBody>
      </p:sp>
      <p:pic>
        <p:nvPicPr>
          <p:cNvPr id="58" name="Picture 6">
            <a:extLst>
              <a:ext uri="{FF2B5EF4-FFF2-40B4-BE49-F238E27FC236}">
                <a16:creationId xmlns:a16="http://schemas.microsoft.com/office/drawing/2014/main" id="{5BA43849-2873-4A08-B708-17E997EFC995}"/>
              </a:ext>
            </a:extLst>
          </p:cNvPr>
          <p:cNvPicPr>
            <a:picLocks noChangeArrowheads="1"/>
          </p:cNvPicPr>
          <p:nvPr/>
        </p:nvPicPr>
        <p:blipFill>
          <a:blip r:embed="rId3" cstate="print"/>
          <a:srcRect b="5794"/>
          <a:stretch>
            <a:fillRect/>
          </a:stretch>
        </p:blipFill>
        <p:spPr bwMode="auto">
          <a:xfrm>
            <a:off x="268287" y="1227944"/>
            <a:ext cx="8607425" cy="5105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3078077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1" y="524656"/>
            <a:ext cx="8609611" cy="644577"/>
          </a:xfrm>
        </p:spPr>
        <p:txBody>
          <a:bodyPr>
            <a:normAutofit fontScale="90000"/>
          </a:bodyPr>
          <a:lstStyle/>
          <a:p>
            <a:pPr marL="1976438" indent="-1976438"/>
            <a:r>
              <a:rPr lang="en-GB" sz="3600" dirty="0">
                <a:solidFill>
                  <a:srgbClr val="0000FF"/>
                </a:solidFill>
              </a:rPr>
              <a:t>2. Pipelined Execution: Illustration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#20: Pipelining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13</a:t>
            </a:fld>
            <a:endParaRPr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47" name="Rounded Rectangle 75">
            <a:extLst>
              <a:ext uri="{FF2B5EF4-FFF2-40B4-BE49-F238E27FC236}">
                <a16:creationId xmlns:a16="http://schemas.microsoft.com/office/drawing/2014/main" id="{27F3A233-02B6-4CF7-9A75-29C2C371AF2E}"/>
              </a:ext>
            </a:extLst>
          </p:cNvPr>
          <p:cNvSpPr/>
          <p:nvPr/>
        </p:nvSpPr>
        <p:spPr>
          <a:xfrm>
            <a:off x="3886200" y="1589087"/>
            <a:ext cx="838200" cy="3124200"/>
          </a:xfrm>
          <a:prstGeom prst="roundRect">
            <a:avLst/>
          </a:prstGeom>
          <a:solidFill>
            <a:schemeClr val="tx2">
              <a:lumMod val="20000"/>
              <a:lumOff val="80000"/>
              <a:alpha val="6000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8" name="Group 75">
            <a:extLst>
              <a:ext uri="{FF2B5EF4-FFF2-40B4-BE49-F238E27FC236}">
                <a16:creationId xmlns:a16="http://schemas.microsoft.com/office/drawing/2014/main" id="{070A3197-DD92-4258-B83B-B7852D4C80EF}"/>
              </a:ext>
            </a:extLst>
          </p:cNvPr>
          <p:cNvGrpSpPr>
            <a:grpSpLocks/>
          </p:cNvGrpSpPr>
          <p:nvPr/>
        </p:nvGrpSpPr>
        <p:grpSpPr bwMode="auto">
          <a:xfrm>
            <a:off x="546100" y="1893887"/>
            <a:ext cx="4165600" cy="392113"/>
            <a:chOff x="344" y="1233"/>
            <a:chExt cx="2624" cy="247"/>
          </a:xfrm>
        </p:grpSpPr>
        <p:sp>
          <p:nvSpPr>
            <p:cNvPr id="149" name="Rectangle 5">
              <a:extLst>
                <a:ext uri="{FF2B5EF4-FFF2-40B4-BE49-F238E27FC236}">
                  <a16:creationId xmlns:a16="http://schemas.microsoft.com/office/drawing/2014/main" id="{D20479F0-8868-4D56-B905-AFCA4A163A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" y="1256"/>
              <a:ext cx="512" cy="22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0" name="Rectangle 6">
              <a:extLst>
                <a:ext uri="{FF2B5EF4-FFF2-40B4-BE49-F238E27FC236}">
                  <a16:creationId xmlns:a16="http://schemas.microsoft.com/office/drawing/2014/main" id="{A7D63FCB-AD03-411B-AC0B-954D2729BB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" y="1233"/>
              <a:ext cx="242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800"/>
                <a:t>IF</a:t>
              </a:r>
            </a:p>
          </p:txBody>
        </p:sp>
        <p:sp>
          <p:nvSpPr>
            <p:cNvPr id="151" name="Rectangle 7">
              <a:extLst>
                <a:ext uri="{FF2B5EF4-FFF2-40B4-BE49-F238E27FC236}">
                  <a16:creationId xmlns:a16="http://schemas.microsoft.com/office/drawing/2014/main" id="{7597D5F5-D78E-48D1-BD08-8A69C0607E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2" y="1256"/>
              <a:ext cx="512" cy="22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2" name="Rectangle 8">
              <a:extLst>
                <a:ext uri="{FF2B5EF4-FFF2-40B4-BE49-F238E27FC236}">
                  <a16:creationId xmlns:a16="http://schemas.microsoft.com/office/drawing/2014/main" id="{70B0B30F-F680-4874-BCEE-5333D52D50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0" y="1256"/>
              <a:ext cx="512" cy="22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" name="Rectangle 9">
              <a:extLst>
                <a:ext uri="{FF2B5EF4-FFF2-40B4-BE49-F238E27FC236}">
                  <a16:creationId xmlns:a16="http://schemas.microsoft.com/office/drawing/2014/main" id="{15F79EBE-7CA4-424A-99BC-3EA18BE2C9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8" y="1256"/>
              <a:ext cx="512" cy="22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" name="Rectangle 10">
              <a:extLst>
                <a:ext uri="{FF2B5EF4-FFF2-40B4-BE49-F238E27FC236}">
                  <a16:creationId xmlns:a16="http://schemas.microsoft.com/office/drawing/2014/main" id="{F145FFAE-214D-4222-BB35-D99D57396A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6" y="1256"/>
              <a:ext cx="512" cy="22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5" name="Rectangle 11">
              <a:extLst>
                <a:ext uri="{FF2B5EF4-FFF2-40B4-BE49-F238E27FC236}">
                  <a16:creationId xmlns:a16="http://schemas.microsoft.com/office/drawing/2014/main" id="{DE0BD723-7125-4443-8858-38B58AAA28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" y="1233"/>
              <a:ext cx="258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800"/>
                <a:t>ID</a:t>
              </a:r>
            </a:p>
          </p:txBody>
        </p:sp>
        <p:sp>
          <p:nvSpPr>
            <p:cNvPr id="156" name="Rectangle 12">
              <a:extLst>
                <a:ext uri="{FF2B5EF4-FFF2-40B4-BE49-F238E27FC236}">
                  <a16:creationId xmlns:a16="http://schemas.microsoft.com/office/drawing/2014/main" id="{DA01ADE9-39D0-4C41-9CFD-3D160C04CA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2" y="1233"/>
              <a:ext cx="306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800"/>
                <a:t>EX</a:t>
              </a:r>
            </a:p>
          </p:txBody>
        </p:sp>
        <p:sp>
          <p:nvSpPr>
            <p:cNvPr id="157" name="Rectangle 13">
              <a:extLst>
                <a:ext uri="{FF2B5EF4-FFF2-40B4-BE49-F238E27FC236}">
                  <a16:creationId xmlns:a16="http://schemas.microsoft.com/office/drawing/2014/main" id="{8555F10D-7A0A-45CC-9581-F0A6962DD0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0" y="1233"/>
              <a:ext cx="450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800"/>
                <a:t>MEM</a:t>
              </a:r>
            </a:p>
          </p:txBody>
        </p:sp>
        <p:sp>
          <p:nvSpPr>
            <p:cNvPr id="158" name="Rectangle 14">
              <a:extLst>
                <a:ext uri="{FF2B5EF4-FFF2-40B4-BE49-F238E27FC236}">
                  <a16:creationId xmlns:a16="http://schemas.microsoft.com/office/drawing/2014/main" id="{79FB3184-3EC3-4E2C-9BAB-9C8E69A88C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6" y="1233"/>
              <a:ext cx="346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800"/>
                <a:t>WB</a:t>
              </a:r>
            </a:p>
          </p:txBody>
        </p:sp>
      </p:grpSp>
      <p:grpSp>
        <p:nvGrpSpPr>
          <p:cNvPr id="159" name="Group 15">
            <a:extLst>
              <a:ext uri="{FF2B5EF4-FFF2-40B4-BE49-F238E27FC236}">
                <a16:creationId xmlns:a16="http://schemas.microsoft.com/office/drawing/2014/main" id="{1FDBB473-8B1C-4066-BEBF-31A211E7976A}"/>
              </a:ext>
            </a:extLst>
          </p:cNvPr>
          <p:cNvGrpSpPr>
            <a:grpSpLocks/>
          </p:cNvGrpSpPr>
          <p:nvPr/>
        </p:nvGrpSpPr>
        <p:grpSpPr bwMode="auto">
          <a:xfrm>
            <a:off x="1384300" y="2427287"/>
            <a:ext cx="4165600" cy="392113"/>
            <a:chOff x="872" y="1329"/>
            <a:chExt cx="2624" cy="247"/>
          </a:xfrm>
        </p:grpSpPr>
        <p:sp>
          <p:nvSpPr>
            <p:cNvPr id="160" name="Rectangle 16">
              <a:extLst>
                <a:ext uri="{FF2B5EF4-FFF2-40B4-BE49-F238E27FC236}">
                  <a16:creationId xmlns:a16="http://schemas.microsoft.com/office/drawing/2014/main" id="{2335C12E-C4F2-487F-975B-7A2898EDF7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2" y="1352"/>
              <a:ext cx="512" cy="22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1" name="Rectangle 17">
              <a:extLst>
                <a:ext uri="{FF2B5EF4-FFF2-40B4-BE49-F238E27FC236}">
                  <a16:creationId xmlns:a16="http://schemas.microsoft.com/office/drawing/2014/main" id="{F3777D0B-CD0A-48A2-9F9A-DE4EBF1650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2" y="1329"/>
              <a:ext cx="242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800">
                  <a:solidFill>
                    <a:srgbClr val="008000"/>
                  </a:solidFill>
                </a:rPr>
                <a:t>IF</a:t>
              </a:r>
            </a:p>
          </p:txBody>
        </p:sp>
        <p:sp>
          <p:nvSpPr>
            <p:cNvPr id="162" name="Rectangle 18">
              <a:extLst>
                <a:ext uri="{FF2B5EF4-FFF2-40B4-BE49-F238E27FC236}">
                  <a16:creationId xmlns:a16="http://schemas.microsoft.com/office/drawing/2014/main" id="{FB879D80-792C-4CC0-9697-8853F8D1C3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0" y="1352"/>
              <a:ext cx="512" cy="22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3" name="Rectangle 19">
              <a:extLst>
                <a:ext uri="{FF2B5EF4-FFF2-40B4-BE49-F238E27FC236}">
                  <a16:creationId xmlns:a16="http://schemas.microsoft.com/office/drawing/2014/main" id="{C7E37FE5-5331-420B-9EE6-49BD0183CF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8" y="1352"/>
              <a:ext cx="512" cy="22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" name="Rectangle 20">
              <a:extLst>
                <a:ext uri="{FF2B5EF4-FFF2-40B4-BE49-F238E27FC236}">
                  <a16:creationId xmlns:a16="http://schemas.microsoft.com/office/drawing/2014/main" id="{BCF4DA2D-C1F2-4888-8D02-E965CC9E16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6" y="1352"/>
              <a:ext cx="512" cy="22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5" name="Rectangle 21">
              <a:extLst>
                <a:ext uri="{FF2B5EF4-FFF2-40B4-BE49-F238E27FC236}">
                  <a16:creationId xmlns:a16="http://schemas.microsoft.com/office/drawing/2014/main" id="{FDBD4EC2-2754-4361-A797-33A8CEBA4C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4" y="1352"/>
              <a:ext cx="512" cy="22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6" name="Rectangle 22">
              <a:extLst>
                <a:ext uri="{FF2B5EF4-FFF2-40B4-BE49-F238E27FC236}">
                  <a16:creationId xmlns:a16="http://schemas.microsoft.com/office/drawing/2014/main" id="{4DB8B2E3-A062-47F3-B662-4F6E11AE70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2" y="1329"/>
              <a:ext cx="258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800">
                  <a:solidFill>
                    <a:srgbClr val="008000"/>
                  </a:solidFill>
                </a:rPr>
                <a:t>ID</a:t>
              </a:r>
            </a:p>
          </p:txBody>
        </p:sp>
        <p:sp>
          <p:nvSpPr>
            <p:cNvPr id="167" name="Rectangle 23">
              <a:extLst>
                <a:ext uri="{FF2B5EF4-FFF2-40B4-BE49-F238E27FC236}">
                  <a16:creationId xmlns:a16="http://schemas.microsoft.com/office/drawing/2014/main" id="{688D96DB-7508-4335-981B-8E2F8125DA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0" y="1329"/>
              <a:ext cx="306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800">
                  <a:solidFill>
                    <a:srgbClr val="008000"/>
                  </a:solidFill>
                </a:rPr>
                <a:t>EX</a:t>
              </a:r>
            </a:p>
          </p:txBody>
        </p:sp>
        <p:sp>
          <p:nvSpPr>
            <p:cNvPr id="168" name="Rectangle 24">
              <a:extLst>
                <a:ext uri="{FF2B5EF4-FFF2-40B4-BE49-F238E27FC236}">
                  <a16:creationId xmlns:a16="http://schemas.microsoft.com/office/drawing/2014/main" id="{0992000F-FC2F-4A98-BED4-FFE2582E44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8" y="1329"/>
              <a:ext cx="450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800">
                  <a:solidFill>
                    <a:srgbClr val="008000"/>
                  </a:solidFill>
                </a:rPr>
                <a:t>MEM</a:t>
              </a:r>
            </a:p>
          </p:txBody>
        </p:sp>
        <p:sp>
          <p:nvSpPr>
            <p:cNvPr id="169" name="Rectangle 25">
              <a:extLst>
                <a:ext uri="{FF2B5EF4-FFF2-40B4-BE49-F238E27FC236}">
                  <a16:creationId xmlns:a16="http://schemas.microsoft.com/office/drawing/2014/main" id="{E99E4541-79CD-45AD-BAE2-D27123B994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4" y="1329"/>
              <a:ext cx="346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800">
                  <a:solidFill>
                    <a:srgbClr val="008000"/>
                  </a:solidFill>
                </a:rPr>
                <a:t>WB</a:t>
              </a:r>
            </a:p>
          </p:txBody>
        </p:sp>
      </p:grpSp>
      <p:grpSp>
        <p:nvGrpSpPr>
          <p:cNvPr id="170" name="Group 26">
            <a:extLst>
              <a:ext uri="{FF2B5EF4-FFF2-40B4-BE49-F238E27FC236}">
                <a16:creationId xmlns:a16="http://schemas.microsoft.com/office/drawing/2014/main" id="{4DA6C4E9-BC20-4313-B0E2-391E2BE9E932}"/>
              </a:ext>
            </a:extLst>
          </p:cNvPr>
          <p:cNvGrpSpPr>
            <a:grpSpLocks/>
          </p:cNvGrpSpPr>
          <p:nvPr/>
        </p:nvGrpSpPr>
        <p:grpSpPr bwMode="auto">
          <a:xfrm>
            <a:off x="2222500" y="2960687"/>
            <a:ext cx="4165600" cy="392113"/>
            <a:chOff x="1400" y="1665"/>
            <a:chExt cx="2624" cy="247"/>
          </a:xfrm>
        </p:grpSpPr>
        <p:sp>
          <p:nvSpPr>
            <p:cNvPr id="171" name="Rectangle 27">
              <a:extLst>
                <a:ext uri="{FF2B5EF4-FFF2-40B4-BE49-F238E27FC236}">
                  <a16:creationId xmlns:a16="http://schemas.microsoft.com/office/drawing/2014/main" id="{7136E1D0-26CB-4EFE-91DA-8F31C3D54E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0" y="1688"/>
              <a:ext cx="512" cy="22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2" name="Rectangle 28">
              <a:extLst>
                <a:ext uri="{FF2B5EF4-FFF2-40B4-BE49-F238E27FC236}">
                  <a16:creationId xmlns:a16="http://schemas.microsoft.com/office/drawing/2014/main" id="{715216E4-8207-4877-B2F9-B89263305D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0" y="1665"/>
              <a:ext cx="242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800">
                  <a:solidFill>
                    <a:srgbClr val="3333FF"/>
                  </a:solidFill>
                </a:rPr>
                <a:t>IF</a:t>
              </a:r>
            </a:p>
          </p:txBody>
        </p:sp>
        <p:sp>
          <p:nvSpPr>
            <p:cNvPr id="173" name="Rectangle 29">
              <a:extLst>
                <a:ext uri="{FF2B5EF4-FFF2-40B4-BE49-F238E27FC236}">
                  <a16:creationId xmlns:a16="http://schemas.microsoft.com/office/drawing/2014/main" id="{7900B9B8-9F77-42BF-9D8A-4E4BA1C59A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8" y="1688"/>
              <a:ext cx="512" cy="22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" name="Rectangle 30">
              <a:extLst>
                <a:ext uri="{FF2B5EF4-FFF2-40B4-BE49-F238E27FC236}">
                  <a16:creationId xmlns:a16="http://schemas.microsoft.com/office/drawing/2014/main" id="{68742A73-A88D-4514-B9DC-969A94A70C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6" y="1688"/>
              <a:ext cx="512" cy="22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5" name="Rectangle 31">
              <a:extLst>
                <a:ext uri="{FF2B5EF4-FFF2-40B4-BE49-F238E27FC236}">
                  <a16:creationId xmlns:a16="http://schemas.microsoft.com/office/drawing/2014/main" id="{1459AF8C-3F15-427F-B3BB-9B5FB8AC46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4" y="1688"/>
              <a:ext cx="512" cy="22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6" name="Rectangle 32">
              <a:extLst>
                <a:ext uri="{FF2B5EF4-FFF2-40B4-BE49-F238E27FC236}">
                  <a16:creationId xmlns:a16="http://schemas.microsoft.com/office/drawing/2014/main" id="{8EC25A0A-275E-4F2B-B86A-26D5FB5F13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2" y="1688"/>
              <a:ext cx="512" cy="22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7" name="Rectangle 33">
              <a:extLst>
                <a:ext uri="{FF2B5EF4-FFF2-40B4-BE49-F238E27FC236}">
                  <a16:creationId xmlns:a16="http://schemas.microsoft.com/office/drawing/2014/main" id="{132426AC-31A2-45CB-B31E-7F03F021BC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0" y="1665"/>
              <a:ext cx="258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800">
                  <a:solidFill>
                    <a:srgbClr val="3333FF"/>
                  </a:solidFill>
                </a:rPr>
                <a:t>ID</a:t>
              </a:r>
            </a:p>
          </p:txBody>
        </p:sp>
        <p:sp>
          <p:nvSpPr>
            <p:cNvPr id="178" name="Rectangle 34">
              <a:extLst>
                <a:ext uri="{FF2B5EF4-FFF2-40B4-BE49-F238E27FC236}">
                  <a16:creationId xmlns:a16="http://schemas.microsoft.com/office/drawing/2014/main" id="{6CBFDF3C-89DE-4158-A8E8-2149E262CB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8" y="1665"/>
              <a:ext cx="306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800">
                  <a:solidFill>
                    <a:srgbClr val="3333FF"/>
                  </a:solidFill>
                </a:rPr>
                <a:t>EX</a:t>
              </a:r>
            </a:p>
          </p:txBody>
        </p:sp>
        <p:sp>
          <p:nvSpPr>
            <p:cNvPr id="179" name="Rectangle 35">
              <a:extLst>
                <a:ext uri="{FF2B5EF4-FFF2-40B4-BE49-F238E27FC236}">
                  <a16:creationId xmlns:a16="http://schemas.microsoft.com/office/drawing/2014/main" id="{F91A213D-63FD-487F-998B-D48F934C9A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6" y="1665"/>
              <a:ext cx="450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800">
                  <a:solidFill>
                    <a:srgbClr val="3333FF"/>
                  </a:solidFill>
                </a:rPr>
                <a:t>MEM</a:t>
              </a:r>
            </a:p>
          </p:txBody>
        </p:sp>
        <p:sp>
          <p:nvSpPr>
            <p:cNvPr id="180" name="Rectangle 36">
              <a:extLst>
                <a:ext uri="{FF2B5EF4-FFF2-40B4-BE49-F238E27FC236}">
                  <a16:creationId xmlns:a16="http://schemas.microsoft.com/office/drawing/2014/main" id="{82F593D1-962D-449E-975F-2C998E2B26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2" y="1665"/>
              <a:ext cx="346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800">
                  <a:solidFill>
                    <a:srgbClr val="3333FF"/>
                  </a:solidFill>
                </a:rPr>
                <a:t>WB</a:t>
              </a:r>
            </a:p>
          </p:txBody>
        </p:sp>
      </p:grpSp>
      <p:grpSp>
        <p:nvGrpSpPr>
          <p:cNvPr id="181" name="Group 37">
            <a:extLst>
              <a:ext uri="{FF2B5EF4-FFF2-40B4-BE49-F238E27FC236}">
                <a16:creationId xmlns:a16="http://schemas.microsoft.com/office/drawing/2014/main" id="{B0DC563A-F62B-4E80-95C1-7CB98BEC1196}"/>
              </a:ext>
            </a:extLst>
          </p:cNvPr>
          <p:cNvGrpSpPr>
            <a:grpSpLocks/>
          </p:cNvGrpSpPr>
          <p:nvPr/>
        </p:nvGrpSpPr>
        <p:grpSpPr bwMode="auto">
          <a:xfrm>
            <a:off x="3060700" y="3494087"/>
            <a:ext cx="4165600" cy="392113"/>
            <a:chOff x="1928" y="2001"/>
            <a:chExt cx="2624" cy="247"/>
          </a:xfrm>
        </p:grpSpPr>
        <p:sp>
          <p:nvSpPr>
            <p:cNvPr id="182" name="Rectangle 38">
              <a:extLst>
                <a:ext uri="{FF2B5EF4-FFF2-40B4-BE49-F238E27FC236}">
                  <a16:creationId xmlns:a16="http://schemas.microsoft.com/office/drawing/2014/main" id="{2FD12805-DE97-4592-A56B-DCBD2A954D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8" y="2024"/>
              <a:ext cx="512" cy="22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3" name="Rectangle 39">
              <a:extLst>
                <a:ext uri="{FF2B5EF4-FFF2-40B4-BE49-F238E27FC236}">
                  <a16:creationId xmlns:a16="http://schemas.microsoft.com/office/drawing/2014/main" id="{32EC6798-1FA1-407A-B0C7-0AD3A6B422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8" y="2001"/>
              <a:ext cx="242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800">
                  <a:solidFill>
                    <a:srgbClr val="FF0000"/>
                  </a:solidFill>
                </a:rPr>
                <a:t>IF</a:t>
              </a:r>
            </a:p>
          </p:txBody>
        </p:sp>
        <p:sp>
          <p:nvSpPr>
            <p:cNvPr id="184" name="Rectangle 40">
              <a:extLst>
                <a:ext uri="{FF2B5EF4-FFF2-40B4-BE49-F238E27FC236}">
                  <a16:creationId xmlns:a16="http://schemas.microsoft.com/office/drawing/2014/main" id="{D3D4DD5C-A68E-4AED-9B6A-3234B2E324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6" y="2024"/>
              <a:ext cx="512" cy="22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5" name="Rectangle 41">
              <a:extLst>
                <a:ext uri="{FF2B5EF4-FFF2-40B4-BE49-F238E27FC236}">
                  <a16:creationId xmlns:a16="http://schemas.microsoft.com/office/drawing/2014/main" id="{99221455-8C7D-466D-80D8-1B34FA1674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4" y="2024"/>
              <a:ext cx="512" cy="22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6" name="Rectangle 42">
              <a:extLst>
                <a:ext uri="{FF2B5EF4-FFF2-40B4-BE49-F238E27FC236}">
                  <a16:creationId xmlns:a16="http://schemas.microsoft.com/office/drawing/2014/main" id="{F2E345CC-6F20-4AE3-90DA-E2BCA8ED80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2" y="2024"/>
              <a:ext cx="512" cy="22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7" name="Rectangle 43">
              <a:extLst>
                <a:ext uri="{FF2B5EF4-FFF2-40B4-BE49-F238E27FC236}">
                  <a16:creationId xmlns:a16="http://schemas.microsoft.com/office/drawing/2014/main" id="{CCC93028-080E-479D-BFBC-35AE5FAD40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0" y="2024"/>
              <a:ext cx="512" cy="22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8" name="Rectangle 44">
              <a:extLst>
                <a:ext uri="{FF2B5EF4-FFF2-40B4-BE49-F238E27FC236}">
                  <a16:creationId xmlns:a16="http://schemas.microsoft.com/office/drawing/2014/main" id="{7391392B-F030-41FE-AF2B-2E1E6E75CD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8" y="2001"/>
              <a:ext cx="258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800">
                  <a:solidFill>
                    <a:srgbClr val="FF0000"/>
                  </a:solidFill>
                </a:rPr>
                <a:t>ID</a:t>
              </a:r>
            </a:p>
          </p:txBody>
        </p:sp>
        <p:sp>
          <p:nvSpPr>
            <p:cNvPr id="189" name="Rectangle 45">
              <a:extLst>
                <a:ext uri="{FF2B5EF4-FFF2-40B4-BE49-F238E27FC236}">
                  <a16:creationId xmlns:a16="http://schemas.microsoft.com/office/drawing/2014/main" id="{97EFEE69-0AC4-4586-A34D-C47B1D1EC6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6" y="2001"/>
              <a:ext cx="306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800">
                  <a:solidFill>
                    <a:srgbClr val="FF0000"/>
                  </a:solidFill>
                </a:rPr>
                <a:t>EX</a:t>
              </a:r>
            </a:p>
          </p:txBody>
        </p:sp>
        <p:sp>
          <p:nvSpPr>
            <p:cNvPr id="190" name="Rectangle 46">
              <a:extLst>
                <a:ext uri="{FF2B5EF4-FFF2-40B4-BE49-F238E27FC236}">
                  <a16:creationId xmlns:a16="http://schemas.microsoft.com/office/drawing/2014/main" id="{B72981F2-4B07-4DD3-87FC-9895948633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4" y="2001"/>
              <a:ext cx="450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800">
                  <a:solidFill>
                    <a:srgbClr val="FF0000"/>
                  </a:solidFill>
                </a:rPr>
                <a:t>MEM</a:t>
              </a:r>
            </a:p>
          </p:txBody>
        </p:sp>
        <p:sp>
          <p:nvSpPr>
            <p:cNvPr id="191" name="Rectangle 47">
              <a:extLst>
                <a:ext uri="{FF2B5EF4-FFF2-40B4-BE49-F238E27FC236}">
                  <a16:creationId xmlns:a16="http://schemas.microsoft.com/office/drawing/2014/main" id="{87577F2C-0BEE-4B86-94DE-51CF00DE64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0" y="2001"/>
              <a:ext cx="346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800">
                  <a:solidFill>
                    <a:srgbClr val="FF0000"/>
                  </a:solidFill>
                </a:rPr>
                <a:t>WB</a:t>
              </a:r>
            </a:p>
          </p:txBody>
        </p:sp>
      </p:grpSp>
      <p:grpSp>
        <p:nvGrpSpPr>
          <p:cNvPr id="192" name="Group 48">
            <a:extLst>
              <a:ext uri="{FF2B5EF4-FFF2-40B4-BE49-F238E27FC236}">
                <a16:creationId xmlns:a16="http://schemas.microsoft.com/office/drawing/2014/main" id="{C35BAFA1-C107-452C-AB03-1193F713F4BA}"/>
              </a:ext>
            </a:extLst>
          </p:cNvPr>
          <p:cNvGrpSpPr>
            <a:grpSpLocks/>
          </p:cNvGrpSpPr>
          <p:nvPr/>
        </p:nvGrpSpPr>
        <p:grpSpPr bwMode="auto">
          <a:xfrm>
            <a:off x="3898900" y="4027487"/>
            <a:ext cx="4165600" cy="392113"/>
            <a:chOff x="2456" y="2337"/>
            <a:chExt cx="2624" cy="247"/>
          </a:xfrm>
        </p:grpSpPr>
        <p:sp>
          <p:nvSpPr>
            <p:cNvPr id="193" name="Rectangle 49">
              <a:extLst>
                <a:ext uri="{FF2B5EF4-FFF2-40B4-BE49-F238E27FC236}">
                  <a16:creationId xmlns:a16="http://schemas.microsoft.com/office/drawing/2014/main" id="{6197FDD2-19ED-4045-A7D2-A6D1BEF537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6" y="2360"/>
              <a:ext cx="512" cy="22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" name="Rectangle 50">
              <a:extLst>
                <a:ext uri="{FF2B5EF4-FFF2-40B4-BE49-F238E27FC236}">
                  <a16:creationId xmlns:a16="http://schemas.microsoft.com/office/drawing/2014/main" id="{6390C694-802D-46B6-A121-960730F5DD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6" y="2337"/>
              <a:ext cx="242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800">
                  <a:solidFill>
                    <a:srgbClr val="CC3300"/>
                  </a:solidFill>
                </a:rPr>
                <a:t>IF</a:t>
              </a:r>
            </a:p>
          </p:txBody>
        </p:sp>
        <p:sp>
          <p:nvSpPr>
            <p:cNvPr id="195" name="Rectangle 51">
              <a:extLst>
                <a:ext uri="{FF2B5EF4-FFF2-40B4-BE49-F238E27FC236}">
                  <a16:creationId xmlns:a16="http://schemas.microsoft.com/office/drawing/2014/main" id="{AE9E6CBA-B8A0-44C3-A9E7-8AA5A636DA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4" y="2360"/>
              <a:ext cx="512" cy="22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6" name="Rectangle 52">
              <a:extLst>
                <a:ext uri="{FF2B5EF4-FFF2-40B4-BE49-F238E27FC236}">
                  <a16:creationId xmlns:a16="http://schemas.microsoft.com/office/drawing/2014/main" id="{A6B29A92-10CA-43E8-8B04-03CA528B3F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2" y="2360"/>
              <a:ext cx="512" cy="22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7" name="Rectangle 53">
              <a:extLst>
                <a:ext uri="{FF2B5EF4-FFF2-40B4-BE49-F238E27FC236}">
                  <a16:creationId xmlns:a16="http://schemas.microsoft.com/office/drawing/2014/main" id="{EA326CDE-A936-48A7-A27C-D9D7ABB1C4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0" y="2360"/>
              <a:ext cx="512" cy="22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8" name="Rectangle 54">
              <a:extLst>
                <a:ext uri="{FF2B5EF4-FFF2-40B4-BE49-F238E27FC236}">
                  <a16:creationId xmlns:a16="http://schemas.microsoft.com/office/drawing/2014/main" id="{D3EBA7DC-BFD5-4B74-AEEE-03650CA4D7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8" y="2360"/>
              <a:ext cx="512" cy="22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9" name="Rectangle 55">
              <a:extLst>
                <a:ext uri="{FF2B5EF4-FFF2-40B4-BE49-F238E27FC236}">
                  <a16:creationId xmlns:a16="http://schemas.microsoft.com/office/drawing/2014/main" id="{A3BEBF30-5F2D-4633-AEFE-C091E1297A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6" y="2337"/>
              <a:ext cx="258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800">
                  <a:solidFill>
                    <a:srgbClr val="CC3300"/>
                  </a:solidFill>
                </a:rPr>
                <a:t>ID</a:t>
              </a:r>
            </a:p>
          </p:txBody>
        </p:sp>
        <p:sp>
          <p:nvSpPr>
            <p:cNvPr id="200" name="Rectangle 56">
              <a:extLst>
                <a:ext uri="{FF2B5EF4-FFF2-40B4-BE49-F238E27FC236}">
                  <a16:creationId xmlns:a16="http://schemas.microsoft.com/office/drawing/2014/main" id="{62A95D57-363F-42F7-B8AF-091B9ABD67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4" y="2337"/>
              <a:ext cx="306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800">
                  <a:solidFill>
                    <a:srgbClr val="CC3300"/>
                  </a:solidFill>
                </a:rPr>
                <a:t>EX</a:t>
              </a:r>
            </a:p>
          </p:txBody>
        </p:sp>
        <p:sp>
          <p:nvSpPr>
            <p:cNvPr id="201" name="Rectangle 57">
              <a:extLst>
                <a:ext uri="{FF2B5EF4-FFF2-40B4-BE49-F238E27FC236}">
                  <a16:creationId xmlns:a16="http://schemas.microsoft.com/office/drawing/2014/main" id="{30242C13-59D8-48B6-9414-F4F148E858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2" y="2337"/>
              <a:ext cx="450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800">
                  <a:solidFill>
                    <a:srgbClr val="CC3300"/>
                  </a:solidFill>
                </a:rPr>
                <a:t>MEM</a:t>
              </a:r>
            </a:p>
          </p:txBody>
        </p:sp>
        <p:sp>
          <p:nvSpPr>
            <p:cNvPr id="202" name="Rectangle 58">
              <a:extLst>
                <a:ext uri="{FF2B5EF4-FFF2-40B4-BE49-F238E27FC236}">
                  <a16:creationId xmlns:a16="http://schemas.microsoft.com/office/drawing/2014/main" id="{AE9880B5-A605-4790-823E-B73C784543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8" y="2337"/>
              <a:ext cx="346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800">
                  <a:solidFill>
                    <a:srgbClr val="CC3300"/>
                  </a:solidFill>
                </a:rPr>
                <a:t>WB</a:t>
              </a:r>
            </a:p>
          </p:txBody>
        </p:sp>
      </p:grpSp>
      <p:grpSp>
        <p:nvGrpSpPr>
          <p:cNvPr id="203" name="Group 59">
            <a:extLst>
              <a:ext uri="{FF2B5EF4-FFF2-40B4-BE49-F238E27FC236}">
                <a16:creationId xmlns:a16="http://schemas.microsoft.com/office/drawing/2014/main" id="{7D675798-2C17-4221-A492-573816974A11}"/>
              </a:ext>
            </a:extLst>
          </p:cNvPr>
          <p:cNvGrpSpPr>
            <a:grpSpLocks/>
          </p:cNvGrpSpPr>
          <p:nvPr/>
        </p:nvGrpSpPr>
        <p:grpSpPr bwMode="auto">
          <a:xfrm>
            <a:off x="4737100" y="4560887"/>
            <a:ext cx="4165600" cy="392113"/>
            <a:chOff x="2984" y="2673"/>
            <a:chExt cx="2624" cy="247"/>
          </a:xfrm>
        </p:grpSpPr>
        <p:sp>
          <p:nvSpPr>
            <p:cNvPr id="204" name="Rectangle 60">
              <a:extLst>
                <a:ext uri="{FF2B5EF4-FFF2-40B4-BE49-F238E27FC236}">
                  <a16:creationId xmlns:a16="http://schemas.microsoft.com/office/drawing/2014/main" id="{27BE04F0-3AAA-462A-87D6-711A3351E8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4" y="2696"/>
              <a:ext cx="512" cy="22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" name="Rectangle 61">
              <a:extLst>
                <a:ext uri="{FF2B5EF4-FFF2-40B4-BE49-F238E27FC236}">
                  <a16:creationId xmlns:a16="http://schemas.microsoft.com/office/drawing/2014/main" id="{01BF87F3-55BF-42EB-9EE0-6479E60129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4" y="2673"/>
              <a:ext cx="242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800">
                  <a:solidFill>
                    <a:srgbClr val="FF9933"/>
                  </a:solidFill>
                </a:rPr>
                <a:t>IF</a:t>
              </a:r>
            </a:p>
          </p:txBody>
        </p:sp>
        <p:sp>
          <p:nvSpPr>
            <p:cNvPr id="206" name="Rectangle 62">
              <a:extLst>
                <a:ext uri="{FF2B5EF4-FFF2-40B4-BE49-F238E27FC236}">
                  <a16:creationId xmlns:a16="http://schemas.microsoft.com/office/drawing/2014/main" id="{0795C391-9A7F-4B34-8570-624845BEC6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2" y="2696"/>
              <a:ext cx="512" cy="22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" name="Rectangle 63">
              <a:extLst>
                <a:ext uri="{FF2B5EF4-FFF2-40B4-BE49-F238E27FC236}">
                  <a16:creationId xmlns:a16="http://schemas.microsoft.com/office/drawing/2014/main" id="{9BF59778-812E-4E2C-A846-9C282ECAC5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0" y="2696"/>
              <a:ext cx="512" cy="22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8" name="Rectangle 64">
              <a:extLst>
                <a:ext uri="{FF2B5EF4-FFF2-40B4-BE49-F238E27FC236}">
                  <a16:creationId xmlns:a16="http://schemas.microsoft.com/office/drawing/2014/main" id="{8A57A445-6C82-425B-A259-7477F521C3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8" y="2696"/>
              <a:ext cx="512" cy="22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9" name="Rectangle 65">
              <a:extLst>
                <a:ext uri="{FF2B5EF4-FFF2-40B4-BE49-F238E27FC236}">
                  <a16:creationId xmlns:a16="http://schemas.microsoft.com/office/drawing/2014/main" id="{4A7C817F-2DDE-495E-875F-F7B89CC83A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96" y="2696"/>
              <a:ext cx="512" cy="22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0" name="Rectangle 66">
              <a:extLst>
                <a:ext uri="{FF2B5EF4-FFF2-40B4-BE49-F238E27FC236}">
                  <a16:creationId xmlns:a16="http://schemas.microsoft.com/office/drawing/2014/main" id="{152D2543-166F-44EB-9EFC-BEA2AEA7CD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4" y="2673"/>
              <a:ext cx="258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800">
                  <a:solidFill>
                    <a:srgbClr val="FF9933"/>
                  </a:solidFill>
                </a:rPr>
                <a:t>ID</a:t>
              </a:r>
            </a:p>
          </p:txBody>
        </p:sp>
        <p:sp>
          <p:nvSpPr>
            <p:cNvPr id="211" name="Rectangle 67">
              <a:extLst>
                <a:ext uri="{FF2B5EF4-FFF2-40B4-BE49-F238E27FC236}">
                  <a16:creationId xmlns:a16="http://schemas.microsoft.com/office/drawing/2014/main" id="{A7E9B419-F0BF-451A-94A4-D0501922EF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2" y="2673"/>
              <a:ext cx="306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800">
                  <a:solidFill>
                    <a:srgbClr val="FF9933"/>
                  </a:solidFill>
                </a:rPr>
                <a:t>EX</a:t>
              </a:r>
            </a:p>
          </p:txBody>
        </p:sp>
        <p:sp>
          <p:nvSpPr>
            <p:cNvPr id="212" name="Rectangle 68">
              <a:extLst>
                <a:ext uri="{FF2B5EF4-FFF2-40B4-BE49-F238E27FC236}">
                  <a16:creationId xmlns:a16="http://schemas.microsoft.com/office/drawing/2014/main" id="{7390E1F9-0779-46EE-A010-21B1C3C6C2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0" y="2673"/>
              <a:ext cx="450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800">
                  <a:solidFill>
                    <a:srgbClr val="FF9933"/>
                  </a:solidFill>
                </a:rPr>
                <a:t>MEM</a:t>
              </a:r>
            </a:p>
          </p:txBody>
        </p:sp>
        <p:sp>
          <p:nvSpPr>
            <p:cNvPr id="213" name="Rectangle 69">
              <a:extLst>
                <a:ext uri="{FF2B5EF4-FFF2-40B4-BE49-F238E27FC236}">
                  <a16:creationId xmlns:a16="http://schemas.microsoft.com/office/drawing/2014/main" id="{66EF821F-0E50-4DFC-9D29-97E929C987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6" y="2673"/>
              <a:ext cx="346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800">
                  <a:solidFill>
                    <a:srgbClr val="FF9933"/>
                  </a:solidFill>
                </a:rPr>
                <a:t>WB</a:t>
              </a:r>
            </a:p>
          </p:txBody>
        </p:sp>
      </p:grpSp>
      <p:grpSp>
        <p:nvGrpSpPr>
          <p:cNvPr id="214" name="Group 74">
            <a:extLst>
              <a:ext uri="{FF2B5EF4-FFF2-40B4-BE49-F238E27FC236}">
                <a16:creationId xmlns:a16="http://schemas.microsoft.com/office/drawing/2014/main" id="{80B03277-B1C4-429E-B2ED-FFF9ADCB3424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360487"/>
            <a:ext cx="7696200" cy="3452813"/>
            <a:chOff x="288" y="897"/>
            <a:chExt cx="4848" cy="2175"/>
          </a:xfrm>
        </p:grpSpPr>
        <p:sp>
          <p:nvSpPr>
            <p:cNvPr id="215" name="Line 70">
              <a:extLst>
                <a:ext uri="{FF2B5EF4-FFF2-40B4-BE49-F238E27FC236}">
                  <a16:creationId xmlns:a16="http://schemas.microsoft.com/office/drawing/2014/main" id="{B9CD7E32-6729-4A74-9E8D-A279748638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" y="1248"/>
              <a:ext cx="0" cy="182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" name="Rectangle 71">
              <a:extLst>
                <a:ext uri="{FF2B5EF4-FFF2-40B4-BE49-F238E27FC236}">
                  <a16:creationId xmlns:a16="http://schemas.microsoft.com/office/drawing/2014/main" id="{3FF82C3A-8D67-4221-B607-1CECC23CBE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" y="2511"/>
              <a:ext cx="1010" cy="40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800"/>
                <a:t>Program Flow</a:t>
              </a:r>
            </a:p>
            <a:p>
              <a:pPr eaLnBrk="0" hangingPunct="0"/>
              <a:r>
                <a:rPr lang="en-US" sz="1800"/>
                <a:t>(Instructions)</a:t>
              </a:r>
            </a:p>
          </p:txBody>
        </p:sp>
        <p:sp>
          <p:nvSpPr>
            <p:cNvPr id="217" name="Line 72">
              <a:extLst>
                <a:ext uri="{FF2B5EF4-FFF2-40B4-BE49-F238E27FC236}">
                  <a16:creationId xmlns:a16="http://schemas.microsoft.com/office/drawing/2014/main" id="{B6DBDEC8-A8E4-42C0-818B-00BFF96230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" y="1152"/>
              <a:ext cx="484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" name="Rectangle 73">
              <a:extLst>
                <a:ext uri="{FF2B5EF4-FFF2-40B4-BE49-F238E27FC236}">
                  <a16:creationId xmlns:a16="http://schemas.microsoft.com/office/drawing/2014/main" id="{EA81E7B2-DC6D-4CB0-BAE0-5A8359CF89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" y="897"/>
              <a:ext cx="43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800"/>
                <a:t>Time</a:t>
              </a:r>
            </a:p>
          </p:txBody>
        </p:sp>
      </p:grpSp>
      <p:sp>
        <p:nvSpPr>
          <p:cNvPr id="219" name="Rectangle 218">
            <a:extLst>
              <a:ext uri="{FF2B5EF4-FFF2-40B4-BE49-F238E27FC236}">
                <a16:creationId xmlns:a16="http://schemas.microsoft.com/office/drawing/2014/main" id="{18217099-9F5D-4AF5-B678-80039AA71887}"/>
              </a:ext>
            </a:extLst>
          </p:cNvPr>
          <p:cNvSpPr/>
          <p:nvPr/>
        </p:nvSpPr>
        <p:spPr>
          <a:xfrm>
            <a:off x="990600" y="4952999"/>
            <a:ext cx="2955925" cy="12445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58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Several instructions are in the pipeline simultaneously!</a:t>
            </a:r>
          </a:p>
        </p:txBody>
      </p:sp>
    </p:spTree>
    <p:extLst>
      <p:ext uri="{BB962C8B-B14F-4D97-AF65-F5344CB8AC3E}">
        <p14:creationId xmlns:p14="http://schemas.microsoft.com/office/powerpoint/2010/main" val="2588883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563312" cy="644577"/>
          </a:xfrm>
        </p:spPr>
        <p:txBody>
          <a:bodyPr>
            <a:normAutofit fontScale="90000"/>
          </a:bodyPr>
          <a:lstStyle/>
          <a:p>
            <a:pPr marL="1976438" indent="-1976438"/>
            <a:r>
              <a:rPr lang="en-GB" sz="3600" dirty="0">
                <a:solidFill>
                  <a:srgbClr val="0000FF"/>
                </a:solidFill>
              </a:rPr>
              <a:t>3. MIPS Pipeline: Datapath (1/3)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#20: Pipelining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14</a:t>
            </a:fld>
            <a:endParaRPr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63" name="Rectangle 3">
            <a:extLst>
              <a:ext uri="{FF2B5EF4-FFF2-40B4-BE49-F238E27FC236}">
                <a16:creationId xmlns:a16="http://schemas.microsoft.com/office/drawing/2014/main" id="{9FC69B32-B36A-4FBB-B0BB-28F3E0C7ACB3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346416"/>
            <a:ext cx="8229600" cy="47495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5113" indent="-265113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C00000"/>
                </a:solidFill>
              </a:rPr>
              <a:t>Single-cycle</a:t>
            </a:r>
            <a:r>
              <a:rPr lang="en-US" sz="2800" dirty="0"/>
              <a:t> implementation:</a:t>
            </a:r>
          </a:p>
          <a:p>
            <a:pPr marL="625475" lvl="1" indent="-265113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Update all state elements (</a:t>
            </a:r>
            <a:r>
              <a:rPr lang="en-US" sz="2400" b="1" dirty="0">
                <a:latin typeface="Courier New" pitchFamily="49" charset="0"/>
              </a:rPr>
              <a:t>PC</a:t>
            </a:r>
            <a:r>
              <a:rPr lang="en-US" sz="2400" dirty="0"/>
              <a:t>, register file, data memory) at the end of a clock cycle</a:t>
            </a:r>
          </a:p>
          <a:p>
            <a:pPr marL="265113" indent="-265113" fontAlgn="auto">
              <a:spcBef>
                <a:spcPct val="500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C00000"/>
                </a:solidFill>
              </a:rPr>
              <a:t>Pipelined </a:t>
            </a:r>
            <a:r>
              <a:rPr lang="en-US" sz="2800" dirty="0"/>
              <a:t>implementation:</a:t>
            </a:r>
          </a:p>
          <a:p>
            <a:pPr marL="625475" lvl="1" indent="-265113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One cycle per pipeline stage</a:t>
            </a:r>
          </a:p>
          <a:p>
            <a:pPr marL="625475" lvl="1" indent="-265113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Data required for each stage needs to be stored separately (why?)</a:t>
            </a:r>
          </a:p>
          <a:p>
            <a:pPr marL="1074738" lvl="1" indent="-495300" fontAlgn="auto">
              <a:spcAft>
                <a:spcPts val="0"/>
              </a:spcAft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2948403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563312" cy="644577"/>
          </a:xfrm>
        </p:spPr>
        <p:txBody>
          <a:bodyPr>
            <a:normAutofit fontScale="90000"/>
          </a:bodyPr>
          <a:lstStyle/>
          <a:p>
            <a:pPr marL="1976438" indent="-1976438"/>
            <a:r>
              <a:rPr lang="en-GB" sz="3600" dirty="0">
                <a:solidFill>
                  <a:srgbClr val="0000FF"/>
                </a:solidFill>
              </a:rPr>
              <a:t>3. MIPS Pipeline: Datapath (2/3)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#20: Pipelining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15</a:t>
            </a:fld>
            <a:endParaRPr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AC0500B2-3863-4BCA-9903-E51A194399EC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346416"/>
            <a:ext cx="8229600" cy="49781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5113" indent="-265113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600" dirty="0"/>
              <a:t>Data used by </a:t>
            </a:r>
            <a:r>
              <a:rPr lang="en-US" sz="2600" b="1" dirty="0">
                <a:solidFill>
                  <a:srgbClr val="006600"/>
                </a:solidFill>
              </a:rPr>
              <a:t>subsequent instructions:</a:t>
            </a:r>
            <a:endParaRPr lang="en-US" sz="2600" dirty="0"/>
          </a:p>
          <a:p>
            <a:pPr marL="625475" lvl="1" indent="-265113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200" dirty="0"/>
              <a:t>Store in programmer-visible state elements: </a:t>
            </a:r>
            <a:r>
              <a:rPr lang="en-US" sz="2200" b="1" dirty="0">
                <a:latin typeface="Courier New" pitchFamily="49" charset="0"/>
              </a:rPr>
              <a:t>PC</a:t>
            </a:r>
            <a:r>
              <a:rPr lang="en-US" sz="2200" dirty="0"/>
              <a:t>, register file and memory</a:t>
            </a:r>
          </a:p>
          <a:p>
            <a:pPr marL="265113" indent="-265113" fontAlgn="auto">
              <a:spcBef>
                <a:spcPts val="12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600" dirty="0"/>
              <a:t>Data used by </a:t>
            </a:r>
            <a:r>
              <a:rPr lang="en-US" sz="2600" b="1" dirty="0">
                <a:solidFill>
                  <a:srgbClr val="C00000"/>
                </a:solidFill>
              </a:rPr>
              <a:t>same instruction </a:t>
            </a:r>
            <a:r>
              <a:rPr lang="en-US" sz="2600" dirty="0"/>
              <a:t>in later pipeline stages:</a:t>
            </a:r>
          </a:p>
          <a:p>
            <a:pPr marL="625475" lvl="1" indent="-265113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200" dirty="0"/>
              <a:t>Additional registers in </a:t>
            </a:r>
            <a:r>
              <a:rPr lang="en-US" sz="2200" dirty="0" err="1"/>
              <a:t>datapath</a:t>
            </a:r>
            <a:r>
              <a:rPr lang="en-US" sz="2200" dirty="0"/>
              <a:t> called </a:t>
            </a:r>
            <a:r>
              <a:rPr lang="en-US" sz="2200" b="1" dirty="0">
                <a:solidFill>
                  <a:srgbClr val="660066"/>
                </a:solidFill>
              </a:rPr>
              <a:t>pipeline registers</a:t>
            </a:r>
          </a:p>
          <a:p>
            <a:pPr marL="625475" lvl="1" indent="-265113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200" b="1" dirty="0">
                <a:latin typeface="Courier New" pitchFamily="49" charset="0"/>
              </a:rPr>
              <a:t>IF/ID</a:t>
            </a:r>
            <a:r>
              <a:rPr lang="en-US" sz="2200" b="1" dirty="0"/>
              <a:t>:</a:t>
            </a:r>
            <a:r>
              <a:rPr lang="en-US" sz="2200" dirty="0"/>
              <a:t> register between </a:t>
            </a:r>
            <a:r>
              <a:rPr lang="en-US" sz="2200" b="1" dirty="0">
                <a:latin typeface="Courier New" pitchFamily="49" charset="0"/>
              </a:rPr>
              <a:t>IF</a:t>
            </a:r>
            <a:r>
              <a:rPr lang="en-US" sz="2200" dirty="0"/>
              <a:t> and </a:t>
            </a:r>
            <a:r>
              <a:rPr lang="en-US" sz="2200" b="1" dirty="0">
                <a:latin typeface="Courier New" pitchFamily="49" charset="0"/>
              </a:rPr>
              <a:t>ID</a:t>
            </a:r>
          </a:p>
          <a:p>
            <a:pPr marL="625475" lvl="1" indent="-265113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200" b="1" dirty="0">
                <a:latin typeface="Courier New" pitchFamily="49" charset="0"/>
              </a:rPr>
              <a:t>ID/EX:</a:t>
            </a:r>
            <a:r>
              <a:rPr lang="en-US" sz="2200" dirty="0"/>
              <a:t> register between </a:t>
            </a:r>
            <a:r>
              <a:rPr lang="en-US" sz="2200" b="1" dirty="0">
                <a:latin typeface="Courier New" pitchFamily="49" charset="0"/>
              </a:rPr>
              <a:t>ID </a:t>
            </a:r>
            <a:r>
              <a:rPr lang="en-US" sz="2200" dirty="0"/>
              <a:t>and </a:t>
            </a:r>
            <a:r>
              <a:rPr lang="en-US" sz="2200" b="1" dirty="0">
                <a:latin typeface="Courier New" pitchFamily="49" charset="0"/>
              </a:rPr>
              <a:t>EX</a:t>
            </a:r>
          </a:p>
          <a:p>
            <a:pPr marL="625475" lvl="1" indent="-265113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200" b="1" dirty="0">
                <a:latin typeface="Courier New" pitchFamily="49" charset="0"/>
              </a:rPr>
              <a:t>EX/MEM:</a:t>
            </a:r>
            <a:r>
              <a:rPr lang="en-US" sz="2200" dirty="0"/>
              <a:t> register between </a:t>
            </a:r>
            <a:r>
              <a:rPr lang="en-US" sz="2200" b="1" dirty="0">
                <a:latin typeface="Courier New" pitchFamily="49" charset="0"/>
              </a:rPr>
              <a:t>EX</a:t>
            </a:r>
            <a:r>
              <a:rPr lang="en-US" sz="2200" dirty="0"/>
              <a:t> and </a:t>
            </a:r>
            <a:r>
              <a:rPr lang="en-US" sz="2200" b="1" dirty="0">
                <a:latin typeface="Courier New" pitchFamily="49" charset="0"/>
              </a:rPr>
              <a:t>MEM</a:t>
            </a:r>
          </a:p>
          <a:p>
            <a:pPr marL="625475" lvl="1" indent="-265113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200" b="1" dirty="0">
                <a:latin typeface="Courier New" pitchFamily="49" charset="0"/>
              </a:rPr>
              <a:t>MEM/WB</a:t>
            </a:r>
            <a:r>
              <a:rPr lang="en-US" sz="2200" b="1" dirty="0"/>
              <a:t>:</a:t>
            </a:r>
            <a:r>
              <a:rPr lang="en-US" sz="2200" dirty="0"/>
              <a:t> register between </a:t>
            </a:r>
            <a:r>
              <a:rPr lang="en-US" sz="2200" b="1" dirty="0">
                <a:latin typeface="Courier New" pitchFamily="49" charset="0"/>
              </a:rPr>
              <a:t>MEM</a:t>
            </a:r>
            <a:r>
              <a:rPr lang="en-US" sz="2200" dirty="0"/>
              <a:t> and </a:t>
            </a:r>
            <a:r>
              <a:rPr lang="en-US" sz="2200" b="1" dirty="0">
                <a:latin typeface="Courier New" pitchFamily="49" charset="0"/>
              </a:rPr>
              <a:t>WB</a:t>
            </a:r>
          </a:p>
          <a:p>
            <a:pPr marL="265113" indent="-265113" fontAlgn="auto">
              <a:spcBef>
                <a:spcPts val="12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600" dirty="0"/>
              <a:t>Why no register at the end of </a:t>
            </a:r>
            <a:r>
              <a:rPr lang="en-US" sz="2600" b="1" dirty="0">
                <a:latin typeface="Courier New" pitchFamily="49" charset="0"/>
              </a:rPr>
              <a:t>WB</a:t>
            </a:r>
            <a:r>
              <a:rPr lang="en-US" sz="2600" dirty="0"/>
              <a:t> stage?</a:t>
            </a:r>
          </a:p>
        </p:txBody>
      </p:sp>
    </p:spTree>
    <p:extLst>
      <p:ext uri="{BB962C8B-B14F-4D97-AF65-F5344CB8AC3E}">
        <p14:creationId xmlns:p14="http://schemas.microsoft.com/office/powerpoint/2010/main" val="29629008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420558" cy="644577"/>
          </a:xfrm>
        </p:spPr>
        <p:txBody>
          <a:bodyPr>
            <a:normAutofit fontScale="90000"/>
          </a:bodyPr>
          <a:lstStyle/>
          <a:p>
            <a:pPr marL="1976438" indent="-1976438"/>
            <a:r>
              <a:rPr lang="en-GB" sz="3600" dirty="0">
                <a:solidFill>
                  <a:srgbClr val="0000FF"/>
                </a:solidFill>
              </a:rPr>
              <a:t>3. MIPS Pipeline: Datapath (3/3)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#20: Pipelining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16</a:t>
            </a:fld>
            <a:endParaRPr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pic>
        <p:nvPicPr>
          <p:cNvPr id="65" name="Picture 5">
            <a:extLst>
              <a:ext uri="{FF2B5EF4-FFF2-40B4-BE49-F238E27FC236}">
                <a16:creationId xmlns:a16="http://schemas.microsoft.com/office/drawing/2014/main" id="{25007076-1F8B-4FF7-8691-9CD21F508EAA}"/>
              </a:ext>
            </a:extLst>
          </p:cNvPr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8642" y="1224769"/>
            <a:ext cx="8264525" cy="51085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66" name="Text Box 6">
            <a:extLst>
              <a:ext uri="{FF2B5EF4-FFF2-40B4-BE49-F238E27FC236}">
                <a16:creationId xmlns:a16="http://schemas.microsoft.com/office/drawing/2014/main" id="{E3D7C9F7-C638-4A3B-BC11-3A58444A83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2733" y="1346417"/>
            <a:ext cx="5311069" cy="400110"/>
          </a:xfrm>
          <a:prstGeom prst="rect">
            <a:avLst/>
          </a:prstGeom>
          <a:solidFill>
            <a:srgbClr val="FFCC00"/>
          </a:solidFill>
          <a:ln w="127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Coloured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rectangles are pipeline registers</a:t>
            </a:r>
          </a:p>
        </p:txBody>
      </p:sp>
    </p:spTree>
    <p:extLst>
      <p:ext uri="{BB962C8B-B14F-4D97-AF65-F5344CB8AC3E}">
        <p14:creationId xmlns:p14="http://schemas.microsoft.com/office/powerpoint/2010/main" val="2146101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420558" cy="644577"/>
          </a:xfrm>
        </p:spPr>
        <p:txBody>
          <a:bodyPr>
            <a:normAutofit fontScale="90000"/>
          </a:bodyPr>
          <a:lstStyle/>
          <a:p>
            <a:pPr marL="1976438" indent="-1976438"/>
            <a:r>
              <a:rPr lang="en-GB" sz="3600" dirty="0">
                <a:solidFill>
                  <a:srgbClr val="0000FF"/>
                </a:solidFill>
              </a:rPr>
              <a:t>3. Pipeline Datapath: </a:t>
            </a:r>
            <a:r>
              <a:rPr lang="en-US" sz="3600" b="1" dirty="0"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3600" b="1" dirty="0"/>
              <a:t> Stage</a:t>
            </a:r>
            <a:endParaRPr lang="en-GB" sz="3600" dirty="0">
              <a:solidFill>
                <a:srgbClr val="0000FF"/>
              </a:solidFill>
            </a:endParaRP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#20: Pipelining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17</a:t>
            </a:fld>
            <a:endParaRPr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86" name="Rectangle 3">
            <a:extLst>
              <a:ext uri="{FF2B5EF4-FFF2-40B4-BE49-F238E27FC236}">
                <a16:creationId xmlns:a16="http://schemas.microsoft.com/office/drawing/2014/main" id="{791484F4-6DC5-44C4-8085-427015792167}"/>
              </a:ext>
            </a:extLst>
          </p:cNvPr>
          <p:cNvSpPr txBox="1">
            <a:spLocks noChangeArrowheads="1"/>
          </p:cNvSpPr>
          <p:nvPr/>
        </p:nvSpPr>
        <p:spPr>
          <a:xfrm>
            <a:off x="566281" y="4445833"/>
            <a:ext cx="8229600" cy="19812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5113" indent="-265113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At the end of a cycle,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</a:rPr>
              <a:t>IF/ID</a:t>
            </a:r>
            <a:r>
              <a:rPr lang="en-US" dirty="0"/>
              <a:t> receives (stores):</a:t>
            </a:r>
          </a:p>
          <a:p>
            <a:pPr marL="625475" lvl="1" indent="-265113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Instruction read from </a:t>
            </a:r>
            <a:r>
              <a:rPr lang="en-US" dirty="0" err="1"/>
              <a:t>InstructionMemory</a:t>
            </a:r>
            <a:r>
              <a:rPr lang="en-US" dirty="0"/>
              <a:t>[ PC ]</a:t>
            </a:r>
          </a:p>
          <a:p>
            <a:pPr marL="625475" lvl="1" indent="-265113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PC + 4</a:t>
            </a:r>
          </a:p>
          <a:p>
            <a:pPr marL="265113" indent="-265113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PC + 4</a:t>
            </a:r>
          </a:p>
          <a:p>
            <a:pPr marL="625475" lvl="1" indent="-265113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Also connected to one of the MUX's inputs (another coming later)</a:t>
            </a:r>
          </a:p>
        </p:txBody>
      </p:sp>
      <p:pic>
        <p:nvPicPr>
          <p:cNvPr id="87" name="Picture 4">
            <a:extLst>
              <a:ext uri="{FF2B5EF4-FFF2-40B4-BE49-F238E27FC236}">
                <a16:creationId xmlns:a16="http://schemas.microsoft.com/office/drawing/2014/main" id="{2443FFDD-809F-4225-A331-75FADF6AF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t="11238" b="49268"/>
          <a:stretch>
            <a:fillRect/>
          </a:stretch>
        </p:blipFill>
        <p:spPr bwMode="auto">
          <a:xfrm>
            <a:off x="1328281" y="1169233"/>
            <a:ext cx="6487437" cy="32004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557650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420558" cy="644577"/>
          </a:xfrm>
        </p:spPr>
        <p:txBody>
          <a:bodyPr>
            <a:normAutofit fontScale="90000"/>
          </a:bodyPr>
          <a:lstStyle/>
          <a:p>
            <a:pPr marL="1976438" indent="-1976438"/>
            <a:r>
              <a:rPr lang="en-GB" sz="3600" dirty="0">
                <a:solidFill>
                  <a:srgbClr val="0000FF"/>
                </a:solidFill>
              </a:rPr>
              <a:t>3. Pipeline Datapath: </a:t>
            </a:r>
            <a:r>
              <a:rPr lang="en-US" sz="3600" b="1" dirty="0">
                <a:latin typeface="Courier New" pitchFamily="49" charset="0"/>
                <a:cs typeface="Courier New" pitchFamily="49" charset="0"/>
              </a:rPr>
              <a:t>ID</a:t>
            </a:r>
            <a:r>
              <a:rPr lang="en-US" sz="3600" b="1" dirty="0"/>
              <a:t> Stage</a:t>
            </a:r>
            <a:endParaRPr lang="en-GB" sz="3600" dirty="0">
              <a:solidFill>
                <a:srgbClr val="0000FF"/>
              </a:solidFill>
            </a:endParaRP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#20: Pipelining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18</a:t>
            </a:fld>
            <a:endParaRPr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pic>
        <p:nvPicPr>
          <p:cNvPr id="67" name="Picture 5">
            <a:extLst>
              <a:ext uri="{FF2B5EF4-FFF2-40B4-BE49-F238E27FC236}">
                <a16:creationId xmlns:a16="http://schemas.microsoft.com/office/drawing/2014/main" id="{9F612CD8-4E67-4CD3-A91B-009626E1B8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t="61494"/>
          <a:stretch>
            <a:fillRect/>
          </a:stretch>
        </p:blipFill>
        <p:spPr bwMode="auto">
          <a:xfrm>
            <a:off x="1319462" y="1169233"/>
            <a:ext cx="6505075" cy="3128874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</p:pic>
      <p:graphicFrame>
        <p:nvGraphicFramePr>
          <p:cNvPr id="68" name="Table 67">
            <a:extLst>
              <a:ext uri="{FF2B5EF4-FFF2-40B4-BE49-F238E27FC236}">
                <a16:creationId xmlns:a16="http://schemas.microsoft.com/office/drawing/2014/main" id="{D4410453-8DB1-4ECF-814F-B83D8681A29D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4424680"/>
          <a:ext cx="83058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4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At the beginning of a cycle</a:t>
                      </a:r>
                    </a:p>
                    <a:p>
                      <a:pPr algn="ctr"/>
                      <a:r>
                        <a:rPr lang="en-US" sz="1800" b="1" dirty="0">
                          <a:solidFill>
                            <a:srgbClr val="006600"/>
                          </a:solidFill>
                          <a:latin typeface="Courier New" pitchFamily="49" charset="0"/>
                        </a:rPr>
                        <a:t>IF/ID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register supplies: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At the end of a cycle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Courier New" pitchFamily="49" charset="0"/>
                        </a:rPr>
                        <a:t>ID/EX</a:t>
                      </a:r>
                      <a:r>
                        <a:rPr lang="en-US" sz="1800" dirty="0">
                          <a:solidFill>
                            <a:srgbClr val="C00000"/>
                          </a:solidFill>
                        </a:rPr>
                        <a:t> 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receives: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676275" lvl="1" indent="-349250" eaLnBrk="1" hangingPunct="1">
                        <a:spcBef>
                          <a:spcPct val="10000"/>
                        </a:spcBef>
                        <a:buFont typeface="Wingdings" pitchFamily="2" charset="2"/>
                        <a:buChar char="v"/>
                      </a:pPr>
                      <a:r>
                        <a:rPr lang="en-US" sz="2000" dirty="0"/>
                        <a:t>Register numbers for reading two registers</a:t>
                      </a:r>
                    </a:p>
                    <a:p>
                      <a:pPr marL="676275" lvl="1" indent="-349250" eaLnBrk="1" hangingPunct="1">
                        <a:spcBef>
                          <a:spcPct val="10000"/>
                        </a:spcBef>
                        <a:buFont typeface="Wingdings" pitchFamily="2" charset="2"/>
                        <a:buChar char="v"/>
                      </a:pPr>
                      <a:r>
                        <a:rPr lang="en-US" sz="2000" dirty="0"/>
                        <a:t>16-bit offset to be sign-extended to 32-bit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FC5"/>
                    </a:solidFill>
                  </a:tcPr>
                </a:tc>
                <a:tc>
                  <a:txBody>
                    <a:bodyPr/>
                    <a:lstStyle/>
                    <a:p>
                      <a:pPr marL="676275" lvl="1" indent="-349250" eaLnBrk="1" hangingPunct="1">
                        <a:spcBef>
                          <a:spcPct val="10000"/>
                        </a:spcBef>
                        <a:buFont typeface="Wingdings" pitchFamily="2" charset="2"/>
                        <a:buChar char="v"/>
                      </a:pPr>
                      <a:r>
                        <a:rPr lang="en-US" sz="2000" dirty="0"/>
                        <a:t>Data values read from register file</a:t>
                      </a:r>
                    </a:p>
                    <a:p>
                      <a:pPr marL="676275" lvl="1" indent="-349250" eaLnBrk="1" hangingPunct="1">
                        <a:spcBef>
                          <a:spcPct val="10000"/>
                        </a:spcBef>
                        <a:buFont typeface="Wingdings" pitchFamily="2" charset="2"/>
                        <a:buChar char="v"/>
                      </a:pPr>
                      <a:r>
                        <a:rPr lang="en-US" sz="2000" dirty="0"/>
                        <a:t>32-bit immediate value</a:t>
                      </a:r>
                    </a:p>
                    <a:p>
                      <a:pPr marL="676275" lvl="1" indent="-349250" eaLnBrk="1" hangingPunct="1">
                        <a:spcBef>
                          <a:spcPct val="10000"/>
                        </a:spcBef>
                        <a:buFont typeface="Wingdings" pitchFamily="2" charset="2"/>
                        <a:buChar char="v"/>
                      </a:pPr>
                      <a:r>
                        <a:rPr lang="en-US" sz="2000" b="1" dirty="0">
                          <a:latin typeface="Courier New" pitchFamily="49" charset="0"/>
                        </a:rPr>
                        <a:t>PC + 4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0198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420558" cy="644577"/>
          </a:xfrm>
        </p:spPr>
        <p:txBody>
          <a:bodyPr>
            <a:normAutofit fontScale="90000"/>
          </a:bodyPr>
          <a:lstStyle/>
          <a:p>
            <a:pPr marL="1976438" indent="-1976438"/>
            <a:r>
              <a:rPr lang="en-GB" sz="3600" dirty="0">
                <a:solidFill>
                  <a:srgbClr val="0000FF"/>
                </a:solidFill>
              </a:rPr>
              <a:t>3. Pipeline Datapath: </a:t>
            </a:r>
            <a:r>
              <a:rPr lang="en-US" sz="3600" b="1" dirty="0">
                <a:latin typeface="Courier New" pitchFamily="49" charset="0"/>
                <a:cs typeface="Courier New" pitchFamily="49" charset="0"/>
              </a:rPr>
              <a:t>EX</a:t>
            </a:r>
            <a:r>
              <a:rPr lang="en-US" sz="3600" b="1" dirty="0"/>
              <a:t> Stage</a:t>
            </a:r>
            <a:endParaRPr lang="en-GB" sz="3600" dirty="0">
              <a:solidFill>
                <a:srgbClr val="0000FF"/>
              </a:solidFill>
            </a:endParaRP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#20: Pipelining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19</a:t>
            </a:fld>
            <a:endParaRPr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pic>
        <p:nvPicPr>
          <p:cNvPr id="10" name="Picture 5">
            <a:extLst>
              <a:ext uri="{FF2B5EF4-FFF2-40B4-BE49-F238E27FC236}">
                <a16:creationId xmlns:a16="http://schemas.microsoft.com/office/drawing/2014/main" id="{99105678-43B1-48C6-B476-F501BFA369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t="12920"/>
          <a:stretch>
            <a:fillRect/>
          </a:stretch>
        </p:blipFill>
        <p:spPr bwMode="auto">
          <a:xfrm>
            <a:off x="1363117" y="1169233"/>
            <a:ext cx="6417765" cy="3124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B29E41E-679B-416A-B440-2FEF13D6A340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4441980"/>
          <a:ext cx="83058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At the beginning of a cycle</a:t>
                      </a:r>
                    </a:p>
                    <a:p>
                      <a:pPr algn="ctr"/>
                      <a:r>
                        <a:rPr lang="en-US" sz="1800" b="1" dirty="0">
                          <a:solidFill>
                            <a:srgbClr val="006600"/>
                          </a:solidFill>
                          <a:latin typeface="Courier New" pitchFamily="49" charset="0"/>
                        </a:rPr>
                        <a:t>ID/EX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register supplies: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At the end of a cycle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Courier New" pitchFamily="49" charset="0"/>
                        </a:rPr>
                        <a:t>EX/MEM</a:t>
                      </a:r>
                      <a:r>
                        <a:rPr lang="en-US" sz="1800" dirty="0">
                          <a:solidFill>
                            <a:srgbClr val="C00000"/>
                          </a:solidFill>
                        </a:rPr>
                        <a:t> 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receives: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676275" lvl="1" indent="-349250" eaLnBrk="1" hangingPunct="1">
                        <a:spcBef>
                          <a:spcPct val="10000"/>
                        </a:spcBef>
                        <a:buFont typeface="Wingdings" pitchFamily="2" charset="2"/>
                        <a:buChar char="v"/>
                      </a:pPr>
                      <a:r>
                        <a:rPr lang="en-US" sz="2000" dirty="0"/>
                        <a:t>Data values read from register file</a:t>
                      </a:r>
                    </a:p>
                    <a:p>
                      <a:pPr marL="676275" lvl="1" indent="-349250" eaLnBrk="1" hangingPunct="1">
                        <a:spcBef>
                          <a:spcPct val="10000"/>
                        </a:spcBef>
                        <a:buFont typeface="Wingdings" pitchFamily="2" charset="2"/>
                        <a:buChar char="v"/>
                      </a:pPr>
                      <a:r>
                        <a:rPr lang="en-US" sz="2000" dirty="0"/>
                        <a:t>32-bit immediate value</a:t>
                      </a:r>
                    </a:p>
                    <a:p>
                      <a:pPr marL="676275" lvl="1" indent="-349250" eaLnBrk="1" hangingPunct="1">
                        <a:spcBef>
                          <a:spcPct val="10000"/>
                        </a:spcBef>
                        <a:buFont typeface="Wingdings" pitchFamily="2" charset="2"/>
                        <a:buChar char="v"/>
                      </a:pPr>
                      <a:r>
                        <a:rPr lang="en-US" sz="2000" b="1" dirty="0">
                          <a:latin typeface="Courier New" pitchFamily="49" charset="0"/>
                        </a:rPr>
                        <a:t>PC + 4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FC5"/>
                    </a:solidFill>
                  </a:tcPr>
                </a:tc>
                <a:tc>
                  <a:txBody>
                    <a:bodyPr/>
                    <a:lstStyle/>
                    <a:p>
                      <a:pPr marL="676275" lvl="1" indent="-349250" eaLnBrk="1" hangingPunct="1">
                        <a:spcBef>
                          <a:spcPct val="10000"/>
                        </a:spcBef>
                        <a:buFont typeface="Wingdings" pitchFamily="2" charset="2"/>
                        <a:buChar char="v"/>
                      </a:pPr>
                      <a:r>
                        <a:rPr lang="en-US" dirty="0"/>
                        <a:t>(PC + 4) + (Immediate x 4)</a:t>
                      </a:r>
                    </a:p>
                    <a:p>
                      <a:pPr marL="676275" lvl="1" indent="-349250" eaLnBrk="1" hangingPunct="1">
                        <a:spcBef>
                          <a:spcPct val="10000"/>
                        </a:spcBef>
                        <a:buFont typeface="Wingdings" pitchFamily="2" charset="2"/>
                        <a:buChar char="v"/>
                      </a:pPr>
                      <a:r>
                        <a:rPr lang="en-US" dirty="0"/>
                        <a:t>ALU result</a:t>
                      </a:r>
                    </a:p>
                    <a:p>
                      <a:pPr marL="676275" lvl="1" indent="-349250" eaLnBrk="1" hangingPunct="1">
                        <a:spcBef>
                          <a:spcPct val="10000"/>
                        </a:spcBef>
                        <a:buFont typeface="Wingdings" pitchFamily="2" charset="2"/>
                        <a:buChar char="v"/>
                      </a:pPr>
                      <a:r>
                        <a:rPr lang="en-US" b="1" dirty="0" err="1">
                          <a:latin typeface="Courier New" pitchFamily="49" charset="0"/>
                          <a:cs typeface="Courier New" pitchFamily="49" charset="0"/>
                        </a:rPr>
                        <a:t>isZero</a:t>
                      </a:r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? </a:t>
                      </a:r>
                      <a:r>
                        <a:rPr lang="en-US" dirty="0"/>
                        <a:t>signal</a:t>
                      </a:r>
                    </a:p>
                    <a:p>
                      <a:pPr marL="676275" lvl="1" indent="-349250" eaLnBrk="1" hangingPunct="1">
                        <a:spcBef>
                          <a:spcPct val="10000"/>
                        </a:spcBef>
                        <a:buFont typeface="Wingdings" pitchFamily="2" charset="2"/>
                        <a:buChar char="v"/>
                      </a:pPr>
                      <a:r>
                        <a:rPr lang="en-US" dirty="0"/>
                        <a:t>Data Read 2 from register file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0685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420558" cy="644577"/>
          </a:xfrm>
        </p:spPr>
        <p:txBody>
          <a:bodyPr>
            <a:normAutofit fontScale="90000"/>
          </a:bodyPr>
          <a:lstStyle/>
          <a:p>
            <a:pPr marL="1976438" indent="-1976438"/>
            <a:r>
              <a:rPr lang="en-GB" sz="3600" dirty="0">
                <a:solidFill>
                  <a:srgbClr val="0000FF"/>
                </a:solidFill>
              </a:rPr>
              <a:t>3. Pipeline Datapath: </a:t>
            </a:r>
            <a:r>
              <a:rPr lang="en-US" sz="3600" b="1" dirty="0">
                <a:latin typeface="Courier New" pitchFamily="49" charset="0"/>
                <a:cs typeface="Courier New" pitchFamily="49" charset="0"/>
              </a:rPr>
              <a:t>MEM</a:t>
            </a:r>
            <a:r>
              <a:rPr lang="en-US" sz="3600" b="1" dirty="0"/>
              <a:t> Stage</a:t>
            </a:r>
            <a:endParaRPr lang="en-GB" sz="3600" dirty="0">
              <a:solidFill>
                <a:srgbClr val="0000FF"/>
              </a:solidFill>
            </a:endParaRP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#20: Pipelining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20</a:t>
            </a:fld>
            <a:endParaRPr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pic>
        <p:nvPicPr>
          <p:cNvPr id="11" name="Picture 5">
            <a:extLst>
              <a:ext uri="{FF2B5EF4-FFF2-40B4-BE49-F238E27FC236}">
                <a16:creationId xmlns:a16="http://schemas.microsoft.com/office/drawing/2014/main" id="{F575D074-E8F2-4E0A-B4EC-11C7BA9B1D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t="4926" b="52263"/>
          <a:stretch>
            <a:fillRect/>
          </a:stretch>
        </p:blipFill>
        <p:spPr bwMode="auto">
          <a:xfrm>
            <a:off x="1333073" y="1072980"/>
            <a:ext cx="6477853" cy="32208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7E3DC69B-F6C9-4647-8D0A-8CEA1BD98800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4445832"/>
          <a:ext cx="8305800" cy="1911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At the beginning of a cycle</a:t>
                      </a:r>
                    </a:p>
                    <a:p>
                      <a:pPr algn="ctr"/>
                      <a:r>
                        <a:rPr lang="en-US" sz="1800" b="1" dirty="0">
                          <a:solidFill>
                            <a:srgbClr val="006600"/>
                          </a:solidFill>
                          <a:latin typeface="Courier New" pitchFamily="49" charset="0"/>
                        </a:rPr>
                        <a:t>EX/MEM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register supplies: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At the end of a cycle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Courier New" pitchFamily="49" charset="0"/>
                        </a:rPr>
                        <a:t>MEM/WB</a:t>
                      </a:r>
                      <a:r>
                        <a:rPr lang="en-US" sz="1800" dirty="0">
                          <a:solidFill>
                            <a:srgbClr val="C00000"/>
                          </a:solidFill>
                        </a:rPr>
                        <a:t> 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receives: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676275" marR="0" lvl="1" indent="-3492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v"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(PC + 4) + (Immediate x 4)</a:t>
                      </a:r>
                    </a:p>
                    <a:p>
                      <a:pPr marL="676275" marR="0" lvl="1" indent="-3492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v"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ALU result</a:t>
                      </a:r>
                    </a:p>
                    <a:p>
                      <a:pPr marL="676275" marR="0" lvl="1" indent="-3492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v"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isZero</a:t>
                      </a: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? 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signal</a:t>
                      </a:r>
                    </a:p>
                    <a:p>
                      <a:pPr marL="676275" marR="0" lvl="1" indent="-3492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v"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Data Read 2 from register file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FC5"/>
                    </a:solidFill>
                  </a:tcPr>
                </a:tc>
                <a:tc>
                  <a:txBody>
                    <a:bodyPr/>
                    <a:lstStyle/>
                    <a:p>
                      <a:pPr marL="676275" lvl="1" indent="-349250" eaLnBrk="1" hangingPunct="1">
                        <a:spcBef>
                          <a:spcPct val="10000"/>
                        </a:spcBef>
                        <a:buFont typeface="Wingdings" pitchFamily="2" charset="2"/>
                        <a:buChar char="v"/>
                      </a:pPr>
                      <a:r>
                        <a:rPr lang="en-US" dirty="0"/>
                        <a:t>ALU result</a:t>
                      </a:r>
                    </a:p>
                    <a:p>
                      <a:pPr marL="676275" lvl="1" indent="-349250" eaLnBrk="1" hangingPunct="1">
                        <a:spcBef>
                          <a:spcPct val="10000"/>
                        </a:spcBef>
                        <a:buFont typeface="Wingdings" pitchFamily="2" charset="2"/>
                        <a:buChar char="v"/>
                      </a:pPr>
                      <a:r>
                        <a:rPr lang="en-US" dirty="0"/>
                        <a:t>Memory read</a:t>
                      </a:r>
                      <a:r>
                        <a:rPr lang="en-US" baseline="0" dirty="0"/>
                        <a:t> data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568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420558" cy="644577"/>
          </a:xfrm>
        </p:spPr>
        <p:txBody>
          <a:bodyPr>
            <a:normAutofit fontScale="90000"/>
          </a:bodyPr>
          <a:lstStyle/>
          <a:p>
            <a:pPr marL="1976438" indent="-1976438"/>
            <a:r>
              <a:rPr lang="en-GB" sz="3600" dirty="0">
                <a:solidFill>
                  <a:srgbClr val="0000FF"/>
                </a:solidFill>
              </a:rPr>
              <a:t>3. Pipeline Datapath: </a:t>
            </a:r>
            <a:r>
              <a:rPr lang="en-US" sz="3600" b="1" dirty="0">
                <a:latin typeface="Courier New" pitchFamily="49" charset="0"/>
                <a:cs typeface="Courier New" pitchFamily="49" charset="0"/>
              </a:rPr>
              <a:t>WB</a:t>
            </a:r>
            <a:r>
              <a:rPr lang="en-US" sz="3600" b="1" dirty="0"/>
              <a:t> Stage</a:t>
            </a:r>
            <a:endParaRPr lang="en-GB" sz="3600" dirty="0">
              <a:solidFill>
                <a:srgbClr val="0000FF"/>
              </a:solidFill>
            </a:endParaRP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#20: Pipelining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21</a:t>
            </a:fld>
            <a:endParaRPr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pic>
        <p:nvPicPr>
          <p:cNvPr id="18" name="Picture 5">
            <a:extLst>
              <a:ext uri="{FF2B5EF4-FFF2-40B4-BE49-F238E27FC236}">
                <a16:creationId xmlns:a16="http://schemas.microsoft.com/office/drawing/2014/main" id="{9BAC1F81-EB1A-45B7-855C-935D5DF803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t="59026"/>
          <a:stretch>
            <a:fillRect/>
          </a:stretch>
        </p:blipFill>
        <p:spPr bwMode="auto">
          <a:xfrm>
            <a:off x="1289792" y="1169233"/>
            <a:ext cx="6564415" cy="3155591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65F8B551-8C9F-460A-A8E3-3E53209A720F}"/>
              </a:ext>
            </a:extLst>
          </p:cNvPr>
          <p:cNvGraphicFramePr>
            <a:graphicFrameLocks noGrp="1"/>
          </p:cNvGraphicFramePr>
          <p:nvPr/>
        </p:nvGraphicFramePr>
        <p:xfrm>
          <a:off x="476021" y="4554118"/>
          <a:ext cx="8305800" cy="1121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At the beginning of a cycle</a:t>
                      </a:r>
                    </a:p>
                    <a:p>
                      <a:pPr algn="ctr"/>
                      <a:r>
                        <a:rPr lang="en-US" sz="1800" b="1" dirty="0">
                          <a:solidFill>
                            <a:srgbClr val="006600"/>
                          </a:solidFill>
                          <a:latin typeface="Courier New" pitchFamily="49" charset="0"/>
                        </a:rPr>
                        <a:t>MEM/WB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register supplies: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At the end of a cycle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676275" lvl="1" indent="-349250" eaLnBrk="1" hangingPunct="1">
                        <a:spcBef>
                          <a:spcPct val="10000"/>
                        </a:spcBef>
                        <a:buFont typeface="Wingdings" pitchFamily="2" charset="2"/>
                        <a:buChar char="v"/>
                      </a:pPr>
                      <a:r>
                        <a:rPr lang="en-US" dirty="0"/>
                        <a:t>ALU result</a:t>
                      </a:r>
                    </a:p>
                    <a:p>
                      <a:pPr marL="676275" lvl="1" indent="-349250" eaLnBrk="1" hangingPunct="1">
                        <a:spcBef>
                          <a:spcPct val="10000"/>
                        </a:spcBef>
                        <a:buFont typeface="Wingdings" pitchFamily="2" charset="2"/>
                        <a:buChar char="v"/>
                      </a:pPr>
                      <a:r>
                        <a:rPr lang="en-US" dirty="0"/>
                        <a:t>Memory read</a:t>
                      </a:r>
                      <a:r>
                        <a:rPr lang="en-US" baseline="0" dirty="0"/>
                        <a:t> data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FC5"/>
                    </a:solidFill>
                  </a:tcPr>
                </a:tc>
                <a:tc>
                  <a:txBody>
                    <a:bodyPr/>
                    <a:lstStyle/>
                    <a:p>
                      <a:pPr marL="676275" lvl="1" indent="-349250" eaLnBrk="1" hangingPunct="1">
                        <a:spcBef>
                          <a:spcPct val="10000"/>
                        </a:spcBef>
                        <a:buFont typeface="Wingdings" pitchFamily="2" charset="2"/>
                        <a:buChar char="v"/>
                      </a:pPr>
                      <a:r>
                        <a:rPr lang="en-US" dirty="0"/>
                        <a:t>Result is written back to register file (if applicable)</a:t>
                      </a:r>
                    </a:p>
                    <a:p>
                      <a:pPr marL="676275" lvl="1" indent="-349250" eaLnBrk="1" hangingPunct="1">
                        <a:spcBef>
                          <a:spcPct val="10000"/>
                        </a:spcBef>
                        <a:buFont typeface="Wingdings" pitchFamily="2" charset="2"/>
                        <a:buChar char="v"/>
                      </a:pPr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There is a bug</a:t>
                      </a:r>
                      <a:r>
                        <a:rPr lang="en-US" b="1" baseline="0" dirty="0">
                          <a:solidFill>
                            <a:srgbClr val="C00000"/>
                          </a:solidFill>
                        </a:rPr>
                        <a:t> here…….</a:t>
                      </a:r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6510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420558" cy="644577"/>
          </a:xfrm>
        </p:spPr>
        <p:txBody>
          <a:bodyPr>
            <a:normAutofit fontScale="90000"/>
          </a:bodyPr>
          <a:lstStyle/>
          <a:p>
            <a:pPr marL="1976438" indent="-1976438"/>
            <a:r>
              <a:rPr lang="en-GB" sz="3600" dirty="0">
                <a:solidFill>
                  <a:srgbClr val="0000FF"/>
                </a:solidFill>
              </a:rPr>
              <a:t>3. Corrected Datapath (1/2)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#20: Pipelining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22</a:t>
            </a:fld>
            <a:endParaRPr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92" name="Rectangle 3">
            <a:extLst>
              <a:ext uri="{FF2B5EF4-FFF2-40B4-BE49-F238E27FC236}">
                <a16:creationId xmlns:a16="http://schemas.microsoft.com/office/drawing/2014/main" id="{7F98D01F-B314-4747-8404-67372A8D0608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346416"/>
            <a:ext cx="8229600" cy="49781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5113" indent="-265113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Observe the “Write register” number</a:t>
            </a:r>
          </a:p>
          <a:p>
            <a:pPr marL="625475" lvl="1" indent="-265113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Supplied by the 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IF/ID</a:t>
            </a:r>
            <a:r>
              <a:rPr lang="en-US" sz="2400" dirty="0"/>
              <a:t> pipeline register</a:t>
            </a:r>
          </a:p>
          <a:p>
            <a:pPr marL="676275" lvl="1" indent="-349250" fontAlgn="auto">
              <a:spcAft>
                <a:spcPts val="0"/>
              </a:spcAft>
              <a:buFont typeface="Wingdings"/>
              <a:buChar char="è"/>
            </a:pPr>
            <a:r>
              <a:rPr lang="en-US" sz="2400" dirty="0">
                <a:sym typeface="Wingdings" pitchFamily="2" charset="2"/>
              </a:rPr>
              <a:t>It is NOT the correct write register for the instruction now in </a:t>
            </a:r>
            <a:r>
              <a:rPr lang="en-US" sz="2400" b="1" dirty="0">
                <a:latin typeface="Courier New" pitchFamily="49" charset="0"/>
                <a:cs typeface="Courier New" pitchFamily="49" charset="0"/>
                <a:sym typeface="Wingdings" pitchFamily="2" charset="2"/>
              </a:rPr>
              <a:t>WB</a:t>
            </a:r>
            <a:r>
              <a:rPr lang="en-US" sz="2400" dirty="0">
                <a:sym typeface="Wingdings" pitchFamily="2" charset="2"/>
              </a:rPr>
              <a:t> stage!</a:t>
            </a:r>
            <a:endParaRPr lang="en-US" sz="2400" dirty="0"/>
          </a:p>
          <a:p>
            <a:pPr marL="265113" indent="-265113" fontAlgn="auto">
              <a:spcBef>
                <a:spcPts val="1200"/>
              </a:spcBef>
              <a:spcAft>
                <a:spcPts val="0"/>
              </a:spcAft>
              <a:buClr>
                <a:schemeClr val="bg1">
                  <a:lumMod val="65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800" b="1" dirty="0">
                <a:solidFill>
                  <a:srgbClr val="006600"/>
                </a:solidFill>
              </a:rPr>
              <a:t>Solution:</a:t>
            </a:r>
          </a:p>
          <a:p>
            <a:pPr marL="625475" lvl="1" indent="-265113" fontAlgn="auto">
              <a:spcBef>
                <a:spcPts val="600"/>
              </a:spcBef>
              <a:spcAft>
                <a:spcPts val="0"/>
              </a:spcAft>
              <a:buClr>
                <a:schemeClr val="bg1">
                  <a:lumMod val="65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Pass “Write register” number from </a:t>
            </a:r>
            <a:r>
              <a:rPr lang="en-US" sz="2400" b="1" dirty="0">
                <a:latin typeface="Courier New" pitchFamily="49" charset="0"/>
              </a:rPr>
              <a:t>ID/EX </a:t>
            </a:r>
            <a:r>
              <a:rPr lang="en-US" sz="2400" dirty="0"/>
              <a:t>through</a:t>
            </a:r>
            <a:r>
              <a:rPr lang="en-US" sz="2400" b="1" dirty="0">
                <a:latin typeface="Courier New" pitchFamily="49" charset="0"/>
              </a:rPr>
              <a:t> EX/MEM </a:t>
            </a:r>
            <a:r>
              <a:rPr lang="en-US" sz="2400" dirty="0"/>
              <a:t>to </a:t>
            </a:r>
            <a:r>
              <a:rPr lang="en-US" sz="2400" b="1" dirty="0">
                <a:latin typeface="Courier New" pitchFamily="49" charset="0"/>
              </a:rPr>
              <a:t>MEM/WB</a:t>
            </a:r>
            <a:r>
              <a:rPr lang="en-US" sz="2400" dirty="0"/>
              <a:t> pipeline register for use in </a:t>
            </a:r>
            <a:r>
              <a:rPr lang="en-US" sz="2400" b="1" dirty="0">
                <a:latin typeface="Courier New" pitchFamily="49" charset="0"/>
              </a:rPr>
              <a:t>WB</a:t>
            </a:r>
            <a:r>
              <a:rPr lang="en-US" sz="2400" dirty="0"/>
              <a:t> stage</a:t>
            </a:r>
          </a:p>
          <a:p>
            <a:pPr marL="625475" lvl="1" indent="-265113" fontAlgn="auto">
              <a:spcBef>
                <a:spcPts val="600"/>
              </a:spcBef>
              <a:spcAft>
                <a:spcPts val="0"/>
              </a:spcAft>
              <a:buClr>
                <a:schemeClr val="bg1">
                  <a:lumMod val="65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i.e. let the "Write register" number follows the instruction through the pipeline until it is needed in WB stage</a:t>
            </a:r>
          </a:p>
        </p:txBody>
      </p:sp>
    </p:spTree>
    <p:extLst>
      <p:ext uri="{BB962C8B-B14F-4D97-AF65-F5344CB8AC3E}">
        <p14:creationId xmlns:p14="http://schemas.microsoft.com/office/powerpoint/2010/main" val="14538718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420558" cy="644577"/>
          </a:xfrm>
        </p:spPr>
        <p:txBody>
          <a:bodyPr>
            <a:normAutofit fontScale="90000"/>
          </a:bodyPr>
          <a:lstStyle/>
          <a:p>
            <a:pPr marL="1976438" indent="-1976438"/>
            <a:r>
              <a:rPr lang="en-GB" sz="3600" dirty="0">
                <a:solidFill>
                  <a:srgbClr val="0000FF"/>
                </a:solidFill>
              </a:rPr>
              <a:t>3. Corrected Datapath (2/2)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#20: Pipelining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23</a:t>
            </a:fld>
            <a:endParaRPr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pic>
        <p:nvPicPr>
          <p:cNvPr id="40" name="Picture 5">
            <a:extLst>
              <a:ext uri="{FF2B5EF4-FFF2-40B4-BE49-F238E27FC236}">
                <a16:creationId xmlns:a16="http://schemas.microsoft.com/office/drawing/2014/main" id="{3950AFCB-B700-44CC-90FC-F5FC95246CEF}"/>
              </a:ext>
            </a:extLst>
          </p:cNvPr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" y="1169233"/>
            <a:ext cx="8229600" cy="5246688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667780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420558" cy="644577"/>
          </a:xfrm>
        </p:spPr>
        <p:txBody>
          <a:bodyPr>
            <a:normAutofit fontScale="90000"/>
          </a:bodyPr>
          <a:lstStyle/>
          <a:p>
            <a:pPr marL="1976438" indent="-1976438"/>
            <a:r>
              <a:rPr lang="en-GB" sz="3600" dirty="0">
                <a:solidFill>
                  <a:srgbClr val="0000FF"/>
                </a:solidFill>
              </a:rPr>
              <a:t>4. Pipeline Control: </a:t>
            </a:r>
            <a:r>
              <a:rPr lang="en-GB" sz="3600" b="1" dirty="0">
                <a:solidFill>
                  <a:srgbClr val="0000FF"/>
                </a:solidFill>
              </a:rPr>
              <a:t>Main Idea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#20: Pipelining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24</a:t>
            </a:fld>
            <a:endParaRPr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D758AA95-21B9-4BC9-B006-152C8402004C}"/>
              </a:ext>
            </a:extLst>
          </p:cNvPr>
          <p:cNvSpPr txBox="1">
            <a:spLocks noChangeArrowheads="1"/>
          </p:cNvSpPr>
          <p:nvPr/>
        </p:nvSpPr>
        <p:spPr>
          <a:xfrm>
            <a:off x="543718" y="1237469"/>
            <a:ext cx="8229600" cy="83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5113" indent="-265113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000" dirty="0"/>
              <a:t>Same control signals as single-cycle </a:t>
            </a:r>
            <a:r>
              <a:rPr lang="en-US" sz="2000" dirty="0" err="1"/>
              <a:t>datapath</a:t>
            </a:r>
            <a:endParaRPr lang="en-US" sz="2000" dirty="0"/>
          </a:p>
          <a:p>
            <a:pPr marL="265113" indent="-265113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rgbClr val="C00000"/>
                </a:solidFill>
              </a:rPr>
              <a:t>Difference: </a:t>
            </a:r>
            <a:r>
              <a:rPr lang="en-US" sz="2000" dirty="0"/>
              <a:t>Each control signal belongs to a particular pipeline stage</a:t>
            </a: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3B02E0CF-BA13-4642-AED1-CF710B26A863}"/>
              </a:ext>
            </a:extLst>
          </p:cNvPr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81918" y="2075669"/>
            <a:ext cx="6380163" cy="4257675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1689645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420558" cy="644577"/>
          </a:xfrm>
        </p:spPr>
        <p:txBody>
          <a:bodyPr>
            <a:normAutofit fontScale="90000"/>
          </a:bodyPr>
          <a:lstStyle/>
          <a:p>
            <a:pPr marL="1976438" indent="-1976438"/>
            <a:r>
              <a:rPr lang="en-GB" sz="3600" dirty="0">
                <a:solidFill>
                  <a:srgbClr val="0000FF"/>
                </a:solidFill>
              </a:rPr>
              <a:t>4. Pipeline Control: </a:t>
            </a:r>
            <a:r>
              <a:rPr lang="en-GB" sz="3600" b="1" dirty="0">
                <a:solidFill>
                  <a:srgbClr val="C00000"/>
                </a:solidFill>
              </a:rPr>
              <a:t>Try it!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#20: Pipelining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25</a:t>
            </a:fld>
            <a:endParaRPr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pic>
        <p:nvPicPr>
          <p:cNvPr id="66" name="Picture 6">
            <a:extLst>
              <a:ext uri="{FF2B5EF4-FFF2-40B4-BE49-F238E27FC236}">
                <a16:creationId xmlns:a16="http://schemas.microsoft.com/office/drawing/2014/main" id="{9D55D93D-0267-4361-8E6D-814E924476C4}"/>
              </a:ext>
            </a:extLst>
          </p:cNvPr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8832" y="1231119"/>
            <a:ext cx="7566025" cy="5102225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</p:spPr>
      </p:pic>
      <p:sp>
        <p:nvSpPr>
          <p:cNvPr id="67" name="Rounded Rectangle 9">
            <a:extLst>
              <a:ext uri="{FF2B5EF4-FFF2-40B4-BE49-F238E27FC236}">
                <a16:creationId xmlns:a16="http://schemas.microsoft.com/office/drawing/2014/main" id="{E9DD09E6-0088-4C24-A0A0-97F432648855}"/>
              </a:ext>
            </a:extLst>
          </p:cNvPr>
          <p:cNvSpPr/>
          <p:nvPr/>
        </p:nvSpPr>
        <p:spPr>
          <a:xfrm>
            <a:off x="164432" y="4660119"/>
            <a:ext cx="2438400" cy="1600200"/>
          </a:xfrm>
          <a:prstGeom prst="roundRect">
            <a:avLst/>
          </a:prstGeom>
          <a:solidFill>
            <a:srgbClr val="FFFFCC"/>
          </a:solidFill>
          <a:ln w="158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prstClr val="black"/>
                </a:solidFill>
                <a:cs typeface="Courier New" pitchFamily="49" charset="0"/>
              </a:rPr>
              <a:t>Try associating each control signal with the correct pipeline stage.</a:t>
            </a:r>
            <a:endParaRPr lang="en-SG" sz="20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23761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420558" cy="644577"/>
          </a:xfrm>
        </p:spPr>
        <p:txBody>
          <a:bodyPr>
            <a:normAutofit fontScale="90000"/>
          </a:bodyPr>
          <a:lstStyle/>
          <a:p>
            <a:pPr marL="1976438" indent="-1976438"/>
            <a:r>
              <a:rPr lang="en-GB" sz="3600" dirty="0">
                <a:solidFill>
                  <a:srgbClr val="0000FF"/>
                </a:solidFill>
              </a:rPr>
              <a:t>4. Pipeline Control: </a:t>
            </a:r>
            <a:r>
              <a:rPr lang="en-GB" sz="3600" b="1" dirty="0">
                <a:solidFill>
                  <a:srgbClr val="0000FF"/>
                </a:solidFill>
              </a:rPr>
              <a:t>Grouping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#20: Pipelining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26</a:t>
            </a:fld>
            <a:endParaRPr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AD0C1699-983E-477B-8185-E60F939D40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18642" y="1169233"/>
            <a:ext cx="8229600" cy="533400"/>
          </a:xfrm>
        </p:spPr>
        <p:txBody>
          <a:bodyPr/>
          <a:lstStyle/>
          <a:p>
            <a:pPr marL="265113" indent="-265113" eaLnBrk="1" hangingPunct="1"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Group control signals according to pipeline stage</a:t>
            </a:r>
          </a:p>
        </p:txBody>
      </p:sp>
      <p:graphicFrame>
        <p:nvGraphicFramePr>
          <p:cNvPr id="9" name="Group 125">
            <a:extLst>
              <a:ext uri="{FF2B5EF4-FFF2-40B4-BE49-F238E27FC236}">
                <a16:creationId xmlns:a16="http://schemas.microsoft.com/office/drawing/2014/main" id="{BD6AC331-87D5-455C-8B18-366B3201097F}"/>
              </a:ext>
            </a:extLst>
          </p:cNvPr>
          <p:cNvGraphicFramePr>
            <a:graphicFrameLocks/>
          </p:cNvGraphicFramePr>
          <p:nvPr/>
        </p:nvGraphicFramePr>
        <p:xfrm>
          <a:off x="418642" y="1626433"/>
          <a:ext cx="8534402" cy="2139281"/>
        </p:xfrm>
        <a:graphic>
          <a:graphicData uri="http://schemas.openxmlformats.org/drawingml/2006/table">
            <a:tbl>
              <a:tblPr firstRow="1" bandCol="1">
                <a:tableStyleId>{616DA210-FB5B-4158-B5E0-FEB733F419BA}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76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354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5354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8423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2285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5354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56201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RegDst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rgbClr val="660066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 horzOverflow="overflow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ALUSrc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rgbClr val="660066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MemToReg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rgbClr val="660066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 horzOverflow="overflow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Reg</a:t>
                      </a:r>
                      <a:endParaRPr kumimoji="0" lang="en-US" sz="1500" b="1" u="none" strike="noStrike" cap="none" normalizeH="0" baseline="0" dirty="0">
                        <a:ln>
                          <a:noFill/>
                        </a:ln>
                        <a:solidFill>
                          <a:srgbClr val="660066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u="none" strike="noStrike" cap="none" normalizeH="0" baseline="0" dirty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Write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rgbClr val="660066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Mem</a:t>
                      </a:r>
                      <a:endParaRPr kumimoji="0" lang="en-US" sz="1500" b="1" u="none" strike="noStrike" cap="none" normalizeH="0" baseline="0" dirty="0">
                        <a:ln>
                          <a:noFill/>
                        </a:ln>
                        <a:solidFill>
                          <a:srgbClr val="660066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u="none" strike="noStrike" cap="none" normalizeH="0" baseline="0" dirty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Read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rgbClr val="660066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 horzOverflow="overflow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Mem</a:t>
                      </a:r>
                      <a:endParaRPr kumimoji="0" lang="en-US" sz="1500" b="1" u="none" strike="noStrike" cap="none" normalizeH="0" baseline="0" dirty="0">
                        <a:ln>
                          <a:noFill/>
                        </a:ln>
                        <a:solidFill>
                          <a:srgbClr val="660066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u="none" strike="noStrike" cap="none" normalizeH="0" baseline="0" dirty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Write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rgbClr val="660066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u="none" strike="noStrike" cap="none" normalizeH="0" baseline="0" dirty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Branch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rgbClr val="660066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 horzOverflow="overflow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ALUop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rgbClr val="660066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 horzOverflow="overflow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546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u="none" strike="noStrike" cap="none" normalizeH="0" baseline="0" dirty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op1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rgbClr val="660066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u="none" strike="noStrike" cap="none" normalizeH="0" baseline="0" dirty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op0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rgbClr val="660066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 horzOverflow="overflow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1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R-type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Arial" charset="0"/>
                        </a:rPr>
                        <a:t>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Arial" charset="0"/>
                        </a:rPr>
                        <a:t>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Arial" charset="0"/>
                        </a:rPr>
                        <a:t>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Arial" charset="0"/>
                        </a:rPr>
                        <a:t>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Arial" charset="0"/>
                        </a:rPr>
                        <a:t>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horzOverflow="overflow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67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lw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Arial" charset="0"/>
                        </a:rPr>
                        <a:t>1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Arial" charset="0"/>
                        </a:rPr>
                        <a:t>1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Arial" charset="0"/>
                        </a:rPr>
                        <a:t>1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Arial" charset="0"/>
                        </a:rPr>
                        <a:t>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Arial" charset="0"/>
                        </a:rPr>
                        <a:t>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1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sw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X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Arial" charset="0"/>
                        </a:rPr>
                        <a:t>1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Arial" charset="0"/>
                        </a:rPr>
                        <a:t>X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Arial" charset="0"/>
                        </a:rPr>
                        <a:t>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Arial" charset="0"/>
                        </a:rPr>
                        <a:t>1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Arial" charset="0"/>
                        </a:rPr>
                        <a:t>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1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beq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X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Arial" charset="0"/>
                        </a:rPr>
                        <a:t>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Arial" charset="0"/>
                        </a:rPr>
                        <a:t>X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Arial" charset="0"/>
                        </a:rPr>
                        <a:t>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Arial" charset="0"/>
                        </a:rPr>
                        <a:t>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Arial" charset="0"/>
                        </a:rPr>
                        <a:t>1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0" name="Group 125">
            <a:extLst>
              <a:ext uri="{FF2B5EF4-FFF2-40B4-BE49-F238E27FC236}">
                <a16:creationId xmlns:a16="http://schemas.microsoft.com/office/drawing/2014/main" id="{620236A3-2B7A-43B9-BE31-052E9C706991}"/>
              </a:ext>
            </a:extLst>
          </p:cNvPr>
          <p:cNvGraphicFramePr>
            <a:graphicFrameLocks/>
          </p:cNvGraphicFramePr>
          <p:nvPr/>
        </p:nvGraphicFramePr>
        <p:xfrm>
          <a:off x="418642" y="3988633"/>
          <a:ext cx="8534400" cy="2505041"/>
        </p:xfrm>
        <a:graphic>
          <a:graphicData uri="http://schemas.openxmlformats.org/drawingml/2006/table">
            <a:tbl>
              <a:tblPr firstRow="1" bandCol="1">
                <a:tableStyleId>{616DA210-FB5B-4158-B5E0-FEB733F419BA}</a:tableStyleId>
              </a:tblPr>
              <a:tblGrid>
                <a:gridCol w="8077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66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10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3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38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5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25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2719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7585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5343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56201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/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+mn-lt"/>
                          <a:cs typeface="Courier New" pitchFamily="49" charset="0"/>
                        </a:rPr>
                        <a:t>EX Stage</a:t>
                      </a:r>
                    </a:p>
                  </a:txBody>
                  <a:tcPr anchor="ctr" horzOverflow="overflow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rgbClr val="660066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 horzOverflow="overflow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rgbClr val="660066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 horzOverflow="overflow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rgbClr val="660066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+mn-lt"/>
                          <a:cs typeface="Courier New" pitchFamily="49" charset="0"/>
                        </a:rPr>
                        <a:t>MEM Stage</a:t>
                      </a:r>
                    </a:p>
                  </a:txBody>
                  <a:tcPr anchor="ctr" horzOverflow="overflow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rgbClr val="660066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rgbClr val="660066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 horzOverflow="overflow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+mn-lt"/>
                          <a:cs typeface="Courier New" pitchFamily="49" charset="0"/>
                        </a:rPr>
                        <a:t>WB Stage</a:t>
                      </a:r>
                    </a:p>
                  </a:txBody>
                  <a:tcPr anchor="ctr" horzOverflow="overflow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rgbClr val="660066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 horzOverflow="overflow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20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RegDst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rgbClr val="660066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 horzOverflow="overflow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ALUSrc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rgbClr val="660066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 horzOverflow="overflow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ALUop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rgbClr val="660066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 horzOverflow="overflow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Mem</a:t>
                      </a:r>
                      <a:endParaRPr kumimoji="0" lang="en-US" sz="1500" b="1" u="none" strike="noStrike" cap="none" normalizeH="0" baseline="0" dirty="0">
                        <a:ln>
                          <a:noFill/>
                        </a:ln>
                        <a:solidFill>
                          <a:srgbClr val="660066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u="none" strike="noStrike" cap="none" normalizeH="0" baseline="0" dirty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Read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rgbClr val="660066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Mem</a:t>
                      </a:r>
                      <a:endParaRPr kumimoji="0" lang="en-US" sz="1500" b="1" u="none" strike="noStrike" cap="none" normalizeH="0" baseline="0" dirty="0">
                        <a:ln>
                          <a:noFill/>
                        </a:ln>
                        <a:solidFill>
                          <a:srgbClr val="660066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u="none" strike="noStrike" cap="none" normalizeH="0" baseline="0" dirty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Write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rgbClr val="660066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u="none" strike="noStrike" cap="none" normalizeH="0" baseline="0" dirty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Branch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rgbClr val="660066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MemToReg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rgbClr val="660066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 horzOverflow="overflow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Reg</a:t>
                      </a:r>
                      <a:endParaRPr kumimoji="0" lang="en-US" sz="1500" b="1" u="none" strike="noStrike" cap="none" normalizeH="0" baseline="0" dirty="0">
                        <a:ln>
                          <a:noFill/>
                        </a:ln>
                        <a:solidFill>
                          <a:srgbClr val="660066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u="none" strike="noStrike" cap="none" normalizeH="0" baseline="0" dirty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Write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rgbClr val="660066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 horzOverflow="overflow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546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u="none" strike="noStrike" cap="none" normalizeH="0" baseline="0" dirty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op1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rgbClr val="660066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 horzOverflow="overflow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u="none" strike="noStrike" cap="none" normalizeH="0" baseline="0" dirty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op0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rgbClr val="660066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 horzOverflow="overflow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1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R-type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solidFill>
                      <a:schemeClr val="bg1">
                        <a:lumMod val="9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Arial" charset="0"/>
                        </a:rPr>
                        <a:t>0</a:t>
                      </a:r>
                    </a:p>
                  </a:txBody>
                  <a:tcPr horzOverflow="overflow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horzOverflow="overflow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Arial" charset="0"/>
                        </a:rPr>
                        <a:t>0</a:t>
                      </a:r>
                    </a:p>
                  </a:txBody>
                  <a:tcPr horzOverflow="overflow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Arial" charset="0"/>
                        </a:rPr>
                        <a:t>0</a:t>
                      </a:r>
                    </a:p>
                  </a:txBody>
                  <a:tcPr horzOverflow="overflow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Arial" charset="0"/>
                        </a:rPr>
                        <a:t>0</a:t>
                      </a:r>
                    </a:p>
                  </a:txBody>
                  <a:tcPr horzOverflow="overflow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Arial" charset="0"/>
                        </a:rPr>
                        <a:t>0</a:t>
                      </a:r>
                    </a:p>
                  </a:txBody>
                  <a:tcPr horzOverflow="overflow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67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lw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solidFill>
                      <a:schemeClr val="bg1">
                        <a:lumMod val="9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horzOverflow="overflow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horzOverflow="overflow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horzOverflow="overflow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Arial" charset="0"/>
                        </a:rPr>
                        <a:t>0</a:t>
                      </a:r>
                    </a:p>
                  </a:txBody>
                  <a:tcPr horzOverflow="overflow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Arial" charset="0"/>
                        </a:rPr>
                        <a:t>0</a:t>
                      </a:r>
                    </a:p>
                  </a:txBody>
                  <a:tcPr horzOverflow="overflow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1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sw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solidFill>
                      <a:schemeClr val="bg1">
                        <a:lumMod val="9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X</a:t>
                      </a:r>
                    </a:p>
                  </a:txBody>
                  <a:tcPr horzOverflow="overflow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horzOverflow="overflow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horzOverflow="overflow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Arial" charset="0"/>
                        </a:rPr>
                        <a:t>0</a:t>
                      </a:r>
                    </a:p>
                  </a:txBody>
                  <a:tcPr horzOverflow="overflow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Arial" charset="0"/>
                        </a:rPr>
                        <a:t>0</a:t>
                      </a:r>
                    </a:p>
                  </a:txBody>
                  <a:tcPr horzOverflow="overflow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Arial" charset="0"/>
                        </a:rPr>
                        <a:t>X</a:t>
                      </a:r>
                    </a:p>
                  </a:txBody>
                  <a:tcPr horzOverflow="overflow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horzOverflow="overflow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1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beq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solidFill>
                      <a:schemeClr val="bg1">
                        <a:lumMod val="9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X</a:t>
                      </a:r>
                    </a:p>
                  </a:txBody>
                  <a:tcPr horzOverflow="overflow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Arial" charset="0"/>
                        </a:rPr>
                        <a:t>0</a:t>
                      </a:r>
                    </a:p>
                  </a:txBody>
                  <a:tcPr horzOverflow="overflow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horzOverflow="overflow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Arial" charset="0"/>
                        </a:rPr>
                        <a:t>0</a:t>
                      </a:r>
                    </a:p>
                  </a:txBody>
                  <a:tcPr horzOverflow="overflow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Arial" charset="0"/>
                        </a:rPr>
                        <a:t>0</a:t>
                      </a:r>
                    </a:p>
                  </a:txBody>
                  <a:tcPr horzOverflow="overflow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Arial" charset="0"/>
                        </a:rPr>
                        <a:t>X</a:t>
                      </a:r>
                    </a:p>
                  </a:txBody>
                  <a:tcPr horzOverflow="overflow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horzOverflow="overflow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4922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420558" cy="644577"/>
          </a:xfrm>
        </p:spPr>
        <p:txBody>
          <a:bodyPr>
            <a:normAutofit fontScale="90000"/>
          </a:bodyPr>
          <a:lstStyle/>
          <a:p>
            <a:pPr marL="1976438" indent="-1976438"/>
            <a:r>
              <a:rPr lang="en-GB" sz="3600" dirty="0">
                <a:solidFill>
                  <a:srgbClr val="0000FF"/>
                </a:solidFill>
              </a:rPr>
              <a:t>4. Pipeline Control: </a:t>
            </a:r>
            <a:r>
              <a:rPr lang="en-GB" sz="3600" b="1" dirty="0">
                <a:solidFill>
                  <a:srgbClr val="0000FF"/>
                </a:solidFill>
              </a:rPr>
              <a:t>Implementation</a:t>
            </a:r>
            <a:endParaRPr lang="en-GB" sz="3600" dirty="0">
              <a:solidFill>
                <a:srgbClr val="0000FF"/>
              </a:solidFill>
            </a:endParaRP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#20: Pipelining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27</a:t>
            </a:fld>
            <a:endParaRPr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pic>
        <p:nvPicPr>
          <p:cNvPr id="23" name="Picture 5">
            <a:extLst>
              <a:ext uri="{FF2B5EF4-FFF2-40B4-BE49-F238E27FC236}">
                <a16:creationId xmlns:a16="http://schemas.microsoft.com/office/drawing/2014/main" id="{B3EF9B47-98B6-4137-8D2B-87DFDF535EE3}"/>
              </a:ext>
            </a:extLst>
          </p:cNvPr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1013" y="1671516"/>
            <a:ext cx="8153400" cy="466182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24" name="Rounded Rectangle 7">
            <a:extLst>
              <a:ext uri="{FF2B5EF4-FFF2-40B4-BE49-F238E27FC236}">
                <a16:creationId xmlns:a16="http://schemas.microsoft.com/office/drawing/2014/main" id="{6903208D-3435-4D2C-9F76-43E27E5F6EE8}"/>
              </a:ext>
            </a:extLst>
          </p:cNvPr>
          <p:cNvSpPr/>
          <p:nvPr/>
        </p:nvSpPr>
        <p:spPr>
          <a:xfrm>
            <a:off x="1495413" y="3989550"/>
            <a:ext cx="1371600" cy="1014820"/>
          </a:xfrm>
          <a:prstGeom prst="roundRect">
            <a:avLst/>
          </a:prstGeom>
          <a:solidFill>
            <a:srgbClr val="FFFFCC"/>
          </a:solidFill>
          <a:ln w="158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prstClr val="black"/>
                </a:solidFill>
                <a:cs typeface="Courier New" pitchFamily="49" charset="0"/>
              </a:rPr>
              <a:t>Signal generated in </a:t>
            </a:r>
            <a:r>
              <a:rPr lang="en-US" sz="1600" b="1" dirty="0">
                <a:solidFill>
                  <a:prstClr val="black"/>
                </a:solidFill>
                <a:cs typeface="Courier New" pitchFamily="49" charset="0"/>
              </a:rPr>
              <a:t>ID stage</a:t>
            </a:r>
            <a:endParaRPr lang="en-SG" sz="1600" b="1" dirty="0">
              <a:solidFill>
                <a:prstClr val="black"/>
              </a:solidFill>
            </a:endParaRPr>
          </a:p>
        </p:txBody>
      </p:sp>
      <p:sp>
        <p:nvSpPr>
          <p:cNvPr id="25" name="Rounded Rectangle 8">
            <a:extLst>
              <a:ext uri="{FF2B5EF4-FFF2-40B4-BE49-F238E27FC236}">
                <a16:creationId xmlns:a16="http://schemas.microsoft.com/office/drawing/2014/main" id="{C2101018-5D21-4275-94F4-FF848068E7CE}"/>
              </a:ext>
            </a:extLst>
          </p:cNvPr>
          <p:cNvSpPr/>
          <p:nvPr/>
        </p:nvSpPr>
        <p:spPr>
          <a:xfrm>
            <a:off x="5153013" y="1264470"/>
            <a:ext cx="1676400" cy="94233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58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prstClr val="black"/>
                </a:solidFill>
                <a:cs typeface="Courier New" pitchFamily="49" charset="0"/>
              </a:rPr>
              <a:t>Signal used in EX stage and onwards</a:t>
            </a:r>
            <a:endParaRPr lang="en-SG" sz="1600" b="1" dirty="0">
              <a:solidFill>
                <a:prstClr val="black"/>
              </a:solidFill>
            </a:endParaRPr>
          </a:p>
        </p:txBody>
      </p:sp>
      <p:sp>
        <p:nvSpPr>
          <p:cNvPr id="26" name="Rounded Rectangle 15">
            <a:extLst>
              <a:ext uri="{FF2B5EF4-FFF2-40B4-BE49-F238E27FC236}">
                <a16:creationId xmlns:a16="http://schemas.microsoft.com/office/drawing/2014/main" id="{91E7F3E5-150D-4043-8E62-0508B988D61C}"/>
              </a:ext>
            </a:extLst>
          </p:cNvPr>
          <p:cNvSpPr/>
          <p:nvPr/>
        </p:nvSpPr>
        <p:spPr>
          <a:xfrm>
            <a:off x="5991967" y="4002430"/>
            <a:ext cx="1447800" cy="118405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58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prstClr val="black"/>
                </a:solidFill>
                <a:cs typeface="Courier New" pitchFamily="49" charset="0"/>
              </a:rPr>
              <a:t>Signal propagated along until utilized</a:t>
            </a:r>
            <a:endParaRPr lang="en-SG" sz="16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5468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420558" cy="644577"/>
          </a:xfrm>
        </p:spPr>
        <p:txBody>
          <a:bodyPr>
            <a:normAutofit fontScale="90000"/>
          </a:bodyPr>
          <a:lstStyle/>
          <a:p>
            <a:pPr marL="1976438" indent="-1976438"/>
            <a:r>
              <a:rPr lang="en-GB" sz="3600" dirty="0">
                <a:solidFill>
                  <a:srgbClr val="0000FF"/>
                </a:solidFill>
              </a:rPr>
              <a:t>4. Pipeline Control: </a:t>
            </a:r>
            <a:r>
              <a:rPr lang="en-GB" sz="3600" b="1" dirty="0">
                <a:solidFill>
                  <a:srgbClr val="0000FF"/>
                </a:solidFill>
              </a:rPr>
              <a:t>Datapath</a:t>
            </a:r>
            <a:r>
              <a:rPr lang="en-GB" sz="3600" dirty="0">
                <a:solidFill>
                  <a:srgbClr val="0000FF"/>
                </a:solidFill>
              </a:rPr>
              <a:t> and </a:t>
            </a:r>
            <a:r>
              <a:rPr lang="en-GB" sz="3600" b="1" dirty="0">
                <a:solidFill>
                  <a:srgbClr val="0000FF"/>
                </a:solidFill>
              </a:rPr>
              <a:t>Control</a:t>
            </a:r>
            <a:endParaRPr lang="en-GB" sz="3600" dirty="0">
              <a:solidFill>
                <a:srgbClr val="0000FF"/>
              </a:solidFill>
            </a:endParaRP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#20: Pipelining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28</a:t>
            </a:fld>
            <a:endParaRPr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pic>
        <p:nvPicPr>
          <p:cNvPr id="27" name="Picture 6">
            <a:extLst>
              <a:ext uri="{FF2B5EF4-FFF2-40B4-BE49-F238E27FC236}">
                <a16:creationId xmlns:a16="http://schemas.microsoft.com/office/drawing/2014/main" id="{CAB65446-0E9E-4E22-BFA7-13495DDA3DC8}"/>
              </a:ext>
            </a:extLst>
          </p:cNvPr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8642" y="1169233"/>
            <a:ext cx="8305800" cy="5257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412868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4C87C-551E-7112-CA00-02840DA7C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CFA07D-B1AD-68A1-97E3-E298AFC407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6985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420558" cy="644577"/>
          </a:xfrm>
        </p:spPr>
        <p:txBody>
          <a:bodyPr>
            <a:normAutofit fontScale="90000"/>
          </a:bodyPr>
          <a:lstStyle/>
          <a:p>
            <a:pPr marL="1976438" indent="-1976438"/>
            <a:r>
              <a:rPr lang="en-GB" sz="3600" dirty="0">
                <a:solidFill>
                  <a:srgbClr val="0000FF"/>
                </a:solidFill>
              </a:rPr>
              <a:t>5. Different Implementations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#20: Pipelining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30</a:t>
            </a:fld>
            <a:endParaRPr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7B24873-7401-4700-9628-1E3C313362E7}"/>
              </a:ext>
            </a:extLst>
          </p:cNvPr>
          <p:cNvGrpSpPr/>
          <p:nvPr/>
        </p:nvGrpSpPr>
        <p:grpSpPr>
          <a:xfrm>
            <a:off x="230187" y="2902503"/>
            <a:ext cx="8702675" cy="1752600"/>
            <a:chOff x="212725" y="2667000"/>
            <a:chExt cx="8702675" cy="1752600"/>
          </a:xfrm>
        </p:grpSpPr>
        <p:sp>
          <p:nvSpPr>
            <p:cNvPr id="10" name="Rounded Rectangle 192">
              <a:extLst>
                <a:ext uri="{FF2B5EF4-FFF2-40B4-BE49-F238E27FC236}">
                  <a16:creationId xmlns:a16="http://schemas.microsoft.com/office/drawing/2014/main" id="{ADA0475D-27C1-4480-AD3A-F6D51394AE18}"/>
                </a:ext>
              </a:extLst>
            </p:cNvPr>
            <p:cNvSpPr/>
            <p:nvPr/>
          </p:nvSpPr>
          <p:spPr>
            <a:xfrm>
              <a:off x="228600" y="2819400"/>
              <a:ext cx="8686800" cy="1600200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6A31716-06DD-413E-8876-14A463B9C955}"/>
                </a:ext>
              </a:extLst>
            </p:cNvPr>
            <p:cNvSpPr/>
            <p:nvPr/>
          </p:nvSpPr>
          <p:spPr>
            <a:xfrm>
              <a:off x="685800" y="2667000"/>
              <a:ext cx="1905000" cy="3048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1"/>
                  </a:solidFill>
                </a:rPr>
                <a:t>Multi-Cycle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grpSp>
          <p:nvGrpSpPr>
            <p:cNvPr id="13" name="Group 133">
              <a:extLst>
                <a:ext uri="{FF2B5EF4-FFF2-40B4-BE49-F238E27FC236}">
                  <a16:creationId xmlns:a16="http://schemas.microsoft.com/office/drawing/2014/main" id="{609B2FA5-2B3C-423B-B062-A78F3C9640D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2725" y="3048000"/>
              <a:ext cx="8550275" cy="1247775"/>
              <a:chOff x="134" y="2160"/>
              <a:chExt cx="5386" cy="786"/>
            </a:xfrm>
          </p:grpSpPr>
          <p:sp>
            <p:nvSpPr>
              <p:cNvPr id="14" name="Rectangle 37">
                <a:extLst>
                  <a:ext uri="{FF2B5EF4-FFF2-40B4-BE49-F238E27FC236}">
                    <a16:creationId xmlns:a16="http://schemas.microsoft.com/office/drawing/2014/main" id="{EE490E04-5305-4C58-BE37-6B3E8D09BB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" y="2400"/>
                <a:ext cx="313" cy="21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sz="1600" b="1">
                    <a:latin typeface="Times New Roman" pitchFamily="18" charset="0"/>
                  </a:rPr>
                  <a:t>Clk</a:t>
                </a:r>
              </a:p>
            </p:txBody>
          </p:sp>
          <p:sp>
            <p:nvSpPr>
              <p:cNvPr id="15" name="Line 38">
                <a:extLst>
                  <a:ext uri="{FF2B5EF4-FFF2-40B4-BE49-F238E27FC236}">
                    <a16:creationId xmlns:a16="http://schemas.microsoft.com/office/drawing/2014/main" id="{A34EB4E3-BF66-4BE2-8B55-1C41191F24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0" y="2545"/>
                <a:ext cx="24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Line 39">
                <a:extLst>
                  <a:ext uri="{FF2B5EF4-FFF2-40B4-BE49-F238E27FC236}">
                    <a16:creationId xmlns:a16="http://schemas.microsoft.com/office/drawing/2014/main" id="{03D9A790-6536-4C24-87FD-4C1123F49C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0" y="2401"/>
                <a:ext cx="0" cy="1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Line 40">
                <a:extLst>
                  <a:ext uri="{FF2B5EF4-FFF2-40B4-BE49-F238E27FC236}">
                    <a16:creationId xmlns:a16="http://schemas.microsoft.com/office/drawing/2014/main" id="{940FBD58-5485-47AD-8B3B-C288013604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20" y="2401"/>
                <a:ext cx="0" cy="1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Line 41">
                <a:extLst>
                  <a:ext uri="{FF2B5EF4-FFF2-40B4-BE49-F238E27FC236}">
                    <a16:creationId xmlns:a16="http://schemas.microsoft.com/office/drawing/2014/main" id="{79D074CB-0BA2-4EEF-8690-4B75EC93D2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0" y="2401"/>
                <a:ext cx="24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Line 42">
                <a:extLst>
                  <a:ext uri="{FF2B5EF4-FFF2-40B4-BE49-F238E27FC236}">
                    <a16:creationId xmlns:a16="http://schemas.microsoft.com/office/drawing/2014/main" id="{F39F2B2B-F800-4764-99C1-F19F1DD097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0" y="2401"/>
                <a:ext cx="0" cy="1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Line 43">
                <a:extLst>
                  <a:ext uri="{FF2B5EF4-FFF2-40B4-BE49-F238E27FC236}">
                    <a16:creationId xmlns:a16="http://schemas.microsoft.com/office/drawing/2014/main" id="{7C00C4EC-900F-4288-BE5A-9D30E83B18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0" y="2401"/>
                <a:ext cx="24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Rectangle 44">
                <a:extLst>
                  <a:ext uri="{FF2B5EF4-FFF2-40B4-BE49-F238E27FC236}">
                    <a16:creationId xmlns:a16="http://schemas.microsoft.com/office/drawing/2014/main" id="{E813D792-1B79-4F1E-9AFB-DE8C1FF797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0" y="2160"/>
                <a:ext cx="516" cy="21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sz="1600" b="1">
                    <a:latin typeface="Times New Roman" pitchFamily="18" charset="0"/>
                  </a:rPr>
                  <a:t>Cycle 1</a:t>
                </a:r>
              </a:p>
            </p:txBody>
          </p:sp>
          <p:sp>
            <p:nvSpPr>
              <p:cNvPr id="25" name="Line 45">
                <a:extLst>
                  <a:ext uri="{FF2B5EF4-FFF2-40B4-BE49-F238E27FC236}">
                    <a16:creationId xmlns:a16="http://schemas.microsoft.com/office/drawing/2014/main" id="{B2E46C37-6F52-401C-92FC-7375966DB9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0" y="2545"/>
                <a:ext cx="24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Line 46">
                <a:extLst>
                  <a:ext uri="{FF2B5EF4-FFF2-40B4-BE49-F238E27FC236}">
                    <a16:creationId xmlns:a16="http://schemas.microsoft.com/office/drawing/2014/main" id="{661C8F96-E42A-441E-8F43-98CED18634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00" y="2401"/>
                <a:ext cx="0" cy="1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Line 47">
                <a:extLst>
                  <a:ext uri="{FF2B5EF4-FFF2-40B4-BE49-F238E27FC236}">
                    <a16:creationId xmlns:a16="http://schemas.microsoft.com/office/drawing/2014/main" id="{BFCF9BC5-F64B-4EB9-9EDB-E378532B9A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2401"/>
                <a:ext cx="24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Line 48">
                <a:extLst>
                  <a:ext uri="{FF2B5EF4-FFF2-40B4-BE49-F238E27FC236}">
                    <a16:creationId xmlns:a16="http://schemas.microsoft.com/office/drawing/2014/main" id="{35573918-F72F-4647-A25C-0478346267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40" y="2401"/>
                <a:ext cx="0" cy="1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Line 49">
                <a:extLst>
                  <a:ext uri="{FF2B5EF4-FFF2-40B4-BE49-F238E27FC236}">
                    <a16:creationId xmlns:a16="http://schemas.microsoft.com/office/drawing/2014/main" id="{0F5AA035-FE2D-494E-B95A-979CA45756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60" y="2161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Rectangle 50">
                <a:extLst>
                  <a:ext uri="{FF2B5EF4-FFF2-40B4-BE49-F238E27FC236}">
                    <a16:creationId xmlns:a16="http://schemas.microsoft.com/office/drawing/2014/main" id="{B9EAC51B-9325-48CB-8DE7-EA9A0125CF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0" y="2160"/>
                <a:ext cx="516" cy="21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sz="1600" b="1">
                    <a:latin typeface="Times New Roman" pitchFamily="18" charset="0"/>
                  </a:rPr>
                  <a:t>Cycle 2</a:t>
                </a:r>
              </a:p>
            </p:txBody>
          </p:sp>
          <p:sp>
            <p:nvSpPr>
              <p:cNvPr id="31" name="Line 51">
                <a:extLst>
                  <a:ext uri="{FF2B5EF4-FFF2-40B4-BE49-F238E27FC236}">
                    <a16:creationId xmlns:a16="http://schemas.microsoft.com/office/drawing/2014/main" id="{AEFC58CB-53E0-442A-859D-71B91FADFA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40" y="2545"/>
                <a:ext cx="24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Line 52">
                <a:extLst>
                  <a:ext uri="{FF2B5EF4-FFF2-40B4-BE49-F238E27FC236}">
                    <a16:creationId xmlns:a16="http://schemas.microsoft.com/office/drawing/2014/main" id="{30C3F91B-A93A-4A29-A5C0-080EEE3D4E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80" y="2401"/>
                <a:ext cx="0" cy="1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Line 53">
                <a:extLst>
                  <a:ext uri="{FF2B5EF4-FFF2-40B4-BE49-F238E27FC236}">
                    <a16:creationId xmlns:a16="http://schemas.microsoft.com/office/drawing/2014/main" id="{809D9575-98BA-4CEB-9E6E-FCD9B745DC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0" y="2401"/>
                <a:ext cx="24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Line 54">
                <a:extLst>
                  <a:ext uri="{FF2B5EF4-FFF2-40B4-BE49-F238E27FC236}">
                    <a16:creationId xmlns:a16="http://schemas.microsoft.com/office/drawing/2014/main" id="{CD76FFD1-3ED7-4D9F-B522-824126511B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0" y="2401"/>
                <a:ext cx="0" cy="1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Line 55">
                <a:extLst>
                  <a:ext uri="{FF2B5EF4-FFF2-40B4-BE49-F238E27FC236}">
                    <a16:creationId xmlns:a16="http://schemas.microsoft.com/office/drawing/2014/main" id="{925F654C-BAE9-4893-9418-B395A5E184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40" y="2161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Rectangle 56">
                <a:extLst>
                  <a:ext uri="{FF2B5EF4-FFF2-40B4-BE49-F238E27FC236}">
                    <a16:creationId xmlns:a16="http://schemas.microsoft.com/office/drawing/2014/main" id="{78FE24DB-DFBD-4D15-A854-41D4AADE18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30" y="2160"/>
                <a:ext cx="516" cy="21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sz="1600" b="1">
                    <a:latin typeface="Times New Roman" pitchFamily="18" charset="0"/>
                  </a:rPr>
                  <a:t>Cycle 3</a:t>
                </a:r>
              </a:p>
            </p:txBody>
          </p:sp>
          <p:sp>
            <p:nvSpPr>
              <p:cNvPr id="37" name="Line 57">
                <a:extLst>
                  <a:ext uri="{FF2B5EF4-FFF2-40B4-BE49-F238E27FC236}">
                    <a16:creationId xmlns:a16="http://schemas.microsoft.com/office/drawing/2014/main" id="{843FE9E7-E838-4B00-A4D3-B7F2651618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0" y="2545"/>
                <a:ext cx="24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Line 58">
                <a:extLst>
                  <a:ext uri="{FF2B5EF4-FFF2-40B4-BE49-F238E27FC236}">
                    <a16:creationId xmlns:a16="http://schemas.microsoft.com/office/drawing/2014/main" id="{59A5CFD4-83DD-4B7E-84F2-7D898F6042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60" y="2401"/>
                <a:ext cx="0" cy="1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Line 59">
                <a:extLst>
                  <a:ext uri="{FF2B5EF4-FFF2-40B4-BE49-F238E27FC236}">
                    <a16:creationId xmlns:a16="http://schemas.microsoft.com/office/drawing/2014/main" id="{6481C427-F396-47C6-9BB3-451282FD7F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60" y="2401"/>
                <a:ext cx="24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Line 60">
                <a:extLst>
                  <a:ext uri="{FF2B5EF4-FFF2-40B4-BE49-F238E27FC236}">
                    <a16:creationId xmlns:a16="http://schemas.microsoft.com/office/drawing/2014/main" id="{988BE53B-BB78-40A8-B6ED-D21E3C9ABA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00" y="2401"/>
                <a:ext cx="0" cy="1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Line 61">
                <a:extLst>
                  <a:ext uri="{FF2B5EF4-FFF2-40B4-BE49-F238E27FC236}">
                    <a16:creationId xmlns:a16="http://schemas.microsoft.com/office/drawing/2014/main" id="{2213F198-89FA-4C50-9247-F3D03E742A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20" y="2161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Rectangle 62">
                <a:extLst>
                  <a:ext uri="{FF2B5EF4-FFF2-40B4-BE49-F238E27FC236}">
                    <a16:creationId xmlns:a16="http://schemas.microsoft.com/office/drawing/2014/main" id="{486C2263-A2AC-4292-AF7F-8055E1452B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10" y="2160"/>
                <a:ext cx="516" cy="21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sz="1600" b="1">
                    <a:latin typeface="Times New Roman" pitchFamily="18" charset="0"/>
                  </a:rPr>
                  <a:t>Cycle 4</a:t>
                </a:r>
              </a:p>
            </p:txBody>
          </p:sp>
          <p:sp>
            <p:nvSpPr>
              <p:cNvPr id="43" name="Line 63">
                <a:extLst>
                  <a:ext uri="{FF2B5EF4-FFF2-40B4-BE49-F238E27FC236}">
                    <a16:creationId xmlns:a16="http://schemas.microsoft.com/office/drawing/2014/main" id="{D48A2D01-6BBD-4397-AAEC-852EBFAD65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00" y="2545"/>
                <a:ext cx="24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Line 64">
                <a:extLst>
                  <a:ext uri="{FF2B5EF4-FFF2-40B4-BE49-F238E27FC236}">
                    <a16:creationId xmlns:a16="http://schemas.microsoft.com/office/drawing/2014/main" id="{E21D9B5A-3F24-44D0-A1C8-C30CC18545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640" y="2401"/>
                <a:ext cx="0" cy="1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Line 65">
                <a:extLst>
                  <a:ext uri="{FF2B5EF4-FFF2-40B4-BE49-F238E27FC236}">
                    <a16:creationId xmlns:a16="http://schemas.microsoft.com/office/drawing/2014/main" id="{1CF09429-E824-4829-916F-FA98D91796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40" y="2401"/>
                <a:ext cx="24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Line 66">
                <a:extLst>
                  <a:ext uri="{FF2B5EF4-FFF2-40B4-BE49-F238E27FC236}">
                    <a16:creationId xmlns:a16="http://schemas.microsoft.com/office/drawing/2014/main" id="{A2C79031-329C-4E06-A893-206C5620CB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0" y="2401"/>
                <a:ext cx="0" cy="1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Line 67">
                <a:extLst>
                  <a:ext uri="{FF2B5EF4-FFF2-40B4-BE49-F238E27FC236}">
                    <a16:creationId xmlns:a16="http://schemas.microsoft.com/office/drawing/2014/main" id="{39A5E06F-8042-43DB-8DEC-753F13342A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00" y="2161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" name="Rectangle 68">
                <a:extLst>
                  <a:ext uri="{FF2B5EF4-FFF2-40B4-BE49-F238E27FC236}">
                    <a16:creationId xmlns:a16="http://schemas.microsoft.com/office/drawing/2014/main" id="{2A420085-B763-471C-B5EC-D225B4BE7F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0" y="2160"/>
                <a:ext cx="516" cy="21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sz="1600" b="1">
                    <a:latin typeface="Times New Roman" pitchFamily="18" charset="0"/>
                  </a:rPr>
                  <a:t>Cycle 5</a:t>
                </a:r>
              </a:p>
            </p:txBody>
          </p:sp>
          <p:sp>
            <p:nvSpPr>
              <p:cNvPr id="49" name="Line 69">
                <a:extLst>
                  <a:ext uri="{FF2B5EF4-FFF2-40B4-BE49-F238E27FC236}">
                    <a16:creationId xmlns:a16="http://schemas.microsoft.com/office/drawing/2014/main" id="{D552CE24-7123-4D89-A0CB-D2FCFFCC32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0" y="2545"/>
                <a:ext cx="24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" name="Line 70">
                <a:extLst>
                  <a:ext uri="{FF2B5EF4-FFF2-40B4-BE49-F238E27FC236}">
                    <a16:creationId xmlns:a16="http://schemas.microsoft.com/office/drawing/2014/main" id="{DEB8637A-0974-497F-974F-F7EA7B5EB1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20" y="2401"/>
                <a:ext cx="0" cy="1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" name="Line 71">
                <a:extLst>
                  <a:ext uri="{FF2B5EF4-FFF2-40B4-BE49-F238E27FC236}">
                    <a16:creationId xmlns:a16="http://schemas.microsoft.com/office/drawing/2014/main" id="{93F95FD9-2B60-4597-8B98-9BB869358B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401"/>
                <a:ext cx="24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" name="Line 72">
                <a:extLst>
                  <a:ext uri="{FF2B5EF4-FFF2-40B4-BE49-F238E27FC236}">
                    <a16:creationId xmlns:a16="http://schemas.microsoft.com/office/drawing/2014/main" id="{00BD1A8B-00B9-4A46-ADA6-D70BF871BF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60" y="2401"/>
                <a:ext cx="0" cy="1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" name="Rectangle 73">
                <a:extLst>
                  <a:ext uri="{FF2B5EF4-FFF2-40B4-BE49-F238E27FC236}">
                    <a16:creationId xmlns:a16="http://schemas.microsoft.com/office/drawing/2014/main" id="{9796D9D1-462E-4E62-BC4E-EA9191E7AD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70" y="2160"/>
                <a:ext cx="516" cy="21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sz="1600" b="1">
                    <a:latin typeface="Times New Roman" pitchFamily="18" charset="0"/>
                  </a:rPr>
                  <a:t>Cycle 6</a:t>
                </a:r>
              </a:p>
            </p:txBody>
          </p:sp>
          <p:sp>
            <p:nvSpPr>
              <p:cNvPr id="54" name="Line 74">
                <a:extLst>
                  <a:ext uri="{FF2B5EF4-FFF2-40B4-BE49-F238E27FC236}">
                    <a16:creationId xmlns:a16="http://schemas.microsoft.com/office/drawing/2014/main" id="{F23718BC-04E3-4324-9B6A-569B11444F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60" y="2545"/>
                <a:ext cx="24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" name="Line 75">
                <a:extLst>
                  <a:ext uri="{FF2B5EF4-FFF2-40B4-BE49-F238E27FC236}">
                    <a16:creationId xmlns:a16="http://schemas.microsoft.com/office/drawing/2014/main" id="{3A3BD08C-3F10-4A15-9CA9-75830F8891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00" y="2401"/>
                <a:ext cx="0" cy="1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" name="Line 76">
                <a:extLst>
                  <a:ext uri="{FF2B5EF4-FFF2-40B4-BE49-F238E27FC236}">
                    <a16:creationId xmlns:a16="http://schemas.microsoft.com/office/drawing/2014/main" id="{64A5464A-62A2-49D8-85EB-159DC4938F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0" y="2401"/>
                <a:ext cx="24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" name="Line 77">
                <a:extLst>
                  <a:ext uri="{FF2B5EF4-FFF2-40B4-BE49-F238E27FC236}">
                    <a16:creationId xmlns:a16="http://schemas.microsoft.com/office/drawing/2014/main" id="{3E8278CF-0A0D-455B-A82B-D9C0E4CE3F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401"/>
                <a:ext cx="0" cy="1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" name="Line 78">
                <a:extLst>
                  <a:ext uri="{FF2B5EF4-FFF2-40B4-BE49-F238E27FC236}">
                    <a16:creationId xmlns:a16="http://schemas.microsoft.com/office/drawing/2014/main" id="{E2555392-AB06-42D4-AC78-C9F3784EAA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60" y="2161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" name="Rectangle 79">
                <a:extLst>
                  <a:ext uri="{FF2B5EF4-FFF2-40B4-BE49-F238E27FC236}">
                    <a16:creationId xmlns:a16="http://schemas.microsoft.com/office/drawing/2014/main" id="{B58E2DE8-5122-4A2A-9DD9-53446CD257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50" y="2160"/>
                <a:ext cx="516" cy="21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sz="1600" b="1">
                    <a:latin typeface="Times New Roman" pitchFamily="18" charset="0"/>
                  </a:rPr>
                  <a:t>Cycle 7</a:t>
                </a:r>
              </a:p>
            </p:txBody>
          </p:sp>
          <p:sp>
            <p:nvSpPr>
              <p:cNvPr id="60" name="Line 80">
                <a:extLst>
                  <a:ext uri="{FF2B5EF4-FFF2-40B4-BE49-F238E27FC236}">
                    <a16:creationId xmlns:a16="http://schemas.microsoft.com/office/drawing/2014/main" id="{60C9EB2F-89ED-46E9-9302-135251172A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545"/>
                <a:ext cx="24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" name="Line 81">
                <a:extLst>
                  <a:ext uri="{FF2B5EF4-FFF2-40B4-BE49-F238E27FC236}">
                    <a16:creationId xmlns:a16="http://schemas.microsoft.com/office/drawing/2014/main" id="{51235558-02B6-4DB8-9A22-E9EBD974D6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080" y="2401"/>
                <a:ext cx="0" cy="1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" name="Line 82">
                <a:extLst>
                  <a:ext uri="{FF2B5EF4-FFF2-40B4-BE49-F238E27FC236}">
                    <a16:creationId xmlns:a16="http://schemas.microsoft.com/office/drawing/2014/main" id="{A690B4F5-714D-4569-AF72-ED07032B7E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0" y="2401"/>
                <a:ext cx="24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" name="Line 83">
                <a:extLst>
                  <a:ext uri="{FF2B5EF4-FFF2-40B4-BE49-F238E27FC236}">
                    <a16:creationId xmlns:a16="http://schemas.microsoft.com/office/drawing/2014/main" id="{8BED3FC2-5C62-4B19-8B8E-00A5C829A3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0" y="2401"/>
                <a:ext cx="0" cy="1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" name="Line 84">
                <a:extLst>
                  <a:ext uri="{FF2B5EF4-FFF2-40B4-BE49-F238E27FC236}">
                    <a16:creationId xmlns:a16="http://schemas.microsoft.com/office/drawing/2014/main" id="{02351E7B-8174-4496-B756-EA77BFDC6A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40" y="2161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" name="Rectangle 85">
                <a:extLst>
                  <a:ext uri="{FF2B5EF4-FFF2-40B4-BE49-F238E27FC236}">
                    <a16:creationId xmlns:a16="http://schemas.microsoft.com/office/drawing/2014/main" id="{704921C6-F4E2-46CD-BF48-8B980477FB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30" y="2160"/>
                <a:ext cx="516" cy="21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sz="1600" b="1">
                    <a:latin typeface="Times New Roman" pitchFamily="18" charset="0"/>
                  </a:rPr>
                  <a:t>Cycle 8</a:t>
                </a:r>
              </a:p>
            </p:txBody>
          </p:sp>
          <p:sp>
            <p:nvSpPr>
              <p:cNvPr id="66" name="Line 86">
                <a:extLst>
                  <a:ext uri="{FF2B5EF4-FFF2-40B4-BE49-F238E27FC236}">
                    <a16:creationId xmlns:a16="http://schemas.microsoft.com/office/drawing/2014/main" id="{3F2520C5-213E-4AB1-B7C2-758B7592BE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0" y="2545"/>
                <a:ext cx="24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" name="Line 87">
                <a:extLst>
                  <a:ext uri="{FF2B5EF4-FFF2-40B4-BE49-F238E27FC236}">
                    <a16:creationId xmlns:a16="http://schemas.microsoft.com/office/drawing/2014/main" id="{4C1AFA2F-900C-4DC5-A33A-071D2E7CC0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560" y="2401"/>
                <a:ext cx="0" cy="1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" name="Line 88">
                <a:extLst>
                  <a:ext uri="{FF2B5EF4-FFF2-40B4-BE49-F238E27FC236}">
                    <a16:creationId xmlns:a16="http://schemas.microsoft.com/office/drawing/2014/main" id="{E452ED8A-9692-407C-B106-B695D0CDC4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60" y="2401"/>
                <a:ext cx="24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" name="Line 89">
                <a:extLst>
                  <a:ext uri="{FF2B5EF4-FFF2-40B4-BE49-F238E27FC236}">
                    <a16:creationId xmlns:a16="http://schemas.microsoft.com/office/drawing/2014/main" id="{FA8B6CFF-1A42-4C89-824E-E69EBEC018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00" y="2401"/>
                <a:ext cx="0" cy="1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" name="Line 90">
                <a:extLst>
                  <a:ext uri="{FF2B5EF4-FFF2-40B4-BE49-F238E27FC236}">
                    <a16:creationId xmlns:a16="http://schemas.microsoft.com/office/drawing/2014/main" id="{B5B11AC5-9BC6-4EC1-8593-8A62451BA2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20" y="2161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" name="Rectangle 91">
                <a:extLst>
                  <a:ext uri="{FF2B5EF4-FFF2-40B4-BE49-F238E27FC236}">
                    <a16:creationId xmlns:a16="http://schemas.microsoft.com/office/drawing/2014/main" id="{4058DEFA-9958-465C-8EA3-0144836AD4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0" y="2160"/>
                <a:ext cx="516" cy="21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sz="1600" b="1">
                    <a:latin typeface="Times New Roman" pitchFamily="18" charset="0"/>
                  </a:rPr>
                  <a:t>Cycle 9</a:t>
                </a:r>
              </a:p>
            </p:txBody>
          </p:sp>
          <p:sp>
            <p:nvSpPr>
              <p:cNvPr id="72" name="Line 92">
                <a:extLst>
                  <a:ext uri="{FF2B5EF4-FFF2-40B4-BE49-F238E27FC236}">
                    <a16:creationId xmlns:a16="http://schemas.microsoft.com/office/drawing/2014/main" id="{44175E19-A095-4615-8162-B0D59564B5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00" y="2545"/>
                <a:ext cx="24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" name="Line 93">
                <a:extLst>
                  <a:ext uri="{FF2B5EF4-FFF2-40B4-BE49-F238E27FC236}">
                    <a16:creationId xmlns:a16="http://schemas.microsoft.com/office/drawing/2014/main" id="{8181C5F0-FC3B-4BA9-B3EB-3EA742BB42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40" y="2401"/>
                <a:ext cx="0" cy="1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" name="Line 94">
                <a:extLst>
                  <a:ext uri="{FF2B5EF4-FFF2-40B4-BE49-F238E27FC236}">
                    <a16:creationId xmlns:a16="http://schemas.microsoft.com/office/drawing/2014/main" id="{95D70117-A658-4E78-8355-A26C34AAB7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40" y="2401"/>
                <a:ext cx="24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" name="Line 95">
                <a:extLst>
                  <a:ext uri="{FF2B5EF4-FFF2-40B4-BE49-F238E27FC236}">
                    <a16:creationId xmlns:a16="http://schemas.microsoft.com/office/drawing/2014/main" id="{15D32774-A082-4287-8C3D-07C032C38B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80" y="2401"/>
                <a:ext cx="0" cy="1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" name="Line 96">
                <a:extLst>
                  <a:ext uri="{FF2B5EF4-FFF2-40B4-BE49-F238E27FC236}">
                    <a16:creationId xmlns:a16="http://schemas.microsoft.com/office/drawing/2014/main" id="{E0973AB2-B8F1-4375-AB84-03372FCF59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00" y="2161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" name="Rectangle 97">
                <a:extLst>
                  <a:ext uri="{FF2B5EF4-FFF2-40B4-BE49-F238E27FC236}">
                    <a16:creationId xmlns:a16="http://schemas.microsoft.com/office/drawing/2014/main" id="{BB5B286F-3FC2-4F14-BD8A-A8008A1997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42" y="2160"/>
                <a:ext cx="580" cy="21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sz="1600" b="1">
                    <a:latin typeface="Times New Roman" pitchFamily="18" charset="0"/>
                  </a:rPr>
                  <a:t>Cycle 10</a:t>
                </a:r>
              </a:p>
            </p:txBody>
          </p:sp>
          <p:sp>
            <p:nvSpPr>
              <p:cNvPr id="78" name="Line 98">
                <a:extLst>
                  <a:ext uri="{FF2B5EF4-FFF2-40B4-BE49-F238E27FC236}">
                    <a16:creationId xmlns:a16="http://schemas.microsoft.com/office/drawing/2014/main" id="{62FD7E12-33A5-4B61-AE49-4563D57498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80" y="2545"/>
                <a:ext cx="24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79" name="Group 99">
                <a:extLst>
                  <a:ext uri="{FF2B5EF4-FFF2-40B4-BE49-F238E27FC236}">
                    <a16:creationId xmlns:a16="http://schemas.microsoft.com/office/drawing/2014/main" id="{85A54A74-F869-4B03-AF9E-CCE4E6E611A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80" y="2736"/>
                <a:ext cx="2384" cy="210"/>
                <a:chOff x="488" y="2543"/>
                <a:chExt cx="2384" cy="210"/>
              </a:xfrm>
            </p:grpSpPr>
            <p:grpSp>
              <p:nvGrpSpPr>
                <p:cNvPr id="98" name="Group 100">
                  <a:extLst>
                    <a:ext uri="{FF2B5EF4-FFF2-40B4-BE49-F238E27FC236}">
                      <a16:creationId xmlns:a16="http://schemas.microsoft.com/office/drawing/2014/main" id="{A094C6C3-5DA9-49FD-9D18-0584DBE2CED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88" y="2543"/>
                  <a:ext cx="464" cy="210"/>
                  <a:chOff x="488" y="2543"/>
                  <a:chExt cx="464" cy="210"/>
                </a:xfrm>
              </p:grpSpPr>
              <p:sp>
                <p:nvSpPr>
                  <p:cNvPr id="111" name="Rectangle 101">
                    <a:extLst>
                      <a:ext uri="{FF2B5EF4-FFF2-40B4-BE49-F238E27FC236}">
                        <a16:creationId xmlns:a16="http://schemas.microsoft.com/office/drawing/2014/main" id="{C73E7088-9389-45D6-9E12-E7D19CE3A81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88" y="2552"/>
                    <a:ext cx="464" cy="176"/>
                  </a:xfrm>
                  <a:prstGeom prst="rect">
                    <a:avLst/>
                  </a:prstGeom>
                  <a:solidFill>
                    <a:srgbClr val="CC99FF">
                      <a:alpha val="60000"/>
                    </a:srgbClr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" name="Rectangle 102">
                    <a:extLst>
                      <a:ext uri="{FF2B5EF4-FFF2-40B4-BE49-F238E27FC236}">
                        <a16:creationId xmlns:a16="http://schemas.microsoft.com/office/drawing/2014/main" id="{E5430373-1A03-43FE-B779-3023275B9F0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18" y="2543"/>
                    <a:ext cx="242" cy="210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 lIns="90488" tIns="44450" rIns="90488" bIns="44450">
                    <a:spAutoFit/>
                  </a:bodyPr>
                  <a:lstStyle/>
                  <a:p>
                    <a:pPr eaLnBrk="0" hangingPunct="0"/>
                    <a:r>
                      <a:rPr lang="en-US" sz="1600" b="1">
                        <a:latin typeface="Times New Roman" pitchFamily="18" charset="0"/>
                      </a:rPr>
                      <a:t>IF</a:t>
                    </a:r>
                  </a:p>
                </p:txBody>
              </p:sp>
            </p:grpSp>
            <p:grpSp>
              <p:nvGrpSpPr>
                <p:cNvPr id="99" name="Group 103">
                  <a:extLst>
                    <a:ext uri="{FF2B5EF4-FFF2-40B4-BE49-F238E27FC236}">
                      <a16:creationId xmlns:a16="http://schemas.microsoft.com/office/drawing/2014/main" id="{A2CA7CEB-D89D-4C07-8B8D-A25CAC52505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68" y="2543"/>
                  <a:ext cx="464" cy="210"/>
                  <a:chOff x="968" y="2543"/>
                  <a:chExt cx="464" cy="210"/>
                </a:xfrm>
              </p:grpSpPr>
              <p:sp>
                <p:nvSpPr>
                  <p:cNvPr id="109" name="Rectangle 104">
                    <a:extLst>
                      <a:ext uri="{FF2B5EF4-FFF2-40B4-BE49-F238E27FC236}">
                        <a16:creationId xmlns:a16="http://schemas.microsoft.com/office/drawing/2014/main" id="{AC1B073B-5986-426B-9646-24B48FD3AAE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68" y="2552"/>
                    <a:ext cx="464" cy="176"/>
                  </a:xfrm>
                  <a:prstGeom prst="rect">
                    <a:avLst/>
                  </a:prstGeom>
                  <a:solidFill>
                    <a:srgbClr val="CC99FF">
                      <a:alpha val="60000"/>
                    </a:srgbClr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" name="Rectangle 105">
                    <a:extLst>
                      <a:ext uri="{FF2B5EF4-FFF2-40B4-BE49-F238E27FC236}">
                        <a16:creationId xmlns:a16="http://schemas.microsoft.com/office/drawing/2014/main" id="{172ADF67-3F0A-4C96-B23A-9CB81F524CB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46" y="2543"/>
                    <a:ext cx="256" cy="210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 lIns="90488" tIns="44450" rIns="90488" bIns="44450">
                    <a:spAutoFit/>
                  </a:bodyPr>
                  <a:lstStyle/>
                  <a:p>
                    <a:pPr eaLnBrk="0" hangingPunct="0"/>
                    <a:r>
                      <a:rPr lang="en-US" sz="1600" b="1">
                        <a:latin typeface="Times New Roman" pitchFamily="18" charset="0"/>
                      </a:rPr>
                      <a:t>ID</a:t>
                    </a:r>
                  </a:p>
                </p:txBody>
              </p:sp>
            </p:grpSp>
            <p:grpSp>
              <p:nvGrpSpPr>
                <p:cNvPr id="100" name="Group 106">
                  <a:extLst>
                    <a:ext uri="{FF2B5EF4-FFF2-40B4-BE49-F238E27FC236}">
                      <a16:creationId xmlns:a16="http://schemas.microsoft.com/office/drawing/2014/main" id="{B2499E59-C012-4518-9882-A0A04346B54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448" y="2543"/>
                  <a:ext cx="464" cy="210"/>
                  <a:chOff x="1448" y="2543"/>
                  <a:chExt cx="464" cy="210"/>
                </a:xfrm>
              </p:grpSpPr>
              <p:sp>
                <p:nvSpPr>
                  <p:cNvPr id="107" name="Rectangle 107">
                    <a:extLst>
                      <a:ext uri="{FF2B5EF4-FFF2-40B4-BE49-F238E27FC236}">
                        <a16:creationId xmlns:a16="http://schemas.microsoft.com/office/drawing/2014/main" id="{6AC45666-F72D-47EE-8B3C-E8DC2EE3742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448" y="2552"/>
                    <a:ext cx="464" cy="176"/>
                  </a:xfrm>
                  <a:prstGeom prst="rect">
                    <a:avLst/>
                  </a:prstGeom>
                  <a:solidFill>
                    <a:srgbClr val="CC99FF">
                      <a:alpha val="60000"/>
                    </a:srgbClr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8" name="Rectangle 108">
                    <a:extLst>
                      <a:ext uri="{FF2B5EF4-FFF2-40B4-BE49-F238E27FC236}">
                        <a16:creationId xmlns:a16="http://schemas.microsoft.com/office/drawing/2014/main" id="{25356718-65A0-426E-BBD2-AFC86065FDD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478" y="2543"/>
                    <a:ext cx="291" cy="210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 lIns="90488" tIns="44450" rIns="90488" bIns="44450">
                    <a:spAutoFit/>
                  </a:bodyPr>
                  <a:lstStyle/>
                  <a:p>
                    <a:pPr eaLnBrk="0" hangingPunct="0"/>
                    <a:r>
                      <a:rPr lang="en-US" sz="1600" b="1">
                        <a:latin typeface="Times New Roman" pitchFamily="18" charset="0"/>
                      </a:rPr>
                      <a:t>EX</a:t>
                    </a:r>
                  </a:p>
                </p:txBody>
              </p:sp>
            </p:grpSp>
            <p:grpSp>
              <p:nvGrpSpPr>
                <p:cNvPr id="101" name="Group 109">
                  <a:extLst>
                    <a:ext uri="{FF2B5EF4-FFF2-40B4-BE49-F238E27FC236}">
                      <a16:creationId xmlns:a16="http://schemas.microsoft.com/office/drawing/2014/main" id="{4196D15A-457D-409F-9236-D290E91FD8A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928" y="2543"/>
                  <a:ext cx="471" cy="210"/>
                  <a:chOff x="1928" y="2543"/>
                  <a:chExt cx="471" cy="210"/>
                </a:xfrm>
              </p:grpSpPr>
              <p:sp>
                <p:nvSpPr>
                  <p:cNvPr id="105" name="Rectangle 110">
                    <a:extLst>
                      <a:ext uri="{FF2B5EF4-FFF2-40B4-BE49-F238E27FC236}">
                        <a16:creationId xmlns:a16="http://schemas.microsoft.com/office/drawing/2014/main" id="{E280D350-9BA3-4B07-AF04-C37D3B946CE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928" y="2552"/>
                    <a:ext cx="464" cy="176"/>
                  </a:xfrm>
                  <a:prstGeom prst="rect">
                    <a:avLst/>
                  </a:prstGeom>
                  <a:solidFill>
                    <a:srgbClr val="CC99FF">
                      <a:alpha val="60000"/>
                    </a:srgbClr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6" name="Rectangle 111">
                    <a:extLst>
                      <a:ext uri="{FF2B5EF4-FFF2-40B4-BE49-F238E27FC236}">
                        <a16:creationId xmlns:a16="http://schemas.microsoft.com/office/drawing/2014/main" id="{A4461D20-F95F-471A-9808-784D5A5C503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958" y="2543"/>
                    <a:ext cx="441" cy="210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 lIns="90488" tIns="44450" rIns="90488" bIns="44450">
                    <a:spAutoFit/>
                  </a:bodyPr>
                  <a:lstStyle/>
                  <a:p>
                    <a:pPr eaLnBrk="0" hangingPunct="0"/>
                    <a:r>
                      <a:rPr lang="en-US" sz="1600" b="1">
                        <a:latin typeface="Times New Roman" pitchFamily="18" charset="0"/>
                      </a:rPr>
                      <a:t>MEM</a:t>
                    </a:r>
                  </a:p>
                </p:txBody>
              </p:sp>
            </p:grpSp>
            <p:grpSp>
              <p:nvGrpSpPr>
                <p:cNvPr id="102" name="Group 112">
                  <a:extLst>
                    <a:ext uri="{FF2B5EF4-FFF2-40B4-BE49-F238E27FC236}">
                      <a16:creationId xmlns:a16="http://schemas.microsoft.com/office/drawing/2014/main" id="{FD52089C-726F-41B4-9312-59BC9301D07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08" y="2543"/>
                  <a:ext cx="464" cy="210"/>
                  <a:chOff x="2408" y="2543"/>
                  <a:chExt cx="464" cy="210"/>
                </a:xfrm>
              </p:grpSpPr>
              <p:sp>
                <p:nvSpPr>
                  <p:cNvPr id="103" name="Rectangle 113">
                    <a:extLst>
                      <a:ext uri="{FF2B5EF4-FFF2-40B4-BE49-F238E27FC236}">
                        <a16:creationId xmlns:a16="http://schemas.microsoft.com/office/drawing/2014/main" id="{F11CD96E-49B7-49C9-A010-F83608301E3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408" y="2552"/>
                    <a:ext cx="464" cy="176"/>
                  </a:xfrm>
                  <a:prstGeom prst="rect">
                    <a:avLst/>
                  </a:prstGeom>
                  <a:solidFill>
                    <a:srgbClr val="CC99FF">
                      <a:alpha val="60000"/>
                    </a:srgbClr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4" name="Rectangle 114">
                    <a:extLst>
                      <a:ext uri="{FF2B5EF4-FFF2-40B4-BE49-F238E27FC236}">
                        <a16:creationId xmlns:a16="http://schemas.microsoft.com/office/drawing/2014/main" id="{6DF9FBEB-73D1-4297-B7AC-98A0EDA0670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486" y="2543"/>
                    <a:ext cx="327" cy="210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 lIns="90488" tIns="44450" rIns="90488" bIns="44450">
                    <a:spAutoFit/>
                  </a:bodyPr>
                  <a:lstStyle/>
                  <a:p>
                    <a:pPr eaLnBrk="0" hangingPunct="0"/>
                    <a:r>
                      <a:rPr lang="en-US" sz="1600" b="1">
                        <a:latin typeface="Times New Roman" pitchFamily="18" charset="0"/>
                      </a:rPr>
                      <a:t>WB</a:t>
                    </a:r>
                  </a:p>
                </p:txBody>
              </p:sp>
            </p:grpSp>
          </p:grpSp>
          <p:grpSp>
            <p:nvGrpSpPr>
              <p:cNvPr id="80" name="Group 115">
                <a:extLst>
                  <a:ext uri="{FF2B5EF4-FFF2-40B4-BE49-F238E27FC236}">
                    <a16:creationId xmlns:a16="http://schemas.microsoft.com/office/drawing/2014/main" id="{ABBA5103-D43F-4D3D-BB33-9854DEBBC7F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80" y="2736"/>
                <a:ext cx="464" cy="210"/>
                <a:chOff x="2888" y="2543"/>
                <a:chExt cx="464" cy="210"/>
              </a:xfrm>
            </p:grpSpPr>
            <p:sp>
              <p:nvSpPr>
                <p:cNvPr id="96" name="Rectangle 116">
                  <a:extLst>
                    <a:ext uri="{FF2B5EF4-FFF2-40B4-BE49-F238E27FC236}">
                      <a16:creationId xmlns:a16="http://schemas.microsoft.com/office/drawing/2014/main" id="{BD90F220-8D28-4171-BDF6-E1EC5B33768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8" y="2552"/>
                  <a:ext cx="464" cy="176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7" name="Rectangle 117">
                  <a:extLst>
                    <a:ext uri="{FF2B5EF4-FFF2-40B4-BE49-F238E27FC236}">
                      <a16:creationId xmlns:a16="http://schemas.microsoft.com/office/drawing/2014/main" id="{180CC266-7FBF-48EA-87F2-710303F470E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18" y="2543"/>
                  <a:ext cx="242" cy="21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pPr eaLnBrk="0" hangingPunct="0"/>
                  <a:r>
                    <a:rPr lang="en-US" sz="1600" b="1">
                      <a:latin typeface="Times New Roman" pitchFamily="18" charset="0"/>
                    </a:rPr>
                    <a:t>IF</a:t>
                  </a:r>
                </a:p>
              </p:txBody>
            </p:sp>
          </p:grpSp>
          <p:grpSp>
            <p:nvGrpSpPr>
              <p:cNvPr id="81" name="Group 118">
                <a:extLst>
                  <a:ext uri="{FF2B5EF4-FFF2-40B4-BE49-F238E27FC236}">
                    <a16:creationId xmlns:a16="http://schemas.microsoft.com/office/drawing/2014/main" id="{8FDF9DBB-8F47-482B-B97E-83C5ED407D9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60" y="2736"/>
                <a:ext cx="464" cy="210"/>
                <a:chOff x="3368" y="2543"/>
                <a:chExt cx="464" cy="210"/>
              </a:xfrm>
            </p:grpSpPr>
            <p:sp>
              <p:nvSpPr>
                <p:cNvPr id="94" name="Rectangle 119">
                  <a:extLst>
                    <a:ext uri="{FF2B5EF4-FFF2-40B4-BE49-F238E27FC236}">
                      <a16:creationId xmlns:a16="http://schemas.microsoft.com/office/drawing/2014/main" id="{30BBCEA3-D6F5-457E-9B7B-93C1DDBC7B8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68" y="2552"/>
                  <a:ext cx="464" cy="176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5" name="Rectangle 120">
                  <a:extLst>
                    <a:ext uri="{FF2B5EF4-FFF2-40B4-BE49-F238E27FC236}">
                      <a16:creationId xmlns:a16="http://schemas.microsoft.com/office/drawing/2014/main" id="{0684C1CA-8FA0-444F-8E4A-3FD226605BD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46" y="2543"/>
                  <a:ext cx="256" cy="21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pPr eaLnBrk="0" hangingPunct="0"/>
                  <a:r>
                    <a:rPr lang="en-US" sz="1600" b="1">
                      <a:latin typeface="Times New Roman" pitchFamily="18" charset="0"/>
                    </a:rPr>
                    <a:t>ID</a:t>
                  </a:r>
                </a:p>
              </p:txBody>
            </p:sp>
          </p:grpSp>
          <p:grpSp>
            <p:nvGrpSpPr>
              <p:cNvPr id="82" name="Group 121">
                <a:extLst>
                  <a:ext uri="{FF2B5EF4-FFF2-40B4-BE49-F238E27FC236}">
                    <a16:creationId xmlns:a16="http://schemas.microsoft.com/office/drawing/2014/main" id="{620DF9A4-FC97-4C19-BD16-91A04A2972B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40" y="2736"/>
                <a:ext cx="464" cy="210"/>
                <a:chOff x="3848" y="2543"/>
                <a:chExt cx="464" cy="210"/>
              </a:xfrm>
            </p:grpSpPr>
            <p:sp>
              <p:nvSpPr>
                <p:cNvPr id="92" name="Rectangle 122">
                  <a:extLst>
                    <a:ext uri="{FF2B5EF4-FFF2-40B4-BE49-F238E27FC236}">
                      <a16:creationId xmlns:a16="http://schemas.microsoft.com/office/drawing/2014/main" id="{CC122B22-8595-48AB-9D93-A6DF9707D50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48" y="2552"/>
                  <a:ext cx="464" cy="176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" name="Rectangle 123">
                  <a:extLst>
                    <a:ext uri="{FF2B5EF4-FFF2-40B4-BE49-F238E27FC236}">
                      <a16:creationId xmlns:a16="http://schemas.microsoft.com/office/drawing/2014/main" id="{F0C4E918-2CF0-40CB-B839-E9118D94E92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78" y="2543"/>
                  <a:ext cx="291" cy="21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pPr eaLnBrk="0" hangingPunct="0"/>
                  <a:r>
                    <a:rPr lang="en-US" sz="1600" b="1">
                      <a:latin typeface="Times New Roman" pitchFamily="18" charset="0"/>
                    </a:rPr>
                    <a:t>EX</a:t>
                  </a:r>
                </a:p>
              </p:txBody>
            </p:sp>
          </p:grpSp>
          <p:grpSp>
            <p:nvGrpSpPr>
              <p:cNvPr id="83" name="Group 124">
                <a:extLst>
                  <a:ext uri="{FF2B5EF4-FFF2-40B4-BE49-F238E27FC236}">
                    <a16:creationId xmlns:a16="http://schemas.microsoft.com/office/drawing/2014/main" id="{D274CC00-6375-4BB1-8936-F803231656F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20" y="2736"/>
                <a:ext cx="471" cy="210"/>
                <a:chOff x="4328" y="2543"/>
                <a:chExt cx="471" cy="210"/>
              </a:xfrm>
            </p:grpSpPr>
            <p:sp>
              <p:nvSpPr>
                <p:cNvPr id="90" name="Rectangle 125">
                  <a:extLst>
                    <a:ext uri="{FF2B5EF4-FFF2-40B4-BE49-F238E27FC236}">
                      <a16:creationId xmlns:a16="http://schemas.microsoft.com/office/drawing/2014/main" id="{CFECA9CC-7145-4551-A57C-22D79982D5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28" y="2552"/>
                  <a:ext cx="464" cy="176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1" name="Rectangle 126">
                  <a:extLst>
                    <a:ext uri="{FF2B5EF4-FFF2-40B4-BE49-F238E27FC236}">
                      <a16:creationId xmlns:a16="http://schemas.microsoft.com/office/drawing/2014/main" id="{F10BEB8B-FD5C-40B0-941C-4CDB91A90E4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58" y="2543"/>
                  <a:ext cx="441" cy="21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pPr eaLnBrk="0" hangingPunct="0"/>
                  <a:r>
                    <a:rPr lang="en-US" sz="1600" b="1">
                      <a:latin typeface="Times New Roman" pitchFamily="18" charset="0"/>
                    </a:rPr>
                    <a:t>MEM</a:t>
                  </a:r>
                </a:p>
              </p:txBody>
            </p:sp>
          </p:grpSp>
          <p:sp>
            <p:nvSpPr>
              <p:cNvPr id="84" name="Rectangle 127">
                <a:extLst>
                  <a:ext uri="{FF2B5EF4-FFF2-40B4-BE49-F238E27FC236}">
                    <a16:creationId xmlns:a16="http://schemas.microsoft.com/office/drawing/2014/main" id="{4F76D793-2989-4ED3-BBC3-4F9F3045BE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2" y="2544"/>
                <a:ext cx="402" cy="212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sz="1600" b="1" dirty="0">
                    <a:solidFill>
                      <a:srgbClr val="660066"/>
                    </a:solidFill>
                    <a:latin typeface="Times New Roman" pitchFamily="18" charset="0"/>
                  </a:rPr>
                  <a:t>Load</a:t>
                </a:r>
              </a:p>
            </p:txBody>
          </p:sp>
          <p:sp>
            <p:nvSpPr>
              <p:cNvPr id="85" name="Rectangle 128">
                <a:extLst>
                  <a:ext uri="{FF2B5EF4-FFF2-40B4-BE49-F238E27FC236}">
                    <a16:creationId xmlns:a16="http://schemas.microsoft.com/office/drawing/2014/main" id="{6210EECE-4C25-4A9A-AB40-BDD78E9B0B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62" y="2544"/>
                <a:ext cx="406" cy="21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sz="1600" b="1" dirty="0">
                    <a:solidFill>
                      <a:srgbClr val="006600"/>
                    </a:solidFill>
                    <a:latin typeface="Times New Roman" pitchFamily="18" charset="0"/>
                  </a:rPr>
                  <a:t>Store</a:t>
                </a:r>
              </a:p>
            </p:txBody>
          </p:sp>
          <p:grpSp>
            <p:nvGrpSpPr>
              <p:cNvPr id="86" name="Group 129">
                <a:extLst>
                  <a:ext uri="{FF2B5EF4-FFF2-40B4-BE49-F238E27FC236}">
                    <a16:creationId xmlns:a16="http://schemas.microsoft.com/office/drawing/2014/main" id="{FD2EC474-0E86-4BA5-B9D5-EEDF477F3E1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800" y="2736"/>
                <a:ext cx="464" cy="210"/>
                <a:chOff x="4808" y="2543"/>
                <a:chExt cx="464" cy="210"/>
              </a:xfrm>
            </p:grpSpPr>
            <p:sp>
              <p:nvSpPr>
                <p:cNvPr id="88" name="Rectangle 130">
                  <a:extLst>
                    <a:ext uri="{FF2B5EF4-FFF2-40B4-BE49-F238E27FC236}">
                      <a16:creationId xmlns:a16="http://schemas.microsoft.com/office/drawing/2014/main" id="{0381392B-37AB-471E-8B63-2029A7E85F7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808" y="2552"/>
                  <a:ext cx="464" cy="176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9" name="Rectangle 131">
                  <a:extLst>
                    <a:ext uri="{FF2B5EF4-FFF2-40B4-BE49-F238E27FC236}">
                      <a16:creationId xmlns:a16="http://schemas.microsoft.com/office/drawing/2014/main" id="{C510D2FB-183D-4579-AB99-DAD265A6C5D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838" y="2543"/>
                  <a:ext cx="242" cy="21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pPr eaLnBrk="0" hangingPunct="0"/>
                  <a:r>
                    <a:rPr lang="en-US" sz="1600" b="1">
                      <a:latin typeface="Times New Roman" pitchFamily="18" charset="0"/>
                    </a:rPr>
                    <a:t>IF</a:t>
                  </a:r>
                </a:p>
              </p:txBody>
            </p:sp>
          </p:grpSp>
          <p:sp>
            <p:nvSpPr>
              <p:cNvPr id="87" name="Rectangle 132">
                <a:extLst>
                  <a:ext uri="{FF2B5EF4-FFF2-40B4-BE49-F238E27FC236}">
                    <a16:creationId xmlns:a16="http://schemas.microsoft.com/office/drawing/2014/main" id="{B7A2EDCE-50E3-4096-8748-C022DF804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82" y="2544"/>
                <a:ext cx="489" cy="212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sz="1600" b="1" dirty="0">
                    <a:solidFill>
                      <a:srgbClr val="C00000"/>
                    </a:solidFill>
                    <a:latin typeface="Times New Roman" pitchFamily="18" charset="0"/>
                  </a:rPr>
                  <a:t>R-type</a:t>
                </a:r>
              </a:p>
            </p:txBody>
          </p:sp>
        </p:grp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02E90BBC-7E23-45CF-BDE8-706A79F8D0F7}"/>
              </a:ext>
            </a:extLst>
          </p:cNvPr>
          <p:cNvGrpSpPr/>
          <p:nvPr/>
        </p:nvGrpSpPr>
        <p:grpSpPr>
          <a:xfrm>
            <a:off x="211138" y="4731303"/>
            <a:ext cx="8721724" cy="1752600"/>
            <a:chOff x="193676" y="4495800"/>
            <a:chExt cx="8721724" cy="1752600"/>
          </a:xfrm>
        </p:grpSpPr>
        <p:sp>
          <p:nvSpPr>
            <p:cNvPr id="114" name="Rounded Rectangle 195">
              <a:extLst>
                <a:ext uri="{FF2B5EF4-FFF2-40B4-BE49-F238E27FC236}">
                  <a16:creationId xmlns:a16="http://schemas.microsoft.com/office/drawing/2014/main" id="{95FAB0FA-93D3-4896-918E-46238F30134F}"/>
                </a:ext>
              </a:extLst>
            </p:cNvPr>
            <p:cNvSpPr/>
            <p:nvPr/>
          </p:nvSpPr>
          <p:spPr>
            <a:xfrm>
              <a:off x="228600" y="4648200"/>
              <a:ext cx="8686800" cy="1600200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B9823E38-CEE8-41D2-9BC1-71C454FA6C46}"/>
                </a:ext>
              </a:extLst>
            </p:cNvPr>
            <p:cNvSpPr/>
            <p:nvPr/>
          </p:nvSpPr>
          <p:spPr>
            <a:xfrm>
              <a:off x="685800" y="4495800"/>
              <a:ext cx="1905000" cy="30480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1"/>
                  </a:solidFill>
                </a:rPr>
                <a:t>Pipeline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grpSp>
          <p:nvGrpSpPr>
            <p:cNvPr id="116" name="Group 187">
              <a:extLst>
                <a:ext uri="{FF2B5EF4-FFF2-40B4-BE49-F238E27FC236}">
                  <a16:creationId xmlns:a16="http://schemas.microsoft.com/office/drawing/2014/main" id="{4B213D3F-E857-444E-A210-4A1D0D64E60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3676" y="4953000"/>
              <a:ext cx="5902326" cy="1101725"/>
              <a:chOff x="122" y="3312"/>
              <a:chExt cx="3718" cy="694"/>
            </a:xfrm>
          </p:grpSpPr>
          <p:sp>
            <p:nvSpPr>
              <p:cNvPr id="117" name="Rectangle 136">
                <a:extLst>
                  <a:ext uri="{FF2B5EF4-FFF2-40B4-BE49-F238E27FC236}">
                    <a16:creationId xmlns:a16="http://schemas.microsoft.com/office/drawing/2014/main" id="{0ACC182A-6A87-4FC3-A655-D70C5ECFD0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" y="3312"/>
                <a:ext cx="402" cy="212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sz="1600" b="1" dirty="0">
                    <a:solidFill>
                      <a:srgbClr val="660066"/>
                    </a:solidFill>
                    <a:latin typeface="Times New Roman" pitchFamily="18" charset="0"/>
                  </a:rPr>
                  <a:t>Load</a:t>
                </a:r>
              </a:p>
            </p:txBody>
          </p:sp>
          <p:grpSp>
            <p:nvGrpSpPr>
              <p:cNvPr id="118" name="Group 137">
                <a:extLst>
                  <a:ext uri="{FF2B5EF4-FFF2-40B4-BE49-F238E27FC236}">
                    <a16:creationId xmlns:a16="http://schemas.microsoft.com/office/drawing/2014/main" id="{ACA69F8D-3446-44A1-A5D3-D86F8D5A777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88" y="3312"/>
                <a:ext cx="2384" cy="210"/>
                <a:chOff x="488" y="3263"/>
                <a:chExt cx="2384" cy="210"/>
              </a:xfrm>
            </p:grpSpPr>
            <p:grpSp>
              <p:nvGrpSpPr>
                <p:cNvPr id="153" name="Group 138">
                  <a:extLst>
                    <a:ext uri="{FF2B5EF4-FFF2-40B4-BE49-F238E27FC236}">
                      <a16:creationId xmlns:a16="http://schemas.microsoft.com/office/drawing/2014/main" id="{EA20BD1D-6C1C-4AF0-8EAF-7F409B422F1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88" y="3263"/>
                  <a:ext cx="464" cy="210"/>
                  <a:chOff x="488" y="3263"/>
                  <a:chExt cx="464" cy="210"/>
                </a:xfrm>
              </p:grpSpPr>
              <p:sp>
                <p:nvSpPr>
                  <p:cNvPr id="166" name="Rectangle 139">
                    <a:extLst>
                      <a:ext uri="{FF2B5EF4-FFF2-40B4-BE49-F238E27FC236}">
                        <a16:creationId xmlns:a16="http://schemas.microsoft.com/office/drawing/2014/main" id="{325E63C4-9596-436A-8B75-4A5E35C2A6F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88" y="3272"/>
                    <a:ext cx="464" cy="176"/>
                  </a:xfrm>
                  <a:prstGeom prst="rect">
                    <a:avLst/>
                  </a:prstGeom>
                  <a:solidFill>
                    <a:srgbClr val="CC99FF">
                      <a:alpha val="60000"/>
                    </a:srgbClr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67" name="Rectangle 140">
                    <a:extLst>
                      <a:ext uri="{FF2B5EF4-FFF2-40B4-BE49-F238E27FC236}">
                        <a16:creationId xmlns:a16="http://schemas.microsoft.com/office/drawing/2014/main" id="{66CD66D3-767D-41B2-BC20-42A93CA683E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18" y="3263"/>
                    <a:ext cx="242" cy="210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 lIns="90488" tIns="44450" rIns="90488" bIns="44450">
                    <a:spAutoFit/>
                  </a:bodyPr>
                  <a:lstStyle/>
                  <a:p>
                    <a:pPr eaLnBrk="0" hangingPunct="0"/>
                    <a:r>
                      <a:rPr lang="en-US" sz="1600" b="1">
                        <a:latin typeface="Times New Roman" pitchFamily="18" charset="0"/>
                      </a:rPr>
                      <a:t>IF</a:t>
                    </a:r>
                  </a:p>
                </p:txBody>
              </p:sp>
            </p:grpSp>
            <p:grpSp>
              <p:nvGrpSpPr>
                <p:cNvPr id="154" name="Group 141">
                  <a:extLst>
                    <a:ext uri="{FF2B5EF4-FFF2-40B4-BE49-F238E27FC236}">
                      <a16:creationId xmlns:a16="http://schemas.microsoft.com/office/drawing/2014/main" id="{322586B0-F8F3-4F39-9254-2B6353E1841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68" y="3263"/>
                  <a:ext cx="464" cy="210"/>
                  <a:chOff x="968" y="3263"/>
                  <a:chExt cx="464" cy="210"/>
                </a:xfrm>
              </p:grpSpPr>
              <p:sp>
                <p:nvSpPr>
                  <p:cNvPr id="164" name="Rectangle 142">
                    <a:extLst>
                      <a:ext uri="{FF2B5EF4-FFF2-40B4-BE49-F238E27FC236}">
                        <a16:creationId xmlns:a16="http://schemas.microsoft.com/office/drawing/2014/main" id="{45D50301-A074-49D5-B588-D09A6F14508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68" y="3272"/>
                    <a:ext cx="464" cy="176"/>
                  </a:xfrm>
                  <a:prstGeom prst="rect">
                    <a:avLst/>
                  </a:prstGeom>
                  <a:solidFill>
                    <a:srgbClr val="CC99FF">
                      <a:alpha val="60000"/>
                    </a:srgbClr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65" name="Rectangle 143">
                    <a:extLst>
                      <a:ext uri="{FF2B5EF4-FFF2-40B4-BE49-F238E27FC236}">
                        <a16:creationId xmlns:a16="http://schemas.microsoft.com/office/drawing/2014/main" id="{D8F6EDAB-5858-46D6-B50E-75A269934C3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46" y="3263"/>
                    <a:ext cx="256" cy="210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 lIns="90488" tIns="44450" rIns="90488" bIns="44450">
                    <a:spAutoFit/>
                  </a:bodyPr>
                  <a:lstStyle/>
                  <a:p>
                    <a:pPr eaLnBrk="0" hangingPunct="0"/>
                    <a:r>
                      <a:rPr lang="en-US" sz="1600" b="1">
                        <a:latin typeface="Times New Roman" pitchFamily="18" charset="0"/>
                      </a:rPr>
                      <a:t>ID</a:t>
                    </a:r>
                  </a:p>
                </p:txBody>
              </p:sp>
            </p:grpSp>
            <p:grpSp>
              <p:nvGrpSpPr>
                <p:cNvPr id="155" name="Group 144">
                  <a:extLst>
                    <a:ext uri="{FF2B5EF4-FFF2-40B4-BE49-F238E27FC236}">
                      <a16:creationId xmlns:a16="http://schemas.microsoft.com/office/drawing/2014/main" id="{541A5253-656B-4009-BC25-BAA5DBCF379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448" y="3263"/>
                  <a:ext cx="464" cy="210"/>
                  <a:chOff x="1448" y="3263"/>
                  <a:chExt cx="464" cy="210"/>
                </a:xfrm>
              </p:grpSpPr>
              <p:sp>
                <p:nvSpPr>
                  <p:cNvPr id="162" name="Rectangle 145">
                    <a:extLst>
                      <a:ext uri="{FF2B5EF4-FFF2-40B4-BE49-F238E27FC236}">
                        <a16:creationId xmlns:a16="http://schemas.microsoft.com/office/drawing/2014/main" id="{AA06E36A-BF3D-4A4B-9A50-2C98062A7BE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448" y="3272"/>
                    <a:ext cx="464" cy="176"/>
                  </a:xfrm>
                  <a:prstGeom prst="rect">
                    <a:avLst/>
                  </a:prstGeom>
                  <a:solidFill>
                    <a:srgbClr val="CC99FF">
                      <a:alpha val="60000"/>
                    </a:srgbClr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63" name="Rectangle 146">
                    <a:extLst>
                      <a:ext uri="{FF2B5EF4-FFF2-40B4-BE49-F238E27FC236}">
                        <a16:creationId xmlns:a16="http://schemas.microsoft.com/office/drawing/2014/main" id="{842543EE-B492-49B9-9A83-3F7379FDAD9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478" y="3263"/>
                    <a:ext cx="291" cy="210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 lIns="90488" tIns="44450" rIns="90488" bIns="44450">
                    <a:spAutoFit/>
                  </a:bodyPr>
                  <a:lstStyle/>
                  <a:p>
                    <a:pPr eaLnBrk="0" hangingPunct="0"/>
                    <a:r>
                      <a:rPr lang="en-US" sz="1600" b="1">
                        <a:latin typeface="Times New Roman" pitchFamily="18" charset="0"/>
                      </a:rPr>
                      <a:t>EX</a:t>
                    </a:r>
                  </a:p>
                </p:txBody>
              </p:sp>
            </p:grpSp>
            <p:grpSp>
              <p:nvGrpSpPr>
                <p:cNvPr id="156" name="Group 147">
                  <a:extLst>
                    <a:ext uri="{FF2B5EF4-FFF2-40B4-BE49-F238E27FC236}">
                      <a16:creationId xmlns:a16="http://schemas.microsoft.com/office/drawing/2014/main" id="{E8DA6F01-9C31-4C21-8B39-25B0B9B95A9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928" y="3263"/>
                  <a:ext cx="471" cy="210"/>
                  <a:chOff x="1928" y="3263"/>
                  <a:chExt cx="471" cy="210"/>
                </a:xfrm>
              </p:grpSpPr>
              <p:sp>
                <p:nvSpPr>
                  <p:cNvPr id="160" name="Rectangle 148">
                    <a:extLst>
                      <a:ext uri="{FF2B5EF4-FFF2-40B4-BE49-F238E27FC236}">
                        <a16:creationId xmlns:a16="http://schemas.microsoft.com/office/drawing/2014/main" id="{04965E6E-403A-4FB2-BE4E-B40E813B6ED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928" y="3272"/>
                    <a:ext cx="464" cy="176"/>
                  </a:xfrm>
                  <a:prstGeom prst="rect">
                    <a:avLst/>
                  </a:prstGeom>
                  <a:solidFill>
                    <a:srgbClr val="CC99FF">
                      <a:alpha val="60000"/>
                    </a:srgbClr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61" name="Rectangle 149">
                    <a:extLst>
                      <a:ext uri="{FF2B5EF4-FFF2-40B4-BE49-F238E27FC236}">
                        <a16:creationId xmlns:a16="http://schemas.microsoft.com/office/drawing/2014/main" id="{2BDB6FE2-5D30-4F39-BBEE-69962F31CFF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958" y="3263"/>
                    <a:ext cx="441" cy="210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 lIns="90488" tIns="44450" rIns="90488" bIns="44450">
                    <a:spAutoFit/>
                  </a:bodyPr>
                  <a:lstStyle/>
                  <a:p>
                    <a:pPr eaLnBrk="0" hangingPunct="0"/>
                    <a:r>
                      <a:rPr lang="en-US" sz="1600" b="1">
                        <a:latin typeface="Times New Roman" pitchFamily="18" charset="0"/>
                      </a:rPr>
                      <a:t>MEM</a:t>
                    </a:r>
                  </a:p>
                </p:txBody>
              </p:sp>
            </p:grpSp>
            <p:grpSp>
              <p:nvGrpSpPr>
                <p:cNvPr id="157" name="Group 150">
                  <a:extLst>
                    <a:ext uri="{FF2B5EF4-FFF2-40B4-BE49-F238E27FC236}">
                      <a16:creationId xmlns:a16="http://schemas.microsoft.com/office/drawing/2014/main" id="{108F25CE-EB5A-415D-97CD-DEF503CDE9A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08" y="3263"/>
                  <a:ext cx="464" cy="210"/>
                  <a:chOff x="2408" y="3263"/>
                  <a:chExt cx="464" cy="210"/>
                </a:xfrm>
              </p:grpSpPr>
              <p:sp>
                <p:nvSpPr>
                  <p:cNvPr id="158" name="Rectangle 151">
                    <a:extLst>
                      <a:ext uri="{FF2B5EF4-FFF2-40B4-BE49-F238E27FC236}">
                        <a16:creationId xmlns:a16="http://schemas.microsoft.com/office/drawing/2014/main" id="{3DFC75E9-0936-43A0-860D-32A2EB68B44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408" y="3272"/>
                    <a:ext cx="464" cy="176"/>
                  </a:xfrm>
                  <a:prstGeom prst="rect">
                    <a:avLst/>
                  </a:prstGeom>
                  <a:solidFill>
                    <a:srgbClr val="CC99FF">
                      <a:alpha val="60000"/>
                    </a:srgbClr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59" name="Rectangle 152">
                    <a:extLst>
                      <a:ext uri="{FF2B5EF4-FFF2-40B4-BE49-F238E27FC236}">
                        <a16:creationId xmlns:a16="http://schemas.microsoft.com/office/drawing/2014/main" id="{B7FA0E81-A8AE-46B7-9DFE-7D0730DF3E9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486" y="3263"/>
                    <a:ext cx="327" cy="210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 lIns="90488" tIns="44450" rIns="90488" bIns="44450">
                    <a:spAutoFit/>
                  </a:bodyPr>
                  <a:lstStyle/>
                  <a:p>
                    <a:pPr eaLnBrk="0" hangingPunct="0"/>
                    <a:r>
                      <a:rPr lang="en-US" sz="1600" b="1">
                        <a:latin typeface="Times New Roman" pitchFamily="18" charset="0"/>
                      </a:rPr>
                      <a:t>WB</a:t>
                    </a:r>
                  </a:p>
                </p:txBody>
              </p:sp>
            </p:grpSp>
          </p:grpSp>
          <p:grpSp>
            <p:nvGrpSpPr>
              <p:cNvPr id="119" name="Group 153">
                <a:extLst>
                  <a:ext uri="{FF2B5EF4-FFF2-40B4-BE49-F238E27FC236}">
                    <a16:creationId xmlns:a16="http://schemas.microsoft.com/office/drawing/2014/main" id="{8A85FE97-C023-43E9-8B1E-B34E0F65A30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68" y="3552"/>
                <a:ext cx="2384" cy="210"/>
                <a:chOff x="968" y="3551"/>
                <a:chExt cx="2384" cy="210"/>
              </a:xfrm>
            </p:grpSpPr>
            <p:grpSp>
              <p:nvGrpSpPr>
                <p:cNvPr id="138" name="Group 154">
                  <a:extLst>
                    <a:ext uri="{FF2B5EF4-FFF2-40B4-BE49-F238E27FC236}">
                      <a16:creationId xmlns:a16="http://schemas.microsoft.com/office/drawing/2014/main" id="{8D22B2C4-F1E4-46A0-B3E1-3C0B0126D4F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68" y="3551"/>
                  <a:ext cx="464" cy="210"/>
                  <a:chOff x="968" y="3551"/>
                  <a:chExt cx="464" cy="210"/>
                </a:xfrm>
              </p:grpSpPr>
              <p:sp>
                <p:nvSpPr>
                  <p:cNvPr id="151" name="Rectangle 155">
                    <a:extLst>
                      <a:ext uri="{FF2B5EF4-FFF2-40B4-BE49-F238E27FC236}">
                        <a16:creationId xmlns:a16="http://schemas.microsoft.com/office/drawing/2014/main" id="{66E1F88A-BFF8-496D-B64B-257EA97D839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68" y="3560"/>
                    <a:ext cx="464" cy="176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52" name="Rectangle 156">
                    <a:extLst>
                      <a:ext uri="{FF2B5EF4-FFF2-40B4-BE49-F238E27FC236}">
                        <a16:creationId xmlns:a16="http://schemas.microsoft.com/office/drawing/2014/main" id="{047EB48E-D408-46CC-8014-AED7EEA467A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98" y="3551"/>
                    <a:ext cx="242" cy="210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 lIns="90488" tIns="44450" rIns="90488" bIns="44450">
                    <a:spAutoFit/>
                  </a:bodyPr>
                  <a:lstStyle/>
                  <a:p>
                    <a:pPr eaLnBrk="0" hangingPunct="0"/>
                    <a:r>
                      <a:rPr lang="en-US" sz="1600" b="1">
                        <a:latin typeface="Times New Roman" pitchFamily="18" charset="0"/>
                      </a:rPr>
                      <a:t>IF</a:t>
                    </a:r>
                  </a:p>
                </p:txBody>
              </p:sp>
            </p:grpSp>
            <p:grpSp>
              <p:nvGrpSpPr>
                <p:cNvPr id="139" name="Group 157">
                  <a:extLst>
                    <a:ext uri="{FF2B5EF4-FFF2-40B4-BE49-F238E27FC236}">
                      <a16:creationId xmlns:a16="http://schemas.microsoft.com/office/drawing/2014/main" id="{55DFF82A-A46D-434E-B1C0-DA159E68DAF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448" y="3551"/>
                  <a:ext cx="464" cy="210"/>
                  <a:chOff x="1448" y="3551"/>
                  <a:chExt cx="464" cy="210"/>
                </a:xfrm>
              </p:grpSpPr>
              <p:sp>
                <p:nvSpPr>
                  <p:cNvPr id="149" name="Rectangle 158">
                    <a:extLst>
                      <a:ext uri="{FF2B5EF4-FFF2-40B4-BE49-F238E27FC236}">
                        <a16:creationId xmlns:a16="http://schemas.microsoft.com/office/drawing/2014/main" id="{5222FF90-E9F1-4243-92D4-4A353AF6FC9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448" y="3560"/>
                    <a:ext cx="464" cy="176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50" name="Rectangle 159">
                    <a:extLst>
                      <a:ext uri="{FF2B5EF4-FFF2-40B4-BE49-F238E27FC236}">
                        <a16:creationId xmlns:a16="http://schemas.microsoft.com/office/drawing/2014/main" id="{18DC6E61-BE0E-4680-A31F-9AAE2F385A3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526" y="3551"/>
                    <a:ext cx="256" cy="210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 lIns="90488" tIns="44450" rIns="90488" bIns="44450">
                    <a:spAutoFit/>
                  </a:bodyPr>
                  <a:lstStyle/>
                  <a:p>
                    <a:pPr eaLnBrk="0" hangingPunct="0"/>
                    <a:r>
                      <a:rPr lang="en-US" sz="1600" b="1">
                        <a:latin typeface="Times New Roman" pitchFamily="18" charset="0"/>
                      </a:rPr>
                      <a:t>ID</a:t>
                    </a:r>
                  </a:p>
                </p:txBody>
              </p:sp>
            </p:grpSp>
            <p:grpSp>
              <p:nvGrpSpPr>
                <p:cNvPr id="140" name="Group 160">
                  <a:extLst>
                    <a:ext uri="{FF2B5EF4-FFF2-40B4-BE49-F238E27FC236}">
                      <a16:creationId xmlns:a16="http://schemas.microsoft.com/office/drawing/2014/main" id="{C746B7AC-7E72-4318-B0FC-C4EEC06BC89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928" y="3551"/>
                  <a:ext cx="464" cy="210"/>
                  <a:chOff x="1928" y="3551"/>
                  <a:chExt cx="464" cy="210"/>
                </a:xfrm>
              </p:grpSpPr>
              <p:sp>
                <p:nvSpPr>
                  <p:cNvPr id="147" name="Rectangle 161">
                    <a:extLst>
                      <a:ext uri="{FF2B5EF4-FFF2-40B4-BE49-F238E27FC236}">
                        <a16:creationId xmlns:a16="http://schemas.microsoft.com/office/drawing/2014/main" id="{F5F87C69-58FE-417F-BBAB-4E0E75A3D20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928" y="3560"/>
                    <a:ext cx="464" cy="176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48" name="Rectangle 162">
                    <a:extLst>
                      <a:ext uri="{FF2B5EF4-FFF2-40B4-BE49-F238E27FC236}">
                        <a16:creationId xmlns:a16="http://schemas.microsoft.com/office/drawing/2014/main" id="{A0625A3B-42B7-4D33-A459-2E0A16E4EA8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958" y="3551"/>
                    <a:ext cx="291" cy="210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 lIns="90488" tIns="44450" rIns="90488" bIns="44450">
                    <a:spAutoFit/>
                  </a:bodyPr>
                  <a:lstStyle/>
                  <a:p>
                    <a:pPr eaLnBrk="0" hangingPunct="0"/>
                    <a:r>
                      <a:rPr lang="en-US" sz="1600" b="1">
                        <a:latin typeface="Times New Roman" pitchFamily="18" charset="0"/>
                      </a:rPr>
                      <a:t>EX</a:t>
                    </a:r>
                  </a:p>
                </p:txBody>
              </p:sp>
            </p:grpSp>
            <p:grpSp>
              <p:nvGrpSpPr>
                <p:cNvPr id="141" name="Group 163">
                  <a:extLst>
                    <a:ext uri="{FF2B5EF4-FFF2-40B4-BE49-F238E27FC236}">
                      <a16:creationId xmlns:a16="http://schemas.microsoft.com/office/drawing/2014/main" id="{DC22698C-2737-4EE3-B25B-C785225724B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08" y="3551"/>
                  <a:ext cx="471" cy="210"/>
                  <a:chOff x="2408" y="3551"/>
                  <a:chExt cx="471" cy="210"/>
                </a:xfrm>
              </p:grpSpPr>
              <p:sp>
                <p:nvSpPr>
                  <p:cNvPr id="145" name="Rectangle 164">
                    <a:extLst>
                      <a:ext uri="{FF2B5EF4-FFF2-40B4-BE49-F238E27FC236}">
                        <a16:creationId xmlns:a16="http://schemas.microsoft.com/office/drawing/2014/main" id="{F7E6E2D0-2ED9-4BF6-A8A8-1FA8482F8D5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408" y="3560"/>
                    <a:ext cx="464" cy="176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46" name="Rectangle 165">
                    <a:extLst>
                      <a:ext uri="{FF2B5EF4-FFF2-40B4-BE49-F238E27FC236}">
                        <a16:creationId xmlns:a16="http://schemas.microsoft.com/office/drawing/2014/main" id="{F5B975FF-3400-46AC-8E6C-0E23BCA74B9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438" y="3551"/>
                    <a:ext cx="441" cy="210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 lIns="90488" tIns="44450" rIns="90488" bIns="44450">
                    <a:spAutoFit/>
                  </a:bodyPr>
                  <a:lstStyle/>
                  <a:p>
                    <a:pPr eaLnBrk="0" hangingPunct="0"/>
                    <a:r>
                      <a:rPr lang="en-US" sz="1600" b="1">
                        <a:latin typeface="Times New Roman" pitchFamily="18" charset="0"/>
                      </a:rPr>
                      <a:t>MEM</a:t>
                    </a:r>
                  </a:p>
                </p:txBody>
              </p:sp>
            </p:grpSp>
            <p:grpSp>
              <p:nvGrpSpPr>
                <p:cNvPr id="142" name="Group 166">
                  <a:extLst>
                    <a:ext uri="{FF2B5EF4-FFF2-40B4-BE49-F238E27FC236}">
                      <a16:creationId xmlns:a16="http://schemas.microsoft.com/office/drawing/2014/main" id="{1A63A046-341F-470F-A590-359EBB9C5FA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888" y="3551"/>
                  <a:ext cx="464" cy="210"/>
                  <a:chOff x="2888" y="3551"/>
                  <a:chExt cx="464" cy="210"/>
                </a:xfrm>
              </p:grpSpPr>
              <p:sp>
                <p:nvSpPr>
                  <p:cNvPr id="143" name="Rectangle 167">
                    <a:extLst>
                      <a:ext uri="{FF2B5EF4-FFF2-40B4-BE49-F238E27FC236}">
                        <a16:creationId xmlns:a16="http://schemas.microsoft.com/office/drawing/2014/main" id="{C0AF6FCE-FAA7-411B-8C0E-02DB6804B15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888" y="3560"/>
                    <a:ext cx="464" cy="176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44" name="Rectangle 168">
                    <a:extLst>
                      <a:ext uri="{FF2B5EF4-FFF2-40B4-BE49-F238E27FC236}">
                        <a16:creationId xmlns:a16="http://schemas.microsoft.com/office/drawing/2014/main" id="{9881AF81-0D4D-4750-8D40-3AC8947F4ED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966" y="3551"/>
                    <a:ext cx="327" cy="210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 lIns="90488" tIns="44450" rIns="90488" bIns="44450">
                    <a:spAutoFit/>
                  </a:bodyPr>
                  <a:lstStyle/>
                  <a:p>
                    <a:pPr eaLnBrk="0" hangingPunct="0"/>
                    <a:r>
                      <a:rPr lang="en-US" sz="1600" b="1">
                        <a:latin typeface="Times New Roman" pitchFamily="18" charset="0"/>
                      </a:rPr>
                      <a:t>WB</a:t>
                    </a:r>
                  </a:p>
                </p:txBody>
              </p:sp>
            </p:grpSp>
          </p:grpSp>
          <p:sp>
            <p:nvSpPr>
              <p:cNvPr id="120" name="Rectangle 169">
                <a:extLst>
                  <a:ext uri="{FF2B5EF4-FFF2-40B4-BE49-F238E27FC236}">
                    <a16:creationId xmlns:a16="http://schemas.microsoft.com/office/drawing/2014/main" id="{0A8034F7-C46B-4AFF-9D68-F08EDAABA4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" y="3547"/>
                <a:ext cx="406" cy="21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sz="1600" b="1" dirty="0">
                    <a:solidFill>
                      <a:srgbClr val="006600"/>
                    </a:solidFill>
                    <a:latin typeface="Times New Roman" pitchFamily="18" charset="0"/>
                  </a:rPr>
                  <a:t>Store</a:t>
                </a:r>
              </a:p>
            </p:txBody>
          </p:sp>
          <p:grpSp>
            <p:nvGrpSpPr>
              <p:cNvPr id="121" name="Group 170">
                <a:extLst>
                  <a:ext uri="{FF2B5EF4-FFF2-40B4-BE49-F238E27FC236}">
                    <a16:creationId xmlns:a16="http://schemas.microsoft.com/office/drawing/2014/main" id="{BFF55F49-97AA-4E4F-9010-4D2F5A46072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44" y="3792"/>
                <a:ext cx="2396" cy="210"/>
                <a:chOff x="1444" y="3839"/>
                <a:chExt cx="2396" cy="210"/>
              </a:xfrm>
            </p:grpSpPr>
            <p:grpSp>
              <p:nvGrpSpPr>
                <p:cNvPr id="123" name="Group 171">
                  <a:extLst>
                    <a:ext uri="{FF2B5EF4-FFF2-40B4-BE49-F238E27FC236}">
                      <a16:creationId xmlns:a16="http://schemas.microsoft.com/office/drawing/2014/main" id="{10C3E746-45D0-45EF-AD6A-5DAFD9DEB8A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444" y="3839"/>
                  <a:ext cx="464" cy="210"/>
                  <a:chOff x="1444" y="3839"/>
                  <a:chExt cx="464" cy="210"/>
                </a:xfrm>
              </p:grpSpPr>
              <p:sp>
                <p:nvSpPr>
                  <p:cNvPr id="136" name="Rectangle 172">
                    <a:extLst>
                      <a:ext uri="{FF2B5EF4-FFF2-40B4-BE49-F238E27FC236}">
                        <a16:creationId xmlns:a16="http://schemas.microsoft.com/office/drawing/2014/main" id="{8B3B20B4-89CB-4AD8-8D9D-5B2F686E292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444" y="3848"/>
                    <a:ext cx="464" cy="176"/>
                  </a:xfrm>
                  <a:prstGeom prst="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37" name="Rectangle 173">
                    <a:extLst>
                      <a:ext uri="{FF2B5EF4-FFF2-40B4-BE49-F238E27FC236}">
                        <a16:creationId xmlns:a16="http://schemas.microsoft.com/office/drawing/2014/main" id="{837E71AB-185B-448F-82DF-A511E0B326B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512" y="3839"/>
                    <a:ext cx="242" cy="210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 lIns="90488" tIns="44450" rIns="90488" bIns="44450">
                    <a:spAutoFit/>
                  </a:bodyPr>
                  <a:lstStyle/>
                  <a:p>
                    <a:pPr eaLnBrk="0" hangingPunct="0"/>
                    <a:r>
                      <a:rPr lang="en-US" sz="1600" b="1" dirty="0">
                        <a:latin typeface="Times New Roman" pitchFamily="18" charset="0"/>
                      </a:rPr>
                      <a:t>IF</a:t>
                    </a:r>
                  </a:p>
                </p:txBody>
              </p:sp>
            </p:grpSp>
            <p:grpSp>
              <p:nvGrpSpPr>
                <p:cNvPr id="124" name="Group 174">
                  <a:extLst>
                    <a:ext uri="{FF2B5EF4-FFF2-40B4-BE49-F238E27FC236}">
                      <a16:creationId xmlns:a16="http://schemas.microsoft.com/office/drawing/2014/main" id="{3B98BBC7-E47E-4B99-A700-54FC32BCE28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930" y="3839"/>
                  <a:ext cx="464" cy="210"/>
                  <a:chOff x="1930" y="3839"/>
                  <a:chExt cx="464" cy="210"/>
                </a:xfrm>
              </p:grpSpPr>
              <p:sp>
                <p:nvSpPr>
                  <p:cNvPr id="134" name="Rectangle 175">
                    <a:extLst>
                      <a:ext uri="{FF2B5EF4-FFF2-40B4-BE49-F238E27FC236}">
                        <a16:creationId xmlns:a16="http://schemas.microsoft.com/office/drawing/2014/main" id="{06B6F4F7-66C8-4BD0-8855-2FD778947D4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930" y="3848"/>
                    <a:ext cx="464" cy="176"/>
                  </a:xfrm>
                  <a:prstGeom prst="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35" name="Rectangle 176">
                    <a:extLst>
                      <a:ext uri="{FF2B5EF4-FFF2-40B4-BE49-F238E27FC236}">
                        <a16:creationId xmlns:a16="http://schemas.microsoft.com/office/drawing/2014/main" id="{38FB9CD3-E7F9-46A4-872A-CBD7F506613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996" y="3839"/>
                    <a:ext cx="256" cy="210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 lIns="90488" tIns="44450" rIns="90488" bIns="44450">
                    <a:spAutoFit/>
                  </a:bodyPr>
                  <a:lstStyle/>
                  <a:p>
                    <a:pPr eaLnBrk="0" hangingPunct="0"/>
                    <a:r>
                      <a:rPr lang="en-US" sz="1600" b="1" dirty="0">
                        <a:latin typeface="Times New Roman" pitchFamily="18" charset="0"/>
                      </a:rPr>
                      <a:t>ID</a:t>
                    </a:r>
                  </a:p>
                </p:txBody>
              </p:sp>
            </p:grpSp>
            <p:grpSp>
              <p:nvGrpSpPr>
                <p:cNvPr id="125" name="Group 177">
                  <a:extLst>
                    <a:ext uri="{FF2B5EF4-FFF2-40B4-BE49-F238E27FC236}">
                      <a16:creationId xmlns:a16="http://schemas.microsoft.com/office/drawing/2014/main" id="{9449AB95-6DF1-4E2C-AFBA-8A14D255AF4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13" y="3839"/>
                  <a:ext cx="464" cy="210"/>
                  <a:chOff x="2413" y="3839"/>
                  <a:chExt cx="464" cy="210"/>
                </a:xfrm>
              </p:grpSpPr>
              <p:sp>
                <p:nvSpPr>
                  <p:cNvPr id="132" name="Rectangle 178">
                    <a:extLst>
                      <a:ext uri="{FF2B5EF4-FFF2-40B4-BE49-F238E27FC236}">
                        <a16:creationId xmlns:a16="http://schemas.microsoft.com/office/drawing/2014/main" id="{C76DE959-D0B1-462E-8842-33B8C330D75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413" y="3848"/>
                    <a:ext cx="464" cy="176"/>
                  </a:xfrm>
                  <a:prstGeom prst="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33" name="Rectangle 179">
                    <a:extLst>
                      <a:ext uri="{FF2B5EF4-FFF2-40B4-BE49-F238E27FC236}">
                        <a16:creationId xmlns:a16="http://schemas.microsoft.com/office/drawing/2014/main" id="{355A77E9-DC6F-4E16-B80D-A32F6BD2B32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473" y="3839"/>
                    <a:ext cx="291" cy="210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 lIns="90488" tIns="44450" rIns="90488" bIns="44450">
                    <a:spAutoFit/>
                  </a:bodyPr>
                  <a:lstStyle/>
                  <a:p>
                    <a:pPr eaLnBrk="0" hangingPunct="0"/>
                    <a:r>
                      <a:rPr lang="en-US" sz="1600" b="1" dirty="0">
                        <a:latin typeface="Times New Roman" pitchFamily="18" charset="0"/>
                      </a:rPr>
                      <a:t>EX</a:t>
                    </a:r>
                  </a:p>
                </p:txBody>
              </p:sp>
            </p:grpSp>
            <p:grpSp>
              <p:nvGrpSpPr>
                <p:cNvPr id="126" name="Group 180">
                  <a:extLst>
                    <a:ext uri="{FF2B5EF4-FFF2-40B4-BE49-F238E27FC236}">
                      <a16:creationId xmlns:a16="http://schemas.microsoft.com/office/drawing/2014/main" id="{6F8A3E6F-C4DE-4DB4-9885-F3CD3DE043F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897" y="3839"/>
                  <a:ext cx="464" cy="210"/>
                  <a:chOff x="2897" y="3839"/>
                  <a:chExt cx="464" cy="210"/>
                </a:xfrm>
              </p:grpSpPr>
              <p:sp>
                <p:nvSpPr>
                  <p:cNvPr id="130" name="Rectangle 181">
                    <a:extLst>
                      <a:ext uri="{FF2B5EF4-FFF2-40B4-BE49-F238E27FC236}">
                        <a16:creationId xmlns:a16="http://schemas.microsoft.com/office/drawing/2014/main" id="{A650EAA8-CB21-4F18-BC5D-5B3B8E5BB6E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897" y="3848"/>
                    <a:ext cx="464" cy="176"/>
                  </a:xfrm>
                  <a:prstGeom prst="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31" name="Rectangle 182">
                    <a:extLst>
                      <a:ext uri="{FF2B5EF4-FFF2-40B4-BE49-F238E27FC236}">
                        <a16:creationId xmlns:a16="http://schemas.microsoft.com/office/drawing/2014/main" id="{453216A1-667B-4002-95A6-ADA69C82E04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919" y="3839"/>
                    <a:ext cx="441" cy="210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 lIns="90488" tIns="44450" rIns="90488" bIns="44450">
                    <a:spAutoFit/>
                  </a:bodyPr>
                  <a:lstStyle/>
                  <a:p>
                    <a:pPr eaLnBrk="0" hangingPunct="0"/>
                    <a:r>
                      <a:rPr lang="en-US" sz="1600" b="1" dirty="0">
                        <a:latin typeface="Times New Roman" pitchFamily="18" charset="0"/>
                      </a:rPr>
                      <a:t>MEM</a:t>
                    </a:r>
                  </a:p>
                </p:txBody>
              </p:sp>
            </p:grpSp>
            <p:grpSp>
              <p:nvGrpSpPr>
                <p:cNvPr id="127" name="Group 183">
                  <a:extLst>
                    <a:ext uri="{FF2B5EF4-FFF2-40B4-BE49-F238E27FC236}">
                      <a16:creationId xmlns:a16="http://schemas.microsoft.com/office/drawing/2014/main" id="{9E70632C-959C-4954-B2D3-A449092BBC6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376" y="3839"/>
                  <a:ext cx="464" cy="210"/>
                  <a:chOff x="3376" y="3839"/>
                  <a:chExt cx="464" cy="210"/>
                </a:xfrm>
              </p:grpSpPr>
              <p:sp>
                <p:nvSpPr>
                  <p:cNvPr id="128" name="Rectangle 184">
                    <a:extLst>
                      <a:ext uri="{FF2B5EF4-FFF2-40B4-BE49-F238E27FC236}">
                        <a16:creationId xmlns:a16="http://schemas.microsoft.com/office/drawing/2014/main" id="{E0ED198E-89E8-468E-B345-50C8D583283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376" y="3848"/>
                    <a:ext cx="464" cy="176"/>
                  </a:xfrm>
                  <a:prstGeom prst="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29" name="Rectangle 185">
                    <a:extLst>
                      <a:ext uri="{FF2B5EF4-FFF2-40B4-BE49-F238E27FC236}">
                        <a16:creationId xmlns:a16="http://schemas.microsoft.com/office/drawing/2014/main" id="{F98EB08F-2C9C-4999-B6C9-975A8A297C3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444" y="3839"/>
                    <a:ext cx="327" cy="210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 lIns="90488" tIns="44450" rIns="90488" bIns="44450">
                    <a:spAutoFit/>
                  </a:bodyPr>
                  <a:lstStyle/>
                  <a:p>
                    <a:pPr eaLnBrk="0" hangingPunct="0"/>
                    <a:r>
                      <a:rPr lang="en-US" sz="1600" b="1" dirty="0">
                        <a:latin typeface="Times New Roman" pitchFamily="18" charset="0"/>
                      </a:rPr>
                      <a:t>WB</a:t>
                    </a:r>
                  </a:p>
                </p:txBody>
              </p:sp>
            </p:grpSp>
          </p:grpSp>
          <p:sp>
            <p:nvSpPr>
              <p:cNvPr id="122" name="Rectangle 186">
                <a:extLst>
                  <a:ext uri="{FF2B5EF4-FFF2-40B4-BE49-F238E27FC236}">
                    <a16:creationId xmlns:a16="http://schemas.microsoft.com/office/drawing/2014/main" id="{C8E2F5C4-F8D2-4CB8-AE43-43A7C9D3BF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8" y="3794"/>
                <a:ext cx="489" cy="212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pPr eaLnBrk="0" hangingPunct="0"/>
                <a:r>
                  <a:rPr lang="en-US" sz="1600" b="1" dirty="0">
                    <a:solidFill>
                      <a:srgbClr val="C00000"/>
                    </a:solidFill>
                    <a:latin typeface="Times New Roman" pitchFamily="18" charset="0"/>
                  </a:rPr>
                  <a:t>R-type</a:t>
                </a:r>
              </a:p>
            </p:txBody>
          </p:sp>
        </p:grpSp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BBBBF054-2CC6-4853-B28C-F3A6A213A2E8}"/>
              </a:ext>
            </a:extLst>
          </p:cNvPr>
          <p:cNvGrpSpPr/>
          <p:nvPr/>
        </p:nvGrpSpPr>
        <p:grpSpPr>
          <a:xfrm>
            <a:off x="246062" y="1149903"/>
            <a:ext cx="8686800" cy="1676400"/>
            <a:chOff x="152400" y="1219200"/>
            <a:chExt cx="8686800" cy="1676400"/>
          </a:xfrm>
        </p:grpSpPr>
        <p:sp>
          <p:nvSpPr>
            <p:cNvPr id="169" name="Rounded Rectangle 187">
              <a:extLst>
                <a:ext uri="{FF2B5EF4-FFF2-40B4-BE49-F238E27FC236}">
                  <a16:creationId xmlns:a16="http://schemas.microsoft.com/office/drawing/2014/main" id="{788AC3FB-C111-48E3-B4C9-93DA04916228}"/>
                </a:ext>
              </a:extLst>
            </p:cNvPr>
            <p:cNvSpPr/>
            <p:nvPr/>
          </p:nvSpPr>
          <p:spPr>
            <a:xfrm>
              <a:off x="152400" y="1371600"/>
              <a:ext cx="8686800" cy="1524000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70" name="Group 135">
              <a:extLst>
                <a:ext uri="{FF2B5EF4-FFF2-40B4-BE49-F238E27FC236}">
                  <a16:creationId xmlns:a16="http://schemas.microsoft.com/office/drawing/2014/main" id="{E0964CCA-6D9C-4E03-94B8-F32870833C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925" y="1676400"/>
              <a:ext cx="8397875" cy="1019175"/>
              <a:chOff x="182" y="1152"/>
              <a:chExt cx="5290" cy="642"/>
            </a:xfrm>
          </p:grpSpPr>
          <p:grpSp>
            <p:nvGrpSpPr>
              <p:cNvPr id="172" name="Group 28">
                <a:extLst>
                  <a:ext uri="{FF2B5EF4-FFF2-40B4-BE49-F238E27FC236}">
                    <a16:creationId xmlns:a16="http://schemas.microsoft.com/office/drawing/2014/main" id="{1DDE3F5A-E680-4BE0-B313-3A410DDDBF1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2" y="1152"/>
                <a:ext cx="5290" cy="402"/>
                <a:chOff x="182" y="815"/>
                <a:chExt cx="5290" cy="402"/>
              </a:xfrm>
            </p:grpSpPr>
            <p:sp>
              <p:nvSpPr>
                <p:cNvPr id="180" name="Line 7">
                  <a:extLst>
                    <a:ext uri="{FF2B5EF4-FFF2-40B4-BE49-F238E27FC236}">
                      <a16:creationId xmlns:a16="http://schemas.microsoft.com/office/drawing/2014/main" id="{1C421145-21DD-48EE-9F63-91B3BD0C8A3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0" y="1008"/>
                  <a:ext cx="240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1" name="Line 8">
                  <a:extLst>
                    <a:ext uri="{FF2B5EF4-FFF2-40B4-BE49-F238E27FC236}">
                      <a16:creationId xmlns:a16="http://schemas.microsoft.com/office/drawing/2014/main" id="{3FF77063-4B9A-4761-BB10-1A1DFE688BC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0" y="1008"/>
                  <a:ext cx="0" cy="144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2" name="Line 9">
                  <a:extLst>
                    <a:ext uri="{FF2B5EF4-FFF2-40B4-BE49-F238E27FC236}">
                      <a16:creationId xmlns:a16="http://schemas.microsoft.com/office/drawing/2014/main" id="{2C17871D-4C6E-47C2-AE70-982B74FC08D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36" y="1008"/>
                  <a:ext cx="0" cy="144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3" name="Line 10">
                  <a:extLst>
                    <a:ext uri="{FF2B5EF4-FFF2-40B4-BE49-F238E27FC236}">
                      <a16:creationId xmlns:a16="http://schemas.microsoft.com/office/drawing/2014/main" id="{37E86FCF-6585-4637-8DAD-80F117DA3DC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088" y="1008"/>
                  <a:ext cx="0" cy="144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4" name="Line 11">
                  <a:extLst>
                    <a:ext uri="{FF2B5EF4-FFF2-40B4-BE49-F238E27FC236}">
                      <a16:creationId xmlns:a16="http://schemas.microsoft.com/office/drawing/2014/main" id="{CEA50E18-85C0-471F-86E0-2DF2726B28C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0" y="1152"/>
                  <a:ext cx="1200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" name="Line 12">
                  <a:extLst>
                    <a:ext uri="{FF2B5EF4-FFF2-40B4-BE49-F238E27FC236}">
                      <a16:creationId xmlns:a16="http://schemas.microsoft.com/office/drawing/2014/main" id="{9C8083D8-5778-4DB3-A4F2-75DCBC287DC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80" y="1008"/>
                  <a:ext cx="1056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6" name="Line 13">
                  <a:extLst>
                    <a:ext uri="{FF2B5EF4-FFF2-40B4-BE49-F238E27FC236}">
                      <a16:creationId xmlns:a16="http://schemas.microsoft.com/office/drawing/2014/main" id="{6C48F3F9-3DB3-4139-8CC3-A240A8CD318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80" y="1008"/>
                  <a:ext cx="0" cy="144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7" name="Line 14">
                  <a:extLst>
                    <a:ext uri="{FF2B5EF4-FFF2-40B4-BE49-F238E27FC236}">
                      <a16:creationId xmlns:a16="http://schemas.microsoft.com/office/drawing/2014/main" id="{9C845F0D-BB84-428D-B422-B66AC469653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36" y="1152"/>
                  <a:ext cx="1200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8" name="Line 15">
                  <a:extLst>
                    <a:ext uri="{FF2B5EF4-FFF2-40B4-BE49-F238E27FC236}">
                      <a16:creationId xmlns:a16="http://schemas.microsoft.com/office/drawing/2014/main" id="{46BBA58D-39B1-4EFB-97BC-C7489CC8253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36" y="1008"/>
                  <a:ext cx="1152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9" name="Line 16">
                  <a:extLst>
                    <a:ext uri="{FF2B5EF4-FFF2-40B4-BE49-F238E27FC236}">
                      <a16:creationId xmlns:a16="http://schemas.microsoft.com/office/drawing/2014/main" id="{1033D616-8AA1-4791-A8DA-C936788B3B4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36" y="1008"/>
                  <a:ext cx="0" cy="144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0" name="Line 17">
                  <a:extLst>
                    <a:ext uri="{FF2B5EF4-FFF2-40B4-BE49-F238E27FC236}">
                      <a16:creationId xmlns:a16="http://schemas.microsoft.com/office/drawing/2014/main" id="{2D51A481-6EEA-417F-AB98-E571AE0BFF8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088" y="1152"/>
                  <a:ext cx="384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1" name="Rectangle 18">
                  <a:extLst>
                    <a:ext uri="{FF2B5EF4-FFF2-40B4-BE49-F238E27FC236}">
                      <a16:creationId xmlns:a16="http://schemas.microsoft.com/office/drawing/2014/main" id="{90914C14-7488-45D7-98AF-A832BB39E46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2" y="1007"/>
                  <a:ext cx="313" cy="21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pPr eaLnBrk="0" hangingPunct="0"/>
                  <a:r>
                    <a:rPr lang="en-US" sz="1600" b="1">
                      <a:latin typeface="Times New Roman" pitchFamily="18" charset="0"/>
                    </a:rPr>
                    <a:t>Clk</a:t>
                  </a:r>
                </a:p>
              </p:txBody>
            </p:sp>
            <p:sp>
              <p:nvSpPr>
                <p:cNvPr id="192" name="Line 19">
                  <a:extLst>
                    <a:ext uri="{FF2B5EF4-FFF2-40B4-BE49-F238E27FC236}">
                      <a16:creationId xmlns:a16="http://schemas.microsoft.com/office/drawing/2014/main" id="{F291A300-537C-4DEA-AD4F-87003C76E63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80" y="816"/>
                  <a:ext cx="0" cy="192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prstDash val="sysDot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3" name="Rectangle 20">
                  <a:extLst>
                    <a:ext uri="{FF2B5EF4-FFF2-40B4-BE49-F238E27FC236}">
                      <a16:creationId xmlns:a16="http://schemas.microsoft.com/office/drawing/2014/main" id="{D2E6DF64-4E58-455F-80CD-76490D7FC76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30" y="815"/>
                  <a:ext cx="516" cy="21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pPr eaLnBrk="0" hangingPunct="0"/>
                  <a:r>
                    <a:rPr lang="en-US" sz="1600" b="1">
                      <a:latin typeface="Times New Roman" pitchFamily="18" charset="0"/>
                    </a:rPr>
                    <a:t>Cycle 1</a:t>
                  </a:r>
                </a:p>
              </p:txBody>
            </p:sp>
            <p:sp>
              <p:nvSpPr>
                <p:cNvPr id="194" name="Line 21">
                  <a:extLst>
                    <a:ext uri="{FF2B5EF4-FFF2-40B4-BE49-F238E27FC236}">
                      <a16:creationId xmlns:a16="http://schemas.microsoft.com/office/drawing/2014/main" id="{C32A7211-49A0-409B-882F-5DF48F9C7B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736" y="816"/>
                  <a:ext cx="0" cy="192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prstDash val="sysDot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" name="Line 22">
                  <a:extLst>
                    <a:ext uri="{FF2B5EF4-FFF2-40B4-BE49-F238E27FC236}">
                      <a16:creationId xmlns:a16="http://schemas.microsoft.com/office/drawing/2014/main" id="{D67B4422-CFDC-4259-AE03-13FF093C179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088" y="816"/>
                  <a:ext cx="0" cy="192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prstDash val="sysDot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6" name="Rectangle 23">
                  <a:extLst>
                    <a:ext uri="{FF2B5EF4-FFF2-40B4-BE49-F238E27FC236}">
                      <a16:creationId xmlns:a16="http://schemas.microsoft.com/office/drawing/2014/main" id="{EB3EC4AC-6F55-4CEE-B887-6E33A3B664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86" y="815"/>
                  <a:ext cx="516" cy="21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pPr eaLnBrk="0" hangingPunct="0"/>
                  <a:r>
                    <a:rPr lang="en-US" sz="1600" b="1">
                      <a:latin typeface="Times New Roman" pitchFamily="18" charset="0"/>
                    </a:rPr>
                    <a:t>Cycle 2</a:t>
                  </a:r>
                </a:p>
              </p:txBody>
            </p:sp>
            <p:sp>
              <p:nvSpPr>
                <p:cNvPr id="197" name="Line 24">
                  <a:extLst>
                    <a:ext uri="{FF2B5EF4-FFF2-40B4-BE49-F238E27FC236}">
                      <a16:creationId xmlns:a16="http://schemas.microsoft.com/office/drawing/2014/main" id="{0288F0B7-945A-4BBA-BA4A-D15ABBCA6D6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0" y="912"/>
                  <a:ext cx="912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triangle" w="med" len="med"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8" name="Line 25">
                  <a:extLst>
                    <a:ext uri="{FF2B5EF4-FFF2-40B4-BE49-F238E27FC236}">
                      <a16:creationId xmlns:a16="http://schemas.microsoft.com/office/drawing/2014/main" id="{9A92F023-D068-4326-9228-D1FDB27E304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36" y="912"/>
                  <a:ext cx="912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triangle" w="med" len="med"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9" name="Line 26">
                  <a:extLst>
                    <a:ext uri="{FF2B5EF4-FFF2-40B4-BE49-F238E27FC236}">
                      <a16:creationId xmlns:a16="http://schemas.microsoft.com/office/drawing/2014/main" id="{9FD3CE69-228F-4C92-8040-11DB3E62B7B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176" y="912"/>
                  <a:ext cx="912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triangle" w="med" len="med"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0" name="Line 27">
                  <a:extLst>
                    <a:ext uri="{FF2B5EF4-FFF2-40B4-BE49-F238E27FC236}">
                      <a16:creationId xmlns:a16="http://schemas.microsoft.com/office/drawing/2014/main" id="{F424B6C7-D792-4819-8FFF-100BA30B6FA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968" y="912"/>
                  <a:ext cx="672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triangle" w="med" len="med"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73" name="Group 35">
                <a:extLst>
                  <a:ext uri="{FF2B5EF4-FFF2-40B4-BE49-F238E27FC236}">
                    <a16:creationId xmlns:a16="http://schemas.microsoft.com/office/drawing/2014/main" id="{0D13EFA6-62CA-4F83-9C8C-70A6F493F16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88" y="1584"/>
                <a:ext cx="4592" cy="210"/>
                <a:chOff x="488" y="1584"/>
                <a:chExt cx="4592" cy="210"/>
              </a:xfrm>
            </p:grpSpPr>
            <p:sp>
              <p:nvSpPr>
                <p:cNvPr id="174" name="Rectangle 29">
                  <a:extLst>
                    <a:ext uri="{FF2B5EF4-FFF2-40B4-BE49-F238E27FC236}">
                      <a16:creationId xmlns:a16="http://schemas.microsoft.com/office/drawing/2014/main" id="{F77EED26-C7E9-41C7-A387-3E6F5FABB51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88" y="1593"/>
                  <a:ext cx="2240" cy="176"/>
                </a:xfrm>
                <a:prstGeom prst="rect">
                  <a:avLst/>
                </a:prstGeom>
                <a:solidFill>
                  <a:srgbClr val="CC99FF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75" name="Rectangle 30">
                  <a:extLst>
                    <a:ext uri="{FF2B5EF4-FFF2-40B4-BE49-F238E27FC236}">
                      <a16:creationId xmlns:a16="http://schemas.microsoft.com/office/drawing/2014/main" id="{1E696A30-527E-40F1-9389-EC402D4A6A5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44" y="1593"/>
                  <a:ext cx="2336" cy="176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76" name="Rectangle 31">
                  <a:extLst>
                    <a:ext uri="{FF2B5EF4-FFF2-40B4-BE49-F238E27FC236}">
                      <a16:creationId xmlns:a16="http://schemas.microsoft.com/office/drawing/2014/main" id="{213DDD8F-9B6E-4702-B4DE-ED96193B3C9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34" y="1584"/>
                  <a:ext cx="398" cy="21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pPr eaLnBrk="0" hangingPunct="0"/>
                  <a:r>
                    <a:rPr lang="en-US" sz="1600" b="1">
                      <a:latin typeface="Times New Roman" pitchFamily="18" charset="0"/>
                    </a:rPr>
                    <a:t>Load</a:t>
                  </a:r>
                </a:p>
              </p:txBody>
            </p:sp>
            <p:sp>
              <p:nvSpPr>
                <p:cNvPr id="177" name="Rectangle 32">
                  <a:extLst>
                    <a:ext uri="{FF2B5EF4-FFF2-40B4-BE49-F238E27FC236}">
                      <a16:creationId xmlns:a16="http://schemas.microsoft.com/office/drawing/2014/main" id="{B22B2CB8-931B-4311-927C-B284FA4295B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34" y="1584"/>
                  <a:ext cx="406" cy="21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pPr eaLnBrk="0" hangingPunct="0"/>
                  <a:r>
                    <a:rPr lang="en-US" sz="1600" b="1">
                      <a:latin typeface="Times New Roman" pitchFamily="18" charset="0"/>
                    </a:rPr>
                    <a:t>Store</a:t>
                  </a:r>
                </a:p>
              </p:txBody>
            </p:sp>
            <p:sp>
              <p:nvSpPr>
                <p:cNvPr id="178" name="Line 33">
                  <a:extLst>
                    <a:ext uri="{FF2B5EF4-FFF2-40B4-BE49-F238E27FC236}">
                      <a16:creationId xmlns:a16="http://schemas.microsoft.com/office/drawing/2014/main" id="{2A28B483-B3C2-4112-B470-9669ACD132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656" y="1585"/>
                  <a:ext cx="0" cy="192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prstDash val="sysDot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9" name="Rectangle 34">
                  <a:extLst>
                    <a:ext uri="{FF2B5EF4-FFF2-40B4-BE49-F238E27FC236}">
                      <a16:creationId xmlns:a16="http://schemas.microsoft.com/office/drawing/2014/main" id="{20404ABB-867D-4D95-AAD2-44BB13B5FA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24" y="1584"/>
                  <a:ext cx="456" cy="192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12700">
                  <a:solidFill>
                    <a:schemeClr val="tx1"/>
                  </a:solidFill>
                  <a:prstDash val="dash"/>
                  <a:miter lim="800000"/>
                  <a:headEnd/>
                  <a:tailEnd/>
                </a:ln>
              </p:spPr>
              <p:txBody>
                <a:bodyPr wrap="square" lIns="90488" tIns="44450" rIns="90488" bIns="44450">
                  <a:spAutoFit/>
                </a:bodyPr>
                <a:lstStyle/>
                <a:p>
                  <a:pPr eaLnBrk="0" hangingPunct="0"/>
                  <a:r>
                    <a:rPr lang="en-US" sz="1400" b="1" dirty="0">
                      <a:solidFill>
                        <a:srgbClr val="C00000"/>
                      </a:solidFill>
                      <a:latin typeface="Times New Roman" pitchFamily="18" charset="0"/>
                    </a:rPr>
                    <a:t>Waste</a:t>
                  </a:r>
                </a:p>
              </p:txBody>
            </p:sp>
          </p:grpSp>
        </p:grp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20339F81-BC37-4634-8B57-057E9090305A}"/>
                </a:ext>
              </a:extLst>
            </p:cNvPr>
            <p:cNvSpPr/>
            <p:nvPr/>
          </p:nvSpPr>
          <p:spPr>
            <a:xfrm>
              <a:off x="609600" y="1219200"/>
              <a:ext cx="1905000" cy="3048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1"/>
                  </a:solidFill>
                </a:rPr>
                <a:t>Single-Cycle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</p:grpSp>
      <p:sp>
        <p:nvSpPr>
          <p:cNvPr id="201" name="Line 78">
            <a:extLst>
              <a:ext uri="{FF2B5EF4-FFF2-40B4-BE49-F238E27FC236}">
                <a16:creationId xmlns:a16="http://schemas.microsoft.com/office/drawing/2014/main" id="{6D571878-57F9-47A3-B8F8-252B655FD40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84701" y="3285091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1658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420558" cy="644577"/>
          </a:xfrm>
        </p:spPr>
        <p:txBody>
          <a:bodyPr>
            <a:normAutofit fontScale="90000"/>
          </a:bodyPr>
          <a:lstStyle/>
          <a:p>
            <a:pPr marL="1976438" indent="-1976438"/>
            <a:r>
              <a:rPr lang="en-GB" sz="3600" dirty="0">
                <a:solidFill>
                  <a:srgbClr val="0000FF"/>
                </a:solidFill>
              </a:rPr>
              <a:t>5. Single Cycle Processor: </a:t>
            </a:r>
            <a:r>
              <a:rPr lang="en-GB" sz="3600" b="1" dirty="0">
                <a:solidFill>
                  <a:srgbClr val="0000FF"/>
                </a:solidFill>
              </a:rPr>
              <a:t>Performance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31</a:t>
            </a:fld>
            <a:endParaRPr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Content Placeholder 1">
                <a:extLst>
                  <a:ext uri="{FF2B5EF4-FFF2-40B4-BE49-F238E27FC236}">
                    <a16:creationId xmlns:a16="http://schemas.microsoft.com/office/drawing/2014/main" id="{B23CC8D3-0A30-4670-BE61-791E6E18DF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346417"/>
                <a:ext cx="8229600" cy="4784508"/>
              </a:xfrm>
            </p:spPr>
            <p:txBody>
              <a:bodyPr/>
              <a:lstStyle/>
              <a:p>
                <a:pPr marL="265113" indent="-265113">
                  <a:buSzPct val="100000"/>
                  <a:buFont typeface="Wingdings" panose="05000000000000000000" pitchFamily="2" charset="2"/>
                  <a:buChar char="§"/>
                </a:pPr>
                <a:r>
                  <a:rPr lang="en-US" sz="2800" dirty="0"/>
                  <a:t>Cycle time:</a:t>
                </a:r>
              </a:p>
              <a:p>
                <a:pPr marL="625475" lvl="1" indent="-265113">
                  <a:buSzPct val="100000"/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/>
                          </a:rPr>
                          <m:t>𝐶𝑇</m:t>
                        </m:r>
                      </m:e>
                      <m:sub>
                        <m:r>
                          <a:rPr lang="en-US" sz="2800" b="0" i="1" smtClean="0">
                            <a:latin typeface="Cambria Math"/>
                          </a:rPr>
                          <m:t>𝑠𝑒𝑞</m:t>
                        </m:r>
                      </m:sub>
                    </m:sSub>
                  </m:oMath>
                </a14:m>
                <a:r>
                  <a:rPr lang="en-US" sz="2800" dirty="0">
                    <a:latin typeface="Verdana" pitchFamily="34" charset="0"/>
                  </a:rPr>
                  <a:t>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US" sz="2800" i="1" dirty="0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2800" b="0" i="1" dirty="0" smtClean="0">
                            <a:latin typeface="Cambria Math"/>
                            <a:sym typeface="Symbol" pitchFamily="18" charset="2"/>
                          </a:rPr>
                          <m:t>𝑘</m:t>
                        </m:r>
                        <m:r>
                          <a:rPr lang="en-US" sz="2800" b="0" i="1" dirty="0" smtClean="0">
                            <a:latin typeface="Cambria Math"/>
                            <a:sym typeface="Symbol" pitchFamily="18" charset="2"/>
                          </a:rPr>
                          <m:t>=1</m:t>
                        </m:r>
                      </m:sub>
                      <m:sup>
                        <m:r>
                          <a:rPr lang="en-US" sz="2800" b="0" i="1" dirty="0" smtClean="0">
                            <a:latin typeface="Cambria Math"/>
                            <a:sym typeface="Symbol" pitchFamily="18" charset="2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sz="2800" i="1" dirty="0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en-US" sz="2800" b="0" i="1" dirty="0" smtClean="0">
                                <a:latin typeface="Cambria Math"/>
                                <a:sym typeface="Symbol" pitchFamily="18" charset="2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800" b="0" i="1" dirty="0" smtClean="0">
                                <a:latin typeface="Cambria Math"/>
                                <a:sym typeface="Symbol" pitchFamily="18" charset="2"/>
                              </a:rPr>
                              <m:t>𝑘</m:t>
                            </m:r>
                          </m:sub>
                        </m:sSub>
                      </m:e>
                    </m:nary>
                  </m:oMath>
                </a14:m>
                <a:endParaRPr lang="en-SG" dirty="0"/>
              </a:p>
              <a:p>
                <a:pPr marL="625475" lvl="1" indent="-265113">
                  <a:buSzPct val="100000"/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  <a:r>
                  <a:rPr lang="en-US" dirty="0"/>
                  <a:t>= Time for operation in stage k</a:t>
                </a:r>
              </a:p>
              <a:p>
                <a:pPr marL="625475" lvl="1" indent="-265113">
                  <a:buSzPct val="100000"/>
                  <a:buFont typeface="Wingdings" panose="05000000000000000000" pitchFamily="2" charset="2"/>
                  <a:buChar char="§"/>
                </a:pPr>
                <a:r>
                  <a:rPr lang="en-US" dirty="0"/>
                  <a:t>N = Number of stages</a:t>
                </a:r>
              </a:p>
              <a:p>
                <a:pPr marL="344487" lvl="1" indent="0">
                  <a:buNone/>
                </a:pPr>
                <a:endParaRPr lang="en-US" dirty="0"/>
              </a:p>
              <a:p>
                <a:pPr marL="265113" indent="-265113">
                  <a:buSzPct val="100000"/>
                  <a:buFont typeface="Wingdings" panose="05000000000000000000" pitchFamily="2" charset="2"/>
                  <a:buChar char="§"/>
                </a:pPr>
                <a:r>
                  <a:rPr lang="en-US" dirty="0"/>
                  <a:t>Total Execution Time for </a:t>
                </a:r>
                <a:r>
                  <a:rPr lang="en-US" sz="2800" b="1" dirty="0">
                    <a:solidFill>
                      <a:srgbClr val="C0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</a:t>
                </a:r>
                <a:r>
                  <a:rPr lang="en-US" dirty="0"/>
                  <a:t> instructions:</a:t>
                </a:r>
              </a:p>
              <a:p>
                <a:pPr marL="625475" lvl="1" indent="-265113">
                  <a:buSzPct val="100000"/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</a:rPr>
                          <m:t>𝑇𝑖𝑚𝑒</m:t>
                        </m:r>
                      </m:e>
                      <m:sub>
                        <m:r>
                          <a:rPr lang="en-US" sz="2400" i="1">
                            <a:latin typeface="Cambria Math"/>
                          </a:rPr>
                          <m:t>𝑠𝑒𝑞</m:t>
                        </m:r>
                      </m:sub>
                    </m:sSub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/>
                        <a:ea typeface="Cambria Math"/>
                      </a:rPr>
                      <m:t>Cycles</m:t>
                    </m:r>
                    <m:r>
                      <a:rPr lang="en-US" sz="2400" b="0" i="0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2400" b="0" i="1" smtClean="0">
                        <a:latin typeface="Cambria Math"/>
                        <a:ea typeface="Cambria Math"/>
                      </a:rPr>
                      <m:t>×</m:t>
                    </m:r>
                    <m:r>
                      <a:rPr lang="en-US" sz="2400" b="0" i="1" smtClean="0">
                        <a:latin typeface="Cambria Math"/>
                        <a:ea typeface="Cambria Math"/>
                      </a:rPr>
                      <m:t>𝐶𝑦𝑐𝑙𝑒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/>
                        <a:ea typeface="Cambria Math"/>
                      </a:rPr>
                      <m:t>Time</m:t>
                    </m:r>
                  </m:oMath>
                </a14:m>
                <a:endParaRPr lang="en-US" sz="2400" b="0" i="0" dirty="0">
                  <a:latin typeface="Cambria Math"/>
                  <a:ea typeface="Cambria Math"/>
                </a:endParaRPr>
              </a:p>
              <a:p>
                <a:pPr marL="344487" lvl="1" indent="0">
                  <a:buNone/>
                </a:pPr>
                <a:r>
                  <a:rPr lang="en-US" sz="2400" dirty="0">
                    <a:ea typeface="Cambria Math"/>
                  </a:rPr>
                  <a:t>		 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>
                        <a:latin typeface="Cambria Math"/>
                        <a:ea typeface="Cambria Math"/>
                      </a:rPr>
                      <m:t>I</m:t>
                    </m:r>
                    <m:r>
                      <a:rPr lang="en-US" sz="2400" i="1">
                        <a:latin typeface="Cambria Math"/>
                        <a:ea typeface="Cambria Math"/>
                      </a:rPr>
                      <m:t>×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  <a:ea typeface="Cambria Math"/>
                          </a:rPr>
                          <m:t>𝐶𝑇</m:t>
                        </m:r>
                      </m:e>
                      <m:sub>
                        <m:r>
                          <a:rPr lang="en-US" sz="2400" i="1">
                            <a:latin typeface="Cambria Math"/>
                            <a:ea typeface="Cambria Math"/>
                          </a:rPr>
                          <m:t>𝑠𝑒𝑞</m:t>
                        </m:r>
                      </m:sub>
                    </m:sSub>
                    <m:r>
                      <a:rPr lang="en-US" sz="2400" i="1">
                        <a:latin typeface="Cambria Math"/>
                        <a:ea typeface="Cambria Math"/>
                      </a:rPr>
                      <m:t>=</m:t>
                    </m:r>
                    <m:r>
                      <a:rPr lang="en-US" sz="2400" b="1" i="1">
                        <a:latin typeface="Cambria Math"/>
                        <a:ea typeface="Cambria Math"/>
                      </a:rPr>
                      <m:t>𝑰</m:t>
                    </m:r>
                    <m:r>
                      <a:rPr lang="en-US" sz="2400" b="1" i="1">
                        <a:latin typeface="Cambria Math"/>
                        <a:ea typeface="Cambria Math"/>
                      </a:rPr>
                      <m:t>×</m:t>
                    </m:r>
                    <m:nary>
                      <m:naryPr>
                        <m:chr m:val="∑"/>
                        <m:limLoc m:val="subSup"/>
                        <m:ctrlPr>
                          <a:rPr lang="en-US" sz="1800" b="1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1800" b="1" i="1" dirty="0">
                            <a:latin typeface="Cambria Math"/>
                            <a:sym typeface="Symbol" pitchFamily="18" charset="2"/>
                          </a:rPr>
                          <m:t>𝒌</m:t>
                        </m:r>
                        <m:r>
                          <a:rPr lang="en-US" sz="1800" b="1" i="1" dirty="0">
                            <a:latin typeface="Cambria Math"/>
                            <a:sym typeface="Symbol" pitchFamily="18" charset="2"/>
                          </a:rPr>
                          <m:t>=</m:t>
                        </m:r>
                        <m:r>
                          <a:rPr lang="en-US" sz="1800" b="1" i="1" dirty="0">
                            <a:latin typeface="Cambria Math"/>
                            <a:sym typeface="Symbol" pitchFamily="18" charset="2"/>
                          </a:rPr>
                          <m:t>𝟏</m:t>
                        </m:r>
                      </m:sub>
                      <m:sup>
                        <m:r>
                          <a:rPr lang="en-US" sz="1800" b="1" i="1" dirty="0">
                            <a:latin typeface="Cambria Math"/>
                            <a:sym typeface="Symbol" pitchFamily="18" charset="2"/>
                          </a:rPr>
                          <m:t>𝑵</m:t>
                        </m:r>
                      </m:sup>
                      <m:e>
                        <m:sSub>
                          <m:sSubPr>
                            <m:ctrlPr>
                              <a:rPr lang="en-US" sz="1800" b="1" i="1" dirty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en-US" sz="1800" b="1" i="1" dirty="0">
                                <a:latin typeface="Cambria Math"/>
                                <a:sym typeface="Symbol" pitchFamily="18" charset="2"/>
                              </a:rPr>
                              <m:t>𝑻</m:t>
                            </m:r>
                          </m:e>
                          <m:sub>
                            <m:r>
                              <a:rPr lang="en-US" sz="1800" b="1" i="1" dirty="0">
                                <a:latin typeface="Cambria Math"/>
                                <a:sym typeface="Symbol" pitchFamily="18" charset="2"/>
                              </a:rPr>
                              <m:t>𝒌</m:t>
                            </m:r>
                          </m:sub>
                        </m:sSub>
                      </m:e>
                    </m:nary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46" name="Content Placeholder 1">
                <a:extLst>
                  <a:ext uri="{FF2B5EF4-FFF2-40B4-BE49-F238E27FC236}">
                    <a16:creationId xmlns:a16="http://schemas.microsoft.com/office/drawing/2014/main" id="{B23CC8D3-0A30-4670-BE61-791E6E18DF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346417"/>
                <a:ext cx="8229600" cy="4784508"/>
              </a:xfrm>
              <a:blipFill>
                <a:blip r:embed="rId3"/>
                <a:stretch>
                  <a:fillRect l="-1259" t="-140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429000" y="18288"/>
            <a:ext cx="4114800" cy="329184"/>
          </a:xfrm>
          <a:noFill/>
        </p:spPr>
        <p:txBody>
          <a:bodyPr/>
          <a:lstStyle/>
          <a:p>
            <a:pPr algn="l"/>
            <a:r>
              <a:rPr lang="en-SG"/>
              <a:t>Lecture #20: Pipelining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0991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420558" cy="644577"/>
          </a:xfrm>
        </p:spPr>
        <p:txBody>
          <a:bodyPr>
            <a:normAutofit fontScale="90000"/>
          </a:bodyPr>
          <a:lstStyle/>
          <a:p>
            <a:pPr marL="1976438" indent="-1976438"/>
            <a:r>
              <a:rPr lang="en-GB" sz="3600" dirty="0">
                <a:solidFill>
                  <a:srgbClr val="0000FF"/>
                </a:solidFill>
              </a:rPr>
              <a:t>5. Single Cycle Processor: </a:t>
            </a:r>
            <a:r>
              <a:rPr lang="en-GB" sz="3600" b="1" dirty="0">
                <a:solidFill>
                  <a:srgbClr val="0000FF"/>
                </a:solidFill>
              </a:rPr>
              <a:t>Example</a:t>
            </a:r>
            <a:endParaRPr lang="en-GB" sz="3600" dirty="0">
              <a:solidFill>
                <a:srgbClr val="0000FF"/>
              </a:solidFill>
            </a:endParaRP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#20: Pipelining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32</a:t>
            </a:fld>
            <a:endParaRPr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28" name="Rectangle 64">
            <a:extLst>
              <a:ext uri="{FF2B5EF4-FFF2-40B4-BE49-F238E27FC236}">
                <a16:creationId xmlns:a16="http://schemas.microsoft.com/office/drawing/2014/main" id="{ADEC7235-C772-4707-BF07-75067F592F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3784816"/>
            <a:ext cx="8077200" cy="23994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65113" indent="-265113">
              <a:spcBef>
                <a:spcPts val="600"/>
              </a:spcBef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C00000"/>
                </a:solidFill>
              </a:rPr>
              <a:t>Cycle Time</a:t>
            </a:r>
          </a:p>
          <a:p>
            <a:pPr marL="625475" lvl="1" indent="-265113">
              <a:spcBef>
                <a:spcPts val="600"/>
              </a:spcBef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Choose the longest total time = </a:t>
            </a:r>
            <a:r>
              <a:rPr lang="en-US" sz="2400" b="1" dirty="0"/>
              <a:t>8ns</a:t>
            </a:r>
          </a:p>
          <a:p>
            <a:pPr marL="265113" indent="-265113">
              <a:spcBef>
                <a:spcPts val="1200"/>
              </a:spcBef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To execute </a:t>
            </a:r>
            <a:r>
              <a:rPr lang="en-US" sz="2800" b="1" dirty="0"/>
              <a:t>100 instructions:</a:t>
            </a:r>
          </a:p>
          <a:p>
            <a:pPr marL="625475" lvl="1" indent="-265113">
              <a:spcBef>
                <a:spcPts val="600"/>
              </a:spcBef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b="1" dirty="0"/>
              <a:t>100 </a:t>
            </a:r>
            <a:r>
              <a:rPr lang="en-US" sz="2400" b="1" dirty="0">
                <a:sym typeface="Symbol" panose="05050102010706020507" pitchFamily="18" charset="2"/>
              </a:rPr>
              <a:t></a:t>
            </a:r>
            <a:r>
              <a:rPr lang="en-US" sz="2400" b="1" dirty="0"/>
              <a:t> 8ns = 800ns</a:t>
            </a:r>
            <a:endParaRPr lang="en-US" sz="2400" dirty="0"/>
          </a:p>
        </p:txBody>
      </p:sp>
      <p:graphicFrame>
        <p:nvGraphicFramePr>
          <p:cNvPr id="29" name="Group 59">
            <a:extLst>
              <a:ext uri="{FF2B5EF4-FFF2-40B4-BE49-F238E27FC236}">
                <a16:creationId xmlns:a16="http://schemas.microsoft.com/office/drawing/2014/main" id="{4A96A94A-AE92-4E43-A054-968F646A3DA7}"/>
              </a:ext>
            </a:extLst>
          </p:cNvPr>
          <p:cNvGraphicFramePr>
            <a:graphicFrameLocks/>
          </p:cNvGraphicFramePr>
          <p:nvPr/>
        </p:nvGraphicFramePr>
        <p:xfrm>
          <a:off x="1143000" y="1346417"/>
          <a:ext cx="6857999" cy="2195767"/>
        </p:xfrm>
        <a:graphic>
          <a:graphicData uri="http://schemas.openxmlformats.org/drawingml/2006/table">
            <a:tbl>
              <a:tblPr firstRow="1" firstCol="1" bandCol="1">
                <a:tableStyleId>{1E171933-4619-4E11-9A3F-F7608DF75F80}</a:tableStyleId>
              </a:tblPr>
              <a:tblGrid>
                <a:gridCol w="1397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4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45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54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93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93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93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807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Instruction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Inst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Mem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Reg</a:t>
                      </a:r>
                      <a:endParaRPr kumimoji="0" lang="en-US" sz="180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read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ALU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Data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Mem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Reg</a:t>
                      </a:r>
                      <a:endParaRPr kumimoji="0" lang="en-US" sz="180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write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Total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ALU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6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2FF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lw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</a:rPr>
                        <a:t>8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solidFill>
                      <a:srgbClr val="E2FF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94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sw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7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solidFill>
                      <a:srgbClr val="E2FF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beq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5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solidFill>
                      <a:srgbClr val="E2FF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9209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420558" cy="644577"/>
          </a:xfrm>
        </p:spPr>
        <p:txBody>
          <a:bodyPr>
            <a:normAutofit fontScale="90000"/>
          </a:bodyPr>
          <a:lstStyle/>
          <a:p>
            <a:pPr marL="1976438" indent="-1976438"/>
            <a:r>
              <a:rPr lang="en-GB" sz="3600" dirty="0">
                <a:solidFill>
                  <a:srgbClr val="0000FF"/>
                </a:solidFill>
              </a:rPr>
              <a:t>5. Multi-Cycle Processor: </a:t>
            </a:r>
            <a:r>
              <a:rPr lang="en-GB" sz="3600" b="1" dirty="0">
                <a:solidFill>
                  <a:srgbClr val="0000FF"/>
                </a:solidFill>
              </a:rPr>
              <a:t>Performance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33</a:t>
            </a:fld>
            <a:endParaRPr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1">
                <a:extLst>
                  <a:ext uri="{FF2B5EF4-FFF2-40B4-BE49-F238E27FC236}">
                    <a16:creationId xmlns:a16="http://schemas.microsoft.com/office/drawing/2014/main" id="{C81E5CFE-0F94-4066-A39D-BD3DE66AC0A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346417"/>
                <a:ext cx="8229600" cy="4784508"/>
              </a:xfrm>
            </p:spPr>
            <p:txBody>
              <a:bodyPr/>
              <a:lstStyle/>
              <a:p>
                <a:pPr marL="265113" indent="-265113">
                  <a:buSzPct val="100000"/>
                  <a:buFont typeface="Wingdings" panose="05000000000000000000" pitchFamily="2" charset="2"/>
                  <a:buChar char="§"/>
                </a:pPr>
                <a:r>
                  <a:rPr lang="en-US" sz="2800" dirty="0"/>
                  <a:t>Cycle time:</a:t>
                </a:r>
              </a:p>
              <a:p>
                <a:pPr marL="625475" lvl="1" indent="-265113">
                  <a:buSzPct val="100000"/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/>
                          </a:rPr>
                          <m:t>𝐶𝑇</m:t>
                        </m:r>
                      </m:e>
                      <m:sub>
                        <m:r>
                          <a:rPr lang="en-US" sz="2800" b="0" i="1" smtClean="0">
                            <a:latin typeface="Cambria Math"/>
                          </a:rPr>
                          <m:t>𝑚𝑢𝑙𝑡𝑖</m:t>
                        </m:r>
                      </m:sub>
                    </m:sSub>
                  </m:oMath>
                </a14:m>
                <a:r>
                  <a:rPr lang="en-US" sz="2800" dirty="0">
                    <a:latin typeface="Verdana" pitchFamily="34" charset="0"/>
                  </a:rPr>
                  <a:t> =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latin typeface="Cambria Math"/>
                          </a:rPr>
                          <m:t>max</m:t>
                        </m:r>
                      </m:fName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800" i="1" dirty="0">
                                    <a:latin typeface="Cambria Math" panose="02040503050406030204" pitchFamily="18" charset="0"/>
                                    <a:sym typeface="Symbol" pitchFamily="18" charset="2"/>
                                  </a:rPr>
                                </m:ctrlPr>
                              </m:sSubPr>
                              <m:e>
                                <m:r>
                                  <a:rPr lang="en-US" sz="2800" i="1" dirty="0">
                                    <a:latin typeface="Cambria Math"/>
                                    <a:sym typeface="Symbol" pitchFamily="18" charset="2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2800" i="1" dirty="0">
                                    <a:latin typeface="Cambria Math"/>
                                    <a:sym typeface="Symbol" pitchFamily="18" charset="2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endParaRPr lang="en-SG" sz="2800" dirty="0"/>
              </a:p>
              <a:p>
                <a:pPr marL="625475" lvl="1" indent="-265113">
                  <a:buSzPct val="100000"/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latin typeface="Cambria Math"/>
                          </a:rPr>
                          <m:t>max</m:t>
                        </m:r>
                      </m:fName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 dirty="0">
                                    <a:latin typeface="Cambria Math" panose="02040503050406030204" pitchFamily="18" charset="0"/>
                                    <a:sym typeface="Symbol" pitchFamily="18" charset="2"/>
                                  </a:rPr>
                                </m:ctrlPr>
                              </m:sSubPr>
                              <m:e>
                                <m:r>
                                  <a:rPr lang="en-US" sz="2400" i="1" dirty="0">
                                    <a:latin typeface="Cambria Math"/>
                                    <a:sym typeface="Symbol" pitchFamily="18" charset="2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2400" i="1" dirty="0">
                                    <a:latin typeface="Cambria Math"/>
                                    <a:sym typeface="Symbol" pitchFamily="18" charset="2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sz="2400" i="1" dirty="0">
                        <a:latin typeface="Cambria Math"/>
                        <a:sym typeface="Symbol" pitchFamily="18" charset="2"/>
                      </a:rPr>
                      <m:t>= </m:t>
                    </m:r>
                    <m:r>
                      <m:rPr>
                        <m:nor/>
                      </m:rPr>
                      <a:rPr lang="en-US" sz="2400" dirty="0">
                        <a:latin typeface="Cambria Math"/>
                        <a:sym typeface="Symbol" pitchFamily="18" charset="2"/>
                      </a:rPr>
                      <m:t>longest</m:t>
                    </m:r>
                    <m:r>
                      <m:rPr>
                        <m:nor/>
                      </m:rPr>
                      <a:rPr lang="en-US" sz="2400" dirty="0">
                        <a:latin typeface="Cambria Math"/>
                        <a:sym typeface="Symbol" pitchFamily="18" charset="2"/>
                      </a:rPr>
                      <m:t> </m:t>
                    </m:r>
                    <m:r>
                      <m:rPr>
                        <m:nor/>
                      </m:rPr>
                      <a:rPr lang="en-US" sz="2400" b="0" i="0" dirty="0" smtClean="0">
                        <a:latin typeface="Cambria Math"/>
                        <a:sym typeface="Symbol" pitchFamily="18" charset="2"/>
                      </a:rPr>
                      <m:t>stage</m:t>
                    </m:r>
                    <m:r>
                      <m:rPr>
                        <m:nor/>
                      </m:rPr>
                      <a:rPr lang="en-US" sz="2400" b="0" i="0" dirty="0" smtClean="0">
                        <a:latin typeface="Cambria Math"/>
                        <a:sym typeface="Symbol" pitchFamily="18" charset="2"/>
                      </a:rPr>
                      <m:t> </m:t>
                    </m:r>
                    <m:r>
                      <m:rPr>
                        <m:nor/>
                      </m:rPr>
                      <a:rPr lang="en-US" sz="2400" b="0" i="0" dirty="0" smtClean="0">
                        <a:latin typeface="Cambria Math"/>
                        <a:sym typeface="Symbol" pitchFamily="18" charset="2"/>
                      </a:rPr>
                      <m:t>duration</m:t>
                    </m:r>
                    <m:r>
                      <m:rPr>
                        <m:nor/>
                      </m:rPr>
                      <a:rPr lang="en-US" sz="2400" b="0" i="0" dirty="0" smtClean="0">
                        <a:latin typeface="Cambria Math"/>
                        <a:sym typeface="Symbol" pitchFamily="18" charset="2"/>
                      </a:rPr>
                      <m:t> </m:t>
                    </m:r>
                    <m:r>
                      <m:rPr>
                        <m:nor/>
                      </m:rPr>
                      <a:rPr lang="en-US" sz="2400" dirty="0">
                        <a:latin typeface="Cambria Math"/>
                        <a:sym typeface="Symbol" pitchFamily="18" charset="2"/>
                      </a:rPr>
                      <m:t>among</m:t>
                    </m:r>
                    <m:r>
                      <m:rPr>
                        <m:nor/>
                      </m:rPr>
                      <a:rPr lang="en-US" sz="2400" dirty="0">
                        <a:latin typeface="Cambria Math"/>
                        <a:sym typeface="Symbol" pitchFamily="18" charset="2"/>
                      </a:rPr>
                      <m:t> </m:t>
                    </m:r>
                    <m:r>
                      <m:rPr>
                        <m:nor/>
                      </m:rPr>
                      <a:rPr lang="en-US" sz="2400" dirty="0">
                        <a:latin typeface="Cambria Math"/>
                        <a:sym typeface="Symbol" pitchFamily="18" charset="2"/>
                      </a:rPr>
                      <m:t>the</m:t>
                    </m:r>
                    <m:r>
                      <m:rPr>
                        <m:nor/>
                      </m:rPr>
                      <a:rPr lang="en-US" sz="2400" dirty="0">
                        <a:latin typeface="Cambria Math"/>
                        <a:sym typeface="Symbol" pitchFamily="18" charset="2"/>
                      </a:rPr>
                      <m:t> </m:t>
                    </m:r>
                    <m:r>
                      <m:rPr>
                        <m:nor/>
                      </m:rPr>
                      <a:rPr lang="en-US" sz="2400" dirty="0">
                        <a:latin typeface="Cambria Math"/>
                        <a:sym typeface="Symbol" pitchFamily="18" charset="2"/>
                      </a:rPr>
                      <m:t>N</m:t>
                    </m:r>
                    <m:r>
                      <m:rPr>
                        <m:nor/>
                      </m:rPr>
                      <a:rPr lang="en-US" sz="2400" dirty="0">
                        <a:latin typeface="Cambria Math"/>
                        <a:sym typeface="Symbol" pitchFamily="18" charset="2"/>
                      </a:rPr>
                      <m:t> </m:t>
                    </m:r>
                    <m:r>
                      <m:rPr>
                        <m:nor/>
                      </m:rPr>
                      <a:rPr lang="en-US" sz="2400" dirty="0">
                        <a:latin typeface="Cambria Math"/>
                        <a:sym typeface="Symbol" pitchFamily="18" charset="2"/>
                      </a:rPr>
                      <m:t>stages</m:t>
                    </m:r>
                  </m:oMath>
                </a14:m>
                <a:endParaRPr lang="en-US" sz="2400" dirty="0"/>
              </a:p>
              <a:p>
                <a:pPr marL="344487" lvl="1" indent="0">
                  <a:buNone/>
                </a:pPr>
                <a:endParaRPr lang="en-US" dirty="0"/>
              </a:p>
              <a:p>
                <a:pPr marL="265113" indent="-265113">
                  <a:buFont typeface="Wingdings" panose="05000000000000000000" pitchFamily="2" charset="2"/>
                  <a:buChar char="§"/>
                </a:pPr>
                <a:r>
                  <a:rPr lang="en-US" sz="2800" dirty="0"/>
                  <a:t>Total Execution Time for </a:t>
                </a:r>
                <a:r>
                  <a:rPr lang="en-US" sz="2800" b="1" dirty="0">
                    <a:solidFill>
                      <a:srgbClr val="C0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</a:t>
                </a:r>
                <a:r>
                  <a:rPr lang="en-US" sz="2800" dirty="0"/>
                  <a:t> instructions:</a:t>
                </a:r>
              </a:p>
              <a:p>
                <a:pPr marL="625475" lvl="1" indent="-265113">
                  <a:buSzPct val="100000"/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</a:rPr>
                          <m:t>𝑇𝑖𝑚𝑒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𝑚𝑢𝑙𝑡𝑖</m:t>
                        </m:r>
                      </m:sub>
                    </m:sSub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/>
                        <a:ea typeface="Cambria Math"/>
                      </a:rPr>
                      <m:t>Cycles</m:t>
                    </m:r>
                    <m:r>
                      <a:rPr lang="en-US" sz="2400" b="0" i="0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2400" b="0" i="1" smtClean="0">
                        <a:latin typeface="Cambria Math"/>
                        <a:ea typeface="Cambria Math"/>
                      </a:rPr>
                      <m:t>×</m:t>
                    </m:r>
                    <m:r>
                      <a:rPr lang="en-US" sz="2400" b="0" i="1" smtClean="0">
                        <a:latin typeface="Cambria Math"/>
                        <a:ea typeface="Cambria Math"/>
                      </a:rPr>
                      <m:t>𝐶𝑦𝑐𝑙𝑒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/>
                        <a:ea typeface="Cambria Math"/>
                      </a:rPr>
                      <m:t>Time</m:t>
                    </m:r>
                  </m:oMath>
                </a14:m>
                <a:endParaRPr lang="en-US" sz="2400" b="0" i="0" dirty="0">
                  <a:latin typeface="Cambria Math"/>
                  <a:ea typeface="Cambria Math"/>
                </a:endParaRPr>
              </a:p>
              <a:p>
                <a:pPr marL="344487" lvl="1" indent="0">
                  <a:buNone/>
                </a:pPr>
                <a:r>
                  <a:rPr lang="en-US" sz="2400" dirty="0">
                    <a:ea typeface="Cambria Math"/>
                  </a:rPr>
                  <a:t>		 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>
                        <a:latin typeface="Cambria Math"/>
                        <a:ea typeface="Cambria Math"/>
                      </a:rPr>
                      <m:t>I</m:t>
                    </m:r>
                    <m:r>
                      <a:rPr lang="en-US" sz="2400" i="1" smtClean="0">
                        <a:latin typeface="Cambria Math"/>
                        <a:ea typeface="Cambria Math"/>
                      </a:rPr>
                      <m:t>×</m:t>
                    </m:r>
                    <m:r>
                      <a:rPr lang="en-US" sz="2400" b="1" i="1" smtClean="0">
                        <a:latin typeface="Cambria Math"/>
                        <a:ea typeface="Cambria Math"/>
                      </a:rPr>
                      <m:t>𝑨𝒗𝒆𝒓𝒂𝒈𝒆</m:t>
                    </m:r>
                    <m:r>
                      <a:rPr lang="en-US" sz="2400" b="1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2400" b="1" i="1" smtClean="0">
                        <a:latin typeface="Cambria Math"/>
                        <a:ea typeface="Cambria Math"/>
                      </a:rPr>
                      <m:t>𝑪𝑷𝑰</m:t>
                    </m:r>
                    <m:r>
                      <a:rPr lang="en-US" sz="2400" i="1">
                        <a:latin typeface="Cambria Math"/>
                        <a:ea typeface="Cambria Math"/>
                      </a:rPr>
                      <m:t>×</m:t>
                    </m:r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  <a:ea typeface="Cambria Math"/>
                          </a:rPr>
                          <m:t>𝐶𝑇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  <a:ea typeface="Cambria Math"/>
                          </a:rPr>
                          <m:t>𝑚𝑢𝑙𝑡𝑖</m:t>
                        </m:r>
                      </m:sub>
                    </m:sSub>
                  </m:oMath>
                </a14:m>
                <a:endParaRPr lang="en-US" b="1" dirty="0"/>
              </a:p>
              <a:p>
                <a:pPr marL="625475" lvl="1" indent="-265113">
                  <a:buSzPct val="100000"/>
                  <a:buFont typeface="Wingdings" panose="05000000000000000000" pitchFamily="2" charset="2"/>
                  <a:buChar char="§"/>
                </a:pPr>
                <a:r>
                  <a:rPr lang="en-US" sz="2400" dirty="0"/>
                  <a:t>Average CPI is needed because each instruction takes different number of cycles to finish</a:t>
                </a:r>
              </a:p>
            </p:txBody>
          </p:sp>
        </mc:Choice>
        <mc:Fallback xmlns="">
          <p:sp>
            <p:nvSpPr>
              <p:cNvPr id="8" name="Content Placeholder 1">
                <a:extLst>
                  <a:ext uri="{FF2B5EF4-FFF2-40B4-BE49-F238E27FC236}">
                    <a16:creationId xmlns:a16="http://schemas.microsoft.com/office/drawing/2014/main" id="{C81E5CFE-0F94-4066-A39D-BD3DE66AC0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346417"/>
                <a:ext cx="8229600" cy="4784508"/>
              </a:xfrm>
              <a:blipFill>
                <a:blip r:embed="rId3"/>
                <a:stretch>
                  <a:fillRect l="-1259" t="-1401" r="-1926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429000" y="18288"/>
            <a:ext cx="4114800" cy="329184"/>
          </a:xfrm>
          <a:noFill/>
        </p:spPr>
        <p:txBody>
          <a:bodyPr/>
          <a:lstStyle/>
          <a:p>
            <a:pPr algn="l"/>
            <a:r>
              <a:rPr lang="en-SG"/>
              <a:t>Lecture #20: Pipelining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23770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420558" cy="644577"/>
          </a:xfrm>
        </p:spPr>
        <p:txBody>
          <a:bodyPr>
            <a:normAutofit fontScale="90000"/>
          </a:bodyPr>
          <a:lstStyle/>
          <a:p>
            <a:pPr marL="1976438" indent="-1976438"/>
            <a:r>
              <a:rPr lang="en-GB" sz="3600" dirty="0">
                <a:solidFill>
                  <a:srgbClr val="0000FF"/>
                </a:solidFill>
              </a:rPr>
              <a:t>5. Multi-Cycle Processor: </a:t>
            </a:r>
            <a:r>
              <a:rPr lang="en-GB" sz="3600" b="1" dirty="0">
                <a:solidFill>
                  <a:srgbClr val="0000FF"/>
                </a:solidFill>
              </a:rPr>
              <a:t>Example</a:t>
            </a:r>
            <a:endParaRPr lang="en-GB" sz="3600" dirty="0">
              <a:solidFill>
                <a:srgbClr val="0000FF"/>
              </a:solidFill>
            </a:endParaRP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#20: Pipelining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34</a:t>
            </a:fld>
            <a:endParaRPr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52" name="Rectangle 64">
            <a:extLst>
              <a:ext uri="{FF2B5EF4-FFF2-40B4-BE49-F238E27FC236}">
                <a16:creationId xmlns:a16="http://schemas.microsoft.com/office/drawing/2014/main" id="{F564EAF7-7858-4563-9C72-FB7F8D4025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321" y="3818021"/>
            <a:ext cx="8077200" cy="2828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9250" indent="-349250">
              <a:spcBef>
                <a:spcPct val="4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</a:pPr>
            <a:r>
              <a:rPr lang="en-US" sz="2800" dirty="0">
                <a:solidFill>
                  <a:srgbClr val="C00000"/>
                </a:solidFill>
              </a:rPr>
              <a:t>Cycle Time</a:t>
            </a:r>
          </a:p>
          <a:p>
            <a:pPr marL="806450" lvl="1" indent="-349250">
              <a:spcBef>
                <a:spcPts val="6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</a:pPr>
            <a:r>
              <a:rPr lang="en-US" sz="2400" dirty="0"/>
              <a:t>Choose the longest stage time = </a:t>
            </a:r>
            <a:r>
              <a:rPr lang="en-US" sz="2400" b="1" dirty="0"/>
              <a:t>2ns</a:t>
            </a:r>
          </a:p>
          <a:p>
            <a:pPr marL="349250" indent="-349250">
              <a:spcBef>
                <a:spcPts val="12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</a:pPr>
            <a:r>
              <a:rPr lang="en-US" sz="2800" dirty="0"/>
              <a:t>To execute </a:t>
            </a:r>
            <a:r>
              <a:rPr lang="en-US" sz="2800" b="1" dirty="0"/>
              <a:t>100 instructions</a:t>
            </a:r>
            <a:r>
              <a:rPr lang="en-US" sz="2800" dirty="0"/>
              <a:t>, with a given </a:t>
            </a:r>
            <a:r>
              <a:rPr lang="en-US" sz="2800" b="1" dirty="0"/>
              <a:t>average CPI of </a:t>
            </a:r>
            <a:r>
              <a:rPr lang="en-US" sz="2800" b="1" dirty="0">
                <a:solidFill>
                  <a:srgbClr val="C00000"/>
                </a:solidFill>
              </a:rPr>
              <a:t>4.6</a:t>
            </a:r>
          </a:p>
          <a:p>
            <a:pPr marL="806450" lvl="1" indent="-349250">
              <a:spcBef>
                <a:spcPts val="6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</a:pPr>
            <a:r>
              <a:rPr lang="en-US" sz="2400" b="1" dirty="0"/>
              <a:t>100 </a:t>
            </a:r>
            <a:r>
              <a:rPr lang="en-US" sz="2400" b="1" dirty="0">
                <a:sym typeface="Symbol" panose="05050102010706020507" pitchFamily="18" charset="2"/>
              </a:rPr>
              <a:t></a:t>
            </a:r>
            <a:r>
              <a:rPr lang="en-US" sz="2400" b="1" dirty="0"/>
              <a:t> 4.6 </a:t>
            </a:r>
            <a:r>
              <a:rPr lang="en-US" sz="2400" b="1" dirty="0">
                <a:sym typeface="Symbol" panose="05050102010706020507" pitchFamily="18" charset="2"/>
              </a:rPr>
              <a:t></a:t>
            </a:r>
            <a:r>
              <a:rPr lang="en-US" sz="2400" b="1" dirty="0"/>
              <a:t> 2ns = 920ns</a:t>
            </a:r>
            <a:endParaRPr lang="en-US" sz="2400" dirty="0"/>
          </a:p>
        </p:txBody>
      </p:sp>
      <p:graphicFrame>
        <p:nvGraphicFramePr>
          <p:cNvPr id="53" name="Group 59">
            <a:extLst>
              <a:ext uri="{FF2B5EF4-FFF2-40B4-BE49-F238E27FC236}">
                <a16:creationId xmlns:a16="http://schemas.microsoft.com/office/drawing/2014/main" id="{2A5C11A5-42CA-439C-8F25-D02C706F3E37}"/>
              </a:ext>
            </a:extLst>
          </p:cNvPr>
          <p:cNvGraphicFramePr>
            <a:graphicFrameLocks/>
          </p:cNvGraphicFramePr>
          <p:nvPr/>
        </p:nvGraphicFramePr>
        <p:xfrm>
          <a:off x="1143000" y="1422617"/>
          <a:ext cx="6857999" cy="2195767"/>
        </p:xfrm>
        <a:graphic>
          <a:graphicData uri="http://schemas.openxmlformats.org/drawingml/2006/table">
            <a:tbl>
              <a:tblPr firstRow="1" firstCol="1" bandCol="1">
                <a:tableStyleId>{1E171933-4619-4E11-9A3F-F7608DF75F80}</a:tableStyleId>
              </a:tblPr>
              <a:tblGrid>
                <a:gridCol w="1397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4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45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54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93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93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93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5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Instruction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Inst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Mem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Reg</a:t>
                      </a:r>
                      <a:endParaRPr kumimoji="0" lang="en-US" sz="180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read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ALU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Data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Mem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Reg</a:t>
                      </a:r>
                      <a:endParaRPr kumimoji="0" lang="en-US" sz="180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write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Total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ALU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horzOverflow="overflow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</a:rPr>
                        <a:t>2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6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2FF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lw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</a:rPr>
                        <a:t>2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8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solidFill>
                      <a:srgbClr val="E2FF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94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sw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</a:rPr>
                        <a:t>2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7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solidFill>
                      <a:srgbClr val="E2FF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beq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</a:rPr>
                        <a:t>2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5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solidFill>
                      <a:srgbClr val="E2FF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3410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build="allAtOnce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420558" cy="644577"/>
          </a:xfrm>
        </p:spPr>
        <p:txBody>
          <a:bodyPr>
            <a:normAutofit fontScale="90000"/>
          </a:bodyPr>
          <a:lstStyle/>
          <a:p>
            <a:pPr marL="1976438" indent="-1976438"/>
            <a:r>
              <a:rPr lang="en-GB" sz="3600" dirty="0">
                <a:solidFill>
                  <a:srgbClr val="0000FF"/>
                </a:solidFill>
              </a:rPr>
              <a:t>5. Pipeline Processor: </a:t>
            </a:r>
            <a:r>
              <a:rPr lang="en-GB" sz="3600" b="1" dirty="0">
                <a:solidFill>
                  <a:srgbClr val="0000FF"/>
                </a:solidFill>
              </a:rPr>
              <a:t>Performance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35</a:t>
            </a:fld>
            <a:endParaRPr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1">
                <a:extLst>
                  <a:ext uri="{FF2B5EF4-FFF2-40B4-BE49-F238E27FC236}">
                    <a16:creationId xmlns:a16="http://schemas.microsoft.com/office/drawing/2014/main" id="{F21B8F2D-8E98-403F-B6F6-BAFB6F5BFE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95758" y="1346416"/>
                <a:ext cx="8229600" cy="5222825"/>
              </a:xfrm>
            </p:spPr>
            <p:txBody>
              <a:bodyPr>
                <a:normAutofit/>
              </a:bodyPr>
              <a:lstStyle/>
              <a:p>
                <a:pPr marL="265113" indent="-265113">
                  <a:buSzPct val="100000"/>
                  <a:buFont typeface="Wingdings" panose="05000000000000000000" pitchFamily="2" charset="2"/>
                  <a:buChar char="§"/>
                </a:pPr>
                <a:r>
                  <a:rPr lang="en-US" sz="2800" dirty="0"/>
                  <a:t>Cycle Time:</a:t>
                </a:r>
              </a:p>
              <a:p>
                <a:pPr marL="625475" lvl="1" indent="-265113">
                  <a:spcBef>
                    <a:spcPts val="600"/>
                  </a:spcBef>
                  <a:buSzPct val="100000"/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/>
                          </a:rPr>
                          <m:t>𝐶</m:t>
                        </m:r>
                        <m:r>
                          <a:rPr lang="en-US" sz="2400" i="1"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𝑝𝑖𝑝𝑒</m:t>
                        </m:r>
                        <m:r>
                          <a:rPr lang="en-SG" sz="2400" b="0" i="1" smtClean="0">
                            <a:latin typeface="Cambria Math" panose="02040503050406030204" pitchFamily="18" charset="0"/>
                          </a:rPr>
                          <m:t>𝑙𝑖𝑛𝑒</m:t>
                        </m:r>
                      </m:sub>
                    </m:sSub>
                  </m:oMath>
                </a14:m>
                <a:r>
                  <a:rPr lang="en-US" sz="2400" dirty="0">
                    <a:latin typeface="Verdana" pitchFamily="34" charset="0"/>
                  </a:rPr>
                  <a:t> 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/>
                          </a:rPr>
                          <m:t>max</m:t>
                        </m:r>
                      </m:fName>
                      <m:e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 dirty="0" smtClean="0">
                                    <a:latin typeface="Cambria Math" panose="02040503050406030204" pitchFamily="18" charset="0"/>
                                    <a:sym typeface="Symbol" pitchFamily="18" charset="2"/>
                                  </a:rPr>
                                </m:ctrlPr>
                              </m:sSubPr>
                              <m:e>
                                <m:r>
                                  <a:rPr lang="en-US" sz="2400" i="1" dirty="0">
                                    <a:latin typeface="Cambria Math"/>
                                    <a:sym typeface="Symbol" pitchFamily="18" charset="2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2400" b="0" i="1" dirty="0" smtClean="0">
                                    <a:latin typeface="Cambria Math"/>
                                    <a:sym typeface="Symbol" pitchFamily="18" charset="2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sz="2000" b="0" i="1" smtClean="0">
                        <a:latin typeface="Cambria Math"/>
                      </a:rPr>
                      <m:t>+</m:t>
                    </m:r>
                  </m:oMath>
                </a14:m>
                <a:r>
                  <a:rPr lang="en-SG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/>
                            <a:sym typeface="Symbol" pitchFamily="18" charset="2"/>
                          </a:rPr>
                          <m:t>𝑇</m:t>
                        </m:r>
                      </m:e>
                      <m:sub>
                        <m:r>
                          <a:rPr lang="en-US" sz="2400" b="0" i="1" dirty="0" smtClean="0">
                            <a:latin typeface="Cambria Math"/>
                            <a:sym typeface="Symbol" pitchFamily="18" charset="2"/>
                          </a:rPr>
                          <m:t>𝑑</m:t>
                        </m:r>
                      </m:sub>
                    </m:sSub>
                  </m:oMath>
                </a14:m>
                <a:endParaRPr lang="en-SG" dirty="0"/>
              </a:p>
              <a:p>
                <a:pPr marL="625475" lvl="1" indent="-265113">
                  <a:spcBef>
                    <a:spcPts val="600"/>
                  </a:spcBef>
                  <a:buSzPct val="100000"/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latin typeface="Cambria Math"/>
                          </a:rPr>
                          <m:t>max</m:t>
                        </m:r>
                      </m:fName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800" i="1" dirty="0">
                                    <a:latin typeface="Cambria Math" panose="02040503050406030204" pitchFamily="18" charset="0"/>
                                    <a:sym typeface="Symbol" pitchFamily="18" charset="2"/>
                                  </a:rPr>
                                </m:ctrlPr>
                              </m:sSubPr>
                              <m:e>
                                <m:r>
                                  <a:rPr lang="en-US" sz="2800" i="1" dirty="0">
                                    <a:latin typeface="Cambria Math"/>
                                    <a:sym typeface="Symbol" pitchFamily="18" charset="2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2800" b="0" i="1" dirty="0" smtClean="0">
                                    <a:latin typeface="Cambria Math"/>
                                    <a:sym typeface="Symbol" pitchFamily="18" charset="2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sz="2800" b="0" i="1" dirty="0" smtClean="0">
                        <a:latin typeface="Cambria Math"/>
                        <a:sym typeface="Symbol" pitchFamily="18" charset="2"/>
                      </a:rPr>
                      <m:t>= </m:t>
                    </m:r>
                    <m:r>
                      <m:rPr>
                        <m:nor/>
                      </m:rPr>
                      <a:rPr lang="en-US" sz="2800" b="0" i="0" dirty="0" smtClean="0">
                        <a:latin typeface="Cambria Math"/>
                        <a:sym typeface="Symbol" pitchFamily="18" charset="2"/>
                      </a:rPr>
                      <m:t>longest</m:t>
                    </m:r>
                    <m:r>
                      <m:rPr>
                        <m:nor/>
                      </m:rPr>
                      <a:rPr lang="en-US" sz="2800" b="0" i="0" dirty="0" smtClean="0">
                        <a:latin typeface="Cambria Math"/>
                        <a:sym typeface="Symbol" pitchFamily="18" charset="2"/>
                      </a:rPr>
                      <m:t> </m:t>
                    </m:r>
                    <m:r>
                      <m:rPr>
                        <m:nor/>
                      </m:rPr>
                      <a:rPr lang="en-US" sz="2800" b="0" i="0" dirty="0" smtClean="0">
                        <a:latin typeface="Cambria Math"/>
                        <a:sym typeface="Symbol" pitchFamily="18" charset="2"/>
                      </a:rPr>
                      <m:t>time</m:t>
                    </m:r>
                    <m:r>
                      <m:rPr>
                        <m:nor/>
                      </m:rPr>
                      <a:rPr lang="en-US" sz="2800" b="0" i="0" dirty="0" smtClean="0">
                        <a:latin typeface="Cambria Math"/>
                        <a:sym typeface="Symbol" pitchFamily="18" charset="2"/>
                      </a:rPr>
                      <m:t> </m:t>
                    </m:r>
                    <m:r>
                      <m:rPr>
                        <m:nor/>
                      </m:rPr>
                      <a:rPr lang="en-US" sz="2800" b="0" i="0" dirty="0" smtClean="0">
                        <a:latin typeface="Cambria Math"/>
                        <a:sym typeface="Symbol" pitchFamily="18" charset="2"/>
                      </a:rPr>
                      <m:t>among</m:t>
                    </m:r>
                    <m:r>
                      <m:rPr>
                        <m:nor/>
                      </m:rPr>
                      <a:rPr lang="en-US" sz="2800" b="0" i="0" dirty="0" smtClean="0">
                        <a:latin typeface="Cambria Math"/>
                        <a:sym typeface="Symbol" pitchFamily="18" charset="2"/>
                      </a:rPr>
                      <m:t> </m:t>
                    </m:r>
                    <m:r>
                      <m:rPr>
                        <m:nor/>
                      </m:rPr>
                      <a:rPr lang="en-US" sz="2800" b="0" i="0" dirty="0" smtClean="0">
                        <a:latin typeface="Cambria Math"/>
                        <a:sym typeface="Symbol" pitchFamily="18" charset="2"/>
                      </a:rPr>
                      <m:t>the</m:t>
                    </m:r>
                    <m:r>
                      <m:rPr>
                        <m:nor/>
                      </m:rPr>
                      <a:rPr lang="en-US" sz="2800" b="0" i="0" dirty="0" smtClean="0">
                        <a:latin typeface="Cambria Math"/>
                        <a:sym typeface="Symbol" pitchFamily="18" charset="2"/>
                      </a:rPr>
                      <m:t> </m:t>
                    </m:r>
                    <m:r>
                      <m:rPr>
                        <m:nor/>
                      </m:rPr>
                      <a:rPr lang="en-US" sz="2800" b="0" i="0" dirty="0" smtClean="0">
                        <a:latin typeface="Cambria Math"/>
                        <a:sym typeface="Symbol" pitchFamily="18" charset="2"/>
                      </a:rPr>
                      <m:t>N</m:t>
                    </m:r>
                    <m:r>
                      <m:rPr>
                        <m:nor/>
                      </m:rPr>
                      <a:rPr lang="en-US" sz="2800" b="0" i="0" dirty="0" smtClean="0">
                        <a:latin typeface="Cambria Math"/>
                        <a:sym typeface="Symbol" pitchFamily="18" charset="2"/>
                      </a:rPr>
                      <m:t> </m:t>
                    </m:r>
                    <m:r>
                      <m:rPr>
                        <m:nor/>
                      </m:rPr>
                      <a:rPr lang="en-US" sz="2800" b="0" i="0" dirty="0" smtClean="0">
                        <a:latin typeface="Cambria Math"/>
                        <a:sym typeface="Symbol" pitchFamily="18" charset="2"/>
                      </a:rPr>
                      <m:t>stages</m:t>
                    </m:r>
                  </m:oMath>
                </a14:m>
                <a:endParaRPr lang="en-US" sz="2800" b="0" dirty="0">
                  <a:sym typeface="Symbol" pitchFamily="18" charset="2"/>
                </a:endParaRPr>
              </a:p>
              <a:p>
                <a:pPr marL="625475" lvl="1" indent="-265113">
                  <a:spcBef>
                    <a:spcPts val="600"/>
                  </a:spcBef>
                  <a:buSzPct val="100000"/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latin typeface="Cambria Math"/>
                            <a:sym typeface="Symbol" pitchFamily="18" charset="2"/>
                          </a:rPr>
                          <m:t>𝑇</m:t>
                        </m:r>
                      </m:e>
                      <m:sub>
                        <m:r>
                          <a:rPr lang="en-US" sz="2400" i="1" dirty="0" smtClean="0">
                            <a:latin typeface="Cambria Math"/>
                            <a:sym typeface="Symbol" pitchFamily="18" charset="2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SG" sz="2400" dirty="0"/>
                  <a:t> </a:t>
                </a:r>
                <a:r>
                  <a:rPr lang="en-SG" dirty="0"/>
                  <a:t>= Overhead for pipelining, e.g. pipeline register</a:t>
                </a:r>
                <a:endParaRPr lang="en-US" dirty="0"/>
              </a:p>
              <a:p>
                <a:pPr marL="265113" indent="-265113">
                  <a:spcBef>
                    <a:spcPts val="1200"/>
                  </a:spcBef>
                  <a:buFont typeface="Wingdings" panose="05000000000000000000" pitchFamily="2" charset="2"/>
                  <a:buChar char="§"/>
                </a:pPr>
                <a:r>
                  <a:rPr lang="en-US" sz="2800" dirty="0"/>
                  <a:t>Cycles needed for </a:t>
                </a:r>
                <a:r>
                  <a:rPr lang="en-US" sz="2800" b="1" dirty="0">
                    <a:solidFill>
                      <a:srgbClr val="C0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</a:t>
                </a:r>
                <a:r>
                  <a:rPr lang="en-US" sz="2800" dirty="0"/>
                  <a:t> instructions:</a:t>
                </a:r>
              </a:p>
              <a:p>
                <a:pPr marL="625475" lvl="1" indent="-265113">
                  <a:spcBef>
                    <a:spcPts val="600"/>
                  </a:spcBef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>
                        <a:latin typeface="Cambria Math"/>
                        <a:ea typeface="Cambria Math"/>
                      </a:rPr>
                      <m:t>I</m:t>
                    </m:r>
                    <m:r>
                      <a:rPr lang="en-US" sz="2400">
                        <a:latin typeface="Cambria Math"/>
                        <a:ea typeface="Cambria Math"/>
                      </a:rPr>
                      <m:t>+</m:t>
                    </m:r>
                    <m:r>
                      <m:rPr>
                        <m:sty m:val="p"/>
                      </m:rPr>
                      <a:rPr lang="en-US" sz="2400">
                        <a:latin typeface="Cambria Math"/>
                        <a:ea typeface="Cambria Math"/>
                      </a:rPr>
                      <m:t>N</m:t>
                    </m:r>
                    <m:r>
                      <a:rPr lang="en-US" sz="2400">
                        <a:latin typeface="Cambria Math"/>
                        <a:ea typeface="Cambria Math"/>
                      </a:rPr>
                      <m:t>−1</m:t>
                    </m:r>
                  </m:oMath>
                </a14:m>
                <a:endParaRPr lang="en-US" sz="2400" dirty="0"/>
              </a:p>
              <a:p>
                <a:pPr marL="625475" lvl="1" indent="-265113">
                  <a:spcBef>
                    <a:spcPts val="600"/>
                  </a:spcBef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>
                        <a:latin typeface="Cambria Math"/>
                        <a:ea typeface="Cambria Math"/>
                      </a:rPr>
                      <m:t>N</m:t>
                    </m:r>
                    <m:r>
                      <a:rPr lang="en-US" sz="2400">
                        <a:latin typeface="Cambria Math"/>
                        <a:ea typeface="Cambria Math"/>
                      </a:rPr>
                      <m:t>−1 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/>
                        <a:ea typeface="Cambria Math"/>
                      </a:rPr>
                      <m:t>is</m:t>
                    </m:r>
                    <m:r>
                      <a:rPr lang="en-US" sz="2400" b="0" i="0" smtClean="0">
                        <a:latin typeface="Cambria Math"/>
                        <a:ea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/>
                        <a:ea typeface="Cambria Math"/>
                      </a:rPr>
                      <m:t>the</m:t>
                    </m:r>
                    <m:r>
                      <a:rPr lang="en-US" sz="2400" b="0" i="0" smtClean="0">
                        <a:latin typeface="Cambria Math"/>
                        <a:ea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/>
                        <a:ea typeface="Cambria Math"/>
                      </a:rPr>
                      <m:t>cycles</m:t>
                    </m:r>
                    <m:r>
                      <a:rPr lang="en-US" sz="2400" b="0" i="0" smtClean="0">
                        <a:latin typeface="Cambria Math"/>
                        <a:ea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/>
                        <a:ea typeface="Cambria Math"/>
                      </a:rPr>
                      <m:t>wasted</m:t>
                    </m:r>
                    <m:r>
                      <a:rPr lang="en-US" sz="2400" b="0" i="0" smtClean="0">
                        <a:latin typeface="Cambria Math"/>
                        <a:ea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/>
                        <a:ea typeface="Cambria Math"/>
                      </a:rPr>
                      <m:t>in</m:t>
                    </m:r>
                    <m:r>
                      <a:rPr lang="en-US" sz="2400" b="0" i="0" smtClean="0">
                        <a:latin typeface="Cambria Math"/>
                        <a:ea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/>
                        <a:ea typeface="Cambria Math"/>
                      </a:rPr>
                      <m:t>filling</m:t>
                    </m:r>
                    <m:r>
                      <a:rPr lang="en-US" sz="2400" b="0" i="0" smtClean="0">
                        <a:latin typeface="Cambria Math"/>
                        <a:ea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/>
                        <a:ea typeface="Cambria Math"/>
                      </a:rPr>
                      <m:t>up</m:t>
                    </m:r>
                    <m:r>
                      <a:rPr lang="en-US" sz="2400" b="0" i="0" smtClean="0">
                        <a:latin typeface="Cambria Math"/>
                        <a:ea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/>
                        <a:ea typeface="Cambria Math"/>
                      </a:rPr>
                      <m:t>the</m:t>
                    </m:r>
                    <m:r>
                      <a:rPr lang="en-US" sz="2400" b="0" i="0" smtClean="0">
                        <a:latin typeface="Cambria Math"/>
                        <a:ea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/>
                        <a:ea typeface="Cambria Math"/>
                      </a:rPr>
                      <m:t>pipeline</m:t>
                    </m:r>
                  </m:oMath>
                </a14:m>
                <a:endParaRPr lang="en-US" sz="2400" dirty="0"/>
              </a:p>
              <a:p>
                <a:pPr>
                  <a:spcBef>
                    <a:spcPts val="1200"/>
                  </a:spcBef>
                  <a:buFont typeface="Wingdings" panose="05000000000000000000" pitchFamily="2" charset="2"/>
                  <a:buChar char="§"/>
                </a:pPr>
                <a:r>
                  <a:rPr lang="en-US" sz="2800" dirty="0"/>
                  <a:t>Total Time needed for </a:t>
                </a:r>
                <a:r>
                  <a:rPr lang="en-US" sz="2800" b="1" dirty="0">
                    <a:solidFill>
                      <a:srgbClr val="C0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</a:t>
                </a:r>
                <a:r>
                  <a:rPr lang="en-US" sz="2800" dirty="0"/>
                  <a:t> instructions :</a:t>
                </a:r>
              </a:p>
              <a:p>
                <a:pPr marL="625475" lvl="1" indent="-265113">
                  <a:spcBef>
                    <a:spcPts val="600"/>
                  </a:spcBef>
                  <a:buSzPct val="100000"/>
                  <a:buFont typeface="Wingdings" panose="05000000000000000000" pitchFamily="2" charset="2"/>
                  <a:buChar char="§"/>
                  <a:tabLst>
                    <a:tab pos="2332038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</a:rPr>
                          <m:t>𝑇𝑖𝑚𝑒</m:t>
                        </m:r>
                      </m:e>
                      <m:sub>
                        <m:r>
                          <a:rPr lang="en-US" sz="2400" i="1">
                            <a:latin typeface="Cambria Math"/>
                          </a:rPr>
                          <m:t>𝑝𝑖𝑝𝑒</m:t>
                        </m:r>
                        <m:r>
                          <a:rPr lang="en-SG" sz="2400" b="0" i="1" smtClean="0">
                            <a:latin typeface="Cambria Math" panose="02040503050406030204" pitchFamily="18" charset="0"/>
                          </a:rPr>
                          <m:t>𝑙𝑖𝑛𝑒</m:t>
                        </m:r>
                      </m:sub>
                    </m:sSub>
                  </m:oMath>
                </a14:m>
                <a:r>
                  <a:rPr lang="en-US" sz="2400" dirty="0"/>
                  <a:t> 	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  <a:ea typeface="Cambria Math"/>
                          </a:rPr>
                          <m:t>𝐶𝑦𝑐𝑙𝑒</m:t>
                        </m:r>
                        <m:r>
                          <a:rPr lang="en-US" sz="2400" i="1">
                            <a:latin typeface="Cambria Math"/>
                            <a:ea typeface="Cambria Math"/>
                          </a:rPr>
                          <m:t> × </m:t>
                        </m:r>
                        <m:r>
                          <a:rPr lang="en-US" sz="2400" i="1">
                            <a:latin typeface="Cambria Math"/>
                            <a:ea typeface="Cambria Math"/>
                          </a:rPr>
                          <m:t>𝐶𝑇</m:t>
                        </m:r>
                      </m:e>
                      <m:sub>
                        <m:r>
                          <a:rPr lang="en-US" sz="2400" i="1">
                            <a:latin typeface="Cambria Math"/>
                            <a:ea typeface="Cambria Math"/>
                          </a:rPr>
                          <m:t>𝑝𝑖𝑝𝑒</m:t>
                        </m:r>
                        <m:r>
                          <a:rPr lang="en-SG" sz="2400" b="0" i="1" smtClean="0">
                            <a:latin typeface="Cambria Math" panose="02040503050406030204" pitchFamily="18" charset="0"/>
                            <a:ea typeface="Cambria Math"/>
                          </a:rPr>
                          <m:t>𝑙𝑖𝑛𝑒</m:t>
                        </m:r>
                      </m:sub>
                    </m:sSub>
                  </m:oMath>
                </a14:m>
                <a:endParaRPr lang="en-US" sz="2400" dirty="0">
                  <a:ea typeface="Cambria Math"/>
                </a:endParaRPr>
              </a:p>
              <a:p>
                <a:pPr marL="344487" lvl="1" indent="0">
                  <a:spcBef>
                    <a:spcPts val="600"/>
                  </a:spcBef>
                  <a:buNone/>
                  <a:tabLst>
                    <a:tab pos="2332038" algn="l"/>
                  </a:tabLst>
                </a:pPr>
                <a:r>
                  <a:rPr lang="en-US" dirty="0">
                    <a:ea typeface="Cambria Math"/>
                  </a:rPr>
                  <a:t>	</a:t>
                </a:r>
                <a:r>
                  <a:rPr lang="en-US" sz="2400" dirty="0">
                    <a:ea typeface="Cambria Math"/>
                  </a:rPr>
                  <a:t>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400">
                            <a:latin typeface="Cambria Math"/>
                            <a:ea typeface="Cambria Math"/>
                          </a:rPr>
                          <m:t>I</m:t>
                        </m:r>
                        <m:r>
                          <a:rPr lang="en-US" sz="2400">
                            <a:latin typeface="Cambria Math"/>
                            <a:ea typeface="Cambria Math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2400">
                            <a:latin typeface="Cambria Math"/>
                            <a:ea typeface="Cambria Math"/>
                          </a:rPr>
                          <m:t>N</m:t>
                        </m:r>
                        <m:r>
                          <a:rPr lang="en-US" sz="2400">
                            <a:latin typeface="Cambria Math"/>
                            <a:ea typeface="Cambria Math"/>
                          </a:rPr>
                          <m:t>−1</m:t>
                        </m:r>
                      </m:e>
                    </m:d>
                    <m:r>
                      <a:rPr lang="en-US" sz="2400" i="1">
                        <a:latin typeface="Cambria Math"/>
                        <a:ea typeface="Cambria Math"/>
                      </a:rPr>
                      <m:t>×</m:t>
                    </m:r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2400">
                            <a:latin typeface="Cambria Math"/>
                          </a:rPr>
                          <m:t>( </m:t>
                        </m:r>
                        <m:r>
                          <m:rPr>
                            <m:sty m:val="p"/>
                          </m:rPr>
                          <a:rPr lang="en-US" sz="2400">
                            <a:latin typeface="Cambria Math"/>
                          </a:rPr>
                          <m:t>max</m:t>
                        </m:r>
                      </m:fName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 dirty="0">
                                    <a:latin typeface="Cambria Math" panose="02040503050406030204" pitchFamily="18" charset="0"/>
                                    <a:sym typeface="Symbol" pitchFamily="18" charset="2"/>
                                  </a:rPr>
                                </m:ctrlPr>
                              </m:sSubPr>
                              <m:e>
                                <m:r>
                                  <a:rPr lang="en-US" sz="2400" i="1" dirty="0">
                                    <a:latin typeface="Cambria Math"/>
                                    <a:sym typeface="Symbol" pitchFamily="18" charset="2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2400" i="1" dirty="0">
                                    <a:latin typeface="Cambria Math"/>
                                    <a:sym typeface="Symbol" pitchFamily="18" charset="2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sz="2400" i="1">
                        <a:latin typeface="Cambria Math"/>
                      </a:rPr>
                      <m:t>+</m:t>
                    </m:r>
                    <m:r>
                      <m:rPr>
                        <m:nor/>
                      </m:rPr>
                      <a:rPr lang="en-SG" sz="2400" dirty="0"/>
                      <m:t> 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/>
                            <a:sym typeface="Symbol" pitchFamily="18" charset="2"/>
                          </a:rPr>
                          <m:t>𝑇</m:t>
                        </m:r>
                      </m:e>
                      <m:sub>
                        <m:r>
                          <a:rPr lang="en-US" sz="2400" i="1" dirty="0">
                            <a:latin typeface="Cambria Math"/>
                            <a:sym typeface="Symbol" pitchFamily="18" charset="2"/>
                          </a:rPr>
                          <m:t>𝑑</m:t>
                        </m:r>
                      </m:sub>
                    </m:sSub>
                    <m:r>
                      <a:rPr lang="en-US" sz="2400" i="1" dirty="0" smtClean="0">
                        <a:latin typeface="Cambria Math"/>
                        <a:sym typeface="Symbol" pitchFamily="18" charset="2"/>
                      </a:rPr>
                      <m:t>)</m:t>
                    </m:r>
                  </m:oMath>
                </a14:m>
                <a:endParaRPr lang="en-US" sz="2400" dirty="0">
                  <a:ea typeface="Cambria Math"/>
                </a:endParaRPr>
              </a:p>
            </p:txBody>
          </p:sp>
        </mc:Choice>
        <mc:Fallback xmlns="">
          <p:sp>
            <p:nvSpPr>
              <p:cNvPr id="9" name="Content Placeholder 1">
                <a:extLst>
                  <a:ext uri="{FF2B5EF4-FFF2-40B4-BE49-F238E27FC236}">
                    <a16:creationId xmlns:a16="http://schemas.microsoft.com/office/drawing/2014/main" id="{F21B8F2D-8E98-403F-B6F6-BAFB6F5BFE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95758" y="1346416"/>
                <a:ext cx="8229600" cy="5222825"/>
              </a:xfrm>
              <a:blipFill>
                <a:blip r:embed="rId3"/>
                <a:stretch>
                  <a:fillRect l="-1259" t="-128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429000" y="18288"/>
            <a:ext cx="4114800" cy="329184"/>
          </a:xfrm>
          <a:noFill/>
        </p:spPr>
        <p:txBody>
          <a:bodyPr/>
          <a:lstStyle/>
          <a:p>
            <a:pPr algn="l"/>
            <a:r>
              <a:rPr lang="en-SG"/>
              <a:t>Lecture #20: Pipelining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8949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5FE84-4603-FCA7-A726-0D8100000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ECBE0F-63E7-FADE-9E5E-E73707C432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1264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420558" cy="644577"/>
          </a:xfrm>
        </p:spPr>
        <p:txBody>
          <a:bodyPr>
            <a:normAutofit fontScale="90000"/>
          </a:bodyPr>
          <a:lstStyle/>
          <a:p>
            <a:pPr marL="1976438" indent="-1976438"/>
            <a:r>
              <a:rPr lang="en-GB" sz="3600" dirty="0">
                <a:solidFill>
                  <a:srgbClr val="0000FF"/>
                </a:solidFill>
              </a:rPr>
              <a:t>5. Pipeline Processor: </a:t>
            </a:r>
            <a:r>
              <a:rPr lang="en-GB" sz="3600" b="1" dirty="0">
                <a:solidFill>
                  <a:srgbClr val="0000FF"/>
                </a:solidFill>
              </a:rPr>
              <a:t>Example</a:t>
            </a:r>
            <a:endParaRPr lang="en-GB" sz="3600" dirty="0">
              <a:solidFill>
                <a:srgbClr val="0000FF"/>
              </a:solidFill>
            </a:endParaRP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#20: Pipelining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37</a:t>
            </a:fld>
            <a:endParaRPr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3" name="Rectangle 64">
            <a:extLst>
              <a:ext uri="{FF2B5EF4-FFF2-40B4-BE49-F238E27FC236}">
                <a16:creationId xmlns:a16="http://schemas.microsoft.com/office/drawing/2014/main" id="{AAD3C296-3FEB-4F6E-9B9F-2388AE1D2F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521" y="3880179"/>
            <a:ext cx="8327679" cy="25928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65113" indent="-265113">
              <a:spcBef>
                <a:spcPts val="1200"/>
              </a:spcBef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C00000"/>
                </a:solidFill>
              </a:rPr>
              <a:t>Cycle Time</a:t>
            </a:r>
          </a:p>
          <a:p>
            <a:pPr marL="625475" lvl="1" indent="-265113">
              <a:spcBef>
                <a:spcPts val="6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</a:pPr>
            <a:r>
              <a:rPr lang="en-US" sz="2400" dirty="0"/>
              <a:t>assume pipeline register delay of </a:t>
            </a:r>
            <a:r>
              <a:rPr lang="en-US" sz="2400" b="1" dirty="0"/>
              <a:t>0.5ns</a:t>
            </a:r>
          </a:p>
          <a:p>
            <a:pPr marL="625475" lvl="1" indent="-265113">
              <a:spcBef>
                <a:spcPts val="6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</a:pPr>
            <a:r>
              <a:rPr lang="en-US" sz="2400" dirty="0"/>
              <a:t>longest stage time + overhead = </a:t>
            </a:r>
            <a:r>
              <a:rPr lang="en-US" sz="2400" b="1" dirty="0"/>
              <a:t>2 + 0.5 = 2.5ns</a:t>
            </a:r>
          </a:p>
          <a:p>
            <a:pPr marL="265113" indent="-265113">
              <a:spcBef>
                <a:spcPts val="1200"/>
              </a:spcBef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To execute </a:t>
            </a:r>
            <a:r>
              <a:rPr lang="en-US" sz="2800" b="1" dirty="0"/>
              <a:t>100 instructions:</a:t>
            </a:r>
          </a:p>
          <a:p>
            <a:pPr marL="625475" lvl="1" indent="-265113">
              <a:spcBef>
                <a:spcPts val="600"/>
              </a:spcBef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b="1" dirty="0"/>
              <a:t>(100 + 5 – 1) </a:t>
            </a:r>
            <a:r>
              <a:rPr lang="en-US" sz="2400" b="1" dirty="0">
                <a:sym typeface="Symbol" panose="05050102010706020507" pitchFamily="18" charset="2"/>
              </a:rPr>
              <a:t></a:t>
            </a:r>
            <a:r>
              <a:rPr lang="en-US" sz="2400" b="1" dirty="0"/>
              <a:t> 2.5ns = 260ns</a:t>
            </a:r>
            <a:endParaRPr lang="en-US" sz="2400" dirty="0"/>
          </a:p>
        </p:txBody>
      </p:sp>
      <p:graphicFrame>
        <p:nvGraphicFramePr>
          <p:cNvPr id="14" name="Group 59">
            <a:extLst>
              <a:ext uri="{FF2B5EF4-FFF2-40B4-BE49-F238E27FC236}">
                <a16:creationId xmlns:a16="http://schemas.microsoft.com/office/drawing/2014/main" id="{7600C7A6-EE66-4BB5-BE8F-CEA0D1A653E1}"/>
              </a:ext>
            </a:extLst>
          </p:cNvPr>
          <p:cNvGraphicFramePr>
            <a:graphicFrameLocks/>
          </p:cNvGraphicFramePr>
          <p:nvPr/>
        </p:nvGraphicFramePr>
        <p:xfrm>
          <a:off x="1124139" y="1455821"/>
          <a:ext cx="6857999" cy="2195767"/>
        </p:xfrm>
        <a:graphic>
          <a:graphicData uri="http://schemas.openxmlformats.org/drawingml/2006/table">
            <a:tbl>
              <a:tblPr firstRow="1" firstCol="1" bandCol="1">
                <a:tableStyleId>{1E171933-4619-4E11-9A3F-F7608DF75F80}</a:tableStyleId>
              </a:tblPr>
              <a:tblGrid>
                <a:gridCol w="1397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4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45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54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93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93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93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5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Instruction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Inst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Mem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Reg</a:t>
                      </a:r>
                      <a:endParaRPr kumimoji="0" lang="en-US" sz="180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read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ALU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Data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Mem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Reg</a:t>
                      </a:r>
                      <a:endParaRPr kumimoji="0" lang="en-US" sz="180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write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Total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ALU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6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2FF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lw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8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solidFill>
                      <a:srgbClr val="E2FF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94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sw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7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solidFill>
                      <a:srgbClr val="E2FF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beq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5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solidFill>
                      <a:srgbClr val="E2FF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5775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420558" cy="644577"/>
          </a:xfrm>
        </p:spPr>
        <p:txBody>
          <a:bodyPr>
            <a:normAutofit fontScale="90000"/>
          </a:bodyPr>
          <a:lstStyle/>
          <a:p>
            <a:pPr marL="1976438" indent="-1976438"/>
            <a:r>
              <a:rPr lang="en-GB" sz="3600" dirty="0">
                <a:solidFill>
                  <a:srgbClr val="0000FF"/>
                </a:solidFill>
              </a:rPr>
              <a:t>5. Pipeline Processor: </a:t>
            </a:r>
            <a:r>
              <a:rPr lang="en-GB" sz="3600" b="1" dirty="0">
                <a:solidFill>
                  <a:srgbClr val="0000FF"/>
                </a:solidFill>
              </a:rPr>
              <a:t>Ideal Speedup </a:t>
            </a:r>
            <a:r>
              <a:rPr lang="en-GB" sz="3600" dirty="0">
                <a:solidFill>
                  <a:srgbClr val="0000FF"/>
                </a:solidFill>
              </a:rPr>
              <a:t>(1/2)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#20: Pipelining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38</a:t>
            </a:fld>
            <a:endParaRPr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Content Placeholder 8">
                <a:extLst>
                  <a:ext uri="{FF2B5EF4-FFF2-40B4-BE49-F238E27FC236}">
                    <a16:creationId xmlns:a16="http://schemas.microsoft.com/office/drawing/2014/main" id="{FD81B7FD-D911-4097-886D-D92B14F44D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346416"/>
                <a:ext cx="8229600" cy="4873909"/>
              </a:xfrm>
            </p:spPr>
            <p:txBody>
              <a:bodyPr>
                <a:normAutofit/>
              </a:bodyPr>
              <a:lstStyle/>
              <a:p>
                <a:pPr marL="265113" indent="-265113">
                  <a:buSzPct val="100000"/>
                  <a:buFont typeface="Wingdings" panose="05000000000000000000" pitchFamily="2" charset="2"/>
                  <a:buChar char="§"/>
                </a:pPr>
                <a:r>
                  <a:rPr lang="en-US" sz="2800" dirty="0"/>
                  <a:t>Assumptions for ideal case:</a:t>
                </a:r>
              </a:p>
              <a:p>
                <a:pPr marL="625475" lvl="1" indent="-265113">
                  <a:buSzPct val="100000"/>
                  <a:buFont typeface="Wingdings" panose="05000000000000000000" pitchFamily="2" charset="2"/>
                  <a:buChar char="§"/>
                </a:pPr>
                <a:r>
                  <a:rPr lang="en-US" sz="2400" dirty="0"/>
                  <a:t>Every stage takes the same amount of time:</a:t>
                </a:r>
              </a:p>
              <a:p>
                <a:pPr marL="344487" lvl="1" indent="0">
                  <a:buNone/>
                </a:pPr>
                <a:r>
                  <a:rPr lang="en-US" dirty="0"/>
                  <a:t>	</a:t>
                </a:r>
                <a:r>
                  <a:rPr lang="en-US" dirty="0">
                    <a:sym typeface="Wingdings" panose="05000000000000000000" pitchFamily="2" charset="2"/>
                  </a:rPr>
                  <a:t>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US" sz="24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2400" i="1" dirty="0">
                            <a:latin typeface="Cambria Math"/>
                            <a:sym typeface="Symbol" pitchFamily="18" charset="2"/>
                          </a:rPr>
                          <m:t>𝑘</m:t>
                        </m:r>
                        <m:r>
                          <a:rPr lang="en-US" sz="2400" i="1" dirty="0">
                            <a:latin typeface="Cambria Math"/>
                            <a:sym typeface="Symbol" pitchFamily="18" charset="2"/>
                          </a:rPr>
                          <m:t>=1</m:t>
                        </m:r>
                      </m:sub>
                      <m:sup>
                        <m:r>
                          <a:rPr lang="en-US" sz="2400" i="1" dirty="0">
                            <a:latin typeface="Cambria Math"/>
                            <a:sym typeface="Symbol" pitchFamily="18" charset="2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/>
                                <a:sym typeface="Symbol" pitchFamily="18" charset="2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400" i="1" dirty="0">
                                <a:latin typeface="Cambria Math"/>
                                <a:sym typeface="Symbol" pitchFamily="18" charset="2"/>
                              </a:rPr>
                              <m:t>𝑘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lang="en-US" sz="2800" b="0" i="1" dirty="0" smtClean="0">
                            <a:latin typeface="Cambria Math"/>
                            <a:sym typeface="Symbol" pitchFamily="18" charset="2"/>
                          </a:rPr>
                          <m:t>𝑁</m:t>
                        </m:r>
                        <m:r>
                          <a:rPr lang="en-US" sz="2800" b="0" i="1" dirty="0" smtClean="0">
                            <a:latin typeface="Cambria Math"/>
                            <a:ea typeface="Cambria Math"/>
                            <a:sym typeface="Symbol" pitchFamily="18" charset="2"/>
                          </a:rPr>
                          <m:t>×</m:t>
                        </m:r>
                        <m:r>
                          <a:rPr lang="en-US" sz="2800" i="1" dirty="0">
                            <a:latin typeface="Cambria Math"/>
                            <a:sym typeface="Symbol" pitchFamily="18" charset="2"/>
                          </a:rPr>
                          <m:t>𝑇</m:t>
                        </m:r>
                      </m:e>
                      <m:sub>
                        <m:r>
                          <a:rPr lang="en-US" sz="2800" i="1" dirty="0">
                            <a:latin typeface="Cambria Math"/>
                            <a:sym typeface="Symbol" pitchFamily="18" charset="2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	</a:t>
                </a:r>
              </a:p>
              <a:p>
                <a:pPr marL="625475" lvl="1" indent="-265113">
                  <a:spcBef>
                    <a:spcPts val="1200"/>
                  </a:spcBef>
                  <a:buSzPct val="100000"/>
                  <a:buFont typeface="Wingdings" panose="05000000000000000000" pitchFamily="2" charset="2"/>
                  <a:buChar char="§"/>
                </a:pPr>
                <a:r>
                  <a:rPr lang="en-US" sz="2400" dirty="0"/>
                  <a:t>No pipeline overhead </a:t>
                </a:r>
                <a:r>
                  <a:rPr lang="en-US" sz="2400" dirty="0">
                    <a:sym typeface="Wingdings" panose="05000000000000000000" pitchFamily="2" charset="2"/>
                  </a:rPr>
                  <a:t>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/>
                            <a:sym typeface="Symbol" pitchFamily="18" charset="2"/>
                          </a:rPr>
                          <m:t>𝑇</m:t>
                        </m:r>
                      </m:e>
                      <m:sub>
                        <m:r>
                          <a:rPr lang="en-US" sz="2400" b="0" i="1" dirty="0" smtClean="0">
                            <a:latin typeface="Cambria Math"/>
                            <a:sym typeface="Symbol" pitchFamily="18" charset="2"/>
                          </a:rPr>
                          <m:t>𝑑</m:t>
                        </m:r>
                      </m:sub>
                    </m:sSub>
                    <m:r>
                      <a:rPr lang="en-US" sz="2400" b="0" i="1" dirty="0" smtClean="0">
                        <a:latin typeface="Cambria Math"/>
                        <a:sym typeface="Symbol" pitchFamily="18" charset="2"/>
                      </a:rPr>
                      <m:t>=0</m:t>
                    </m:r>
                  </m:oMath>
                </a14:m>
                <a:endParaRPr lang="en-SG" sz="2400" dirty="0"/>
              </a:p>
              <a:p>
                <a:pPr marL="625475" lvl="1" indent="-265113">
                  <a:spcBef>
                    <a:spcPts val="1200"/>
                  </a:spcBef>
                  <a:buSzPct val="100000"/>
                  <a:buFont typeface="Wingdings" panose="05000000000000000000" pitchFamily="2" charset="2"/>
                  <a:buChar char="§"/>
                </a:pPr>
                <a:r>
                  <a:rPr lang="en-US" sz="2400" dirty="0"/>
                  <a:t>Number of instructions </a:t>
                </a:r>
                <a:r>
                  <a:rPr lang="en-US" sz="2400" b="1" dirty="0"/>
                  <a:t>I</a:t>
                </a:r>
                <a:r>
                  <a:rPr lang="en-US" sz="2400" dirty="0"/>
                  <a:t>,  is much larger than number of stages, </a:t>
                </a:r>
                <a:r>
                  <a:rPr lang="en-US" sz="2400" b="1" dirty="0"/>
                  <a:t>N</a:t>
                </a:r>
              </a:p>
              <a:p>
                <a:pPr marL="360362" lvl="1" indent="0">
                  <a:buSzPct val="100000"/>
                  <a:buNone/>
                </a:pPr>
                <a:endParaRPr lang="en-US" sz="2400" b="1" dirty="0"/>
              </a:p>
              <a:p>
                <a:pPr marL="265113" indent="-265113">
                  <a:buSzPct val="100000"/>
                  <a:buFont typeface="Wingdings" panose="05000000000000000000" pitchFamily="2" charset="2"/>
                  <a:buChar char="§"/>
                </a:pPr>
                <a:r>
                  <a:rPr lang="en-US" sz="2800" dirty="0"/>
                  <a:t>Note: The above also  shows </a:t>
                </a:r>
                <a:r>
                  <a:rPr lang="en-US" sz="2800" b="1" dirty="0"/>
                  <a:t>how pipeline processor loses performance</a:t>
                </a:r>
                <a:endParaRPr lang="en-US" sz="2800" dirty="0"/>
              </a:p>
            </p:txBody>
          </p:sp>
        </mc:Choice>
        <mc:Fallback xmlns="">
          <p:sp>
            <p:nvSpPr>
              <p:cNvPr id="120" name="Content Placeholder 8">
                <a:extLst>
                  <a:ext uri="{FF2B5EF4-FFF2-40B4-BE49-F238E27FC236}">
                    <a16:creationId xmlns:a16="http://schemas.microsoft.com/office/drawing/2014/main" id="{FD81B7FD-D911-4097-886D-D92B14F44D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346416"/>
                <a:ext cx="8229600" cy="4873909"/>
              </a:xfrm>
              <a:blipFill>
                <a:blip r:embed="rId3"/>
                <a:stretch>
                  <a:fillRect l="-1259" t="-137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820185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420558" cy="644577"/>
          </a:xfrm>
        </p:spPr>
        <p:txBody>
          <a:bodyPr>
            <a:normAutofit fontScale="90000"/>
          </a:bodyPr>
          <a:lstStyle/>
          <a:p>
            <a:pPr marL="1976438" indent="-1976438"/>
            <a:r>
              <a:rPr lang="en-GB" sz="3600" dirty="0">
                <a:solidFill>
                  <a:srgbClr val="0000FF"/>
                </a:solidFill>
              </a:rPr>
              <a:t>5. Pipeline Processor: </a:t>
            </a:r>
            <a:r>
              <a:rPr lang="en-GB" sz="3600" b="1" dirty="0">
                <a:solidFill>
                  <a:srgbClr val="0000FF"/>
                </a:solidFill>
              </a:rPr>
              <a:t>Ideal Speedup </a:t>
            </a:r>
            <a:r>
              <a:rPr lang="en-GB" sz="3600" dirty="0">
                <a:solidFill>
                  <a:srgbClr val="0000FF"/>
                </a:solidFill>
              </a:rPr>
              <a:t>(2/2)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#20: Pipelining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39</a:t>
            </a:fld>
            <a:endParaRPr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283C5FB6-C99E-4531-BF8A-E689B468BC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14121" y="1333387"/>
                <a:ext cx="8229600" cy="4987925"/>
              </a:xfrm>
            </p:spPr>
            <p:txBody>
              <a:bodyPr>
                <a:normAutofit/>
              </a:bodyPr>
              <a:lstStyle/>
              <a:p>
                <a:pPr marL="265113" indent="-265113">
                  <a:buSzPct val="100000"/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𝑆𝑝𝑒𝑒𝑑𝑢𝑝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𝑝𝑖𝑝𝑒</m:t>
                        </m:r>
                        <m:r>
                          <a:rPr lang="en-SG" sz="2800" b="0" i="1" smtClean="0">
                            <a:latin typeface="Cambria Math" panose="02040503050406030204" pitchFamily="18" charset="0"/>
                          </a:rPr>
                          <m:t>𝑙𝑖𝑛𝑒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=</m:t>
                    </m:r>
                    <m:r>
                      <a:rPr lang="en-US" sz="2800" b="0" i="1" smtClean="0">
                        <a:latin typeface="Cambria Math"/>
                      </a:rPr>
                      <m:t> </m:t>
                    </m:r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/>
                              </a:rPr>
                              <m:t>𝑇𝑖𝑚𝑒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/>
                              </a:rPr>
                              <m:t>𝑠𝑒𝑞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/>
                              </a:rPr>
                              <m:t>𝑇𝑖𝑚𝑒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/>
                              </a:rPr>
                              <m:t>𝑝𝑖𝑝𝑒</m:t>
                            </m:r>
                            <m:r>
                              <a:rPr lang="en-SG" sz="2800" b="0" i="1" smtClean="0">
                                <a:latin typeface="Cambria Math" panose="02040503050406030204" pitchFamily="18" charset="0"/>
                              </a:rPr>
                              <m:t>𝑙𝑖𝑛𝑒</m:t>
                            </m:r>
                          </m:sub>
                        </m:sSub>
                      </m:den>
                    </m:f>
                    <m:r>
                      <a:rPr lang="en-US" sz="2800" i="1">
                        <a:latin typeface="Cambria Math"/>
                      </a:rPr>
                      <m:t> </m:t>
                    </m:r>
                  </m:oMath>
                </a14:m>
                <a:endParaRPr lang="en-SG" dirty="0"/>
              </a:p>
              <a:p>
                <a:pPr marL="0" indent="0">
                  <a:buNone/>
                </a:pPr>
                <a:r>
                  <a:rPr lang="en-US" dirty="0"/>
                  <a:t>     </a:t>
                </a:r>
                <a:r>
                  <a:rPr lang="en-US" sz="3200" dirty="0"/>
                  <a:t>=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SG" sz="4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4800">
                            <a:latin typeface="Cambria Math"/>
                            <a:ea typeface="Cambria Math"/>
                          </a:rPr>
                          <m:t>I</m:t>
                        </m:r>
                        <m:r>
                          <a:rPr lang="en-US" sz="4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nary>
                          <m:naryPr>
                            <m:chr m:val="∑"/>
                            <m:limLoc m:val="subSup"/>
                            <m:ctrlPr>
                              <a:rPr lang="en-US" sz="4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SG" sz="4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SG" sz="4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SG" sz="4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sz="4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SG" sz="4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SG" sz="4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nary>
                      </m:num>
                      <m:den>
                        <m:r>
                          <a:rPr lang="en-SG" sz="4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4800">
                            <a:latin typeface="Cambria Math"/>
                          </a:rPr>
                          <m:t>I</m:t>
                        </m:r>
                        <m:r>
                          <a:rPr lang="en-SG" sz="4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4800">
                            <a:latin typeface="Cambria Math"/>
                          </a:rPr>
                          <m:t>N</m:t>
                        </m:r>
                        <m:r>
                          <a:rPr lang="en-SG" sz="4800" b="0" i="1" smtClean="0">
                            <a:latin typeface="Cambria Math" panose="02040503050406030204" pitchFamily="18" charset="0"/>
                          </a:rPr>
                          <m:t>−1)</m:t>
                        </m:r>
                        <m:r>
                          <a:rPr lang="en-SG" sz="4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×(</m:t>
                        </m:r>
                        <m:r>
                          <m:rPr>
                            <m:sty m:val="p"/>
                          </m:rPr>
                          <a:rPr lang="en-US" sz="4800">
                            <a:latin typeface="Cambria Math"/>
                          </a:rPr>
                          <m:t>max</m:t>
                        </m:r>
                        <m:d>
                          <m:dPr>
                            <m:ctrlPr>
                              <a:rPr lang="en-SG" sz="4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SG" sz="4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SG" sz="48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SG" sz="48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  <m:r>
                          <a:rPr lang="en-SG" sz="4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SG" sz="4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sz="48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SG" sz="48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  <m:r>
                          <a:rPr lang="en-SG" sz="4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dirty="0"/>
              </a:p>
              <a:p>
                <a:pPr marL="0" indent="0">
                  <a:spcBef>
                    <a:spcPts val="1800"/>
                  </a:spcBef>
                  <a:buNone/>
                </a:pPr>
                <a:r>
                  <a:rPr lang="en-US" sz="2800" dirty="0"/>
                  <a:t>  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/>
                          </a:rPr>
                          <m:t>𝐼</m:t>
                        </m:r>
                        <m:r>
                          <a:rPr lang="en-US" sz="2800" b="0" i="1" smtClean="0">
                            <a:latin typeface="Cambria Math"/>
                            <a:ea typeface="Cambria Math"/>
                          </a:rPr>
                          <m:t>×</m:t>
                        </m:r>
                        <m:r>
                          <a:rPr lang="en-US" sz="2800" b="0" i="1" smtClean="0">
                            <a:latin typeface="Cambria Math"/>
                            <a:ea typeface="Cambria Math"/>
                          </a:rPr>
                          <m:t>𝑁</m:t>
                        </m:r>
                        <m:r>
                          <a:rPr lang="en-US" sz="2800" b="0" i="1" smtClean="0">
                            <a:latin typeface="Cambria Math"/>
                            <a:ea typeface="Cambria Math"/>
                          </a:rPr>
                          <m:t>×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/>
                                <a:ea typeface="Cambria Math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/>
                                <a:ea typeface="Cambria Math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d>
                          <m:d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/>
                              </a:rPr>
                              <m:t>𝐼</m:t>
                            </m:r>
                            <m:r>
                              <a:rPr lang="en-US" sz="2800" b="0" i="1" smtClean="0">
                                <a:latin typeface="Cambria Math"/>
                              </a:rPr>
                              <m:t>+</m:t>
                            </m:r>
                            <m:r>
                              <a:rPr lang="en-US" sz="2800" b="0" i="1" smtClean="0">
                                <a:latin typeface="Cambria Math"/>
                              </a:rPr>
                              <m:t>𝑁</m:t>
                            </m:r>
                            <m:r>
                              <a:rPr lang="en-US" sz="2800" b="0" i="1" smtClean="0">
                                <a:latin typeface="Cambria Math"/>
                              </a:rPr>
                              <m:t>−1</m:t>
                            </m:r>
                          </m:e>
                        </m:d>
                        <m:r>
                          <a:rPr lang="en-US" sz="2800" b="0" i="1" smtClean="0">
                            <a:latin typeface="Cambria Math"/>
                            <a:ea typeface="Cambria Math"/>
                          </a:rPr>
                          <m:t>×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/>
                                <a:ea typeface="Cambria Math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/>
                                <a:ea typeface="Cambria Math"/>
                              </a:rPr>
                              <m:t>𝑘</m:t>
                            </m:r>
                          </m:sub>
                        </m:sSub>
                      </m:den>
                    </m:f>
                  </m:oMath>
                </a14:m>
                <a:endParaRPr lang="en-US" sz="2800" i="1" dirty="0">
                  <a:latin typeface="Cambria Math"/>
                </a:endParaRPr>
              </a:p>
              <a:p>
                <a:pPr marL="0" indent="0">
                  <a:spcBef>
                    <a:spcPts val="1800"/>
                  </a:spcBef>
                  <a:buNone/>
                </a:pPr>
                <a:r>
                  <a:rPr lang="en-SG" sz="2800" dirty="0">
                    <a:ea typeface="Cambria Math"/>
                  </a:rPr>
                  <a:t>    </a:t>
                </a:r>
                <a14:m>
                  <m:oMath xmlns:m="http://schemas.openxmlformats.org/officeDocument/2006/math">
                    <m:r>
                      <a:rPr lang="en-SG" sz="2800" i="1" smtClean="0">
                        <a:latin typeface="Cambria Math"/>
                        <a:ea typeface="Cambria Math"/>
                      </a:rPr>
                      <m:t>≈</m:t>
                    </m:r>
                    <m:r>
                      <a:rPr lang="en-US" sz="2800" b="0" i="1" smtClean="0">
                        <a:latin typeface="Cambria Math"/>
                        <a:ea typeface="Cambria Math"/>
                      </a:rPr>
                      <m:t> </m:t>
                    </m:r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/>
                          </a:rPr>
                          <m:t>𝐼</m:t>
                        </m:r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×</m:t>
                        </m:r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𝑁</m:t>
                        </m:r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×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/>
                                <a:ea typeface="Cambria Math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800" i="1">
                                <a:latin typeface="Cambria Math"/>
                                <a:ea typeface="Cambria Math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r>
                          <a:rPr lang="en-US" sz="2800" b="0" i="1" smtClean="0">
                            <a:latin typeface="Cambria Math"/>
                            <a:ea typeface="Cambria Math"/>
                          </a:rPr>
                          <m:t>𝐼</m:t>
                        </m:r>
                        <m:r>
                          <a:rPr lang="en-US" sz="2800" b="0" i="1" smtClean="0">
                            <a:latin typeface="Cambria Math"/>
                            <a:ea typeface="Cambria Math"/>
                          </a:rPr>
                          <m:t>×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/>
                                <a:ea typeface="Cambria Math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/>
                                <a:ea typeface="Cambria Math"/>
                              </a:rPr>
                              <m:t>𝑘</m:t>
                            </m:r>
                          </m:sub>
                        </m:sSub>
                      </m:den>
                    </m:f>
                  </m:oMath>
                </a14:m>
                <a:endParaRPr lang="en-US" sz="2800" b="0" i="1" dirty="0">
                  <a:latin typeface="Cambria Math"/>
                  <a:ea typeface="Cambria Math"/>
                </a:endParaRPr>
              </a:p>
              <a:p>
                <a:pPr marL="0" indent="0">
                  <a:spcBef>
                    <a:spcPts val="1800"/>
                  </a:spcBef>
                  <a:buNone/>
                </a:pPr>
                <a:r>
                  <a:rPr lang="en-SG" sz="2800" dirty="0">
                    <a:ea typeface="Cambria Math"/>
                  </a:rPr>
                  <a:t>    </a:t>
                </a:r>
                <a14:m>
                  <m:oMath xmlns:m="http://schemas.openxmlformats.org/officeDocument/2006/math">
                    <m:r>
                      <a:rPr lang="en-SG" sz="2800" i="1" smtClean="0">
                        <a:latin typeface="Cambria Math"/>
                        <a:ea typeface="Cambria Math"/>
                      </a:rPr>
                      <m:t>≈</m:t>
                    </m:r>
                    <m:r>
                      <a:rPr lang="en-US" sz="2800" b="1" i="1" smtClean="0">
                        <a:latin typeface="Cambria Math"/>
                        <a:ea typeface="Cambria Math"/>
                      </a:rPr>
                      <m:t>𝑵</m:t>
                    </m:r>
                  </m:oMath>
                </a14:m>
                <a:endParaRPr lang="en-SG" sz="2800" b="1" dirty="0"/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283C5FB6-C99E-4531-BF8A-E689B468BC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4121" y="1333387"/>
                <a:ext cx="8229600" cy="4987925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ounded Rectangle 6">
            <a:extLst>
              <a:ext uri="{FF2B5EF4-FFF2-40B4-BE49-F238E27FC236}">
                <a16:creationId xmlns:a16="http://schemas.microsoft.com/office/drawing/2014/main" id="{50AA6881-776D-474E-9FE2-7BD42A19076E}"/>
              </a:ext>
            </a:extLst>
          </p:cNvPr>
          <p:cNvSpPr/>
          <p:nvPr/>
        </p:nvSpPr>
        <p:spPr>
          <a:xfrm>
            <a:off x="4247921" y="3995432"/>
            <a:ext cx="4495800" cy="1731600"/>
          </a:xfrm>
          <a:prstGeom prst="roundRect">
            <a:avLst/>
          </a:prstGeom>
          <a:solidFill>
            <a:srgbClr val="FFFFCC"/>
          </a:solidFill>
          <a:ln w="158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C00000"/>
                </a:solidFill>
                <a:cs typeface="Courier New" pitchFamily="49" charset="0"/>
              </a:rPr>
              <a:t>Conclusion:</a:t>
            </a:r>
          </a:p>
          <a:p>
            <a:pPr algn="ctr"/>
            <a:r>
              <a:rPr lang="en-US" sz="2400" dirty="0">
                <a:solidFill>
                  <a:prstClr val="black"/>
                </a:solidFill>
                <a:cs typeface="Courier New" pitchFamily="49" charset="0"/>
              </a:rPr>
              <a:t>Pipeline processor can gain </a:t>
            </a:r>
            <a:r>
              <a:rPr lang="en-US" sz="2400" b="1" dirty="0">
                <a:solidFill>
                  <a:prstClr val="black"/>
                </a:solidFill>
                <a:cs typeface="Courier New" pitchFamily="49" charset="0"/>
              </a:rPr>
              <a:t>N</a:t>
            </a:r>
            <a:r>
              <a:rPr lang="en-US" sz="2400" dirty="0">
                <a:solidFill>
                  <a:prstClr val="black"/>
                </a:solidFill>
                <a:cs typeface="Courier New" pitchFamily="49" charset="0"/>
              </a:rPr>
              <a:t> times speedup, where </a:t>
            </a:r>
            <a:r>
              <a:rPr lang="en-US" sz="2400" b="1" dirty="0">
                <a:solidFill>
                  <a:prstClr val="black"/>
                </a:solidFill>
                <a:cs typeface="Courier New" pitchFamily="49" charset="0"/>
              </a:rPr>
              <a:t>N</a:t>
            </a:r>
            <a:r>
              <a:rPr lang="en-US" sz="2400" dirty="0">
                <a:solidFill>
                  <a:prstClr val="black"/>
                </a:solidFill>
                <a:cs typeface="Courier New" pitchFamily="49" charset="0"/>
              </a:rPr>
              <a:t> is the number of pipeline stages</a:t>
            </a:r>
            <a:endParaRPr lang="en-SG" sz="24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579562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420558" cy="644577"/>
          </a:xfrm>
        </p:spPr>
        <p:txBody>
          <a:bodyPr>
            <a:normAutofit fontScale="90000"/>
          </a:bodyPr>
          <a:lstStyle/>
          <a:p>
            <a:pPr marL="1976438" indent="-1976438"/>
            <a:r>
              <a:rPr lang="en-GB" sz="3600" dirty="0">
                <a:solidFill>
                  <a:srgbClr val="0000FF"/>
                </a:solidFill>
              </a:rPr>
              <a:t>Review Question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#20: Pipelining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40</a:t>
            </a:fld>
            <a:endParaRPr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200" name="Rectangle 3">
            <a:extLst>
              <a:ext uri="{FF2B5EF4-FFF2-40B4-BE49-F238E27FC236}">
                <a16:creationId xmlns:a16="http://schemas.microsoft.com/office/drawing/2014/main" id="{C5FD7DA1-5AC7-45BD-A8E1-CB34EB33922C}"/>
              </a:ext>
            </a:extLst>
          </p:cNvPr>
          <p:cNvSpPr txBox="1">
            <a:spLocks noChangeArrowheads="1"/>
          </p:cNvSpPr>
          <p:nvPr/>
        </p:nvSpPr>
        <p:spPr>
          <a:xfrm>
            <a:off x="506913" y="1169233"/>
            <a:ext cx="8229600" cy="21153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5113" indent="-265113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Given this code:</a:t>
            </a:r>
          </a:p>
          <a:p>
            <a:pPr marL="1074738" lvl="1" indent="-495300" fontAlgn="auto">
              <a:spcAft>
                <a:spcPts val="0"/>
              </a:spcAft>
              <a:buFont typeface="Wingdings" pitchFamily="2" charset="2"/>
              <a:buNone/>
            </a:pPr>
            <a:r>
              <a:rPr lang="en-US" sz="2400" b="1" dirty="0">
                <a:solidFill>
                  <a:srgbClr val="C00000"/>
                </a:solidFill>
                <a:latin typeface="Courier New" pitchFamily="49" charset="0"/>
              </a:rPr>
              <a:t>add $t0, $s0, $s1</a:t>
            </a:r>
          </a:p>
          <a:p>
            <a:pPr marL="1074738" lvl="1" indent="-495300" fontAlgn="auto">
              <a:spcBef>
                <a:spcPct val="5000"/>
              </a:spcBef>
              <a:spcAft>
                <a:spcPts val="0"/>
              </a:spcAft>
              <a:buFont typeface="Wingdings" pitchFamily="2" charset="2"/>
              <a:buNone/>
            </a:pPr>
            <a:r>
              <a:rPr lang="en-US" sz="2400" b="1" dirty="0">
                <a:solidFill>
                  <a:srgbClr val="C00000"/>
                </a:solidFill>
                <a:latin typeface="Courier New" pitchFamily="49" charset="0"/>
              </a:rPr>
              <a:t>sub $t1, $s0, $s1</a:t>
            </a:r>
          </a:p>
          <a:p>
            <a:pPr marL="1074738" lvl="1" indent="-495300" fontAlgn="auto">
              <a:spcBef>
                <a:spcPct val="5000"/>
              </a:spcBef>
              <a:spcAft>
                <a:spcPts val="0"/>
              </a:spcAft>
              <a:buFont typeface="Wingdings" pitchFamily="2" charset="2"/>
              <a:buNone/>
            </a:pPr>
            <a:r>
              <a:rPr lang="en-US" sz="2400" b="1" dirty="0" err="1">
                <a:solidFill>
                  <a:srgbClr val="C00000"/>
                </a:solidFill>
                <a:latin typeface="Courier New" pitchFamily="49" charset="0"/>
              </a:rPr>
              <a:t>sll</a:t>
            </a:r>
            <a:r>
              <a:rPr lang="en-US" sz="2400" b="1" dirty="0">
                <a:solidFill>
                  <a:srgbClr val="C00000"/>
                </a:solidFill>
                <a:latin typeface="Courier New" pitchFamily="49" charset="0"/>
              </a:rPr>
              <a:t> $t2, $s0, 2</a:t>
            </a:r>
          </a:p>
          <a:p>
            <a:pPr marL="1074738" lvl="1" indent="-495300" fontAlgn="auto">
              <a:spcBef>
                <a:spcPct val="5000"/>
              </a:spcBef>
              <a:spcAft>
                <a:spcPts val="0"/>
              </a:spcAft>
              <a:buFont typeface="Wingdings" pitchFamily="2" charset="2"/>
              <a:buNone/>
            </a:pPr>
            <a:r>
              <a:rPr lang="en-US" sz="2400" b="1" dirty="0" err="1">
                <a:solidFill>
                  <a:srgbClr val="C00000"/>
                </a:solidFill>
                <a:latin typeface="Courier New" pitchFamily="49" charset="0"/>
              </a:rPr>
              <a:t>srl</a:t>
            </a:r>
            <a:r>
              <a:rPr lang="en-US" sz="2400" b="1" dirty="0">
                <a:solidFill>
                  <a:srgbClr val="C00000"/>
                </a:solidFill>
                <a:latin typeface="Courier New" pitchFamily="49" charset="0"/>
              </a:rPr>
              <a:t> $t3, $s1, 2</a:t>
            </a:r>
            <a:endParaRPr lang="en-US" b="1" dirty="0">
              <a:solidFill>
                <a:srgbClr val="C00000"/>
              </a:solidFill>
              <a:latin typeface="Courier New" pitchFamily="49" charset="0"/>
            </a:endParaRPr>
          </a:p>
        </p:txBody>
      </p:sp>
      <p:sp>
        <p:nvSpPr>
          <p:cNvPr id="201" name="Rectangle 6">
            <a:extLst>
              <a:ext uri="{FF2B5EF4-FFF2-40B4-BE49-F238E27FC236}">
                <a16:creationId xmlns:a16="http://schemas.microsoft.com/office/drawing/2014/main" id="{7F4BC59A-D955-459A-BD5E-51FF2B6A0E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642" y="3284621"/>
            <a:ext cx="8382000" cy="3344779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722313" indent="-457200">
              <a:spcBef>
                <a:spcPts val="600"/>
              </a:spcBef>
              <a:buClr>
                <a:schemeClr val="tx1"/>
              </a:buClr>
              <a:buFont typeface="Wingdings" pitchFamily="2" charset="2"/>
              <a:buAutoNum type="alphaLcParenR"/>
            </a:pPr>
            <a:r>
              <a:rPr lang="en-US" sz="2400" dirty="0"/>
              <a:t>How many cycles will it take to execute the code on a single-cycle </a:t>
            </a:r>
            <a:r>
              <a:rPr lang="en-US" sz="2400" dirty="0" err="1"/>
              <a:t>datapath</a:t>
            </a:r>
            <a:r>
              <a:rPr lang="en-US" sz="2400" dirty="0"/>
              <a:t>?</a:t>
            </a:r>
          </a:p>
          <a:p>
            <a:pPr marL="722313" indent="-457200">
              <a:spcBef>
                <a:spcPts val="600"/>
              </a:spcBef>
              <a:buClr>
                <a:schemeClr val="tx1"/>
              </a:buClr>
              <a:buFont typeface="Wingdings" pitchFamily="2" charset="2"/>
              <a:buAutoNum type="alphaLcParenR"/>
            </a:pPr>
            <a:r>
              <a:rPr lang="en-US" sz="2400" dirty="0"/>
              <a:t>How long will it take to execute the code on a single-cycle </a:t>
            </a:r>
            <a:r>
              <a:rPr lang="en-US" sz="2400" dirty="0" err="1"/>
              <a:t>datapath</a:t>
            </a:r>
            <a:r>
              <a:rPr lang="en-US" sz="2400" dirty="0"/>
              <a:t>, assuming a 100 MHz clock?</a:t>
            </a:r>
          </a:p>
          <a:p>
            <a:pPr marL="722313" indent="-457200">
              <a:spcBef>
                <a:spcPts val="600"/>
              </a:spcBef>
              <a:buClr>
                <a:schemeClr val="tx1"/>
              </a:buClr>
              <a:buFont typeface="Wingdings" pitchFamily="2" charset="2"/>
              <a:buAutoNum type="alphaLcParenR"/>
            </a:pPr>
            <a:r>
              <a:rPr lang="en-US" sz="2400" dirty="0"/>
              <a:t>How many cycles will it take to execute the code on a 5-stage MIPS pipeline?</a:t>
            </a:r>
          </a:p>
          <a:p>
            <a:pPr marL="722313" indent="-457200">
              <a:spcBef>
                <a:spcPts val="600"/>
              </a:spcBef>
              <a:buClr>
                <a:schemeClr val="tx1"/>
              </a:buClr>
              <a:buFont typeface="Wingdings" pitchFamily="2" charset="2"/>
              <a:buAutoNum type="alphaLcParenR"/>
            </a:pPr>
            <a:r>
              <a:rPr lang="en-US" sz="2400" dirty="0"/>
              <a:t>How long will it take to execute the code on a 5-stage MIPS pipeline, assuming a 500 MHz clock? </a:t>
            </a:r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152400" y="6400800"/>
            <a:ext cx="304800" cy="201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" tIns="9144" rIns="9144" bIns="9144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200">
                <a:sym typeface="Wingdings 2" pitchFamily="18" charset="2"/>
              </a:rPr>
              <a:t>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15840" y="936219"/>
            <a:ext cx="3505200" cy="46166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lphaLcParenR"/>
            </a:pPr>
            <a:r>
              <a:rPr lang="en-SG" sz="2400" dirty="0"/>
              <a:t>4 cycles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15840" y="1467387"/>
            <a:ext cx="3505200" cy="46166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lphaLcParenR" startAt="2"/>
            </a:pPr>
            <a:r>
              <a:rPr lang="en-SG" sz="2400" dirty="0"/>
              <a:t>4/(100</a:t>
            </a:r>
            <a:r>
              <a:rPr lang="en-SG" sz="2400" dirty="0">
                <a:sym typeface="Symbol" panose="05050102010706020507" pitchFamily="18" charset="2"/>
              </a:rPr>
              <a:t></a:t>
            </a:r>
            <a:r>
              <a:rPr lang="en-SG" sz="2400" dirty="0"/>
              <a:t>10</a:t>
            </a:r>
            <a:r>
              <a:rPr lang="en-SG" sz="2400" baseline="30000" dirty="0"/>
              <a:t>6</a:t>
            </a:r>
            <a:r>
              <a:rPr lang="en-SG" sz="2400" dirty="0"/>
              <a:t>) = 40 ns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2061757"/>
            <a:ext cx="3520440" cy="46166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lphaLcParenR" startAt="3"/>
            </a:pPr>
            <a:r>
              <a:rPr lang="en-SG" sz="2400" dirty="0"/>
              <a:t>4 + 4 = 8 cycles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15840" y="2641839"/>
            <a:ext cx="3505200" cy="46166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lphaLcParenR" startAt="4"/>
            </a:pPr>
            <a:r>
              <a:rPr lang="en-SG" sz="2400" dirty="0"/>
              <a:t>8/(500</a:t>
            </a:r>
            <a:r>
              <a:rPr lang="en-SG" sz="2400" dirty="0">
                <a:sym typeface="Symbol" panose="05050102010706020507" pitchFamily="18" charset="2"/>
              </a:rPr>
              <a:t></a:t>
            </a:r>
            <a:r>
              <a:rPr lang="en-SG" sz="2400" dirty="0"/>
              <a:t>10</a:t>
            </a:r>
            <a:r>
              <a:rPr lang="en-SG" sz="2400" baseline="30000" dirty="0"/>
              <a:t>6</a:t>
            </a:r>
            <a:r>
              <a:rPr lang="en-SG" sz="2400" dirty="0"/>
              <a:t>) = 16 ns </a:t>
            </a:r>
          </a:p>
        </p:txBody>
      </p:sp>
    </p:spTree>
    <p:extLst>
      <p:ext uri="{BB962C8B-B14F-4D97-AF65-F5344CB8AC3E}">
        <p14:creationId xmlns:p14="http://schemas.microsoft.com/office/powerpoint/2010/main" val="3505425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" grpId="0" animBg="1"/>
      <p:bldP spid="9" grpId="0" animBg="1"/>
      <p:bldP spid="10" grpId="0" animBg="1"/>
      <p:bldP spid="11" grpId="0" animBg="1"/>
      <p:bldP spid="13" grpId="0" animBg="1"/>
    </p:bldLst>
  </p:timing>
</p:sld>
</file>

<file path=ppt/theme/theme1.xml><?xml version="1.0" encoding="utf-8"?>
<a:theme xmlns:a="http://schemas.openxmlformats.org/drawingml/2006/main" name="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16123</TotalTime>
  <Words>2512</Words>
  <Application>Microsoft Office PowerPoint</Application>
  <PresentationFormat>On-screen Show (4:3)</PresentationFormat>
  <Paragraphs>809</Paragraphs>
  <Slides>40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52" baseType="lpstr">
      <vt:lpstr>Arial</vt:lpstr>
      <vt:lpstr>Calibri</vt:lpstr>
      <vt:lpstr>Cambria Math</vt:lpstr>
      <vt:lpstr>Courier New</vt:lpstr>
      <vt:lpstr>FranklinGothic</vt:lpstr>
      <vt:lpstr>Symbol</vt:lpstr>
      <vt:lpstr>Times</vt:lpstr>
      <vt:lpstr>Times New Roman</vt:lpstr>
      <vt:lpstr>Verdana</vt:lpstr>
      <vt:lpstr>Wingdings</vt:lpstr>
      <vt:lpstr>Wingdings 2</vt:lpstr>
      <vt:lpstr>Blank</vt:lpstr>
      <vt:lpstr>PowerPoint Presentation</vt:lpstr>
      <vt:lpstr>Q &amp; A</vt:lpstr>
      <vt:lpstr>Lecture #14: Pipelining</vt:lpstr>
      <vt:lpstr>1. Introduction: Inspiration</vt:lpstr>
      <vt:lpstr>1. Introduction: Laundry</vt:lpstr>
      <vt:lpstr>1. Introduction: Sequential Laundry</vt:lpstr>
      <vt:lpstr>1. Introduction: Pipelined Laundry</vt:lpstr>
      <vt:lpstr>1. Introduction: What If: Slow Dryer</vt:lpstr>
      <vt:lpstr>1. Introduction: What If: Dependency</vt:lpstr>
      <vt:lpstr>1. Introduction: Pipelining Lessons</vt:lpstr>
      <vt:lpstr>2. MIPS Pipeline Stages (1/2)</vt:lpstr>
      <vt:lpstr>2. MIPS Pipeline Stages (2/2)</vt:lpstr>
      <vt:lpstr>2. Pipelined Execution: Illustration</vt:lpstr>
      <vt:lpstr>3. MIPS Pipeline: Datapath (1/3)</vt:lpstr>
      <vt:lpstr>3. MIPS Pipeline: Datapath (2/3)</vt:lpstr>
      <vt:lpstr>3. MIPS Pipeline: Datapath (3/3)</vt:lpstr>
      <vt:lpstr>3. Pipeline Datapath: IF Stage</vt:lpstr>
      <vt:lpstr>3. Pipeline Datapath: ID Stage</vt:lpstr>
      <vt:lpstr>3. Pipeline Datapath: EX Stage</vt:lpstr>
      <vt:lpstr>3. Pipeline Datapath: MEM Stage</vt:lpstr>
      <vt:lpstr>3. Pipeline Datapath: WB Stage</vt:lpstr>
      <vt:lpstr>3. Corrected Datapath (1/2)</vt:lpstr>
      <vt:lpstr>3. Corrected Datapath (2/2)</vt:lpstr>
      <vt:lpstr>4. Pipeline Control: Main Idea</vt:lpstr>
      <vt:lpstr>4. Pipeline Control: Try it!</vt:lpstr>
      <vt:lpstr>4. Pipeline Control: Grouping</vt:lpstr>
      <vt:lpstr>4. Pipeline Control: Implementation</vt:lpstr>
      <vt:lpstr>4. Pipeline Control: Datapath and Control</vt:lpstr>
      <vt:lpstr>PowerPoint Presentation</vt:lpstr>
      <vt:lpstr>5. Different Implementations</vt:lpstr>
      <vt:lpstr>5. Single Cycle Processor: Performance</vt:lpstr>
      <vt:lpstr>5. Single Cycle Processor: Example</vt:lpstr>
      <vt:lpstr>5. Multi-Cycle Processor: Performance</vt:lpstr>
      <vt:lpstr>5. Multi-Cycle Processor: Example</vt:lpstr>
      <vt:lpstr>5. Pipeline Processor: Performance</vt:lpstr>
      <vt:lpstr>PowerPoint Presentation</vt:lpstr>
      <vt:lpstr>5. Pipeline Processor: Example</vt:lpstr>
      <vt:lpstr>5. Pipeline Processor: Ideal Speedup (1/2)</vt:lpstr>
      <vt:lpstr>5. Pipeline Processor: Ideal Speedup (2/2)</vt:lpstr>
      <vt:lpstr>Review Question</vt:lpstr>
    </vt:vector>
  </TitlesOfParts>
  <Company>National University of Singapore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Timer Programming</dc:title>
  <dc:creator>Tan Keng Yan, Colin</dc:creator>
  <cp:lastModifiedBy>Tan Keng Yan, Colin</cp:lastModifiedBy>
  <cp:revision>181</cp:revision>
  <cp:lastPrinted>2019-10-24T12:09:44Z</cp:lastPrinted>
  <dcterms:created xsi:type="dcterms:W3CDTF">2018-02-10T09:13:59Z</dcterms:created>
  <dcterms:modified xsi:type="dcterms:W3CDTF">2025-10-07T09:22:57Z</dcterms:modified>
</cp:coreProperties>
</file>