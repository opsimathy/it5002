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58" r:id="rId3"/>
    <p:sldId id="259" r:id="rId4"/>
    <p:sldId id="260" r:id="rId5"/>
    <p:sldId id="333" r:id="rId6"/>
    <p:sldId id="261" r:id="rId7"/>
    <p:sldId id="262" r:id="rId8"/>
    <p:sldId id="263" r:id="rId9"/>
    <p:sldId id="264" r:id="rId10"/>
    <p:sldId id="265" r:id="rId11"/>
    <p:sldId id="266" r:id="rId12"/>
    <p:sldId id="334" r:id="rId13"/>
    <p:sldId id="267" r:id="rId14"/>
    <p:sldId id="276" r:id="rId15"/>
    <p:sldId id="277" r:id="rId16"/>
    <p:sldId id="279" r:id="rId17"/>
    <p:sldId id="280" r:id="rId18"/>
    <p:sldId id="335" r:id="rId19"/>
    <p:sldId id="281" r:id="rId20"/>
    <p:sldId id="336" r:id="rId21"/>
    <p:sldId id="284" r:id="rId22"/>
    <p:sldId id="285" r:id="rId23"/>
    <p:sldId id="286" r:id="rId24"/>
    <p:sldId id="287" r:id="rId25"/>
    <p:sldId id="383" r:id="rId26"/>
    <p:sldId id="289" r:id="rId27"/>
    <p:sldId id="290" r:id="rId28"/>
    <p:sldId id="291" r:id="rId29"/>
  </p:sldIdLst>
  <p:sldSz cx="10152063" cy="7596188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>
          <p15:clr>
            <a:srgbClr val="A4A3A4"/>
          </p15:clr>
        </p15:guide>
        <p15:guide id="2" pos="32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3399"/>
    <a:srgbClr val="003300"/>
    <a:srgbClr val="FF6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99" autoAdjust="0"/>
    <p:restoredTop sz="94722" autoAdjust="0"/>
  </p:normalViewPr>
  <p:slideViewPr>
    <p:cSldViewPr>
      <p:cViewPr varScale="1">
        <p:scale>
          <a:sx n="52" d="100"/>
          <a:sy n="52" d="100"/>
        </p:scale>
        <p:origin x="686" y="41"/>
      </p:cViewPr>
      <p:guideLst>
        <p:guide orient="horz" pos="1392"/>
        <p:guide pos="3216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-1182" y="-9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fld id="{B79FDF3B-AB08-41BB-8186-0CEEB3EE48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295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4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5838" y="768350"/>
            <a:ext cx="5129212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8036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defTabSz="871538"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0175"/>
            <a:ext cx="3076672" cy="51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7151" tIns="43576" rIns="87151" bIns="43576" numCol="1" anchor="b" anchorCtr="0" compatLnSpc="1">
            <a:prstTxWarp prst="textNoShape">
              <a:avLst/>
            </a:prstTxWarp>
          </a:bodyPr>
          <a:lstStyle>
            <a:lvl1pPr algn="r" defTabSz="871538">
              <a:defRPr sz="1100"/>
            </a:lvl1pPr>
          </a:lstStyle>
          <a:p>
            <a:pPr>
              <a:defRPr/>
            </a:pPr>
            <a:fld id="{15699CD2-5174-493D-BBDA-C71B4E0A6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25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033D4750-6226-4EDA-AEE2-16B1E14FFDA7}" type="slidenum">
              <a:rPr lang="en-US" sz="1100" smtClean="0"/>
              <a:pPr/>
              <a:t>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770816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965955B-4C18-4EE6-B5D9-67F7910226B6}" type="slidenum">
              <a:rPr lang="en-US" sz="1100" smtClean="0"/>
              <a:pPr/>
              <a:t>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1666944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56EB6DF3-47E2-42C3-A042-7BB87BB2E0FA}" type="slidenum">
              <a:rPr lang="en-US" sz="1100" smtClean="0"/>
              <a:pPr/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07638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4A7F3F0-2E13-4C6E-A171-5BB2B8275CC0}" type="slidenum">
              <a:rPr lang="en-US" sz="1100" smtClean="0"/>
              <a:pPr/>
              <a:t>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34503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1D866EE-AE51-4FDE-B1D8-EE25D1704044}" type="slidenum">
              <a:rPr lang="en-US" sz="1100" smtClean="0"/>
              <a:pPr/>
              <a:t>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040359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480CB178-BC51-40C5-9076-BF3797FFFD2E}" type="slidenum">
              <a:rPr lang="en-US" sz="1100" smtClean="0">
                <a:cs typeface="Arial" charset="0"/>
              </a:rPr>
              <a:pPr/>
              <a:t>6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543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A485E46-AF98-4F4E-B265-A956F5873EB6}" type="slidenum">
              <a:rPr lang="en-US" sz="1100" smtClean="0">
                <a:cs typeface="Arial" charset="0"/>
              </a:rPr>
              <a:pPr/>
              <a:t>7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994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5D97EAB7-C252-4831-BCCC-A41125EA3A88}" type="slidenum">
              <a:rPr lang="en-US" sz="1100" smtClean="0">
                <a:cs typeface="Arial" charset="0"/>
              </a:rPr>
              <a:pPr/>
              <a:t>8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20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DE4B531-A5F5-4D7C-8405-FBE032B13A11}" type="slidenum">
              <a:rPr lang="en-US" sz="1100" smtClean="0">
                <a:cs typeface="Arial" charset="0"/>
              </a:rPr>
              <a:pPr/>
              <a:t>9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99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ED0565B9-56FC-4015-A7A5-0BE53DF9615E}" type="slidenum">
              <a:rPr lang="en-US" sz="1100" smtClean="0">
                <a:cs typeface="Arial" charset="0"/>
              </a:rPr>
              <a:pPr/>
              <a:t>10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239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46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E9FC09B-9C6F-41F8-BBA1-2E7A23EFC02F}" type="slidenum">
              <a:rPr lang="en-US" sz="1100" smtClean="0">
                <a:cs typeface="Arial" charset="0"/>
              </a:rPr>
              <a:pPr/>
              <a:t>11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794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57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13C8D9C-A37B-4363-9665-C06021B18CF0}" type="slidenum">
              <a:rPr lang="en-US" sz="1100" smtClean="0"/>
              <a:pPr/>
              <a:t>12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28268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BF0C11F-7D0A-4D81-8F6D-0ECFAB76093C}" type="slidenum">
              <a:rPr lang="en-US" sz="1100" smtClean="0">
                <a:cs typeface="Arial" charset="0"/>
              </a:rPr>
              <a:pPr/>
              <a:t>13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8261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E8A520C-1ED8-4E38-A171-34394B704DBD}" type="slidenum">
              <a:rPr lang="en-US" sz="1100" smtClean="0">
                <a:cs typeface="Arial" charset="0"/>
              </a:rPr>
              <a:pPr/>
              <a:t>14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1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E7EE4957-8C38-4B46-B0CD-4AF90FC239D1}" type="slidenum">
              <a:rPr lang="en-US" sz="1100" smtClean="0">
                <a:cs typeface="Arial" charset="0"/>
              </a:rPr>
              <a:pPr/>
              <a:t>15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489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BAFD8C9-6F19-4712-804E-24D4BD7AA28D}" type="slidenum">
              <a:rPr lang="en-US" sz="1100" smtClean="0">
                <a:cs typeface="Arial" charset="0"/>
              </a:rPr>
              <a:pPr/>
              <a:t>16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651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00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00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CC826A3-E998-467E-9B50-A0BB169C6BAF}" type="slidenum">
              <a:rPr lang="en-US" sz="1100" smtClean="0">
                <a:cs typeface="Arial" charset="0"/>
              </a:rPr>
              <a:pPr/>
              <a:t>17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6895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10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929E9C2-E43C-40F6-8CF7-92E41F1E87B8}" type="slidenum">
              <a:rPr lang="en-US" sz="1100" smtClean="0"/>
              <a:pPr/>
              <a:t>18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31074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422CD36-E3F1-4A71-B6ED-282C39984835}" type="slidenum">
              <a:rPr lang="en-US" sz="1100" smtClean="0">
                <a:cs typeface="Arial" charset="0"/>
              </a:rPr>
              <a:pPr/>
              <a:t>19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420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51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51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23FA867F-43B2-4A21-9597-696347D87BDD}" type="slidenum">
              <a:rPr lang="en-US" sz="1100" smtClean="0"/>
              <a:pPr/>
              <a:t>20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53151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506B81FD-6CF5-4AED-B599-A5D9902EFB6F}" type="slidenum">
              <a:rPr lang="en-US" sz="1100" smtClean="0">
                <a:cs typeface="Arial" charset="0"/>
              </a:rPr>
              <a:pPr/>
              <a:t>21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1427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72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72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B263824-56F0-4B15-911B-D4EBA029EBC8}" type="slidenum">
              <a:rPr lang="en-US" sz="1100" smtClean="0">
                <a:cs typeface="Arial" charset="0"/>
              </a:rPr>
              <a:pPr/>
              <a:t>22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194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327C807-4123-426F-B118-C8BACEEB567F}" type="slidenum">
              <a:rPr lang="en-US" sz="1100" smtClean="0">
                <a:cs typeface="Arial" charset="0"/>
              </a:rPr>
              <a:pPr/>
              <a:t>23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747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392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B507124-1F5C-42F2-A09D-30CAE0EA9001}" type="slidenum">
              <a:rPr lang="en-US" sz="1100" smtClean="0">
                <a:cs typeface="Arial" charset="0"/>
              </a:rPr>
              <a:pPr/>
              <a:t>24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0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44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C2D1652-93C9-4D11-897D-FA3F09672C8C}" type="slidenum">
              <a:rPr lang="en-US" sz="1100" smtClean="0"/>
              <a:pPr/>
              <a:t>25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08079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13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13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9D2FDED-30B4-4922-B423-CD6D418EF974}" type="slidenum">
              <a:rPr lang="en-US" sz="1100" smtClean="0">
                <a:cs typeface="Arial" charset="0"/>
              </a:rPr>
              <a:pPr/>
              <a:t>26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064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081138E-5207-4CE0-B2BD-03FBC8971250}" type="slidenum">
              <a:rPr lang="en-US" sz="1100" smtClean="0">
                <a:cs typeface="Arial" charset="0"/>
              </a:rPr>
              <a:pPr/>
              <a:t>27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75781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1538"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 defTabSz="871538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 defTabSz="871538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defTabSz="87153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9B2849B-3ACB-4BB1-8F73-110723677D37}" type="slidenum">
              <a:rPr lang="en-US" sz="1100" smtClean="0">
                <a:cs typeface="Arial" charset="0"/>
              </a:rPr>
              <a:pPr/>
              <a:t>28</a:t>
            </a:fld>
            <a:endParaRPr lang="en-US" sz="11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43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757863"/>
            <a:ext cx="2573338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524000"/>
            <a:ext cx="8991600" cy="1752600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60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ABF37-B3DF-4997-9D8B-ECF200EBF81F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05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8" y="4881563"/>
            <a:ext cx="8629650" cy="150812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1688" y="3219450"/>
            <a:ext cx="8629650" cy="166211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89786-701C-4658-8773-7704D145ECB6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3467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1188" y="2193925"/>
            <a:ext cx="4237037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5" y="2193925"/>
            <a:ext cx="4238625" cy="4700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7F263-5213-489A-A15A-9AE9C230DF1D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1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36063" cy="12652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0213"/>
            <a:ext cx="4484688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08238"/>
            <a:ext cx="4484688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7788" y="1700213"/>
            <a:ext cx="4486275" cy="7080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7788" y="2408238"/>
            <a:ext cx="4486275" cy="437673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9D77D8-3277-4F29-88B3-47213371898A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13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883C5-2311-485D-B60C-EFF575662F0C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839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901CE-A60B-469E-816E-3E893103C751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802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0100" cy="12858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0" y="303213"/>
            <a:ext cx="5675313" cy="64817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89088"/>
            <a:ext cx="3340100" cy="51958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6AD5E-3442-4F62-863F-F76FA9B92BB2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737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9138" y="5318125"/>
            <a:ext cx="6091237" cy="62706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9138" y="679450"/>
            <a:ext cx="6091237" cy="45577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9138" y="5945188"/>
            <a:ext cx="6091237" cy="892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DF623-CAD0-4BBA-A017-9AB7F7FC08D6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711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DD1D4-34C1-4403-8A4A-CFF24930C9D0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72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3425" y="914400"/>
            <a:ext cx="2155825" cy="59801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1188" y="914400"/>
            <a:ext cx="6319837" cy="59801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92E94-FB39-4DB6-8A6F-598CBDE14CA1}" type="slidenum">
              <a:rPr lang="en-GB"/>
              <a:pPr>
                <a:defRPr/>
              </a:pPr>
              <a:t>‹#›</a:t>
            </a:fld>
            <a:endParaRPr lang="en-GB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6373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914400"/>
            <a:ext cx="7237412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2193925"/>
            <a:ext cx="8628062" cy="470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11188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96200" y="7016750"/>
            <a:ext cx="2114550" cy="50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3399"/>
                </a:solidFill>
              </a:defRPr>
            </a:lvl1pPr>
          </a:lstStyle>
          <a:p>
            <a:pPr>
              <a:defRPr/>
            </a:pPr>
            <a:fld id="{8EC0A60B-C7C9-4409-9D82-9DD10EFAA7CB}" type="slidenum">
              <a:rPr lang="en-GB"/>
              <a:pPr>
                <a:defRPr/>
              </a:pPr>
              <a:t>‹#›</a:t>
            </a:fld>
            <a:endParaRPr lang="en-GB" sz="1600"/>
          </a:p>
        </p:txBody>
      </p:sp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0" y="7312025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1031" name="Rectangle 8"/>
          <p:cNvSpPr>
            <a:spLocks noChangeArrowheads="1"/>
          </p:cNvSpPr>
          <p:nvPr userDrawn="1"/>
        </p:nvSpPr>
        <p:spPr bwMode="auto">
          <a:xfrm>
            <a:off x="0" y="0"/>
            <a:ext cx="10152063" cy="280988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SG"/>
          </a:p>
        </p:txBody>
      </p:sp>
      <p:sp>
        <p:nvSpPr>
          <p:cNvPr id="1032" name="Text Box 11"/>
          <p:cNvSpPr txBox="1">
            <a:spLocks noChangeArrowheads="1"/>
          </p:cNvSpPr>
          <p:nvPr userDrawn="1"/>
        </p:nvSpPr>
        <p:spPr bwMode="auto">
          <a:xfrm>
            <a:off x="611188" y="358775"/>
            <a:ext cx="7239000" cy="323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500" dirty="0">
                <a:solidFill>
                  <a:srgbClr val="003399"/>
                </a:solidFill>
                <a:latin typeface="Times New Roman" pitchFamily="18" charset="0"/>
              </a:rPr>
              <a:t>Lecture 14: Inter-Process Communication			Page: </a:t>
            </a:r>
            <a:fld id="{3EC3A8E0-5A2A-40B6-847F-F5167E40D841}" type="slidenum">
              <a:rPr lang="en-US" sz="1500" smtClean="0">
                <a:solidFill>
                  <a:srgbClr val="003399"/>
                </a:solidFill>
                <a:latin typeface="Times New Roman" pitchFamily="18" charset="0"/>
              </a:rPr>
              <a:pPr>
                <a:spcBef>
                  <a:spcPct val="50000"/>
                </a:spcBef>
                <a:defRPr/>
              </a:pPr>
              <a:t>‹#›</a:t>
            </a:fld>
            <a:endParaRPr lang="en-GB" sz="1500" dirty="0">
              <a:solidFill>
                <a:srgbClr val="003399"/>
              </a:solidFill>
              <a:latin typeface="Times New Roman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250" y="414338"/>
            <a:ext cx="115252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397" r:id="rId1"/>
    <p:sldLayoutId id="2147484398" r:id="rId2"/>
    <p:sldLayoutId id="2147484399" r:id="rId3"/>
    <p:sldLayoutId id="2147484400" r:id="rId4"/>
    <p:sldLayoutId id="2147484401" r:id="rId5"/>
    <p:sldLayoutId id="2147484402" r:id="rId6"/>
    <p:sldLayoutId id="2147484403" r:id="rId7"/>
    <p:sldLayoutId id="2147484404" r:id="rId8"/>
    <p:sldLayoutId id="2147484405" r:id="rId9"/>
    <p:sldLayoutId id="2147484406" r:id="rId10"/>
    <p:sldLayoutId id="2147484407" r:id="rId11"/>
  </p:sldLayoutIdLst>
  <p:txStyles>
    <p:titleStyle>
      <a:lvl1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+mj-lt"/>
          <a:ea typeface="+mj-ea"/>
          <a:cs typeface="+mj-cs"/>
        </a:defRPr>
      </a:lvl1pPr>
      <a:lvl2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2pPr>
      <a:lvl3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3pPr>
      <a:lvl4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4pPr>
      <a:lvl5pPr algn="l" defTabSz="1014413" rtl="0" eaLnBrk="0" fontAlgn="base" hangingPunct="0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5pPr>
      <a:lvl6pPr marL="4572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6pPr>
      <a:lvl7pPr marL="9144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7pPr>
      <a:lvl8pPr marL="13716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8pPr>
      <a:lvl9pPr marL="1828800" algn="l" defTabSz="1014413" rtl="0" fontAlgn="base">
        <a:spcBef>
          <a:spcPct val="0"/>
        </a:spcBef>
        <a:spcAft>
          <a:spcPct val="0"/>
        </a:spcAft>
        <a:defRPr sz="3500">
          <a:solidFill>
            <a:schemeClr val="tx1"/>
          </a:solidFill>
          <a:latin typeface="Times New Roman" pitchFamily="18" charset="0"/>
        </a:defRPr>
      </a:lvl9pPr>
    </p:titleStyle>
    <p:bodyStyle>
      <a:lvl1pPr marL="342900" indent="-342900" algn="l" defTabSz="1014413" rtl="0" eaLnBrk="0" fontAlgn="base" hangingPunct="0">
        <a:spcBef>
          <a:spcPct val="20000"/>
        </a:spcBef>
        <a:spcAft>
          <a:spcPct val="0"/>
        </a:spcAft>
        <a:buChar char="•"/>
        <a:defRPr sz="2500" b="1">
          <a:solidFill>
            <a:srgbClr val="003399"/>
          </a:solidFill>
          <a:latin typeface="+mn-lt"/>
          <a:ea typeface="+mn-ea"/>
          <a:cs typeface="+mn-cs"/>
        </a:defRPr>
      </a:lvl1pPr>
      <a:lvl2pPr marL="374650" indent="63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600">
          <a:solidFill>
            <a:srgbClr val="003399"/>
          </a:solidFill>
          <a:latin typeface="+mn-lt"/>
        </a:defRPr>
      </a:lvl2pPr>
      <a:lvl3pPr marL="755650" indent="158750" algn="l" defTabSz="1014413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200" b="1">
          <a:solidFill>
            <a:srgbClr val="FF6600"/>
          </a:solidFill>
          <a:latin typeface="+mn-lt"/>
        </a:defRPr>
      </a:lvl3pPr>
      <a:lvl4pPr marL="1143000" indent="6350" algn="l" defTabSz="1014413" rtl="0" eaLnBrk="0" fontAlgn="base" hangingPunct="0">
        <a:spcBef>
          <a:spcPct val="20000"/>
        </a:spcBef>
        <a:spcAft>
          <a:spcPct val="0"/>
        </a:spcAft>
        <a:buChar char="–"/>
        <a:defRPr sz="2200" i="1">
          <a:solidFill>
            <a:srgbClr val="003399"/>
          </a:solidFill>
          <a:latin typeface="+mn-lt"/>
        </a:defRPr>
      </a:lvl4pPr>
      <a:lvl5pPr marL="1524000" indent="304800" algn="l" defTabSz="1014413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3399"/>
          </a:solidFill>
          <a:latin typeface="+mn-lt"/>
        </a:defRPr>
      </a:lvl5pPr>
      <a:lvl6pPr marL="19812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6pPr>
      <a:lvl7pPr marL="24384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7pPr>
      <a:lvl8pPr marL="28956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8pPr>
      <a:lvl9pPr marL="3352800" algn="l" defTabSz="1014413" rtl="0" fontAlgn="base">
        <a:spcBef>
          <a:spcPct val="20000"/>
        </a:spcBef>
        <a:spcAft>
          <a:spcPct val="0"/>
        </a:spcAft>
        <a:defRPr sz="2000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itbucket.org/ctank/ardos-i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0" y="0"/>
            <a:ext cx="10152063" cy="5486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SG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92163" y="269875"/>
            <a:ext cx="8580437" cy="6170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Lecture 14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400" dirty="0">
                <a:solidFill>
                  <a:schemeClr val="bg1"/>
                </a:solidFill>
                <a:latin typeface="Times New Roman" pitchFamily="18" charset="0"/>
              </a:rPr>
              <a:t>Inter-Process Communication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4800" dirty="0">
                <a:solidFill>
                  <a:schemeClr val="bg1"/>
                </a:solidFill>
                <a:latin typeface="Times New Roman" pitchFamily="18" charset="0"/>
                <a:hlinkClick r:id="rId3"/>
              </a:rPr>
              <a:t>colintan@nus.edu.sg</a:t>
            </a:r>
            <a:endParaRPr lang="en-US" sz="48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sz="54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0" y="7315200"/>
            <a:ext cx="10152063" cy="280988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SG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5670550"/>
            <a:ext cx="2376487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Objectives</a:t>
            </a:r>
            <a:endParaRPr lang="en-SG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the end of this lecture you will be able to:</a:t>
            </a:r>
          </a:p>
          <a:p>
            <a:pPr lvl="1"/>
            <a:r>
              <a:rPr lang="en-US" dirty="0"/>
              <a:t>Understand what race conditions are, and why they are bad.</a:t>
            </a:r>
          </a:p>
          <a:p>
            <a:pPr lvl="1"/>
            <a:r>
              <a:rPr lang="en-US" dirty="0"/>
              <a:t>Understand the various ways to prevent race conditions.</a:t>
            </a:r>
          </a:p>
          <a:p>
            <a:pPr lvl="1"/>
            <a:r>
              <a:rPr lang="en-US" dirty="0"/>
              <a:t>Understand how to pass messages between processes.</a:t>
            </a:r>
          </a:p>
          <a:p>
            <a:r>
              <a:rPr lang="en-US" dirty="0"/>
              <a:t>Some example code are taken from </a:t>
            </a:r>
            <a:r>
              <a:rPr lang="en-US" dirty="0" err="1"/>
              <a:t>ArdOS</a:t>
            </a:r>
            <a:r>
              <a:rPr lang="en-US" dirty="0"/>
              <a:t>, the </a:t>
            </a:r>
            <a:r>
              <a:rPr lang="en-US" dirty="0" err="1"/>
              <a:t>Arduino</a:t>
            </a:r>
            <a:r>
              <a:rPr lang="en-US" dirty="0"/>
              <a:t> Operating System.</a:t>
            </a:r>
          </a:p>
          <a:p>
            <a:pPr lvl="1"/>
            <a:r>
              <a:rPr lang="en-US" dirty="0"/>
              <a:t>Simple kernel code.</a:t>
            </a:r>
          </a:p>
          <a:p>
            <a:pPr lvl="1"/>
            <a:r>
              <a:rPr lang="en-US" dirty="0"/>
              <a:t>Obtainable from </a:t>
            </a:r>
            <a:r>
              <a:rPr lang="en-US" dirty="0">
                <a:hlinkClick r:id="rId3"/>
              </a:rPr>
              <a:t>http://www.bitbucket.org/ctank/ardos-ide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SG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the  lecture we looked at how multiple processes can run on a single CPU.</a:t>
            </a:r>
          </a:p>
          <a:p>
            <a:r>
              <a:rPr lang="en-US" sz="2400"/>
              <a:t>In </a:t>
            </a:r>
            <a:r>
              <a:rPr lang="en-US" sz="2400" dirty="0"/>
              <a:t>real-world applications, there are “dependencies” between </a:t>
            </a:r>
            <a:r>
              <a:rPr lang="en-US" sz="2400" dirty="0" err="1"/>
              <a:t>processs</a:t>
            </a:r>
            <a:r>
              <a:rPr lang="en-US" sz="2400" dirty="0"/>
              <a:t>.</a:t>
            </a:r>
          </a:p>
          <a:p>
            <a:pPr lvl="1"/>
            <a:r>
              <a:rPr lang="en-US" sz="2400" dirty="0"/>
              <a:t>Process B cannot proceed because it is waiting for Process A’s result.</a:t>
            </a:r>
          </a:p>
          <a:p>
            <a:pPr lvl="1"/>
            <a:r>
              <a:rPr lang="en-US" sz="2400" dirty="0"/>
              <a:t>Process B and Process A update the same shared variable, which can result in errors.</a:t>
            </a:r>
          </a:p>
          <a:p>
            <a:pPr lvl="1"/>
            <a:r>
              <a:rPr lang="en-US" sz="2400" dirty="0"/>
              <a:t>…</a:t>
            </a:r>
          </a:p>
          <a:p>
            <a:endParaRPr lang="en-S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SG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611188" y="1925638"/>
            <a:ext cx="8628062" cy="4700587"/>
          </a:xfrm>
        </p:spPr>
        <p:txBody>
          <a:bodyPr/>
          <a:lstStyle/>
          <a:p>
            <a:r>
              <a:rPr lang="en-US" sz="2400" dirty="0"/>
              <a:t>If both Process A and Process B are allowed to run freely, errors will occur.</a:t>
            </a:r>
          </a:p>
          <a:p>
            <a:pPr lvl="1"/>
            <a:r>
              <a:rPr lang="en-US" sz="2400" dirty="0"/>
              <a:t>Process B proceeds before Process A completes, resulting in B using stale results.</a:t>
            </a:r>
          </a:p>
          <a:p>
            <a:pPr lvl="1"/>
            <a:r>
              <a:rPr lang="en-US" sz="2400" dirty="0"/>
              <a:t>Process A and B update a variable at the same time, causing one process to over-write the results of the other process.</a:t>
            </a:r>
          </a:p>
          <a:p>
            <a:pPr lvl="1"/>
            <a:r>
              <a:rPr lang="en-US" sz="2400" dirty="0"/>
              <a:t>Etc.</a:t>
            </a:r>
          </a:p>
          <a:p>
            <a:r>
              <a:rPr lang="en-US" sz="2400" dirty="0"/>
              <a:t>Some form of coordination is therefore required!</a:t>
            </a:r>
          </a:p>
          <a:p>
            <a:r>
              <a:rPr lang="en-US" sz="2400" dirty="0"/>
              <a:t>Material from this course comes from different places.</a:t>
            </a:r>
          </a:p>
          <a:p>
            <a:pPr lvl="1"/>
            <a:r>
              <a:rPr lang="en-US" dirty="0"/>
              <a:t>Some books use “process” and some use “task”.</a:t>
            </a:r>
          </a:p>
          <a:p>
            <a:pPr lvl="1"/>
            <a:r>
              <a:rPr lang="en-US" dirty="0"/>
              <a:t>Just remember that they mean the same 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Race conditions and critical sections</a:t>
            </a:r>
            <a:endParaRPr lang="en-SG" dirty="0"/>
          </a:p>
        </p:txBody>
      </p:sp>
      <p:sp>
        <p:nvSpPr>
          <p:cNvPr id="1741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Inter-Process Communications</a:t>
            </a:r>
            <a:endParaRPr lang="en-S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Conditions</a:t>
            </a:r>
            <a:endParaRPr lang="en-SG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Race conditions occur when two or more processes attempt to access shared storage.</a:t>
            </a:r>
          </a:p>
          <a:p>
            <a:pPr lvl="1"/>
            <a:r>
              <a:rPr lang="en-US" sz="2400" dirty="0"/>
              <a:t>This causes the final outcome to depend on who runs first.</a:t>
            </a:r>
          </a:p>
          <a:p>
            <a:pPr lvl="1"/>
            <a:r>
              <a:rPr lang="en-US" sz="2400" dirty="0"/>
              <a:t>“Shared storage” can mean:</a:t>
            </a:r>
          </a:p>
          <a:p>
            <a:pPr lvl="2"/>
            <a:r>
              <a:rPr lang="en-US" sz="2000" dirty="0"/>
              <a:t>Global variables.</a:t>
            </a:r>
          </a:p>
          <a:p>
            <a:pPr lvl="2"/>
            <a:r>
              <a:rPr lang="en-US" sz="2000" dirty="0"/>
              <a:t>Memory locations.</a:t>
            </a:r>
          </a:p>
          <a:p>
            <a:pPr lvl="2"/>
            <a:r>
              <a:rPr lang="en-US" sz="2000" dirty="0"/>
              <a:t>Hardware registers.</a:t>
            </a:r>
          </a:p>
          <a:p>
            <a:pPr lvl="3">
              <a:buFontTx/>
              <a:buNone/>
            </a:pPr>
            <a:r>
              <a:rPr lang="en-US" sz="2000" dirty="0"/>
              <a:t>- This refers to configuration registers rather than CPU registers.</a:t>
            </a:r>
          </a:p>
          <a:p>
            <a:pPr lvl="2"/>
            <a:r>
              <a:rPr lang="en-US" sz="2000" dirty="0"/>
              <a:t>Files.</a:t>
            </a:r>
          </a:p>
          <a:p>
            <a:pPr lvl="1"/>
            <a:r>
              <a:rPr lang="en-US" sz="2400" dirty="0"/>
              <a:t>To understand race conditions, we will consider the example of a queue in a print spooler.</a:t>
            </a:r>
            <a:endParaRPr lang="en-SG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Conditions</a:t>
            </a:r>
            <a:endParaRPr lang="en-SG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4897437" cy="4700588"/>
          </a:xfrm>
        </p:spPr>
        <p:txBody>
          <a:bodyPr/>
          <a:lstStyle/>
          <a:p>
            <a:r>
              <a:rPr lang="en-US" dirty="0"/>
              <a:t>A process that wants to print enters the name of the file into a print directory.</a:t>
            </a:r>
          </a:p>
          <a:p>
            <a:r>
              <a:rPr lang="en-US" dirty="0"/>
              <a:t>A print daemon (</a:t>
            </a:r>
            <a:r>
              <a:rPr lang="en-US" dirty="0" err="1"/>
              <a:t>printd</a:t>
            </a:r>
            <a:r>
              <a:rPr lang="en-US" dirty="0"/>
              <a:t>) periodically checks the directory, prints out the next file and removes its entry.</a:t>
            </a:r>
          </a:p>
          <a:p>
            <a:r>
              <a:rPr lang="en-US" dirty="0"/>
              <a:t>Two variables keep track of this queue:</a:t>
            </a:r>
          </a:p>
          <a:p>
            <a:pPr lvl="1"/>
            <a:r>
              <a:rPr lang="en-US" dirty="0"/>
              <a:t>IN: Next available slot.</a:t>
            </a:r>
          </a:p>
          <a:p>
            <a:pPr lvl="1"/>
            <a:r>
              <a:rPr lang="en-US" dirty="0"/>
              <a:t>OUT: Next file for printing.</a:t>
            </a:r>
            <a:endParaRPr lang="en-SG" dirty="0"/>
          </a:p>
        </p:txBody>
      </p:sp>
      <p:pic>
        <p:nvPicPr>
          <p:cNvPr id="19460" name="Picture 3" descr="2-1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238" y="3078163"/>
            <a:ext cx="4905375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Race Conditions</a:t>
            </a:r>
            <a:endParaRPr lang="en-SG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The following can happen:</a:t>
            </a:r>
          </a:p>
          <a:p>
            <a:pPr lvl="1"/>
            <a:r>
              <a:rPr lang="en-US" sz="2400"/>
              <a:t>Process A reads IN as 7 and stores it in a local variable </a:t>
            </a:r>
            <a:r>
              <a:rPr lang="en-US" sz="2400" i="1"/>
              <a:t>next</a:t>
            </a:r>
            <a:r>
              <a:rPr lang="en-US" sz="2400"/>
              <a:t>.</a:t>
            </a:r>
          </a:p>
          <a:p>
            <a:pPr lvl="1"/>
            <a:r>
              <a:rPr lang="en-US" sz="2400"/>
              <a:t>The OS pre-empts A and starts B.</a:t>
            </a:r>
          </a:p>
          <a:p>
            <a:pPr lvl="1"/>
            <a:r>
              <a:rPr lang="en-US" sz="2400"/>
              <a:t>B reads IN as 7 and stores it in a local variable </a:t>
            </a:r>
            <a:r>
              <a:rPr lang="en-US" sz="2400" i="1"/>
              <a:t>next</a:t>
            </a:r>
            <a:r>
              <a:rPr lang="en-US" sz="2400"/>
              <a:t>.</a:t>
            </a:r>
          </a:p>
          <a:p>
            <a:pPr lvl="1"/>
            <a:r>
              <a:rPr lang="en-US" sz="2400"/>
              <a:t>B inserts its file into slot 7 and updates IN to 8.</a:t>
            </a:r>
          </a:p>
          <a:p>
            <a:pPr lvl="1"/>
            <a:r>
              <a:rPr lang="en-US" sz="2400"/>
              <a:t>B is pre-empted and A restarts.</a:t>
            </a:r>
          </a:p>
          <a:p>
            <a:pPr lvl="1"/>
            <a:r>
              <a:rPr lang="en-US" sz="2400"/>
              <a:t>A still thinks slot 7 is available and inserts its file there, overwriting B’s file, then updates IN to 8.</a:t>
            </a:r>
          </a:p>
          <a:p>
            <a:r>
              <a:rPr lang="en-US" sz="2400"/>
              <a:t>The daemon is unaware of the mistake, and B never gets a printout. </a:t>
            </a:r>
            <a:r>
              <a:rPr lang="en-US" sz="2400">
                <a:sym typeface="Wingdings" pitchFamily="2" charset="2"/>
              </a:rPr>
              <a:t></a:t>
            </a:r>
            <a:endParaRPr lang="en-SG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Sections</a:t>
            </a:r>
            <a:endParaRPr lang="en-SG"/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prevent race conditions, we must prevent two processes from reading/writing shared resources at the same time.</a:t>
            </a:r>
          </a:p>
          <a:p>
            <a:r>
              <a:rPr lang="en-US" sz="2400" dirty="0"/>
              <a:t>This is known as a “mutual exclusion”, shortened to “</a:t>
            </a:r>
            <a:r>
              <a:rPr lang="en-US" sz="2400" dirty="0" err="1"/>
              <a:t>mutex</a:t>
            </a:r>
            <a:r>
              <a:rPr lang="en-US" sz="2400" dirty="0"/>
              <a:t>”.</a:t>
            </a:r>
          </a:p>
          <a:p>
            <a:r>
              <a:rPr lang="en-US" sz="2400" dirty="0"/>
              <a:t>Conceptually, a RUNNING process is always in one of two possible states:</a:t>
            </a:r>
          </a:p>
          <a:p>
            <a:pPr lvl="1"/>
            <a:r>
              <a:rPr lang="en-US" sz="2400" dirty="0"/>
              <a:t>It is performing local computation. This does not involve global storage, </a:t>
            </a:r>
            <a:r>
              <a:rPr lang="en-US" sz="2400"/>
              <a:t>hence no </a:t>
            </a:r>
            <a:r>
              <a:rPr lang="en-US" sz="2400" dirty="0"/>
              <a:t>race condition is possible.</a:t>
            </a:r>
          </a:p>
          <a:p>
            <a:pPr lvl="1"/>
            <a:r>
              <a:rPr lang="en-US" sz="2400" dirty="0"/>
              <a:t>It is reading/updating global variables. This can lead to race conditions.</a:t>
            </a:r>
          </a:p>
          <a:p>
            <a:r>
              <a:rPr lang="en-US" sz="2400" dirty="0"/>
              <a:t>When a RUNNING process is in the second state, it is within its “critical section”.</a:t>
            </a:r>
            <a:endParaRPr lang="en-SG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Sections</a:t>
            </a:r>
            <a:endParaRPr lang="en-SG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prevent race conditions, 4 rules must be followed:</a:t>
            </a:r>
          </a:p>
          <a:p>
            <a:pPr lvl="1"/>
            <a:r>
              <a:rPr lang="en-US" dirty="0"/>
              <a:t>No two processes can simultaneously be in their critical section.</a:t>
            </a:r>
          </a:p>
          <a:p>
            <a:pPr lvl="1"/>
            <a:r>
              <a:rPr lang="en-US" dirty="0"/>
              <a:t>No assumptions may be made about speeds or # of CPUs.</a:t>
            </a:r>
          </a:p>
          <a:p>
            <a:pPr lvl="2"/>
            <a:r>
              <a:rPr lang="en-US" dirty="0"/>
              <a:t>Note: We can relax this assumption for </a:t>
            </a:r>
            <a:r>
              <a:rPr lang="en-US" i="1" dirty="0"/>
              <a:t>most </a:t>
            </a:r>
            <a:r>
              <a:rPr lang="en-US" dirty="0"/>
              <a:t>embedded systems since they have single CPUs.</a:t>
            </a:r>
          </a:p>
          <a:p>
            <a:pPr lvl="2"/>
            <a:r>
              <a:rPr lang="en-US" dirty="0"/>
              <a:t>May apply to systems using multicore microcontrollers.</a:t>
            </a:r>
          </a:p>
          <a:p>
            <a:pPr lvl="1"/>
            <a:r>
              <a:rPr lang="en-US" dirty="0"/>
              <a:t>No process outside of its critical section can block other processes.</a:t>
            </a:r>
          </a:p>
          <a:p>
            <a:pPr lvl="1"/>
            <a:r>
              <a:rPr lang="en-US" dirty="0"/>
              <a:t>No process should wait forever to enter its critical section.</a:t>
            </a:r>
            <a:endParaRPr lang="en-SG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Critical Sections</a:t>
            </a:r>
            <a:endParaRPr lang="en-SG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8628062" cy="668338"/>
          </a:xfrm>
        </p:spPr>
        <p:txBody>
          <a:bodyPr/>
          <a:lstStyle/>
          <a:p>
            <a:r>
              <a:rPr lang="en-US"/>
              <a:t>In an ideal state, this is how mutual exclusion works:</a:t>
            </a:r>
            <a:endParaRPr lang="en-SG"/>
          </a:p>
        </p:txBody>
      </p:sp>
      <p:pic>
        <p:nvPicPr>
          <p:cNvPr id="23556" name="Picture 3" descr="2-19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00338"/>
            <a:ext cx="8777287" cy="426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Implementing mutual exclusion</a:t>
            </a:r>
            <a:endParaRPr lang="en-SG" dirty="0"/>
          </a:p>
        </p:txBody>
      </p:sp>
      <p:sp>
        <p:nvSpPr>
          <p:cNvPr id="2457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Inter-Process Communications</a:t>
            </a:r>
            <a:endParaRPr lang="en-SG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Implementing Mutual Exclusion</a:t>
            </a:r>
            <a:endParaRPr lang="en-SG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several ways of implementing mutexes, each with their own + and – points. We will focus on two:</a:t>
            </a:r>
          </a:p>
          <a:p>
            <a:pPr lvl="1"/>
            <a:r>
              <a:rPr lang="en-US" dirty="0"/>
              <a:t>Test and set lock. </a:t>
            </a:r>
          </a:p>
          <a:p>
            <a:pPr lvl="1"/>
            <a:r>
              <a:rPr lang="en-US" dirty="0"/>
              <a:t>Sleep/Wakeup </a:t>
            </a:r>
            <a:endParaRPr lang="en-S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and Set Lock</a:t>
            </a:r>
            <a:endParaRPr lang="en-SG"/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Many microprocessors have an instruction that looks like this:</a:t>
            </a:r>
          </a:p>
          <a:p>
            <a:pPr lvl="1"/>
            <a:r>
              <a:rPr lang="en-US" sz="2000" dirty="0"/>
              <a:t>TSL </a:t>
            </a:r>
            <a:r>
              <a:rPr lang="en-US" sz="2000" dirty="0" err="1"/>
              <a:t>reg</a:t>
            </a:r>
            <a:r>
              <a:rPr lang="en-US" sz="2000" dirty="0"/>
              <a:t>, lock ; lock is a variable in memory</a:t>
            </a:r>
          </a:p>
          <a:p>
            <a:r>
              <a:rPr lang="en-US" sz="2000" dirty="0"/>
              <a:t>How this works:</a:t>
            </a:r>
          </a:p>
          <a:p>
            <a:pPr lvl="1"/>
            <a:r>
              <a:rPr lang="en-US" sz="2000" dirty="0"/>
              <a:t>CPU locks the address and data buses, and reads “lock” from memory.</a:t>
            </a:r>
          </a:p>
          <a:p>
            <a:pPr lvl="2"/>
            <a:r>
              <a:rPr lang="en-US" sz="1800" dirty="0"/>
              <a:t>The locked address and data buses will block accesses from all other CPUs.</a:t>
            </a:r>
          </a:p>
          <a:p>
            <a:pPr lvl="1"/>
            <a:r>
              <a:rPr lang="en-US" sz="2000" dirty="0"/>
              <a:t>The current value is written into register “</a:t>
            </a:r>
            <a:r>
              <a:rPr lang="en-US" sz="2000" dirty="0" err="1"/>
              <a:t>reg</a:t>
            </a:r>
            <a:r>
              <a:rPr lang="en-US" sz="2000" dirty="0"/>
              <a:t>”.</a:t>
            </a:r>
          </a:p>
          <a:p>
            <a:pPr lvl="1"/>
            <a:r>
              <a:rPr lang="en-US" sz="2000" dirty="0"/>
              <a:t>A “1” (or sometimes “0”) value is written to “lock”.</a:t>
            </a:r>
          </a:p>
          <a:p>
            <a:pPr lvl="1"/>
            <a:r>
              <a:rPr lang="en-US" sz="2000" dirty="0"/>
              <a:t>CPU unlocks the address and data buses.</a:t>
            </a:r>
          </a:p>
          <a:p>
            <a:r>
              <a:rPr lang="en-US" sz="2000" dirty="0"/>
              <a:t>The TSL is “atomic”.</a:t>
            </a:r>
          </a:p>
          <a:p>
            <a:pPr lvl="1"/>
            <a:r>
              <a:rPr lang="en-US" sz="2100" dirty="0"/>
              <a:t>This means that NOTHING can interrupt execution of this instruction.</a:t>
            </a:r>
          </a:p>
          <a:p>
            <a:pPr lvl="1"/>
            <a:r>
              <a:rPr lang="en-US" sz="2100" dirty="0"/>
              <a:t>This is guaranteed in hardware.</a:t>
            </a:r>
            <a:endParaRPr lang="en-SG" sz="2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and Set Lock</a:t>
            </a:r>
            <a:endParaRPr lang="en-SG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611188" y="2214563"/>
            <a:ext cx="8628062" cy="4700587"/>
          </a:xfrm>
        </p:spPr>
        <p:txBody>
          <a:bodyPr/>
          <a:lstStyle/>
          <a:p>
            <a:r>
              <a:rPr lang="en-US"/>
              <a:t>The TSL instruction is used as follows:</a:t>
            </a:r>
            <a:endParaRPr lang="en-SG"/>
          </a:p>
        </p:txBody>
      </p:sp>
      <p:pic>
        <p:nvPicPr>
          <p:cNvPr id="35844" name="Picture 3" descr="2-2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717800"/>
            <a:ext cx="881697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Deadlock</a:t>
            </a:r>
            <a:endParaRPr lang="en-SG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Busy-wait approaches like TSL have a problem called “deadlock”.</a:t>
            </a:r>
          </a:p>
          <a:p>
            <a:r>
              <a:rPr lang="en-US" sz="2400" dirty="0"/>
              <a:t>Consider two processes H and L, and a scheduler rule that says that H is always run when it is READY. Suppose L is currently in the critical region.</a:t>
            </a:r>
          </a:p>
          <a:p>
            <a:pPr lvl="1"/>
            <a:r>
              <a:rPr lang="en-US" sz="2400" dirty="0"/>
              <a:t>H becomes ready, and L is pre-empted.</a:t>
            </a:r>
          </a:p>
          <a:p>
            <a:pPr lvl="1"/>
            <a:r>
              <a:rPr lang="en-US" sz="2400" dirty="0"/>
              <a:t>H tries to obtain a lock, but cannot because L is in the critical region.</a:t>
            </a:r>
          </a:p>
          <a:p>
            <a:pPr lvl="1"/>
            <a:r>
              <a:rPr lang="en-US" sz="2400" dirty="0"/>
              <a:t>H loops forever, and CPU control never gets handed to L.</a:t>
            </a:r>
          </a:p>
          <a:p>
            <a:pPr lvl="1"/>
            <a:r>
              <a:rPr lang="en-US" sz="2400" dirty="0"/>
              <a:t>As a result L never releases the lock.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Sleep/Wake</a:t>
            </a:r>
            <a:endParaRPr lang="en-SG"/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solution to this problem is through the use of “Sleep/Wake” functions. </a:t>
            </a:r>
          </a:p>
          <a:p>
            <a:pPr lvl="1"/>
            <a:r>
              <a:rPr lang="en-US" dirty="0"/>
              <a:t>When a process finds that a lock has been set (i.e. another process in the critical section), it calls “sleep” and is put into the blocked state.</a:t>
            </a:r>
          </a:p>
          <a:p>
            <a:pPr lvl="1"/>
            <a:r>
              <a:rPr lang="en-US" dirty="0"/>
              <a:t>When the other process exits the critical section and clears the lock, it can call “wake” which moves the blocked process into the READY queue for eventual execution.</a:t>
            </a:r>
          </a:p>
          <a:p>
            <a:r>
              <a:rPr lang="en-US" dirty="0"/>
              <a:t>While this sounds like an ideal solution, it can create a problem called the “producer-consumer problem”.</a:t>
            </a:r>
            <a:endParaRPr lang="en-SG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producer/consumer problem</a:t>
            </a:r>
            <a:endParaRPr lang="en-SG" dirty="0"/>
          </a:p>
        </p:txBody>
      </p:sp>
      <p:sp>
        <p:nvSpPr>
          <p:cNvPr id="3993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Inter-Process Communications</a:t>
            </a:r>
            <a:endParaRPr lang="en-SG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Producer/Consumer problem</a:t>
            </a:r>
            <a:endParaRPr lang="en-SG"/>
          </a:p>
        </p:txBody>
      </p:sp>
      <p:pic>
        <p:nvPicPr>
          <p:cNvPr id="40963" name="Picture 4" descr="2-23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781175"/>
            <a:ext cx="5832475" cy="544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semaphores</a:t>
            </a:r>
            <a:endParaRPr lang="en-SG" dirty="0"/>
          </a:p>
        </p:txBody>
      </p:sp>
      <p:sp>
        <p:nvSpPr>
          <p:cNvPr id="4403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Inter-Process Communications</a:t>
            </a:r>
            <a:endParaRPr lang="en-SG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Semaphores</a:t>
            </a:r>
            <a:endParaRPr lang="en-SG"/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semaphore is a special lock variable that counts the number of wake-ups saved for future use.</a:t>
            </a:r>
          </a:p>
          <a:p>
            <a:pPr lvl="1"/>
            <a:r>
              <a:rPr lang="en-US" sz="2400" dirty="0"/>
              <a:t> A value of “0” indicates that no wake-ups have been saved.</a:t>
            </a:r>
          </a:p>
          <a:p>
            <a:r>
              <a:rPr lang="en-US" sz="2400" dirty="0"/>
              <a:t>Two ATOMIC operations on semaphores:</a:t>
            </a:r>
          </a:p>
          <a:p>
            <a:pPr lvl="1"/>
            <a:r>
              <a:rPr lang="en-US" sz="2400" dirty="0"/>
              <a:t>DOWN, TAKE, PEND or P: </a:t>
            </a:r>
          </a:p>
          <a:p>
            <a:pPr lvl="2"/>
            <a:r>
              <a:rPr lang="en-US" sz="2000" dirty="0"/>
              <a:t>If the semaphore has a value of &gt;0, it is decremented and the DOWN operation returns.</a:t>
            </a:r>
          </a:p>
          <a:p>
            <a:pPr lvl="2"/>
            <a:r>
              <a:rPr lang="en-US" sz="2000" dirty="0"/>
              <a:t>If the semaphore is 0, the DOWN operation blocks.</a:t>
            </a:r>
          </a:p>
          <a:p>
            <a:pPr lvl="1"/>
            <a:r>
              <a:rPr lang="en-US" sz="2400" dirty="0"/>
              <a:t>UP, POST, GIVE or V:</a:t>
            </a:r>
          </a:p>
          <a:p>
            <a:pPr lvl="2"/>
            <a:r>
              <a:rPr lang="en-US" sz="2000" dirty="0"/>
              <a:t>If there are any processes blocking on a DOWN, one is selected and woken up.</a:t>
            </a:r>
          </a:p>
          <a:p>
            <a:pPr lvl="2"/>
            <a:r>
              <a:rPr lang="en-US" sz="2000" dirty="0"/>
              <a:t>Otherwise UP increments the semaphore and returns.</a:t>
            </a:r>
            <a:endParaRPr lang="en-SG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611188" y="269875"/>
            <a:ext cx="7237412" cy="1266825"/>
          </a:xfrm>
        </p:spPr>
        <p:txBody>
          <a:bodyPr/>
          <a:lstStyle/>
          <a:p>
            <a:r>
              <a:rPr lang="en-US" sz="2400"/>
              <a:t>Using Semaphores in the Producer/Consumer Problem</a:t>
            </a:r>
            <a:endParaRPr lang="en-SG" sz="2400"/>
          </a:p>
        </p:txBody>
      </p:sp>
      <p:pic>
        <p:nvPicPr>
          <p:cNvPr id="46083" name="Picture 3" descr="2-24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206500"/>
            <a:ext cx="5472112" cy="605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4" name="TextBox 4"/>
          <p:cNvSpPr txBox="1">
            <a:spLocks noChangeArrowheads="1"/>
          </p:cNvSpPr>
          <p:nvPr/>
        </p:nvSpPr>
        <p:spPr bwMode="auto">
          <a:xfrm>
            <a:off x="6372225" y="1422400"/>
            <a:ext cx="35290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buFont typeface="Arial" charset="0"/>
              <a:buChar char="•"/>
            </a:pPr>
            <a:r>
              <a:rPr lang="en-US">
                <a:cs typeface="Arial" charset="0"/>
              </a:rPr>
              <a:t>EMPTY - # of empty slots.</a:t>
            </a:r>
          </a:p>
          <a:p>
            <a:pPr eaLnBrk="1" hangingPunct="1">
              <a:buFont typeface="Arial" charset="0"/>
              <a:buChar char="•"/>
            </a:pPr>
            <a:r>
              <a:rPr lang="en-US">
                <a:cs typeface="Arial" charset="0"/>
              </a:rPr>
              <a:t>FULL - # of full slots.</a:t>
            </a:r>
          </a:p>
          <a:p>
            <a:pPr eaLnBrk="1" hangingPunct="1">
              <a:buFont typeface="Arial" charset="0"/>
              <a:buChar char="•"/>
            </a:pPr>
            <a:r>
              <a:rPr lang="en-US">
                <a:cs typeface="Arial" charset="0"/>
              </a:rPr>
              <a:t>MUTEX – Prevents simultaneous access to the buffer.</a:t>
            </a:r>
            <a:endParaRPr lang="en-SG">
              <a:cs typeface="Arial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Exclusion with Semaphores</a:t>
            </a:r>
            <a:endParaRPr lang="en-SG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semaphore’s counting ability is not needed, we can use a simplified version called a “</a:t>
            </a:r>
            <a:r>
              <a:rPr lang="en-US" dirty="0" err="1"/>
              <a:t>mutex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1 = Unlocked.</a:t>
            </a:r>
          </a:p>
          <a:p>
            <a:pPr lvl="1"/>
            <a:r>
              <a:rPr lang="en-US" dirty="0"/>
              <a:t>0 = Locked.</a:t>
            </a:r>
          </a:p>
          <a:p>
            <a:r>
              <a:rPr lang="en-US" dirty="0"/>
              <a:t>Two processes can then attempt do DOWN the semaphore.</a:t>
            </a:r>
          </a:p>
          <a:p>
            <a:pPr lvl="1"/>
            <a:r>
              <a:rPr lang="en-US" dirty="0"/>
              <a:t>Only one will succeed. The other will block.</a:t>
            </a:r>
          </a:p>
          <a:p>
            <a:pPr lvl="1"/>
            <a:r>
              <a:rPr lang="en-US" dirty="0"/>
              <a:t>When the successful process exits the critical section, it does an UP, waking the other process up.</a:t>
            </a:r>
            <a:endParaRPr lang="en-SG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Mutual Exclusion with Semaphores</a:t>
            </a:r>
            <a:endParaRPr lang="en-SG"/>
          </a:p>
        </p:txBody>
      </p:sp>
      <p:sp>
        <p:nvSpPr>
          <p:cNvPr id="48131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Process A</a:t>
            </a:r>
            <a:endParaRPr lang="en-SG"/>
          </a:p>
        </p:txBody>
      </p:sp>
      <p:sp>
        <p:nvSpPr>
          <p:cNvPr id="48132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sema=1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non_critical_section()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DOWN(sema)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critical_section()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UP(sema)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…</a:t>
            </a:r>
            <a:endParaRPr lang="en-SG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8133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Process B</a:t>
            </a:r>
            <a:endParaRPr lang="en-SG"/>
          </a:p>
        </p:txBody>
      </p:sp>
      <p:sp>
        <p:nvSpPr>
          <p:cNvPr id="48134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Tx/>
              <a:buNone/>
            </a:pPr>
            <a:endParaRPr lang="en-US"/>
          </a:p>
          <a:p>
            <a:pPr>
              <a:buFontTx/>
              <a:buNone/>
            </a:pPr>
            <a:endParaRPr lang="en-US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non_critical_section()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DOWN(sema)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critical_section()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UP(sema)</a:t>
            </a:r>
          </a:p>
          <a:p>
            <a:pPr>
              <a:buFontTx/>
              <a:buNone/>
            </a:pPr>
            <a:r>
              <a:rPr lang="en-US">
                <a:latin typeface="Courier New" pitchFamily="49" charset="0"/>
                <a:cs typeface="Courier New" pitchFamily="49" charset="0"/>
              </a:rPr>
              <a:t>…</a:t>
            </a:r>
            <a:endParaRPr lang="en-SG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Deadlocks with semaphores</a:t>
            </a:r>
            <a:endParaRPr lang="en-SG" dirty="0"/>
          </a:p>
        </p:txBody>
      </p:sp>
      <p:sp>
        <p:nvSpPr>
          <p:cNvPr id="5325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Inter-Process Communications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430822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Semaphores	</a:t>
            </a:r>
            <a:br>
              <a:rPr lang="en-US"/>
            </a:br>
            <a:r>
              <a:rPr lang="en-US"/>
              <a:t>Deadlock</a:t>
            </a:r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611188" y="2193925"/>
            <a:ext cx="3744912" cy="4700588"/>
          </a:xfrm>
        </p:spPr>
        <p:txBody>
          <a:bodyPr/>
          <a:lstStyle/>
          <a:p>
            <a:r>
              <a:rPr lang="en-US"/>
              <a:t>Our producer/consumer solution has a problem:</a:t>
            </a:r>
          </a:p>
          <a:p>
            <a:pPr lvl="1"/>
            <a:r>
              <a:rPr lang="en-US"/>
              <a:t>If we swapped the semaphores for empty/full with the mutex semaphore, we have a potential deadlock:</a:t>
            </a:r>
          </a:p>
        </p:txBody>
      </p:sp>
      <p:pic>
        <p:nvPicPr>
          <p:cNvPr id="50180" name="Picture 3" descr="2-24-swapped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0" y="1589088"/>
            <a:ext cx="5106988" cy="564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Oval 4"/>
          <p:cNvSpPr>
            <a:spLocks noChangeArrowheads="1"/>
          </p:cNvSpPr>
          <p:nvPr/>
        </p:nvSpPr>
        <p:spPr bwMode="auto">
          <a:xfrm>
            <a:off x="5075238" y="3581400"/>
            <a:ext cx="1512887" cy="504825"/>
          </a:xfrm>
          <a:prstGeom prst="ellipse">
            <a:avLst/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82" name="Oval 5"/>
          <p:cNvSpPr>
            <a:spLocks noChangeArrowheads="1"/>
          </p:cNvSpPr>
          <p:nvPr/>
        </p:nvSpPr>
        <p:spPr bwMode="auto">
          <a:xfrm>
            <a:off x="5075238" y="5815013"/>
            <a:ext cx="1512887" cy="503237"/>
          </a:xfrm>
          <a:prstGeom prst="ellipse">
            <a:avLst/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Semaphores	</a:t>
            </a:r>
            <a:br>
              <a:rPr lang="en-US"/>
            </a:br>
            <a:r>
              <a:rPr lang="en-US"/>
              <a:t>Deadlock</a:t>
            </a:r>
          </a:p>
        </p:txBody>
      </p:sp>
      <p:sp>
        <p:nvSpPr>
          <p:cNvPr id="512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This can happen:</a:t>
            </a:r>
          </a:p>
          <a:p>
            <a:pPr lvl="1"/>
            <a:r>
              <a:rPr lang="en-US"/>
              <a:t>Producer successfully DOWNs the mutex.</a:t>
            </a:r>
          </a:p>
          <a:p>
            <a:pPr lvl="1"/>
            <a:r>
              <a:rPr lang="en-US"/>
              <a:t>Producer DOWNs “empty”. However the queue is full so this blocks.</a:t>
            </a:r>
          </a:p>
          <a:p>
            <a:pPr lvl="1"/>
            <a:r>
              <a:rPr lang="en-US"/>
              <a:t>Consumer DOWNs mutex and blocks.</a:t>
            </a:r>
          </a:p>
          <a:p>
            <a:pPr lvl="2"/>
            <a:r>
              <a:rPr lang="en-US"/>
              <a:t>Consumer now never reaches the UP for “empty” and therefore cannot unblock the producer.</a:t>
            </a:r>
          </a:p>
          <a:p>
            <a:pPr lvl="2"/>
            <a:r>
              <a:rPr lang="en-US"/>
              <a:t>The producer in turn never reaches the UP for mutex and cannot unblock the consumer.</a:t>
            </a:r>
          </a:p>
          <a:p>
            <a:pPr lvl="2"/>
            <a:r>
              <a:rPr lang="en-US"/>
              <a:t>Deadlock!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Semaphores	</a:t>
            </a:r>
            <a:br>
              <a:rPr lang="en-US"/>
            </a:br>
            <a:r>
              <a:rPr lang="en-US"/>
              <a:t>Priority Inversion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diagram on the following page, priority(Process C) &lt; priority(Process B) &lt; priority(Process A).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Process B effectively blocks out Process A, although Process A has higher priority!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222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006725"/>
            <a:ext cx="6048375" cy="328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12127</TotalTime>
  <Words>1525</Words>
  <Application>Microsoft Office PowerPoint</Application>
  <PresentationFormat>Custom</PresentationFormat>
  <Paragraphs>198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Courier New</vt:lpstr>
      <vt:lpstr>Times</vt:lpstr>
      <vt:lpstr>Times New Roman</vt:lpstr>
      <vt:lpstr>Wingdings</vt:lpstr>
      <vt:lpstr>Blank</vt:lpstr>
      <vt:lpstr>PowerPoint Presentation</vt:lpstr>
      <vt:lpstr>Learning Objectives</vt:lpstr>
      <vt:lpstr>Introduction</vt:lpstr>
      <vt:lpstr>Introduction</vt:lpstr>
      <vt:lpstr>Race conditions and critical sections</vt:lpstr>
      <vt:lpstr>Race Conditions</vt:lpstr>
      <vt:lpstr>Race Conditions</vt:lpstr>
      <vt:lpstr>Race Conditions</vt:lpstr>
      <vt:lpstr>Critical Sections</vt:lpstr>
      <vt:lpstr>Critical Sections</vt:lpstr>
      <vt:lpstr>Critical Sections</vt:lpstr>
      <vt:lpstr>Implementing mutual exclusion</vt:lpstr>
      <vt:lpstr>Implementing Mutual Exclusion</vt:lpstr>
      <vt:lpstr>Test and Set Lock</vt:lpstr>
      <vt:lpstr>Test and Set Lock</vt:lpstr>
      <vt:lpstr>Deadlock</vt:lpstr>
      <vt:lpstr>Sleep/Wake</vt:lpstr>
      <vt:lpstr>The producer/consumer problem</vt:lpstr>
      <vt:lpstr>The Producer/Consumer problem</vt:lpstr>
      <vt:lpstr>semaphores</vt:lpstr>
      <vt:lpstr>Semaphores</vt:lpstr>
      <vt:lpstr>Using Semaphores in the Producer/Consumer Problem</vt:lpstr>
      <vt:lpstr>Mutual Exclusion with Semaphores</vt:lpstr>
      <vt:lpstr>Mutual Exclusion with Semaphores</vt:lpstr>
      <vt:lpstr>Deadlocks with semaphores</vt:lpstr>
      <vt:lpstr>Problems with Semaphores  Deadlock</vt:lpstr>
      <vt:lpstr>Problems with Semaphores  Deadlock</vt:lpstr>
      <vt:lpstr>Problems with Semaphores  Priority Inversion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PowerPC</dc:creator>
  <cp:lastModifiedBy>Tan Keng Yan, Colin</cp:lastModifiedBy>
  <cp:revision>385</cp:revision>
  <cp:lastPrinted>2002-11-20T02:08:40Z</cp:lastPrinted>
  <dcterms:created xsi:type="dcterms:W3CDTF">2001-10-04T11:39:11Z</dcterms:created>
  <dcterms:modified xsi:type="dcterms:W3CDTF">2025-11-04T08:05:24Z</dcterms:modified>
</cp:coreProperties>
</file>