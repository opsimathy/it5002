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77" r:id="rId2"/>
    <p:sldId id="316" r:id="rId3"/>
    <p:sldId id="468" r:id="rId4"/>
    <p:sldId id="721" r:id="rId5"/>
    <p:sldId id="638" r:id="rId6"/>
    <p:sldId id="639" r:id="rId7"/>
    <p:sldId id="601" r:id="rId8"/>
    <p:sldId id="604" r:id="rId9"/>
    <p:sldId id="605" r:id="rId10"/>
    <p:sldId id="709" r:id="rId11"/>
    <p:sldId id="710" r:id="rId12"/>
    <p:sldId id="711" r:id="rId13"/>
    <p:sldId id="712" r:id="rId14"/>
    <p:sldId id="606" r:id="rId15"/>
    <p:sldId id="608" r:id="rId16"/>
    <p:sldId id="610" r:id="rId17"/>
    <p:sldId id="613" r:id="rId18"/>
    <p:sldId id="643" r:id="rId19"/>
    <p:sldId id="661" r:id="rId20"/>
    <p:sldId id="664" r:id="rId21"/>
    <p:sldId id="665" r:id="rId22"/>
    <p:sldId id="666" r:id="rId23"/>
    <p:sldId id="708" r:id="rId24"/>
    <p:sldId id="699" r:id="rId25"/>
    <p:sldId id="700" r:id="rId26"/>
    <p:sldId id="701" r:id="rId27"/>
    <p:sldId id="702" r:id="rId28"/>
    <p:sldId id="704" r:id="rId29"/>
    <p:sldId id="722" r:id="rId30"/>
    <p:sldId id="723" r:id="rId31"/>
    <p:sldId id="705" r:id="rId32"/>
    <p:sldId id="667" r:id="rId33"/>
    <p:sldId id="706" r:id="rId34"/>
    <p:sldId id="707" r:id="rId35"/>
    <p:sldId id="715" r:id="rId36"/>
    <p:sldId id="727" r:id="rId37"/>
    <p:sldId id="716" r:id="rId38"/>
    <p:sldId id="717" r:id="rId39"/>
    <p:sldId id="718" r:id="rId40"/>
    <p:sldId id="719" r:id="rId41"/>
    <p:sldId id="724" r:id="rId42"/>
    <p:sldId id="725" r:id="rId43"/>
    <p:sldId id="720" r:id="rId44"/>
    <p:sldId id="726" r:id="rId45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CCCC"/>
    <a:srgbClr val="003298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356" autoAdjust="0"/>
    <p:restoredTop sz="94660"/>
  </p:normalViewPr>
  <p:slideViewPr>
    <p:cSldViewPr snapToGrid="0">
      <p:cViewPr varScale="1">
        <p:scale>
          <a:sx n="83" d="100"/>
          <a:sy n="83" d="100"/>
        </p:scale>
        <p:origin x="1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373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5EA2CFD-E7EE-49FF-9811-ECB27BA87EC1}" type="doc">
      <dgm:prSet loTypeId="urn:microsoft.com/office/officeart/2005/8/layout/list1" loCatId="list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SG"/>
        </a:p>
      </dgm:t>
    </dgm:pt>
    <dgm:pt modelId="{A5CC93B2-610F-4463-9EA1-06718942BE42}">
      <dgm:prSet phldrT="[Text]" custT="1"/>
      <dgm:spPr/>
      <dgm:t>
        <a:bodyPr/>
        <a:lstStyle/>
        <a:p>
          <a:r>
            <a:rPr lang="en-US" sz="1800" b="1" dirty="0"/>
            <a:t>R-format</a:t>
          </a:r>
          <a:r>
            <a:rPr lang="en-US" sz="1800" dirty="0"/>
            <a:t> (Register format: </a:t>
          </a:r>
          <a:r>
            <a:rPr lang="en-US" sz="18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 </a:t>
          </a:r>
          <a:r>
            <a:rPr lang="en-US" sz="18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rPr>
            <a:t>$r1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$r2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$r3</a:t>
          </a:r>
          <a:r>
            <a:rPr lang="en-US" sz="1800" dirty="0"/>
            <a:t>)</a:t>
          </a:r>
          <a:endParaRPr lang="en-SG" sz="1800" dirty="0"/>
        </a:p>
      </dgm:t>
    </dgm:pt>
    <dgm:pt modelId="{B4E6CC5F-A2AB-4CA3-A30F-71A20AA3929E}" type="parTrans" cxnId="{C078B144-0874-41BF-802A-DD7A6E987095}">
      <dgm:prSet/>
      <dgm:spPr/>
      <dgm:t>
        <a:bodyPr/>
        <a:lstStyle/>
        <a:p>
          <a:endParaRPr lang="en-SG"/>
        </a:p>
      </dgm:t>
    </dgm:pt>
    <dgm:pt modelId="{1CC56391-DAF4-4B6A-8AFF-FDDF1C8CFACC}" type="sibTrans" cxnId="{C078B144-0874-41BF-802A-DD7A6E987095}">
      <dgm:prSet/>
      <dgm:spPr/>
      <dgm:t>
        <a:bodyPr/>
        <a:lstStyle/>
        <a:p>
          <a:endParaRPr lang="en-SG"/>
        </a:p>
      </dgm:t>
    </dgm:pt>
    <dgm:pt modelId="{B745244B-38FF-4B61-AF5D-AFD0881AC7AD}">
      <dgm:prSet/>
      <dgm:spPr/>
      <dgm:t>
        <a:bodyPr/>
        <a:lstStyle/>
        <a:p>
          <a:r>
            <a:rPr lang="en-US" dirty="0"/>
            <a:t>Instructions which use 2 source registers and 1 destination register</a:t>
          </a:r>
        </a:p>
      </dgm:t>
    </dgm:pt>
    <dgm:pt modelId="{E063501E-0527-45D1-8477-9711C434405B}" type="parTrans" cxnId="{8A4C36A4-CE51-463C-89FE-3C94C48F6CA6}">
      <dgm:prSet/>
      <dgm:spPr/>
      <dgm:t>
        <a:bodyPr/>
        <a:lstStyle/>
        <a:p>
          <a:endParaRPr lang="en-SG"/>
        </a:p>
      </dgm:t>
    </dgm:pt>
    <dgm:pt modelId="{BA6A5529-8DC9-4C89-9162-62310FF74B6C}" type="sibTrans" cxnId="{8A4C36A4-CE51-463C-89FE-3C94C48F6CA6}">
      <dgm:prSet/>
      <dgm:spPr/>
      <dgm:t>
        <a:bodyPr/>
        <a:lstStyle/>
        <a:p>
          <a:endParaRPr lang="en-SG"/>
        </a:p>
      </dgm:t>
    </dgm:pt>
    <dgm:pt modelId="{815405DE-AA21-4153-8B2C-C4012BE456F3}">
      <dgm:prSet/>
      <dgm:spPr/>
      <dgm:t>
        <a:bodyPr/>
        <a:lstStyle/>
        <a:p>
          <a:r>
            <a:rPr lang="en-US" b="1">
              <a:latin typeface="Courier New" pitchFamily="49" charset="0"/>
            </a:rPr>
            <a:t>e.g. add, sub, and, or, nor, slt, etc</a:t>
          </a:r>
          <a:endParaRPr lang="en-US" dirty="0"/>
        </a:p>
      </dgm:t>
    </dgm:pt>
    <dgm:pt modelId="{A0AC04A5-B34A-48E1-9D5C-E0CC5F7E695D}" type="parTrans" cxnId="{75AE5598-3AF2-41E7-9692-B8830FB2EE77}">
      <dgm:prSet/>
      <dgm:spPr/>
      <dgm:t>
        <a:bodyPr/>
        <a:lstStyle/>
        <a:p>
          <a:endParaRPr lang="en-SG"/>
        </a:p>
      </dgm:t>
    </dgm:pt>
    <dgm:pt modelId="{0424935C-B3CC-463C-A329-BE30976AE49E}" type="sibTrans" cxnId="{75AE5598-3AF2-41E7-9692-B8830FB2EE77}">
      <dgm:prSet/>
      <dgm:spPr/>
      <dgm:t>
        <a:bodyPr/>
        <a:lstStyle/>
        <a:p>
          <a:endParaRPr lang="en-SG"/>
        </a:p>
      </dgm:t>
    </dgm:pt>
    <dgm:pt modelId="{DD27C3F9-B1B0-4492-9ECB-A37F9CB74B29}">
      <dgm:prSet custT="1"/>
      <dgm:spPr/>
      <dgm:t>
        <a:bodyPr/>
        <a:lstStyle/>
        <a:p>
          <a:r>
            <a:rPr lang="en-US" sz="1800" b="1" dirty="0"/>
            <a:t>I-format</a:t>
          </a:r>
          <a:r>
            <a:rPr lang="en-US" sz="1800" dirty="0"/>
            <a:t> (Immediate format: </a:t>
          </a:r>
          <a:r>
            <a:rPr lang="en-US" sz="18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 </a:t>
          </a:r>
          <a:r>
            <a:rPr lang="en-US" sz="18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rPr>
            <a:t>$r1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$r2</a:t>
          </a:r>
          <a:r>
            <a:rPr lang="en-US" sz="1800" b="1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dirty="0" err="1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Immd</a:t>
          </a:r>
          <a:r>
            <a:rPr lang="en-US" sz="1800" dirty="0"/>
            <a:t>)</a:t>
          </a:r>
        </a:p>
      </dgm:t>
    </dgm:pt>
    <dgm:pt modelId="{7C7BDC60-AFF0-40A6-8091-A2B80B538E19}" type="parTrans" cxnId="{E5AF8E3D-DC42-4AF5-993E-9BA94F8660B9}">
      <dgm:prSet/>
      <dgm:spPr/>
      <dgm:t>
        <a:bodyPr/>
        <a:lstStyle/>
        <a:p>
          <a:endParaRPr lang="en-SG"/>
        </a:p>
      </dgm:t>
    </dgm:pt>
    <dgm:pt modelId="{3EB605E6-306A-47BD-A384-160C19AEF805}" type="sibTrans" cxnId="{E5AF8E3D-DC42-4AF5-993E-9BA94F8660B9}">
      <dgm:prSet/>
      <dgm:spPr/>
      <dgm:t>
        <a:bodyPr/>
        <a:lstStyle/>
        <a:p>
          <a:endParaRPr lang="en-SG"/>
        </a:p>
      </dgm:t>
    </dgm:pt>
    <dgm:pt modelId="{790D18B4-5691-4B2D-86E2-D07C0090C3FD}">
      <dgm:prSet/>
      <dgm:spPr/>
      <dgm:t>
        <a:bodyPr/>
        <a:lstStyle/>
        <a:p>
          <a:r>
            <a:rPr lang="en-US" b="1" dirty="0">
              <a:latin typeface="Courier New" pitchFamily="49" charset="0"/>
            </a:rPr>
            <a:t>e.g. </a:t>
          </a:r>
          <a:r>
            <a:rPr lang="en-US" b="1" dirty="0" err="1">
              <a:latin typeface="Courier New" pitchFamily="49" charset="0"/>
            </a:rPr>
            <a:t>addi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andi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ori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slti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lw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sw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beq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bne</a:t>
          </a:r>
          <a:r>
            <a:rPr lang="en-US" dirty="0"/>
            <a:t>, etc.</a:t>
          </a:r>
        </a:p>
      </dgm:t>
    </dgm:pt>
    <dgm:pt modelId="{9921DB66-2F46-4DBF-A527-FC94DCD44632}" type="parTrans" cxnId="{2137E6D7-7658-410A-B44A-DAF071F8EA39}">
      <dgm:prSet/>
      <dgm:spPr/>
      <dgm:t>
        <a:bodyPr/>
        <a:lstStyle/>
        <a:p>
          <a:endParaRPr lang="en-SG"/>
        </a:p>
      </dgm:t>
    </dgm:pt>
    <dgm:pt modelId="{20C9A52F-6665-4164-ADD5-65A3318AB229}" type="sibTrans" cxnId="{2137E6D7-7658-410A-B44A-DAF071F8EA39}">
      <dgm:prSet/>
      <dgm:spPr/>
      <dgm:t>
        <a:bodyPr/>
        <a:lstStyle/>
        <a:p>
          <a:endParaRPr lang="en-SG"/>
        </a:p>
      </dgm:t>
    </dgm:pt>
    <dgm:pt modelId="{DADA62FA-8678-4304-8C53-5B262C1D6BD1}">
      <dgm:prSet/>
      <dgm:spPr/>
      <dgm:t>
        <a:bodyPr/>
        <a:lstStyle/>
        <a:p>
          <a:r>
            <a:rPr lang="en-US" b="1" u="none" dirty="0"/>
            <a:t>J-format</a:t>
          </a:r>
          <a:r>
            <a:rPr lang="en-US" dirty="0"/>
            <a:t> (Jump format: </a:t>
          </a:r>
          <a:r>
            <a:rPr lang="en-US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b="1" dirty="0">
              <a:latin typeface="Courier New" pitchFamily="49" charset="0"/>
              <a:cs typeface="Courier New" pitchFamily="49" charset="0"/>
            </a:rPr>
            <a:t> </a:t>
          </a:r>
          <a:r>
            <a:rPr lang="en-US" b="1" dirty="0" err="1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Immd</a:t>
          </a:r>
          <a:r>
            <a:rPr lang="en-US" dirty="0"/>
            <a:t>)</a:t>
          </a:r>
        </a:p>
      </dgm:t>
    </dgm:pt>
    <dgm:pt modelId="{31BE59C4-7425-4591-AAB0-793105C6281A}" type="parTrans" cxnId="{B4389D4F-58F3-4800-96F7-981A18AA056E}">
      <dgm:prSet/>
      <dgm:spPr/>
      <dgm:t>
        <a:bodyPr/>
        <a:lstStyle/>
        <a:p>
          <a:endParaRPr lang="en-SG"/>
        </a:p>
      </dgm:t>
    </dgm:pt>
    <dgm:pt modelId="{9DD0C15F-AEF2-42AF-A17F-31E457619D61}" type="sibTrans" cxnId="{B4389D4F-58F3-4800-96F7-981A18AA056E}">
      <dgm:prSet/>
      <dgm:spPr/>
      <dgm:t>
        <a:bodyPr/>
        <a:lstStyle/>
        <a:p>
          <a:endParaRPr lang="en-SG"/>
        </a:p>
      </dgm:t>
    </dgm:pt>
    <dgm:pt modelId="{64F2D888-EC83-40EA-9538-C01B1A4B9963}">
      <dgm:prSet/>
      <dgm:spPr/>
      <dgm:t>
        <a:bodyPr/>
        <a:lstStyle/>
        <a:p>
          <a:r>
            <a:rPr lang="en-US" b="1" dirty="0">
              <a:latin typeface="Courier New" pitchFamily="49" charset="0"/>
            </a:rPr>
            <a:t>j</a:t>
          </a:r>
          <a:r>
            <a:rPr lang="en-US" dirty="0"/>
            <a:t> instruction uses only one immediate value</a:t>
          </a:r>
        </a:p>
      </dgm:t>
    </dgm:pt>
    <dgm:pt modelId="{5BC1BCB2-4908-44B8-AF80-7B9F27D074E2}" type="parTrans" cxnId="{14D1467A-10B9-437F-9C10-1B1BDB14955F}">
      <dgm:prSet/>
      <dgm:spPr/>
      <dgm:t>
        <a:bodyPr/>
        <a:lstStyle/>
        <a:p>
          <a:endParaRPr lang="en-SG"/>
        </a:p>
      </dgm:t>
    </dgm:pt>
    <dgm:pt modelId="{6CC19B16-32E2-44EA-93F9-B92BF93DC0CF}" type="sibTrans" cxnId="{14D1467A-10B9-437F-9C10-1B1BDB14955F}">
      <dgm:prSet/>
      <dgm:spPr/>
      <dgm:t>
        <a:bodyPr/>
        <a:lstStyle/>
        <a:p>
          <a:endParaRPr lang="en-SG"/>
        </a:p>
      </dgm:t>
    </dgm:pt>
    <dgm:pt modelId="{1585AEA3-9A07-4214-A81A-BA05C42128B4}">
      <dgm:prSet/>
      <dgm:spPr/>
      <dgm:t>
        <a:bodyPr/>
        <a:lstStyle/>
        <a:p>
          <a:r>
            <a:rPr lang="en-US" dirty="0"/>
            <a:t>Instructions which use 1 source register, 1 immediate value and 1 destination register</a:t>
          </a:r>
        </a:p>
      </dgm:t>
    </dgm:pt>
    <dgm:pt modelId="{D0187A4E-2BAE-4F30-ABF5-1FCEED53AB63}" type="parTrans" cxnId="{7372A8DB-DB7C-41F8-A045-D9EB59C457BC}">
      <dgm:prSet/>
      <dgm:spPr/>
      <dgm:t>
        <a:bodyPr/>
        <a:lstStyle/>
        <a:p>
          <a:endParaRPr lang="en-SG"/>
        </a:p>
      </dgm:t>
    </dgm:pt>
    <dgm:pt modelId="{230402EC-F190-4D39-A825-59FEEF65BDBE}" type="sibTrans" cxnId="{7372A8DB-DB7C-41F8-A045-D9EB59C457BC}">
      <dgm:prSet/>
      <dgm:spPr/>
      <dgm:t>
        <a:bodyPr/>
        <a:lstStyle/>
        <a:p>
          <a:endParaRPr lang="en-SG"/>
        </a:p>
      </dgm:t>
    </dgm:pt>
    <dgm:pt modelId="{B4306F1A-A515-4662-BD00-D70618225F83}">
      <dgm:prSet/>
      <dgm:spPr/>
      <dgm:t>
        <a:bodyPr/>
        <a:lstStyle/>
        <a:p>
          <a:r>
            <a:rPr lang="en-US" b="1" dirty="0">
              <a:latin typeface="+mn-lt"/>
            </a:rPr>
            <a:t>Special cases:  </a:t>
          </a:r>
          <a:r>
            <a:rPr lang="en-US" b="1" dirty="0" err="1">
              <a:latin typeface="Courier New" pitchFamily="49" charset="0"/>
            </a:rPr>
            <a:t>srl</a:t>
          </a:r>
          <a:r>
            <a:rPr lang="en-US" b="1" dirty="0">
              <a:latin typeface="Courier New" pitchFamily="49" charset="0"/>
            </a:rPr>
            <a:t>, </a:t>
          </a:r>
          <a:r>
            <a:rPr lang="en-US" b="1" dirty="0" err="1">
              <a:latin typeface="Courier New" pitchFamily="49" charset="0"/>
            </a:rPr>
            <a:t>sll</a:t>
          </a:r>
          <a:r>
            <a:rPr lang="en-US" dirty="0"/>
            <a:t>, etc.</a:t>
          </a:r>
        </a:p>
      </dgm:t>
    </dgm:pt>
    <dgm:pt modelId="{6AF735B2-CA1A-43AE-AA2B-7854988EA9C5}" type="parTrans" cxnId="{96C000D8-FBD1-4439-8908-B69C5F718CE3}">
      <dgm:prSet/>
      <dgm:spPr/>
      <dgm:t>
        <a:bodyPr/>
        <a:lstStyle/>
        <a:p>
          <a:endParaRPr lang="en-SG"/>
        </a:p>
      </dgm:t>
    </dgm:pt>
    <dgm:pt modelId="{56827F7D-C661-4210-944B-8400DD11C949}" type="sibTrans" cxnId="{96C000D8-FBD1-4439-8908-B69C5F718CE3}">
      <dgm:prSet/>
      <dgm:spPr/>
      <dgm:t>
        <a:bodyPr/>
        <a:lstStyle/>
        <a:p>
          <a:endParaRPr lang="en-SG"/>
        </a:p>
      </dgm:t>
    </dgm:pt>
    <dgm:pt modelId="{30A06B15-32BF-482D-9A03-E311DBBB510B}" type="pres">
      <dgm:prSet presAssocID="{B5EA2CFD-E7EE-49FF-9811-ECB27BA87EC1}" presName="linear" presStyleCnt="0">
        <dgm:presLayoutVars>
          <dgm:dir/>
          <dgm:animLvl val="lvl"/>
          <dgm:resizeHandles val="exact"/>
        </dgm:presLayoutVars>
      </dgm:prSet>
      <dgm:spPr/>
    </dgm:pt>
    <dgm:pt modelId="{051513BE-9D45-4457-80A5-B9234086CC9A}" type="pres">
      <dgm:prSet presAssocID="{A5CC93B2-610F-4463-9EA1-06718942BE42}" presName="parentLin" presStyleCnt="0"/>
      <dgm:spPr/>
    </dgm:pt>
    <dgm:pt modelId="{92455362-4697-44D0-8C0E-62A0E26C1D4E}" type="pres">
      <dgm:prSet presAssocID="{A5CC93B2-610F-4463-9EA1-06718942BE42}" presName="parentLeftMargin" presStyleLbl="node1" presStyleIdx="0" presStyleCnt="3"/>
      <dgm:spPr/>
    </dgm:pt>
    <dgm:pt modelId="{B0C4D1D3-0035-4BD0-BEF4-3B6980AA5D0A}" type="pres">
      <dgm:prSet presAssocID="{A5CC93B2-610F-4463-9EA1-06718942BE42}" presName="parentText" presStyleLbl="node1" presStyleIdx="0" presStyleCnt="3" custScaleX="105986">
        <dgm:presLayoutVars>
          <dgm:chMax val="0"/>
          <dgm:bulletEnabled val="1"/>
        </dgm:presLayoutVars>
      </dgm:prSet>
      <dgm:spPr/>
    </dgm:pt>
    <dgm:pt modelId="{1D07AA35-71BC-4B84-BD1E-4B22E80FA4CA}" type="pres">
      <dgm:prSet presAssocID="{A5CC93B2-610F-4463-9EA1-06718942BE42}" presName="negativeSpace" presStyleCnt="0"/>
      <dgm:spPr/>
    </dgm:pt>
    <dgm:pt modelId="{0CB4C815-174A-4EF1-B1AF-0FBCE7D988FA}" type="pres">
      <dgm:prSet presAssocID="{A5CC93B2-610F-4463-9EA1-06718942BE42}" presName="childText" presStyleLbl="conFgAcc1" presStyleIdx="0" presStyleCnt="3">
        <dgm:presLayoutVars>
          <dgm:bulletEnabled val="1"/>
        </dgm:presLayoutVars>
      </dgm:prSet>
      <dgm:spPr/>
    </dgm:pt>
    <dgm:pt modelId="{30FABA06-11E6-4BB5-A2ED-038FAAECFFF1}" type="pres">
      <dgm:prSet presAssocID="{1CC56391-DAF4-4B6A-8AFF-FDDF1C8CFACC}" presName="spaceBetweenRectangles" presStyleCnt="0"/>
      <dgm:spPr/>
    </dgm:pt>
    <dgm:pt modelId="{6CA53D83-CDD1-48AD-867E-4F428BE172BC}" type="pres">
      <dgm:prSet presAssocID="{DD27C3F9-B1B0-4492-9ECB-A37F9CB74B29}" presName="parentLin" presStyleCnt="0"/>
      <dgm:spPr/>
    </dgm:pt>
    <dgm:pt modelId="{10EB4D97-61B3-4212-8CC9-8D38907FE1EE}" type="pres">
      <dgm:prSet presAssocID="{DD27C3F9-B1B0-4492-9ECB-A37F9CB74B29}" presName="parentLeftMargin" presStyleLbl="node1" presStyleIdx="0" presStyleCnt="3"/>
      <dgm:spPr/>
    </dgm:pt>
    <dgm:pt modelId="{D02A8DA4-DF3A-4252-9C19-65702E2460CA}" type="pres">
      <dgm:prSet presAssocID="{DD27C3F9-B1B0-4492-9ECB-A37F9CB74B29}" presName="parentText" presStyleLbl="node1" presStyleIdx="1" presStyleCnt="3" custScaleX="105305">
        <dgm:presLayoutVars>
          <dgm:chMax val="0"/>
          <dgm:bulletEnabled val="1"/>
        </dgm:presLayoutVars>
      </dgm:prSet>
      <dgm:spPr/>
    </dgm:pt>
    <dgm:pt modelId="{00643D4B-E0E1-43AA-B836-37A09B070832}" type="pres">
      <dgm:prSet presAssocID="{DD27C3F9-B1B0-4492-9ECB-A37F9CB74B29}" presName="negativeSpace" presStyleCnt="0"/>
      <dgm:spPr/>
    </dgm:pt>
    <dgm:pt modelId="{C7C45B4E-6946-4BB9-8BD7-0B43AE89DEED}" type="pres">
      <dgm:prSet presAssocID="{DD27C3F9-B1B0-4492-9ECB-A37F9CB74B29}" presName="childText" presStyleLbl="conFgAcc1" presStyleIdx="1" presStyleCnt="3" custLinFactNeighborY="20401">
        <dgm:presLayoutVars>
          <dgm:bulletEnabled val="1"/>
        </dgm:presLayoutVars>
      </dgm:prSet>
      <dgm:spPr/>
    </dgm:pt>
    <dgm:pt modelId="{A28A93A9-E364-4508-B3AB-06B1F78B22E5}" type="pres">
      <dgm:prSet presAssocID="{3EB605E6-306A-47BD-A384-160C19AEF805}" presName="spaceBetweenRectangles" presStyleCnt="0"/>
      <dgm:spPr/>
    </dgm:pt>
    <dgm:pt modelId="{BCA66938-D87A-45BE-BF50-7F71D41AFEF1}" type="pres">
      <dgm:prSet presAssocID="{DADA62FA-8678-4304-8C53-5B262C1D6BD1}" presName="parentLin" presStyleCnt="0"/>
      <dgm:spPr/>
    </dgm:pt>
    <dgm:pt modelId="{B82EE80B-3ED8-4493-80D9-D1D115C9F22B}" type="pres">
      <dgm:prSet presAssocID="{DADA62FA-8678-4304-8C53-5B262C1D6BD1}" presName="parentLeftMargin" presStyleLbl="node1" presStyleIdx="1" presStyleCnt="3"/>
      <dgm:spPr/>
    </dgm:pt>
    <dgm:pt modelId="{F99D3852-7D66-4544-AEE4-3773130872FB}" type="pres">
      <dgm:prSet presAssocID="{DADA62FA-8678-4304-8C53-5B262C1D6BD1}" presName="parentText" presStyleLbl="node1" presStyleIdx="2" presStyleCnt="3" custScaleX="104899">
        <dgm:presLayoutVars>
          <dgm:chMax val="0"/>
          <dgm:bulletEnabled val="1"/>
        </dgm:presLayoutVars>
      </dgm:prSet>
      <dgm:spPr/>
    </dgm:pt>
    <dgm:pt modelId="{3EEEF558-4FCC-4E8A-8EDC-5A6C2D4A3352}" type="pres">
      <dgm:prSet presAssocID="{DADA62FA-8678-4304-8C53-5B262C1D6BD1}" presName="negativeSpace" presStyleCnt="0"/>
      <dgm:spPr/>
    </dgm:pt>
    <dgm:pt modelId="{F3E0505D-A767-4370-BD43-544FBF905AA9}" type="pres">
      <dgm:prSet presAssocID="{DADA62FA-8678-4304-8C53-5B262C1D6BD1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0814505-8855-447A-9A9F-10E36F9DEFAD}" type="presOf" srcId="{1585AEA3-9A07-4214-A81A-BA05C42128B4}" destId="{C7C45B4E-6946-4BB9-8BD7-0B43AE89DEED}" srcOrd="0" destOrd="0" presId="urn:microsoft.com/office/officeart/2005/8/layout/list1"/>
    <dgm:cxn modelId="{56053625-5CA4-4930-A8B0-99AF872D726A}" type="presOf" srcId="{DADA62FA-8678-4304-8C53-5B262C1D6BD1}" destId="{F99D3852-7D66-4544-AEE4-3773130872FB}" srcOrd="1" destOrd="0" presId="urn:microsoft.com/office/officeart/2005/8/layout/list1"/>
    <dgm:cxn modelId="{E5AF8E3D-DC42-4AF5-993E-9BA94F8660B9}" srcId="{B5EA2CFD-E7EE-49FF-9811-ECB27BA87EC1}" destId="{DD27C3F9-B1B0-4492-9ECB-A37F9CB74B29}" srcOrd="1" destOrd="0" parTransId="{7C7BDC60-AFF0-40A6-8091-A2B80B538E19}" sibTransId="{3EB605E6-306A-47BD-A384-160C19AEF805}"/>
    <dgm:cxn modelId="{C078B144-0874-41BF-802A-DD7A6E987095}" srcId="{B5EA2CFD-E7EE-49FF-9811-ECB27BA87EC1}" destId="{A5CC93B2-610F-4463-9EA1-06718942BE42}" srcOrd="0" destOrd="0" parTransId="{B4E6CC5F-A2AB-4CA3-A30F-71A20AA3929E}" sibTransId="{1CC56391-DAF4-4B6A-8AFF-FDDF1C8CFACC}"/>
    <dgm:cxn modelId="{2DE2484E-EBA1-42D2-A173-AF1E735A88CA}" type="presOf" srcId="{790D18B4-5691-4B2D-86E2-D07C0090C3FD}" destId="{C7C45B4E-6946-4BB9-8BD7-0B43AE89DEED}" srcOrd="0" destOrd="1" presId="urn:microsoft.com/office/officeart/2005/8/layout/list1"/>
    <dgm:cxn modelId="{B4389D4F-58F3-4800-96F7-981A18AA056E}" srcId="{B5EA2CFD-E7EE-49FF-9811-ECB27BA87EC1}" destId="{DADA62FA-8678-4304-8C53-5B262C1D6BD1}" srcOrd="2" destOrd="0" parTransId="{31BE59C4-7425-4591-AAB0-793105C6281A}" sibTransId="{9DD0C15F-AEF2-42AF-A17F-31E457619D61}"/>
    <dgm:cxn modelId="{D50F6C50-C313-431B-85C0-292D01FA5A9B}" type="presOf" srcId="{B4306F1A-A515-4662-BD00-D70618225F83}" destId="{0CB4C815-174A-4EF1-B1AF-0FBCE7D988FA}" srcOrd="0" destOrd="2" presId="urn:microsoft.com/office/officeart/2005/8/layout/list1"/>
    <dgm:cxn modelId="{2660AE53-8B35-4A85-A0E6-2A0B382A306C}" type="presOf" srcId="{A5CC93B2-610F-4463-9EA1-06718942BE42}" destId="{B0C4D1D3-0035-4BD0-BEF4-3B6980AA5D0A}" srcOrd="1" destOrd="0" presId="urn:microsoft.com/office/officeart/2005/8/layout/list1"/>
    <dgm:cxn modelId="{DEB14B5E-E8A9-40AD-A375-5672368F09D8}" type="presOf" srcId="{DD27C3F9-B1B0-4492-9ECB-A37F9CB74B29}" destId="{D02A8DA4-DF3A-4252-9C19-65702E2460CA}" srcOrd="1" destOrd="0" presId="urn:microsoft.com/office/officeart/2005/8/layout/list1"/>
    <dgm:cxn modelId="{48CF7166-8E3A-4F5D-9ED0-5DA321E81943}" type="presOf" srcId="{815405DE-AA21-4153-8B2C-C4012BE456F3}" destId="{0CB4C815-174A-4EF1-B1AF-0FBCE7D988FA}" srcOrd="0" destOrd="1" presId="urn:microsoft.com/office/officeart/2005/8/layout/list1"/>
    <dgm:cxn modelId="{0B4F7A77-34FE-4670-982A-1A79AE6318FA}" type="presOf" srcId="{B745244B-38FF-4B61-AF5D-AFD0881AC7AD}" destId="{0CB4C815-174A-4EF1-B1AF-0FBCE7D988FA}" srcOrd="0" destOrd="0" presId="urn:microsoft.com/office/officeart/2005/8/layout/list1"/>
    <dgm:cxn modelId="{14D1467A-10B9-437F-9C10-1B1BDB14955F}" srcId="{DADA62FA-8678-4304-8C53-5B262C1D6BD1}" destId="{64F2D888-EC83-40EA-9538-C01B1A4B9963}" srcOrd="0" destOrd="0" parTransId="{5BC1BCB2-4908-44B8-AF80-7B9F27D074E2}" sibTransId="{6CC19B16-32E2-44EA-93F9-B92BF93DC0CF}"/>
    <dgm:cxn modelId="{0EA67A88-830C-4B94-93AF-FB069235B31B}" type="presOf" srcId="{A5CC93B2-610F-4463-9EA1-06718942BE42}" destId="{92455362-4697-44D0-8C0E-62A0E26C1D4E}" srcOrd="0" destOrd="0" presId="urn:microsoft.com/office/officeart/2005/8/layout/list1"/>
    <dgm:cxn modelId="{A7C2988F-4309-4D17-85EE-5DE6AD8D626E}" type="presOf" srcId="{64F2D888-EC83-40EA-9538-C01B1A4B9963}" destId="{F3E0505D-A767-4370-BD43-544FBF905AA9}" srcOrd="0" destOrd="0" presId="urn:microsoft.com/office/officeart/2005/8/layout/list1"/>
    <dgm:cxn modelId="{75AE5598-3AF2-41E7-9692-B8830FB2EE77}" srcId="{A5CC93B2-610F-4463-9EA1-06718942BE42}" destId="{815405DE-AA21-4153-8B2C-C4012BE456F3}" srcOrd="1" destOrd="0" parTransId="{A0AC04A5-B34A-48E1-9D5C-E0CC5F7E695D}" sibTransId="{0424935C-B3CC-463C-A329-BE30976AE49E}"/>
    <dgm:cxn modelId="{8A4C36A4-CE51-463C-89FE-3C94C48F6CA6}" srcId="{A5CC93B2-610F-4463-9EA1-06718942BE42}" destId="{B745244B-38FF-4B61-AF5D-AFD0881AC7AD}" srcOrd="0" destOrd="0" parTransId="{E063501E-0527-45D1-8477-9711C434405B}" sibTransId="{BA6A5529-8DC9-4C89-9162-62310FF74B6C}"/>
    <dgm:cxn modelId="{F32EB8AA-7811-4EDE-9B97-41C37CB66E6D}" type="presOf" srcId="{DD27C3F9-B1B0-4492-9ECB-A37F9CB74B29}" destId="{10EB4D97-61B3-4212-8CC9-8D38907FE1EE}" srcOrd="0" destOrd="0" presId="urn:microsoft.com/office/officeart/2005/8/layout/list1"/>
    <dgm:cxn modelId="{B9BCB1D6-E7E7-4317-94C2-DDB9A8FF06DE}" type="presOf" srcId="{B5EA2CFD-E7EE-49FF-9811-ECB27BA87EC1}" destId="{30A06B15-32BF-482D-9A03-E311DBBB510B}" srcOrd="0" destOrd="0" presId="urn:microsoft.com/office/officeart/2005/8/layout/list1"/>
    <dgm:cxn modelId="{2137E6D7-7658-410A-B44A-DAF071F8EA39}" srcId="{DD27C3F9-B1B0-4492-9ECB-A37F9CB74B29}" destId="{790D18B4-5691-4B2D-86E2-D07C0090C3FD}" srcOrd="1" destOrd="0" parTransId="{9921DB66-2F46-4DBF-A527-FC94DCD44632}" sibTransId="{20C9A52F-6665-4164-ADD5-65A3318AB229}"/>
    <dgm:cxn modelId="{96C000D8-FBD1-4439-8908-B69C5F718CE3}" srcId="{A5CC93B2-610F-4463-9EA1-06718942BE42}" destId="{B4306F1A-A515-4662-BD00-D70618225F83}" srcOrd="2" destOrd="0" parTransId="{6AF735B2-CA1A-43AE-AA2B-7854988EA9C5}" sibTransId="{56827F7D-C661-4210-944B-8400DD11C949}"/>
    <dgm:cxn modelId="{7372A8DB-DB7C-41F8-A045-D9EB59C457BC}" srcId="{DD27C3F9-B1B0-4492-9ECB-A37F9CB74B29}" destId="{1585AEA3-9A07-4214-A81A-BA05C42128B4}" srcOrd="0" destOrd="0" parTransId="{D0187A4E-2BAE-4F30-ABF5-1FCEED53AB63}" sibTransId="{230402EC-F190-4D39-A825-59FEEF65BDBE}"/>
    <dgm:cxn modelId="{C42C3EF4-8364-4B75-89AD-87B7CDACBE2B}" type="presOf" srcId="{DADA62FA-8678-4304-8C53-5B262C1D6BD1}" destId="{B82EE80B-3ED8-4493-80D9-D1D115C9F22B}" srcOrd="0" destOrd="0" presId="urn:microsoft.com/office/officeart/2005/8/layout/list1"/>
    <dgm:cxn modelId="{553DF635-6F5E-4ED1-B2EF-3100646A58F7}" type="presParOf" srcId="{30A06B15-32BF-482D-9A03-E311DBBB510B}" destId="{051513BE-9D45-4457-80A5-B9234086CC9A}" srcOrd="0" destOrd="0" presId="urn:microsoft.com/office/officeart/2005/8/layout/list1"/>
    <dgm:cxn modelId="{EEC3CB85-9984-428C-BD55-B82D6845B3EE}" type="presParOf" srcId="{051513BE-9D45-4457-80A5-B9234086CC9A}" destId="{92455362-4697-44D0-8C0E-62A0E26C1D4E}" srcOrd="0" destOrd="0" presId="urn:microsoft.com/office/officeart/2005/8/layout/list1"/>
    <dgm:cxn modelId="{607E6643-F7D8-4F6C-BB5E-EBB02488E052}" type="presParOf" srcId="{051513BE-9D45-4457-80A5-B9234086CC9A}" destId="{B0C4D1D3-0035-4BD0-BEF4-3B6980AA5D0A}" srcOrd="1" destOrd="0" presId="urn:microsoft.com/office/officeart/2005/8/layout/list1"/>
    <dgm:cxn modelId="{F8A6AEF7-9635-41C9-A7BF-13814FB9E98F}" type="presParOf" srcId="{30A06B15-32BF-482D-9A03-E311DBBB510B}" destId="{1D07AA35-71BC-4B84-BD1E-4B22E80FA4CA}" srcOrd="1" destOrd="0" presId="urn:microsoft.com/office/officeart/2005/8/layout/list1"/>
    <dgm:cxn modelId="{D7AB1B05-A2CC-436D-8293-B7D2E431F96E}" type="presParOf" srcId="{30A06B15-32BF-482D-9A03-E311DBBB510B}" destId="{0CB4C815-174A-4EF1-B1AF-0FBCE7D988FA}" srcOrd="2" destOrd="0" presId="urn:microsoft.com/office/officeart/2005/8/layout/list1"/>
    <dgm:cxn modelId="{C2ED995F-F20F-44D9-916D-A58508F33ECF}" type="presParOf" srcId="{30A06B15-32BF-482D-9A03-E311DBBB510B}" destId="{30FABA06-11E6-4BB5-A2ED-038FAAECFFF1}" srcOrd="3" destOrd="0" presId="urn:microsoft.com/office/officeart/2005/8/layout/list1"/>
    <dgm:cxn modelId="{A15B9E19-9C13-4B2B-A767-3EB0BB883A8D}" type="presParOf" srcId="{30A06B15-32BF-482D-9A03-E311DBBB510B}" destId="{6CA53D83-CDD1-48AD-867E-4F428BE172BC}" srcOrd="4" destOrd="0" presId="urn:microsoft.com/office/officeart/2005/8/layout/list1"/>
    <dgm:cxn modelId="{2EF19F87-ED99-4981-BE02-E9FE81ECF27A}" type="presParOf" srcId="{6CA53D83-CDD1-48AD-867E-4F428BE172BC}" destId="{10EB4D97-61B3-4212-8CC9-8D38907FE1EE}" srcOrd="0" destOrd="0" presId="urn:microsoft.com/office/officeart/2005/8/layout/list1"/>
    <dgm:cxn modelId="{2E98DD07-7606-4CE1-B356-864246FEB099}" type="presParOf" srcId="{6CA53D83-CDD1-48AD-867E-4F428BE172BC}" destId="{D02A8DA4-DF3A-4252-9C19-65702E2460CA}" srcOrd="1" destOrd="0" presId="urn:microsoft.com/office/officeart/2005/8/layout/list1"/>
    <dgm:cxn modelId="{507BEC3F-C9D6-4447-8FC5-8B863ADDE899}" type="presParOf" srcId="{30A06B15-32BF-482D-9A03-E311DBBB510B}" destId="{00643D4B-E0E1-43AA-B836-37A09B070832}" srcOrd="5" destOrd="0" presId="urn:microsoft.com/office/officeart/2005/8/layout/list1"/>
    <dgm:cxn modelId="{0788C7AF-9E4D-439F-8B3A-F45026989EA6}" type="presParOf" srcId="{30A06B15-32BF-482D-9A03-E311DBBB510B}" destId="{C7C45B4E-6946-4BB9-8BD7-0B43AE89DEED}" srcOrd="6" destOrd="0" presId="urn:microsoft.com/office/officeart/2005/8/layout/list1"/>
    <dgm:cxn modelId="{B28A825E-638F-4F77-AC47-D312DE567D09}" type="presParOf" srcId="{30A06B15-32BF-482D-9A03-E311DBBB510B}" destId="{A28A93A9-E364-4508-B3AB-06B1F78B22E5}" srcOrd="7" destOrd="0" presId="urn:microsoft.com/office/officeart/2005/8/layout/list1"/>
    <dgm:cxn modelId="{28E8AC1F-2B10-4AA3-8D01-D43AA306B4D1}" type="presParOf" srcId="{30A06B15-32BF-482D-9A03-E311DBBB510B}" destId="{BCA66938-D87A-45BE-BF50-7F71D41AFEF1}" srcOrd="8" destOrd="0" presId="urn:microsoft.com/office/officeart/2005/8/layout/list1"/>
    <dgm:cxn modelId="{2FFCB772-217C-4873-BEA9-6784D27609E3}" type="presParOf" srcId="{BCA66938-D87A-45BE-BF50-7F71D41AFEF1}" destId="{B82EE80B-3ED8-4493-80D9-D1D115C9F22B}" srcOrd="0" destOrd="0" presId="urn:microsoft.com/office/officeart/2005/8/layout/list1"/>
    <dgm:cxn modelId="{B8A3CDB0-AC8E-402A-9E64-0BDA187640C9}" type="presParOf" srcId="{BCA66938-D87A-45BE-BF50-7F71D41AFEF1}" destId="{F99D3852-7D66-4544-AEE4-3773130872FB}" srcOrd="1" destOrd="0" presId="urn:microsoft.com/office/officeart/2005/8/layout/list1"/>
    <dgm:cxn modelId="{9238FE2B-4A8F-4EA8-AC65-3605D0EC3D0F}" type="presParOf" srcId="{30A06B15-32BF-482D-9A03-E311DBBB510B}" destId="{3EEEF558-4FCC-4E8A-8EDC-5A6C2D4A3352}" srcOrd="9" destOrd="0" presId="urn:microsoft.com/office/officeart/2005/8/layout/list1"/>
    <dgm:cxn modelId="{C51E4A4E-6198-466F-91AD-49F3FB227953}" type="presParOf" srcId="{30A06B15-32BF-482D-9A03-E311DBBB510B}" destId="{F3E0505D-A767-4370-BD43-544FBF905AA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B4C815-174A-4EF1-B1AF-0FBCE7D988FA}">
      <dsp:nvSpPr>
        <dsp:cNvPr id="0" name=""/>
        <dsp:cNvSpPr/>
      </dsp:nvSpPr>
      <dsp:spPr>
        <a:xfrm>
          <a:off x="0" y="310043"/>
          <a:ext cx="8001000" cy="136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74904" rIns="6209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Instructions which use 2 source registers and 1 destination register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>
              <a:latin typeface="Courier New" pitchFamily="49" charset="0"/>
            </a:rPr>
            <a:t>e.g. add, sub, and, or, nor, slt, etc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+mn-lt"/>
            </a:rPr>
            <a:t>Special cases:  </a:t>
          </a:r>
          <a:r>
            <a:rPr lang="en-US" sz="1800" b="1" kern="1200" dirty="0" err="1">
              <a:latin typeface="Courier New" pitchFamily="49" charset="0"/>
            </a:rPr>
            <a:t>srl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sll</a:t>
          </a:r>
          <a:r>
            <a:rPr lang="en-US" sz="1800" kern="1200" dirty="0"/>
            <a:t>, etc.</a:t>
          </a:r>
        </a:p>
      </dsp:txBody>
      <dsp:txXfrm>
        <a:off x="0" y="310043"/>
        <a:ext cx="8001000" cy="1360800"/>
      </dsp:txXfrm>
    </dsp:sp>
    <dsp:sp modelId="{B0C4D1D3-0035-4BD0-BEF4-3B6980AA5D0A}">
      <dsp:nvSpPr>
        <dsp:cNvPr id="0" name=""/>
        <dsp:cNvSpPr/>
      </dsp:nvSpPr>
      <dsp:spPr>
        <a:xfrm>
          <a:off x="400050" y="44363"/>
          <a:ext cx="5935957" cy="53136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R-format</a:t>
          </a:r>
          <a:r>
            <a:rPr lang="en-US" sz="1800" kern="1200" dirty="0"/>
            <a:t> (Register format: </a:t>
          </a:r>
          <a:r>
            <a:rPr lang="en-US" sz="1800" b="1" kern="1200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 </a:t>
          </a:r>
          <a:r>
            <a:rPr lang="en-US" sz="1800" b="1" kern="12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rPr>
            <a:t>$r1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kern="1200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$r2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kern="1200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$r3</a:t>
          </a:r>
          <a:r>
            <a:rPr lang="en-US" sz="1800" kern="1200" dirty="0"/>
            <a:t>)</a:t>
          </a:r>
          <a:endParaRPr lang="en-SG" sz="1800" kern="1200" dirty="0"/>
        </a:p>
      </dsp:txBody>
      <dsp:txXfrm>
        <a:off x="425989" y="70302"/>
        <a:ext cx="5884079" cy="479482"/>
      </dsp:txXfrm>
    </dsp:sp>
    <dsp:sp modelId="{C7C45B4E-6946-4BB9-8BD7-0B43AE89DEED}">
      <dsp:nvSpPr>
        <dsp:cNvPr id="0" name=""/>
        <dsp:cNvSpPr/>
      </dsp:nvSpPr>
      <dsp:spPr>
        <a:xfrm>
          <a:off x="0" y="2053553"/>
          <a:ext cx="8001000" cy="12757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1628512"/>
              <a:satOff val="5598"/>
              <a:lumOff val="-2686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74904" rIns="6209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Instructions which use 1 source register, 1 immediate value and 1 destination register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Courier New" pitchFamily="49" charset="0"/>
            </a:rPr>
            <a:t>e.g. </a:t>
          </a:r>
          <a:r>
            <a:rPr lang="en-US" sz="1800" b="1" kern="1200" dirty="0" err="1">
              <a:latin typeface="Courier New" pitchFamily="49" charset="0"/>
            </a:rPr>
            <a:t>addi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andi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ori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slti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lw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sw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beq</a:t>
          </a:r>
          <a:r>
            <a:rPr lang="en-US" sz="1800" b="1" kern="1200" dirty="0">
              <a:latin typeface="Courier New" pitchFamily="49" charset="0"/>
            </a:rPr>
            <a:t>, </a:t>
          </a:r>
          <a:r>
            <a:rPr lang="en-US" sz="1800" b="1" kern="1200" dirty="0" err="1">
              <a:latin typeface="Courier New" pitchFamily="49" charset="0"/>
            </a:rPr>
            <a:t>bne</a:t>
          </a:r>
          <a:r>
            <a:rPr lang="en-US" sz="1800" kern="1200" dirty="0"/>
            <a:t>, etc.</a:t>
          </a:r>
        </a:p>
      </dsp:txBody>
      <dsp:txXfrm>
        <a:off x="0" y="2053553"/>
        <a:ext cx="8001000" cy="1275750"/>
      </dsp:txXfrm>
    </dsp:sp>
    <dsp:sp modelId="{D02A8DA4-DF3A-4252-9C19-65702E2460CA}">
      <dsp:nvSpPr>
        <dsp:cNvPr id="0" name=""/>
        <dsp:cNvSpPr/>
      </dsp:nvSpPr>
      <dsp:spPr>
        <a:xfrm>
          <a:off x="400050" y="1768043"/>
          <a:ext cx="5897817" cy="531360"/>
        </a:xfrm>
        <a:prstGeom prst="roundRect">
          <a:avLst/>
        </a:prstGeom>
        <a:gradFill rotWithShape="0">
          <a:gsLst>
            <a:gs pos="0">
              <a:schemeClr val="accent5">
                <a:hueOff val="1628512"/>
                <a:satOff val="5598"/>
                <a:lumOff val="-26863"/>
                <a:alphaOff val="0"/>
                <a:tint val="50000"/>
                <a:satMod val="300000"/>
              </a:schemeClr>
            </a:gs>
            <a:gs pos="35000">
              <a:schemeClr val="accent5">
                <a:hueOff val="1628512"/>
                <a:satOff val="5598"/>
                <a:lumOff val="-26863"/>
                <a:alphaOff val="0"/>
                <a:tint val="37000"/>
                <a:satMod val="300000"/>
              </a:schemeClr>
            </a:gs>
            <a:gs pos="100000">
              <a:schemeClr val="accent5">
                <a:hueOff val="1628512"/>
                <a:satOff val="5598"/>
                <a:lumOff val="-26863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I-format</a:t>
          </a:r>
          <a:r>
            <a:rPr lang="en-US" sz="1800" kern="1200" dirty="0"/>
            <a:t> (Immediate format: </a:t>
          </a:r>
          <a:r>
            <a:rPr lang="en-US" sz="1800" b="1" kern="1200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 </a:t>
          </a:r>
          <a:r>
            <a:rPr lang="en-US" sz="1800" b="1" kern="1200" dirty="0">
              <a:solidFill>
                <a:srgbClr val="C00000"/>
              </a:solidFill>
              <a:latin typeface="Courier New" pitchFamily="49" charset="0"/>
              <a:cs typeface="Courier New" pitchFamily="49" charset="0"/>
            </a:rPr>
            <a:t>$r1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kern="1200" dirty="0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$r2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, </a:t>
          </a:r>
          <a:r>
            <a:rPr lang="en-US" sz="1800" b="1" kern="1200" dirty="0" err="1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Immd</a:t>
          </a:r>
          <a:r>
            <a:rPr lang="en-US" sz="1800" kern="1200" dirty="0"/>
            <a:t>)</a:t>
          </a:r>
        </a:p>
      </dsp:txBody>
      <dsp:txXfrm>
        <a:off x="425989" y="1793982"/>
        <a:ext cx="5845939" cy="479482"/>
      </dsp:txXfrm>
    </dsp:sp>
    <dsp:sp modelId="{F3E0505D-A767-4370-BD43-544FBF905AA9}">
      <dsp:nvSpPr>
        <dsp:cNvPr id="0" name=""/>
        <dsp:cNvSpPr/>
      </dsp:nvSpPr>
      <dsp:spPr>
        <a:xfrm>
          <a:off x="0" y="3672353"/>
          <a:ext cx="8001000" cy="7654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hueOff val="3257024"/>
              <a:satOff val="11196"/>
              <a:lumOff val="-5372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20967" tIns="374904" rIns="620967" bIns="128016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b="1" kern="1200" dirty="0">
              <a:latin typeface="Courier New" pitchFamily="49" charset="0"/>
            </a:rPr>
            <a:t>j</a:t>
          </a:r>
          <a:r>
            <a:rPr lang="en-US" sz="1800" kern="1200" dirty="0"/>
            <a:t> instruction uses only one immediate value</a:t>
          </a:r>
        </a:p>
      </dsp:txBody>
      <dsp:txXfrm>
        <a:off x="0" y="3672353"/>
        <a:ext cx="8001000" cy="765450"/>
      </dsp:txXfrm>
    </dsp:sp>
    <dsp:sp modelId="{F99D3852-7D66-4544-AEE4-3773130872FB}">
      <dsp:nvSpPr>
        <dsp:cNvPr id="0" name=""/>
        <dsp:cNvSpPr/>
      </dsp:nvSpPr>
      <dsp:spPr>
        <a:xfrm>
          <a:off x="400050" y="3406673"/>
          <a:ext cx="5875078" cy="531360"/>
        </a:xfrm>
        <a:prstGeom prst="roundRect">
          <a:avLst/>
        </a:prstGeom>
        <a:gradFill rotWithShape="0">
          <a:gsLst>
            <a:gs pos="0">
              <a:schemeClr val="accent5">
                <a:hueOff val="3257024"/>
                <a:satOff val="11196"/>
                <a:lumOff val="-53726"/>
                <a:alphaOff val="0"/>
                <a:tint val="50000"/>
                <a:satMod val="300000"/>
              </a:schemeClr>
            </a:gs>
            <a:gs pos="35000">
              <a:schemeClr val="accent5">
                <a:hueOff val="3257024"/>
                <a:satOff val="11196"/>
                <a:lumOff val="-53726"/>
                <a:alphaOff val="0"/>
                <a:tint val="37000"/>
                <a:satMod val="300000"/>
              </a:schemeClr>
            </a:gs>
            <a:gs pos="100000">
              <a:schemeClr val="accent5">
                <a:hueOff val="3257024"/>
                <a:satOff val="11196"/>
                <a:lumOff val="-5372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11693" tIns="0" rIns="21169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u="none" kern="1200" dirty="0"/>
            <a:t>J-format</a:t>
          </a:r>
          <a:r>
            <a:rPr lang="en-US" sz="1800" kern="1200" dirty="0"/>
            <a:t> (Jump format: </a:t>
          </a:r>
          <a:r>
            <a:rPr lang="en-US" sz="1800" b="1" kern="1200" dirty="0">
              <a:solidFill>
                <a:srgbClr val="660066"/>
              </a:solidFill>
              <a:latin typeface="Courier New" pitchFamily="49" charset="0"/>
              <a:cs typeface="Courier New" pitchFamily="49" charset="0"/>
            </a:rPr>
            <a:t>op</a:t>
          </a:r>
          <a:r>
            <a:rPr lang="en-US" sz="1800" b="1" kern="1200" dirty="0">
              <a:latin typeface="Courier New" pitchFamily="49" charset="0"/>
              <a:cs typeface="Courier New" pitchFamily="49" charset="0"/>
            </a:rPr>
            <a:t> </a:t>
          </a:r>
          <a:r>
            <a:rPr lang="en-US" sz="1800" b="1" kern="1200" dirty="0" err="1">
              <a:solidFill>
                <a:srgbClr val="006600"/>
              </a:solidFill>
              <a:latin typeface="Courier New" pitchFamily="49" charset="0"/>
              <a:cs typeface="Courier New" pitchFamily="49" charset="0"/>
            </a:rPr>
            <a:t>Immd</a:t>
          </a:r>
          <a:r>
            <a:rPr lang="en-US" sz="1800" kern="1200" dirty="0"/>
            <a:t>)</a:t>
          </a:r>
        </a:p>
      </dsp:txBody>
      <dsp:txXfrm>
        <a:off x="425989" y="3432612"/>
        <a:ext cx="5823200" cy="4794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0F297C3-9C17-4D83-8D06-073FE7156636}" type="datetimeFigureOut">
              <a:rPr lang="en-SG" smtClean="0"/>
              <a:t>1/9/25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7775" y="1279525"/>
            <a:ext cx="46037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F20944AB-9450-45DE-8E02-6649B9843C2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17350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SG" altLang="en-US"/>
          </a:p>
        </p:txBody>
      </p:sp>
      <p:sp>
        <p:nvSpPr>
          <p:cNvPr id="115716" name="Slide Number Placeholder 3"/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804763" indent="-309524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238098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733337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228576" indent="-247620" defTabSz="944050" eaLnBrk="0" hangingPunct="0"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723815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3219054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714293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4209532" indent="-247620" defTabSz="94405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fld id="{82BE9358-62D1-4C72-8487-3415FE5B8C84}" type="slidenum">
              <a:rPr lang="en-US" altLang="en-US" sz="1200"/>
              <a:pPr/>
              <a:t>1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417798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32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154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49797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070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6594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12976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544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660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0091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79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524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425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353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710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0653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5847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2323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8947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87945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641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2024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5569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943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30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29750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19610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3908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564956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71900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5184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8357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7625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70775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699221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0341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88950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90073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99367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9029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75762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dirty="0"/>
              <a:t>CS1010 Programming Methodology</a:t>
            </a: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775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1" y="1"/>
            <a:ext cx="9144000" cy="4953239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4" name="Rectangle 11"/>
          <p:cNvSpPr>
            <a:spLocks noChangeArrowheads="1"/>
          </p:cNvSpPr>
          <p:nvPr userDrawn="1"/>
        </p:nvSpPr>
        <p:spPr bwMode="auto">
          <a:xfrm>
            <a:off x="1" y="6604318"/>
            <a:ext cx="9144000" cy="253682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pic>
        <p:nvPicPr>
          <p:cNvPr id="5" name="Picture 1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047" y="5198322"/>
            <a:ext cx="2317815" cy="11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49069" y="1375900"/>
            <a:ext cx="8098767" cy="1582285"/>
          </a:xfrm>
        </p:spPr>
        <p:txBody>
          <a:bodyPr/>
          <a:lstStyle>
            <a:lvl1pPr algn="ctr">
              <a:defRPr sz="4063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1994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61666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B421092-8A9E-4509-949B-F11F09B532F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0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084" y="4407180"/>
            <a:ext cx="7772757" cy="1361567"/>
          </a:xfrm>
        </p:spPr>
        <p:txBody>
          <a:bodyPr anchor="t"/>
          <a:lstStyle>
            <a:lvl1pPr algn="l">
              <a:defRPr sz="2708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084" y="2906589"/>
            <a:ext cx="7772757" cy="1500591"/>
          </a:xfrm>
        </p:spPr>
        <p:txBody>
          <a:bodyPr anchor="b"/>
          <a:lstStyle>
            <a:lvl1pPr marL="0" indent="0">
              <a:buNone/>
              <a:defRPr sz="1355"/>
            </a:lvl1pPr>
            <a:lvl2pPr marL="309570" indent="0">
              <a:buNone/>
              <a:defRPr sz="1219"/>
            </a:lvl2pPr>
            <a:lvl3pPr marL="619140" indent="0">
              <a:buNone/>
              <a:defRPr sz="1083"/>
            </a:lvl3pPr>
            <a:lvl4pPr marL="928710" indent="0">
              <a:buNone/>
              <a:defRPr sz="948"/>
            </a:lvl4pPr>
            <a:lvl5pPr marL="1238281" indent="0">
              <a:buNone/>
              <a:defRPr sz="948"/>
            </a:lvl5pPr>
            <a:lvl6pPr marL="1547851" indent="0">
              <a:buNone/>
              <a:defRPr sz="948"/>
            </a:lvl6pPr>
            <a:lvl7pPr marL="1857421" indent="0">
              <a:buNone/>
              <a:defRPr sz="948"/>
            </a:lvl7pPr>
            <a:lvl8pPr marL="2166991" indent="0">
              <a:buNone/>
              <a:defRPr sz="948"/>
            </a:lvl8pPr>
            <a:lvl9pPr marL="2476561" indent="0">
              <a:buNone/>
              <a:defRPr sz="94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2E3A226-6E30-4DE6-9E8C-249C8EDEBBA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9118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499" y="554982"/>
            <a:ext cx="6518763" cy="11437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0501" y="1980723"/>
            <a:ext cx="3816314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4082" y="1980723"/>
            <a:ext cx="3817745" cy="4243791"/>
          </a:xfrm>
        </p:spPr>
        <p:txBody>
          <a:bodyPr/>
          <a:lstStyle>
            <a:lvl1pPr>
              <a:defRPr sz="1896"/>
            </a:lvl1pPr>
            <a:lvl2pPr>
              <a:defRPr sz="1625"/>
            </a:lvl2pPr>
            <a:lvl3pPr>
              <a:defRPr sz="1355"/>
            </a:lvl3pPr>
            <a:lvl4pPr>
              <a:defRPr sz="1219"/>
            </a:lvl4pPr>
            <a:lvl5pPr>
              <a:defRPr sz="1219"/>
            </a:lvl5pPr>
            <a:lvl6pPr>
              <a:defRPr sz="1219"/>
            </a:lvl6pPr>
            <a:lvl7pPr>
              <a:defRPr sz="1219"/>
            </a:lvl7pPr>
            <a:lvl8pPr>
              <a:defRPr sz="1219"/>
            </a:lvl8pPr>
            <a:lvl9pPr>
              <a:defRPr sz="12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5B8A561D-031E-4C46-8BE8-07B563279054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463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8" y="275180"/>
            <a:ext cx="8228885" cy="114228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558" y="1534989"/>
            <a:ext cx="4039375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558" y="2174210"/>
            <a:ext cx="4039375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639" y="1534989"/>
            <a:ext cx="4040804" cy="639220"/>
          </a:xfrm>
        </p:spPr>
        <p:txBody>
          <a:bodyPr anchor="b"/>
          <a:lstStyle>
            <a:lvl1pPr marL="0" indent="0">
              <a:buNone/>
              <a:defRPr sz="1625" b="1"/>
            </a:lvl1pPr>
            <a:lvl2pPr marL="309570" indent="0">
              <a:buNone/>
              <a:defRPr sz="1355" b="1"/>
            </a:lvl2pPr>
            <a:lvl3pPr marL="619140" indent="0">
              <a:buNone/>
              <a:defRPr sz="1219" b="1"/>
            </a:lvl3pPr>
            <a:lvl4pPr marL="928710" indent="0">
              <a:buNone/>
              <a:defRPr sz="1083" b="1"/>
            </a:lvl4pPr>
            <a:lvl5pPr marL="1238281" indent="0">
              <a:buNone/>
              <a:defRPr sz="1083" b="1"/>
            </a:lvl5pPr>
            <a:lvl6pPr marL="1547851" indent="0">
              <a:buNone/>
              <a:defRPr sz="1083" b="1"/>
            </a:lvl6pPr>
            <a:lvl7pPr marL="1857421" indent="0">
              <a:buNone/>
              <a:defRPr sz="1083" b="1"/>
            </a:lvl7pPr>
            <a:lvl8pPr marL="2166991" indent="0">
              <a:buNone/>
              <a:defRPr sz="1083" b="1"/>
            </a:lvl8pPr>
            <a:lvl9pPr marL="2476561" indent="0">
              <a:buNone/>
              <a:defRPr sz="10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639" y="2174210"/>
            <a:ext cx="4040804" cy="3951411"/>
          </a:xfrm>
        </p:spPr>
        <p:txBody>
          <a:bodyPr/>
          <a:lstStyle>
            <a:lvl1pPr>
              <a:defRPr sz="1625"/>
            </a:lvl1pPr>
            <a:lvl2pPr>
              <a:defRPr sz="1355"/>
            </a:lvl2pPr>
            <a:lvl3pPr>
              <a:defRPr sz="1219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CEB8533-CE85-4DBF-AEA3-5156B892FCBE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083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CA4D5B0-F94C-4A30-AD62-A23380D72EE3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735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699C9E-2E8D-4D3C-ABF9-CB5FFE5481EB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6786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57" y="273749"/>
            <a:ext cx="3008441" cy="1160915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4668" y="273748"/>
            <a:ext cx="5111775" cy="5851873"/>
          </a:xfrm>
        </p:spPr>
        <p:txBody>
          <a:bodyPr/>
          <a:lstStyle>
            <a:lvl1pPr>
              <a:defRPr sz="2167"/>
            </a:lvl1pPr>
            <a:lvl2pPr>
              <a:defRPr sz="1896"/>
            </a:lvl2pPr>
            <a:lvl3pPr>
              <a:defRPr sz="1625"/>
            </a:lvl3pPr>
            <a:lvl4pPr>
              <a:defRPr sz="1355"/>
            </a:lvl4pPr>
            <a:lvl5pPr>
              <a:defRPr sz="1355"/>
            </a:lvl5pPr>
            <a:lvl6pPr>
              <a:defRPr sz="1355"/>
            </a:lvl6pPr>
            <a:lvl7pPr>
              <a:defRPr sz="1355"/>
            </a:lvl7pPr>
            <a:lvl8pPr>
              <a:defRPr sz="1355"/>
            </a:lvl8pPr>
            <a:lvl9pPr>
              <a:defRPr sz="13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557" y="1434664"/>
            <a:ext cx="3008441" cy="4690957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DCB0E37-8CB9-480C-9AFF-44A8B18EB558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49716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1625" y="4801317"/>
            <a:ext cx="5486399" cy="566126"/>
          </a:xfrm>
        </p:spPr>
        <p:txBody>
          <a:bodyPr anchor="b"/>
          <a:lstStyle>
            <a:lvl1pPr algn="l">
              <a:defRPr sz="1355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1625" y="613422"/>
            <a:ext cx="5486399" cy="4114800"/>
          </a:xfrm>
        </p:spPr>
        <p:txBody>
          <a:bodyPr/>
          <a:lstStyle>
            <a:lvl1pPr marL="0" indent="0">
              <a:buNone/>
              <a:defRPr sz="2167"/>
            </a:lvl1pPr>
            <a:lvl2pPr marL="309570" indent="0">
              <a:buNone/>
              <a:defRPr sz="1896"/>
            </a:lvl2pPr>
            <a:lvl3pPr marL="619140" indent="0">
              <a:buNone/>
              <a:defRPr sz="1625"/>
            </a:lvl3pPr>
            <a:lvl4pPr marL="928710" indent="0">
              <a:buNone/>
              <a:defRPr sz="1355"/>
            </a:lvl4pPr>
            <a:lvl5pPr marL="1238281" indent="0">
              <a:buNone/>
              <a:defRPr sz="1355"/>
            </a:lvl5pPr>
            <a:lvl6pPr marL="1547851" indent="0">
              <a:buNone/>
              <a:defRPr sz="1355"/>
            </a:lvl6pPr>
            <a:lvl7pPr marL="1857421" indent="0">
              <a:buNone/>
              <a:defRPr sz="1355"/>
            </a:lvl7pPr>
            <a:lvl8pPr marL="2166991" indent="0">
              <a:buNone/>
              <a:defRPr sz="1355"/>
            </a:lvl8pPr>
            <a:lvl9pPr marL="2476561" indent="0">
              <a:buNone/>
              <a:defRPr sz="1355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1625" y="5367443"/>
            <a:ext cx="5486399" cy="805475"/>
          </a:xfrm>
        </p:spPr>
        <p:txBody>
          <a:bodyPr/>
          <a:lstStyle>
            <a:lvl1pPr marL="0" indent="0">
              <a:buNone/>
              <a:defRPr sz="948"/>
            </a:lvl1pPr>
            <a:lvl2pPr marL="309570" indent="0">
              <a:buNone/>
              <a:defRPr sz="812"/>
            </a:lvl2pPr>
            <a:lvl3pPr marL="619140" indent="0">
              <a:buNone/>
              <a:defRPr sz="677"/>
            </a:lvl3pPr>
            <a:lvl4pPr marL="928710" indent="0">
              <a:buNone/>
              <a:defRPr sz="610"/>
            </a:lvl4pPr>
            <a:lvl5pPr marL="1238281" indent="0">
              <a:buNone/>
              <a:defRPr sz="610"/>
            </a:lvl5pPr>
            <a:lvl6pPr marL="1547851" indent="0">
              <a:buNone/>
              <a:defRPr sz="610"/>
            </a:lvl6pPr>
            <a:lvl7pPr marL="1857421" indent="0">
              <a:buNone/>
              <a:defRPr sz="610"/>
            </a:lvl7pPr>
            <a:lvl8pPr marL="2166991" indent="0">
              <a:buNone/>
              <a:defRPr sz="610"/>
            </a:lvl8pPr>
            <a:lvl9pPr marL="2476561" indent="0">
              <a:buNone/>
              <a:defRPr sz="6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EA0026-3E0A-467C-A77C-0D95BD34881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552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0574199-541A-442D-BD63-BB275F057B6F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203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80067" y="825540"/>
            <a:ext cx="1941760" cy="53989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0499" y="825540"/>
            <a:ext cx="5692301" cy="539897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284C3F7-6313-43B9-8FA0-AEEB61BF0DA5}" type="slidenum">
              <a:rPr lang="en-GB" altLang="en-US"/>
              <a:pPr/>
              <a:t>‹#›</a:t>
            </a:fld>
            <a:endParaRPr lang="en-GB" altLang="en-US" sz="1083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1050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50499" y="554982"/>
            <a:ext cx="6518763" cy="11437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50500" y="1818969"/>
            <a:ext cx="7771328" cy="44055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50499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677">
                <a:solidFill>
                  <a:srgbClr val="003399"/>
                </a:solidFill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1995" y="6334872"/>
            <a:ext cx="190458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384" tIns="50691" rIns="101384" bIns="50691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677">
                <a:solidFill>
                  <a:srgbClr val="003399"/>
                </a:solidFill>
              </a:defRPr>
            </a:lvl1pPr>
          </a:lstStyle>
          <a:p>
            <a:fld id="{7DD0F54A-7FC4-4DC8-816F-141A28D7A639}" type="slidenum">
              <a:rPr lang="en-GB" altLang="en-US"/>
              <a:pPr/>
              <a:t>‹#›</a:t>
            </a:fld>
            <a:endParaRPr lang="en-GB" altLang="en-US" sz="1083"/>
          </a:p>
        </p:txBody>
      </p:sp>
      <p:sp>
        <p:nvSpPr>
          <p:cNvPr id="2" name="Rectangle 7"/>
          <p:cNvSpPr>
            <a:spLocks noChangeArrowheads="1"/>
          </p:cNvSpPr>
          <p:nvPr/>
        </p:nvSpPr>
        <p:spPr bwMode="auto">
          <a:xfrm>
            <a:off x="1" y="6601452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1" y="0"/>
            <a:ext cx="9144000" cy="253682"/>
          </a:xfrm>
          <a:prstGeom prst="rect">
            <a:avLst/>
          </a:prstGeom>
          <a:solidFill>
            <a:srgbClr val="00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1625"/>
          </a:p>
        </p:txBody>
      </p:sp>
      <p:sp>
        <p:nvSpPr>
          <p:cNvPr id="1032" name="Text Box 11"/>
          <p:cNvSpPr txBox="1">
            <a:spLocks noChangeArrowheads="1"/>
          </p:cNvSpPr>
          <p:nvPr/>
        </p:nvSpPr>
        <p:spPr bwMode="auto">
          <a:xfrm>
            <a:off x="550500" y="323910"/>
            <a:ext cx="6520193" cy="24853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IT5002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Lecture 6 </a:t>
            </a:r>
            <a:r>
              <a:rPr lang="mr-IN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–</a:t>
            </a:r>
            <a:r>
              <a:rPr lang="en-US" altLang="en-US" sz="1015" baseline="0" dirty="0">
                <a:solidFill>
                  <a:srgbClr val="003399"/>
                </a:solidFill>
                <a:latin typeface="Times New Roman" panose="02020603050405020304" pitchFamily="18" charset="0"/>
              </a:rPr>
              <a:t> MIPS Assembly Format</a:t>
            </a:r>
            <a:r>
              <a:rPr lang="en-US" altLang="en-US" sz="1015" dirty="0">
                <a:solidFill>
                  <a:srgbClr val="003399"/>
                </a:solidFill>
                <a:latin typeface="Times New Roman" panose="02020603050405020304" pitchFamily="18" charset="0"/>
              </a:rPr>
              <a:t>			Page: </a:t>
            </a:r>
            <a:fld id="{49A9A4C6-A24E-4FBB-A733-87BDEC242BCE}" type="slidenum">
              <a:rPr lang="en-US" altLang="en-US" sz="1015">
                <a:solidFill>
                  <a:srgbClr val="003399"/>
                </a:solidFill>
                <a:latin typeface="Times New Roman" panose="02020603050405020304" pitchFamily="18" charset="0"/>
              </a:rPr>
              <a:pPr>
                <a:spcBef>
                  <a:spcPct val="50000"/>
                </a:spcBef>
              </a:pPr>
              <a:t>‹#›</a:t>
            </a:fld>
            <a:endParaRPr lang="en-GB" altLang="en-US" sz="1015" dirty="0">
              <a:solidFill>
                <a:srgbClr val="003399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033" name="Picture 15" descr="full colour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9880" y="374074"/>
            <a:ext cx="1038083" cy="667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9BA111-8E71-D653-2EA5-8D25CF4C630F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35040"/>
            <a:ext cx="837795" cy="8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2935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rgbClr val="663300"/>
          </a:solidFill>
          <a:latin typeface="+mj-lt"/>
          <a:ea typeface="+mj-ea"/>
          <a:cs typeface="+mj-cs"/>
        </a:defRPr>
      </a:lvl1pPr>
      <a:lvl2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2pPr>
      <a:lvl3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3pPr>
      <a:lvl4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4pPr>
      <a:lvl5pPr algn="l" defTabSz="686859" rtl="0" eaLnBrk="0" fontAlgn="base" hangingPunct="0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5pPr>
      <a:lvl6pPr marL="30957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6pPr>
      <a:lvl7pPr marL="61914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7pPr>
      <a:lvl8pPr marL="928710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8pPr>
      <a:lvl9pPr marL="1238281" algn="l" defTabSz="686859" rtl="0" fontAlgn="base">
        <a:spcBef>
          <a:spcPct val="0"/>
        </a:spcBef>
        <a:spcAft>
          <a:spcPct val="0"/>
        </a:spcAft>
        <a:defRPr sz="2370">
          <a:solidFill>
            <a:schemeClr val="tx1"/>
          </a:solidFill>
          <a:latin typeface="Times New Roman" pitchFamily="18" charset="0"/>
        </a:defRPr>
      </a:lvl9pPr>
    </p:titleStyle>
    <p:bodyStyle>
      <a:lvl1pPr marL="232178" indent="-232178" algn="l" defTabSz="686859" rtl="0" eaLnBrk="0" fontAlgn="base" hangingPunct="0">
        <a:spcBef>
          <a:spcPct val="20000"/>
        </a:spcBef>
        <a:spcAft>
          <a:spcPct val="0"/>
        </a:spcAft>
        <a:buChar char="•"/>
        <a:defRPr sz="1693" b="1">
          <a:solidFill>
            <a:srgbClr val="003399"/>
          </a:solidFill>
          <a:latin typeface="+mn-lt"/>
          <a:ea typeface="+mn-ea"/>
          <a:cs typeface="+mn-cs"/>
        </a:defRPr>
      </a:lvl1pPr>
      <a:lvl2pPr marL="253676" indent="430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1760">
          <a:solidFill>
            <a:srgbClr val="003399"/>
          </a:solidFill>
          <a:latin typeface="+mn-lt"/>
        </a:defRPr>
      </a:lvl2pPr>
      <a:lvl3pPr marL="511651" indent="107490" algn="l" defTabSz="686859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ü"/>
        <a:defRPr sz="1490" b="1">
          <a:solidFill>
            <a:srgbClr val="FF6600"/>
          </a:solidFill>
          <a:latin typeface="+mn-lt"/>
        </a:defRPr>
      </a:lvl3pPr>
      <a:lvl4pPr marL="773925" indent="4300" algn="l" defTabSz="686859" rtl="0" eaLnBrk="0" fontAlgn="base" hangingPunct="0">
        <a:spcBef>
          <a:spcPct val="20000"/>
        </a:spcBef>
        <a:spcAft>
          <a:spcPct val="0"/>
        </a:spcAft>
        <a:buChar char="–"/>
        <a:defRPr sz="1490" i="1">
          <a:solidFill>
            <a:srgbClr val="003399"/>
          </a:solidFill>
          <a:latin typeface="+mn-lt"/>
        </a:defRPr>
      </a:lvl4pPr>
      <a:lvl5pPr marL="1031900" indent="206380" algn="l" defTabSz="686859" rtl="0" eaLnBrk="0" fontAlgn="base" hangingPunct="0">
        <a:spcBef>
          <a:spcPct val="20000"/>
        </a:spcBef>
        <a:spcAft>
          <a:spcPct val="0"/>
        </a:spcAft>
        <a:buChar char="»"/>
        <a:defRPr sz="1355">
          <a:solidFill>
            <a:srgbClr val="003399"/>
          </a:solidFill>
          <a:latin typeface="+mn-lt"/>
        </a:defRPr>
      </a:lvl5pPr>
      <a:lvl6pPr marL="1341470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6pPr>
      <a:lvl7pPr marL="165104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7pPr>
      <a:lvl8pPr marL="196061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8pPr>
      <a:lvl9pPr marL="2270181" algn="l" defTabSz="686859" rtl="0" fontAlgn="base">
        <a:spcBef>
          <a:spcPct val="20000"/>
        </a:spcBef>
        <a:spcAft>
          <a:spcPct val="0"/>
        </a:spcAft>
        <a:defRPr sz="1355">
          <a:solidFill>
            <a:srgbClr val="003399"/>
          </a:solidFill>
          <a:latin typeface="+mn-lt"/>
        </a:defRPr>
      </a:lvl9pPr>
    </p:bodyStyle>
    <p:otherStyle>
      <a:defPPr>
        <a:defRPr lang="en-US"/>
      </a:defPPr>
      <a:lvl1pPr marL="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1pPr>
      <a:lvl2pPr marL="30957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2pPr>
      <a:lvl3pPr marL="61914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3pPr>
      <a:lvl4pPr marL="928710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4pPr>
      <a:lvl5pPr marL="123828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5pPr>
      <a:lvl6pPr marL="154785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6pPr>
      <a:lvl7pPr marL="185742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7pPr>
      <a:lvl8pPr marL="216699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8pPr>
      <a:lvl9pPr marL="2476561" algn="l" defTabSz="619140" rtl="0" eaLnBrk="1" latinLnBrk="0" hangingPunct="1">
        <a:defRPr sz="121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colintan@nus.edu.s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iazza.com/class/me6eor4hpe037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7"/>
          <p:cNvSpPr>
            <a:spLocks noChangeArrowheads="1"/>
          </p:cNvSpPr>
          <p:nvPr/>
        </p:nvSpPr>
        <p:spPr bwMode="auto">
          <a:xfrm>
            <a:off x="1" y="8043"/>
            <a:ext cx="9144000" cy="4941621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sp>
        <p:nvSpPr>
          <p:cNvPr id="13315" name="Text Box 18"/>
          <p:cNvSpPr txBox="1">
            <a:spLocks noChangeArrowheads="1"/>
          </p:cNvSpPr>
          <p:nvPr/>
        </p:nvSpPr>
        <p:spPr bwMode="auto">
          <a:xfrm>
            <a:off x="713505" y="251120"/>
            <a:ext cx="7728431" cy="553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IT5002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Computer Systems and Applications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</a:rPr>
              <a:t>MIPS Instruction Formats</a:t>
            </a:r>
          </a:p>
          <a:p>
            <a:pPr algn="ctr" eaLnBrk="1" hangingPunct="1">
              <a:spcBef>
                <a:spcPct val="50000"/>
              </a:spcBef>
            </a:pPr>
            <a:r>
              <a:rPr lang="en-US" altLang="en-US" sz="4323" dirty="0">
                <a:solidFill>
                  <a:schemeClr val="bg1"/>
                </a:solidFill>
                <a:latin typeface="Times New Roman" panose="02020603050405020304" pitchFamily="18" charset="0"/>
                <a:hlinkClick r:id="rId3"/>
              </a:rPr>
              <a:t>colintan@nus.edu.sg</a:t>
            </a:r>
            <a:endParaRPr lang="en-US" altLang="en-US" sz="4323" dirty="0">
              <a:solidFill>
                <a:schemeClr val="bg1"/>
              </a:solidFill>
              <a:latin typeface="Times New Roman" panose="02020603050405020304" pitchFamily="18" charset="0"/>
            </a:endParaRPr>
          </a:p>
          <a:p>
            <a:pPr algn="ctr" eaLnBrk="1" hangingPunct="1">
              <a:spcBef>
                <a:spcPct val="50000"/>
              </a:spcBef>
            </a:pPr>
            <a:endParaRPr lang="en-GB" altLang="en-US" sz="4864" dirty="0">
              <a:solidFill>
                <a:schemeClr val="bg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6" name="Rectangle 19"/>
          <p:cNvSpPr>
            <a:spLocks noChangeArrowheads="1"/>
          </p:cNvSpPr>
          <p:nvPr/>
        </p:nvSpPr>
        <p:spPr bwMode="auto">
          <a:xfrm>
            <a:off x="1" y="6596870"/>
            <a:ext cx="9144000" cy="253087"/>
          </a:xfrm>
          <a:prstGeom prst="rect">
            <a:avLst/>
          </a:prstGeom>
          <a:solidFill>
            <a:srgbClr val="FF66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cs typeface="Arial" panose="020B0604020202020204" pitchFamily="34" charset="0"/>
              </a:defRPr>
            </a:lvl9pPr>
          </a:lstStyle>
          <a:p>
            <a:endParaRPr lang="en-SG" altLang="en-US" sz="2162"/>
          </a:p>
        </p:txBody>
      </p:sp>
      <p:pic>
        <p:nvPicPr>
          <p:cNvPr id="13317" name="Picture 22" descr="full colour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976" y="5115528"/>
            <a:ext cx="2140511" cy="1374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204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12620-B446-0261-58CA-2773BDA093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398-9E2B-F6FC-AD1E-0D3700FB21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500" y="1818969"/>
            <a:ext cx="7771328" cy="1610031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Please ask questions at </a:t>
            </a:r>
            <a:r>
              <a:rPr lang="en-US" sz="2000" dirty="0">
                <a:hlinkClick r:id="rId2"/>
              </a:rPr>
              <a:t>https://piazza.com/class/me6eor4hpe0374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EA404A-F0AA-7559-3AC8-BA00D9852424}"/>
              </a:ext>
            </a:extLst>
          </p:cNvPr>
          <p:cNvSpPr txBox="1"/>
          <p:nvPr/>
        </p:nvSpPr>
        <p:spPr>
          <a:xfrm>
            <a:off x="1804416" y="5730240"/>
            <a:ext cx="7046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OR scan this QR code (may be obscured on some slides)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D1B3F75-F81C-B108-2EC2-C045B94A54F7}"/>
              </a:ext>
            </a:extLst>
          </p:cNvPr>
          <p:cNvCxnSpPr>
            <a:stCxn id="6" idx="1"/>
          </p:cNvCxnSpPr>
          <p:nvPr/>
        </p:nvCxnSpPr>
        <p:spPr bwMode="auto">
          <a:xfrm flipH="1">
            <a:off x="841248" y="6145739"/>
            <a:ext cx="963168" cy="112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3772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 fontScale="90000"/>
          </a:bodyPr>
          <a:lstStyle/>
          <a:p>
            <a:pPr marL="1976438" indent="-1976438" eaLnBrk="1" hangingPunct="1"/>
            <a:r>
              <a:rPr lang="en-GB" sz="3600">
                <a:solidFill>
                  <a:srgbClr val="0000FF"/>
                </a:solidFill>
              </a:rPr>
              <a:t>Lecture #6: </a:t>
            </a:r>
            <a:r>
              <a:rPr lang="en-GB" sz="3600" dirty="0">
                <a:solidFill>
                  <a:srgbClr val="0000FF"/>
                </a:solidFill>
              </a:rPr>
              <a:t>MIPS Part 3: Instruction Formats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371600"/>
            <a:ext cx="8420559" cy="5262880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Overview and Motivation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MIPS Encoding: Basics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MIPS Instruction Classification</a:t>
            </a:r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MIPS Registers (Recap)</a:t>
            </a:r>
            <a:endParaRPr lang="en-GB" dirty="0"/>
          </a:p>
          <a:p>
            <a:pPr marL="514350" indent="-514350" eaLnBrk="1" hangingPunct="1">
              <a:buClrTx/>
              <a:buSzPct val="100000"/>
              <a:buFont typeface="+mj-lt"/>
              <a:buAutoNum type="arabicPeriod"/>
            </a:pPr>
            <a:r>
              <a:rPr lang="en-GB" sz="2800" dirty="0"/>
              <a:t>R-Format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5.1	R-Format: Example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5.2	Try It Yourself #1</a:t>
            </a:r>
            <a:endParaRPr lang="en-GB" sz="2800" dirty="0"/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 dirty="0"/>
              <a:t>Lecture #9: MIPS Part 3: Instruction Formats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0705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990600"/>
          </a:xfrm>
        </p:spPr>
        <p:txBody>
          <a:bodyPr>
            <a:normAutofit fontScale="90000"/>
          </a:bodyPr>
          <a:lstStyle/>
          <a:p>
            <a:pPr marL="1976438" indent="-1976438" eaLnBrk="1" hangingPunct="1"/>
            <a:r>
              <a:rPr lang="en-GB" sz="3600" dirty="0">
                <a:solidFill>
                  <a:srgbClr val="0000FF"/>
                </a:solidFill>
              </a:rPr>
              <a:t>Lecture #9: MIPS Part 3: Instruction Formats</a:t>
            </a:r>
          </a:p>
        </p:txBody>
      </p:sp>
      <p:sp>
        <p:nvSpPr>
          <p:cNvPr id="14339" name="HighlightTextShape201406201824391195"/>
          <p:cNvSpPr>
            <a:spLocks noGrp="1" noChangeArrowheads="1"/>
          </p:cNvSpPr>
          <p:nvPr>
            <p:ph idx="1"/>
          </p:nvPr>
        </p:nvSpPr>
        <p:spPr>
          <a:xfrm>
            <a:off x="418641" y="1270000"/>
            <a:ext cx="8420559" cy="5364480"/>
          </a:xfrm>
        </p:spPr>
        <p:txBody>
          <a:bodyPr>
            <a:normAutofit/>
          </a:bodyPr>
          <a:lstStyle/>
          <a:p>
            <a:pPr marL="514350" indent="-514350" eaLnBrk="1" hangingPunct="1">
              <a:buClrTx/>
              <a:buSzPct val="100000"/>
              <a:buFont typeface="+mj-lt"/>
              <a:buAutoNum type="arabicPeriod" startAt="6"/>
            </a:pPr>
            <a:r>
              <a:rPr lang="en-GB" sz="2800" dirty="0"/>
              <a:t>I-Format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6.1	I-Format: Example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6.2	Try It Yourself #2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6.3	Instruction Address: Overview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6.4	Branch: PC-Relative Addressing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6.5	Branch: Example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6.6	Try It Yourself #3</a:t>
            </a:r>
          </a:p>
          <a:p>
            <a:pPr marL="514350" indent="-514350">
              <a:buClrTx/>
              <a:buSzPct val="100000"/>
              <a:buFont typeface="+mj-lt"/>
              <a:buAutoNum type="arabicPeriod" startAt="6"/>
            </a:pPr>
            <a:r>
              <a:rPr lang="en-GB" sz="2800" dirty="0"/>
              <a:t>J-Format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7.1	J-Format: Example9</a:t>
            </a:r>
          </a:p>
          <a:p>
            <a:pPr marL="1344613" lvl="1" indent="-711200">
              <a:buClrTx/>
              <a:buSzPct val="100000"/>
              <a:buNone/>
              <a:tabLst>
                <a:tab pos="1344613" algn="l"/>
              </a:tabLst>
            </a:pPr>
            <a:r>
              <a:rPr lang="en-GB" sz="2400" dirty="0"/>
              <a:t>7.2	Branching Far Away: Challenge</a:t>
            </a:r>
          </a:p>
          <a:p>
            <a:pPr marL="514350" indent="-514350">
              <a:buClrTx/>
              <a:buSzPct val="100000"/>
              <a:buFont typeface="+mj-lt"/>
              <a:buAutoNum type="arabicPeriod" startAt="6"/>
            </a:pPr>
            <a:r>
              <a:rPr lang="en-GB" sz="2800" dirty="0"/>
              <a:t>Addressing Modes</a:t>
            </a:r>
          </a:p>
        </p:txBody>
      </p:sp>
      <p:sp>
        <p:nvSpPr>
          <p:cNvPr id="14340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</a:t>
            </a:fld>
            <a:endParaRPr dirty="0"/>
          </a:p>
        </p:txBody>
      </p:sp>
      <p:sp>
        <p:nvSpPr>
          <p:cNvPr id="12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5000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1. Overview and Motivation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5</a:t>
            </a:fld>
            <a:endParaRPr dirty="0"/>
          </a:p>
        </p:txBody>
      </p:sp>
      <p:sp>
        <p:nvSpPr>
          <p:cNvPr id="44" name="Content Placeholder 2"/>
          <p:cNvSpPr>
            <a:spLocks noGrp="1"/>
          </p:cNvSpPr>
          <p:nvPr>
            <p:ph idx="1"/>
          </p:nvPr>
        </p:nvSpPr>
        <p:spPr>
          <a:xfrm>
            <a:off x="457200" y="1354667"/>
            <a:ext cx="8229600" cy="5064125"/>
          </a:xfrm>
        </p:spPr>
        <p:txBody>
          <a:bodyPr>
            <a:normAutofit/>
          </a:bodyPr>
          <a:lstStyle/>
          <a:p>
            <a:pPr marL="271463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/>
              <a:t>Recap:</a:t>
            </a:r>
            <a:r>
              <a:rPr lang="en-US" sz="2800" dirty="0"/>
              <a:t> Assembly instructions will be translated to </a:t>
            </a:r>
            <a:r>
              <a:rPr lang="en-US" sz="2800" b="1" dirty="0"/>
              <a:t>machine code</a:t>
            </a:r>
            <a:r>
              <a:rPr lang="en-US" sz="2800" dirty="0"/>
              <a:t> for actual execution</a:t>
            </a:r>
          </a:p>
          <a:p>
            <a:pPr marL="627063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This section shows how to translate MIPS assembly code into binary patterns</a:t>
            </a:r>
          </a:p>
          <a:p>
            <a:pPr marL="271463" indent="-271463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Explains some of the “strange facts” from earlier:</a:t>
            </a:r>
          </a:p>
          <a:p>
            <a:pPr marL="627063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Why is </a:t>
            </a:r>
            <a:r>
              <a:rPr lang="en-US" sz="2400" b="1" i="1" dirty="0"/>
              <a:t>immediate</a:t>
            </a:r>
            <a:r>
              <a:rPr lang="en-US" sz="2400" dirty="0"/>
              <a:t> limited to 16 bits? </a:t>
            </a:r>
          </a:p>
          <a:p>
            <a:pPr marL="627063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Why is </a:t>
            </a:r>
            <a:r>
              <a:rPr lang="en-US" sz="2400" b="1" i="1" dirty="0"/>
              <a:t>shift</a:t>
            </a:r>
            <a:r>
              <a:rPr lang="en-US" sz="2400" dirty="0"/>
              <a:t> amount only 5 bits?</a:t>
            </a:r>
          </a:p>
          <a:p>
            <a:pPr marL="627063" lvl="1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etc.</a:t>
            </a:r>
          </a:p>
          <a:p>
            <a:pPr marL="271463" indent="-271463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Prepare us to “build” a MIPS processor in later lectures!</a:t>
            </a:r>
          </a:p>
        </p:txBody>
      </p:sp>
    </p:spTree>
    <p:extLst>
      <p:ext uri="{BB962C8B-B14F-4D97-AF65-F5344CB8AC3E}">
        <p14:creationId xmlns:p14="http://schemas.microsoft.com/office/powerpoint/2010/main" val="4255801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2. MIPS Encoding: Basics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6</a:t>
            </a:fld>
            <a:endParaRPr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57200" y="1474514"/>
            <a:ext cx="8229600" cy="4621485"/>
          </a:xfrm>
        </p:spPr>
        <p:txBody>
          <a:bodyPr/>
          <a:lstStyle/>
          <a:p>
            <a:pPr marL="271463" indent="-271463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Each MIPS instruction has a </a:t>
            </a:r>
            <a:r>
              <a:rPr lang="en-US" sz="2800" b="1" dirty="0"/>
              <a:t>fixed-length</a:t>
            </a:r>
            <a:r>
              <a:rPr lang="en-US" sz="2800" dirty="0"/>
              <a:t> of </a:t>
            </a:r>
            <a:r>
              <a:rPr lang="en-US" sz="2800" dirty="0">
                <a:solidFill>
                  <a:srgbClr val="C00000"/>
                </a:solidFill>
              </a:rPr>
              <a:t>32 bits</a:t>
            </a:r>
          </a:p>
          <a:p>
            <a:pPr marL="711200" lvl="1" indent="-436563">
              <a:spcBef>
                <a:spcPts val="600"/>
              </a:spcBef>
              <a:buNone/>
            </a:pPr>
            <a:r>
              <a:rPr lang="en-US" dirty="0">
                <a:sym typeface="Wingdings" pitchFamily="2" charset="2"/>
              </a:rPr>
              <a:t> 	</a:t>
            </a:r>
            <a:r>
              <a:rPr lang="en-US" sz="2400" dirty="0"/>
              <a:t>All relevant information for an operation must be  encoded with these bits!</a:t>
            </a:r>
          </a:p>
          <a:p>
            <a:pPr marL="271463" indent="-271463">
              <a:spcBef>
                <a:spcPts val="18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Additional challenge:</a:t>
            </a:r>
          </a:p>
          <a:p>
            <a:pPr marL="541338" lvl="1" indent="-185738">
              <a:spcBef>
                <a:spcPts val="6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To reduce the complexity of processor design, the instruction encodings  should be as regular as possible</a:t>
            </a:r>
          </a:p>
          <a:p>
            <a:pPr lvl="1">
              <a:spcBef>
                <a:spcPts val="600"/>
              </a:spcBef>
              <a:buNone/>
            </a:pPr>
            <a:r>
              <a:rPr lang="en-US" dirty="0">
                <a:sym typeface="Wingdings" pitchFamily="2" charset="2"/>
              </a:rPr>
              <a:t>     Small number of formats, i.e. as few variations as possible</a:t>
            </a:r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24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3. MIPS Instruction Classification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7</a:t>
            </a:fld>
            <a:endParaRPr dirty="0"/>
          </a:p>
        </p:txBody>
      </p:sp>
      <p:sp>
        <p:nvSpPr>
          <p:cNvPr id="54" name="Rectangle 3"/>
          <p:cNvSpPr txBox="1">
            <a:spLocks noChangeArrowheads="1"/>
          </p:cNvSpPr>
          <p:nvPr/>
        </p:nvSpPr>
        <p:spPr>
          <a:xfrm>
            <a:off x="457200" y="1234159"/>
            <a:ext cx="82296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1463" indent="-271463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Instructions are classified according to their operands:</a:t>
            </a:r>
          </a:p>
          <a:p>
            <a:pPr lvl="1" fontAlgn="auto">
              <a:spcAft>
                <a:spcPts val="0"/>
              </a:spcAft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 I</a:t>
            </a:r>
            <a:r>
              <a:rPr lang="en-US" dirty="0"/>
              <a:t>nstructions with same operand types have same encoding</a:t>
            </a:r>
          </a:p>
        </p:txBody>
      </p:sp>
      <p:graphicFrame>
        <p:nvGraphicFramePr>
          <p:cNvPr id="55" name="Diagram 54"/>
          <p:cNvGraphicFramePr/>
          <p:nvPr/>
        </p:nvGraphicFramePr>
        <p:xfrm>
          <a:off x="571500" y="1949113"/>
          <a:ext cx="8001000" cy="4482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33420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5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4. MIPS Registers (Recap)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8</a:t>
            </a:fld>
            <a:endParaRPr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4353013-E909-446B-B269-E7162AAEFEB6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474515"/>
            <a:ext cx="8229600" cy="10827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8775" indent="-358775" fontAlgn="auto">
              <a:lnSpc>
                <a:spcPct val="120000"/>
              </a:lnSpc>
              <a:spcBef>
                <a:spcPct val="50000"/>
              </a:spcBef>
              <a:spcAft>
                <a:spcPts val="0"/>
              </a:spcAft>
              <a:buSzPct val="100000"/>
              <a:buFont typeface="Wingdings" pitchFamily="2" charset="2"/>
              <a:buChar char="§"/>
            </a:pPr>
            <a:r>
              <a:rPr lang="en-US" dirty="0"/>
              <a:t>For simplicity, register numbers (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$0</a:t>
            </a:r>
            <a:r>
              <a:rPr lang="en-US" dirty="0"/>
              <a:t>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$1</a:t>
            </a:r>
            <a:r>
              <a:rPr lang="en-US" dirty="0"/>
              <a:t>, …,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$31</a:t>
            </a:r>
            <a:r>
              <a:rPr lang="en-US" dirty="0"/>
              <a:t>) will be used in examples here instead of register names</a:t>
            </a:r>
            <a:endParaRPr lang="en-GB" dirty="0"/>
          </a:p>
        </p:txBody>
      </p:sp>
      <p:graphicFrame>
        <p:nvGraphicFramePr>
          <p:cNvPr id="10" name="Group 4"/>
          <p:cNvGraphicFramePr>
            <a:graphicFrameLocks noGrp="1"/>
          </p:cNvGraphicFramePr>
          <p:nvPr/>
        </p:nvGraphicFramePr>
        <p:xfrm>
          <a:off x="624840" y="2557272"/>
          <a:ext cx="3919537" cy="2743203"/>
        </p:xfrm>
        <a:graphic>
          <a:graphicData uri="http://schemas.openxmlformats.org/drawingml/2006/table">
            <a:tbl>
              <a:tblPr/>
              <a:tblGrid>
                <a:gridCol w="9667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7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Register 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$zero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Constant value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9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$v0-$v1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2-3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Values for results and expression evaluation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$a0-$a3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4-7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Arguments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$t0-$t7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8-15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$s0-$s7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16-23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cs typeface="Arial" charset="0"/>
                        </a:rPr>
                        <a:t>Program variables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2" name="Group 34"/>
          <p:cNvGraphicFramePr>
            <a:graphicFrameLocks noGrp="1"/>
          </p:cNvGraphicFramePr>
          <p:nvPr/>
        </p:nvGraphicFramePr>
        <p:xfrm>
          <a:off x="4892040" y="2557272"/>
          <a:ext cx="3665538" cy="2503490"/>
        </p:xfrm>
        <a:graphic>
          <a:graphicData uri="http://schemas.openxmlformats.org/drawingml/2006/table">
            <a:tbl>
              <a:tblPr/>
              <a:tblGrid>
                <a:gridCol w="950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7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Name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Register number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Usage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$t8-$t9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24-25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More temporaries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$gp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Global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$sp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Stack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$fp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Frame pointer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$ra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5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Return address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Box 64"/>
          <p:cNvSpPr txBox="1">
            <a:spLocks noChangeArrowheads="1"/>
          </p:cNvSpPr>
          <p:nvPr/>
        </p:nvSpPr>
        <p:spPr bwMode="auto">
          <a:xfrm>
            <a:off x="1002664" y="5562494"/>
            <a:ext cx="7083425" cy="58102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r>
              <a:rPr lang="en-US" sz="1600" dirty="0"/>
              <a:t>$at (register 1) is reserved for the assembler.</a:t>
            </a:r>
          </a:p>
          <a:p>
            <a:r>
              <a:rPr lang="en-US" sz="1600" dirty="0"/>
              <a:t>$k0-$k1 (registers 26-27) are reserved for the operation system.</a:t>
            </a:r>
          </a:p>
        </p:txBody>
      </p:sp>
    </p:spTree>
    <p:extLst>
      <p:ext uri="{BB962C8B-B14F-4D97-AF65-F5344CB8AC3E}">
        <p14:creationId xmlns:p14="http://schemas.microsoft.com/office/powerpoint/2010/main" val="1030767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R-Format (1/2)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9</a:t>
            </a:fld>
            <a:endParaRPr dirty="0"/>
          </a:p>
        </p:txBody>
      </p:sp>
      <p:sp>
        <p:nvSpPr>
          <p:cNvPr id="57" name="Rectangle 3"/>
          <p:cNvSpPr txBox="1">
            <a:spLocks noChangeArrowheads="1"/>
          </p:cNvSpPr>
          <p:nvPr/>
        </p:nvSpPr>
        <p:spPr>
          <a:xfrm>
            <a:off x="381000" y="1310078"/>
            <a:ext cx="8382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Define fields with the following number of bits each: 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6 + 5 + 5 + 5 + 5 + 6 = 32 bits</a:t>
            </a:r>
            <a:endParaRPr lang="en-US" b="1" dirty="0">
              <a:solidFill>
                <a:schemeClr val="tx2"/>
              </a:solidFill>
              <a:latin typeface="Courier New" pitchFamily="49" charset="0"/>
            </a:endParaRPr>
          </a:p>
        </p:txBody>
      </p:sp>
      <p:grpSp>
        <p:nvGrpSpPr>
          <p:cNvPr id="58" name="Group 4"/>
          <p:cNvGrpSpPr>
            <a:grpSpLocks/>
          </p:cNvGrpSpPr>
          <p:nvPr/>
        </p:nvGrpSpPr>
        <p:grpSpPr bwMode="auto">
          <a:xfrm>
            <a:off x="457200" y="2224478"/>
            <a:ext cx="8153400" cy="461963"/>
            <a:chOff x="288" y="1152"/>
            <a:chExt cx="5136" cy="291"/>
          </a:xfrm>
        </p:grpSpPr>
        <p:grpSp>
          <p:nvGrpSpPr>
            <p:cNvPr id="59" name="Group 5"/>
            <p:cNvGrpSpPr>
              <a:grpSpLocks/>
            </p:cNvGrpSpPr>
            <p:nvPr/>
          </p:nvGrpSpPr>
          <p:grpSpPr bwMode="auto">
            <a:xfrm>
              <a:off x="679" y="1152"/>
              <a:ext cx="4361" cy="291"/>
              <a:chOff x="679" y="1152"/>
              <a:chExt cx="4361" cy="291"/>
            </a:xfrm>
          </p:grpSpPr>
          <p:sp>
            <p:nvSpPr>
              <p:cNvPr id="66" name="Text Box 6"/>
              <p:cNvSpPr txBox="1">
                <a:spLocks noChangeArrowheads="1"/>
              </p:cNvSpPr>
              <p:nvPr/>
            </p:nvSpPr>
            <p:spPr bwMode="auto">
              <a:xfrm>
                <a:off x="679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6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67" name="Text Box 7"/>
              <p:cNvSpPr txBox="1">
                <a:spLocks noChangeArrowheads="1"/>
              </p:cNvSpPr>
              <p:nvPr/>
            </p:nvSpPr>
            <p:spPr bwMode="auto">
              <a:xfrm>
                <a:off x="1545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5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68" name="Text Box 8"/>
              <p:cNvSpPr txBox="1">
                <a:spLocks noChangeArrowheads="1"/>
              </p:cNvSpPr>
              <p:nvPr/>
            </p:nvSpPr>
            <p:spPr bwMode="auto">
              <a:xfrm>
                <a:off x="2344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5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69" name="Text Box 9"/>
              <p:cNvSpPr txBox="1">
                <a:spLocks noChangeArrowheads="1"/>
              </p:cNvSpPr>
              <p:nvPr/>
            </p:nvSpPr>
            <p:spPr bwMode="auto">
              <a:xfrm>
                <a:off x="3143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5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70" name="Text Box 10"/>
              <p:cNvSpPr txBox="1">
                <a:spLocks noChangeArrowheads="1"/>
              </p:cNvSpPr>
              <p:nvPr/>
            </p:nvSpPr>
            <p:spPr bwMode="auto">
              <a:xfrm>
                <a:off x="4808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6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71" name="Text Box 11"/>
              <p:cNvSpPr txBox="1">
                <a:spLocks noChangeArrowheads="1"/>
              </p:cNvSpPr>
              <p:nvPr/>
            </p:nvSpPr>
            <p:spPr bwMode="auto">
              <a:xfrm>
                <a:off x="3942" y="1152"/>
                <a:ext cx="232" cy="291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400" b="1" dirty="0">
                    <a:latin typeface="Courier New" pitchFamily="49" charset="0"/>
                  </a:rPr>
                  <a:t>5</a:t>
                </a:r>
                <a:endParaRPr lang="en-US" sz="2400" dirty="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60" name="Rectangle 12"/>
            <p:cNvSpPr>
              <a:spLocks noChangeArrowheads="1"/>
            </p:cNvSpPr>
            <p:nvPr/>
          </p:nvSpPr>
          <p:spPr bwMode="auto">
            <a:xfrm>
              <a:off x="288" y="1152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1" name="Line 13"/>
            <p:cNvSpPr>
              <a:spLocks noChangeShapeType="1"/>
            </p:cNvSpPr>
            <p:nvPr/>
          </p:nvSpPr>
          <p:spPr bwMode="auto">
            <a:xfrm>
              <a:off x="1248" y="115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2" name="Line 14"/>
            <p:cNvSpPr>
              <a:spLocks noChangeShapeType="1"/>
            </p:cNvSpPr>
            <p:nvPr/>
          </p:nvSpPr>
          <p:spPr bwMode="auto">
            <a:xfrm>
              <a:off x="2064" y="115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3" name="Line 15"/>
            <p:cNvSpPr>
              <a:spLocks noChangeShapeType="1"/>
            </p:cNvSpPr>
            <p:nvPr/>
          </p:nvSpPr>
          <p:spPr bwMode="auto">
            <a:xfrm>
              <a:off x="2832" y="115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" name="Line 16"/>
            <p:cNvSpPr>
              <a:spLocks noChangeShapeType="1"/>
            </p:cNvSpPr>
            <p:nvPr/>
          </p:nvSpPr>
          <p:spPr bwMode="auto">
            <a:xfrm>
              <a:off x="3648" y="115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5" name="Line 17"/>
            <p:cNvSpPr>
              <a:spLocks noChangeShapeType="1"/>
            </p:cNvSpPr>
            <p:nvPr/>
          </p:nvSpPr>
          <p:spPr bwMode="auto">
            <a:xfrm>
              <a:off x="4464" y="1152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2" name="Rectangle 18"/>
          <p:cNvSpPr>
            <a:spLocks noChangeArrowheads="1"/>
          </p:cNvSpPr>
          <p:nvPr/>
        </p:nvSpPr>
        <p:spPr bwMode="auto">
          <a:xfrm>
            <a:off x="457200" y="2986478"/>
            <a:ext cx="8382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638" indent="-274638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Each field has a name:</a:t>
            </a:r>
          </a:p>
        </p:txBody>
      </p:sp>
      <p:sp>
        <p:nvSpPr>
          <p:cNvPr id="73" name="Rectangle 33"/>
          <p:cNvSpPr>
            <a:spLocks noChangeArrowheads="1"/>
          </p:cNvSpPr>
          <p:nvPr/>
        </p:nvSpPr>
        <p:spPr bwMode="auto">
          <a:xfrm>
            <a:off x="457200" y="4358078"/>
            <a:ext cx="8229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638" indent="-274638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Each field is an independent 5- or 6-bit unsigned integer</a:t>
            </a:r>
          </a:p>
          <a:p>
            <a:pPr marL="687387" lvl="1" indent="-34290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 5-bit field can represent any number 0 – 31</a:t>
            </a:r>
          </a:p>
          <a:p>
            <a:pPr marL="687387" lvl="1" indent="-34290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dirty="0"/>
              <a:t>A 6-bit field can represent any number 0 – 63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3596078"/>
            <a:ext cx="1524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opcode</a:t>
            </a:r>
            <a:endParaRPr lang="en-SG" sz="2400" b="1" dirty="0">
              <a:solidFill>
                <a:srgbClr val="660066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981200" y="3596078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rs</a:t>
            </a:r>
            <a:endParaRPr lang="en-SG" sz="24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3276600" y="3596078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rt</a:t>
            </a:r>
            <a:endParaRPr lang="en-SG" sz="2400" b="1" dirty="0">
              <a:solidFill>
                <a:srgbClr val="0066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572000" y="3596078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rd</a:t>
            </a:r>
            <a:endParaRPr lang="en-SG" sz="2400" b="1" dirty="0">
              <a:solidFill>
                <a:srgbClr val="C0000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5867400" y="3596078"/>
            <a:ext cx="12954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shamt</a:t>
            </a:r>
            <a:endParaRPr lang="en-SG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7162800" y="3596078"/>
            <a:ext cx="1524000" cy="4572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funct</a:t>
            </a:r>
            <a:endParaRPr lang="en-SG" sz="2400" b="1" dirty="0">
              <a:solidFill>
                <a:srgbClr val="00206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079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build="p"/>
      <p:bldP spid="72" grpId="0" build="p"/>
      <p:bldP spid="7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 R-Format (2/2)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10</a:t>
            </a:fld>
            <a:endParaRPr dirty="0"/>
          </a:p>
        </p:txBody>
      </p:sp>
      <p:graphicFrame>
        <p:nvGraphicFramePr>
          <p:cNvPr id="48" name="Table 47"/>
          <p:cNvGraphicFramePr>
            <a:graphicFrameLocks noGrp="1"/>
          </p:cNvGraphicFramePr>
          <p:nvPr/>
        </p:nvGraphicFramePr>
        <p:xfrm>
          <a:off x="457200" y="1325318"/>
          <a:ext cx="8229600" cy="4686681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30764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53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r>
                        <a:rPr lang="en-US" dirty="0"/>
                        <a:t>Fields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solidFill>
                            <a:srgbClr val="660066"/>
                          </a:solidFill>
                          <a:latin typeface="Courier New" pitchFamily="49" charset="0"/>
                        </a:rPr>
                        <a:t>opcode</a:t>
                      </a:r>
                      <a:r>
                        <a:rPr lang="en-US" sz="2000" dirty="0"/>
                        <a:t> </a:t>
                      </a:r>
                      <a:endParaRPr lang="en-US" sz="2000" dirty="0">
                        <a:solidFill>
                          <a:srgbClr val="660066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lvl="0" indent="-182563" eaLnBrk="1" hangingPunct="1">
                        <a:spcBef>
                          <a:spcPct val="0"/>
                        </a:spcBef>
                        <a:buFont typeface="Arial" pitchFamily="34" charset="0"/>
                        <a:buNone/>
                      </a:pPr>
                      <a:r>
                        <a:rPr lang="en-US" sz="1800" dirty="0"/>
                        <a:t>- 	Partially specifies the instruction</a:t>
                      </a:r>
                    </a:p>
                    <a:p>
                      <a:pPr marL="182563" lvl="0" indent="-182563" eaLnBrk="1" hangingPunct="1">
                        <a:spcBef>
                          <a:spcPct val="0"/>
                        </a:spcBef>
                        <a:buFont typeface="Arial" pitchFamily="34" charset="0"/>
                        <a:buNone/>
                      </a:pPr>
                      <a:r>
                        <a:rPr lang="en-US" sz="1800" dirty="0"/>
                        <a:t>- 	Equal to 0 for all R-Format instructions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002060"/>
                          </a:solidFill>
                          <a:latin typeface="Courier New" pitchFamily="49" charset="0"/>
                        </a:rPr>
                        <a:t>funct</a:t>
                      </a:r>
                      <a:endParaRPr lang="en-US" sz="2000" dirty="0">
                        <a:solidFill>
                          <a:srgbClr val="00206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indent="-182563"/>
                      <a:r>
                        <a:rPr lang="en-US" sz="1800" dirty="0"/>
                        <a:t>-</a:t>
                      </a:r>
                      <a:r>
                        <a:rPr lang="en-US" sz="1800" baseline="0" dirty="0"/>
                        <a:t> 	C</a:t>
                      </a:r>
                      <a:r>
                        <a:rPr lang="en-US" sz="1800" dirty="0"/>
                        <a:t>ombined with opcode exactly specifies the instruction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rs</a:t>
                      </a:r>
                      <a:r>
                        <a:rPr lang="en-US" sz="2400" dirty="0"/>
                        <a:t> </a:t>
                      </a:r>
                      <a:r>
                        <a:rPr lang="en-US" sz="2000" dirty="0"/>
                        <a:t> 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>
                          <a:solidFill>
                            <a:srgbClr val="006600"/>
                          </a:solidFill>
                        </a:rPr>
                        <a:t>S</a:t>
                      </a:r>
                      <a:r>
                        <a:rPr lang="en-US" sz="1800" dirty="0"/>
                        <a:t>ource </a:t>
                      </a:r>
                      <a:r>
                        <a:rPr lang="en-US" sz="1800" dirty="0">
                          <a:solidFill>
                            <a:srgbClr val="006600"/>
                          </a:solidFill>
                        </a:rPr>
                        <a:t>R</a:t>
                      </a:r>
                      <a:r>
                        <a:rPr lang="en-US" sz="1800" dirty="0"/>
                        <a:t>egister)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indent="-182563"/>
                      <a:r>
                        <a:rPr lang="en-US" sz="1800" dirty="0"/>
                        <a:t>- 	Specify register containing first operand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 err="1">
                          <a:solidFill>
                            <a:srgbClr val="006600"/>
                          </a:solidFill>
                          <a:latin typeface="Courier New" pitchFamily="49" charset="0"/>
                        </a:rPr>
                        <a:t>rt</a:t>
                      </a:r>
                      <a:r>
                        <a:rPr lang="en-US" sz="2000" b="1" dirty="0">
                          <a:solidFill>
                            <a:srgbClr val="FF0000"/>
                          </a:solidFill>
                          <a:latin typeface="Courier New" pitchFamily="49" charset="0"/>
                        </a:rPr>
                        <a:t> 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>
                          <a:solidFill>
                            <a:srgbClr val="006600"/>
                          </a:solidFill>
                        </a:rPr>
                        <a:t>T</a:t>
                      </a:r>
                      <a:r>
                        <a:rPr lang="en-US" sz="1800" dirty="0"/>
                        <a:t>arget </a:t>
                      </a:r>
                      <a:r>
                        <a:rPr lang="en-US" sz="1800" dirty="0">
                          <a:solidFill>
                            <a:srgbClr val="006600"/>
                          </a:solidFill>
                        </a:rPr>
                        <a:t>R</a:t>
                      </a:r>
                      <a:r>
                        <a:rPr lang="en-US" sz="1800" dirty="0"/>
                        <a:t>egister)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marR="0" lvl="1" indent="-1825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/>
                        <a:t>- 	Specify register containing second operand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C00000"/>
                          </a:solidFill>
                          <a:latin typeface="Courier New" pitchFamily="49" charset="0"/>
                        </a:rPr>
                        <a:t>rd</a:t>
                      </a:r>
                      <a:r>
                        <a:rPr lang="en-US" sz="2000" dirty="0"/>
                        <a:t>  </a:t>
                      </a:r>
                      <a:r>
                        <a:rPr lang="en-US" sz="1800" dirty="0"/>
                        <a:t>(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D</a:t>
                      </a:r>
                      <a:r>
                        <a:rPr lang="en-US" sz="1800" dirty="0"/>
                        <a:t>estination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R</a:t>
                      </a:r>
                      <a:r>
                        <a:rPr lang="en-US" sz="1800" dirty="0"/>
                        <a:t>egister)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indent="-182563"/>
                      <a:r>
                        <a:rPr lang="en-US" sz="1800" dirty="0"/>
                        <a:t>- 	Specify register which will receive result of computation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solidFill>
                            <a:srgbClr val="002060"/>
                          </a:solidFill>
                          <a:latin typeface="Courier New" pitchFamily="49" charset="0"/>
                        </a:rPr>
                        <a:t>shamt</a:t>
                      </a:r>
                      <a:endParaRPr lang="en-US" sz="2000" b="1" dirty="0">
                        <a:solidFill>
                          <a:srgbClr val="002060"/>
                        </a:solidFill>
                        <a:latin typeface="Courier New" pitchFamily="49" charset="0"/>
                      </a:endParaRP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82563" lvl="0" indent="-182563" eaLnBrk="1" hangingPunct="1">
                        <a:spcBef>
                          <a:spcPct val="0"/>
                        </a:spcBef>
                        <a:buFontTx/>
                        <a:buChar char="-"/>
                      </a:pPr>
                      <a:r>
                        <a:rPr lang="en-US" sz="1800" dirty="0"/>
                        <a:t>Amount a shift instruction will shift by </a:t>
                      </a:r>
                    </a:p>
                    <a:p>
                      <a:pPr marL="182563" lvl="0" indent="-182563" eaLnBrk="1" hangingPunct="1">
                        <a:spcBef>
                          <a:spcPct val="0"/>
                        </a:spcBef>
                        <a:buFontTx/>
                        <a:buChar char="-"/>
                      </a:pPr>
                      <a:r>
                        <a:rPr lang="en-US" sz="1800" u="none" dirty="0"/>
                        <a:t>5 bits (i.e. 0 to 31)</a:t>
                      </a:r>
                    </a:p>
                    <a:p>
                      <a:pPr marL="182563" lvl="0" indent="-182563" eaLnBrk="1" hangingPunct="1">
                        <a:spcBef>
                          <a:spcPct val="0"/>
                        </a:spcBef>
                      </a:pPr>
                      <a:r>
                        <a:rPr lang="en-US" sz="1800" dirty="0"/>
                        <a:t>- 	Set to 0 in all non-shift instructions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6260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R-Format: Example (1/3)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11</a:t>
            </a:fld>
            <a:endParaRPr dirty="0"/>
          </a:p>
        </p:txBody>
      </p:sp>
      <p:grpSp>
        <p:nvGrpSpPr>
          <p:cNvPr id="8" name="Group 7"/>
          <p:cNvGrpSpPr/>
          <p:nvPr/>
        </p:nvGrpSpPr>
        <p:grpSpPr>
          <a:xfrm>
            <a:off x="1188719" y="1474515"/>
            <a:ext cx="4724401" cy="1295400"/>
            <a:chOff x="838200" y="1752600"/>
            <a:chExt cx="4724401" cy="1295400"/>
          </a:xfrm>
        </p:grpSpPr>
        <p:sp>
          <p:nvSpPr>
            <p:cNvPr id="9" name="Rectangle 5"/>
            <p:cNvSpPr>
              <a:spLocks noChangeArrowheads="1"/>
            </p:cNvSpPr>
            <p:nvPr/>
          </p:nvSpPr>
          <p:spPr bwMode="auto">
            <a:xfrm>
              <a:off x="838201" y="2133601"/>
              <a:ext cx="4724400" cy="9143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</a:rPr>
                <a:t>add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$8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$9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$10</a:t>
              </a:r>
              <a:endParaRPr lang="en-US" sz="2800" dirty="0"/>
            </a:p>
          </p:txBody>
        </p:sp>
        <p:sp>
          <p:nvSpPr>
            <p:cNvPr id="10" name="Snip Single Corner Rectangle 9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31519" y="2998515"/>
          <a:ext cx="7848600" cy="3509556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R-Format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opcode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(textbook pg 94 - 101)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funct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32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(textbook pg 94 - 101)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itchFamily="49" charset="0"/>
                          <a:cs typeface="Courier New" pitchFamily="49" charset="0"/>
                        </a:rPr>
                        <a:t>rd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(destination register)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rs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(first operand)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rt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10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(second operand)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shamt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(not a shift instruction)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9350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R-Format: Example (2/3)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12</a:t>
            </a:fld>
            <a:endParaRPr dirty="0"/>
          </a:p>
        </p:txBody>
      </p:sp>
      <p:grpSp>
        <p:nvGrpSpPr>
          <p:cNvPr id="7" name="Group 43"/>
          <p:cNvGrpSpPr>
            <a:grpSpLocks/>
          </p:cNvGrpSpPr>
          <p:nvPr/>
        </p:nvGrpSpPr>
        <p:grpSpPr bwMode="auto">
          <a:xfrm>
            <a:off x="381000" y="2440191"/>
            <a:ext cx="8229600" cy="1328738"/>
            <a:chOff x="144" y="1392"/>
            <a:chExt cx="5184" cy="837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40" y="1392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Field representation in decimal:</a:t>
              </a:r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144" y="1680"/>
              <a:ext cx="5184" cy="549"/>
              <a:chOff x="144" y="1554"/>
              <a:chExt cx="5184" cy="549"/>
            </a:xfrm>
          </p:grpSpPr>
          <p:grpSp>
            <p:nvGrpSpPr>
              <p:cNvPr id="12" name="Group 7"/>
              <p:cNvGrpSpPr>
                <a:grpSpLocks/>
              </p:cNvGrpSpPr>
              <p:nvPr/>
            </p:nvGrpSpPr>
            <p:grpSpPr bwMode="auto">
              <a:xfrm>
                <a:off x="144" y="1776"/>
                <a:ext cx="5184" cy="327"/>
                <a:chOff x="192" y="2496"/>
                <a:chExt cx="5184" cy="327"/>
              </a:xfrm>
            </p:grpSpPr>
            <p:grpSp>
              <p:nvGrpSpPr>
                <p:cNvPr id="20" name="Group 8"/>
                <p:cNvGrpSpPr>
                  <a:grpSpLocks/>
                </p:cNvGrpSpPr>
                <p:nvPr/>
              </p:nvGrpSpPr>
              <p:grpSpPr bwMode="auto">
                <a:xfrm>
                  <a:off x="623" y="2496"/>
                  <a:ext cx="4446" cy="327"/>
                  <a:chOff x="623" y="2496"/>
                  <a:chExt cx="4446" cy="327"/>
                </a:xfrm>
              </p:grpSpPr>
              <p:sp>
                <p:nvSpPr>
                  <p:cNvPr id="28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3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660066"/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rgbClr val="660066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29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8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6600"/>
                        </a:solidFill>
                        <a:latin typeface="Courier New" pitchFamily="49" charset="0"/>
                      </a:rPr>
                      <a:t>9</a:t>
                    </a:r>
                    <a:endParaRPr lang="en-US" sz="2800" dirty="0">
                      <a:solidFill>
                        <a:srgbClr val="0066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0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20" y="2496"/>
                    <a:ext cx="385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6600"/>
                        </a:solidFill>
                        <a:latin typeface="Courier New" pitchFamily="49" charset="0"/>
                      </a:rPr>
                      <a:t>10</a:t>
                    </a:r>
                    <a:endParaRPr lang="en-US" sz="2800" dirty="0">
                      <a:solidFill>
                        <a:srgbClr val="0066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1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6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C00000"/>
                        </a:solidFill>
                        <a:latin typeface="Courier New" pitchFamily="49" charset="0"/>
                      </a:rPr>
                      <a:t>8</a:t>
                    </a:r>
                    <a:endParaRPr lang="en-US" sz="2800" dirty="0">
                      <a:solidFill>
                        <a:srgbClr val="C000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2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4" y="2496"/>
                    <a:ext cx="385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32</a:t>
                    </a:r>
                    <a:endParaRPr lang="en-US" sz="280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3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85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chemeClr val="bg1">
                          <a:lumMod val="65000"/>
                        </a:schemeClr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22" name="Rectangle 15"/>
                <p:cNvSpPr>
                  <a:spLocks noChangeArrowheads="1"/>
                </p:cNvSpPr>
                <p:nvPr/>
              </p:nvSpPr>
              <p:spPr bwMode="auto">
                <a:xfrm>
                  <a:off x="192" y="2496"/>
                  <a:ext cx="5184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6"/>
                <p:cNvSpPr>
                  <a:spLocks noChangeShapeType="1"/>
                </p:cNvSpPr>
                <p:nvPr/>
              </p:nvSpPr>
              <p:spPr bwMode="auto">
                <a:xfrm>
                  <a:off x="1151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7"/>
                <p:cNvSpPr>
                  <a:spLocks noChangeShapeType="1"/>
                </p:cNvSpPr>
                <p:nvPr/>
              </p:nvSpPr>
              <p:spPr bwMode="auto">
                <a:xfrm>
                  <a:off x="1967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8"/>
                <p:cNvSpPr>
                  <a:spLocks noChangeShapeType="1"/>
                </p:cNvSpPr>
                <p:nvPr/>
              </p:nvSpPr>
              <p:spPr bwMode="auto">
                <a:xfrm>
                  <a:off x="2784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9"/>
                <p:cNvSpPr>
                  <a:spLocks noChangeShapeType="1"/>
                </p:cNvSpPr>
                <p:nvPr/>
              </p:nvSpPr>
              <p:spPr bwMode="auto">
                <a:xfrm>
                  <a:off x="3600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20"/>
                <p:cNvSpPr>
                  <a:spLocks noChangeShapeType="1"/>
                </p:cNvSpPr>
                <p:nvPr/>
              </p:nvSpPr>
              <p:spPr bwMode="auto">
                <a:xfrm>
                  <a:off x="4416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" name="Text Box 21"/>
              <p:cNvSpPr txBox="1">
                <a:spLocks noChangeArrowheads="1"/>
              </p:cNvSpPr>
              <p:nvPr/>
            </p:nvSpPr>
            <p:spPr bwMode="auto">
              <a:xfrm>
                <a:off x="334" y="1554"/>
                <a:ext cx="692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opcode</a:t>
                </a:r>
              </a:p>
            </p:txBody>
          </p:sp>
          <p:sp>
            <p:nvSpPr>
              <p:cNvPr id="15" name="Text Box 22"/>
              <p:cNvSpPr txBox="1">
                <a:spLocks noChangeArrowheads="1"/>
              </p:cNvSpPr>
              <p:nvPr/>
            </p:nvSpPr>
            <p:spPr bwMode="auto">
              <a:xfrm>
                <a:off x="1372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rs</a:t>
                </a:r>
              </a:p>
            </p:txBody>
          </p:sp>
          <p:sp>
            <p:nvSpPr>
              <p:cNvPr id="16" name="Text Box 23"/>
              <p:cNvSpPr txBox="1">
                <a:spLocks noChangeArrowheads="1"/>
              </p:cNvSpPr>
              <p:nvPr/>
            </p:nvSpPr>
            <p:spPr bwMode="auto">
              <a:xfrm>
                <a:off x="2226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rt</a:t>
                </a:r>
              </a:p>
            </p:txBody>
          </p:sp>
          <p:sp>
            <p:nvSpPr>
              <p:cNvPr id="17" name="Text Box 24"/>
              <p:cNvSpPr txBox="1">
                <a:spLocks noChangeArrowheads="1"/>
              </p:cNvSpPr>
              <p:nvPr/>
            </p:nvSpPr>
            <p:spPr bwMode="auto">
              <a:xfrm>
                <a:off x="2964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rd</a:t>
                </a:r>
              </a:p>
            </p:txBody>
          </p:sp>
          <p:sp>
            <p:nvSpPr>
              <p:cNvPr id="18" name="Text Box 25"/>
              <p:cNvSpPr txBox="1">
                <a:spLocks noChangeArrowheads="1"/>
              </p:cNvSpPr>
              <p:nvPr/>
            </p:nvSpPr>
            <p:spPr bwMode="auto">
              <a:xfrm>
                <a:off x="3609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shamt</a:t>
                </a:r>
              </a:p>
            </p:txBody>
          </p:sp>
          <p:sp>
            <p:nvSpPr>
              <p:cNvPr id="19" name="Text Box 26"/>
              <p:cNvSpPr txBox="1">
                <a:spLocks noChangeArrowheads="1"/>
              </p:cNvSpPr>
              <p:nvPr/>
            </p:nvSpPr>
            <p:spPr bwMode="auto">
              <a:xfrm>
                <a:off x="4474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funct</a:t>
                </a:r>
              </a:p>
            </p:txBody>
          </p:sp>
        </p:grpSp>
      </p:grp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457200" y="3887991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Field representation in binary: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5745163" y="1234159"/>
            <a:ext cx="3094037" cy="1343052"/>
            <a:chOff x="5668963" y="3607145"/>
            <a:chExt cx="3094037" cy="1422055"/>
          </a:xfrm>
        </p:grpSpPr>
        <p:sp>
          <p:nvSpPr>
            <p:cNvPr id="36" name="Rectangle 35"/>
            <p:cNvSpPr/>
            <p:nvPr/>
          </p:nvSpPr>
          <p:spPr>
            <a:xfrm>
              <a:off x="6019800" y="3962400"/>
              <a:ext cx="2743200" cy="1066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Note the ordering of the 3 registers</a:t>
              </a:r>
              <a:endParaRPr lang="en-SG" sz="2400" dirty="0">
                <a:solidFill>
                  <a:schemeClr val="tx1"/>
                </a:solidFill>
              </a:endParaRPr>
            </a:p>
          </p:txBody>
        </p:sp>
        <p:pic>
          <p:nvPicPr>
            <p:cNvPr id="37" name="Picture 1" descr="C:\Users\sooyj\AppData\Local\Microsoft\Windows\Temporary Internet Files\Content.IE5\GOO9WY7Z\MC90043475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668963" y="3607145"/>
              <a:ext cx="609600" cy="609600"/>
            </a:xfrm>
            <a:prstGeom prst="rect">
              <a:avLst/>
            </a:prstGeom>
            <a:noFill/>
          </p:spPr>
        </p:pic>
      </p:grpSp>
      <p:grpSp>
        <p:nvGrpSpPr>
          <p:cNvPr id="38" name="Group 37"/>
          <p:cNvGrpSpPr/>
          <p:nvPr/>
        </p:nvGrpSpPr>
        <p:grpSpPr>
          <a:xfrm>
            <a:off x="381000" y="4345191"/>
            <a:ext cx="8229600" cy="457200"/>
            <a:chOff x="457200" y="3429000"/>
            <a:chExt cx="8229600" cy="457200"/>
          </a:xfrm>
        </p:grpSpPr>
        <p:sp>
          <p:nvSpPr>
            <p:cNvPr id="39" name="Rectangle 38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000000</a:t>
              </a:r>
              <a:endParaRPr lang="en-SG" sz="2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01001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01010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45720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01000</a:t>
              </a:r>
              <a:endParaRPr lang="en-SG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58674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>
                      <a:lumMod val="65000"/>
                    </a:schemeClr>
                  </a:solidFill>
                  <a:latin typeface="Courier New" pitchFamily="49" charset="0"/>
                  <a:cs typeface="Courier New" pitchFamily="49" charset="0"/>
                </a:rPr>
                <a:t>00000</a:t>
              </a:r>
              <a:endParaRPr lang="en-SG" sz="2800" b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1628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100000</a:t>
              </a:r>
              <a:endParaRPr lang="en-SG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381000" y="5411991"/>
            <a:ext cx="8229600" cy="457200"/>
            <a:chOff x="304800" y="4876800"/>
            <a:chExt cx="8229600" cy="457200"/>
          </a:xfrm>
        </p:grpSpPr>
        <p:grpSp>
          <p:nvGrpSpPr>
            <p:cNvPr id="46" name="Group 45"/>
            <p:cNvGrpSpPr/>
            <p:nvPr/>
          </p:nvGrpSpPr>
          <p:grpSpPr>
            <a:xfrm>
              <a:off x="304800" y="4876800"/>
              <a:ext cx="4114800" cy="457200"/>
              <a:chOff x="304800" y="4876800"/>
              <a:chExt cx="3962400" cy="457200"/>
            </a:xfrm>
          </p:grpSpPr>
          <p:sp>
            <p:nvSpPr>
              <p:cNvPr id="52" name="Rectangle 51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3" name="Rectangle 52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0001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4" name="Rectangle 53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0010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5" name="Rectangle 54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1010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4419600" y="4876800"/>
              <a:ext cx="4114800" cy="457200"/>
              <a:chOff x="304800" y="4876800"/>
              <a:chExt cx="3962400" cy="457200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0100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9" name="Rectangle 48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0010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56" name="Text Box 27"/>
          <p:cNvSpPr txBox="1">
            <a:spLocks noChangeArrowheads="1"/>
          </p:cNvSpPr>
          <p:nvPr/>
        </p:nvSpPr>
        <p:spPr bwMode="auto">
          <a:xfrm>
            <a:off x="457200" y="4954791"/>
            <a:ext cx="731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Split into 4-bit groups for hexadecimal conversion: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381000" y="5945391"/>
            <a:ext cx="8229600" cy="457200"/>
            <a:chOff x="304800" y="4876800"/>
            <a:chExt cx="8229600" cy="457200"/>
          </a:xfrm>
        </p:grpSpPr>
        <p:grpSp>
          <p:nvGrpSpPr>
            <p:cNvPr id="58" name="Group 79"/>
            <p:cNvGrpSpPr/>
            <p:nvPr/>
          </p:nvGrpSpPr>
          <p:grpSpPr>
            <a:xfrm>
              <a:off x="304800" y="4876800"/>
              <a:ext cx="4114800" cy="457200"/>
              <a:chOff x="304800" y="4876800"/>
              <a:chExt cx="3962400" cy="457200"/>
            </a:xfrm>
          </p:grpSpPr>
          <p:sp>
            <p:nvSpPr>
              <p:cNvPr id="64" name="Rectangle 63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baseline="-2500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5" name="Rectangle 64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6" name="Rectangle 65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7" name="Rectangle 66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A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59" name="Group 80"/>
            <p:cNvGrpSpPr/>
            <p:nvPr/>
          </p:nvGrpSpPr>
          <p:grpSpPr>
            <a:xfrm>
              <a:off x="4419600" y="4876800"/>
              <a:ext cx="4114800" cy="457200"/>
              <a:chOff x="304800" y="4876800"/>
              <a:chExt cx="3962400" cy="457200"/>
            </a:xfrm>
          </p:grpSpPr>
          <p:sp>
            <p:nvSpPr>
              <p:cNvPr id="60" name="Rectangle 59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4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1" name="Rectangle 60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2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68" name="Group 67"/>
          <p:cNvGrpSpPr/>
          <p:nvPr/>
        </p:nvGrpSpPr>
        <p:grpSpPr>
          <a:xfrm>
            <a:off x="609600" y="1297191"/>
            <a:ext cx="4419600" cy="990600"/>
            <a:chOff x="838200" y="1752600"/>
            <a:chExt cx="4419600" cy="99060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838201" y="2133601"/>
              <a:ext cx="4419599" cy="6095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</a:rPr>
                <a:t>add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$8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$9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$10</a:t>
              </a:r>
              <a:endParaRPr lang="en-US" sz="2800" dirty="0"/>
            </a:p>
          </p:txBody>
        </p:sp>
        <p:sp>
          <p:nvSpPr>
            <p:cNvPr id="70" name="Snip Single Corner Rectangle 69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73474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5.1 R-Format: Example (3/3)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13</a:t>
            </a:fld>
            <a:endParaRPr dirty="0"/>
          </a:p>
        </p:txBody>
      </p:sp>
      <p:grpSp>
        <p:nvGrpSpPr>
          <p:cNvPr id="8" name="Group 4"/>
          <p:cNvGrpSpPr>
            <a:grpSpLocks/>
          </p:cNvGrpSpPr>
          <p:nvPr/>
        </p:nvGrpSpPr>
        <p:grpSpPr bwMode="auto">
          <a:xfrm>
            <a:off x="281940" y="2448068"/>
            <a:ext cx="8153400" cy="1333501"/>
            <a:chOff x="192" y="1392"/>
            <a:chExt cx="5136" cy="840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40" y="1392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Field representation in decimal:</a:t>
              </a:r>
            </a:p>
          </p:txBody>
        </p:sp>
        <p:grpSp>
          <p:nvGrpSpPr>
            <p:cNvPr id="10" name="Group 6"/>
            <p:cNvGrpSpPr>
              <a:grpSpLocks/>
            </p:cNvGrpSpPr>
            <p:nvPr/>
          </p:nvGrpSpPr>
          <p:grpSpPr bwMode="auto">
            <a:xfrm>
              <a:off x="192" y="1680"/>
              <a:ext cx="5136" cy="552"/>
              <a:chOff x="192" y="1554"/>
              <a:chExt cx="5136" cy="552"/>
            </a:xfrm>
          </p:grpSpPr>
          <p:grpSp>
            <p:nvGrpSpPr>
              <p:cNvPr id="12" name="Group 7"/>
              <p:cNvGrpSpPr>
                <a:grpSpLocks/>
              </p:cNvGrpSpPr>
              <p:nvPr/>
            </p:nvGrpSpPr>
            <p:grpSpPr bwMode="auto">
              <a:xfrm>
                <a:off x="192" y="1776"/>
                <a:ext cx="5136" cy="330"/>
                <a:chOff x="240" y="2496"/>
                <a:chExt cx="5136" cy="330"/>
              </a:xfrm>
            </p:grpSpPr>
            <p:grpSp>
              <p:nvGrpSpPr>
                <p:cNvPr id="20" name="Group 8"/>
                <p:cNvGrpSpPr>
                  <a:grpSpLocks/>
                </p:cNvGrpSpPr>
                <p:nvPr/>
              </p:nvGrpSpPr>
              <p:grpSpPr bwMode="auto">
                <a:xfrm>
                  <a:off x="623" y="2496"/>
                  <a:ext cx="4378" cy="330"/>
                  <a:chOff x="623" y="2496"/>
                  <a:chExt cx="4378" cy="330"/>
                </a:xfrm>
              </p:grpSpPr>
              <p:sp>
                <p:nvSpPr>
                  <p:cNvPr id="28" name="Text Box 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3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660066"/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rgbClr val="660066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29" name="Text Box 1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7" y="2496"/>
                    <a:ext cx="252" cy="33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chemeClr val="bg1">
                            <a:lumMod val="65000"/>
                          </a:schemeClr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chemeClr val="bg1">
                          <a:lumMod val="65000"/>
                        </a:schemeClr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0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7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6600"/>
                        </a:solidFill>
                        <a:latin typeface="Courier New" pitchFamily="49" charset="0"/>
                      </a:rPr>
                      <a:t>9</a:t>
                    </a:r>
                    <a:endParaRPr lang="en-US" sz="2800" dirty="0">
                      <a:solidFill>
                        <a:srgbClr val="0066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1" name="Text Box 1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086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C00000"/>
                        </a:solidFill>
                        <a:latin typeface="Courier New" pitchFamily="49" charset="0"/>
                      </a:rPr>
                      <a:t>8</a:t>
                    </a:r>
                    <a:endParaRPr lang="en-US" sz="2800" dirty="0">
                      <a:solidFill>
                        <a:srgbClr val="C000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2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751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3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85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4</a:t>
                    </a:r>
                    <a:endParaRPr lang="en-US" sz="280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22" name="Rectangle 15"/>
                <p:cNvSpPr>
                  <a:spLocks noChangeArrowheads="1"/>
                </p:cNvSpPr>
                <p:nvPr/>
              </p:nvSpPr>
              <p:spPr bwMode="auto">
                <a:xfrm>
                  <a:off x="240" y="2496"/>
                  <a:ext cx="5136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" name="Line 16"/>
                <p:cNvSpPr>
                  <a:spLocks noChangeShapeType="1"/>
                </p:cNvSpPr>
                <p:nvPr/>
              </p:nvSpPr>
              <p:spPr bwMode="auto">
                <a:xfrm>
                  <a:off x="1200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17"/>
                <p:cNvSpPr>
                  <a:spLocks noChangeShapeType="1"/>
                </p:cNvSpPr>
                <p:nvPr/>
              </p:nvSpPr>
              <p:spPr bwMode="auto">
                <a:xfrm>
                  <a:off x="2016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18"/>
                <p:cNvSpPr>
                  <a:spLocks noChangeShapeType="1"/>
                </p:cNvSpPr>
                <p:nvPr/>
              </p:nvSpPr>
              <p:spPr bwMode="auto">
                <a:xfrm>
                  <a:off x="2784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19"/>
                <p:cNvSpPr>
                  <a:spLocks noChangeShapeType="1"/>
                </p:cNvSpPr>
                <p:nvPr/>
              </p:nvSpPr>
              <p:spPr bwMode="auto">
                <a:xfrm>
                  <a:off x="3600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Line 20"/>
                <p:cNvSpPr>
                  <a:spLocks noChangeShapeType="1"/>
                </p:cNvSpPr>
                <p:nvPr/>
              </p:nvSpPr>
              <p:spPr bwMode="auto">
                <a:xfrm>
                  <a:off x="4416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13" name="Text Box 21"/>
              <p:cNvSpPr txBox="1">
                <a:spLocks noChangeArrowheads="1"/>
              </p:cNvSpPr>
              <p:nvPr/>
            </p:nvSpPr>
            <p:spPr bwMode="auto">
              <a:xfrm>
                <a:off x="334" y="1554"/>
                <a:ext cx="692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opcode</a:t>
                </a:r>
              </a:p>
            </p:txBody>
          </p:sp>
          <p:sp>
            <p:nvSpPr>
              <p:cNvPr id="15" name="Text Box 22"/>
              <p:cNvSpPr txBox="1">
                <a:spLocks noChangeArrowheads="1"/>
              </p:cNvSpPr>
              <p:nvPr/>
            </p:nvSpPr>
            <p:spPr bwMode="auto">
              <a:xfrm>
                <a:off x="1372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rs</a:t>
                </a:r>
              </a:p>
            </p:txBody>
          </p:sp>
          <p:sp>
            <p:nvSpPr>
              <p:cNvPr id="16" name="Text Box 23"/>
              <p:cNvSpPr txBox="1">
                <a:spLocks noChangeArrowheads="1"/>
              </p:cNvSpPr>
              <p:nvPr/>
            </p:nvSpPr>
            <p:spPr bwMode="auto">
              <a:xfrm>
                <a:off x="2226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rt</a:t>
                </a:r>
              </a:p>
            </p:txBody>
          </p:sp>
          <p:sp>
            <p:nvSpPr>
              <p:cNvPr id="17" name="Text Box 24"/>
              <p:cNvSpPr txBox="1">
                <a:spLocks noChangeArrowheads="1"/>
              </p:cNvSpPr>
              <p:nvPr/>
            </p:nvSpPr>
            <p:spPr bwMode="auto">
              <a:xfrm>
                <a:off x="2964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rd</a:t>
                </a:r>
              </a:p>
            </p:txBody>
          </p:sp>
          <p:sp>
            <p:nvSpPr>
              <p:cNvPr id="18" name="Text Box 25"/>
              <p:cNvSpPr txBox="1">
                <a:spLocks noChangeArrowheads="1"/>
              </p:cNvSpPr>
              <p:nvPr/>
            </p:nvSpPr>
            <p:spPr bwMode="auto">
              <a:xfrm>
                <a:off x="3609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shamt</a:t>
                </a:r>
              </a:p>
            </p:txBody>
          </p:sp>
          <p:sp>
            <p:nvSpPr>
              <p:cNvPr id="19" name="Text Box 26"/>
              <p:cNvSpPr txBox="1">
                <a:spLocks noChangeArrowheads="1"/>
              </p:cNvSpPr>
              <p:nvPr/>
            </p:nvSpPr>
            <p:spPr bwMode="auto">
              <a:xfrm>
                <a:off x="4474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funct</a:t>
                </a:r>
              </a:p>
            </p:txBody>
          </p:sp>
        </p:grpSp>
      </p:grp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358140" y="3895867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Field representation in binary:</a:t>
            </a:r>
          </a:p>
        </p:txBody>
      </p:sp>
      <p:grpSp>
        <p:nvGrpSpPr>
          <p:cNvPr id="35" name="Group 34"/>
          <p:cNvGrpSpPr/>
          <p:nvPr/>
        </p:nvGrpSpPr>
        <p:grpSpPr>
          <a:xfrm>
            <a:off x="281940" y="4353067"/>
            <a:ext cx="8229600" cy="457200"/>
            <a:chOff x="457200" y="3429000"/>
            <a:chExt cx="8229600" cy="457200"/>
          </a:xfrm>
        </p:grpSpPr>
        <p:sp>
          <p:nvSpPr>
            <p:cNvPr id="36" name="Rectangle 35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000000</a:t>
              </a:r>
              <a:endParaRPr lang="en-SG" sz="2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bg1">
                      <a:lumMod val="65000"/>
                    </a:schemeClr>
                  </a:solidFill>
                  <a:latin typeface="Courier New" pitchFamily="49" charset="0"/>
                  <a:cs typeface="Courier New" pitchFamily="49" charset="0"/>
                </a:rPr>
                <a:t>00000</a:t>
              </a:r>
              <a:endParaRPr lang="en-SG" sz="2800" b="1" dirty="0">
                <a:solidFill>
                  <a:schemeClr val="bg1">
                    <a:lumMod val="65000"/>
                  </a:schemeClr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01001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45720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01000</a:t>
              </a:r>
              <a:endParaRPr lang="en-SG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58674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00100</a:t>
              </a:r>
              <a:endParaRPr lang="en-SG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71628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000000</a:t>
              </a:r>
              <a:endParaRPr lang="en-SG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281940" y="5419867"/>
            <a:ext cx="8229600" cy="457200"/>
            <a:chOff x="304800" y="4876800"/>
            <a:chExt cx="8229600" cy="457200"/>
          </a:xfrm>
        </p:grpSpPr>
        <p:grpSp>
          <p:nvGrpSpPr>
            <p:cNvPr id="43" name="Group 79"/>
            <p:cNvGrpSpPr/>
            <p:nvPr/>
          </p:nvGrpSpPr>
          <p:grpSpPr>
            <a:xfrm>
              <a:off x="304800" y="4876800"/>
              <a:ext cx="4114800" cy="457200"/>
              <a:chOff x="304800" y="4876800"/>
              <a:chExt cx="3962400" cy="457200"/>
            </a:xfrm>
          </p:grpSpPr>
          <p:sp>
            <p:nvSpPr>
              <p:cNvPr id="49" name="Rectangle 48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2" name="Rectangle 51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1001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44" name="Group 80"/>
            <p:cNvGrpSpPr/>
            <p:nvPr/>
          </p:nvGrpSpPr>
          <p:grpSpPr>
            <a:xfrm>
              <a:off x="4419600" y="4876800"/>
              <a:ext cx="4114800" cy="457200"/>
              <a:chOff x="304800" y="4876800"/>
              <a:chExt cx="3962400" cy="457200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0100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6" name="Rectangle 45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0001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7" name="Rectangle 46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chemeClr val="tx1"/>
                    </a:solidFill>
                    <a:latin typeface="Courier New" pitchFamily="49" charset="0"/>
                    <a:cs typeface="Courier New" pitchFamily="49" charset="0"/>
                  </a:rPr>
                  <a:t>0000</a:t>
                </a:r>
                <a:endParaRPr lang="en-SG" sz="2600" b="1" dirty="0">
                  <a:solidFill>
                    <a:schemeClr val="tx1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sp>
        <p:nvSpPr>
          <p:cNvPr id="53" name="Text Box 27"/>
          <p:cNvSpPr txBox="1">
            <a:spLocks noChangeArrowheads="1"/>
          </p:cNvSpPr>
          <p:nvPr/>
        </p:nvSpPr>
        <p:spPr bwMode="auto">
          <a:xfrm>
            <a:off x="358140" y="4962667"/>
            <a:ext cx="7315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Split into 4-bit groups for hexadecimal conversion:</a:t>
            </a:r>
          </a:p>
        </p:txBody>
      </p:sp>
      <p:grpSp>
        <p:nvGrpSpPr>
          <p:cNvPr id="54" name="Group 53"/>
          <p:cNvGrpSpPr/>
          <p:nvPr/>
        </p:nvGrpSpPr>
        <p:grpSpPr>
          <a:xfrm>
            <a:off x="281940" y="5953267"/>
            <a:ext cx="8229600" cy="457200"/>
            <a:chOff x="304800" y="4876800"/>
            <a:chExt cx="8229600" cy="457200"/>
          </a:xfrm>
        </p:grpSpPr>
        <p:grpSp>
          <p:nvGrpSpPr>
            <p:cNvPr id="55" name="Group 79"/>
            <p:cNvGrpSpPr/>
            <p:nvPr/>
          </p:nvGrpSpPr>
          <p:grpSpPr>
            <a:xfrm>
              <a:off x="304800" y="4876800"/>
              <a:ext cx="4114800" cy="457200"/>
              <a:chOff x="304800" y="4876800"/>
              <a:chExt cx="3962400" cy="457200"/>
            </a:xfrm>
          </p:grpSpPr>
          <p:sp>
            <p:nvSpPr>
              <p:cNvPr id="61" name="Rectangle 60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baseline="-25000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2" name="Rectangle 61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3" name="Rectangle 62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4" name="Rectangle 63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9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  <p:grpSp>
          <p:nvGrpSpPr>
            <p:cNvPr id="56" name="Group 80"/>
            <p:cNvGrpSpPr/>
            <p:nvPr/>
          </p:nvGrpSpPr>
          <p:grpSpPr>
            <a:xfrm>
              <a:off x="4419600" y="4876800"/>
              <a:ext cx="4114800" cy="457200"/>
              <a:chOff x="304800" y="4876800"/>
              <a:chExt cx="3962400" cy="457200"/>
            </a:xfrm>
          </p:grpSpPr>
          <p:sp>
            <p:nvSpPr>
              <p:cNvPr id="57" name="Rectangle 56"/>
              <p:cNvSpPr/>
              <p:nvPr/>
            </p:nvSpPr>
            <p:spPr>
              <a:xfrm>
                <a:off x="3048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4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8" name="Rectangle 57"/>
              <p:cNvSpPr/>
              <p:nvPr/>
            </p:nvSpPr>
            <p:spPr>
              <a:xfrm>
                <a:off x="12954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59" name="Rectangle 58"/>
              <p:cNvSpPr/>
              <p:nvPr/>
            </p:nvSpPr>
            <p:spPr>
              <a:xfrm>
                <a:off x="22860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  <p:sp>
            <p:nvSpPr>
              <p:cNvPr id="60" name="Rectangle 59"/>
              <p:cNvSpPr/>
              <p:nvPr/>
            </p:nvSpPr>
            <p:spPr>
              <a:xfrm>
                <a:off x="3276600" y="4876800"/>
                <a:ext cx="990600" cy="4572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0</a:t>
                </a:r>
                <a:r>
                  <a:rPr lang="en-US" sz="2600" b="1" baseline="-25000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16</a:t>
                </a:r>
                <a:r>
                  <a:rPr lang="en-US" sz="2600" b="1" dirty="0">
                    <a:solidFill>
                      <a:srgbClr val="C00000"/>
                    </a:solidFill>
                    <a:latin typeface="Courier New" pitchFamily="49" charset="0"/>
                    <a:cs typeface="Courier New" pitchFamily="49" charset="0"/>
                  </a:rPr>
                  <a:t> </a:t>
                </a:r>
                <a:endParaRPr lang="en-SG" sz="2600" b="1" dirty="0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endParaRPr>
              </a:p>
            </p:txBody>
          </p:sp>
        </p:grpSp>
      </p:grpSp>
      <p:grpSp>
        <p:nvGrpSpPr>
          <p:cNvPr id="65" name="Group 64"/>
          <p:cNvGrpSpPr/>
          <p:nvPr/>
        </p:nvGrpSpPr>
        <p:grpSpPr>
          <a:xfrm>
            <a:off x="5356860" y="1243033"/>
            <a:ext cx="3413760" cy="1327785"/>
            <a:chOff x="5349240" y="3623310"/>
            <a:chExt cx="3413760" cy="1405890"/>
          </a:xfrm>
        </p:grpSpPr>
        <p:sp>
          <p:nvSpPr>
            <p:cNvPr id="66" name="Rectangle 65"/>
            <p:cNvSpPr/>
            <p:nvPr/>
          </p:nvSpPr>
          <p:spPr>
            <a:xfrm>
              <a:off x="5715000" y="3962400"/>
              <a:ext cx="3048000" cy="10668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</a:rPr>
                <a:t>Note the placement of the source register</a:t>
              </a:r>
              <a:endParaRPr lang="en-SG" sz="2400" dirty="0">
                <a:solidFill>
                  <a:schemeClr val="tx1"/>
                </a:solidFill>
              </a:endParaRPr>
            </a:p>
          </p:txBody>
        </p:sp>
        <p:pic>
          <p:nvPicPr>
            <p:cNvPr id="67" name="Picture 1" descr="C:\Users\sooyj\AppData\Local\Microsoft\Windows\Temporary Internet Files\Content.IE5\GOO9WY7Z\MC900434750[1]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349240" y="3623310"/>
              <a:ext cx="609600" cy="609600"/>
            </a:xfrm>
            <a:prstGeom prst="rect">
              <a:avLst/>
            </a:prstGeom>
            <a:noFill/>
          </p:spPr>
        </p:pic>
      </p:grpSp>
      <p:grpSp>
        <p:nvGrpSpPr>
          <p:cNvPr id="68" name="Group 67"/>
          <p:cNvGrpSpPr/>
          <p:nvPr/>
        </p:nvGrpSpPr>
        <p:grpSpPr>
          <a:xfrm>
            <a:off x="510540" y="1305067"/>
            <a:ext cx="4419600" cy="990600"/>
            <a:chOff x="838200" y="1752600"/>
            <a:chExt cx="4419600" cy="990600"/>
          </a:xfrm>
        </p:grpSpPr>
        <p:sp>
          <p:nvSpPr>
            <p:cNvPr id="69" name="Rectangle 5"/>
            <p:cNvSpPr>
              <a:spLocks noChangeArrowheads="1"/>
            </p:cNvSpPr>
            <p:nvPr/>
          </p:nvSpPr>
          <p:spPr bwMode="auto">
            <a:xfrm>
              <a:off x="838201" y="2133601"/>
              <a:ext cx="4419599" cy="6095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</a:rPr>
                <a:t>sll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$8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$9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</a:rPr>
                <a:t>4</a:t>
              </a:r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70" name="Snip Single Corner Rectangle 69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078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5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5.2 Try It Yourself #1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14</a:t>
            </a:fld>
            <a:endParaRPr dirty="0"/>
          </a:p>
        </p:txBody>
      </p:sp>
      <p:grpSp>
        <p:nvGrpSpPr>
          <p:cNvPr id="54" name="Group 4"/>
          <p:cNvGrpSpPr>
            <a:grpSpLocks/>
          </p:cNvGrpSpPr>
          <p:nvPr/>
        </p:nvGrpSpPr>
        <p:grpSpPr bwMode="auto">
          <a:xfrm>
            <a:off x="491544" y="2573761"/>
            <a:ext cx="8153400" cy="1266825"/>
            <a:chOff x="192" y="1392"/>
            <a:chExt cx="5136" cy="798"/>
          </a:xfrm>
        </p:grpSpPr>
        <p:sp>
          <p:nvSpPr>
            <p:cNvPr id="55" name="Text Box 5"/>
            <p:cNvSpPr txBox="1">
              <a:spLocks noChangeArrowheads="1"/>
            </p:cNvSpPr>
            <p:nvPr/>
          </p:nvSpPr>
          <p:spPr bwMode="auto">
            <a:xfrm>
              <a:off x="240" y="1392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Field representation in decimal:</a:t>
              </a:r>
            </a:p>
          </p:txBody>
        </p:sp>
        <p:grpSp>
          <p:nvGrpSpPr>
            <p:cNvPr id="56" name="Group 6"/>
            <p:cNvGrpSpPr>
              <a:grpSpLocks/>
            </p:cNvGrpSpPr>
            <p:nvPr/>
          </p:nvGrpSpPr>
          <p:grpSpPr bwMode="auto">
            <a:xfrm>
              <a:off x="192" y="1680"/>
              <a:ext cx="5136" cy="510"/>
              <a:chOff x="192" y="1554"/>
              <a:chExt cx="5136" cy="510"/>
            </a:xfrm>
          </p:grpSpPr>
          <p:grpSp>
            <p:nvGrpSpPr>
              <p:cNvPr id="57" name="Group 7"/>
              <p:cNvGrpSpPr>
                <a:grpSpLocks/>
              </p:cNvGrpSpPr>
              <p:nvPr/>
            </p:nvGrpSpPr>
            <p:grpSpPr bwMode="auto">
              <a:xfrm>
                <a:off x="192" y="1776"/>
                <a:ext cx="5136" cy="288"/>
                <a:chOff x="240" y="2496"/>
                <a:chExt cx="5136" cy="288"/>
              </a:xfrm>
            </p:grpSpPr>
            <p:sp>
              <p:nvSpPr>
                <p:cNvPr id="64" name="Rectangle 15"/>
                <p:cNvSpPr>
                  <a:spLocks noChangeArrowheads="1"/>
                </p:cNvSpPr>
                <p:nvPr/>
              </p:nvSpPr>
              <p:spPr bwMode="auto">
                <a:xfrm>
                  <a:off x="240" y="2496"/>
                  <a:ext cx="5136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5" name="Line 16"/>
                <p:cNvSpPr>
                  <a:spLocks noChangeShapeType="1"/>
                </p:cNvSpPr>
                <p:nvPr/>
              </p:nvSpPr>
              <p:spPr bwMode="auto">
                <a:xfrm>
                  <a:off x="1200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6" name="Line 17"/>
                <p:cNvSpPr>
                  <a:spLocks noChangeShapeType="1"/>
                </p:cNvSpPr>
                <p:nvPr/>
              </p:nvSpPr>
              <p:spPr bwMode="auto">
                <a:xfrm>
                  <a:off x="2016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7" name="Line 18"/>
                <p:cNvSpPr>
                  <a:spLocks noChangeShapeType="1"/>
                </p:cNvSpPr>
                <p:nvPr/>
              </p:nvSpPr>
              <p:spPr bwMode="auto">
                <a:xfrm>
                  <a:off x="2784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8" name="Line 19"/>
                <p:cNvSpPr>
                  <a:spLocks noChangeShapeType="1"/>
                </p:cNvSpPr>
                <p:nvPr/>
              </p:nvSpPr>
              <p:spPr bwMode="auto">
                <a:xfrm>
                  <a:off x="3600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69" name="Line 20"/>
                <p:cNvSpPr>
                  <a:spLocks noChangeShapeType="1"/>
                </p:cNvSpPr>
                <p:nvPr/>
              </p:nvSpPr>
              <p:spPr bwMode="auto">
                <a:xfrm>
                  <a:off x="4416" y="2496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8" name="Text Box 21"/>
              <p:cNvSpPr txBox="1">
                <a:spLocks noChangeArrowheads="1"/>
              </p:cNvSpPr>
              <p:nvPr/>
            </p:nvSpPr>
            <p:spPr bwMode="auto">
              <a:xfrm>
                <a:off x="334" y="1554"/>
                <a:ext cx="692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opcode</a:t>
                </a:r>
              </a:p>
            </p:txBody>
          </p:sp>
          <p:sp>
            <p:nvSpPr>
              <p:cNvPr id="59" name="Text Box 22"/>
              <p:cNvSpPr txBox="1">
                <a:spLocks noChangeArrowheads="1"/>
              </p:cNvSpPr>
              <p:nvPr/>
            </p:nvSpPr>
            <p:spPr bwMode="auto">
              <a:xfrm>
                <a:off x="1372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rs</a:t>
                </a:r>
              </a:p>
            </p:txBody>
          </p:sp>
          <p:sp>
            <p:nvSpPr>
              <p:cNvPr id="60" name="Text Box 23"/>
              <p:cNvSpPr txBox="1">
                <a:spLocks noChangeArrowheads="1"/>
              </p:cNvSpPr>
              <p:nvPr/>
            </p:nvSpPr>
            <p:spPr bwMode="auto">
              <a:xfrm>
                <a:off x="2226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rt</a:t>
                </a:r>
              </a:p>
            </p:txBody>
          </p:sp>
          <p:sp>
            <p:nvSpPr>
              <p:cNvPr id="61" name="Text Box 24"/>
              <p:cNvSpPr txBox="1">
                <a:spLocks noChangeArrowheads="1"/>
              </p:cNvSpPr>
              <p:nvPr/>
            </p:nvSpPr>
            <p:spPr bwMode="auto">
              <a:xfrm>
                <a:off x="2964" y="1554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rd</a:t>
                </a:r>
              </a:p>
            </p:txBody>
          </p:sp>
          <p:sp>
            <p:nvSpPr>
              <p:cNvPr id="62" name="Text Box 25"/>
              <p:cNvSpPr txBox="1">
                <a:spLocks noChangeArrowheads="1"/>
              </p:cNvSpPr>
              <p:nvPr/>
            </p:nvSpPr>
            <p:spPr bwMode="auto">
              <a:xfrm>
                <a:off x="3609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shamt</a:t>
                </a:r>
              </a:p>
            </p:txBody>
          </p:sp>
          <p:sp>
            <p:nvSpPr>
              <p:cNvPr id="63" name="Text Box 26"/>
              <p:cNvSpPr txBox="1">
                <a:spLocks noChangeArrowheads="1"/>
              </p:cNvSpPr>
              <p:nvPr/>
            </p:nvSpPr>
            <p:spPr bwMode="auto">
              <a:xfrm>
                <a:off x="4474" y="1554"/>
                <a:ext cx="596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funct</a:t>
                </a:r>
              </a:p>
            </p:txBody>
          </p:sp>
        </p:grpSp>
      </p:grpSp>
      <p:grpSp>
        <p:nvGrpSpPr>
          <p:cNvPr id="70" name="Group 27"/>
          <p:cNvGrpSpPr>
            <a:grpSpLocks/>
          </p:cNvGrpSpPr>
          <p:nvPr/>
        </p:nvGrpSpPr>
        <p:grpSpPr bwMode="auto">
          <a:xfrm>
            <a:off x="491544" y="4021562"/>
            <a:ext cx="8153400" cy="1004888"/>
            <a:chOff x="192" y="2256"/>
            <a:chExt cx="5136" cy="633"/>
          </a:xfrm>
        </p:grpSpPr>
        <p:sp>
          <p:nvSpPr>
            <p:cNvPr id="71" name="Text Box 28"/>
            <p:cNvSpPr txBox="1">
              <a:spLocks noChangeArrowheads="1"/>
            </p:cNvSpPr>
            <p:nvPr/>
          </p:nvSpPr>
          <p:spPr bwMode="auto">
            <a:xfrm>
              <a:off x="240" y="2256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Field representation in binary:</a:t>
              </a:r>
            </a:p>
          </p:txBody>
        </p:sp>
        <p:grpSp>
          <p:nvGrpSpPr>
            <p:cNvPr id="72" name="Group 29"/>
            <p:cNvGrpSpPr>
              <a:grpSpLocks/>
            </p:cNvGrpSpPr>
            <p:nvPr/>
          </p:nvGrpSpPr>
          <p:grpSpPr bwMode="auto">
            <a:xfrm>
              <a:off x="192" y="2592"/>
              <a:ext cx="5136" cy="297"/>
              <a:chOff x="240" y="2496"/>
              <a:chExt cx="5136" cy="297"/>
            </a:xfrm>
          </p:grpSpPr>
          <p:grpSp>
            <p:nvGrpSpPr>
              <p:cNvPr id="73" name="Group 30"/>
              <p:cNvGrpSpPr>
                <a:grpSpLocks/>
              </p:cNvGrpSpPr>
              <p:nvPr/>
            </p:nvGrpSpPr>
            <p:grpSpPr bwMode="auto">
              <a:xfrm>
                <a:off x="690" y="2543"/>
                <a:ext cx="4244" cy="250"/>
                <a:chOff x="690" y="2543"/>
                <a:chExt cx="4244" cy="250"/>
              </a:xfrm>
            </p:grpSpPr>
            <p:sp>
              <p:nvSpPr>
                <p:cNvPr id="80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690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81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555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82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354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83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153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84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818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85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3952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</p:grpSp>
          <p:sp>
            <p:nvSpPr>
              <p:cNvPr id="74" name="Rectangle 37"/>
              <p:cNvSpPr>
                <a:spLocks noChangeArrowheads="1"/>
              </p:cNvSpPr>
              <p:nvPr/>
            </p:nvSpPr>
            <p:spPr bwMode="auto">
              <a:xfrm>
                <a:off x="240" y="2496"/>
                <a:ext cx="513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5" name="Line 38"/>
              <p:cNvSpPr>
                <a:spLocks noChangeShapeType="1"/>
              </p:cNvSpPr>
              <p:nvPr/>
            </p:nvSpPr>
            <p:spPr bwMode="auto">
              <a:xfrm>
                <a:off x="1200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6" name="Line 39"/>
              <p:cNvSpPr>
                <a:spLocks noChangeShapeType="1"/>
              </p:cNvSpPr>
              <p:nvPr/>
            </p:nvSpPr>
            <p:spPr bwMode="auto">
              <a:xfrm>
                <a:off x="2016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7" name="Line 40"/>
              <p:cNvSpPr>
                <a:spLocks noChangeShapeType="1"/>
              </p:cNvSpPr>
              <p:nvPr/>
            </p:nvSpPr>
            <p:spPr bwMode="auto">
              <a:xfrm>
                <a:off x="2784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8" name="Line 41"/>
              <p:cNvSpPr>
                <a:spLocks noChangeShapeType="1"/>
              </p:cNvSpPr>
              <p:nvPr/>
            </p:nvSpPr>
            <p:spPr bwMode="auto">
              <a:xfrm>
                <a:off x="3600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9" name="Line 42"/>
              <p:cNvSpPr>
                <a:spLocks noChangeShapeType="1"/>
              </p:cNvSpPr>
              <p:nvPr/>
            </p:nvSpPr>
            <p:spPr bwMode="auto">
              <a:xfrm>
                <a:off x="4416" y="2496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86" name="Text Box 43"/>
          <p:cNvSpPr txBox="1">
            <a:spLocks noChangeArrowheads="1"/>
          </p:cNvSpPr>
          <p:nvPr/>
        </p:nvSpPr>
        <p:spPr bwMode="auto">
          <a:xfrm>
            <a:off x="567744" y="5178850"/>
            <a:ext cx="7162800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Hexadecimal representation of instruction:</a:t>
            </a:r>
          </a:p>
          <a:p>
            <a:pPr>
              <a:spcBef>
                <a:spcPct val="20000"/>
              </a:spcBef>
            </a:pPr>
            <a:r>
              <a:rPr lang="en-US" sz="2400" b="1" dirty="0"/>
              <a:t> 		</a:t>
            </a:r>
            <a:endParaRPr lang="en-US" b="1" baseline="-25000" dirty="0">
              <a:solidFill>
                <a:srgbClr val="0000CC"/>
              </a:solidFill>
            </a:endParaRPr>
          </a:p>
        </p:txBody>
      </p:sp>
      <p:sp>
        <p:nvSpPr>
          <p:cNvPr id="87" name="Text Box 5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pSp>
        <p:nvGrpSpPr>
          <p:cNvPr id="88" name="Group 87"/>
          <p:cNvGrpSpPr/>
          <p:nvPr/>
        </p:nvGrpSpPr>
        <p:grpSpPr>
          <a:xfrm>
            <a:off x="643944" y="1368850"/>
            <a:ext cx="4419600" cy="990600"/>
            <a:chOff x="838200" y="1752600"/>
            <a:chExt cx="4419600" cy="990600"/>
          </a:xfrm>
        </p:grpSpPr>
        <p:sp>
          <p:nvSpPr>
            <p:cNvPr id="89" name="Rectangle 5"/>
            <p:cNvSpPr>
              <a:spLocks noChangeArrowheads="1"/>
            </p:cNvSpPr>
            <p:nvPr/>
          </p:nvSpPr>
          <p:spPr bwMode="auto">
            <a:xfrm>
              <a:off x="838201" y="2133601"/>
              <a:ext cx="4419599" cy="6095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660066"/>
                  </a:solidFill>
                  <a:latin typeface="Courier New" pitchFamily="49" charset="0"/>
                </a:rPr>
                <a:t>add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$10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$7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$5</a:t>
              </a:r>
              <a:endParaRPr lang="en-US" sz="2800" dirty="0"/>
            </a:p>
          </p:txBody>
        </p:sp>
        <p:sp>
          <p:nvSpPr>
            <p:cNvPr id="90" name="Snip Single Corner Rectangle 89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998750" y="3366881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395337" y="3366881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20519" y="3366881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874051" y="3366881"/>
            <a:ext cx="66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130344" y="3366881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>
                    <a:lumMod val="6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450776" y="3366881"/>
            <a:ext cx="66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</p:txBody>
      </p:sp>
      <p:grpSp>
        <p:nvGrpSpPr>
          <p:cNvPr id="97" name="Group 96"/>
          <p:cNvGrpSpPr/>
          <p:nvPr/>
        </p:nvGrpSpPr>
        <p:grpSpPr>
          <a:xfrm>
            <a:off x="457200" y="4505447"/>
            <a:ext cx="8216721" cy="523220"/>
            <a:chOff x="270456" y="4203397"/>
            <a:chExt cx="8216721" cy="523220"/>
          </a:xfrm>
        </p:grpSpPr>
        <p:sp>
          <p:nvSpPr>
            <p:cNvPr id="98" name="TextBox 97"/>
            <p:cNvSpPr txBox="1"/>
            <p:nvPr/>
          </p:nvSpPr>
          <p:spPr>
            <a:xfrm>
              <a:off x="270456" y="4203397"/>
              <a:ext cx="15789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000000</a:t>
              </a:r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1820198" y="4203397"/>
              <a:ext cx="1311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00111</a:t>
              </a:r>
            </a:p>
          </p:txBody>
        </p:sp>
        <p:sp>
          <p:nvSpPr>
            <p:cNvPr id="100" name="TextBox 99"/>
            <p:cNvSpPr txBox="1"/>
            <p:nvPr/>
          </p:nvSpPr>
          <p:spPr>
            <a:xfrm>
              <a:off x="3069722" y="4203397"/>
              <a:ext cx="1311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00101</a:t>
              </a:r>
            </a:p>
          </p:txBody>
        </p:sp>
        <p:sp>
          <p:nvSpPr>
            <p:cNvPr id="101" name="TextBox 100"/>
            <p:cNvSpPr txBox="1"/>
            <p:nvPr/>
          </p:nvSpPr>
          <p:spPr>
            <a:xfrm>
              <a:off x="4343400" y="4203397"/>
              <a:ext cx="1311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C0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01010</a:t>
              </a: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600632" y="4203397"/>
              <a:ext cx="137808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bg1">
                      <a:lumMod val="65000"/>
                    </a:schemeClr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00000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6908195" y="4203397"/>
              <a:ext cx="15789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100000</a:t>
              </a:r>
            </a:p>
          </p:txBody>
        </p:sp>
      </p:grpSp>
      <p:sp>
        <p:nvSpPr>
          <p:cNvPr id="104" name="TextBox 103"/>
          <p:cNvSpPr txBox="1"/>
          <p:nvPr/>
        </p:nvSpPr>
        <p:spPr>
          <a:xfrm>
            <a:off x="2598211" y="5631281"/>
            <a:ext cx="4374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 0 E 5 5 0 2 0</a:t>
            </a:r>
            <a:r>
              <a:rPr lang="en-US" sz="3200" b="1" baseline="-25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73071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  <p:bldP spid="91" grpId="0"/>
      <p:bldP spid="92" grpId="0"/>
      <p:bldP spid="93" grpId="0"/>
      <p:bldP spid="94" grpId="0"/>
      <p:bldP spid="95" grpId="0"/>
      <p:bldP spid="96" grpId="0"/>
      <p:bldP spid="10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I-format (1/4)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15</a:t>
            </a:fld>
            <a:endParaRPr dirty="0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>
          <a:xfrm>
            <a:off x="457200" y="1234158"/>
            <a:ext cx="8382000" cy="47856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What about instructions with immediate values?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5-bit </a:t>
            </a:r>
            <a:r>
              <a:rPr lang="en-US" sz="2400" b="1" dirty="0" err="1">
                <a:solidFill>
                  <a:srgbClr val="002060"/>
                </a:solidFill>
                <a:latin typeface="Courier New" pitchFamily="49" charset="0"/>
              </a:rPr>
              <a:t>shamt</a:t>
            </a:r>
            <a:r>
              <a:rPr lang="en-US" sz="2400" dirty="0"/>
              <a:t> field can only represent </a:t>
            </a:r>
            <a:r>
              <a:rPr lang="en-US" sz="2400" b="1" dirty="0"/>
              <a:t>0 to 31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 err="1"/>
              <a:t>Immediates</a:t>
            </a:r>
            <a:r>
              <a:rPr lang="en-US" sz="2400" dirty="0"/>
              <a:t> may be much larger than this</a:t>
            </a:r>
          </a:p>
          <a:p>
            <a:pPr marL="898525" lvl="2" indent="-2730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e.g.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lw</a:t>
            </a:r>
            <a:r>
              <a:rPr lang="en-US" sz="2400" dirty="0"/>
              <a:t>,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rPr>
              <a:t>sw</a:t>
            </a:r>
            <a:r>
              <a:rPr lang="en-US" sz="2400" dirty="0"/>
              <a:t> instructions require bigger offset</a:t>
            </a:r>
          </a:p>
          <a:p>
            <a:pPr marL="274320" lvl="1" indent="0" fontAlgn="auto">
              <a:spcAft>
                <a:spcPts val="0"/>
              </a:spcAft>
              <a:buNone/>
            </a:pPr>
            <a:endParaRPr lang="en-US" sz="2400" dirty="0"/>
          </a:p>
          <a:p>
            <a:pPr marL="274638" indent="-274638" fontAlgn="auto">
              <a:spcBef>
                <a:spcPct val="5000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6600"/>
                </a:solidFill>
              </a:rPr>
              <a:t>Compromise: </a:t>
            </a:r>
            <a:r>
              <a:rPr lang="en-US" sz="2800" dirty="0"/>
              <a:t>Define a new instruction format partially consistent with R-format: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If instruction has immediate, then it uses at most 2 registers</a:t>
            </a:r>
          </a:p>
        </p:txBody>
      </p:sp>
    </p:spTree>
    <p:extLst>
      <p:ext uri="{BB962C8B-B14F-4D97-AF65-F5344CB8AC3E}">
        <p14:creationId xmlns:p14="http://schemas.microsoft.com/office/powerpoint/2010/main" val="1775653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I-format (2/4)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16</a:t>
            </a:fld>
            <a:endParaRPr dirty="0"/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474515"/>
            <a:ext cx="8382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Define fields with the following number of bits each: 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6 + 5 + 5 + 16 = 32 bits</a:t>
            </a:r>
            <a:endParaRPr lang="en-US" b="1" dirty="0">
              <a:solidFill>
                <a:schemeClr val="tx2"/>
              </a:solidFill>
              <a:latin typeface="Courier New" pitchFamily="49" charset="0"/>
            </a:endParaRPr>
          </a:p>
        </p:txBody>
      </p:sp>
      <p:sp>
        <p:nvSpPr>
          <p:cNvPr id="12" name="Rectangle 18"/>
          <p:cNvSpPr>
            <a:spLocks noChangeArrowheads="1"/>
          </p:cNvSpPr>
          <p:nvPr/>
        </p:nvSpPr>
        <p:spPr bwMode="auto">
          <a:xfrm>
            <a:off x="457200" y="3074715"/>
            <a:ext cx="83820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638" indent="-274638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Again, each field has a name:</a:t>
            </a:r>
          </a:p>
        </p:txBody>
      </p:sp>
      <p:sp>
        <p:nvSpPr>
          <p:cNvPr id="13" name="Rectangle 33"/>
          <p:cNvSpPr>
            <a:spLocks noChangeArrowheads="1"/>
          </p:cNvSpPr>
          <p:nvPr/>
        </p:nvSpPr>
        <p:spPr bwMode="auto">
          <a:xfrm>
            <a:off x="457200" y="4446315"/>
            <a:ext cx="82296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4638" indent="-274638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Only one field is inconsistent with R-format. </a:t>
            </a:r>
          </a:p>
          <a:p>
            <a:pPr marL="625475" lvl="1" indent="-282575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000" b="1" dirty="0">
                <a:latin typeface="Courier New" pitchFamily="49" charset="0"/>
                <a:cs typeface="Courier New" pitchFamily="49" charset="0"/>
              </a:rPr>
              <a:t>opcode</a:t>
            </a:r>
            <a:r>
              <a:rPr lang="en-US" sz="2000" dirty="0"/>
              <a:t>,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rs</a:t>
            </a:r>
            <a:r>
              <a:rPr lang="en-US" sz="2000" dirty="0"/>
              <a:t>, and </a:t>
            </a:r>
            <a:r>
              <a:rPr lang="en-US" sz="2000" b="1" dirty="0" err="1">
                <a:latin typeface="Courier New" pitchFamily="49" charset="0"/>
                <a:cs typeface="Courier New" pitchFamily="49" charset="0"/>
              </a:rPr>
              <a:t>rt</a:t>
            </a:r>
            <a:r>
              <a:rPr lang="en-US" sz="2000" dirty="0"/>
              <a:t> are still in the same locations.</a:t>
            </a:r>
          </a:p>
        </p:txBody>
      </p:sp>
      <p:grpSp>
        <p:nvGrpSpPr>
          <p:cNvPr id="15" name="Group 34"/>
          <p:cNvGrpSpPr>
            <a:grpSpLocks/>
          </p:cNvGrpSpPr>
          <p:nvPr/>
        </p:nvGrpSpPr>
        <p:grpSpPr bwMode="auto">
          <a:xfrm>
            <a:off x="609600" y="2388915"/>
            <a:ext cx="8153400" cy="976313"/>
            <a:chOff x="432" y="3120"/>
            <a:chExt cx="5136" cy="615"/>
          </a:xfrm>
        </p:grpSpPr>
        <p:grpSp>
          <p:nvGrpSpPr>
            <p:cNvPr id="16" name="Group 35"/>
            <p:cNvGrpSpPr>
              <a:grpSpLocks/>
            </p:cNvGrpSpPr>
            <p:nvPr/>
          </p:nvGrpSpPr>
          <p:grpSpPr bwMode="auto">
            <a:xfrm>
              <a:off x="835" y="3120"/>
              <a:ext cx="4311" cy="327"/>
              <a:chOff x="623" y="2496"/>
              <a:chExt cx="4311" cy="327"/>
            </a:xfrm>
          </p:grpSpPr>
          <p:sp>
            <p:nvSpPr>
              <p:cNvPr id="26" name="Text Box 36"/>
              <p:cNvSpPr txBox="1">
                <a:spLocks noChangeArrowheads="1"/>
              </p:cNvSpPr>
              <p:nvPr/>
            </p:nvSpPr>
            <p:spPr bwMode="auto">
              <a:xfrm>
                <a:off x="623" y="2496"/>
                <a:ext cx="250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800" b="1" dirty="0">
                    <a:solidFill>
                      <a:srgbClr val="660066"/>
                    </a:solidFill>
                    <a:latin typeface="Courier New" pitchFamily="49" charset="0"/>
                  </a:rPr>
                  <a:t>6</a:t>
                </a:r>
                <a:endParaRPr lang="en-US" sz="2800" dirty="0">
                  <a:solidFill>
                    <a:srgbClr val="660066"/>
                  </a:solidFill>
                  <a:latin typeface="Helvetica" pitchFamily="34" charset="0"/>
                </a:endParaRPr>
              </a:p>
            </p:txBody>
          </p:sp>
          <p:sp>
            <p:nvSpPr>
              <p:cNvPr id="27" name="Text Box 37"/>
              <p:cNvSpPr txBox="1">
                <a:spLocks noChangeArrowheads="1"/>
              </p:cNvSpPr>
              <p:nvPr/>
            </p:nvSpPr>
            <p:spPr bwMode="auto">
              <a:xfrm>
                <a:off x="1488" y="2496"/>
                <a:ext cx="250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800" b="1" dirty="0">
                    <a:solidFill>
                      <a:srgbClr val="006600"/>
                    </a:solidFill>
                    <a:latin typeface="Courier New" pitchFamily="49" charset="0"/>
                  </a:rPr>
                  <a:t>5</a:t>
                </a:r>
                <a:endParaRPr lang="en-US" sz="2800" dirty="0">
                  <a:solidFill>
                    <a:srgbClr val="006600"/>
                  </a:solidFill>
                  <a:latin typeface="Helvetica" pitchFamily="34" charset="0"/>
                </a:endParaRPr>
              </a:p>
            </p:txBody>
          </p:sp>
          <p:sp>
            <p:nvSpPr>
              <p:cNvPr id="28" name="Text Box 38"/>
              <p:cNvSpPr txBox="1">
                <a:spLocks noChangeArrowheads="1"/>
              </p:cNvSpPr>
              <p:nvPr/>
            </p:nvSpPr>
            <p:spPr bwMode="auto">
              <a:xfrm>
                <a:off x="2287" y="2496"/>
                <a:ext cx="250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800" b="1" dirty="0">
                    <a:solidFill>
                      <a:srgbClr val="C00000"/>
                    </a:solidFill>
                    <a:latin typeface="Courier New" pitchFamily="49" charset="0"/>
                  </a:rPr>
                  <a:t>5</a:t>
                </a:r>
                <a:endParaRPr lang="en-US" sz="2800" dirty="0">
                  <a:solidFill>
                    <a:srgbClr val="C00000"/>
                  </a:solidFill>
                  <a:latin typeface="Helvetica" pitchFamily="34" charset="0"/>
                </a:endParaRPr>
              </a:p>
            </p:txBody>
          </p:sp>
          <p:sp>
            <p:nvSpPr>
              <p:cNvPr id="29" name="Text Box 39"/>
              <p:cNvSpPr txBox="1">
                <a:spLocks noChangeArrowheads="1"/>
              </p:cNvSpPr>
              <p:nvPr/>
            </p:nvSpPr>
            <p:spPr bwMode="auto">
              <a:xfrm>
                <a:off x="3153" y="2546"/>
                <a:ext cx="11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en-US" sz="200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30" name="Text Box 40"/>
              <p:cNvSpPr txBox="1">
                <a:spLocks noChangeArrowheads="1"/>
              </p:cNvSpPr>
              <p:nvPr/>
            </p:nvSpPr>
            <p:spPr bwMode="auto">
              <a:xfrm>
                <a:off x="4818" y="2546"/>
                <a:ext cx="116" cy="250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endParaRPr lang="en-US" sz="2000">
                  <a:solidFill>
                    <a:schemeClr val="accent1"/>
                  </a:solidFill>
                  <a:latin typeface="Helvetica" pitchFamily="34" charset="0"/>
                </a:endParaRPr>
              </a:p>
            </p:txBody>
          </p:sp>
          <p:sp>
            <p:nvSpPr>
              <p:cNvPr id="31" name="Text Box 41"/>
              <p:cNvSpPr txBox="1">
                <a:spLocks noChangeArrowheads="1"/>
              </p:cNvSpPr>
              <p:nvPr/>
            </p:nvSpPr>
            <p:spPr bwMode="auto">
              <a:xfrm>
                <a:off x="3818" y="2496"/>
                <a:ext cx="385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 eaLnBrk="0" hangingPunct="0"/>
                <a:r>
                  <a:rPr lang="en-US" sz="2800" b="1" dirty="0">
                    <a:solidFill>
                      <a:srgbClr val="002060"/>
                    </a:solidFill>
                    <a:latin typeface="Courier New" pitchFamily="49" charset="0"/>
                  </a:rPr>
                  <a:t>16</a:t>
                </a:r>
                <a:endParaRPr lang="en-US" sz="2800" dirty="0">
                  <a:solidFill>
                    <a:srgbClr val="002060"/>
                  </a:solidFill>
                  <a:latin typeface="Helvetica" pitchFamily="34" charset="0"/>
                </a:endParaRPr>
              </a:p>
            </p:txBody>
          </p:sp>
        </p:grpSp>
        <p:sp>
          <p:nvSpPr>
            <p:cNvPr id="17" name="Rectangle 42"/>
            <p:cNvSpPr>
              <a:spLocks noChangeArrowheads="1"/>
            </p:cNvSpPr>
            <p:nvPr/>
          </p:nvSpPr>
          <p:spPr bwMode="auto">
            <a:xfrm>
              <a:off x="432" y="3120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43"/>
            <p:cNvSpPr>
              <a:spLocks noChangeShapeType="1"/>
            </p:cNvSpPr>
            <p:nvPr/>
          </p:nvSpPr>
          <p:spPr bwMode="auto">
            <a:xfrm>
              <a:off x="1392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Line 44"/>
            <p:cNvSpPr>
              <a:spLocks noChangeShapeType="1"/>
            </p:cNvSpPr>
            <p:nvPr/>
          </p:nvSpPr>
          <p:spPr bwMode="auto">
            <a:xfrm>
              <a:off x="2208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" name="Line 45"/>
            <p:cNvSpPr>
              <a:spLocks noChangeShapeType="1"/>
            </p:cNvSpPr>
            <p:nvPr/>
          </p:nvSpPr>
          <p:spPr bwMode="auto">
            <a:xfrm>
              <a:off x="2976" y="3120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" name="Text Box 46"/>
            <p:cNvSpPr txBox="1">
              <a:spLocks noChangeArrowheads="1"/>
            </p:cNvSpPr>
            <p:nvPr/>
          </p:nvSpPr>
          <p:spPr bwMode="auto">
            <a:xfrm>
              <a:off x="528" y="3408"/>
              <a:ext cx="116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b="1">
                <a:latin typeface="Helvetica" pitchFamily="34" charset="0"/>
              </a:endParaRPr>
            </a:p>
          </p:txBody>
        </p:sp>
        <p:sp>
          <p:nvSpPr>
            <p:cNvPr id="23" name="Text Box 47"/>
            <p:cNvSpPr txBox="1">
              <a:spLocks noChangeArrowheads="1"/>
            </p:cNvSpPr>
            <p:nvPr/>
          </p:nvSpPr>
          <p:spPr bwMode="auto">
            <a:xfrm>
              <a:off x="1440" y="3408"/>
              <a:ext cx="116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b="1">
                <a:latin typeface="Helvetica" pitchFamily="34" charset="0"/>
              </a:endParaRPr>
            </a:p>
          </p:txBody>
        </p:sp>
        <p:sp>
          <p:nvSpPr>
            <p:cNvPr id="24" name="Text Box 48"/>
            <p:cNvSpPr txBox="1">
              <a:spLocks noChangeArrowheads="1"/>
            </p:cNvSpPr>
            <p:nvPr/>
          </p:nvSpPr>
          <p:spPr bwMode="auto">
            <a:xfrm>
              <a:off x="2208" y="3408"/>
              <a:ext cx="116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b="1">
                <a:latin typeface="Helvetica" pitchFamily="34" charset="0"/>
              </a:endParaRPr>
            </a:p>
          </p:txBody>
        </p:sp>
        <p:sp>
          <p:nvSpPr>
            <p:cNvPr id="25" name="Text Box 49"/>
            <p:cNvSpPr txBox="1">
              <a:spLocks noChangeArrowheads="1"/>
            </p:cNvSpPr>
            <p:nvPr/>
          </p:nvSpPr>
          <p:spPr bwMode="auto">
            <a:xfrm>
              <a:off x="3840" y="3408"/>
              <a:ext cx="116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endParaRPr lang="en-US" b="1">
                <a:latin typeface="Helvetica" pitchFamily="34" charset="0"/>
              </a:endParaRP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609600" y="3684315"/>
            <a:ext cx="8229600" cy="457200"/>
            <a:chOff x="457200" y="3429000"/>
            <a:chExt cx="8229600" cy="457200"/>
          </a:xfrm>
        </p:grpSpPr>
        <p:sp>
          <p:nvSpPr>
            <p:cNvPr id="33" name="Rectangle 32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opcode</a:t>
              </a:r>
              <a:endParaRPr lang="en-SG" sz="2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rs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C00000"/>
                  </a:solidFill>
                  <a:latin typeface="Courier New" pitchFamily="49" charset="0"/>
                  <a:cs typeface="Courier New" pitchFamily="49" charset="0"/>
                </a:rPr>
                <a:t>rt</a:t>
              </a:r>
              <a:endParaRPr lang="en-SG" sz="28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572000" y="3429000"/>
              <a:ext cx="41148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  <a:endParaRPr lang="en-SG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50138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2" grpId="0" build="p"/>
      <p:bldP spid="1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I-format (3/4)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17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234159"/>
            <a:ext cx="8305800" cy="4953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opcode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Since there is no </a:t>
            </a:r>
            <a:r>
              <a:rPr lang="en-US" sz="2400" b="1" dirty="0" err="1">
                <a:latin typeface="Courier New" pitchFamily="49" charset="0"/>
              </a:rPr>
              <a:t>funct</a:t>
            </a:r>
            <a:r>
              <a:rPr lang="en-US" sz="2400" dirty="0"/>
              <a:t> field, </a:t>
            </a:r>
            <a:r>
              <a:rPr lang="en-US" sz="2400" b="1" dirty="0">
                <a:latin typeface="Courier New" pitchFamily="49" charset="0"/>
              </a:rPr>
              <a:t>opcode</a:t>
            </a:r>
            <a:r>
              <a:rPr lang="en-US" sz="2400" dirty="0"/>
              <a:t> uniquely specifies an instruction</a:t>
            </a:r>
          </a:p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rgbClr val="006600"/>
                </a:solidFill>
                <a:latin typeface="Courier New" pitchFamily="49" charset="0"/>
              </a:rPr>
              <a:t>rs</a:t>
            </a:r>
            <a:endParaRPr lang="en-US" sz="2800" b="1" dirty="0">
              <a:solidFill>
                <a:srgbClr val="006600"/>
              </a:solidFill>
              <a:latin typeface="Courier New" pitchFamily="49" charset="0"/>
            </a:endParaRP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specifies the source register operand (if any)</a:t>
            </a:r>
          </a:p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rgbClr val="C00000"/>
                </a:solidFill>
                <a:latin typeface="Courier New" pitchFamily="49" charset="0"/>
              </a:rPr>
              <a:t>rt</a:t>
            </a:r>
            <a:endParaRPr lang="en-US" sz="2800" b="1" dirty="0">
              <a:solidFill>
                <a:srgbClr val="C00000"/>
              </a:solidFill>
              <a:latin typeface="Courier New" pitchFamily="49" charset="0"/>
            </a:endParaRP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specifies register to receive result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C00000"/>
                </a:solidFill>
              </a:rPr>
              <a:t>note the difference from R-format instructions</a:t>
            </a:r>
          </a:p>
          <a:p>
            <a:pPr lvl="1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endParaRPr lang="en-US" sz="2400" b="1" dirty="0">
              <a:solidFill>
                <a:srgbClr val="C00000"/>
              </a:solidFill>
            </a:endParaRPr>
          </a:p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Continue on next slide……</a:t>
            </a:r>
          </a:p>
        </p:txBody>
      </p:sp>
    </p:spTree>
    <p:extLst>
      <p:ext uri="{BB962C8B-B14F-4D97-AF65-F5344CB8AC3E}">
        <p14:creationId xmlns:p14="http://schemas.microsoft.com/office/powerpoint/2010/main" val="11040316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 I-format (4/4)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0689B3D1-208D-496C-8995-36CD229E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18</a:t>
            </a:fld>
            <a:endParaRPr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474514"/>
            <a:ext cx="8305800" cy="4469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rPr>
              <a:t>immediate</a:t>
            </a:r>
            <a:r>
              <a:rPr lang="en-US" sz="2800" dirty="0"/>
              <a:t>: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Treated as a </a:t>
            </a:r>
            <a:r>
              <a:rPr lang="en-US" sz="2400" b="1" i="1" dirty="0"/>
              <a:t>signed integer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16 bits </a:t>
            </a:r>
            <a:r>
              <a:rPr lang="en-US" sz="2400" dirty="0">
                <a:sym typeface="Wingdings" pitchFamily="2" charset="2"/>
              </a:rPr>
              <a:t> can be used to represent a constant up to 2</a:t>
            </a:r>
            <a:r>
              <a:rPr lang="en-US" sz="2400" baseline="50000" dirty="0">
                <a:sym typeface="Wingdings" pitchFamily="2" charset="2"/>
              </a:rPr>
              <a:t>16</a:t>
            </a:r>
            <a:r>
              <a:rPr lang="en-US" sz="2400" dirty="0">
                <a:sym typeface="Wingdings" pitchFamily="2" charset="2"/>
              </a:rPr>
              <a:t> different values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Large enough to handle:</a:t>
            </a:r>
          </a:p>
          <a:p>
            <a:pPr marL="990600" lvl="2" indent="-365125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The offset in a typical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lw</a:t>
            </a:r>
            <a:r>
              <a:rPr lang="en-US" sz="2000" dirty="0">
                <a:sym typeface="Wingdings" pitchFamily="2" charset="2"/>
              </a:rPr>
              <a:t> or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sw</a:t>
            </a:r>
            <a:endParaRPr lang="en-US" sz="2000" dirty="0">
              <a:sym typeface="Wingdings" pitchFamily="2" charset="2"/>
            </a:endParaRPr>
          </a:p>
          <a:p>
            <a:pPr marL="990600" lvl="2" indent="-365125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>
                <a:sym typeface="Wingdings" pitchFamily="2" charset="2"/>
              </a:rPr>
              <a:t>Most of the </a:t>
            </a:r>
            <a:r>
              <a:rPr lang="en-US" sz="2000" dirty="0"/>
              <a:t>values used in the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addi,subi</a:t>
            </a:r>
            <a:r>
              <a:rPr lang="en-US" sz="2000" b="1" dirty="0">
                <a:latin typeface="Courier New" pitchFamily="49" charset="0"/>
              </a:rPr>
              <a:t>,</a:t>
            </a:r>
            <a:r>
              <a:rPr lang="en-US" sz="2000" dirty="0"/>
              <a:t> </a:t>
            </a:r>
            <a:r>
              <a:rPr lang="en-US" sz="2000" b="1" dirty="0" err="1">
                <a:solidFill>
                  <a:srgbClr val="660066"/>
                </a:solidFill>
                <a:latin typeface="Courier New" pitchFamily="49" charset="0"/>
                <a:sym typeface="Wingdings" pitchFamily="2" charset="2"/>
              </a:rPr>
              <a:t>slti</a:t>
            </a:r>
            <a:r>
              <a:rPr lang="en-US" sz="2000" dirty="0"/>
              <a:t> instructions</a:t>
            </a:r>
          </a:p>
        </p:txBody>
      </p:sp>
    </p:spTree>
    <p:extLst>
      <p:ext uri="{BB962C8B-B14F-4D97-AF65-F5344CB8AC3E}">
        <p14:creationId xmlns:p14="http://schemas.microsoft.com/office/powerpoint/2010/main" val="11285696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6.1 I-format: Example (1/2)</a:t>
            </a:r>
            <a:endParaRPr lang="en-US" sz="3600" dirty="0">
              <a:solidFill>
                <a:srgbClr val="C0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356360" y="1358536"/>
            <a:ext cx="5029200" cy="1295400"/>
            <a:chOff x="838200" y="1752600"/>
            <a:chExt cx="5029200" cy="1295400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838200" y="2133601"/>
              <a:ext cx="5029200" cy="9143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</a:rPr>
                <a:t>addi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$21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$22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</a:rPr>
                <a:t>-50</a:t>
              </a:r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9" name="Snip Single Corner Rectangle 8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0560" y="3034936"/>
          <a:ext cx="7848600" cy="234043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1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I-Format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opcode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(textbook pg 94 - 101)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rs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22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(the only source register)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rt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21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(target</a:t>
                      </a:r>
                      <a:r>
                        <a:rPr lang="en-US" sz="2400" baseline="0" dirty="0"/>
                        <a:t> register</a:t>
                      </a:r>
                      <a:r>
                        <a:rPr lang="en-US" sz="2400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086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itchFamily="49" charset="0"/>
                          <a:cs typeface="Courier New" pitchFamily="49" charset="0"/>
                        </a:rPr>
                        <a:t>immediate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-50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(in base 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Slide Number Placeholder 6">
            <a:extLst>
              <a:ext uri="{FF2B5EF4-FFF2-40B4-BE49-F238E27FC236}">
                <a16:creationId xmlns:a16="http://schemas.microsoft.com/office/drawing/2014/main" id="{0AFBA50D-3218-449F-8B2E-FA3DA5A77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19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00415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6.1 I-format: Example (2/2)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Text Box 43"/>
          <p:cNvSpPr txBox="1">
            <a:spLocks noChangeArrowheads="1"/>
          </p:cNvSpPr>
          <p:nvPr/>
        </p:nvSpPr>
        <p:spPr bwMode="auto">
          <a:xfrm>
            <a:off x="457199" y="5167711"/>
            <a:ext cx="7162800" cy="105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Hexadecimal representation of instruction:</a:t>
            </a:r>
          </a:p>
          <a:p>
            <a:pPr>
              <a:spcBef>
                <a:spcPct val="20000"/>
              </a:spcBef>
            </a:pPr>
            <a:r>
              <a:rPr lang="en-US" sz="2400" b="1" dirty="0"/>
              <a:t> 		</a:t>
            </a:r>
            <a:r>
              <a:rPr lang="en-US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2 2 D 5 F </a:t>
            </a:r>
            <a:r>
              <a:rPr lang="en-US" sz="3200" b="1" dirty="0" err="1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F</a:t>
            </a:r>
            <a:r>
              <a:rPr lang="en-US" sz="32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C E</a:t>
            </a:r>
            <a:r>
              <a:rPr lang="en-US" sz="3200" b="1" baseline="-25000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16</a:t>
            </a:r>
          </a:p>
        </p:txBody>
      </p:sp>
      <p:grpSp>
        <p:nvGrpSpPr>
          <p:cNvPr id="8" name="Group 69"/>
          <p:cNvGrpSpPr>
            <a:grpSpLocks/>
          </p:cNvGrpSpPr>
          <p:nvPr/>
        </p:nvGrpSpPr>
        <p:grpSpPr bwMode="auto">
          <a:xfrm>
            <a:off x="457199" y="2632474"/>
            <a:ext cx="8229600" cy="1509713"/>
            <a:chOff x="240" y="1392"/>
            <a:chExt cx="5184" cy="951"/>
          </a:xfrm>
        </p:grpSpPr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240" y="1392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Field representation in decimal:</a:t>
              </a:r>
            </a:p>
          </p:txBody>
        </p:sp>
        <p:grpSp>
          <p:nvGrpSpPr>
            <p:cNvPr id="10" name="Group 53"/>
            <p:cNvGrpSpPr>
              <a:grpSpLocks/>
            </p:cNvGrpSpPr>
            <p:nvPr/>
          </p:nvGrpSpPr>
          <p:grpSpPr bwMode="auto">
            <a:xfrm>
              <a:off x="288" y="1728"/>
              <a:ext cx="5136" cy="615"/>
              <a:chOff x="432" y="3120"/>
              <a:chExt cx="5136" cy="615"/>
            </a:xfrm>
          </p:grpSpPr>
          <p:grpSp>
            <p:nvGrpSpPr>
              <p:cNvPr id="12" name="Group 54"/>
              <p:cNvGrpSpPr>
                <a:grpSpLocks/>
              </p:cNvGrpSpPr>
              <p:nvPr/>
            </p:nvGrpSpPr>
            <p:grpSpPr bwMode="auto">
              <a:xfrm>
                <a:off x="835" y="3120"/>
                <a:ext cx="4311" cy="327"/>
                <a:chOff x="623" y="2496"/>
                <a:chExt cx="4311" cy="327"/>
              </a:xfrm>
            </p:grpSpPr>
            <p:sp>
              <p:nvSpPr>
                <p:cNvPr id="23" name="Text Box 55"/>
                <p:cNvSpPr txBox="1">
                  <a:spLocks noChangeArrowheads="1"/>
                </p:cNvSpPr>
                <p:nvPr/>
              </p:nvSpPr>
              <p:spPr bwMode="auto">
                <a:xfrm>
                  <a:off x="623" y="2496"/>
                  <a:ext cx="250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660066"/>
                      </a:solidFill>
                      <a:latin typeface="Courier New" pitchFamily="49" charset="0"/>
                    </a:rPr>
                    <a:t>8</a:t>
                  </a:r>
                  <a:endParaRPr lang="en-US" sz="2800" dirty="0">
                    <a:solidFill>
                      <a:srgbClr val="660066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24" name="Text Box 56"/>
                <p:cNvSpPr txBox="1">
                  <a:spLocks noChangeArrowheads="1"/>
                </p:cNvSpPr>
                <p:nvPr/>
              </p:nvSpPr>
              <p:spPr bwMode="auto">
                <a:xfrm>
                  <a:off x="1421" y="2496"/>
                  <a:ext cx="385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6600"/>
                      </a:solidFill>
                      <a:latin typeface="Courier New" pitchFamily="49" charset="0"/>
                    </a:rPr>
                    <a:t>22</a:t>
                  </a:r>
                  <a:endParaRPr lang="en-US" sz="2800" dirty="0">
                    <a:solidFill>
                      <a:srgbClr val="0066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25" name="Text Box 57"/>
                <p:cNvSpPr txBox="1">
                  <a:spLocks noChangeArrowheads="1"/>
                </p:cNvSpPr>
                <p:nvPr/>
              </p:nvSpPr>
              <p:spPr bwMode="auto">
                <a:xfrm>
                  <a:off x="2220" y="2496"/>
                  <a:ext cx="385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21</a:t>
                  </a:r>
                  <a:endParaRPr lang="en-US" sz="2800" dirty="0">
                    <a:solidFill>
                      <a:srgbClr val="C000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26" name="Text Box 58"/>
                <p:cNvSpPr txBox="1">
                  <a:spLocks noChangeArrowheads="1"/>
                </p:cNvSpPr>
                <p:nvPr/>
              </p:nvSpPr>
              <p:spPr bwMode="auto">
                <a:xfrm>
                  <a:off x="3153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27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4818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28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3750" y="2496"/>
                  <a:ext cx="519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2060"/>
                      </a:solidFill>
                      <a:latin typeface="Courier New" pitchFamily="49" charset="0"/>
                    </a:rPr>
                    <a:t>-50</a:t>
                  </a:r>
                  <a:endParaRPr lang="en-US" sz="2800" dirty="0">
                    <a:solidFill>
                      <a:srgbClr val="002060"/>
                    </a:solidFill>
                    <a:latin typeface="Helvetica" pitchFamily="34" charset="0"/>
                  </a:endParaRPr>
                </a:p>
              </p:txBody>
            </p:sp>
          </p:grpSp>
          <p:sp>
            <p:nvSpPr>
              <p:cNvPr id="13" name="Rectangle 61"/>
              <p:cNvSpPr>
                <a:spLocks noChangeArrowheads="1"/>
              </p:cNvSpPr>
              <p:nvPr/>
            </p:nvSpPr>
            <p:spPr bwMode="auto">
              <a:xfrm>
                <a:off x="432" y="3120"/>
                <a:ext cx="513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Line 62"/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Line 63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Line 64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Text Box 65"/>
              <p:cNvSpPr txBox="1">
                <a:spLocks noChangeArrowheads="1"/>
              </p:cNvSpPr>
              <p:nvPr/>
            </p:nvSpPr>
            <p:spPr bwMode="auto">
              <a:xfrm>
                <a:off x="52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19" name="Text Box 66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20" name="Text Box 67"/>
              <p:cNvSpPr txBox="1">
                <a:spLocks noChangeArrowheads="1"/>
              </p:cNvSpPr>
              <p:nvPr/>
            </p:nvSpPr>
            <p:spPr bwMode="auto">
              <a:xfrm>
                <a:off x="220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22" name="Text Box 68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</p:grpSp>
      </p:grpSp>
      <p:grpSp>
        <p:nvGrpSpPr>
          <p:cNvPr id="29" name="Group 86"/>
          <p:cNvGrpSpPr>
            <a:grpSpLocks/>
          </p:cNvGrpSpPr>
          <p:nvPr/>
        </p:nvGrpSpPr>
        <p:grpSpPr bwMode="auto">
          <a:xfrm>
            <a:off x="380999" y="3851674"/>
            <a:ext cx="8305800" cy="1509713"/>
            <a:chOff x="240" y="2304"/>
            <a:chExt cx="5232" cy="951"/>
          </a:xfrm>
        </p:grpSpPr>
        <p:sp>
          <p:nvSpPr>
            <p:cNvPr id="30" name="Text Box 28"/>
            <p:cNvSpPr txBox="1">
              <a:spLocks noChangeArrowheads="1"/>
            </p:cNvSpPr>
            <p:nvPr/>
          </p:nvSpPr>
          <p:spPr bwMode="auto">
            <a:xfrm>
              <a:off x="240" y="2304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Field representation in binary:</a:t>
              </a:r>
            </a:p>
          </p:txBody>
        </p:sp>
        <p:grpSp>
          <p:nvGrpSpPr>
            <p:cNvPr id="31" name="Group 70"/>
            <p:cNvGrpSpPr>
              <a:grpSpLocks/>
            </p:cNvGrpSpPr>
            <p:nvPr/>
          </p:nvGrpSpPr>
          <p:grpSpPr bwMode="auto">
            <a:xfrm>
              <a:off x="336" y="2640"/>
              <a:ext cx="5136" cy="615"/>
              <a:chOff x="432" y="3120"/>
              <a:chExt cx="5136" cy="615"/>
            </a:xfrm>
          </p:grpSpPr>
          <p:grpSp>
            <p:nvGrpSpPr>
              <p:cNvPr id="32" name="Group 71"/>
              <p:cNvGrpSpPr>
                <a:grpSpLocks/>
              </p:cNvGrpSpPr>
              <p:nvPr/>
            </p:nvGrpSpPr>
            <p:grpSpPr bwMode="auto">
              <a:xfrm>
                <a:off x="500" y="3120"/>
                <a:ext cx="4852" cy="327"/>
                <a:chOff x="288" y="2496"/>
                <a:chExt cx="4852" cy="327"/>
              </a:xfrm>
            </p:grpSpPr>
            <p:sp>
              <p:nvSpPr>
                <p:cNvPr id="41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288" y="2496"/>
                  <a:ext cx="920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660066"/>
                      </a:solidFill>
                      <a:latin typeface="Courier New" pitchFamily="49" charset="0"/>
                    </a:rPr>
                    <a:t>001000</a:t>
                  </a:r>
                  <a:endParaRPr lang="en-US" sz="2800" dirty="0">
                    <a:solidFill>
                      <a:srgbClr val="660066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42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1219" y="2496"/>
                  <a:ext cx="788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6600"/>
                      </a:solidFill>
                      <a:latin typeface="Courier New" pitchFamily="49" charset="0"/>
                    </a:rPr>
                    <a:t>10110</a:t>
                  </a:r>
                  <a:endParaRPr lang="en-US" sz="2800" dirty="0">
                    <a:solidFill>
                      <a:srgbClr val="0066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43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2018" y="2496"/>
                  <a:ext cx="788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C00000"/>
                      </a:solidFill>
                      <a:latin typeface="Courier New" pitchFamily="49" charset="0"/>
                    </a:rPr>
                    <a:t>10101</a:t>
                  </a:r>
                  <a:endParaRPr lang="en-US" sz="2800" dirty="0">
                    <a:solidFill>
                      <a:srgbClr val="C000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44" name="Text Box 75"/>
                <p:cNvSpPr txBox="1">
                  <a:spLocks noChangeArrowheads="1"/>
                </p:cNvSpPr>
                <p:nvPr/>
              </p:nvSpPr>
              <p:spPr bwMode="auto">
                <a:xfrm>
                  <a:off x="3153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45" name="Text Box 76"/>
                <p:cNvSpPr txBox="1">
                  <a:spLocks noChangeArrowheads="1"/>
                </p:cNvSpPr>
                <p:nvPr/>
              </p:nvSpPr>
              <p:spPr bwMode="auto">
                <a:xfrm>
                  <a:off x="4818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46" name="Text Box 77"/>
                <p:cNvSpPr txBox="1">
                  <a:spLocks noChangeArrowheads="1"/>
                </p:cNvSpPr>
                <p:nvPr/>
              </p:nvSpPr>
              <p:spPr bwMode="auto">
                <a:xfrm>
                  <a:off x="2880" y="2496"/>
                  <a:ext cx="2260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2060"/>
                      </a:solidFill>
                      <a:latin typeface="Courier New" pitchFamily="49" charset="0"/>
                    </a:rPr>
                    <a:t>1111111111001110</a:t>
                  </a:r>
                  <a:endParaRPr lang="en-US" sz="2800" dirty="0">
                    <a:solidFill>
                      <a:srgbClr val="002060"/>
                    </a:solidFill>
                    <a:latin typeface="Helvetica" pitchFamily="34" charset="0"/>
                  </a:endParaRPr>
                </a:p>
              </p:txBody>
            </p:sp>
          </p:grpSp>
          <p:sp>
            <p:nvSpPr>
              <p:cNvPr id="33" name="Rectangle 78"/>
              <p:cNvSpPr>
                <a:spLocks noChangeArrowheads="1"/>
              </p:cNvSpPr>
              <p:nvPr/>
            </p:nvSpPr>
            <p:spPr bwMode="auto">
              <a:xfrm>
                <a:off x="432" y="3120"/>
                <a:ext cx="513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Line 79"/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Line 80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Line 81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Text Box 82"/>
              <p:cNvSpPr txBox="1">
                <a:spLocks noChangeArrowheads="1"/>
              </p:cNvSpPr>
              <p:nvPr/>
            </p:nvSpPr>
            <p:spPr bwMode="auto">
              <a:xfrm>
                <a:off x="52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38" name="Text Box 83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39" name="Text Box 84"/>
              <p:cNvSpPr txBox="1">
                <a:spLocks noChangeArrowheads="1"/>
              </p:cNvSpPr>
              <p:nvPr/>
            </p:nvSpPr>
            <p:spPr bwMode="auto">
              <a:xfrm>
                <a:off x="220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40" name="Text Box 85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</p:grpSp>
      </p:grpSp>
      <p:grpSp>
        <p:nvGrpSpPr>
          <p:cNvPr id="47" name="Group 46"/>
          <p:cNvGrpSpPr/>
          <p:nvPr/>
        </p:nvGrpSpPr>
        <p:grpSpPr>
          <a:xfrm>
            <a:off x="609599" y="1413274"/>
            <a:ext cx="5029200" cy="1066800"/>
            <a:chOff x="838200" y="1752600"/>
            <a:chExt cx="5029200" cy="1066800"/>
          </a:xfrm>
        </p:grpSpPr>
        <p:sp>
          <p:nvSpPr>
            <p:cNvPr id="48" name="Rectangle 5"/>
            <p:cNvSpPr>
              <a:spLocks noChangeArrowheads="1"/>
            </p:cNvSpPr>
            <p:nvPr/>
          </p:nvSpPr>
          <p:spPr bwMode="auto">
            <a:xfrm>
              <a:off x="838200" y="2133601"/>
              <a:ext cx="5029200" cy="6857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</a:rPr>
                <a:t>addi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$21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$22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</a:rPr>
                <a:t>-50</a:t>
              </a:r>
              <a:endParaRPr lang="en-US" sz="2800" dirty="0">
                <a:solidFill>
                  <a:srgbClr val="002060"/>
                </a:solidFill>
              </a:endParaRPr>
            </a:p>
          </p:txBody>
        </p:sp>
        <p:sp>
          <p:nvSpPr>
            <p:cNvPr id="49" name="Snip Single Corner Rectangle 48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  <p:sp>
        <p:nvSpPr>
          <p:cNvPr id="50" name="Slide Number Placeholder 6">
            <a:extLst>
              <a:ext uri="{FF2B5EF4-FFF2-40B4-BE49-F238E27FC236}">
                <a16:creationId xmlns:a16="http://schemas.microsoft.com/office/drawing/2014/main" id="{CAE3CE2D-564A-49EA-BF1B-76FACA115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3716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6.2 Try It Yourself #2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4" name="Text Box 43"/>
          <p:cNvSpPr txBox="1">
            <a:spLocks noChangeArrowheads="1"/>
          </p:cNvSpPr>
          <p:nvPr/>
        </p:nvSpPr>
        <p:spPr bwMode="auto">
          <a:xfrm>
            <a:off x="533400" y="5178850"/>
            <a:ext cx="7162800" cy="904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/>
              <a:t>Hexadecimal representation of instruction:</a:t>
            </a:r>
          </a:p>
          <a:p>
            <a:pPr>
              <a:spcBef>
                <a:spcPct val="20000"/>
              </a:spcBef>
            </a:pPr>
            <a:r>
              <a:rPr lang="en-US" sz="2400" b="1" dirty="0"/>
              <a:t> 		</a:t>
            </a:r>
            <a:endParaRPr lang="en-US" b="1" baseline="-25000" dirty="0">
              <a:solidFill>
                <a:srgbClr val="0000CC"/>
              </a:solidFill>
            </a:endParaRPr>
          </a:p>
        </p:txBody>
      </p:sp>
      <p:sp>
        <p:nvSpPr>
          <p:cNvPr id="15" name="Text Box 44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grpSp>
        <p:nvGrpSpPr>
          <p:cNvPr id="16" name="Group 83"/>
          <p:cNvGrpSpPr>
            <a:grpSpLocks/>
          </p:cNvGrpSpPr>
          <p:nvPr/>
        </p:nvGrpSpPr>
        <p:grpSpPr bwMode="auto">
          <a:xfrm>
            <a:off x="533400" y="2588050"/>
            <a:ext cx="8229600" cy="1738313"/>
            <a:chOff x="240" y="1440"/>
            <a:chExt cx="5184" cy="1095"/>
          </a:xfrm>
        </p:grpSpPr>
        <p:sp>
          <p:nvSpPr>
            <p:cNvPr id="17" name="Text Box 46"/>
            <p:cNvSpPr txBox="1">
              <a:spLocks noChangeArrowheads="1"/>
            </p:cNvSpPr>
            <p:nvPr/>
          </p:nvSpPr>
          <p:spPr bwMode="auto">
            <a:xfrm>
              <a:off x="240" y="1440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Field representation in decimal:</a:t>
              </a:r>
            </a:p>
          </p:txBody>
        </p:sp>
        <p:grpSp>
          <p:nvGrpSpPr>
            <p:cNvPr id="24" name="Group 63"/>
            <p:cNvGrpSpPr>
              <a:grpSpLocks/>
            </p:cNvGrpSpPr>
            <p:nvPr/>
          </p:nvGrpSpPr>
          <p:grpSpPr bwMode="auto">
            <a:xfrm>
              <a:off x="288" y="1680"/>
              <a:ext cx="5136" cy="855"/>
              <a:chOff x="192" y="1680"/>
              <a:chExt cx="5136" cy="855"/>
            </a:xfrm>
          </p:grpSpPr>
          <p:sp>
            <p:nvSpPr>
              <p:cNvPr id="25" name="Text Box 21"/>
              <p:cNvSpPr txBox="1">
                <a:spLocks noChangeArrowheads="1"/>
              </p:cNvSpPr>
              <p:nvPr/>
            </p:nvSpPr>
            <p:spPr bwMode="auto">
              <a:xfrm>
                <a:off x="334" y="1680"/>
                <a:ext cx="692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opcode</a:t>
                </a:r>
              </a:p>
            </p:txBody>
          </p:sp>
          <p:sp>
            <p:nvSpPr>
              <p:cNvPr id="26" name="Text Box 22"/>
              <p:cNvSpPr txBox="1">
                <a:spLocks noChangeArrowheads="1"/>
              </p:cNvSpPr>
              <p:nvPr/>
            </p:nvSpPr>
            <p:spPr bwMode="auto">
              <a:xfrm>
                <a:off x="1372" y="1680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rs</a:t>
                </a:r>
              </a:p>
            </p:txBody>
          </p:sp>
          <p:sp>
            <p:nvSpPr>
              <p:cNvPr id="27" name="Text Box 23"/>
              <p:cNvSpPr txBox="1">
                <a:spLocks noChangeArrowheads="1"/>
              </p:cNvSpPr>
              <p:nvPr/>
            </p:nvSpPr>
            <p:spPr bwMode="auto">
              <a:xfrm>
                <a:off x="2226" y="1680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 err="1">
                    <a:latin typeface="Courier New" pitchFamily="49" charset="0"/>
                  </a:rPr>
                  <a:t>rt</a:t>
                </a:r>
                <a:endParaRPr lang="en-US" sz="2000" b="1" dirty="0">
                  <a:latin typeface="Courier New" pitchFamily="49" charset="0"/>
                </a:endParaRPr>
              </a:p>
            </p:txBody>
          </p:sp>
          <p:sp>
            <p:nvSpPr>
              <p:cNvPr id="28" name="Text Box 25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1200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immediate</a:t>
                </a:r>
              </a:p>
            </p:txBody>
          </p:sp>
          <p:grpSp>
            <p:nvGrpSpPr>
              <p:cNvPr id="29" name="Group 47"/>
              <p:cNvGrpSpPr>
                <a:grpSpLocks/>
              </p:cNvGrpSpPr>
              <p:nvPr/>
            </p:nvGrpSpPr>
            <p:grpSpPr bwMode="auto">
              <a:xfrm>
                <a:off x="192" y="1920"/>
                <a:ext cx="5136" cy="615"/>
                <a:chOff x="432" y="3120"/>
                <a:chExt cx="5136" cy="615"/>
              </a:xfrm>
            </p:grpSpPr>
            <p:grpSp>
              <p:nvGrpSpPr>
                <p:cNvPr id="30" name="Group 48"/>
                <p:cNvGrpSpPr>
                  <a:grpSpLocks/>
                </p:cNvGrpSpPr>
                <p:nvPr/>
              </p:nvGrpSpPr>
              <p:grpSpPr bwMode="auto">
                <a:xfrm>
                  <a:off x="3365" y="3170"/>
                  <a:ext cx="1781" cy="250"/>
                  <a:chOff x="3153" y="2546"/>
                  <a:chExt cx="1781" cy="250"/>
                </a:xfrm>
              </p:grpSpPr>
              <p:sp>
                <p:nvSpPr>
                  <p:cNvPr id="39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3" y="2546"/>
                    <a:ext cx="11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endParaRPr lang="en-US" sz="2000">
                      <a:solidFill>
                        <a:schemeClr val="accent1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40" name="Text Box 5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8" y="2546"/>
                    <a:ext cx="11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endParaRPr lang="en-US" sz="2000">
                      <a:solidFill>
                        <a:schemeClr val="accent1"/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31" name="Rectangle 55"/>
                <p:cNvSpPr>
                  <a:spLocks noChangeArrowheads="1"/>
                </p:cNvSpPr>
                <p:nvPr/>
              </p:nvSpPr>
              <p:spPr bwMode="auto">
                <a:xfrm>
                  <a:off x="432" y="3120"/>
                  <a:ext cx="5136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2" name="Line 56"/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3" name="Line 57"/>
                <p:cNvSpPr>
                  <a:spLocks noChangeShapeType="1"/>
                </p:cNvSpPr>
                <p:nvPr/>
              </p:nvSpPr>
              <p:spPr bwMode="auto">
                <a:xfrm>
                  <a:off x="2208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4" name="Line 58"/>
                <p:cNvSpPr>
                  <a:spLocks noChangeShapeType="1"/>
                </p:cNvSpPr>
                <p:nvPr/>
              </p:nvSpPr>
              <p:spPr bwMode="auto">
                <a:xfrm>
                  <a:off x="2976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35" name="Text Box 59"/>
                <p:cNvSpPr txBox="1">
                  <a:spLocks noChangeArrowheads="1"/>
                </p:cNvSpPr>
                <p:nvPr/>
              </p:nvSpPr>
              <p:spPr bwMode="auto">
                <a:xfrm>
                  <a:off x="528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36" name="Text Box 60"/>
                <p:cNvSpPr txBox="1">
                  <a:spLocks noChangeArrowheads="1"/>
                </p:cNvSpPr>
                <p:nvPr/>
              </p:nvSpPr>
              <p:spPr bwMode="auto">
                <a:xfrm>
                  <a:off x="1440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37" name="Text Box 61"/>
                <p:cNvSpPr txBox="1">
                  <a:spLocks noChangeArrowheads="1"/>
                </p:cNvSpPr>
                <p:nvPr/>
              </p:nvSpPr>
              <p:spPr bwMode="auto">
                <a:xfrm>
                  <a:off x="2208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38" name="Text Box 62"/>
                <p:cNvSpPr txBox="1">
                  <a:spLocks noChangeArrowheads="1"/>
                </p:cNvSpPr>
                <p:nvPr/>
              </p:nvSpPr>
              <p:spPr bwMode="auto">
                <a:xfrm>
                  <a:off x="3840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</p:grpSp>
        </p:grpSp>
      </p:grpSp>
      <p:grpSp>
        <p:nvGrpSpPr>
          <p:cNvPr id="41" name="Group 65"/>
          <p:cNvGrpSpPr>
            <a:grpSpLocks/>
          </p:cNvGrpSpPr>
          <p:nvPr/>
        </p:nvGrpSpPr>
        <p:grpSpPr bwMode="auto">
          <a:xfrm>
            <a:off x="457200" y="4035850"/>
            <a:ext cx="8305800" cy="1509713"/>
            <a:chOff x="240" y="2304"/>
            <a:chExt cx="5232" cy="951"/>
          </a:xfrm>
        </p:grpSpPr>
        <p:sp>
          <p:nvSpPr>
            <p:cNvPr id="42" name="Text Box 66"/>
            <p:cNvSpPr txBox="1">
              <a:spLocks noChangeArrowheads="1"/>
            </p:cNvSpPr>
            <p:nvPr/>
          </p:nvSpPr>
          <p:spPr bwMode="auto">
            <a:xfrm>
              <a:off x="240" y="2304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Field representation in binary:</a:t>
              </a:r>
            </a:p>
          </p:txBody>
        </p:sp>
        <p:grpSp>
          <p:nvGrpSpPr>
            <p:cNvPr id="43" name="Group 67"/>
            <p:cNvGrpSpPr>
              <a:grpSpLocks/>
            </p:cNvGrpSpPr>
            <p:nvPr/>
          </p:nvGrpSpPr>
          <p:grpSpPr bwMode="auto">
            <a:xfrm>
              <a:off x="336" y="2640"/>
              <a:ext cx="5136" cy="615"/>
              <a:chOff x="432" y="3120"/>
              <a:chExt cx="5136" cy="615"/>
            </a:xfrm>
          </p:grpSpPr>
          <p:grpSp>
            <p:nvGrpSpPr>
              <p:cNvPr id="44" name="Group 68"/>
              <p:cNvGrpSpPr>
                <a:grpSpLocks/>
              </p:cNvGrpSpPr>
              <p:nvPr/>
            </p:nvGrpSpPr>
            <p:grpSpPr bwMode="auto">
              <a:xfrm>
                <a:off x="902" y="3167"/>
                <a:ext cx="4244" cy="253"/>
                <a:chOff x="690" y="2543"/>
                <a:chExt cx="4244" cy="253"/>
              </a:xfrm>
            </p:grpSpPr>
            <p:sp>
              <p:nvSpPr>
                <p:cNvPr id="53" name="Text Box 69"/>
                <p:cNvSpPr txBox="1">
                  <a:spLocks noChangeArrowheads="1"/>
                </p:cNvSpPr>
                <p:nvPr/>
              </p:nvSpPr>
              <p:spPr bwMode="auto">
                <a:xfrm>
                  <a:off x="690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latin typeface="Helvetica" pitchFamily="34" charset="0"/>
                  </a:endParaRPr>
                </a:p>
              </p:txBody>
            </p:sp>
            <p:sp>
              <p:nvSpPr>
                <p:cNvPr id="54" name="Text Box 70"/>
                <p:cNvSpPr txBox="1">
                  <a:spLocks noChangeArrowheads="1"/>
                </p:cNvSpPr>
                <p:nvPr/>
              </p:nvSpPr>
              <p:spPr bwMode="auto">
                <a:xfrm>
                  <a:off x="1555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5" name="Text Box 71"/>
                <p:cNvSpPr txBox="1">
                  <a:spLocks noChangeArrowheads="1"/>
                </p:cNvSpPr>
                <p:nvPr/>
              </p:nvSpPr>
              <p:spPr bwMode="auto">
                <a:xfrm>
                  <a:off x="2354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6" name="Text Box 72"/>
                <p:cNvSpPr txBox="1">
                  <a:spLocks noChangeArrowheads="1"/>
                </p:cNvSpPr>
                <p:nvPr/>
              </p:nvSpPr>
              <p:spPr bwMode="auto">
                <a:xfrm>
                  <a:off x="3153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7" name="Text Box 73"/>
                <p:cNvSpPr txBox="1">
                  <a:spLocks noChangeArrowheads="1"/>
                </p:cNvSpPr>
                <p:nvPr/>
              </p:nvSpPr>
              <p:spPr bwMode="auto">
                <a:xfrm>
                  <a:off x="4818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8" name="Text Box 74"/>
                <p:cNvSpPr txBox="1">
                  <a:spLocks noChangeArrowheads="1"/>
                </p:cNvSpPr>
                <p:nvPr/>
              </p:nvSpPr>
              <p:spPr bwMode="auto">
                <a:xfrm>
                  <a:off x="3952" y="2543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</p:grpSp>
          <p:sp>
            <p:nvSpPr>
              <p:cNvPr id="45" name="Rectangle 75"/>
              <p:cNvSpPr>
                <a:spLocks noChangeArrowheads="1"/>
              </p:cNvSpPr>
              <p:nvPr/>
            </p:nvSpPr>
            <p:spPr bwMode="auto">
              <a:xfrm>
                <a:off x="432" y="3120"/>
                <a:ext cx="513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76"/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7" name="Line 77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8" name="Line 78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9" name="Text Box 79"/>
              <p:cNvSpPr txBox="1">
                <a:spLocks noChangeArrowheads="1"/>
              </p:cNvSpPr>
              <p:nvPr/>
            </p:nvSpPr>
            <p:spPr bwMode="auto">
              <a:xfrm>
                <a:off x="52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50" name="Text Box 80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51" name="Text Box 81"/>
              <p:cNvSpPr txBox="1">
                <a:spLocks noChangeArrowheads="1"/>
              </p:cNvSpPr>
              <p:nvPr/>
            </p:nvSpPr>
            <p:spPr bwMode="auto">
              <a:xfrm>
                <a:off x="220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52" name="Text Box 82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</p:grpSp>
      </p:grpSp>
      <p:grpSp>
        <p:nvGrpSpPr>
          <p:cNvPr id="59" name="Group 58"/>
          <p:cNvGrpSpPr/>
          <p:nvPr/>
        </p:nvGrpSpPr>
        <p:grpSpPr>
          <a:xfrm>
            <a:off x="609600" y="1368850"/>
            <a:ext cx="5029200" cy="1066800"/>
            <a:chOff x="838200" y="1752600"/>
            <a:chExt cx="5029200" cy="1066800"/>
          </a:xfrm>
        </p:grpSpPr>
        <p:sp>
          <p:nvSpPr>
            <p:cNvPr id="60" name="Rectangle 5"/>
            <p:cNvSpPr>
              <a:spLocks noChangeArrowheads="1"/>
            </p:cNvSpPr>
            <p:nvPr/>
          </p:nvSpPr>
          <p:spPr bwMode="auto">
            <a:xfrm>
              <a:off x="838200" y="2133601"/>
              <a:ext cx="5029200" cy="685799"/>
            </a:xfrm>
            <a:prstGeom prst="rect">
              <a:avLst/>
            </a:prstGeom>
            <a:solidFill>
              <a:srgbClr val="FFFF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r>
                <a:rPr lang="en-US" b="1" dirty="0">
                  <a:solidFill>
                    <a:srgbClr val="660066"/>
                  </a:solidFill>
                  <a:latin typeface="Courier New" pitchFamily="49" charset="0"/>
                </a:rPr>
                <a:t>  </a:t>
              </a:r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</a:rPr>
                <a:t>lw</a:t>
              </a:r>
              <a:r>
                <a:rPr lang="en-US" sz="2800" b="1" dirty="0">
                  <a:latin typeface="Courier New" pitchFamily="49" charset="0"/>
                </a:rPr>
                <a:t>  </a:t>
              </a:r>
              <a:r>
                <a:rPr lang="en-US" sz="2800" b="1" dirty="0">
                  <a:solidFill>
                    <a:srgbClr val="C00000"/>
                  </a:solidFill>
                  <a:latin typeface="Courier New" pitchFamily="49" charset="0"/>
                </a:rPr>
                <a:t>$9</a:t>
              </a:r>
              <a:r>
                <a:rPr lang="en-US" sz="2800" b="1" dirty="0">
                  <a:latin typeface="Courier New" pitchFamily="49" charset="0"/>
                </a:rPr>
                <a:t>, </a:t>
              </a:r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</a:rPr>
                <a:t>12</a:t>
              </a:r>
              <a:r>
                <a:rPr lang="en-US" sz="2800" b="1" dirty="0">
                  <a:latin typeface="Courier New" pitchFamily="49" charset="0"/>
                </a:rPr>
                <a:t>(</a:t>
              </a:r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$8</a:t>
              </a:r>
              <a:r>
                <a:rPr lang="en-US" sz="2800" b="1" dirty="0">
                  <a:latin typeface="Courier New" pitchFamily="49" charset="0"/>
                </a:rPr>
                <a:t>)</a:t>
              </a:r>
              <a:endParaRPr lang="en-US" sz="2800" dirty="0"/>
            </a:p>
          </p:txBody>
        </p:sp>
        <p:sp>
          <p:nvSpPr>
            <p:cNvPr id="61" name="Snip Single Corner Rectangle 60"/>
            <p:cNvSpPr/>
            <p:nvPr/>
          </p:nvSpPr>
          <p:spPr bwMode="auto">
            <a:xfrm>
              <a:off x="838200" y="1752600"/>
              <a:ext cx="2133600" cy="381423"/>
            </a:xfrm>
            <a:prstGeom prst="snip1Rect">
              <a:avLst>
                <a:gd name="adj" fmla="val 3743"/>
              </a:avLst>
            </a:prstGeom>
            <a:solidFill>
              <a:srgbClr val="9F2936">
                <a:lumMod val="20000"/>
                <a:lumOff val="80000"/>
              </a:srgbClr>
            </a:solidFill>
            <a:ln w="127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800" b="1" kern="0" dirty="0">
                  <a:solidFill>
                    <a:prstClr val="black"/>
                  </a:solidFill>
                  <a:latin typeface="Arial"/>
                  <a:cs typeface="Arial"/>
                </a:rPr>
                <a:t>MIPS instruction</a:t>
              </a:r>
            </a:p>
          </p:txBody>
        </p:sp>
      </p:grpSp>
      <p:sp>
        <p:nvSpPr>
          <p:cNvPr id="62" name="TextBox 61"/>
          <p:cNvSpPr txBox="1"/>
          <p:nvPr/>
        </p:nvSpPr>
        <p:spPr>
          <a:xfrm>
            <a:off x="964406" y="3317040"/>
            <a:ext cx="7119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461419" y="3317040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86175" y="3317040"/>
            <a:ext cx="53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410928" y="3317040"/>
            <a:ext cx="6679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</p:txBody>
      </p:sp>
      <p:grpSp>
        <p:nvGrpSpPr>
          <p:cNvPr id="66" name="Group 65"/>
          <p:cNvGrpSpPr/>
          <p:nvPr/>
        </p:nvGrpSpPr>
        <p:grpSpPr>
          <a:xfrm>
            <a:off x="603161" y="4536240"/>
            <a:ext cx="8216721" cy="523220"/>
            <a:chOff x="270456" y="4203397"/>
            <a:chExt cx="8216721" cy="523220"/>
          </a:xfrm>
        </p:grpSpPr>
        <p:sp>
          <p:nvSpPr>
            <p:cNvPr id="67" name="TextBox 66"/>
            <p:cNvSpPr txBox="1"/>
            <p:nvPr/>
          </p:nvSpPr>
          <p:spPr>
            <a:xfrm>
              <a:off x="270456" y="4203397"/>
              <a:ext cx="157898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7030A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100011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820198" y="4203397"/>
              <a:ext cx="1311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01000</a:t>
              </a: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3069722" y="4203397"/>
              <a:ext cx="13117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rgbClr val="0066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01001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381500" y="4203397"/>
              <a:ext cx="410567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0000000000001100</a:t>
              </a:r>
            </a:p>
          </p:txBody>
        </p:sp>
      </p:grpSp>
      <p:sp>
        <p:nvSpPr>
          <p:cNvPr id="71" name="TextBox 70"/>
          <p:cNvSpPr txBox="1"/>
          <p:nvPr/>
        </p:nvSpPr>
        <p:spPr>
          <a:xfrm>
            <a:off x="2685779" y="5681334"/>
            <a:ext cx="43748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D 0 9 0 0 0 C</a:t>
            </a:r>
            <a:r>
              <a:rPr lang="en-US" sz="3200" b="1" baseline="-25000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</p:txBody>
      </p:sp>
      <p:sp>
        <p:nvSpPr>
          <p:cNvPr id="72" name="Slide Number Placeholder 6">
            <a:extLst>
              <a:ext uri="{FF2B5EF4-FFF2-40B4-BE49-F238E27FC236}">
                <a16:creationId xmlns:a16="http://schemas.microsoft.com/office/drawing/2014/main" id="{453AF03D-61ED-467A-A4DA-B15B4740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682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2" grpId="0"/>
      <p:bldP spid="63" grpId="0"/>
      <p:bldP spid="64" grpId="0"/>
      <p:bldP spid="65" grpId="0"/>
      <p:bldP spid="7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6.3 Instruction Address: Overview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7" name="Rectangle 3"/>
          <p:cNvSpPr txBox="1">
            <a:spLocks noChangeArrowheads="1"/>
          </p:cNvSpPr>
          <p:nvPr/>
        </p:nvSpPr>
        <p:spPr>
          <a:xfrm>
            <a:off x="457200" y="1310078"/>
            <a:ext cx="83058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As instructions are stored in memory, they too have addresses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Control flow instructions uses these addresses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E.g.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/>
              <a:t>,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endParaRPr lang="en-US" sz="2400" dirty="0"/>
          </a:p>
          <a:p>
            <a:pPr marL="274638" indent="-274638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As instructions are 32-bit long, instruction addresses are word-aligned as well</a:t>
            </a:r>
          </a:p>
          <a:p>
            <a:pPr marL="274638" indent="-274638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C00000"/>
                </a:solidFill>
              </a:rPr>
              <a:t>P</a:t>
            </a:r>
            <a:r>
              <a:rPr lang="en-US" sz="2800" dirty="0">
                <a:solidFill>
                  <a:srgbClr val="C00000"/>
                </a:solidFill>
              </a:rPr>
              <a:t>rogram</a:t>
            </a:r>
            <a:r>
              <a:rPr lang="en-US" sz="2800" b="1" dirty="0">
                <a:solidFill>
                  <a:srgbClr val="C00000"/>
                </a:solidFill>
              </a:rPr>
              <a:t> C</a:t>
            </a:r>
            <a:r>
              <a:rPr lang="en-US" sz="2800" dirty="0">
                <a:solidFill>
                  <a:srgbClr val="C00000"/>
                </a:solidFill>
              </a:rPr>
              <a:t>ounter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  <a:r>
              <a:rPr lang="en-US" sz="2800" dirty="0">
                <a:solidFill>
                  <a:srgbClr val="C00000"/>
                </a:solidFill>
              </a:rPr>
              <a:t>(</a:t>
            </a:r>
            <a:r>
              <a:rPr lang="en-US" sz="2800" b="1" dirty="0">
                <a:solidFill>
                  <a:srgbClr val="C00000"/>
                </a:solidFill>
              </a:rPr>
              <a:t>PC</a:t>
            </a:r>
            <a:r>
              <a:rPr lang="en-US" sz="2800" dirty="0">
                <a:solidFill>
                  <a:srgbClr val="C00000"/>
                </a:solidFill>
              </a:rPr>
              <a:t>) </a:t>
            </a:r>
          </a:p>
          <a:p>
            <a:pPr marL="625475" lvl="1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A special register that keeps address of instruction being executed in the processor</a:t>
            </a:r>
            <a:endParaRPr lang="en-US" sz="2400" dirty="0">
              <a:solidFill>
                <a:srgbClr val="660066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BB40A-CED9-4DDA-B9AD-2661B84D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13653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6.4 Branch: PC-Relative Addressing </a:t>
            </a:r>
            <a:r>
              <a:rPr lang="en-SG" sz="2800" dirty="0">
                <a:solidFill>
                  <a:srgbClr val="0000FF"/>
                </a:solidFill>
                <a:latin typeface="+mn-lt"/>
              </a:rPr>
              <a:t>(1/5)</a:t>
            </a:r>
            <a:endParaRPr lang="en-US" sz="28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26719" y="1280160"/>
            <a:ext cx="8305800" cy="53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Use I-Format</a:t>
            </a:r>
            <a:endParaRPr lang="en-US" sz="2800" b="1" dirty="0">
              <a:latin typeface="Courier New" pitchFamily="49" charset="0"/>
            </a:endParaRPr>
          </a:p>
        </p:txBody>
      </p:sp>
      <p:sp>
        <p:nvSpPr>
          <p:cNvPr id="12" name="Rectangle 35"/>
          <p:cNvSpPr>
            <a:spLocks noChangeArrowheads="1"/>
          </p:cNvSpPr>
          <p:nvPr/>
        </p:nvSpPr>
        <p:spPr bwMode="auto">
          <a:xfrm>
            <a:off x="426719" y="2727960"/>
            <a:ext cx="83058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opcode</a:t>
            </a:r>
            <a:r>
              <a:rPr lang="en-US" sz="2800" dirty="0">
                <a:solidFill>
                  <a:srgbClr val="660066"/>
                </a:solidFill>
              </a:rPr>
              <a:t> </a:t>
            </a:r>
            <a:r>
              <a:rPr lang="en-US" sz="2800" dirty="0"/>
              <a:t>specifies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800" b="1" dirty="0"/>
              <a:t>,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endParaRPr lang="en-US" sz="2800" b="1" dirty="0">
              <a:solidFill>
                <a:srgbClr val="660066"/>
              </a:solidFill>
              <a:latin typeface="Courier New" pitchFamily="49" charset="0"/>
            </a:endParaRP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 err="1">
                <a:solidFill>
                  <a:srgbClr val="006600"/>
                </a:solidFill>
                <a:latin typeface="Courier New" pitchFamily="49" charset="0"/>
              </a:rPr>
              <a:t>rs</a:t>
            </a:r>
            <a:r>
              <a:rPr lang="en-US" sz="2800" dirty="0">
                <a:solidFill>
                  <a:srgbClr val="006600"/>
                </a:solidFill>
              </a:rPr>
              <a:t> </a:t>
            </a:r>
            <a:r>
              <a:rPr lang="en-US" sz="2800" dirty="0"/>
              <a:t>and </a:t>
            </a:r>
            <a:r>
              <a:rPr lang="en-US" sz="2800" b="1" dirty="0" err="1">
                <a:solidFill>
                  <a:srgbClr val="006600"/>
                </a:solidFill>
                <a:latin typeface="Courier New" pitchFamily="49" charset="0"/>
              </a:rPr>
              <a:t>rt</a:t>
            </a:r>
            <a:r>
              <a:rPr lang="en-US" sz="2800" dirty="0"/>
              <a:t> specify registers to compare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can </a:t>
            </a:r>
            <a:r>
              <a:rPr lang="en-US" sz="2800" b="1" dirty="0">
                <a:solidFill>
                  <a:srgbClr val="002060"/>
                </a:solidFill>
                <a:latin typeface="Courier New" pitchFamily="49" charset="0"/>
              </a:rPr>
              <a:t>immediate</a:t>
            </a:r>
            <a:r>
              <a:rPr lang="en-US" sz="2800" dirty="0"/>
              <a:t> specify?</a:t>
            </a:r>
          </a:p>
          <a:p>
            <a:pPr marL="687387" lvl="1" indent="-34290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b="1" dirty="0">
                <a:latin typeface="Courier New" pitchFamily="49" charset="0"/>
              </a:rPr>
              <a:t>Immediate</a:t>
            </a:r>
            <a:r>
              <a:rPr lang="en-US" sz="2400" dirty="0"/>
              <a:t> is only 16 bits</a:t>
            </a:r>
          </a:p>
          <a:p>
            <a:pPr marL="687387" lvl="1" indent="-34290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Memory address is 32 bits</a:t>
            </a:r>
          </a:p>
          <a:p>
            <a:pPr marL="687387" lvl="1" indent="-342900">
              <a:spcBef>
                <a:spcPct val="20000"/>
              </a:spcBef>
              <a:buClr>
                <a:schemeClr val="accent2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itchFamily="2" charset="2"/>
              </a:rPr>
              <a:t> 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immediate</a:t>
            </a:r>
            <a:r>
              <a:rPr lang="en-US" sz="2400" dirty="0"/>
              <a:t> is not enough to specify the entire target address!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579119" y="1889760"/>
            <a:ext cx="7924800" cy="457200"/>
            <a:chOff x="457200" y="3429000"/>
            <a:chExt cx="8229600" cy="457200"/>
          </a:xfrm>
        </p:grpSpPr>
        <p:sp>
          <p:nvSpPr>
            <p:cNvPr id="14" name="Rectangle 13"/>
            <p:cNvSpPr/>
            <p:nvPr/>
          </p:nvSpPr>
          <p:spPr>
            <a:xfrm>
              <a:off x="457200" y="3429000"/>
              <a:ext cx="15240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  <a:cs typeface="Courier New" pitchFamily="49" charset="0"/>
                </a:rPr>
                <a:t>opcode</a:t>
              </a:r>
              <a:endParaRPr lang="en-SG" sz="2800" b="1" dirty="0">
                <a:solidFill>
                  <a:srgbClr val="660066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9812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rs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3276600" y="3429000"/>
              <a:ext cx="12954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 err="1">
                  <a:solidFill>
                    <a:srgbClr val="006600"/>
                  </a:solidFill>
                  <a:latin typeface="Courier New" pitchFamily="49" charset="0"/>
                  <a:cs typeface="Courier New" pitchFamily="49" charset="0"/>
                </a:rPr>
                <a:t>rt</a:t>
              </a:r>
              <a:endParaRPr lang="en-SG" sz="2800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4572000" y="3429000"/>
              <a:ext cx="4114800" cy="457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002060"/>
                  </a:solidFill>
                  <a:latin typeface="Courier New" pitchFamily="49" charset="0"/>
                  <a:cs typeface="Courier New" pitchFamily="49" charset="0"/>
                </a:rPr>
                <a:t>immediate</a:t>
              </a:r>
              <a:endParaRPr lang="en-SG" sz="2800" b="1" dirty="0">
                <a:solidFill>
                  <a:srgbClr val="002060"/>
                </a:solidFill>
                <a:latin typeface="Courier New" pitchFamily="49" charset="0"/>
                <a:cs typeface="Courier New" pitchFamily="49" charset="0"/>
              </a:endParaRPr>
            </a:p>
          </p:txBody>
        </p:sp>
      </p:grpSp>
      <p:sp>
        <p:nvSpPr>
          <p:cNvPr id="17" name="Slide Number Placeholder 6">
            <a:extLst>
              <a:ext uri="{FF2B5EF4-FFF2-40B4-BE49-F238E27FC236}">
                <a16:creationId xmlns:a16="http://schemas.microsoft.com/office/drawing/2014/main" id="{AC5ECBD6-93B4-4548-B3BA-5E3316419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753503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6.4 Branch: PC-Relative Addressing </a:t>
            </a:r>
            <a:r>
              <a:rPr lang="en-SG" sz="2800" dirty="0">
                <a:solidFill>
                  <a:srgbClr val="0000FF"/>
                </a:solidFill>
              </a:rPr>
              <a:t>(2/5)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457200" y="1295400"/>
            <a:ext cx="83058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How do we usually use branches?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b="1" dirty="0"/>
              <a:t>Answer: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if-else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while</a:t>
            </a:r>
            <a:r>
              <a:rPr lang="en-US" sz="2400" b="1" dirty="0"/>
              <a:t>, 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for</a:t>
            </a:r>
            <a:endParaRPr lang="en-US" sz="2400" b="1" dirty="0">
              <a:solidFill>
                <a:srgbClr val="660066"/>
              </a:solidFill>
            </a:endParaRP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Loops are generally </a:t>
            </a:r>
            <a:r>
              <a:rPr lang="en-US" sz="2400" b="1" dirty="0"/>
              <a:t>small</a:t>
            </a:r>
            <a:r>
              <a:rPr lang="en-US" sz="2400" dirty="0"/>
              <a:t>: </a:t>
            </a:r>
          </a:p>
          <a:p>
            <a:pPr marL="990600" lvl="2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Typically up to 50 instructions</a:t>
            </a:r>
          </a:p>
          <a:p>
            <a:pPr marL="715963" lvl="1" indent="-3508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Unconditional jumps are done using jump instructions (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dirty="0"/>
              <a:t>), not the branches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381000" y="4323818"/>
            <a:ext cx="51054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400" b="1" dirty="0"/>
              <a:t>Conclusion:</a:t>
            </a:r>
            <a:r>
              <a:rPr lang="en-US" sz="2400" dirty="0"/>
              <a:t> A branch often changes </a:t>
            </a:r>
            <a:r>
              <a:rPr lang="en-US" sz="2400" b="1" dirty="0">
                <a:solidFill>
                  <a:srgbClr val="C00000"/>
                </a:solidFill>
              </a:rPr>
              <a:t>PC</a:t>
            </a:r>
            <a:r>
              <a:rPr lang="en-US" sz="2400" dirty="0"/>
              <a:t> by a small amount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562600" y="3804597"/>
            <a:ext cx="3810000" cy="2286000"/>
            <a:chOff x="5154560" y="3746869"/>
            <a:chExt cx="3810000" cy="2286000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5154560" y="3746869"/>
              <a:ext cx="2819400" cy="2286000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square" anchor="ctr">
              <a:noAutofit/>
            </a:bodyPr>
            <a:lstStyle/>
            <a:p>
              <a:endParaRPr lang="en-US"/>
            </a:p>
          </p:txBody>
        </p:sp>
        <p:sp>
          <p:nvSpPr>
            <p:cNvPr id="15" name="Text Box 6"/>
            <p:cNvSpPr txBox="1">
              <a:spLocks noChangeArrowheads="1"/>
            </p:cNvSpPr>
            <p:nvPr/>
          </p:nvSpPr>
          <p:spPr bwMode="auto">
            <a:xfrm>
              <a:off x="5154560" y="4706186"/>
              <a:ext cx="2819400" cy="36933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 anchorCtr="0">
              <a:spAutoFit/>
            </a:bodyPr>
            <a:lstStyle/>
            <a:p>
              <a:r>
                <a:rPr lang="en-US" sz="1800" b="1" dirty="0">
                  <a:solidFill>
                    <a:srgbClr val="660066"/>
                  </a:solidFill>
                  <a:latin typeface="Courier New" pitchFamily="49" charset="0"/>
                </a:rPr>
                <a:t>    </a:t>
              </a:r>
              <a:r>
                <a:rPr lang="en-US" sz="1800" b="1" dirty="0" err="1">
                  <a:solidFill>
                    <a:srgbClr val="660066"/>
                  </a:solidFill>
                  <a:latin typeface="Courier New" pitchFamily="49" charset="0"/>
                </a:rPr>
                <a:t>beq</a:t>
              </a:r>
              <a:r>
                <a:rPr lang="en-US" sz="1800" b="1" dirty="0">
                  <a:latin typeface="Courier New" pitchFamily="49" charset="0"/>
                </a:rPr>
                <a:t> </a:t>
              </a:r>
              <a:r>
                <a:rPr lang="en-US" sz="1800" b="1" dirty="0">
                  <a:solidFill>
                    <a:srgbClr val="C00000"/>
                  </a:solidFill>
                  <a:latin typeface="Courier New" pitchFamily="49" charset="0"/>
                </a:rPr>
                <a:t>$9</a:t>
              </a:r>
              <a:r>
                <a:rPr lang="en-US" sz="1800" b="1" dirty="0">
                  <a:latin typeface="Courier New" pitchFamily="49" charset="0"/>
                </a:rPr>
                <a:t>, </a:t>
              </a:r>
              <a:r>
                <a:rPr lang="en-US" sz="1800" b="1" dirty="0">
                  <a:solidFill>
                    <a:srgbClr val="006600"/>
                  </a:solidFill>
                  <a:latin typeface="Courier New" pitchFamily="49" charset="0"/>
                </a:rPr>
                <a:t>$8</a:t>
              </a:r>
              <a:r>
                <a:rPr lang="en-US" sz="1800" b="1" dirty="0">
                  <a:latin typeface="Courier New" pitchFamily="49" charset="0"/>
                </a:rPr>
                <a:t>, </a:t>
              </a:r>
              <a:r>
                <a:rPr lang="en-US" sz="1800" b="1" dirty="0">
                  <a:solidFill>
                    <a:srgbClr val="002060"/>
                  </a:solidFill>
                  <a:latin typeface="Courier New" pitchFamily="49" charset="0"/>
                </a:rPr>
                <a:t>End</a:t>
              </a:r>
            </a:p>
          </p:txBody>
        </p:sp>
        <p:sp>
          <p:nvSpPr>
            <p:cNvPr id="16" name="Line 7"/>
            <p:cNvSpPr>
              <a:spLocks noChangeShapeType="1"/>
            </p:cNvSpPr>
            <p:nvPr/>
          </p:nvSpPr>
          <p:spPr bwMode="auto">
            <a:xfrm flipH="1" flipV="1">
              <a:off x="7978273" y="4697211"/>
              <a:ext cx="344936" cy="343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8304159" y="4508869"/>
              <a:ext cx="520700" cy="4579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Verdana" pitchFamily="34" charset="0"/>
                </a:rPr>
                <a:t>PC</a:t>
              </a:r>
            </a:p>
          </p:txBody>
        </p:sp>
        <p:sp>
          <p:nvSpPr>
            <p:cNvPr id="18" name="Line 9"/>
            <p:cNvSpPr>
              <a:spLocks noChangeShapeType="1"/>
            </p:cNvSpPr>
            <p:nvPr/>
          </p:nvSpPr>
          <p:spPr bwMode="auto">
            <a:xfrm flipH="1">
              <a:off x="7969647" y="5452297"/>
              <a:ext cx="353562" cy="12665"/>
            </a:xfrm>
            <a:prstGeom prst="line">
              <a:avLst/>
            </a:prstGeom>
            <a:noFill/>
            <a:ln w="25400">
              <a:solidFill>
                <a:srgbClr val="006600"/>
              </a:solidFill>
              <a:round/>
              <a:headEnd/>
              <a:tailEnd type="triangle" w="lg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10"/>
            <p:cNvSpPr txBox="1">
              <a:spLocks noChangeArrowheads="1"/>
            </p:cNvSpPr>
            <p:nvPr/>
          </p:nvSpPr>
          <p:spPr bwMode="auto">
            <a:xfrm>
              <a:off x="8296222" y="5263612"/>
              <a:ext cx="668338" cy="4579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Verdana" pitchFamily="34" charset="0"/>
                </a:rPr>
                <a:t>End</a:t>
              </a:r>
            </a:p>
          </p:txBody>
        </p:sp>
        <p:sp>
          <p:nvSpPr>
            <p:cNvPr id="22" name="Text Box 6"/>
            <p:cNvSpPr txBox="1">
              <a:spLocks noChangeArrowheads="1"/>
            </p:cNvSpPr>
            <p:nvPr/>
          </p:nvSpPr>
          <p:spPr bwMode="auto">
            <a:xfrm>
              <a:off x="5154560" y="5465714"/>
              <a:ext cx="2819400" cy="369332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 anchorCtr="0">
              <a:spAutoFit/>
            </a:bodyPr>
            <a:lstStyle/>
            <a:p>
              <a:r>
                <a:rPr lang="en-US" sz="1800" b="1" dirty="0">
                  <a:solidFill>
                    <a:srgbClr val="002060"/>
                  </a:solidFill>
                  <a:latin typeface="Courier New" pitchFamily="49" charset="0"/>
                </a:rPr>
                <a:t>End: </a:t>
              </a:r>
              <a:r>
                <a:rPr lang="en-US" sz="1800" b="1" dirty="0">
                  <a:solidFill>
                    <a:srgbClr val="660066"/>
                  </a:solidFill>
                  <a:latin typeface="Courier New" pitchFamily="49" charset="0"/>
                </a:rPr>
                <a:t>…………………</a:t>
              </a:r>
              <a:endParaRPr lang="en-US" sz="1800" b="1" dirty="0">
                <a:latin typeface="Courier New" pitchFamily="49" charset="0"/>
              </a:endParaRPr>
            </a:p>
          </p:txBody>
        </p:sp>
      </p:grpSp>
      <p:sp>
        <p:nvSpPr>
          <p:cNvPr id="23" name="Slide Number Placeholder 6">
            <a:extLst>
              <a:ext uri="{FF2B5EF4-FFF2-40B4-BE49-F238E27FC236}">
                <a16:creationId xmlns:a16="http://schemas.microsoft.com/office/drawing/2014/main" id="{2AD7B99E-4F52-4252-94E7-93D54983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1625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20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6.4 Branch: PC-Relative Addressing </a:t>
            </a:r>
            <a:r>
              <a:rPr lang="en-SG" sz="2800" dirty="0">
                <a:solidFill>
                  <a:srgbClr val="0000FF"/>
                </a:solidFill>
              </a:rPr>
              <a:t>(3/5)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33400" y="1412959"/>
            <a:ext cx="8305800" cy="2895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rgbClr val="006600"/>
                </a:solidFill>
              </a:rPr>
              <a:t>Solution: 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Specify target address </a:t>
            </a:r>
            <a:r>
              <a:rPr lang="en-US" b="1" dirty="0">
                <a:solidFill>
                  <a:srgbClr val="660066"/>
                </a:solidFill>
              </a:rPr>
              <a:t>relative to the PC</a:t>
            </a:r>
          </a:p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Target address is generated as: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PC + the 16-bit </a:t>
            </a:r>
            <a:r>
              <a:rPr lang="en-US" b="1" dirty="0">
                <a:latin typeface="Courier New" pitchFamily="49" charset="0"/>
              </a:rPr>
              <a:t>immediate</a:t>
            </a:r>
            <a:r>
              <a:rPr lang="en-US" b="1" dirty="0"/>
              <a:t> </a:t>
            </a:r>
            <a:r>
              <a:rPr lang="en-US" dirty="0"/>
              <a:t>field 	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The </a:t>
            </a:r>
            <a:r>
              <a:rPr lang="en-US" b="1" dirty="0">
                <a:latin typeface="Courier New" pitchFamily="49" charset="0"/>
              </a:rPr>
              <a:t>immediate</a:t>
            </a:r>
            <a:r>
              <a:rPr lang="en-US" dirty="0"/>
              <a:t> field is a signed two’s complement integer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</a:pPr>
            <a:r>
              <a:rPr lang="en-US" dirty="0">
                <a:sym typeface="Wingdings" pitchFamily="2" charset="2"/>
              </a:rPr>
              <a:t> C</a:t>
            </a:r>
            <a:r>
              <a:rPr lang="en-US" dirty="0"/>
              <a:t>an branch to ± 2</a:t>
            </a:r>
            <a:r>
              <a:rPr lang="en-US" baseline="50000" dirty="0"/>
              <a:t>15</a:t>
            </a:r>
            <a:r>
              <a:rPr lang="en-US" dirty="0"/>
              <a:t> bytes from the PC: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Should be enough to cover most loops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2429818" y="4384759"/>
            <a:ext cx="4241028" cy="1981200"/>
            <a:chOff x="2429818" y="4384759"/>
            <a:chExt cx="4241028" cy="1981200"/>
          </a:xfrm>
        </p:grpSpPr>
        <p:sp>
          <p:nvSpPr>
            <p:cNvPr id="12" name="Rectangle 14"/>
            <p:cNvSpPr>
              <a:spLocks noChangeArrowheads="1"/>
            </p:cNvSpPr>
            <p:nvPr/>
          </p:nvSpPr>
          <p:spPr bwMode="auto">
            <a:xfrm>
              <a:off x="2429818" y="4474814"/>
              <a:ext cx="2692031" cy="1891145"/>
            </a:xfrm>
            <a:prstGeom prst="rect">
              <a:avLst/>
            </a:prstGeom>
            <a:solidFill>
              <a:srgbClr val="FF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>
              <a:noAutofit/>
            </a:bodyPr>
            <a:lstStyle/>
            <a:p>
              <a:endParaRPr lang="en-US" sz="1600"/>
            </a:p>
          </p:txBody>
        </p:sp>
        <p:sp>
          <p:nvSpPr>
            <p:cNvPr id="16" name="Line 17"/>
            <p:cNvSpPr>
              <a:spLocks noChangeShapeType="1"/>
            </p:cNvSpPr>
            <p:nvPr/>
          </p:nvSpPr>
          <p:spPr bwMode="auto">
            <a:xfrm flipH="1">
              <a:off x="5121848" y="5285304"/>
              <a:ext cx="758163" cy="0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7" name="Text Box 18"/>
            <p:cNvSpPr txBox="1">
              <a:spLocks noChangeArrowheads="1"/>
            </p:cNvSpPr>
            <p:nvPr/>
          </p:nvSpPr>
          <p:spPr bwMode="auto">
            <a:xfrm>
              <a:off x="5858951" y="5105195"/>
              <a:ext cx="575643" cy="43714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Verdana" pitchFamily="34" charset="0"/>
                </a:rPr>
                <a:t>PC</a:t>
              </a:r>
            </a:p>
          </p:txBody>
        </p:sp>
        <p:sp>
          <p:nvSpPr>
            <p:cNvPr id="18" name="Line 19"/>
            <p:cNvSpPr>
              <a:spLocks noChangeShapeType="1"/>
            </p:cNvSpPr>
            <p:nvPr/>
          </p:nvSpPr>
          <p:spPr bwMode="auto">
            <a:xfrm flipH="1">
              <a:off x="5121848" y="6005741"/>
              <a:ext cx="758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19" name="Text Box 20"/>
            <p:cNvSpPr txBox="1">
              <a:spLocks noChangeArrowheads="1"/>
            </p:cNvSpPr>
            <p:nvPr/>
          </p:nvSpPr>
          <p:spPr bwMode="auto">
            <a:xfrm>
              <a:off x="5878257" y="5825632"/>
              <a:ext cx="668658" cy="369599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Verdana" pitchFamily="34" charset="0"/>
                </a:rPr>
                <a:t>End</a:t>
              </a:r>
            </a:p>
          </p:txBody>
        </p:sp>
        <p:sp>
          <p:nvSpPr>
            <p:cNvPr id="20" name="Line 22"/>
            <p:cNvSpPr>
              <a:spLocks noChangeShapeType="1"/>
            </p:cNvSpPr>
            <p:nvPr/>
          </p:nvSpPr>
          <p:spPr bwMode="auto">
            <a:xfrm>
              <a:off x="5543050" y="5285304"/>
              <a:ext cx="0" cy="7204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2" name="Text Box 23"/>
            <p:cNvSpPr txBox="1">
              <a:spLocks noChangeArrowheads="1"/>
            </p:cNvSpPr>
            <p:nvPr/>
          </p:nvSpPr>
          <p:spPr bwMode="auto">
            <a:xfrm>
              <a:off x="5639575" y="5375359"/>
              <a:ext cx="407162" cy="399617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latin typeface="Verdana" pitchFamily="34" charset="0"/>
                </a:rPr>
                <a:t>+</a:t>
              </a:r>
            </a:p>
          </p:txBody>
        </p: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 flipH="1">
              <a:off x="5121848" y="4654923"/>
              <a:ext cx="758163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4" name="Text Box 26"/>
            <p:cNvSpPr txBox="1">
              <a:spLocks noChangeArrowheads="1"/>
            </p:cNvSpPr>
            <p:nvPr/>
          </p:nvSpPr>
          <p:spPr bwMode="auto">
            <a:xfrm>
              <a:off x="5838566" y="4384759"/>
              <a:ext cx="832280" cy="3693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006600"/>
                  </a:solidFill>
                  <a:latin typeface="Verdana" pitchFamily="34" charset="0"/>
                </a:rPr>
                <a:t>End2</a:t>
              </a: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>
              <a:off x="5543050" y="4654923"/>
              <a:ext cx="0" cy="72043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</p:spPr>
          <p:txBody>
            <a:bodyPr wrap="none">
              <a:spAutoFit/>
            </a:bodyPr>
            <a:lstStyle/>
            <a:p>
              <a:endParaRPr lang="en-US"/>
            </a:p>
          </p:txBody>
        </p:sp>
        <p:sp>
          <p:nvSpPr>
            <p:cNvPr id="26" name="Text Box 28"/>
            <p:cNvSpPr txBox="1">
              <a:spLocks noChangeArrowheads="1"/>
            </p:cNvSpPr>
            <p:nvPr/>
          </p:nvSpPr>
          <p:spPr bwMode="auto">
            <a:xfrm>
              <a:off x="5678186" y="4744977"/>
              <a:ext cx="331697" cy="46153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400" b="1" dirty="0">
                  <a:latin typeface="Verdana" pitchFamily="34" charset="0"/>
                </a:rPr>
                <a:t>-</a:t>
              </a:r>
            </a:p>
          </p:txBody>
        </p:sp>
        <p:sp>
          <p:nvSpPr>
            <p:cNvPr id="28" name="Text Box 6"/>
            <p:cNvSpPr txBox="1">
              <a:spLocks noChangeArrowheads="1"/>
            </p:cNvSpPr>
            <p:nvPr/>
          </p:nvSpPr>
          <p:spPr bwMode="auto">
            <a:xfrm>
              <a:off x="2438400" y="5284172"/>
              <a:ext cx="2667000" cy="3385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 anchorCtr="0">
              <a:spAutoFit/>
            </a:bodyPr>
            <a:lstStyle/>
            <a:p>
              <a:r>
                <a:rPr lang="en-US" sz="1600" b="1" dirty="0">
                  <a:solidFill>
                    <a:srgbClr val="660066"/>
                  </a:solidFill>
                  <a:latin typeface="Courier New" pitchFamily="49" charset="0"/>
                </a:rPr>
                <a:t>      </a:t>
              </a:r>
              <a:r>
                <a:rPr lang="en-US" sz="1600" b="1" dirty="0" err="1">
                  <a:solidFill>
                    <a:srgbClr val="660066"/>
                  </a:solidFill>
                  <a:latin typeface="Courier New" pitchFamily="49" charset="0"/>
                </a:rPr>
                <a:t>beq</a:t>
              </a:r>
              <a:r>
                <a:rPr lang="en-US" sz="1600" b="1" dirty="0">
                  <a:latin typeface="Courier New" pitchFamily="49" charset="0"/>
                </a:rPr>
                <a:t> </a:t>
              </a:r>
              <a:r>
                <a:rPr lang="en-US" sz="1600" b="1" dirty="0">
                  <a:solidFill>
                    <a:srgbClr val="C00000"/>
                  </a:solidFill>
                  <a:latin typeface="Courier New" pitchFamily="49" charset="0"/>
                </a:rPr>
                <a:t>$9</a:t>
              </a:r>
              <a:r>
                <a:rPr lang="en-US" sz="1600" b="1" dirty="0">
                  <a:latin typeface="Courier New" pitchFamily="49" charset="0"/>
                </a:rPr>
                <a:t>,</a:t>
              </a:r>
              <a:r>
                <a:rPr lang="en-US" sz="1600" b="1" dirty="0">
                  <a:solidFill>
                    <a:srgbClr val="006600"/>
                  </a:solidFill>
                  <a:latin typeface="Courier New" pitchFamily="49" charset="0"/>
                </a:rPr>
                <a:t>$8</a:t>
              </a:r>
              <a:r>
                <a:rPr lang="en-US" sz="1600" b="1" dirty="0">
                  <a:latin typeface="Courier New" pitchFamily="49" charset="0"/>
                </a:rPr>
                <a:t>,</a:t>
              </a:r>
              <a:r>
                <a:rPr lang="en-US" sz="1600" b="1" dirty="0">
                  <a:solidFill>
                    <a:srgbClr val="002060"/>
                  </a:solidFill>
                  <a:latin typeface="Courier New" pitchFamily="49" charset="0"/>
                </a:rPr>
                <a:t>End</a:t>
              </a:r>
            </a:p>
          </p:txBody>
        </p:sp>
        <p:sp>
          <p:nvSpPr>
            <p:cNvPr id="29" name="Text Box 6"/>
            <p:cNvSpPr txBox="1">
              <a:spLocks noChangeArrowheads="1"/>
            </p:cNvSpPr>
            <p:nvPr/>
          </p:nvSpPr>
          <p:spPr bwMode="auto">
            <a:xfrm>
              <a:off x="2438400" y="5969571"/>
              <a:ext cx="2667000" cy="3385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 anchorCtr="0">
              <a:spAutoFit/>
            </a:bodyPr>
            <a:lstStyle/>
            <a:p>
              <a:r>
                <a:rPr lang="en-US" sz="1600" b="1" dirty="0">
                  <a:solidFill>
                    <a:srgbClr val="660066"/>
                  </a:solidFill>
                  <a:latin typeface="Courier New" pitchFamily="49" charset="0"/>
                </a:rPr>
                <a:t>End: …………………</a:t>
              </a:r>
              <a:endParaRPr lang="en-US" sz="1600" b="1" dirty="0">
                <a:latin typeface="Courier New" pitchFamily="49" charset="0"/>
              </a:endParaRPr>
            </a:p>
          </p:txBody>
        </p:sp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2438400" y="4671194"/>
              <a:ext cx="2667000" cy="338554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anchor="ctr" anchorCtr="0">
              <a:spAutoFit/>
            </a:bodyPr>
            <a:lstStyle/>
            <a:p>
              <a:r>
                <a:rPr lang="en-US" sz="1600" b="1" dirty="0">
                  <a:solidFill>
                    <a:srgbClr val="660066"/>
                  </a:solidFill>
                  <a:latin typeface="Courier New" pitchFamily="49" charset="0"/>
                </a:rPr>
                <a:t>End2: …………………</a:t>
              </a:r>
              <a:endParaRPr lang="en-US" sz="1600" b="1" dirty="0">
                <a:latin typeface="Courier New" pitchFamily="49" charset="0"/>
              </a:endParaRPr>
            </a:p>
          </p:txBody>
        </p:sp>
      </p:grpSp>
      <p:sp>
        <p:nvSpPr>
          <p:cNvPr id="27" name="Slide Number Placeholder 6">
            <a:extLst>
              <a:ext uri="{FF2B5EF4-FFF2-40B4-BE49-F238E27FC236}">
                <a16:creationId xmlns:a16="http://schemas.microsoft.com/office/drawing/2014/main" id="{8C021389-1AA7-4126-9CB3-85628BB34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9127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6.4 Branch: PC-Relative Addressing </a:t>
            </a:r>
            <a:r>
              <a:rPr lang="en-SG" sz="2800" dirty="0">
                <a:solidFill>
                  <a:srgbClr val="0000FF"/>
                </a:solidFill>
              </a:rPr>
              <a:t>(4/5)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412959"/>
            <a:ext cx="8305800" cy="47592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dirty="0"/>
              <a:t>Can the branch target range be enlarged?</a:t>
            </a:r>
          </a:p>
          <a:p>
            <a:pPr marL="274638" indent="-274638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800" b="1" dirty="0"/>
              <a:t>Observation:</a:t>
            </a:r>
            <a:r>
              <a:rPr lang="en-US" sz="2800" dirty="0"/>
              <a:t> Instructions are word-aligned </a:t>
            </a:r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Number of bytes to add to the PC will always be a multiple of 4.</a:t>
            </a:r>
          </a:p>
          <a:p>
            <a:pPr marL="625475" lvl="1" indent="-350838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>
                <a:sym typeface="Wingdings" pitchFamily="2" charset="2"/>
              </a:rPr>
              <a:t> </a:t>
            </a:r>
            <a:r>
              <a:rPr lang="en-US" sz="2400" dirty="0"/>
              <a:t>Interpret the </a:t>
            </a:r>
            <a:r>
              <a:rPr lang="en-US" sz="2400" b="1" dirty="0">
                <a:latin typeface="Courier New" pitchFamily="49" charset="0"/>
              </a:rPr>
              <a:t>immediate</a:t>
            </a:r>
            <a:r>
              <a:rPr lang="en-US" sz="2400" dirty="0"/>
              <a:t> as number of words, i.e. automatically multiplied by 4</a:t>
            </a:r>
            <a:r>
              <a:rPr lang="en-US" sz="2400" baseline="-25000" dirty="0"/>
              <a:t>10 </a:t>
            </a:r>
            <a:r>
              <a:rPr lang="en-US" sz="2400" dirty="0"/>
              <a:t>(100</a:t>
            </a:r>
            <a:r>
              <a:rPr lang="en-US" sz="2400" baseline="-25000" dirty="0"/>
              <a:t>2</a:t>
            </a:r>
            <a:r>
              <a:rPr lang="en-US" sz="2400" dirty="0"/>
              <a:t>)</a:t>
            </a:r>
          </a:p>
          <a:p>
            <a:pPr fontAlgn="auto">
              <a:spcBef>
                <a:spcPct val="5000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sz="2800" dirty="0">
                <a:sym typeface="Wingdings" pitchFamily="2" charset="2"/>
              </a:rPr>
              <a:t> C</a:t>
            </a:r>
            <a:r>
              <a:rPr lang="en-US" sz="2800" dirty="0"/>
              <a:t>an branch to ± 2</a:t>
            </a:r>
            <a:r>
              <a:rPr lang="en-US" sz="2800" baseline="50000" dirty="0"/>
              <a:t>15</a:t>
            </a:r>
            <a:r>
              <a:rPr lang="en-US" sz="2800" dirty="0"/>
              <a:t> </a:t>
            </a:r>
            <a:r>
              <a:rPr lang="en-US" sz="2800" b="1" dirty="0">
                <a:solidFill>
                  <a:srgbClr val="C00000"/>
                </a:solidFill>
              </a:rPr>
              <a:t>words</a:t>
            </a:r>
            <a:r>
              <a:rPr lang="en-US" sz="2800" dirty="0"/>
              <a:t> from the PC </a:t>
            </a:r>
          </a:p>
          <a:p>
            <a:pPr marL="625475" lvl="1" indent="-260350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i.e. ± 2</a:t>
            </a:r>
            <a:r>
              <a:rPr lang="en-US" sz="2400" baseline="50000" dirty="0"/>
              <a:t>17</a:t>
            </a:r>
            <a:r>
              <a:rPr lang="en-US" sz="2400" dirty="0"/>
              <a:t> bytes from the </a:t>
            </a:r>
            <a:r>
              <a:rPr lang="en-US" sz="2400" b="1" dirty="0"/>
              <a:t>PC</a:t>
            </a:r>
          </a:p>
          <a:p>
            <a:pPr marL="625475" lvl="1" indent="-260350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 can now branch 4 times farther!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A4783-C806-491D-AF15-6316FA5DB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68177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6.4 Branch: PC-Relative Addressing </a:t>
            </a:r>
            <a:r>
              <a:rPr lang="en-SG" sz="2800" dirty="0">
                <a:solidFill>
                  <a:srgbClr val="0000FF"/>
                </a:solidFill>
              </a:rPr>
              <a:t>(5/5)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280160"/>
            <a:ext cx="8305800" cy="52730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600" dirty="0"/>
              <a:t>Branch calculation:</a:t>
            </a:r>
          </a:p>
          <a:p>
            <a:pPr fontAlgn="auto">
              <a:spcAft>
                <a:spcPts val="0"/>
              </a:spcAft>
            </a:pPr>
            <a:endParaRPr lang="en-US" sz="2600" dirty="0"/>
          </a:p>
          <a:p>
            <a:pPr fontAlgn="auto">
              <a:spcAft>
                <a:spcPts val="0"/>
              </a:spcAft>
            </a:pPr>
            <a:endParaRPr lang="en-US" sz="2600" dirty="0"/>
          </a:p>
          <a:p>
            <a:pPr fontAlgn="auto">
              <a:spcAft>
                <a:spcPts val="0"/>
              </a:spcAft>
            </a:pPr>
            <a:endParaRPr lang="en-US" sz="2600" dirty="0"/>
          </a:p>
          <a:p>
            <a:pPr fontAlgn="auto">
              <a:spcAft>
                <a:spcPts val="0"/>
              </a:spcAft>
            </a:pPr>
            <a:endParaRPr lang="en-US" sz="2600" dirty="0"/>
          </a:p>
          <a:p>
            <a:pPr lvl="1" fontAlgn="auto">
              <a:spcAft>
                <a:spcPts val="0"/>
              </a:spcAft>
              <a:buFont typeface="Wingdings" pitchFamily="2" charset="2"/>
              <a:buNone/>
            </a:pPr>
            <a:endParaRPr lang="en-US" sz="2800" b="1" dirty="0"/>
          </a:p>
          <a:p>
            <a:pPr marL="625475" lvl="1" indent="-2603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400" dirty="0"/>
              <a:t>Observations:</a:t>
            </a:r>
          </a:p>
          <a:p>
            <a:pPr marL="898525" lvl="2" indent="-2730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</a:rPr>
              <a:t>immediate</a:t>
            </a:r>
            <a:r>
              <a:rPr lang="en-US" sz="2000" b="1" dirty="0"/>
              <a:t> </a:t>
            </a:r>
            <a:r>
              <a:rPr lang="en-US" sz="2000" dirty="0"/>
              <a:t>field specifies the number of words to jump, which is the same as the number of instructions to “skip over”</a:t>
            </a:r>
          </a:p>
          <a:p>
            <a:pPr marL="898525" lvl="2" indent="-2730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2060"/>
                </a:solidFill>
                <a:latin typeface="Courier New" pitchFamily="49" charset="0"/>
              </a:rPr>
              <a:t>immediate</a:t>
            </a:r>
            <a:r>
              <a:rPr lang="en-US" sz="2000" dirty="0"/>
              <a:t> field can be positive or negative</a:t>
            </a:r>
          </a:p>
          <a:p>
            <a:pPr marL="898525" lvl="2" indent="-273050" fontAlgn="auto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2000" dirty="0"/>
              <a:t>Due to hardware design, add </a:t>
            </a:r>
            <a:r>
              <a:rPr lang="en-US" sz="2000" b="1" dirty="0">
                <a:latin typeface="Courier New" pitchFamily="49" charset="0"/>
              </a:rPr>
              <a:t>immediate</a:t>
            </a:r>
            <a:r>
              <a:rPr lang="en-US" sz="2000" dirty="0"/>
              <a:t> to (PC+4), not to PC (more in later topic)</a:t>
            </a:r>
          </a:p>
        </p:txBody>
      </p:sp>
      <p:sp>
        <p:nvSpPr>
          <p:cNvPr id="13" name="Round Single Corner Rectangle 12"/>
          <p:cNvSpPr/>
          <p:nvPr/>
        </p:nvSpPr>
        <p:spPr>
          <a:xfrm>
            <a:off x="1234440" y="1855298"/>
            <a:ext cx="5943600" cy="1270419"/>
          </a:xfrm>
          <a:prstGeom prst="round1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69925" lvl="1" indent="-325438">
              <a:spcBef>
                <a:spcPct val="20000"/>
              </a:spcBef>
              <a:buClr>
                <a:srgbClr val="CCB400"/>
              </a:buClr>
              <a:buSzPct val="60000"/>
            </a:pPr>
            <a:r>
              <a:rPr lang="en-US" sz="2400" kern="0" dirty="0">
                <a:solidFill>
                  <a:prstClr val="black"/>
                </a:solidFill>
              </a:rPr>
              <a:t>If the branch is </a:t>
            </a:r>
            <a:r>
              <a:rPr lang="en-US" sz="2400" b="1" kern="0" dirty="0">
                <a:solidFill>
                  <a:srgbClr val="006600"/>
                </a:solidFill>
              </a:rPr>
              <a:t>not taken</a:t>
            </a:r>
            <a:r>
              <a:rPr lang="en-US" sz="2400" kern="0" dirty="0">
                <a:solidFill>
                  <a:srgbClr val="006600"/>
                </a:solidFill>
              </a:rPr>
              <a:t>:</a:t>
            </a:r>
          </a:p>
          <a:p>
            <a:pPr marL="669925" lvl="1" indent="-325438">
              <a:spcBef>
                <a:spcPct val="20000"/>
              </a:spcBef>
              <a:buClr>
                <a:srgbClr val="CCB400"/>
              </a:buClr>
              <a:buSzPct val="60000"/>
            </a:pPr>
            <a:r>
              <a:rPr lang="en-US" sz="2200" kern="0" dirty="0">
                <a:solidFill>
                  <a:prstClr val="black"/>
                </a:solidFill>
              </a:rPr>
              <a:t>			</a:t>
            </a:r>
            <a:r>
              <a:rPr lang="en-US" sz="2200" b="1" kern="0" dirty="0">
                <a:solidFill>
                  <a:srgbClr val="C00000"/>
                </a:solidFill>
              </a:rPr>
              <a:t>PC</a:t>
            </a:r>
            <a:r>
              <a:rPr lang="en-US" sz="2200" b="1" kern="0" dirty="0">
                <a:solidFill>
                  <a:prstClr val="black"/>
                </a:solidFill>
              </a:rPr>
              <a:t> = </a:t>
            </a:r>
            <a:r>
              <a:rPr lang="en-US" sz="2200" b="1" kern="0" dirty="0">
                <a:solidFill>
                  <a:srgbClr val="C00000"/>
                </a:solidFill>
              </a:rPr>
              <a:t>PC</a:t>
            </a:r>
            <a:r>
              <a:rPr lang="en-US" sz="2200" b="1" kern="0" dirty="0">
                <a:solidFill>
                  <a:prstClr val="black"/>
                </a:solidFill>
              </a:rPr>
              <a:t> + 4</a:t>
            </a:r>
            <a:r>
              <a:rPr lang="en-US" sz="2200" kern="0" dirty="0">
                <a:solidFill>
                  <a:prstClr val="black"/>
                </a:solidFill>
              </a:rPr>
              <a:t> </a:t>
            </a:r>
          </a:p>
          <a:p>
            <a:pPr marL="669925" lvl="1" indent="-325438">
              <a:spcBef>
                <a:spcPct val="20000"/>
              </a:spcBef>
              <a:buClr>
                <a:srgbClr val="CCB400"/>
              </a:buClr>
              <a:buSzPct val="60000"/>
            </a:pPr>
            <a:r>
              <a:rPr lang="en-US" sz="2200" kern="0" dirty="0">
                <a:solidFill>
                  <a:prstClr val="black"/>
                </a:solidFill>
              </a:rPr>
              <a:t>(</a:t>
            </a:r>
            <a:r>
              <a:rPr lang="en-US" sz="2200" b="1" kern="0" dirty="0">
                <a:solidFill>
                  <a:srgbClr val="C00000"/>
                </a:solidFill>
              </a:rPr>
              <a:t>PC </a:t>
            </a:r>
            <a:r>
              <a:rPr lang="en-US" sz="2200" b="1" kern="0" dirty="0">
                <a:solidFill>
                  <a:prstClr val="black"/>
                </a:solidFill>
              </a:rPr>
              <a:t>+ 4</a:t>
            </a:r>
            <a:r>
              <a:rPr lang="en-US" sz="2200" kern="0" dirty="0">
                <a:solidFill>
                  <a:prstClr val="black"/>
                </a:solidFill>
              </a:rPr>
              <a:t> is  address of next instruction)</a:t>
            </a:r>
            <a:endParaRPr lang="en-US" dirty="0"/>
          </a:p>
        </p:txBody>
      </p:sp>
      <p:sp>
        <p:nvSpPr>
          <p:cNvPr id="14" name="Round Single Corner Rectangle 13"/>
          <p:cNvSpPr/>
          <p:nvPr/>
        </p:nvSpPr>
        <p:spPr>
          <a:xfrm>
            <a:off x="1234440" y="3233274"/>
            <a:ext cx="5943600" cy="896766"/>
          </a:xfrm>
          <a:prstGeom prst="round1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69925" lvl="1" indent="-325438">
              <a:spcBef>
                <a:spcPct val="20000"/>
              </a:spcBef>
              <a:buClr>
                <a:srgbClr val="CCB400"/>
              </a:buClr>
              <a:buSzPct val="60000"/>
            </a:pPr>
            <a:r>
              <a:rPr lang="en-US" sz="2400" kern="0" dirty="0">
                <a:solidFill>
                  <a:prstClr val="black"/>
                </a:solidFill>
              </a:rPr>
              <a:t>If the branch is </a:t>
            </a:r>
            <a:r>
              <a:rPr lang="en-US" sz="2400" b="1" kern="0" dirty="0">
                <a:solidFill>
                  <a:srgbClr val="660066"/>
                </a:solidFill>
              </a:rPr>
              <a:t>taken</a:t>
            </a:r>
            <a:r>
              <a:rPr lang="en-US" sz="2400" kern="0" dirty="0">
                <a:solidFill>
                  <a:srgbClr val="660066"/>
                </a:solidFill>
              </a:rPr>
              <a:t>:</a:t>
            </a:r>
          </a:p>
          <a:p>
            <a:pPr marL="669925" lvl="1" indent="-325438">
              <a:spcBef>
                <a:spcPct val="20000"/>
              </a:spcBef>
              <a:buClr>
                <a:srgbClr val="CCB400"/>
              </a:buClr>
              <a:buSzPct val="60000"/>
            </a:pPr>
            <a:r>
              <a:rPr lang="en-US" sz="2200" kern="0" dirty="0">
                <a:solidFill>
                  <a:prstClr val="black"/>
                </a:solidFill>
              </a:rPr>
              <a:t>		   </a:t>
            </a:r>
            <a:r>
              <a:rPr lang="en-US" sz="2200" b="1" kern="0" dirty="0">
                <a:solidFill>
                  <a:srgbClr val="C00000"/>
                </a:solidFill>
              </a:rPr>
              <a:t>PC</a:t>
            </a:r>
            <a:r>
              <a:rPr lang="en-US" sz="2200" b="1" kern="0" dirty="0">
                <a:solidFill>
                  <a:prstClr val="black"/>
                </a:solidFill>
              </a:rPr>
              <a:t> = (</a:t>
            </a:r>
            <a:r>
              <a:rPr lang="en-US" sz="2200" b="1" kern="0" dirty="0">
                <a:solidFill>
                  <a:srgbClr val="C00000"/>
                </a:solidFill>
              </a:rPr>
              <a:t>PC</a:t>
            </a:r>
            <a:r>
              <a:rPr lang="en-US" sz="2200" b="1" kern="0" dirty="0">
                <a:solidFill>
                  <a:prstClr val="black"/>
                </a:solidFill>
              </a:rPr>
              <a:t> + 4) + (</a:t>
            </a:r>
            <a:r>
              <a:rPr lang="en-US" sz="2200" b="1" kern="0" dirty="0">
                <a:solidFill>
                  <a:srgbClr val="002060"/>
                </a:solidFill>
                <a:latin typeface="Courier New" pitchFamily="49" charset="0"/>
              </a:rPr>
              <a:t>immediate</a:t>
            </a:r>
            <a:r>
              <a:rPr lang="en-US" sz="2200" b="1" kern="0" dirty="0">
                <a:solidFill>
                  <a:prstClr val="black"/>
                </a:solidFill>
              </a:rPr>
              <a:t> </a:t>
            </a:r>
            <a:r>
              <a:rPr lang="en-US" sz="2200" b="1" kern="0" dirty="0">
                <a:solidFill>
                  <a:prstClr val="black"/>
                </a:solidFill>
                <a:sym typeface="Symbol" pitchFamily="18" charset="2"/>
              </a:rPr>
              <a:t></a:t>
            </a:r>
            <a:r>
              <a:rPr lang="en-US" sz="2200" b="1" kern="0" dirty="0">
                <a:solidFill>
                  <a:prstClr val="black"/>
                </a:solidFill>
              </a:rPr>
              <a:t> 4)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1C6BA86F-B03C-443C-B1A7-5E8933EED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19621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6.5 Branch: Example (1/3)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 bwMode="auto">
          <a:xfrm>
            <a:off x="457200" y="3687518"/>
            <a:ext cx="2514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5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  <a:tabLst>
                <a:tab pos="1714500" algn="l"/>
                <a:tab pos="2286000" algn="l"/>
              </a:tabLst>
            </a:pP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dirty="0"/>
              <a:t> is an </a:t>
            </a:r>
            <a:br>
              <a:rPr lang="en-US" sz="2400" dirty="0"/>
            </a:br>
            <a:r>
              <a:rPr lang="en-US" sz="2400" dirty="0"/>
              <a:t>I-Format instruction </a:t>
            </a:r>
            <a:r>
              <a:rPr lang="en-US" sz="2400" dirty="0">
                <a:sym typeface="Wingdings" pitchFamily="2" charset="2"/>
              </a:rPr>
              <a:t></a:t>
            </a:r>
            <a:endParaRPr lang="en-US" sz="2400" dirty="0"/>
          </a:p>
          <a:p>
            <a:pPr marL="669925" lvl="1" indent="-325438">
              <a:spcBef>
                <a:spcPct val="20000"/>
              </a:spcBef>
              <a:buClr>
                <a:schemeClr val="accent2"/>
              </a:buClr>
              <a:buSzPct val="60000"/>
              <a:buFont typeface="Wingdings" pitchFamily="2" charset="2"/>
              <a:buNone/>
              <a:tabLst>
                <a:tab pos="1714500" algn="l"/>
                <a:tab pos="2286000" algn="l"/>
              </a:tabLst>
            </a:pPr>
            <a:r>
              <a:rPr lang="en-US" sz="2400" b="1" dirty="0">
                <a:latin typeface="Courier New" pitchFamily="49" charset="0"/>
              </a:rPr>
              <a:t> </a:t>
            </a:r>
            <a:endParaRPr lang="en-US" sz="2400" b="1" dirty="0">
              <a:solidFill>
                <a:srgbClr val="0000CC"/>
              </a:solidFill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819400" y="3687518"/>
          <a:ext cx="5638800" cy="2529840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99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I-Format Fields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Remarks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opcode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2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4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rs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(first operand)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4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>
                          <a:latin typeface="Courier New" pitchFamily="49" charset="0"/>
                          <a:cs typeface="Courier New" pitchFamily="49" charset="0"/>
                        </a:rPr>
                        <a:t>rt</a:t>
                      </a:r>
                      <a:endParaRPr lang="en-US" sz="2400" b="1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dirty="0"/>
                        <a:t>(second operand)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42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itchFamily="49" charset="0"/>
                          <a:cs typeface="Courier New" pitchFamily="49" charset="0"/>
                        </a:rPr>
                        <a:t>immediate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???</a:t>
                      </a:r>
                      <a:endParaRPr lang="en-US" sz="240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(in base 10)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5800" y="1325318"/>
            <a:ext cx="79248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kern="0" dirty="0">
                <a:latin typeface="Courier New" pitchFamily="49" charset="0"/>
                <a:cs typeface="+mn-cs"/>
              </a:rPr>
              <a:t>  </a:t>
            </a:r>
            <a:r>
              <a:rPr lang="en-US" sz="2400" b="1" dirty="0">
                <a:latin typeface="Courier New" pitchFamily="49" charset="0"/>
              </a:rPr>
              <a:t>Loop: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 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End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0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$10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4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-1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8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b="1" dirty="0">
                <a:latin typeface="Courier New" pitchFamily="49" charset="0"/>
              </a:rPr>
              <a:t>    Loop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12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latin typeface="Courier New" pitchFamily="49" charset="0"/>
              </a:rPr>
              <a:t>  End: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               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16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286000" y="1325318"/>
            <a:ext cx="3276600" cy="381000"/>
          </a:xfrm>
          <a:prstGeom prst="rect">
            <a:avLst/>
          </a:prstGeom>
          <a:noFill/>
          <a:ln w="222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CF25335C-18D6-4D52-8E33-846EE7D9A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7589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6.5 Branch: Example (2/3)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5800" y="1325318"/>
            <a:ext cx="79248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kern="0" dirty="0">
                <a:latin typeface="Courier New" pitchFamily="49" charset="0"/>
                <a:cs typeface="+mn-cs"/>
              </a:rPr>
              <a:t>  </a:t>
            </a:r>
            <a:r>
              <a:rPr lang="en-US" sz="2400" b="1" dirty="0">
                <a:latin typeface="Courier New" pitchFamily="49" charset="0"/>
              </a:rPr>
              <a:t>Loop: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 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End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0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$10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4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-1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8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b="1" dirty="0">
                <a:latin typeface="Courier New" pitchFamily="49" charset="0"/>
              </a:rPr>
              <a:t>    Loop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12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latin typeface="Courier New" pitchFamily="49" charset="0"/>
              </a:rPr>
              <a:t>  End: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               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16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286000" y="1325318"/>
            <a:ext cx="3276600" cy="381000"/>
          </a:xfrm>
          <a:prstGeom prst="rect">
            <a:avLst/>
          </a:prstGeom>
          <a:noFill/>
          <a:ln w="222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>
          <a:xfrm>
            <a:off x="457200" y="3459480"/>
            <a:ext cx="8305800" cy="2712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14500" algn="l"/>
                <a:tab pos="2286000" algn="l"/>
              </a:tabLst>
            </a:pPr>
            <a:r>
              <a:rPr lang="en-US" sz="2800" b="1" dirty="0">
                <a:latin typeface="Courier New" pitchFamily="49" charset="0"/>
              </a:rPr>
              <a:t>immediate</a:t>
            </a:r>
            <a:r>
              <a:rPr lang="en-US" sz="2800" dirty="0"/>
              <a:t> field: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14500" algn="l"/>
                <a:tab pos="2286000" algn="l"/>
              </a:tabLst>
            </a:pPr>
            <a:r>
              <a:rPr lang="en-US" sz="2400" dirty="0"/>
              <a:t>Number of instructions to add to (or subtract from) the PC, starting at the instruction following the branch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14500" algn="l"/>
                <a:tab pos="2286000" algn="l"/>
              </a:tabLst>
            </a:pPr>
            <a:r>
              <a:rPr lang="en-US" sz="2400" dirty="0"/>
              <a:t>In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dirty="0"/>
              <a:t> case,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immediate</a:t>
            </a:r>
            <a:r>
              <a:rPr lang="en-US" sz="2400" b="1" dirty="0">
                <a:solidFill>
                  <a:srgbClr val="C00000"/>
                </a:solidFill>
              </a:rPr>
              <a:t> = 3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  <a:tabLst>
                <a:tab pos="1714500" algn="l"/>
                <a:tab pos="2286000" algn="l"/>
              </a:tabLst>
            </a:pPr>
            <a:r>
              <a:rPr lang="en-US" sz="2400" b="1" dirty="0"/>
              <a:t>End = (</a:t>
            </a:r>
            <a:r>
              <a:rPr lang="en-US" sz="2400" b="1" dirty="0">
                <a:solidFill>
                  <a:srgbClr val="C00000"/>
                </a:solidFill>
              </a:rPr>
              <a:t>PC</a:t>
            </a:r>
            <a:r>
              <a:rPr lang="en-US" sz="2400" b="1" dirty="0"/>
              <a:t> + 4) + (</a:t>
            </a:r>
            <a:r>
              <a:rPr lang="en-US" sz="2400" b="1" dirty="0">
                <a:solidFill>
                  <a:srgbClr val="002060"/>
                </a:solidFill>
              </a:rPr>
              <a:t>immediate</a:t>
            </a:r>
            <a:r>
              <a:rPr lang="en-US" sz="2400" b="1" dirty="0"/>
              <a:t> </a:t>
            </a:r>
            <a:r>
              <a:rPr lang="en-US" sz="2400" b="1" dirty="0">
                <a:sym typeface="Symbol" pitchFamily="18" charset="2"/>
              </a:rPr>
              <a:t></a:t>
            </a:r>
            <a:r>
              <a:rPr lang="en-US" sz="2400" b="1" dirty="0"/>
              <a:t> 4) 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E6FCE364-540A-4F4B-BBF6-98F24B94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29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4628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6.5 Branch: Example (3/3)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685800" y="1325318"/>
            <a:ext cx="79248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kern="0" dirty="0">
                <a:latin typeface="Courier New" pitchFamily="49" charset="0"/>
                <a:cs typeface="+mn-cs"/>
              </a:rPr>
              <a:t>  </a:t>
            </a:r>
            <a:r>
              <a:rPr lang="en-US" sz="2400" b="1" dirty="0">
                <a:latin typeface="Courier New" pitchFamily="49" charset="0"/>
              </a:rPr>
              <a:t>Loop: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 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End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0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$10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4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-1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8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b="1" dirty="0">
                <a:latin typeface="Courier New" pitchFamily="49" charset="0"/>
              </a:rPr>
              <a:t>    Loop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12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latin typeface="Courier New" pitchFamily="49" charset="0"/>
              </a:rPr>
              <a:t>  End: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               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16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2286000" y="1325318"/>
            <a:ext cx="3276600" cy="381000"/>
          </a:xfrm>
          <a:prstGeom prst="rect">
            <a:avLst/>
          </a:prstGeom>
          <a:noFill/>
          <a:ln w="222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381000" y="3352800"/>
            <a:ext cx="8229600" cy="1738313"/>
            <a:chOff x="240" y="1440"/>
            <a:chExt cx="5184" cy="1095"/>
          </a:xfrm>
        </p:grpSpPr>
        <p:sp>
          <p:nvSpPr>
            <p:cNvPr id="10" name="Text Box 5"/>
            <p:cNvSpPr txBox="1">
              <a:spLocks noChangeArrowheads="1"/>
            </p:cNvSpPr>
            <p:nvPr/>
          </p:nvSpPr>
          <p:spPr bwMode="auto">
            <a:xfrm>
              <a:off x="240" y="1440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Field representation in decimal:</a:t>
              </a:r>
            </a:p>
          </p:txBody>
        </p:sp>
        <p:grpSp>
          <p:nvGrpSpPr>
            <p:cNvPr id="12" name="Group 6"/>
            <p:cNvGrpSpPr>
              <a:grpSpLocks/>
            </p:cNvGrpSpPr>
            <p:nvPr/>
          </p:nvGrpSpPr>
          <p:grpSpPr bwMode="auto">
            <a:xfrm>
              <a:off x="288" y="1680"/>
              <a:ext cx="5136" cy="855"/>
              <a:chOff x="192" y="1680"/>
              <a:chExt cx="5136" cy="855"/>
            </a:xfrm>
          </p:grpSpPr>
          <p:sp>
            <p:nvSpPr>
              <p:cNvPr id="13" name="Text Box 7"/>
              <p:cNvSpPr txBox="1">
                <a:spLocks noChangeArrowheads="1"/>
              </p:cNvSpPr>
              <p:nvPr/>
            </p:nvSpPr>
            <p:spPr bwMode="auto">
              <a:xfrm>
                <a:off x="334" y="1680"/>
                <a:ext cx="692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opcode</a:t>
                </a:r>
              </a:p>
            </p:txBody>
          </p:sp>
          <p:sp>
            <p:nvSpPr>
              <p:cNvPr id="16" name="Text Box 8"/>
              <p:cNvSpPr txBox="1">
                <a:spLocks noChangeArrowheads="1"/>
              </p:cNvSpPr>
              <p:nvPr/>
            </p:nvSpPr>
            <p:spPr bwMode="auto">
              <a:xfrm>
                <a:off x="1372" y="1680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rs</a:t>
                </a:r>
              </a:p>
            </p:txBody>
          </p:sp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2226" y="1680"/>
                <a:ext cx="308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000" b="1" dirty="0" err="1">
                    <a:latin typeface="Courier New" pitchFamily="49" charset="0"/>
                  </a:rPr>
                  <a:t>rt</a:t>
                </a:r>
                <a:endParaRPr lang="en-US" sz="2000" b="1" dirty="0">
                  <a:latin typeface="Courier New" pitchFamily="49" charset="0"/>
                </a:endParaRPr>
              </a:p>
            </p:txBody>
          </p:sp>
          <p:sp>
            <p:nvSpPr>
              <p:cNvPr id="19" name="Text Box 10"/>
              <p:cNvSpPr txBox="1">
                <a:spLocks noChangeArrowheads="1"/>
              </p:cNvSpPr>
              <p:nvPr/>
            </p:nvSpPr>
            <p:spPr bwMode="auto">
              <a:xfrm>
                <a:off x="3408" y="1680"/>
                <a:ext cx="1200" cy="250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000" b="1">
                    <a:latin typeface="Courier New" pitchFamily="49" charset="0"/>
                  </a:rPr>
                  <a:t>immediate</a:t>
                </a:r>
              </a:p>
            </p:txBody>
          </p:sp>
          <p:grpSp>
            <p:nvGrpSpPr>
              <p:cNvPr id="20" name="Group 11"/>
              <p:cNvGrpSpPr>
                <a:grpSpLocks/>
              </p:cNvGrpSpPr>
              <p:nvPr/>
            </p:nvGrpSpPr>
            <p:grpSpPr bwMode="auto">
              <a:xfrm>
                <a:off x="192" y="1920"/>
                <a:ext cx="5136" cy="615"/>
                <a:chOff x="432" y="3120"/>
                <a:chExt cx="5136" cy="615"/>
              </a:xfrm>
            </p:grpSpPr>
            <p:grpSp>
              <p:nvGrpSpPr>
                <p:cNvPr id="22" name="Group 12"/>
                <p:cNvGrpSpPr>
                  <a:grpSpLocks/>
                </p:cNvGrpSpPr>
                <p:nvPr/>
              </p:nvGrpSpPr>
              <p:grpSpPr bwMode="auto">
                <a:xfrm>
                  <a:off x="835" y="3120"/>
                  <a:ext cx="4311" cy="327"/>
                  <a:chOff x="623" y="2496"/>
                  <a:chExt cx="4311" cy="327"/>
                </a:xfrm>
              </p:grpSpPr>
              <p:sp>
                <p:nvSpPr>
                  <p:cNvPr id="31" name="Text Box 1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23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660066"/>
                        </a:solidFill>
                        <a:latin typeface="Courier New" pitchFamily="49" charset="0"/>
                      </a:rPr>
                      <a:t>4</a:t>
                    </a:r>
                    <a:endParaRPr lang="en-US" sz="2800" dirty="0">
                      <a:solidFill>
                        <a:srgbClr val="660066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2" name="Text Box 1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488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6600"/>
                        </a:solidFill>
                        <a:latin typeface="Courier New" pitchFamily="49" charset="0"/>
                      </a:rPr>
                      <a:t>9</a:t>
                    </a:r>
                    <a:endParaRPr lang="en-US" sz="2800" dirty="0">
                      <a:solidFill>
                        <a:srgbClr val="0066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3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7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6600"/>
                        </a:solidFill>
                        <a:latin typeface="Courier New" pitchFamily="49" charset="0"/>
                      </a:rPr>
                      <a:t>0</a:t>
                    </a:r>
                    <a:endParaRPr lang="en-US" sz="2800" dirty="0">
                      <a:solidFill>
                        <a:srgbClr val="006600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4" name="Text Box 1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153" y="2546"/>
                    <a:ext cx="11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endParaRPr lang="en-US" sz="2000">
                      <a:solidFill>
                        <a:schemeClr val="accent1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5" name="Text Box 17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818" y="2546"/>
                    <a:ext cx="116" cy="250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endParaRPr lang="en-US" sz="2000">
                      <a:solidFill>
                        <a:schemeClr val="accent1"/>
                      </a:solidFill>
                      <a:latin typeface="Helvetica" pitchFamily="34" charset="0"/>
                    </a:endParaRPr>
                  </a:p>
                </p:txBody>
              </p:sp>
              <p:sp>
                <p:nvSpPr>
                  <p:cNvPr id="36" name="Text Box 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884" y="2496"/>
                    <a:ext cx="250" cy="327"/>
                  </a:xfrm>
                  <a:prstGeom prst="rect">
                    <a:avLst/>
                  </a:prstGeom>
                  <a:noFill/>
                  <a:ln w="12700">
                    <a:noFill/>
                    <a:miter lim="800000"/>
                    <a:headEnd/>
                    <a:tailEnd/>
                  </a:ln>
                </p:spPr>
                <p:txBody>
                  <a:bodyPr wrap="none">
                    <a:spAutoFit/>
                  </a:bodyPr>
                  <a:lstStyle/>
                  <a:p>
                    <a:pPr algn="ctr" eaLnBrk="0" hangingPunct="0"/>
                    <a:r>
                      <a:rPr lang="en-US" sz="2800" b="1" dirty="0">
                        <a:solidFill>
                          <a:srgbClr val="002060"/>
                        </a:solidFill>
                        <a:latin typeface="Courier New" pitchFamily="49" charset="0"/>
                      </a:rPr>
                      <a:t>3</a:t>
                    </a:r>
                    <a:endParaRPr lang="en-US" sz="2800" dirty="0">
                      <a:solidFill>
                        <a:srgbClr val="002060"/>
                      </a:solidFill>
                      <a:latin typeface="Helvetica" pitchFamily="34" charset="0"/>
                    </a:endParaRPr>
                  </a:p>
                </p:txBody>
              </p:sp>
            </p:grpSp>
            <p:sp>
              <p:nvSpPr>
                <p:cNvPr id="23" name="Rectangle 19"/>
                <p:cNvSpPr>
                  <a:spLocks noChangeArrowheads="1"/>
                </p:cNvSpPr>
                <p:nvPr/>
              </p:nvSpPr>
              <p:spPr bwMode="auto">
                <a:xfrm>
                  <a:off x="432" y="3120"/>
                  <a:ext cx="5136" cy="288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" name="Line 20"/>
                <p:cNvSpPr>
                  <a:spLocks noChangeShapeType="1"/>
                </p:cNvSpPr>
                <p:nvPr/>
              </p:nvSpPr>
              <p:spPr bwMode="auto">
                <a:xfrm>
                  <a:off x="1392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" name="Line 21"/>
                <p:cNvSpPr>
                  <a:spLocks noChangeShapeType="1"/>
                </p:cNvSpPr>
                <p:nvPr/>
              </p:nvSpPr>
              <p:spPr bwMode="auto">
                <a:xfrm>
                  <a:off x="2208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6" name="Line 22"/>
                <p:cNvSpPr>
                  <a:spLocks noChangeShapeType="1"/>
                </p:cNvSpPr>
                <p:nvPr/>
              </p:nvSpPr>
              <p:spPr bwMode="auto">
                <a:xfrm>
                  <a:off x="2976" y="3120"/>
                  <a:ext cx="0" cy="28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7" name="Text Box 23"/>
                <p:cNvSpPr txBox="1">
                  <a:spLocks noChangeArrowheads="1"/>
                </p:cNvSpPr>
                <p:nvPr/>
              </p:nvSpPr>
              <p:spPr bwMode="auto">
                <a:xfrm>
                  <a:off x="528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28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1440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29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2208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  <p:sp>
              <p:nvSpPr>
                <p:cNvPr id="30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3840" y="3408"/>
                  <a:ext cx="11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eaLnBrk="0" hangingPunct="0"/>
                  <a:endParaRPr lang="en-US" b="1">
                    <a:latin typeface="Helvetica" pitchFamily="34" charset="0"/>
                  </a:endParaRPr>
                </a:p>
              </p:txBody>
            </p:sp>
          </p:grpSp>
        </p:grpSp>
      </p:grpSp>
      <p:grpSp>
        <p:nvGrpSpPr>
          <p:cNvPr id="37" name="Group 27"/>
          <p:cNvGrpSpPr>
            <a:grpSpLocks/>
          </p:cNvGrpSpPr>
          <p:nvPr/>
        </p:nvGrpSpPr>
        <p:grpSpPr bwMode="auto">
          <a:xfrm>
            <a:off x="381000" y="4876800"/>
            <a:ext cx="8305800" cy="1509713"/>
            <a:chOff x="240" y="2304"/>
            <a:chExt cx="5232" cy="951"/>
          </a:xfrm>
        </p:grpSpPr>
        <p:sp>
          <p:nvSpPr>
            <p:cNvPr id="38" name="Text Box 28"/>
            <p:cNvSpPr txBox="1">
              <a:spLocks noChangeArrowheads="1"/>
            </p:cNvSpPr>
            <p:nvPr/>
          </p:nvSpPr>
          <p:spPr bwMode="auto">
            <a:xfrm>
              <a:off x="240" y="2304"/>
              <a:ext cx="350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/>
                <a:t>Field representation in binary:</a:t>
              </a:r>
            </a:p>
          </p:txBody>
        </p:sp>
        <p:grpSp>
          <p:nvGrpSpPr>
            <p:cNvPr id="39" name="Group 29"/>
            <p:cNvGrpSpPr>
              <a:grpSpLocks/>
            </p:cNvGrpSpPr>
            <p:nvPr/>
          </p:nvGrpSpPr>
          <p:grpSpPr bwMode="auto">
            <a:xfrm>
              <a:off x="336" y="2640"/>
              <a:ext cx="5136" cy="615"/>
              <a:chOff x="432" y="3120"/>
              <a:chExt cx="5136" cy="615"/>
            </a:xfrm>
          </p:grpSpPr>
          <p:grpSp>
            <p:nvGrpSpPr>
              <p:cNvPr id="40" name="Group 30"/>
              <p:cNvGrpSpPr>
                <a:grpSpLocks/>
              </p:cNvGrpSpPr>
              <p:nvPr/>
            </p:nvGrpSpPr>
            <p:grpSpPr bwMode="auto">
              <a:xfrm>
                <a:off x="500" y="3120"/>
                <a:ext cx="4852" cy="327"/>
                <a:chOff x="288" y="2496"/>
                <a:chExt cx="4852" cy="327"/>
              </a:xfrm>
            </p:grpSpPr>
            <p:sp>
              <p:nvSpPr>
                <p:cNvPr id="49" name="Text Box 31"/>
                <p:cNvSpPr txBox="1">
                  <a:spLocks noChangeArrowheads="1"/>
                </p:cNvSpPr>
                <p:nvPr/>
              </p:nvSpPr>
              <p:spPr bwMode="auto">
                <a:xfrm>
                  <a:off x="288" y="2496"/>
                  <a:ext cx="920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660066"/>
                      </a:solidFill>
                      <a:latin typeface="Courier New" pitchFamily="49" charset="0"/>
                    </a:rPr>
                    <a:t>000100</a:t>
                  </a:r>
                  <a:endParaRPr lang="en-US" sz="2800" dirty="0">
                    <a:solidFill>
                      <a:srgbClr val="660066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0" name="Text Box 32"/>
                <p:cNvSpPr txBox="1">
                  <a:spLocks noChangeArrowheads="1"/>
                </p:cNvSpPr>
                <p:nvPr/>
              </p:nvSpPr>
              <p:spPr bwMode="auto">
                <a:xfrm>
                  <a:off x="1220" y="2496"/>
                  <a:ext cx="78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6600"/>
                      </a:solidFill>
                      <a:latin typeface="Courier New" pitchFamily="49" charset="0"/>
                    </a:rPr>
                    <a:t>01001</a:t>
                  </a:r>
                  <a:endParaRPr lang="en-US" sz="2800" dirty="0">
                    <a:solidFill>
                      <a:srgbClr val="0066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1" name="Text Box 33"/>
                <p:cNvSpPr txBox="1">
                  <a:spLocks noChangeArrowheads="1"/>
                </p:cNvSpPr>
                <p:nvPr/>
              </p:nvSpPr>
              <p:spPr bwMode="auto">
                <a:xfrm>
                  <a:off x="2019" y="2496"/>
                  <a:ext cx="786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6600"/>
                      </a:solidFill>
                      <a:latin typeface="Courier New" pitchFamily="49" charset="0"/>
                    </a:rPr>
                    <a:t>00000</a:t>
                  </a:r>
                  <a:endParaRPr lang="en-US" sz="2800" dirty="0">
                    <a:solidFill>
                      <a:srgbClr val="006600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2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153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3" name="Text Box 35"/>
                <p:cNvSpPr txBox="1">
                  <a:spLocks noChangeArrowheads="1"/>
                </p:cNvSpPr>
                <p:nvPr/>
              </p:nvSpPr>
              <p:spPr bwMode="auto">
                <a:xfrm>
                  <a:off x="4818" y="2546"/>
                  <a:ext cx="116" cy="250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endParaRPr lang="en-US" sz="2000">
                    <a:solidFill>
                      <a:schemeClr val="accent1"/>
                    </a:solidFill>
                    <a:latin typeface="Helvetica" pitchFamily="34" charset="0"/>
                  </a:endParaRPr>
                </a:p>
              </p:txBody>
            </p:sp>
            <p:sp>
              <p:nvSpPr>
                <p:cNvPr id="54" name="Text Box 36"/>
                <p:cNvSpPr txBox="1">
                  <a:spLocks noChangeArrowheads="1"/>
                </p:cNvSpPr>
                <p:nvPr/>
              </p:nvSpPr>
              <p:spPr bwMode="auto">
                <a:xfrm>
                  <a:off x="2880" y="2496"/>
                  <a:ext cx="2260" cy="327"/>
                </a:xfrm>
                <a:prstGeom prst="rect">
                  <a:avLst/>
                </a:prstGeom>
                <a:noFill/>
                <a:ln w="12700">
                  <a:noFill/>
                  <a:miter lim="800000"/>
                  <a:headEnd/>
                  <a:tailEnd/>
                </a:ln>
              </p:spPr>
              <p:txBody>
                <a:bodyPr wrap="none">
                  <a:spAutoFit/>
                </a:bodyPr>
                <a:lstStyle/>
                <a:p>
                  <a:pPr algn="ctr" eaLnBrk="0" hangingPunct="0"/>
                  <a:r>
                    <a:rPr lang="en-US" sz="2800" b="1" dirty="0">
                      <a:solidFill>
                        <a:srgbClr val="002060"/>
                      </a:solidFill>
                      <a:latin typeface="Courier New" pitchFamily="49" charset="0"/>
                    </a:rPr>
                    <a:t>0000000000000011</a:t>
                  </a:r>
                  <a:endParaRPr lang="en-US" sz="2800" dirty="0">
                    <a:solidFill>
                      <a:srgbClr val="002060"/>
                    </a:solidFill>
                    <a:latin typeface="Helvetica" pitchFamily="34" charset="0"/>
                  </a:endParaRPr>
                </a:p>
              </p:txBody>
            </p:sp>
          </p:grpSp>
          <p:sp>
            <p:nvSpPr>
              <p:cNvPr id="41" name="Rectangle 37"/>
              <p:cNvSpPr>
                <a:spLocks noChangeArrowheads="1"/>
              </p:cNvSpPr>
              <p:nvPr/>
            </p:nvSpPr>
            <p:spPr bwMode="auto">
              <a:xfrm>
                <a:off x="432" y="3120"/>
                <a:ext cx="5136" cy="288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38"/>
              <p:cNvSpPr>
                <a:spLocks noChangeShapeType="1"/>
              </p:cNvSpPr>
              <p:nvPr/>
            </p:nvSpPr>
            <p:spPr bwMode="auto">
              <a:xfrm>
                <a:off x="1392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3" name="Line 39"/>
              <p:cNvSpPr>
                <a:spLocks noChangeShapeType="1"/>
              </p:cNvSpPr>
              <p:nvPr/>
            </p:nvSpPr>
            <p:spPr bwMode="auto">
              <a:xfrm>
                <a:off x="2208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4" name="Line 40"/>
              <p:cNvSpPr>
                <a:spLocks noChangeShapeType="1"/>
              </p:cNvSpPr>
              <p:nvPr/>
            </p:nvSpPr>
            <p:spPr bwMode="auto">
              <a:xfrm>
                <a:off x="2976" y="3120"/>
                <a:ext cx="0" cy="2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Text Box 41"/>
              <p:cNvSpPr txBox="1">
                <a:spLocks noChangeArrowheads="1"/>
              </p:cNvSpPr>
              <p:nvPr/>
            </p:nvSpPr>
            <p:spPr bwMode="auto">
              <a:xfrm>
                <a:off x="52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46" name="Text Box 42"/>
              <p:cNvSpPr txBox="1">
                <a:spLocks noChangeArrowheads="1"/>
              </p:cNvSpPr>
              <p:nvPr/>
            </p:nvSpPr>
            <p:spPr bwMode="auto">
              <a:xfrm>
                <a:off x="14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47" name="Text Box 43"/>
              <p:cNvSpPr txBox="1">
                <a:spLocks noChangeArrowheads="1"/>
              </p:cNvSpPr>
              <p:nvPr/>
            </p:nvSpPr>
            <p:spPr bwMode="auto">
              <a:xfrm>
                <a:off x="2208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  <p:sp>
            <p:nvSpPr>
              <p:cNvPr id="48" name="Text Box 44"/>
              <p:cNvSpPr txBox="1">
                <a:spLocks noChangeArrowheads="1"/>
              </p:cNvSpPr>
              <p:nvPr/>
            </p:nvSpPr>
            <p:spPr bwMode="auto">
              <a:xfrm>
                <a:off x="3840" y="3408"/>
                <a:ext cx="116" cy="327"/>
              </a:xfrm>
              <a:prstGeom prst="rect">
                <a:avLst/>
              </a:prstGeom>
              <a:noFill/>
              <a:ln w="1270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endParaRPr lang="en-US" b="1">
                  <a:latin typeface="Helvetica" pitchFamily="34" charset="0"/>
                </a:endParaRPr>
              </a:p>
            </p:txBody>
          </p:sp>
        </p:grpSp>
      </p:grpSp>
      <p:sp>
        <p:nvSpPr>
          <p:cNvPr id="55" name="Slide Number Placeholder 6">
            <a:extLst>
              <a:ext uri="{FF2B5EF4-FFF2-40B4-BE49-F238E27FC236}">
                <a16:creationId xmlns:a16="http://schemas.microsoft.com/office/drawing/2014/main" id="{E93DFA0A-A41E-487F-81DB-DD170246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025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  <a:latin typeface="+mn-lt"/>
              </a:rPr>
              <a:t>6.6 Try It Yourself #3</a:t>
            </a:r>
            <a:endParaRPr lang="en-US" sz="3600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457200" y="3614410"/>
            <a:ext cx="8229600" cy="116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What would be the </a:t>
            </a:r>
            <a:r>
              <a:rPr lang="en-US" sz="2800" b="1" dirty="0">
                <a:latin typeface="Courier New" pitchFamily="49" charset="0"/>
              </a:rPr>
              <a:t>immediate</a:t>
            </a:r>
            <a:r>
              <a:rPr lang="en-US" sz="2800" dirty="0"/>
              <a:t> value for the second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800" dirty="0"/>
              <a:t> instruction?</a:t>
            </a:r>
          </a:p>
        </p:txBody>
      </p:sp>
      <p:sp>
        <p:nvSpPr>
          <p:cNvPr id="12" name="Text Box 47"/>
          <p:cNvSpPr txBox="1">
            <a:spLocks noChangeArrowheads="1"/>
          </p:cNvSpPr>
          <p:nvPr/>
        </p:nvSpPr>
        <p:spPr bwMode="auto">
          <a:xfrm>
            <a:off x="2971800" y="4643556"/>
            <a:ext cx="236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dirty="0"/>
              <a:t>Answer: </a:t>
            </a:r>
            <a:r>
              <a:rPr lang="en-US" altLang="en-US" b="1" dirty="0">
                <a:solidFill>
                  <a:srgbClr val="0000CC"/>
                </a:solidFill>
              </a:rPr>
              <a:t>– 4  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152400" y="6400800"/>
            <a:ext cx="304800" cy="201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tIns="9144" rIns="9144" bIns="9144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1200">
                <a:sym typeface="Wingdings 2" pitchFamily="18" charset="2"/>
              </a:rPr>
              <a:t></a:t>
            </a: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 bwMode="auto">
          <a:xfrm>
            <a:off x="685800" y="1325318"/>
            <a:ext cx="7924800" cy="1905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accent6">
                <a:lumMod val="40000"/>
                <a:lumOff val="60000"/>
              </a:schemeClr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kern="0" dirty="0">
                <a:latin typeface="Courier New" pitchFamily="49" charset="0"/>
                <a:cs typeface="+mn-cs"/>
              </a:rPr>
              <a:t>  </a:t>
            </a:r>
            <a:r>
              <a:rPr lang="en-US" sz="2400" b="1" dirty="0">
                <a:latin typeface="Courier New" pitchFamily="49" charset="0"/>
              </a:rPr>
              <a:t>Loop: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 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End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0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$8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$10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4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400" b="1" dirty="0"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$9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-1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8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 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>
                <a:solidFill>
                  <a:srgbClr val="006600"/>
                </a:solidFill>
                <a:latin typeface="Courier New" pitchFamily="49" charset="0"/>
              </a:rPr>
              <a:t>$0</a:t>
            </a:r>
            <a:r>
              <a:rPr lang="en-US" sz="2400" b="1" dirty="0">
                <a:latin typeface="Courier New" pitchFamily="49" charset="0"/>
              </a:rPr>
              <a:t>, Loop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12</a:t>
            </a:r>
          </a:p>
          <a:p>
            <a:pPr>
              <a:tabLst>
                <a:tab pos="1714500" algn="l"/>
                <a:tab pos="2286000" algn="l"/>
                <a:tab pos="5029200" algn="l"/>
              </a:tabLst>
            </a:pPr>
            <a:r>
              <a:rPr lang="en-US" sz="2400" b="1" dirty="0">
                <a:latin typeface="Courier New" pitchFamily="49" charset="0"/>
              </a:rPr>
              <a:t>  End: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                 	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rlt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16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2392680" y="2470188"/>
            <a:ext cx="3276600" cy="381000"/>
          </a:xfrm>
          <a:prstGeom prst="rect">
            <a:avLst/>
          </a:prstGeom>
          <a:noFill/>
          <a:ln w="22225">
            <a:solidFill>
              <a:srgbClr val="C0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B5AC7B31-9D7F-438A-A032-EABC21E22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9336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J-Format (1/5)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3" name="Rectangle 3"/>
          <p:cNvSpPr txBox="1">
            <a:spLocks noChangeArrowheads="1"/>
          </p:cNvSpPr>
          <p:nvPr/>
        </p:nvSpPr>
        <p:spPr>
          <a:xfrm>
            <a:off x="381000" y="1474514"/>
            <a:ext cx="8305800" cy="4392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For branches, PC-relative addressing was used:</a:t>
            </a:r>
          </a:p>
          <a:p>
            <a:pPr marL="625475" lvl="1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Because we do not need to branch too far</a:t>
            </a:r>
          </a:p>
          <a:p>
            <a:pPr marL="274638" indent="-274638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For general jumps (</a:t>
            </a: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800" dirty="0"/>
              <a:t>):</a:t>
            </a:r>
          </a:p>
          <a:p>
            <a:pPr marL="625475" lvl="1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We may jump to anywhere in memory!</a:t>
            </a:r>
          </a:p>
          <a:p>
            <a:pPr marL="274638" indent="-274638" fontAlgn="auto">
              <a:spcBef>
                <a:spcPts val="18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The ideal case is to specify a 32-bit memory address to jump to</a:t>
            </a:r>
          </a:p>
          <a:p>
            <a:pPr marL="625475" lvl="1" indent="-260350" fontAlgn="auto">
              <a:spcBef>
                <a:spcPts val="6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Unfortunately, we can’t (</a:t>
            </a:r>
            <a:r>
              <a:rPr lang="en-US" sz="2400" dirty="0">
                <a:sym typeface="Wingdings" pitchFamily="2" charset="2"/>
              </a:rPr>
              <a:t> </a:t>
            </a:r>
            <a:r>
              <a:rPr lang="en-US" sz="2400" dirty="0"/>
              <a:t>why?)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B0930-E1F4-43F2-B438-EF4C48C4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575266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J-Format (2/5)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457200" y="1264358"/>
            <a:ext cx="8305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Bef>
                <a:spcPct val="3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Define fields of the following number of bits each:</a:t>
            </a:r>
          </a:p>
        </p:txBody>
      </p:sp>
      <p:grpSp>
        <p:nvGrpSpPr>
          <p:cNvPr id="12" name="Group 6"/>
          <p:cNvGrpSpPr>
            <a:grpSpLocks/>
          </p:cNvGrpSpPr>
          <p:nvPr/>
        </p:nvGrpSpPr>
        <p:grpSpPr bwMode="auto">
          <a:xfrm>
            <a:off x="533400" y="1950158"/>
            <a:ext cx="8153400" cy="519113"/>
            <a:chOff x="336" y="1488"/>
            <a:chExt cx="5136" cy="327"/>
          </a:xfrm>
        </p:grpSpPr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385" y="1488"/>
              <a:ext cx="920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>
                  <a:latin typeface="Courier New" pitchFamily="49" charset="0"/>
                </a:rPr>
                <a:t>6 bits</a:t>
              </a:r>
              <a:endParaRPr lang="en-US" sz="2800" dirty="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2829" y="1488"/>
              <a:ext cx="1054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>
                  <a:latin typeface="Courier New" pitchFamily="49" charset="0"/>
                </a:rPr>
                <a:t>26 bits</a:t>
              </a:r>
              <a:endParaRPr lang="en-US" sz="2800" dirty="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5" name="Line 9"/>
            <p:cNvSpPr>
              <a:spLocks noChangeShapeType="1"/>
            </p:cNvSpPr>
            <p:nvPr/>
          </p:nvSpPr>
          <p:spPr bwMode="auto">
            <a:xfrm>
              <a:off x="1296" y="14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336" y="1488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457200" y="2788358"/>
            <a:ext cx="8305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3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As usual, each field has a name:</a:t>
            </a:r>
          </a:p>
        </p:txBody>
      </p:sp>
      <p:grpSp>
        <p:nvGrpSpPr>
          <p:cNvPr id="18" name="Group 12"/>
          <p:cNvGrpSpPr>
            <a:grpSpLocks/>
          </p:cNvGrpSpPr>
          <p:nvPr/>
        </p:nvGrpSpPr>
        <p:grpSpPr bwMode="auto">
          <a:xfrm>
            <a:off x="533400" y="3397958"/>
            <a:ext cx="8153400" cy="519113"/>
            <a:chOff x="336" y="1488"/>
            <a:chExt cx="5136" cy="327"/>
          </a:xfrm>
        </p:grpSpPr>
        <p:sp>
          <p:nvSpPr>
            <p:cNvPr id="19" name="Text Box 13"/>
            <p:cNvSpPr txBox="1">
              <a:spLocks noChangeArrowheads="1"/>
            </p:cNvSpPr>
            <p:nvPr/>
          </p:nvSpPr>
          <p:spPr bwMode="auto">
            <a:xfrm>
              <a:off x="384" y="1488"/>
              <a:ext cx="923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 err="1">
                  <a:solidFill>
                    <a:srgbClr val="660066"/>
                  </a:solidFill>
                  <a:latin typeface="Courier New" pitchFamily="49" charset="0"/>
                </a:rPr>
                <a:t>opcode</a:t>
              </a:r>
              <a:endParaRPr lang="en-US" sz="2800" dirty="0">
                <a:solidFill>
                  <a:srgbClr val="660066"/>
                </a:solidFill>
                <a:latin typeface="Helvetica" pitchFamily="34" charset="0"/>
              </a:endParaRPr>
            </a:p>
          </p:txBody>
        </p:sp>
        <p:sp>
          <p:nvSpPr>
            <p:cNvPr id="20" name="Text Box 14"/>
            <p:cNvSpPr txBox="1">
              <a:spLocks noChangeArrowheads="1"/>
            </p:cNvSpPr>
            <p:nvPr/>
          </p:nvSpPr>
          <p:spPr bwMode="auto">
            <a:xfrm>
              <a:off x="2357" y="1488"/>
              <a:ext cx="1998" cy="32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800" b="1" dirty="0">
                  <a:solidFill>
                    <a:srgbClr val="006600"/>
                  </a:solidFill>
                  <a:latin typeface="Courier New" pitchFamily="49" charset="0"/>
                </a:rPr>
                <a:t>target address</a:t>
              </a:r>
              <a:endParaRPr lang="en-US" sz="2800" dirty="0">
                <a:solidFill>
                  <a:srgbClr val="006600"/>
                </a:solidFill>
                <a:latin typeface="Helvetica" pitchFamily="34" charset="0"/>
              </a:endParaRPr>
            </a:p>
          </p:txBody>
        </p:sp>
        <p:sp>
          <p:nvSpPr>
            <p:cNvPr id="22" name="Line 15"/>
            <p:cNvSpPr>
              <a:spLocks noChangeShapeType="1"/>
            </p:cNvSpPr>
            <p:nvPr/>
          </p:nvSpPr>
          <p:spPr bwMode="auto">
            <a:xfrm>
              <a:off x="1296" y="1488"/>
              <a:ext cx="0" cy="28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336" y="1488"/>
              <a:ext cx="5136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4" name="Rectangle 17"/>
          <p:cNvSpPr>
            <a:spLocks noChangeArrowheads="1"/>
          </p:cNvSpPr>
          <p:nvPr/>
        </p:nvSpPr>
        <p:spPr bwMode="auto">
          <a:xfrm>
            <a:off x="457200" y="4236157"/>
            <a:ext cx="8305800" cy="1936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dirty="0"/>
              <a:t>Keep </a:t>
            </a:r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opcode</a:t>
            </a:r>
            <a:r>
              <a:rPr lang="en-US" sz="2800" dirty="0"/>
              <a:t> field identical to R-format and </a:t>
            </a:r>
            <a:br>
              <a:rPr lang="en-US" sz="2800" dirty="0"/>
            </a:br>
            <a:r>
              <a:rPr lang="en-US" sz="2800" dirty="0"/>
              <a:t>I-format for consistency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800" dirty="0"/>
              <a:t>Combine all other fields to make room for larger target address</a:t>
            </a:r>
          </a:p>
        </p:txBody>
      </p:sp>
      <p:sp>
        <p:nvSpPr>
          <p:cNvPr id="25" name="Slide Number Placeholder 6">
            <a:extLst>
              <a:ext uri="{FF2B5EF4-FFF2-40B4-BE49-F238E27FC236}">
                <a16:creationId xmlns:a16="http://schemas.microsoft.com/office/drawing/2014/main" id="{B67C749A-D51F-4A97-B97D-BB34ECFCE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7986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17" grpId="0" build="p"/>
      <p:bldP spid="24" grpId="0" uiExpand="1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J-Format (3/5)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371600"/>
            <a:ext cx="830580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We can only specify 26 bits of 32-bit address</a:t>
            </a:r>
          </a:p>
        </p:txBody>
      </p:sp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457200" y="2057400"/>
            <a:ext cx="8305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74638" indent="-274638" eaLnBrk="1" hangingPunct="1">
              <a:spcBef>
                <a:spcPct val="50000"/>
              </a:spcBef>
              <a:buSzPct val="100000"/>
              <a:buFont typeface="Wingdings" panose="05000000000000000000" pitchFamily="2" charset="2"/>
              <a:buChar char="§"/>
            </a:pPr>
            <a:r>
              <a:rPr lang="en-US" sz="2800" b="1" kern="0" dirty="0">
                <a:solidFill>
                  <a:srgbClr val="006600"/>
                </a:solidFill>
              </a:rPr>
              <a:t>Optimization: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Just like with branches, jumps will only jump to word-aligned addresses, so last two bits are always </a:t>
            </a:r>
            <a:r>
              <a:rPr lang="en-US" sz="2400" b="1" kern="0" dirty="0">
                <a:latin typeface="Courier New" pitchFamily="49" charset="0"/>
                <a:cs typeface="Courier New" pitchFamily="49" charset="0"/>
              </a:rPr>
              <a:t>00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So, let’s assume the address ends with ’</a:t>
            </a:r>
            <a:r>
              <a:rPr lang="en-US" sz="2400" b="1" kern="0" dirty="0">
                <a:latin typeface="Courier New" pitchFamily="49" charset="0"/>
                <a:cs typeface="Courier New" pitchFamily="49" charset="0"/>
              </a:rPr>
              <a:t>00</a:t>
            </a:r>
            <a:r>
              <a:rPr lang="en-US" sz="2400" kern="0" dirty="0"/>
              <a:t>’ and leave them out </a:t>
            </a:r>
          </a:p>
          <a:p>
            <a:pPr eaLnBrk="1" hangingPunct="1">
              <a:spcBef>
                <a:spcPct val="50000"/>
              </a:spcBef>
              <a:buFont typeface="Wingdings" pitchFamily="2" charset="2"/>
              <a:buNone/>
            </a:pPr>
            <a:r>
              <a:rPr lang="en-US" sz="2800" kern="0" dirty="0">
                <a:sym typeface="Wingdings" pitchFamily="2" charset="2"/>
              </a:rPr>
              <a:t> </a:t>
            </a:r>
            <a:r>
              <a:rPr lang="en-US" sz="2800" kern="0" dirty="0"/>
              <a:t>Now we can specify </a:t>
            </a:r>
            <a:r>
              <a:rPr lang="en-US" sz="2800" b="1" kern="0" dirty="0"/>
              <a:t>28 bits </a:t>
            </a:r>
            <a:r>
              <a:rPr lang="en-US" sz="2800" kern="0" dirty="0"/>
              <a:t>of 32-bit address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C89C9284-4F41-4B95-8215-722D7512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2407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J-Format (4/5)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33400" y="1234159"/>
            <a:ext cx="8305800" cy="213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Where do we get the other 4 bits?</a:t>
            </a:r>
          </a:p>
          <a:p>
            <a:pPr marL="625475" lvl="1" indent="-260350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MIPS choose to take the </a:t>
            </a:r>
            <a:r>
              <a:rPr lang="en-US" sz="2400" b="1" dirty="0"/>
              <a:t>4 most significant bits from PC+4  </a:t>
            </a:r>
            <a:r>
              <a:rPr lang="en-US" sz="2400" dirty="0"/>
              <a:t>(the next instruction after the jump instruction)</a:t>
            </a:r>
          </a:p>
          <a:p>
            <a:pPr marL="715963" lvl="1" indent="-441325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2400" dirty="0">
                <a:sym typeface="Wingdings" pitchFamily="2" charset="2"/>
              </a:rPr>
              <a:t> </a:t>
            </a:r>
            <a:r>
              <a:rPr lang="en-US" sz="2400" dirty="0"/>
              <a:t>This means that we cannot jump to anywhere in memory, but it should be sufficient </a:t>
            </a:r>
            <a:r>
              <a:rPr lang="en-US" sz="2400" b="1" i="1" dirty="0"/>
              <a:t>most of the time</a:t>
            </a:r>
            <a:endParaRPr lang="en-US" sz="2400" dirty="0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33400" y="3367759"/>
            <a:ext cx="8305800" cy="10645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74638" indent="-274638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800" kern="0" dirty="0"/>
              <a:t>Question:</a:t>
            </a:r>
          </a:p>
          <a:p>
            <a:pPr marL="625475" lvl="1" indent="-280988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What is the </a:t>
            </a:r>
            <a:r>
              <a:rPr lang="en-US" sz="2400" b="1" kern="0" dirty="0"/>
              <a:t>maximum jump range?</a:t>
            </a:r>
            <a:endParaRPr lang="en-US" sz="2000" b="1" kern="0" dirty="0"/>
          </a:p>
          <a:p>
            <a:pPr lvl="1" eaLnBrk="1" hangingPunct="1">
              <a:buFont typeface="Wingdings" pitchFamily="2" charset="2"/>
              <a:buNone/>
            </a:pPr>
            <a:endParaRPr lang="en-US" sz="2400" kern="0" dirty="0"/>
          </a:p>
        </p:txBody>
      </p:sp>
      <p:sp>
        <p:nvSpPr>
          <p:cNvPr id="13" name="TextBox 12"/>
          <p:cNvSpPr txBox="1"/>
          <p:nvPr/>
        </p:nvSpPr>
        <p:spPr>
          <a:xfrm>
            <a:off x="6278880" y="3821610"/>
            <a:ext cx="2697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256MB boundary</a:t>
            </a: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33400" y="4432326"/>
            <a:ext cx="8305800" cy="18310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marL="274638" indent="-274638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800" kern="0" dirty="0"/>
              <a:t>Special instruction if the program straddles 256MB boundary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Look up </a:t>
            </a:r>
            <a:r>
              <a:rPr lang="en-US" sz="2400" b="1" kern="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2400" kern="0" dirty="0">
                <a:solidFill>
                  <a:srgbClr val="7030A0"/>
                </a:solidFill>
              </a:rPr>
              <a:t> </a:t>
            </a:r>
            <a:r>
              <a:rPr lang="en-US" sz="2400" kern="0" dirty="0"/>
              <a:t>instruction if you are interested</a:t>
            </a:r>
          </a:p>
          <a:p>
            <a:pPr lvl="1"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sz="2400" kern="0" dirty="0"/>
              <a:t>Target address is specified through a register</a:t>
            </a:r>
            <a:endParaRPr lang="en-US" sz="2000" kern="0" dirty="0"/>
          </a:p>
          <a:p>
            <a:pPr lvl="1" eaLnBrk="1" hangingPunct="1">
              <a:buFont typeface="Wingdings" pitchFamily="2" charset="2"/>
              <a:buNone/>
            </a:pPr>
            <a:endParaRPr lang="en-US" sz="2400" kern="0" dirty="0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E1F6CE0A-6D84-4ECD-B410-95189090B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35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9082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06AC4-1DE2-2BD9-A023-EE5B2791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A5E79-F5C9-46E9-F5DA-33FA59AAE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814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 J-Format (5/5)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/>
        </p:nvSpPr>
        <p:spPr>
          <a:xfrm>
            <a:off x="533400" y="1356360"/>
            <a:ext cx="8305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/>
              <a:t>Summary: </a:t>
            </a:r>
            <a:r>
              <a:rPr lang="en-US" sz="2800" dirty="0"/>
              <a:t>Given a </a:t>
            </a:r>
            <a:r>
              <a:rPr lang="en-US" sz="2800" b="1" dirty="0"/>
              <a:t>Jump</a:t>
            </a:r>
            <a:r>
              <a:rPr lang="en-US" sz="2800" dirty="0"/>
              <a:t> instruction</a:t>
            </a:r>
            <a:endParaRPr lang="en-US" sz="2800" i="1" dirty="0"/>
          </a:p>
        </p:txBody>
      </p: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2057401" y="1965960"/>
            <a:ext cx="1143001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ourier New" pitchFamily="49" charset="0"/>
              </a:rPr>
              <a:t>opcode</a:t>
            </a:r>
          </a:p>
        </p:txBody>
      </p:sp>
      <p:sp>
        <p:nvSpPr>
          <p:cNvPr id="18" name="Text Box 10"/>
          <p:cNvSpPr txBox="1">
            <a:spLocks noChangeArrowheads="1"/>
          </p:cNvSpPr>
          <p:nvPr/>
        </p:nvSpPr>
        <p:spPr bwMode="auto">
          <a:xfrm>
            <a:off x="3200402" y="1965960"/>
            <a:ext cx="4952999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ourier New" pitchFamily="49" charset="0"/>
              </a:rPr>
              <a:t>target address</a:t>
            </a:r>
          </a:p>
        </p:txBody>
      </p:sp>
      <p:sp>
        <p:nvSpPr>
          <p:cNvPr id="19" name="Rectangle 19"/>
          <p:cNvSpPr>
            <a:spLocks noChangeArrowheads="1"/>
          </p:cNvSpPr>
          <p:nvPr/>
        </p:nvSpPr>
        <p:spPr bwMode="auto">
          <a:xfrm>
            <a:off x="2057401" y="2346960"/>
            <a:ext cx="1143001" cy="457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000010</a:t>
            </a:r>
            <a:endParaRPr lang="en-US" sz="2400" dirty="0">
              <a:solidFill>
                <a:srgbClr val="660066"/>
              </a:solidFill>
              <a:latin typeface="Helvetica" pitchFamily="34" charset="0"/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3192237" y="2346960"/>
            <a:ext cx="4961165" cy="457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400" b="1" dirty="0">
                <a:solidFill>
                  <a:srgbClr val="002060"/>
                </a:solidFill>
                <a:latin typeface="Courier New" pitchFamily="49" charset="0"/>
              </a:rPr>
              <a:t>00001111000011110000111100</a:t>
            </a:r>
            <a:endParaRPr lang="en-US" sz="2400" dirty="0">
              <a:solidFill>
                <a:srgbClr val="002060"/>
              </a:solidFill>
              <a:latin typeface="Helvetica" pitchFamily="34" charset="0"/>
            </a:endParaRPr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457204" y="1971948"/>
            <a:ext cx="1600198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ourier New" pitchFamily="49" charset="0"/>
              </a:rPr>
              <a:t>32bit PC</a:t>
            </a:r>
          </a:p>
        </p:txBody>
      </p:sp>
      <p:sp>
        <p:nvSpPr>
          <p:cNvPr id="23" name="Rectangle 19"/>
          <p:cNvSpPr>
            <a:spLocks noChangeArrowheads="1"/>
          </p:cNvSpPr>
          <p:nvPr/>
        </p:nvSpPr>
        <p:spPr bwMode="auto">
          <a:xfrm>
            <a:off x="669472" y="2362835"/>
            <a:ext cx="13716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Courier New" pitchFamily="49" charset="0"/>
              </a:rPr>
              <a:t>1010………</a:t>
            </a:r>
            <a:endParaRPr lang="en-US" sz="2400" dirty="0">
              <a:solidFill>
                <a:srgbClr val="C00000"/>
              </a:solidFill>
              <a:latin typeface="Helvetica" pitchFamily="34" charset="0"/>
            </a:endParaRPr>
          </a:p>
        </p:txBody>
      </p:sp>
      <p:sp>
        <p:nvSpPr>
          <p:cNvPr id="24" name="Down Arrow 23"/>
          <p:cNvSpPr/>
          <p:nvPr/>
        </p:nvSpPr>
        <p:spPr>
          <a:xfrm>
            <a:off x="3886202" y="2956560"/>
            <a:ext cx="1371600" cy="1600200"/>
          </a:xfrm>
          <a:prstGeom prst="downArrow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5" name="Rectangle 24"/>
          <p:cNvSpPr/>
          <p:nvPr/>
        </p:nvSpPr>
        <p:spPr>
          <a:xfrm>
            <a:off x="3657602" y="3285853"/>
            <a:ext cx="1828800" cy="457200"/>
          </a:xfrm>
          <a:prstGeom prst="rect">
            <a:avLst/>
          </a:prstGeom>
          <a:solidFill>
            <a:srgbClr val="FFFFFF">
              <a:alpha val="3607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Jumps To</a:t>
            </a:r>
            <a:endParaRPr lang="en-SG" dirty="0">
              <a:solidFill>
                <a:srgbClr val="C00000"/>
              </a:solidFill>
            </a:endParaRPr>
          </a:p>
        </p:txBody>
      </p:sp>
      <p:sp>
        <p:nvSpPr>
          <p:cNvPr id="26" name="Rectangle 19"/>
          <p:cNvSpPr>
            <a:spLocks noChangeArrowheads="1"/>
          </p:cNvSpPr>
          <p:nvPr/>
        </p:nvSpPr>
        <p:spPr bwMode="auto">
          <a:xfrm>
            <a:off x="533402" y="4632960"/>
            <a:ext cx="13716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Courier New" pitchFamily="49" charset="0"/>
              </a:rPr>
              <a:t>1010</a:t>
            </a:r>
            <a:endParaRPr lang="en-US" sz="2800" dirty="0">
              <a:solidFill>
                <a:srgbClr val="C00000"/>
              </a:solidFill>
              <a:latin typeface="Helvetica" pitchFamily="34" charset="0"/>
            </a:endParaRPr>
          </a:p>
        </p:txBody>
      </p:sp>
      <p:sp>
        <p:nvSpPr>
          <p:cNvPr id="27" name="Rectangle 19"/>
          <p:cNvSpPr>
            <a:spLocks noChangeArrowheads="1"/>
          </p:cNvSpPr>
          <p:nvPr/>
        </p:nvSpPr>
        <p:spPr bwMode="auto">
          <a:xfrm>
            <a:off x="1905002" y="4632960"/>
            <a:ext cx="54864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0" hangingPunct="0"/>
            <a:r>
              <a:rPr lang="en-US" sz="2800" b="1" dirty="0">
                <a:solidFill>
                  <a:srgbClr val="002060"/>
                </a:solidFill>
                <a:latin typeface="Courier New" pitchFamily="49" charset="0"/>
              </a:rPr>
              <a:t>00001111000011110000111100</a:t>
            </a:r>
            <a:endParaRPr lang="en-US" sz="2800" dirty="0">
              <a:solidFill>
                <a:srgbClr val="002060"/>
              </a:solidFill>
              <a:latin typeface="Helvetica" pitchFamily="34" charset="0"/>
            </a:endParaRPr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7698924" y="4632960"/>
            <a:ext cx="762000" cy="457200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800" b="1" dirty="0">
                <a:solidFill>
                  <a:srgbClr val="006600"/>
                </a:solidFill>
                <a:latin typeface="Courier New" pitchFamily="49" charset="0"/>
              </a:rPr>
              <a:t>00</a:t>
            </a:r>
            <a:endParaRPr lang="en-US" sz="2800" dirty="0">
              <a:solidFill>
                <a:srgbClr val="006600"/>
              </a:solidFill>
              <a:latin typeface="Helvetica" pitchFamily="34" charset="0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397331" y="5163639"/>
            <a:ext cx="1600198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Most significant 4bits of PC+4</a:t>
            </a:r>
          </a:p>
        </p:txBody>
      </p:sp>
      <p:sp>
        <p:nvSpPr>
          <p:cNvPr id="30" name="Text Box 7"/>
          <p:cNvSpPr txBox="1">
            <a:spLocks noChangeArrowheads="1"/>
          </p:cNvSpPr>
          <p:nvPr/>
        </p:nvSpPr>
        <p:spPr bwMode="auto">
          <a:xfrm>
            <a:off x="2895602" y="5264842"/>
            <a:ext cx="3505200" cy="707886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+mn-lt"/>
              </a:rPr>
              <a:t>26bits </a:t>
            </a:r>
            <a:r>
              <a:rPr lang="en-US" sz="2000" b="1" dirty="0">
                <a:latin typeface="+mn-lt"/>
              </a:rPr>
              <a:t>Target address specified in instruction</a:t>
            </a: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7086602" y="5181712"/>
            <a:ext cx="1828798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+mn-lt"/>
              </a:rPr>
              <a:t>Default 2bit "00" for word address</a:t>
            </a:r>
          </a:p>
        </p:txBody>
      </p:sp>
      <p:sp>
        <p:nvSpPr>
          <p:cNvPr id="32" name="Right Brace 31"/>
          <p:cNvSpPr/>
          <p:nvPr/>
        </p:nvSpPr>
        <p:spPr>
          <a:xfrm rot="5400000">
            <a:off x="1147572" y="4652883"/>
            <a:ext cx="143259" cy="914400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3" name="Right Brace 32"/>
          <p:cNvSpPr/>
          <p:nvPr/>
        </p:nvSpPr>
        <p:spPr>
          <a:xfrm rot="5400000">
            <a:off x="4576572" y="2299825"/>
            <a:ext cx="143261" cy="563880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4" name="Right Brace 33"/>
          <p:cNvSpPr/>
          <p:nvPr/>
        </p:nvSpPr>
        <p:spPr>
          <a:xfrm rot="5400000">
            <a:off x="8005570" y="4738224"/>
            <a:ext cx="143265" cy="762002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35" name="Slide Number Placeholder 6">
            <a:extLst>
              <a:ext uri="{FF2B5EF4-FFF2-40B4-BE49-F238E27FC236}">
                <a16:creationId xmlns:a16="http://schemas.microsoft.com/office/drawing/2014/main" id="{2771E634-5876-4442-917D-ADB2E433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37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4016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7.1 J-Format: Example</a:t>
            </a: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234159"/>
            <a:ext cx="7239000" cy="1905000"/>
          </a:xfrm>
          <a:prstGeom prst="rect">
            <a:avLst/>
          </a:prstGeom>
          <a:solidFill>
            <a:srgbClr val="FFFFCC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fontAlgn="auto"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dirty="0">
                <a:latin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</a:rPr>
              <a:t>Loop: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latin typeface="Courier New" pitchFamily="49" charset="0"/>
              </a:rPr>
              <a:t> $9, $0, End </a:t>
            </a: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8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 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add</a:t>
            </a:r>
            <a:r>
              <a:rPr lang="en-US" sz="2400" b="1" dirty="0">
                <a:latin typeface="Courier New" pitchFamily="49" charset="0"/>
              </a:rPr>
              <a:t>  $8, $8, $10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12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 	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addi</a:t>
            </a:r>
            <a:r>
              <a:rPr lang="en-US" sz="2400" b="1" dirty="0">
                <a:latin typeface="Courier New" pitchFamily="49" charset="0"/>
              </a:rPr>
              <a:t> $9, $9, -1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16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    	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b="1" dirty="0">
                <a:latin typeface="Courier New" pitchFamily="49" charset="0"/>
              </a:rPr>
              <a:t>    Loop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20</a:t>
            </a:r>
          </a:p>
          <a:p>
            <a:pPr lvl="1" fontAlgn="auto">
              <a:spcBef>
                <a:spcPct val="0"/>
              </a:spcBef>
              <a:spcAft>
                <a:spcPts val="0"/>
              </a:spcAft>
              <a:buFont typeface="Wingdings" pitchFamily="2" charset="2"/>
              <a:buNone/>
            </a:pPr>
            <a:r>
              <a:rPr lang="en-US" sz="2400" b="1" dirty="0">
                <a:solidFill>
                  <a:srgbClr val="9900CC"/>
                </a:solidFill>
                <a:latin typeface="Courier New" pitchFamily="49" charset="0"/>
              </a:rPr>
              <a:t>	</a:t>
            </a:r>
            <a:r>
              <a:rPr lang="en-US" sz="2400" b="1" dirty="0">
                <a:latin typeface="Courier New" pitchFamily="49" charset="0"/>
              </a:rPr>
              <a:t>End:	                 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# </a:t>
            </a:r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addr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 New" pitchFamily="49" charset="0"/>
              </a:rPr>
              <a:t>: 24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2266634" y="2262859"/>
            <a:ext cx="3352800" cy="381000"/>
          </a:xfrm>
          <a:prstGeom prst="rect">
            <a:avLst/>
          </a:prstGeom>
          <a:noFill/>
          <a:ln w="22225">
            <a:solidFill>
              <a:srgbClr val="0000CC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4" name="Group 49"/>
          <p:cNvGrpSpPr>
            <a:grpSpLocks/>
          </p:cNvGrpSpPr>
          <p:nvPr/>
        </p:nvGrpSpPr>
        <p:grpSpPr bwMode="auto">
          <a:xfrm>
            <a:off x="263530" y="3977360"/>
            <a:ext cx="5054603" cy="584200"/>
            <a:chOff x="2336" y="2076"/>
            <a:chExt cx="3184" cy="368"/>
          </a:xfrm>
        </p:grpSpPr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3120" y="2112"/>
              <a:ext cx="2400" cy="288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2000" dirty="0">
                  <a:latin typeface="Verdana" pitchFamily="34" charset="0"/>
                </a:rPr>
                <a:t>0000………………………..01000</a:t>
              </a:r>
            </a:p>
          </p:txBody>
        </p:sp>
        <p:sp>
          <p:nvSpPr>
            <p:cNvPr id="20" name="Text Box 48"/>
            <p:cNvSpPr txBox="1">
              <a:spLocks noChangeArrowheads="1"/>
            </p:cNvSpPr>
            <p:nvPr/>
          </p:nvSpPr>
          <p:spPr bwMode="auto">
            <a:xfrm>
              <a:off x="2336" y="2076"/>
              <a:ext cx="799" cy="3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Verdana" pitchFamily="34" charset="0"/>
                </a:rPr>
                <a:t>Address to jump to</a:t>
              </a:r>
            </a:p>
          </p:txBody>
        </p:sp>
      </p:grpSp>
      <p:grpSp>
        <p:nvGrpSpPr>
          <p:cNvPr id="22" name="Group 60"/>
          <p:cNvGrpSpPr>
            <a:grpSpLocks/>
          </p:cNvGrpSpPr>
          <p:nvPr/>
        </p:nvGrpSpPr>
        <p:grpSpPr bwMode="auto">
          <a:xfrm>
            <a:off x="1941513" y="3977359"/>
            <a:ext cx="3233738" cy="1295400"/>
            <a:chOff x="3393" y="1932"/>
            <a:chExt cx="2037" cy="816"/>
          </a:xfrm>
        </p:grpSpPr>
        <p:sp>
          <p:nvSpPr>
            <p:cNvPr id="23" name="Rectangle 50"/>
            <p:cNvSpPr>
              <a:spLocks noChangeArrowheads="1"/>
            </p:cNvSpPr>
            <p:nvPr/>
          </p:nvSpPr>
          <p:spPr bwMode="auto">
            <a:xfrm>
              <a:off x="3625" y="1932"/>
              <a:ext cx="1584" cy="384"/>
            </a:xfrm>
            <a:prstGeom prst="rect">
              <a:avLst/>
            </a:prstGeom>
            <a:noFill/>
            <a:ln w="25400" algn="ctr">
              <a:solidFill>
                <a:srgbClr val="C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AutoShape 51"/>
            <p:cNvSpPr>
              <a:spLocks/>
            </p:cNvSpPr>
            <p:nvPr/>
          </p:nvSpPr>
          <p:spPr bwMode="auto">
            <a:xfrm rot="5400000">
              <a:off x="4314" y="1650"/>
              <a:ext cx="180" cy="1584"/>
            </a:xfrm>
            <a:prstGeom prst="rightBrace">
              <a:avLst>
                <a:gd name="adj1" fmla="val 7333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" name="Text Box 52"/>
            <p:cNvSpPr txBox="1">
              <a:spLocks noChangeArrowheads="1"/>
            </p:cNvSpPr>
            <p:nvPr/>
          </p:nvSpPr>
          <p:spPr bwMode="auto">
            <a:xfrm>
              <a:off x="3393" y="2496"/>
              <a:ext cx="2037" cy="25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latin typeface="Verdana" pitchFamily="34" charset="0"/>
                </a:rPr>
                <a:t>immediate =</a:t>
              </a:r>
              <a:r>
                <a:rPr lang="en-US" sz="2000" b="1" dirty="0">
                  <a:solidFill>
                    <a:srgbClr val="C00000"/>
                  </a:solidFill>
                  <a:latin typeface="Verdana" pitchFamily="34" charset="0"/>
                </a:rPr>
                <a:t>2</a:t>
              </a:r>
              <a:r>
                <a:rPr lang="en-US" sz="2000" dirty="0">
                  <a:latin typeface="Verdana" pitchFamily="34" charset="0"/>
                </a:rPr>
                <a:t> (26 bits)</a:t>
              </a:r>
            </a:p>
          </p:txBody>
        </p:sp>
      </p:grpSp>
      <p:grpSp>
        <p:nvGrpSpPr>
          <p:cNvPr id="26" name="Group 56"/>
          <p:cNvGrpSpPr>
            <a:grpSpLocks/>
          </p:cNvGrpSpPr>
          <p:nvPr/>
        </p:nvGrpSpPr>
        <p:grpSpPr bwMode="auto">
          <a:xfrm>
            <a:off x="898525" y="3443959"/>
            <a:ext cx="4419600" cy="457200"/>
            <a:chOff x="2688" y="2976"/>
            <a:chExt cx="2784" cy="288"/>
          </a:xfrm>
        </p:grpSpPr>
        <p:sp>
          <p:nvSpPr>
            <p:cNvPr id="27" name="Rectangle 54"/>
            <p:cNvSpPr>
              <a:spLocks noChangeArrowheads="1"/>
            </p:cNvSpPr>
            <p:nvPr/>
          </p:nvSpPr>
          <p:spPr bwMode="auto">
            <a:xfrm>
              <a:off x="3072" y="2976"/>
              <a:ext cx="2400" cy="288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/>
            <a:lstStyle/>
            <a:p>
              <a:pPr algn="ctr"/>
              <a:r>
                <a:rPr lang="en-US" sz="2000" dirty="0">
                  <a:latin typeface="Verdana" pitchFamily="34" charset="0"/>
                </a:rPr>
                <a:t>0000………………………..10100</a:t>
              </a:r>
            </a:p>
          </p:txBody>
        </p:sp>
        <p:sp>
          <p:nvSpPr>
            <p:cNvPr id="28" name="Text Box 55"/>
            <p:cNvSpPr txBox="1">
              <a:spLocks noChangeArrowheads="1"/>
            </p:cNvSpPr>
            <p:nvPr/>
          </p:nvSpPr>
          <p:spPr bwMode="auto">
            <a:xfrm>
              <a:off x="2688" y="2976"/>
              <a:ext cx="324" cy="25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>
                  <a:latin typeface="Verdana" pitchFamily="34" charset="0"/>
                </a:rPr>
                <a:t>PC</a:t>
              </a: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7532548" y="2224381"/>
            <a:ext cx="846586" cy="457956"/>
            <a:chOff x="7522714" y="2377159"/>
            <a:chExt cx="846586" cy="457956"/>
          </a:xfrm>
        </p:grpSpPr>
        <p:sp>
          <p:nvSpPr>
            <p:cNvPr id="29" name="Line 7"/>
            <p:cNvSpPr>
              <a:spLocks noChangeShapeType="1"/>
            </p:cNvSpPr>
            <p:nvPr/>
          </p:nvSpPr>
          <p:spPr bwMode="auto">
            <a:xfrm flipH="1" flipV="1">
              <a:off x="7522714" y="2565501"/>
              <a:ext cx="344936" cy="343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30" name="Text Box 8"/>
            <p:cNvSpPr txBox="1">
              <a:spLocks noChangeArrowheads="1"/>
            </p:cNvSpPr>
            <p:nvPr/>
          </p:nvSpPr>
          <p:spPr bwMode="auto">
            <a:xfrm>
              <a:off x="7848600" y="2377159"/>
              <a:ext cx="520700" cy="45795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Verdana" pitchFamily="34" charset="0"/>
                </a:rPr>
                <a:t>PC</a:t>
              </a:r>
            </a:p>
          </p:txBody>
        </p:sp>
      </p:grpSp>
      <p:sp>
        <p:nvSpPr>
          <p:cNvPr id="31" name="Rounded Rectangle 30"/>
          <p:cNvSpPr/>
          <p:nvPr/>
        </p:nvSpPr>
        <p:spPr>
          <a:xfrm>
            <a:off x="6096000" y="3443959"/>
            <a:ext cx="2514600" cy="1447800"/>
          </a:xfrm>
          <a:prstGeom prst="roundRect">
            <a:avLst/>
          </a:prstGeom>
          <a:solidFill>
            <a:schemeClr val="bg1"/>
          </a:solidFill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Check your understanding by constructing the new PC value</a:t>
            </a: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682625" y="5425159"/>
            <a:ext cx="1098550" cy="396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>
                <a:latin typeface="Courier New" pitchFamily="49" charset="0"/>
              </a:rPr>
              <a:t>opcode</a:t>
            </a:r>
          </a:p>
        </p:txBody>
      </p:sp>
      <p:sp>
        <p:nvSpPr>
          <p:cNvPr id="33" name="Text Box 10"/>
          <p:cNvSpPr txBox="1">
            <a:spLocks noChangeArrowheads="1"/>
          </p:cNvSpPr>
          <p:nvPr/>
        </p:nvSpPr>
        <p:spPr bwMode="auto">
          <a:xfrm>
            <a:off x="3657600" y="5425159"/>
            <a:ext cx="2895600" cy="40011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Courier New" pitchFamily="49" charset="0"/>
              </a:rPr>
              <a:t>target address</a:t>
            </a:r>
          </a:p>
        </p:txBody>
      </p:sp>
      <p:sp>
        <p:nvSpPr>
          <p:cNvPr id="34" name="Text Box 13"/>
          <p:cNvSpPr txBox="1">
            <a:spLocks noChangeArrowheads="1"/>
          </p:cNvSpPr>
          <p:nvPr/>
        </p:nvSpPr>
        <p:spPr bwMode="auto">
          <a:xfrm>
            <a:off x="457200" y="5806159"/>
            <a:ext cx="1523999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rgbClr val="660066"/>
                </a:solidFill>
                <a:latin typeface="Courier New" pitchFamily="49" charset="0"/>
              </a:rPr>
              <a:t>000010</a:t>
            </a:r>
            <a:endParaRPr lang="en-US" sz="2800" dirty="0">
              <a:solidFill>
                <a:srgbClr val="660066"/>
              </a:solidFill>
              <a:latin typeface="Helvetica" pitchFamily="34" charset="0"/>
            </a:endParaRPr>
          </a:p>
        </p:txBody>
      </p:sp>
      <p:sp>
        <p:nvSpPr>
          <p:cNvPr id="35" name="Text Box 16"/>
          <p:cNvSpPr txBox="1">
            <a:spLocks noChangeArrowheads="1"/>
          </p:cNvSpPr>
          <p:nvPr/>
        </p:nvSpPr>
        <p:spPr bwMode="auto">
          <a:xfrm>
            <a:off x="5113338" y="5885534"/>
            <a:ext cx="184150" cy="396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0" hangingPunct="0"/>
            <a:endParaRPr lang="en-US" sz="2000">
              <a:solidFill>
                <a:schemeClr val="accent1"/>
              </a:solidFill>
              <a:latin typeface="Helvetica" pitchFamily="34" charset="0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1981200" y="5806159"/>
            <a:ext cx="6629399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0" hangingPunct="0"/>
            <a:r>
              <a:rPr lang="en-US" sz="2800" b="1" dirty="0">
                <a:solidFill>
                  <a:srgbClr val="002060"/>
                </a:solidFill>
                <a:latin typeface="Courier New" pitchFamily="49" charset="0"/>
              </a:rPr>
              <a:t>00000000000000000000000010</a:t>
            </a:r>
            <a:endParaRPr lang="en-US" sz="2800" dirty="0">
              <a:solidFill>
                <a:srgbClr val="002060"/>
              </a:solidFill>
              <a:latin typeface="Helvetica" pitchFamily="34" charset="0"/>
            </a:endParaRPr>
          </a:p>
        </p:txBody>
      </p:sp>
      <p:sp>
        <p:nvSpPr>
          <p:cNvPr id="37" name="Rectangle 19"/>
          <p:cNvSpPr>
            <a:spLocks noChangeArrowheads="1"/>
          </p:cNvSpPr>
          <p:nvPr/>
        </p:nvSpPr>
        <p:spPr bwMode="auto">
          <a:xfrm>
            <a:off x="457200" y="5806159"/>
            <a:ext cx="8153400" cy="4572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>
            <a:off x="1981200" y="5806159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7446514" y="1121228"/>
            <a:ext cx="1316486" cy="646331"/>
            <a:chOff x="7446514" y="1121228"/>
            <a:chExt cx="1316486" cy="646331"/>
          </a:xfrm>
        </p:grpSpPr>
        <p:sp>
          <p:nvSpPr>
            <p:cNvPr id="39" name="Line 7"/>
            <p:cNvSpPr>
              <a:spLocks noChangeShapeType="1"/>
            </p:cNvSpPr>
            <p:nvPr/>
          </p:nvSpPr>
          <p:spPr bwMode="auto">
            <a:xfrm flipH="1" flipV="1">
              <a:off x="7446514" y="1422501"/>
              <a:ext cx="344936" cy="343"/>
            </a:xfrm>
            <a:prstGeom prst="line">
              <a:avLst/>
            </a:prstGeom>
            <a:noFill/>
            <a:ln w="25400">
              <a:solidFill>
                <a:srgbClr val="C00000"/>
              </a:solidFill>
              <a:round/>
              <a:headEnd/>
              <a:tailEnd type="triangle" w="lg" len="med"/>
            </a:ln>
          </p:spPr>
          <p:txBody>
            <a:bodyPr wrap="square">
              <a:spAutoFit/>
            </a:bodyPr>
            <a:lstStyle/>
            <a:p>
              <a:endParaRPr lang="en-US"/>
            </a:p>
          </p:txBody>
        </p:sp>
        <p:sp>
          <p:nvSpPr>
            <p:cNvPr id="40" name="Text Box 8"/>
            <p:cNvSpPr txBox="1">
              <a:spLocks noChangeArrowheads="1"/>
            </p:cNvSpPr>
            <p:nvPr/>
          </p:nvSpPr>
          <p:spPr bwMode="auto">
            <a:xfrm>
              <a:off x="7781641" y="1121228"/>
              <a:ext cx="981359" cy="64633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C00000"/>
                  </a:solidFill>
                  <a:latin typeface="Verdana" pitchFamily="34" charset="0"/>
                </a:rPr>
                <a:t>jump target</a:t>
              </a:r>
            </a:p>
          </p:txBody>
        </p:sp>
      </p:grpSp>
      <p:sp>
        <p:nvSpPr>
          <p:cNvPr id="41" name="Slide Number Placeholder 6">
            <a:extLst>
              <a:ext uri="{FF2B5EF4-FFF2-40B4-BE49-F238E27FC236}">
                <a16:creationId xmlns:a16="http://schemas.microsoft.com/office/drawing/2014/main" id="{ADDF9921-06DA-409A-8DEB-96326906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38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9871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7.2 Branching Far Way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474514"/>
            <a:ext cx="8305800" cy="4469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dirty="0"/>
              <a:t>Given the instruction</a:t>
            </a:r>
            <a:br>
              <a:rPr lang="en-US" sz="2800" dirty="0"/>
            </a:br>
            <a:r>
              <a:rPr lang="en-US" sz="2800" dirty="0"/>
              <a:t>    		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800" b="1" dirty="0">
                <a:latin typeface="Courier New" pitchFamily="49" charset="0"/>
              </a:rPr>
              <a:t> $s0, $s1, L1</a:t>
            </a:r>
            <a:r>
              <a:rPr lang="en-US" sz="2800" dirty="0"/>
              <a:t> </a:t>
            </a:r>
            <a:br>
              <a:rPr lang="en-US" sz="2800" dirty="0"/>
            </a:br>
            <a:r>
              <a:rPr lang="en-US" sz="2800" dirty="0"/>
              <a:t>Assume that the address </a:t>
            </a:r>
            <a:r>
              <a:rPr lang="en-US" sz="2800" b="1" dirty="0">
                <a:latin typeface="Courier New" pitchFamily="49" charset="0"/>
              </a:rPr>
              <a:t>L1</a:t>
            </a:r>
            <a:r>
              <a:rPr lang="en-US" sz="2800" dirty="0"/>
              <a:t> is farther away from the PC than can be supported by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800" dirty="0"/>
              <a:t> and</a:t>
            </a:r>
            <a:r>
              <a:rPr lang="en-US" sz="2800" b="1" dirty="0">
                <a:latin typeface="Courier New" pitchFamily="49" charset="0"/>
              </a:rPr>
              <a:t> </a:t>
            </a:r>
            <a:r>
              <a:rPr lang="en-US" sz="28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sz="2800" dirty="0"/>
              <a:t> instructions</a:t>
            </a:r>
          </a:p>
          <a:p>
            <a:pPr marL="274638" indent="-274638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800" b="1" dirty="0"/>
              <a:t>Challenge:</a:t>
            </a:r>
          </a:p>
          <a:p>
            <a:pPr marL="625475" lvl="1" indent="-260350" fontAlgn="auto">
              <a:spcBef>
                <a:spcPct val="50000"/>
              </a:spcBef>
              <a:spcAft>
                <a:spcPts val="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Construct an equivalent code sequence with the help of unconditional (</a:t>
            </a:r>
            <a:r>
              <a:rPr lang="en-US" sz="2400" b="1" dirty="0">
                <a:solidFill>
                  <a:srgbClr val="660066"/>
                </a:solidFill>
                <a:latin typeface="Courier New" pitchFamily="49" charset="0"/>
              </a:rPr>
              <a:t>j</a:t>
            </a:r>
            <a:r>
              <a:rPr lang="en-US" sz="2400" dirty="0"/>
              <a:t>) and conditional branch (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beq</a:t>
            </a:r>
            <a:r>
              <a:rPr lang="en-US" sz="2400" b="1" dirty="0">
                <a:latin typeface="Courier New" pitchFamily="49" charset="0"/>
              </a:rPr>
              <a:t>, </a:t>
            </a:r>
            <a:r>
              <a:rPr lang="en-US" sz="2400" b="1" dirty="0" err="1">
                <a:solidFill>
                  <a:srgbClr val="660066"/>
                </a:solidFill>
                <a:latin typeface="Courier New" pitchFamily="49" charset="0"/>
              </a:rPr>
              <a:t>bne</a:t>
            </a:r>
            <a:r>
              <a:rPr lang="en-US" sz="2400" dirty="0"/>
              <a:t>) instructions to accomplish this far away branching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FA88B-20B8-4F67-AFA4-6D8403D4C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39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233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8. Addressing Modes (1/3)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57200" y="1474515"/>
            <a:ext cx="83058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800" b="1" kern="0" dirty="0">
                <a:solidFill>
                  <a:srgbClr val="C00000"/>
                </a:solidFill>
              </a:rPr>
              <a:t>Register addressing</a:t>
            </a:r>
            <a:r>
              <a:rPr lang="en-US" altLang="en-US" sz="2800" kern="0" dirty="0"/>
              <a:t>:</a:t>
            </a:r>
            <a:r>
              <a:rPr lang="en-US" altLang="en-US" sz="2800" kern="0" dirty="0">
                <a:solidFill>
                  <a:srgbClr val="C00000"/>
                </a:solidFill>
              </a:rPr>
              <a:t> </a:t>
            </a:r>
            <a:r>
              <a:rPr lang="en-US" altLang="en-US" sz="2800" kern="0" dirty="0"/>
              <a:t>operand is a register</a:t>
            </a:r>
            <a:endParaRPr lang="en-US" altLang="en-US" kern="0" dirty="0"/>
          </a:p>
        </p:txBody>
      </p:sp>
      <p:grpSp>
        <p:nvGrpSpPr>
          <p:cNvPr id="16" name="Group 19"/>
          <p:cNvGrpSpPr>
            <a:grpSpLocks/>
          </p:cNvGrpSpPr>
          <p:nvPr/>
        </p:nvGrpSpPr>
        <p:grpSpPr bwMode="auto">
          <a:xfrm>
            <a:off x="1143000" y="2236515"/>
            <a:ext cx="7086600" cy="854075"/>
            <a:chOff x="720" y="1248"/>
            <a:chExt cx="4464" cy="538"/>
          </a:xfrm>
        </p:grpSpPr>
        <p:sp>
          <p:nvSpPr>
            <p:cNvPr id="17" name="Rectangle 4"/>
            <p:cNvSpPr>
              <a:spLocks noChangeArrowheads="1"/>
            </p:cNvSpPr>
            <p:nvPr/>
          </p:nvSpPr>
          <p:spPr bwMode="auto">
            <a:xfrm>
              <a:off x="720" y="1248"/>
              <a:ext cx="2400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8" name="Rectangle 5"/>
            <p:cNvSpPr>
              <a:spLocks noChangeArrowheads="1"/>
            </p:cNvSpPr>
            <p:nvPr/>
          </p:nvSpPr>
          <p:spPr bwMode="auto">
            <a:xfrm>
              <a:off x="3360" y="1536"/>
              <a:ext cx="1824" cy="240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1152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2" name="Line 7"/>
            <p:cNvSpPr>
              <a:spLocks noChangeShapeType="1"/>
            </p:cNvSpPr>
            <p:nvPr/>
          </p:nvSpPr>
          <p:spPr bwMode="auto">
            <a:xfrm>
              <a:off x="1584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3" name="Line 8"/>
            <p:cNvSpPr>
              <a:spLocks noChangeShapeType="1"/>
            </p:cNvSpPr>
            <p:nvPr/>
          </p:nvSpPr>
          <p:spPr bwMode="auto">
            <a:xfrm>
              <a:off x="1920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4" name="Line 9"/>
            <p:cNvSpPr>
              <a:spLocks noChangeShapeType="1"/>
            </p:cNvSpPr>
            <p:nvPr/>
          </p:nvSpPr>
          <p:spPr bwMode="auto">
            <a:xfrm>
              <a:off x="2304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5" name="Line 10"/>
            <p:cNvSpPr>
              <a:spLocks noChangeShapeType="1"/>
            </p:cNvSpPr>
            <p:nvPr/>
          </p:nvSpPr>
          <p:spPr bwMode="auto">
            <a:xfrm>
              <a:off x="2640" y="124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768" y="1248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op</a:t>
              </a:r>
            </a:p>
          </p:txBody>
        </p:sp>
        <p:sp>
          <p:nvSpPr>
            <p:cNvPr id="27" name="Text Box 12"/>
            <p:cNvSpPr txBox="1">
              <a:spLocks noChangeArrowheads="1"/>
            </p:cNvSpPr>
            <p:nvPr/>
          </p:nvSpPr>
          <p:spPr bwMode="auto">
            <a:xfrm>
              <a:off x="1200" y="1248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rs</a:t>
              </a:r>
            </a:p>
          </p:txBody>
        </p:sp>
        <p:sp>
          <p:nvSpPr>
            <p:cNvPr id="28" name="Text Box 13"/>
            <p:cNvSpPr txBox="1">
              <a:spLocks noChangeArrowheads="1"/>
            </p:cNvSpPr>
            <p:nvPr/>
          </p:nvSpPr>
          <p:spPr bwMode="auto">
            <a:xfrm>
              <a:off x="1632" y="1248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rt</a:t>
              </a:r>
            </a:p>
          </p:txBody>
        </p:sp>
        <p:sp>
          <p:nvSpPr>
            <p:cNvPr id="29" name="Text Box 14"/>
            <p:cNvSpPr txBox="1">
              <a:spLocks noChangeArrowheads="1"/>
            </p:cNvSpPr>
            <p:nvPr/>
          </p:nvSpPr>
          <p:spPr bwMode="auto">
            <a:xfrm>
              <a:off x="1968" y="1248"/>
              <a:ext cx="28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rd</a:t>
              </a:r>
            </a:p>
          </p:txBody>
        </p:sp>
        <p:sp>
          <p:nvSpPr>
            <p:cNvPr id="30" name="Text Box 15"/>
            <p:cNvSpPr txBox="1">
              <a:spLocks noChangeArrowheads="1"/>
            </p:cNvSpPr>
            <p:nvPr/>
          </p:nvSpPr>
          <p:spPr bwMode="auto">
            <a:xfrm>
              <a:off x="2640" y="1248"/>
              <a:ext cx="5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funct</a:t>
              </a:r>
            </a:p>
          </p:txBody>
        </p:sp>
        <p:sp>
          <p:nvSpPr>
            <p:cNvPr id="31" name="Line 16"/>
            <p:cNvSpPr>
              <a:spLocks noChangeShapeType="1"/>
            </p:cNvSpPr>
            <p:nvPr/>
          </p:nvSpPr>
          <p:spPr bwMode="auto">
            <a:xfrm>
              <a:off x="1344" y="1488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2" name="Line 17"/>
            <p:cNvSpPr>
              <a:spLocks noChangeShapeType="1"/>
            </p:cNvSpPr>
            <p:nvPr/>
          </p:nvSpPr>
          <p:spPr bwMode="auto">
            <a:xfrm>
              <a:off x="1344" y="1680"/>
              <a:ext cx="201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3" name="Text Box 18"/>
            <p:cNvSpPr txBox="1">
              <a:spLocks noChangeArrowheads="1"/>
            </p:cNvSpPr>
            <p:nvPr/>
          </p:nvSpPr>
          <p:spPr bwMode="auto">
            <a:xfrm>
              <a:off x="3840" y="1536"/>
              <a:ext cx="7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Register</a:t>
              </a:r>
            </a:p>
          </p:txBody>
        </p:sp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457200" y="3608115"/>
            <a:ext cx="8077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457200" indent="-457200"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b="1" dirty="0">
                <a:solidFill>
                  <a:srgbClr val="C00000"/>
                </a:solidFill>
              </a:rPr>
              <a:t>Immediate addressing</a:t>
            </a:r>
            <a:r>
              <a:rPr lang="en-US" altLang="en-US" dirty="0"/>
              <a:t>: operand is a constant within the instruction itself (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addi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andi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ori</a:t>
            </a:r>
            <a:r>
              <a:rPr lang="en-US" altLang="en-US" b="1" dirty="0">
                <a:latin typeface="Courier New" pitchFamily="49" charset="0"/>
              </a:rPr>
              <a:t>, </a:t>
            </a:r>
            <a:r>
              <a:rPr lang="en-US" altLang="en-US" b="1" dirty="0" err="1">
                <a:solidFill>
                  <a:srgbClr val="9900CC"/>
                </a:solidFill>
                <a:latin typeface="Courier New" pitchFamily="49" charset="0"/>
              </a:rPr>
              <a:t>slti</a:t>
            </a:r>
            <a:r>
              <a:rPr lang="en-US" altLang="en-US" dirty="0"/>
              <a:t>)</a:t>
            </a:r>
          </a:p>
        </p:txBody>
      </p:sp>
      <p:grpSp>
        <p:nvGrpSpPr>
          <p:cNvPr id="35" name="Group 32"/>
          <p:cNvGrpSpPr>
            <a:grpSpLocks/>
          </p:cNvGrpSpPr>
          <p:nvPr/>
        </p:nvGrpSpPr>
        <p:grpSpPr bwMode="auto">
          <a:xfrm>
            <a:off x="1066800" y="5132115"/>
            <a:ext cx="3810000" cy="396875"/>
            <a:chOff x="672" y="2976"/>
            <a:chExt cx="2400" cy="250"/>
          </a:xfrm>
        </p:grpSpPr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672" y="2976"/>
              <a:ext cx="124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" name="Line 22"/>
            <p:cNvSpPr>
              <a:spLocks noChangeShapeType="1"/>
            </p:cNvSpPr>
            <p:nvPr/>
          </p:nvSpPr>
          <p:spPr bwMode="auto">
            <a:xfrm>
              <a:off x="1104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8" name="Line 23"/>
            <p:cNvSpPr>
              <a:spLocks noChangeShapeType="1"/>
            </p:cNvSpPr>
            <p:nvPr/>
          </p:nvSpPr>
          <p:spPr bwMode="auto">
            <a:xfrm>
              <a:off x="1584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24"/>
            <p:cNvSpPr>
              <a:spLocks noChangeShapeType="1"/>
            </p:cNvSpPr>
            <p:nvPr/>
          </p:nvSpPr>
          <p:spPr bwMode="auto">
            <a:xfrm>
              <a:off x="2016" y="297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25"/>
            <p:cNvSpPr>
              <a:spLocks noChangeShapeType="1"/>
            </p:cNvSpPr>
            <p:nvPr/>
          </p:nvSpPr>
          <p:spPr bwMode="auto">
            <a:xfrm>
              <a:off x="1920" y="297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Text Box 26"/>
            <p:cNvSpPr txBox="1">
              <a:spLocks noChangeArrowheads="1"/>
            </p:cNvSpPr>
            <p:nvPr/>
          </p:nvSpPr>
          <p:spPr bwMode="auto">
            <a:xfrm>
              <a:off x="720" y="2976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op</a:t>
              </a:r>
            </a:p>
          </p:txBody>
        </p:sp>
        <p:sp>
          <p:nvSpPr>
            <p:cNvPr id="42" name="Text Box 27"/>
            <p:cNvSpPr txBox="1">
              <a:spLocks noChangeArrowheads="1"/>
            </p:cNvSpPr>
            <p:nvPr/>
          </p:nvSpPr>
          <p:spPr bwMode="auto">
            <a:xfrm>
              <a:off x="1200" y="2976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rs</a:t>
              </a:r>
            </a:p>
          </p:txBody>
        </p:sp>
        <p:sp>
          <p:nvSpPr>
            <p:cNvPr id="43" name="Text Box 28"/>
            <p:cNvSpPr txBox="1">
              <a:spLocks noChangeArrowheads="1"/>
            </p:cNvSpPr>
            <p:nvPr/>
          </p:nvSpPr>
          <p:spPr bwMode="auto">
            <a:xfrm>
              <a:off x="1632" y="2976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rt</a:t>
              </a:r>
            </a:p>
          </p:txBody>
        </p:sp>
        <p:sp>
          <p:nvSpPr>
            <p:cNvPr id="44" name="Rectangle 29"/>
            <p:cNvSpPr>
              <a:spLocks noChangeArrowheads="1"/>
            </p:cNvSpPr>
            <p:nvPr/>
          </p:nvSpPr>
          <p:spPr bwMode="auto">
            <a:xfrm>
              <a:off x="1920" y="2976"/>
              <a:ext cx="1152" cy="240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5" name="Text Box 30"/>
            <p:cNvSpPr txBox="1">
              <a:spLocks noChangeArrowheads="1"/>
            </p:cNvSpPr>
            <p:nvPr/>
          </p:nvSpPr>
          <p:spPr bwMode="auto">
            <a:xfrm>
              <a:off x="2016" y="2976"/>
              <a:ext cx="9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immediate</a:t>
              </a:r>
            </a:p>
          </p:txBody>
        </p:sp>
      </p:grpSp>
      <p:sp>
        <p:nvSpPr>
          <p:cNvPr id="46" name="Slide Number Placeholder 6">
            <a:extLst>
              <a:ext uri="{FF2B5EF4-FFF2-40B4-BE49-F238E27FC236}">
                <a16:creationId xmlns:a16="http://schemas.microsoft.com/office/drawing/2014/main" id="{C78640F8-E051-4865-948F-71F5D9D9E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6589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  <p:bldP spid="34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8. Addressing Modes (2/3)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46" name="Rectangle 3"/>
          <p:cNvSpPr txBox="1">
            <a:spLocks noChangeArrowheads="1"/>
          </p:cNvSpPr>
          <p:nvPr/>
        </p:nvSpPr>
        <p:spPr bwMode="auto">
          <a:xfrm>
            <a:off x="457200" y="1474515"/>
            <a:ext cx="83058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800" b="1" kern="0" dirty="0">
                <a:solidFill>
                  <a:srgbClr val="C00000"/>
                </a:solidFill>
              </a:rPr>
              <a:t>Base addressing (displacement addressing)</a:t>
            </a:r>
            <a:r>
              <a:rPr lang="en-US" altLang="en-US" sz="2800" kern="0" dirty="0"/>
              <a:t>:</a:t>
            </a:r>
            <a:r>
              <a:rPr lang="en-US" altLang="en-US" sz="2800" kern="0" dirty="0">
                <a:solidFill>
                  <a:srgbClr val="C00000"/>
                </a:solidFill>
              </a:rPr>
              <a:t> </a:t>
            </a:r>
            <a:r>
              <a:rPr lang="en-US" altLang="en-US" sz="2800" kern="0" dirty="0"/>
              <a:t>operand is at the memory location whose address is sum of a register and a constant in the instruction (</a:t>
            </a:r>
            <a:r>
              <a:rPr lang="en-US" altLang="en-US" sz="2800" b="1" kern="0" dirty="0" err="1">
                <a:solidFill>
                  <a:srgbClr val="9900CC"/>
                </a:solidFill>
                <a:latin typeface="Courier New" pitchFamily="49" charset="0"/>
              </a:rPr>
              <a:t>lw</a:t>
            </a:r>
            <a:r>
              <a:rPr lang="en-US" altLang="en-US" sz="2800" b="1" kern="0" dirty="0">
                <a:latin typeface="Courier New" pitchFamily="49" charset="0"/>
              </a:rPr>
              <a:t>, </a:t>
            </a:r>
            <a:r>
              <a:rPr lang="en-US" altLang="en-US" sz="2800" b="1" kern="0" dirty="0" err="1">
                <a:solidFill>
                  <a:srgbClr val="9900CC"/>
                </a:solidFill>
                <a:latin typeface="Courier New" pitchFamily="49" charset="0"/>
              </a:rPr>
              <a:t>sw</a:t>
            </a:r>
            <a:r>
              <a:rPr lang="en-US" altLang="en-US" sz="2800" kern="0" dirty="0"/>
              <a:t>)</a:t>
            </a:r>
          </a:p>
        </p:txBody>
      </p:sp>
      <p:grpSp>
        <p:nvGrpSpPr>
          <p:cNvPr id="47" name="Group 60"/>
          <p:cNvGrpSpPr>
            <a:grpSpLocks/>
          </p:cNvGrpSpPr>
          <p:nvPr/>
        </p:nvGrpSpPr>
        <p:grpSpPr bwMode="auto">
          <a:xfrm>
            <a:off x="990600" y="3227115"/>
            <a:ext cx="6629400" cy="1905000"/>
            <a:chOff x="624" y="1728"/>
            <a:chExt cx="4176" cy="1200"/>
          </a:xfrm>
        </p:grpSpPr>
        <p:sp>
          <p:nvSpPr>
            <p:cNvPr id="48" name="Rectangle 32"/>
            <p:cNvSpPr>
              <a:spLocks noChangeArrowheads="1"/>
            </p:cNvSpPr>
            <p:nvPr/>
          </p:nvSpPr>
          <p:spPr bwMode="auto">
            <a:xfrm>
              <a:off x="624" y="1920"/>
              <a:ext cx="124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49" name="Line 33"/>
            <p:cNvSpPr>
              <a:spLocks noChangeShapeType="1"/>
            </p:cNvSpPr>
            <p:nvPr/>
          </p:nvSpPr>
          <p:spPr bwMode="auto">
            <a:xfrm>
              <a:off x="1056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0" name="Line 34"/>
            <p:cNvSpPr>
              <a:spLocks noChangeShapeType="1"/>
            </p:cNvSpPr>
            <p:nvPr/>
          </p:nvSpPr>
          <p:spPr bwMode="auto">
            <a:xfrm>
              <a:off x="1536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1" name="Line 35"/>
            <p:cNvSpPr>
              <a:spLocks noChangeShapeType="1"/>
            </p:cNvSpPr>
            <p:nvPr/>
          </p:nvSpPr>
          <p:spPr bwMode="auto">
            <a:xfrm>
              <a:off x="1968" y="19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2" name="Line 36"/>
            <p:cNvSpPr>
              <a:spLocks noChangeShapeType="1"/>
            </p:cNvSpPr>
            <p:nvPr/>
          </p:nvSpPr>
          <p:spPr bwMode="auto">
            <a:xfrm>
              <a:off x="1872" y="192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3" name="Text Box 37"/>
            <p:cNvSpPr txBox="1">
              <a:spLocks noChangeArrowheads="1"/>
            </p:cNvSpPr>
            <p:nvPr/>
          </p:nvSpPr>
          <p:spPr bwMode="auto">
            <a:xfrm>
              <a:off x="672" y="1920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op</a:t>
              </a:r>
            </a:p>
          </p:txBody>
        </p:sp>
        <p:sp>
          <p:nvSpPr>
            <p:cNvPr id="54" name="Text Box 38"/>
            <p:cNvSpPr txBox="1">
              <a:spLocks noChangeArrowheads="1"/>
            </p:cNvSpPr>
            <p:nvPr/>
          </p:nvSpPr>
          <p:spPr bwMode="auto">
            <a:xfrm>
              <a:off x="1152" y="1920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rs</a:t>
              </a:r>
            </a:p>
          </p:txBody>
        </p:sp>
        <p:sp>
          <p:nvSpPr>
            <p:cNvPr id="55" name="Text Box 39"/>
            <p:cNvSpPr txBox="1">
              <a:spLocks noChangeArrowheads="1"/>
            </p:cNvSpPr>
            <p:nvPr/>
          </p:nvSpPr>
          <p:spPr bwMode="auto">
            <a:xfrm>
              <a:off x="1584" y="1920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rt</a:t>
              </a:r>
            </a:p>
          </p:txBody>
        </p:sp>
        <p:sp>
          <p:nvSpPr>
            <p:cNvPr id="56" name="Rectangle 40"/>
            <p:cNvSpPr>
              <a:spLocks noChangeArrowheads="1"/>
            </p:cNvSpPr>
            <p:nvPr/>
          </p:nvSpPr>
          <p:spPr bwMode="auto">
            <a:xfrm>
              <a:off x="1872" y="1920"/>
              <a:ext cx="1152" cy="24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7" name="Text Box 41"/>
            <p:cNvSpPr txBox="1">
              <a:spLocks noChangeArrowheads="1"/>
            </p:cNvSpPr>
            <p:nvPr/>
          </p:nvSpPr>
          <p:spPr bwMode="auto">
            <a:xfrm>
              <a:off x="2075" y="1920"/>
              <a:ext cx="7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58" name="Rectangle 42"/>
            <p:cNvSpPr>
              <a:spLocks noChangeArrowheads="1"/>
            </p:cNvSpPr>
            <p:nvPr/>
          </p:nvSpPr>
          <p:spPr bwMode="auto">
            <a:xfrm>
              <a:off x="624" y="2448"/>
              <a:ext cx="2400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59" name="Text Box 43"/>
            <p:cNvSpPr txBox="1">
              <a:spLocks noChangeArrowheads="1"/>
            </p:cNvSpPr>
            <p:nvPr/>
          </p:nvSpPr>
          <p:spPr bwMode="auto">
            <a:xfrm>
              <a:off x="1344" y="2448"/>
              <a:ext cx="77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Register</a:t>
              </a:r>
            </a:p>
          </p:txBody>
        </p:sp>
        <p:sp>
          <p:nvSpPr>
            <p:cNvPr id="60" name="Line 44"/>
            <p:cNvSpPr>
              <a:spLocks noChangeShapeType="1"/>
            </p:cNvSpPr>
            <p:nvPr/>
          </p:nvSpPr>
          <p:spPr bwMode="auto">
            <a:xfrm>
              <a:off x="1296" y="2160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" name="Line 45"/>
            <p:cNvSpPr>
              <a:spLocks noChangeShapeType="1"/>
            </p:cNvSpPr>
            <p:nvPr/>
          </p:nvSpPr>
          <p:spPr bwMode="auto">
            <a:xfrm>
              <a:off x="1296" y="268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2" name="Line 46"/>
            <p:cNvSpPr>
              <a:spLocks noChangeShapeType="1"/>
            </p:cNvSpPr>
            <p:nvPr/>
          </p:nvSpPr>
          <p:spPr bwMode="auto">
            <a:xfrm>
              <a:off x="1296" y="283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3" name="Line 47"/>
            <p:cNvSpPr>
              <a:spLocks noChangeShapeType="1"/>
            </p:cNvSpPr>
            <p:nvPr/>
          </p:nvSpPr>
          <p:spPr bwMode="auto">
            <a:xfrm flipV="1">
              <a:off x="3264" y="264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4" name="Line 48"/>
            <p:cNvSpPr>
              <a:spLocks noChangeShapeType="1"/>
            </p:cNvSpPr>
            <p:nvPr/>
          </p:nvSpPr>
          <p:spPr bwMode="auto">
            <a:xfrm>
              <a:off x="2496" y="216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" name="Line 49"/>
            <p:cNvSpPr>
              <a:spLocks noChangeShapeType="1"/>
            </p:cNvSpPr>
            <p:nvPr/>
          </p:nvSpPr>
          <p:spPr bwMode="auto">
            <a:xfrm>
              <a:off x="2496" y="225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6" name="Line 50"/>
            <p:cNvSpPr>
              <a:spLocks noChangeShapeType="1"/>
            </p:cNvSpPr>
            <p:nvPr/>
          </p:nvSpPr>
          <p:spPr bwMode="auto">
            <a:xfrm>
              <a:off x="3264" y="225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7" name="Oval 51"/>
            <p:cNvSpPr>
              <a:spLocks noChangeArrowheads="1"/>
            </p:cNvSpPr>
            <p:nvPr/>
          </p:nvSpPr>
          <p:spPr bwMode="auto">
            <a:xfrm>
              <a:off x="3072" y="2400"/>
              <a:ext cx="336" cy="24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68" name="Text Box 52"/>
            <p:cNvSpPr txBox="1">
              <a:spLocks noChangeArrowheads="1"/>
            </p:cNvSpPr>
            <p:nvPr/>
          </p:nvSpPr>
          <p:spPr bwMode="auto">
            <a:xfrm>
              <a:off x="3120" y="2400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+</a:t>
              </a:r>
            </a:p>
          </p:txBody>
        </p:sp>
        <p:sp>
          <p:nvSpPr>
            <p:cNvPr id="69" name="Line 53"/>
            <p:cNvSpPr>
              <a:spLocks noChangeShapeType="1"/>
            </p:cNvSpPr>
            <p:nvPr/>
          </p:nvSpPr>
          <p:spPr bwMode="auto">
            <a:xfrm>
              <a:off x="3408" y="249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0" name="Rectangle 55"/>
            <p:cNvSpPr>
              <a:spLocks noChangeArrowheads="1"/>
            </p:cNvSpPr>
            <p:nvPr/>
          </p:nvSpPr>
          <p:spPr bwMode="auto">
            <a:xfrm>
              <a:off x="3744" y="2496"/>
              <a:ext cx="1056" cy="192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1" name="Text Box 56"/>
            <p:cNvSpPr txBox="1">
              <a:spLocks noChangeArrowheads="1"/>
            </p:cNvSpPr>
            <p:nvPr/>
          </p:nvSpPr>
          <p:spPr bwMode="auto">
            <a:xfrm>
              <a:off x="3888" y="1728"/>
              <a:ext cx="7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Memory</a:t>
              </a:r>
            </a:p>
          </p:txBody>
        </p:sp>
        <p:sp>
          <p:nvSpPr>
            <p:cNvPr id="72" name="Text Box 57"/>
            <p:cNvSpPr txBox="1">
              <a:spLocks noChangeArrowheads="1"/>
            </p:cNvSpPr>
            <p:nvPr/>
          </p:nvSpPr>
          <p:spPr bwMode="auto">
            <a:xfrm>
              <a:off x="3984" y="2448"/>
              <a:ext cx="5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word</a:t>
              </a:r>
            </a:p>
          </p:txBody>
        </p:sp>
        <p:sp>
          <p:nvSpPr>
            <p:cNvPr id="73" name="Rectangle 59"/>
            <p:cNvSpPr>
              <a:spLocks noChangeArrowheads="1"/>
            </p:cNvSpPr>
            <p:nvPr/>
          </p:nvSpPr>
          <p:spPr bwMode="auto">
            <a:xfrm>
              <a:off x="3744" y="2016"/>
              <a:ext cx="1056" cy="9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sp>
        <p:nvSpPr>
          <p:cNvPr id="34" name="Slide Number Placeholder 6">
            <a:extLst>
              <a:ext uri="{FF2B5EF4-FFF2-40B4-BE49-F238E27FC236}">
                <a16:creationId xmlns:a16="http://schemas.microsoft.com/office/drawing/2014/main" id="{CF0A97EE-BE1F-4F3A-B709-255121BA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41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5804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8. Addressing Modes (3/3)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34" name="Rectangle 3"/>
          <p:cNvSpPr txBox="1">
            <a:spLocks noChangeArrowheads="1"/>
          </p:cNvSpPr>
          <p:nvPr/>
        </p:nvSpPr>
        <p:spPr bwMode="auto">
          <a:xfrm>
            <a:off x="457200" y="1356360"/>
            <a:ext cx="83058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4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q"/>
              <a:defRPr sz="2600">
                <a:solidFill>
                  <a:schemeClr val="tx1"/>
                </a:solidFill>
                <a:latin typeface="+mn-lt"/>
                <a:cs typeface="+mn-cs"/>
              </a:defRPr>
            </a:lvl2pPr>
            <a:lvl3pPr marL="1022350" indent="-35083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itchFamily="2" charset="2"/>
              <a:buChar char="n"/>
              <a:defRPr sz="2200">
                <a:solidFill>
                  <a:schemeClr val="tx1"/>
                </a:solidFill>
                <a:latin typeface="+mn-lt"/>
                <a:cs typeface="+mn-cs"/>
              </a:defRPr>
            </a:lvl3pPr>
            <a:lvl4pPr marL="1339850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itchFamily="2" charset="2"/>
              <a:buChar char="q"/>
              <a:defRPr sz="2000">
                <a:solidFill>
                  <a:schemeClr val="tx1"/>
                </a:solidFill>
                <a:latin typeface="+mn-lt"/>
                <a:cs typeface="+mn-cs"/>
              </a:defRPr>
            </a:lvl4pPr>
            <a:lvl5pPr marL="1681163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5pPr>
            <a:lvl6pPr marL="21383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6pPr>
            <a:lvl7pPr marL="25955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7pPr>
            <a:lvl8pPr marL="30527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8pPr>
            <a:lvl9pPr marL="3509963" indent="-339725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cs typeface="+mn-cs"/>
              </a:defRPr>
            </a:lvl9pPr>
          </a:lstStyle>
          <a:p>
            <a:pPr eaLnBrk="1" hangingPunct="1">
              <a:buSzPct val="100000"/>
              <a:buFont typeface="Wingdings" panose="05000000000000000000" pitchFamily="2" charset="2"/>
              <a:buChar char="§"/>
            </a:pPr>
            <a:r>
              <a:rPr lang="en-US" altLang="en-US" sz="2400" b="1" kern="0" dirty="0">
                <a:solidFill>
                  <a:srgbClr val="C00000"/>
                </a:solidFill>
              </a:rPr>
              <a:t>PC-relative addressing</a:t>
            </a:r>
            <a:r>
              <a:rPr lang="en-US" altLang="en-US" sz="2400" kern="0" dirty="0"/>
              <a:t>: address is sum of PC and constant in the instruction (</a:t>
            </a:r>
            <a:r>
              <a:rPr lang="en-US" altLang="en-US" sz="2400" b="1" kern="0" dirty="0" err="1">
                <a:solidFill>
                  <a:srgbClr val="9900CC"/>
                </a:solidFill>
                <a:latin typeface="Courier New" pitchFamily="49" charset="0"/>
              </a:rPr>
              <a:t>beq</a:t>
            </a:r>
            <a:r>
              <a:rPr lang="en-US" altLang="en-US" sz="2400" b="1" kern="0" dirty="0">
                <a:latin typeface="Courier New" pitchFamily="49" charset="0"/>
              </a:rPr>
              <a:t>, </a:t>
            </a:r>
            <a:r>
              <a:rPr lang="en-US" altLang="en-US" sz="2400" b="1" kern="0" dirty="0" err="1">
                <a:solidFill>
                  <a:srgbClr val="9900CC"/>
                </a:solidFill>
                <a:latin typeface="Courier New" pitchFamily="49" charset="0"/>
              </a:rPr>
              <a:t>bne</a:t>
            </a:r>
            <a:r>
              <a:rPr lang="en-US" altLang="en-US" sz="2400" b="1" kern="0" dirty="0">
                <a:latin typeface="Courier New" pitchFamily="49" charset="0"/>
              </a:rPr>
              <a:t>)</a:t>
            </a:r>
          </a:p>
        </p:txBody>
      </p:sp>
      <p:grpSp>
        <p:nvGrpSpPr>
          <p:cNvPr id="35" name="Group 56"/>
          <p:cNvGrpSpPr>
            <a:grpSpLocks/>
          </p:cNvGrpSpPr>
          <p:nvPr/>
        </p:nvGrpSpPr>
        <p:grpSpPr bwMode="auto">
          <a:xfrm>
            <a:off x="990600" y="2118360"/>
            <a:ext cx="6646863" cy="1600200"/>
            <a:chOff x="613" y="1344"/>
            <a:chExt cx="4187" cy="1008"/>
          </a:xfrm>
        </p:grpSpPr>
        <p:sp>
          <p:nvSpPr>
            <p:cNvPr id="36" name="Rectangle 31"/>
            <p:cNvSpPr>
              <a:spLocks noChangeArrowheads="1"/>
            </p:cNvSpPr>
            <p:nvPr/>
          </p:nvSpPr>
          <p:spPr bwMode="auto">
            <a:xfrm>
              <a:off x="3744" y="1584"/>
              <a:ext cx="1056" cy="76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7" name="Rectangle 32"/>
            <p:cNvSpPr>
              <a:spLocks noChangeArrowheads="1"/>
            </p:cNvSpPr>
            <p:nvPr/>
          </p:nvSpPr>
          <p:spPr bwMode="auto">
            <a:xfrm>
              <a:off x="613" y="1440"/>
              <a:ext cx="1248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38" name="Line 33"/>
            <p:cNvSpPr>
              <a:spLocks noChangeShapeType="1"/>
            </p:cNvSpPr>
            <p:nvPr/>
          </p:nvSpPr>
          <p:spPr bwMode="auto">
            <a:xfrm>
              <a:off x="1045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39" name="Line 34"/>
            <p:cNvSpPr>
              <a:spLocks noChangeShapeType="1"/>
            </p:cNvSpPr>
            <p:nvPr/>
          </p:nvSpPr>
          <p:spPr bwMode="auto">
            <a:xfrm>
              <a:off x="1525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0" name="Line 35"/>
            <p:cNvSpPr>
              <a:spLocks noChangeShapeType="1"/>
            </p:cNvSpPr>
            <p:nvPr/>
          </p:nvSpPr>
          <p:spPr bwMode="auto">
            <a:xfrm>
              <a:off x="1957" y="144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1" name="Line 36"/>
            <p:cNvSpPr>
              <a:spLocks noChangeShapeType="1"/>
            </p:cNvSpPr>
            <p:nvPr/>
          </p:nvSpPr>
          <p:spPr bwMode="auto">
            <a:xfrm>
              <a:off x="1861" y="1440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42" name="Text Box 37"/>
            <p:cNvSpPr txBox="1">
              <a:spLocks noChangeArrowheads="1"/>
            </p:cNvSpPr>
            <p:nvPr/>
          </p:nvSpPr>
          <p:spPr bwMode="auto">
            <a:xfrm>
              <a:off x="661" y="1440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op</a:t>
              </a:r>
            </a:p>
          </p:txBody>
        </p:sp>
        <p:sp>
          <p:nvSpPr>
            <p:cNvPr id="43" name="Text Box 38"/>
            <p:cNvSpPr txBox="1">
              <a:spLocks noChangeArrowheads="1"/>
            </p:cNvSpPr>
            <p:nvPr/>
          </p:nvSpPr>
          <p:spPr bwMode="auto">
            <a:xfrm>
              <a:off x="1141" y="1440"/>
              <a:ext cx="26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rs</a:t>
              </a:r>
            </a:p>
          </p:txBody>
        </p:sp>
        <p:sp>
          <p:nvSpPr>
            <p:cNvPr id="44" name="Text Box 39"/>
            <p:cNvSpPr txBox="1">
              <a:spLocks noChangeArrowheads="1"/>
            </p:cNvSpPr>
            <p:nvPr/>
          </p:nvSpPr>
          <p:spPr bwMode="auto">
            <a:xfrm>
              <a:off x="1573" y="1440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rt</a:t>
              </a:r>
            </a:p>
          </p:txBody>
        </p:sp>
        <p:sp>
          <p:nvSpPr>
            <p:cNvPr id="45" name="Rectangle 40"/>
            <p:cNvSpPr>
              <a:spLocks noChangeArrowheads="1"/>
            </p:cNvSpPr>
            <p:nvPr/>
          </p:nvSpPr>
          <p:spPr bwMode="auto">
            <a:xfrm>
              <a:off x="1861" y="1440"/>
              <a:ext cx="1152" cy="24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4" name="Text Box 41"/>
            <p:cNvSpPr txBox="1">
              <a:spLocks noChangeArrowheads="1"/>
            </p:cNvSpPr>
            <p:nvPr/>
          </p:nvSpPr>
          <p:spPr bwMode="auto">
            <a:xfrm>
              <a:off x="2064" y="1440"/>
              <a:ext cx="7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75" name="Rectangle 42"/>
            <p:cNvSpPr>
              <a:spLocks noChangeArrowheads="1"/>
            </p:cNvSpPr>
            <p:nvPr/>
          </p:nvSpPr>
          <p:spPr bwMode="auto">
            <a:xfrm>
              <a:off x="613" y="1968"/>
              <a:ext cx="2400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6" name="Text Box 43"/>
            <p:cNvSpPr txBox="1">
              <a:spLocks noChangeArrowheads="1"/>
            </p:cNvSpPr>
            <p:nvPr/>
          </p:nvSpPr>
          <p:spPr bwMode="auto">
            <a:xfrm>
              <a:off x="1558" y="1968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PC</a:t>
              </a:r>
            </a:p>
          </p:txBody>
        </p:sp>
        <p:sp>
          <p:nvSpPr>
            <p:cNvPr id="77" name="Line 44"/>
            <p:cNvSpPr>
              <a:spLocks noChangeShapeType="1"/>
            </p:cNvSpPr>
            <p:nvPr/>
          </p:nvSpPr>
          <p:spPr bwMode="auto">
            <a:xfrm>
              <a:off x="1285" y="2208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8" name="Line 45"/>
            <p:cNvSpPr>
              <a:spLocks noChangeShapeType="1"/>
            </p:cNvSpPr>
            <p:nvPr/>
          </p:nvSpPr>
          <p:spPr bwMode="auto">
            <a:xfrm>
              <a:off x="1285" y="2352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9" name="Line 46"/>
            <p:cNvSpPr>
              <a:spLocks noChangeShapeType="1"/>
            </p:cNvSpPr>
            <p:nvPr/>
          </p:nvSpPr>
          <p:spPr bwMode="auto">
            <a:xfrm flipV="1">
              <a:off x="3253" y="2160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0" name="Line 47"/>
            <p:cNvSpPr>
              <a:spLocks noChangeShapeType="1"/>
            </p:cNvSpPr>
            <p:nvPr/>
          </p:nvSpPr>
          <p:spPr bwMode="auto">
            <a:xfrm>
              <a:off x="2485" y="1680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1" name="Line 48"/>
            <p:cNvSpPr>
              <a:spLocks noChangeShapeType="1"/>
            </p:cNvSpPr>
            <p:nvPr/>
          </p:nvSpPr>
          <p:spPr bwMode="auto">
            <a:xfrm>
              <a:off x="2485" y="1776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2" name="Line 49"/>
            <p:cNvSpPr>
              <a:spLocks noChangeShapeType="1"/>
            </p:cNvSpPr>
            <p:nvPr/>
          </p:nvSpPr>
          <p:spPr bwMode="auto">
            <a:xfrm>
              <a:off x="3253" y="1776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3" name="Oval 50"/>
            <p:cNvSpPr>
              <a:spLocks noChangeArrowheads="1"/>
            </p:cNvSpPr>
            <p:nvPr/>
          </p:nvSpPr>
          <p:spPr bwMode="auto">
            <a:xfrm>
              <a:off x="3061" y="1920"/>
              <a:ext cx="336" cy="24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4" name="Text Box 51"/>
            <p:cNvSpPr txBox="1">
              <a:spLocks noChangeArrowheads="1"/>
            </p:cNvSpPr>
            <p:nvPr/>
          </p:nvSpPr>
          <p:spPr bwMode="auto">
            <a:xfrm>
              <a:off x="3109" y="1920"/>
              <a:ext cx="24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+</a:t>
              </a:r>
            </a:p>
          </p:txBody>
        </p:sp>
        <p:sp>
          <p:nvSpPr>
            <p:cNvPr id="85" name="Line 52"/>
            <p:cNvSpPr>
              <a:spLocks noChangeShapeType="1"/>
            </p:cNvSpPr>
            <p:nvPr/>
          </p:nvSpPr>
          <p:spPr bwMode="auto">
            <a:xfrm>
              <a:off x="3397" y="2016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86" name="Rectangle 53"/>
            <p:cNvSpPr>
              <a:spLocks noChangeArrowheads="1"/>
            </p:cNvSpPr>
            <p:nvPr/>
          </p:nvSpPr>
          <p:spPr bwMode="auto">
            <a:xfrm>
              <a:off x="3744" y="2016"/>
              <a:ext cx="1056" cy="192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7" name="Text Box 54"/>
            <p:cNvSpPr txBox="1">
              <a:spLocks noChangeArrowheads="1"/>
            </p:cNvSpPr>
            <p:nvPr/>
          </p:nvSpPr>
          <p:spPr bwMode="auto">
            <a:xfrm>
              <a:off x="3888" y="1344"/>
              <a:ext cx="7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Memory</a:t>
              </a:r>
            </a:p>
          </p:txBody>
        </p:sp>
        <p:sp>
          <p:nvSpPr>
            <p:cNvPr id="88" name="Text Box 55"/>
            <p:cNvSpPr txBox="1">
              <a:spLocks noChangeArrowheads="1"/>
            </p:cNvSpPr>
            <p:nvPr/>
          </p:nvSpPr>
          <p:spPr bwMode="auto">
            <a:xfrm>
              <a:off x="3973" y="1968"/>
              <a:ext cx="5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word</a:t>
              </a:r>
            </a:p>
          </p:txBody>
        </p:sp>
      </p:grpSp>
      <p:sp>
        <p:nvSpPr>
          <p:cNvPr id="89" name="Rectangle 57"/>
          <p:cNvSpPr>
            <a:spLocks noChangeArrowheads="1"/>
          </p:cNvSpPr>
          <p:nvPr/>
        </p:nvSpPr>
        <p:spPr bwMode="auto">
          <a:xfrm>
            <a:off x="381000" y="4023360"/>
            <a:ext cx="83058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rgbClr val="C00000"/>
                </a:solidFill>
              </a:rPr>
              <a:t>Pseudo-direct addressing</a:t>
            </a:r>
            <a:r>
              <a:rPr lang="en-US" altLang="en-US" sz="2400" dirty="0"/>
              <a:t>: 26-bit of instruction concatenated with upper 4-bits of PC (</a:t>
            </a:r>
            <a:r>
              <a:rPr lang="en-US" altLang="en-US" sz="2400" b="1" dirty="0">
                <a:solidFill>
                  <a:srgbClr val="9900CC"/>
                </a:solidFill>
                <a:latin typeface="Courier New" pitchFamily="49" charset="0"/>
              </a:rPr>
              <a:t>j</a:t>
            </a:r>
            <a:r>
              <a:rPr lang="en-US" altLang="en-US" sz="2400" b="1" dirty="0">
                <a:latin typeface="Courier New" pitchFamily="49" charset="0"/>
              </a:rPr>
              <a:t>)</a:t>
            </a:r>
          </a:p>
        </p:txBody>
      </p:sp>
      <p:grpSp>
        <p:nvGrpSpPr>
          <p:cNvPr id="90" name="Group 79"/>
          <p:cNvGrpSpPr>
            <a:grpSpLocks/>
          </p:cNvGrpSpPr>
          <p:nvPr/>
        </p:nvGrpSpPr>
        <p:grpSpPr bwMode="auto">
          <a:xfrm>
            <a:off x="990600" y="4785360"/>
            <a:ext cx="6646863" cy="1600200"/>
            <a:chOff x="768" y="3120"/>
            <a:chExt cx="4187" cy="1008"/>
          </a:xfrm>
        </p:grpSpPr>
        <p:sp>
          <p:nvSpPr>
            <p:cNvPr id="91" name="Rectangle 58"/>
            <p:cNvSpPr>
              <a:spLocks noChangeArrowheads="1"/>
            </p:cNvSpPr>
            <p:nvPr/>
          </p:nvSpPr>
          <p:spPr bwMode="auto">
            <a:xfrm>
              <a:off x="3899" y="3360"/>
              <a:ext cx="1056" cy="768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2" name="Rectangle 59"/>
            <p:cNvSpPr>
              <a:spLocks noChangeArrowheads="1"/>
            </p:cNvSpPr>
            <p:nvPr/>
          </p:nvSpPr>
          <p:spPr bwMode="auto">
            <a:xfrm>
              <a:off x="768" y="3216"/>
              <a:ext cx="432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3" name="Line 60"/>
            <p:cNvSpPr>
              <a:spLocks noChangeShapeType="1"/>
            </p:cNvSpPr>
            <p:nvPr/>
          </p:nvSpPr>
          <p:spPr bwMode="auto">
            <a:xfrm>
              <a:off x="1200" y="3216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4" name="Line 61"/>
            <p:cNvSpPr>
              <a:spLocks noChangeShapeType="1"/>
            </p:cNvSpPr>
            <p:nvPr/>
          </p:nvSpPr>
          <p:spPr bwMode="auto">
            <a:xfrm>
              <a:off x="2112" y="321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95" name="Text Box 62"/>
            <p:cNvSpPr txBox="1">
              <a:spLocks noChangeArrowheads="1"/>
            </p:cNvSpPr>
            <p:nvPr/>
          </p:nvSpPr>
          <p:spPr bwMode="auto">
            <a:xfrm>
              <a:off x="816" y="3216"/>
              <a:ext cx="31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op</a:t>
              </a:r>
            </a:p>
          </p:txBody>
        </p:sp>
        <p:sp>
          <p:nvSpPr>
            <p:cNvPr id="96" name="Rectangle 63"/>
            <p:cNvSpPr>
              <a:spLocks noChangeArrowheads="1"/>
            </p:cNvSpPr>
            <p:nvPr/>
          </p:nvSpPr>
          <p:spPr bwMode="auto">
            <a:xfrm>
              <a:off x="1200" y="3216"/>
              <a:ext cx="1968" cy="24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7" name="Text Box 64"/>
            <p:cNvSpPr txBox="1">
              <a:spLocks noChangeArrowheads="1"/>
            </p:cNvSpPr>
            <p:nvPr/>
          </p:nvSpPr>
          <p:spPr bwMode="auto">
            <a:xfrm>
              <a:off x="1632" y="3216"/>
              <a:ext cx="75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Address</a:t>
              </a:r>
            </a:p>
          </p:txBody>
        </p:sp>
        <p:sp>
          <p:nvSpPr>
            <p:cNvPr id="98" name="Rectangle 65"/>
            <p:cNvSpPr>
              <a:spLocks noChangeArrowheads="1"/>
            </p:cNvSpPr>
            <p:nvPr/>
          </p:nvSpPr>
          <p:spPr bwMode="auto">
            <a:xfrm>
              <a:off x="768" y="3744"/>
              <a:ext cx="2400" cy="240"/>
            </a:xfrm>
            <a:prstGeom prst="rect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99" name="Text Box 66"/>
            <p:cNvSpPr txBox="1">
              <a:spLocks noChangeArrowheads="1"/>
            </p:cNvSpPr>
            <p:nvPr/>
          </p:nvSpPr>
          <p:spPr bwMode="auto">
            <a:xfrm>
              <a:off x="1713" y="3744"/>
              <a:ext cx="3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PC</a:t>
              </a:r>
            </a:p>
          </p:txBody>
        </p:sp>
        <p:sp>
          <p:nvSpPr>
            <p:cNvPr id="100" name="Line 67"/>
            <p:cNvSpPr>
              <a:spLocks noChangeShapeType="1"/>
            </p:cNvSpPr>
            <p:nvPr/>
          </p:nvSpPr>
          <p:spPr bwMode="auto">
            <a:xfrm>
              <a:off x="1440" y="3984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1" name="Line 68"/>
            <p:cNvSpPr>
              <a:spLocks noChangeShapeType="1"/>
            </p:cNvSpPr>
            <p:nvPr/>
          </p:nvSpPr>
          <p:spPr bwMode="auto">
            <a:xfrm>
              <a:off x="1440" y="4128"/>
              <a:ext cx="19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2" name="Line 69"/>
            <p:cNvSpPr>
              <a:spLocks noChangeShapeType="1"/>
            </p:cNvSpPr>
            <p:nvPr/>
          </p:nvSpPr>
          <p:spPr bwMode="auto">
            <a:xfrm flipV="1">
              <a:off x="3408" y="3936"/>
              <a:ext cx="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3" name="Line 70"/>
            <p:cNvSpPr>
              <a:spLocks noChangeShapeType="1"/>
            </p:cNvSpPr>
            <p:nvPr/>
          </p:nvSpPr>
          <p:spPr bwMode="auto">
            <a:xfrm>
              <a:off x="2640" y="3456"/>
              <a:ext cx="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4" name="Line 71"/>
            <p:cNvSpPr>
              <a:spLocks noChangeShapeType="1"/>
            </p:cNvSpPr>
            <p:nvPr/>
          </p:nvSpPr>
          <p:spPr bwMode="auto">
            <a:xfrm>
              <a:off x="2640" y="3552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5" name="Line 72"/>
            <p:cNvSpPr>
              <a:spLocks noChangeShapeType="1"/>
            </p:cNvSpPr>
            <p:nvPr/>
          </p:nvSpPr>
          <p:spPr bwMode="auto">
            <a:xfrm>
              <a:off x="3408" y="3552"/>
              <a:ext cx="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6" name="Oval 73"/>
            <p:cNvSpPr>
              <a:spLocks noChangeArrowheads="1"/>
            </p:cNvSpPr>
            <p:nvPr/>
          </p:nvSpPr>
          <p:spPr bwMode="auto">
            <a:xfrm>
              <a:off x="3216" y="3696"/>
              <a:ext cx="336" cy="240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7" name="Text Box 74"/>
            <p:cNvSpPr txBox="1">
              <a:spLocks noChangeArrowheads="1"/>
            </p:cNvSpPr>
            <p:nvPr/>
          </p:nvSpPr>
          <p:spPr bwMode="auto">
            <a:xfrm>
              <a:off x="3293" y="3696"/>
              <a:ext cx="18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:</a:t>
              </a:r>
            </a:p>
          </p:txBody>
        </p:sp>
        <p:sp>
          <p:nvSpPr>
            <p:cNvPr id="108" name="Line 75"/>
            <p:cNvSpPr>
              <a:spLocks noChangeShapeType="1"/>
            </p:cNvSpPr>
            <p:nvPr/>
          </p:nvSpPr>
          <p:spPr bwMode="auto">
            <a:xfrm>
              <a:off x="3552" y="3792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109" name="Rectangle 76"/>
            <p:cNvSpPr>
              <a:spLocks noChangeArrowheads="1"/>
            </p:cNvSpPr>
            <p:nvPr/>
          </p:nvSpPr>
          <p:spPr bwMode="auto">
            <a:xfrm>
              <a:off x="3899" y="3792"/>
              <a:ext cx="1056" cy="192"/>
            </a:xfrm>
            <a:prstGeom prst="rect">
              <a:avLst/>
            </a:prstGeom>
            <a:solidFill>
              <a:srgbClr val="CCFFCC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0" name="Text Box 77"/>
            <p:cNvSpPr txBox="1">
              <a:spLocks noChangeArrowheads="1"/>
            </p:cNvSpPr>
            <p:nvPr/>
          </p:nvSpPr>
          <p:spPr bwMode="auto">
            <a:xfrm>
              <a:off x="4032" y="3120"/>
              <a:ext cx="76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Memory</a:t>
              </a:r>
            </a:p>
          </p:txBody>
        </p:sp>
        <p:sp>
          <p:nvSpPr>
            <p:cNvPr id="111" name="Text Box 78"/>
            <p:cNvSpPr txBox="1">
              <a:spLocks noChangeArrowheads="1"/>
            </p:cNvSpPr>
            <p:nvPr/>
          </p:nvSpPr>
          <p:spPr bwMode="auto">
            <a:xfrm>
              <a:off x="4128" y="3744"/>
              <a:ext cx="5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altLang="en-US" sz="2000">
                  <a:latin typeface="Verdana" pitchFamily="34" charset="0"/>
                </a:rPr>
                <a:t>word</a:t>
              </a:r>
            </a:p>
          </p:txBody>
        </p:sp>
      </p:grpSp>
      <p:sp>
        <p:nvSpPr>
          <p:cNvPr id="56" name="Slide Number Placeholder 6">
            <a:extLst>
              <a:ext uri="{FF2B5EF4-FFF2-40B4-BE49-F238E27FC236}">
                <a16:creationId xmlns:a16="http://schemas.microsoft.com/office/drawing/2014/main" id="{AA77CC1F-C959-4969-8703-E053C17D4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42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7974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89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Summary (1/2)</a:t>
            </a:r>
            <a:endParaRPr lang="en-US" sz="3600" dirty="0">
              <a:solidFill>
                <a:srgbClr val="C00000"/>
              </a:solidFill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533400" y="135636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638" indent="-274638" fontAlgn="auto">
              <a:spcAft>
                <a:spcPts val="0"/>
              </a:spcAft>
              <a:buClr>
                <a:schemeClr val="tx1"/>
              </a:buClr>
              <a:buSzPct val="100000"/>
              <a:buFont typeface="Wingdings" pitchFamily="2" charset="2"/>
              <a:buChar char="§"/>
            </a:pPr>
            <a:r>
              <a:rPr lang="en-US" dirty="0"/>
              <a:t>MIPS Instruction: </a:t>
            </a:r>
            <a:br>
              <a:rPr lang="en-US" dirty="0"/>
            </a:br>
            <a:r>
              <a:rPr lang="en-US" dirty="0"/>
              <a:t>32 bits representing a single instruction</a:t>
            </a:r>
            <a:endParaRPr lang="en-GB" dirty="0"/>
          </a:p>
        </p:txBody>
      </p:sp>
      <p:grpSp>
        <p:nvGrpSpPr>
          <p:cNvPr id="8" name="Group 60"/>
          <p:cNvGrpSpPr>
            <a:grpSpLocks/>
          </p:cNvGrpSpPr>
          <p:nvPr/>
        </p:nvGrpSpPr>
        <p:grpSpPr bwMode="auto">
          <a:xfrm>
            <a:off x="381000" y="2194560"/>
            <a:ext cx="7948613" cy="1331913"/>
            <a:chOff x="192" y="1248"/>
            <a:chExt cx="5007" cy="839"/>
          </a:xfrm>
        </p:grpSpPr>
        <p:sp>
          <p:nvSpPr>
            <p:cNvPr id="9" name="Text Box 23"/>
            <p:cNvSpPr txBox="1">
              <a:spLocks noChangeArrowheads="1"/>
            </p:cNvSpPr>
            <p:nvPr/>
          </p:nvSpPr>
          <p:spPr bwMode="auto">
            <a:xfrm>
              <a:off x="576" y="1536"/>
              <a:ext cx="691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opcode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0" name="Text Box 24"/>
            <p:cNvSpPr txBox="1">
              <a:spLocks noChangeArrowheads="1"/>
            </p:cNvSpPr>
            <p:nvPr/>
          </p:nvSpPr>
          <p:spPr bwMode="auto">
            <a:xfrm>
              <a:off x="1584" y="1536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rs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2" name="Text Box 25"/>
            <p:cNvSpPr txBox="1">
              <a:spLocks noChangeArrowheads="1"/>
            </p:cNvSpPr>
            <p:nvPr/>
          </p:nvSpPr>
          <p:spPr bwMode="auto">
            <a:xfrm>
              <a:off x="2304" y="1536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rt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3" name="Text Box 28"/>
            <p:cNvSpPr txBox="1">
              <a:spLocks noChangeArrowheads="1"/>
            </p:cNvSpPr>
            <p:nvPr/>
          </p:nvSpPr>
          <p:spPr bwMode="auto">
            <a:xfrm>
              <a:off x="3459" y="1536"/>
              <a:ext cx="980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 dirty="0">
                  <a:latin typeface="Courier New" pitchFamily="49" charset="0"/>
                </a:rPr>
                <a:t>immediate</a:t>
              </a:r>
              <a:endParaRPr lang="en-US" sz="2000" dirty="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14" name="Rectangle 29"/>
            <p:cNvSpPr>
              <a:spLocks noChangeArrowheads="1"/>
            </p:cNvSpPr>
            <p:nvPr/>
          </p:nvSpPr>
          <p:spPr bwMode="auto">
            <a:xfrm>
              <a:off x="458" y="1514"/>
              <a:ext cx="4741" cy="2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Line 30"/>
            <p:cNvSpPr>
              <a:spLocks noChangeShapeType="1"/>
            </p:cNvSpPr>
            <p:nvPr/>
          </p:nvSpPr>
          <p:spPr bwMode="auto">
            <a:xfrm>
              <a:off x="1344" y="1514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Line 31"/>
            <p:cNvSpPr>
              <a:spLocks noChangeShapeType="1"/>
            </p:cNvSpPr>
            <p:nvPr/>
          </p:nvSpPr>
          <p:spPr bwMode="auto">
            <a:xfrm>
              <a:off x="2097" y="1514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32"/>
            <p:cNvSpPr>
              <a:spLocks noChangeShapeType="1"/>
            </p:cNvSpPr>
            <p:nvPr/>
          </p:nvSpPr>
          <p:spPr bwMode="auto">
            <a:xfrm>
              <a:off x="2806" y="1514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" name="Text Box 40"/>
            <p:cNvSpPr txBox="1">
              <a:spLocks noChangeArrowheads="1"/>
            </p:cNvSpPr>
            <p:nvPr/>
          </p:nvSpPr>
          <p:spPr bwMode="auto">
            <a:xfrm>
              <a:off x="576" y="1248"/>
              <a:ext cx="69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opcode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0" name="Text Box 41"/>
            <p:cNvSpPr txBox="1">
              <a:spLocks noChangeArrowheads="1"/>
            </p:cNvSpPr>
            <p:nvPr/>
          </p:nvSpPr>
          <p:spPr bwMode="auto">
            <a:xfrm>
              <a:off x="1568" y="1248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rs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2" name="Text Box 42"/>
            <p:cNvSpPr txBox="1">
              <a:spLocks noChangeArrowheads="1"/>
            </p:cNvSpPr>
            <p:nvPr/>
          </p:nvSpPr>
          <p:spPr bwMode="auto">
            <a:xfrm>
              <a:off x="2305" y="1248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rt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3" name="Text Box 43"/>
            <p:cNvSpPr txBox="1">
              <a:spLocks noChangeArrowheads="1"/>
            </p:cNvSpPr>
            <p:nvPr/>
          </p:nvSpPr>
          <p:spPr bwMode="auto">
            <a:xfrm>
              <a:off x="3043" y="1248"/>
              <a:ext cx="308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rd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4" name="Text Box 44"/>
            <p:cNvSpPr txBox="1">
              <a:spLocks noChangeArrowheads="1"/>
            </p:cNvSpPr>
            <p:nvPr/>
          </p:nvSpPr>
          <p:spPr bwMode="auto">
            <a:xfrm>
              <a:off x="4435" y="1248"/>
              <a:ext cx="596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funct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5" name="Text Box 45"/>
            <p:cNvSpPr txBox="1">
              <a:spLocks noChangeArrowheads="1"/>
            </p:cNvSpPr>
            <p:nvPr/>
          </p:nvSpPr>
          <p:spPr bwMode="auto">
            <a:xfrm>
              <a:off x="3635" y="1248"/>
              <a:ext cx="596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 eaLnBrk="0" hangingPunct="0"/>
              <a:r>
                <a:rPr lang="en-US" sz="2000" b="1">
                  <a:latin typeface="Courier New" pitchFamily="49" charset="0"/>
                </a:rPr>
                <a:t>shamt</a:t>
              </a:r>
              <a:endParaRPr lang="en-US" sz="2000">
                <a:solidFill>
                  <a:schemeClr val="accent1"/>
                </a:solidFill>
                <a:latin typeface="Helvetica" pitchFamily="34" charset="0"/>
              </a:endParaRPr>
            </a:p>
          </p:txBody>
        </p:sp>
        <p:sp>
          <p:nvSpPr>
            <p:cNvPr id="26" name="Rectangle 46"/>
            <p:cNvSpPr>
              <a:spLocks noChangeArrowheads="1"/>
            </p:cNvSpPr>
            <p:nvPr/>
          </p:nvSpPr>
          <p:spPr bwMode="auto">
            <a:xfrm>
              <a:off x="458" y="1248"/>
              <a:ext cx="4741" cy="2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" name="Line 47"/>
            <p:cNvSpPr>
              <a:spLocks noChangeShapeType="1"/>
            </p:cNvSpPr>
            <p:nvPr/>
          </p:nvSpPr>
          <p:spPr bwMode="auto">
            <a:xfrm>
              <a:off x="1344" y="1248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48"/>
            <p:cNvSpPr>
              <a:spLocks noChangeShapeType="1"/>
            </p:cNvSpPr>
            <p:nvPr/>
          </p:nvSpPr>
          <p:spPr bwMode="auto">
            <a:xfrm>
              <a:off x="2097" y="1248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49"/>
            <p:cNvSpPr>
              <a:spLocks noChangeShapeType="1"/>
            </p:cNvSpPr>
            <p:nvPr/>
          </p:nvSpPr>
          <p:spPr bwMode="auto">
            <a:xfrm>
              <a:off x="2806" y="1248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50"/>
            <p:cNvSpPr>
              <a:spLocks noChangeShapeType="1"/>
            </p:cNvSpPr>
            <p:nvPr/>
          </p:nvSpPr>
          <p:spPr bwMode="auto">
            <a:xfrm>
              <a:off x="3560" y="1248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51"/>
            <p:cNvSpPr>
              <a:spLocks noChangeShapeType="1"/>
            </p:cNvSpPr>
            <p:nvPr/>
          </p:nvSpPr>
          <p:spPr bwMode="auto">
            <a:xfrm>
              <a:off x="4313" y="1248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52"/>
            <p:cNvSpPr txBox="1">
              <a:spLocks noChangeArrowheads="1"/>
            </p:cNvSpPr>
            <p:nvPr/>
          </p:nvSpPr>
          <p:spPr bwMode="auto">
            <a:xfrm>
              <a:off x="192" y="1275"/>
              <a:ext cx="232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  <a:latin typeface="Helvetica" pitchFamily="34" charset="0"/>
                </a:rPr>
                <a:t>R</a:t>
              </a:r>
              <a:endParaRPr lang="en-US" sz="2000" dirty="0">
                <a:solidFill>
                  <a:srgbClr val="660066"/>
                </a:solidFill>
                <a:latin typeface="Helvetica" pitchFamily="34" charset="0"/>
              </a:endParaRPr>
            </a:p>
          </p:txBody>
        </p:sp>
        <p:sp>
          <p:nvSpPr>
            <p:cNvPr id="33" name="Text Box 53"/>
            <p:cNvSpPr txBox="1">
              <a:spLocks noChangeArrowheads="1"/>
            </p:cNvSpPr>
            <p:nvPr/>
          </p:nvSpPr>
          <p:spPr bwMode="auto">
            <a:xfrm>
              <a:off x="236" y="1578"/>
              <a:ext cx="160" cy="2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  <a:latin typeface="Helvetica" pitchFamily="34" charset="0"/>
                </a:rPr>
                <a:t>I</a:t>
              </a:r>
            </a:p>
          </p:txBody>
        </p:sp>
        <p:sp>
          <p:nvSpPr>
            <p:cNvPr id="34" name="Rectangle 54"/>
            <p:cNvSpPr>
              <a:spLocks noChangeArrowheads="1"/>
            </p:cNvSpPr>
            <p:nvPr/>
          </p:nvSpPr>
          <p:spPr bwMode="auto">
            <a:xfrm>
              <a:off x="458" y="1780"/>
              <a:ext cx="4741" cy="26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Line 55"/>
            <p:cNvSpPr>
              <a:spLocks noChangeShapeType="1"/>
            </p:cNvSpPr>
            <p:nvPr/>
          </p:nvSpPr>
          <p:spPr bwMode="auto">
            <a:xfrm>
              <a:off x="1344" y="1780"/>
              <a:ext cx="0" cy="2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Text Box 56"/>
            <p:cNvSpPr txBox="1">
              <a:spLocks noChangeArrowheads="1"/>
            </p:cNvSpPr>
            <p:nvPr/>
          </p:nvSpPr>
          <p:spPr bwMode="auto">
            <a:xfrm>
              <a:off x="192" y="1837"/>
              <a:ext cx="205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 dirty="0">
                  <a:solidFill>
                    <a:srgbClr val="660066"/>
                  </a:solidFill>
                  <a:latin typeface="Helvetica" pitchFamily="34" charset="0"/>
                </a:rPr>
                <a:t>J</a:t>
              </a:r>
            </a:p>
          </p:txBody>
        </p:sp>
        <p:sp>
          <p:nvSpPr>
            <p:cNvPr id="37" name="Text Box 57"/>
            <p:cNvSpPr txBox="1">
              <a:spLocks noChangeArrowheads="1"/>
            </p:cNvSpPr>
            <p:nvPr/>
          </p:nvSpPr>
          <p:spPr bwMode="auto">
            <a:xfrm>
              <a:off x="2142" y="1780"/>
              <a:ext cx="1838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000" b="1">
                  <a:latin typeface="Courier New" pitchFamily="49" charset="0"/>
                </a:rPr>
                <a:t>target address</a:t>
              </a:r>
              <a:endParaRPr lang="en-US" sz="2000" b="1">
                <a:latin typeface="Helvetica" pitchFamily="34" charset="0"/>
              </a:endParaRPr>
            </a:p>
          </p:txBody>
        </p:sp>
        <p:sp>
          <p:nvSpPr>
            <p:cNvPr id="38" name="Text Box 58"/>
            <p:cNvSpPr txBox="1">
              <a:spLocks noChangeArrowheads="1"/>
            </p:cNvSpPr>
            <p:nvPr/>
          </p:nvSpPr>
          <p:spPr bwMode="auto">
            <a:xfrm>
              <a:off x="576" y="1776"/>
              <a:ext cx="69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000" b="1">
                  <a:latin typeface="Courier New" pitchFamily="49" charset="0"/>
                </a:rPr>
                <a:t>opcode</a:t>
              </a:r>
              <a:endParaRPr lang="en-US" sz="2000" b="1">
                <a:latin typeface="Helvetica" pitchFamily="34" charset="0"/>
              </a:endParaRPr>
            </a:p>
          </p:txBody>
        </p:sp>
      </p:grpSp>
      <p:sp>
        <p:nvSpPr>
          <p:cNvPr id="39" name="Rectangle 59"/>
          <p:cNvSpPr>
            <a:spLocks noChangeArrowheads="1"/>
          </p:cNvSpPr>
          <p:nvPr/>
        </p:nvSpPr>
        <p:spPr bwMode="auto">
          <a:xfrm>
            <a:off x="609600" y="3566160"/>
            <a:ext cx="82296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1325" indent="-258763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Branches and load/store are both I-format instructions; but branches use PC-relative addressing, whereas load/store use base addressing</a:t>
            </a:r>
          </a:p>
          <a:p>
            <a:pPr marL="441325" indent="-258763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Branches use PC-relative addressing; jumps use pseudo-direct addressing</a:t>
            </a:r>
          </a:p>
          <a:p>
            <a:pPr marL="441325" indent="-258763">
              <a:spcBef>
                <a:spcPct val="20000"/>
              </a:spcBef>
              <a:buClr>
                <a:schemeClr val="accent1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/>
              <a:t>Shifts use R-format, but other immediate instructions (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addi</a:t>
            </a:r>
            <a:r>
              <a:rPr lang="en-US" sz="2400" dirty="0"/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andi</a:t>
            </a:r>
            <a:r>
              <a:rPr lang="en-US" sz="2400" dirty="0"/>
              <a:t>,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ori</a:t>
            </a:r>
            <a:r>
              <a:rPr lang="en-US" sz="2400" dirty="0"/>
              <a:t>) use I-format</a:t>
            </a:r>
          </a:p>
        </p:txBody>
      </p:sp>
      <p:sp>
        <p:nvSpPr>
          <p:cNvPr id="40" name="Slide Number Placeholder 6">
            <a:extLst>
              <a:ext uri="{FF2B5EF4-FFF2-40B4-BE49-F238E27FC236}">
                <a16:creationId xmlns:a16="http://schemas.microsoft.com/office/drawing/2014/main" id="{AA4F1505-798F-4B9A-803A-98995914A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43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745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Footer Placeholder 8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pPr algn="l"/>
            <a:r>
              <a:rPr lang="fr-FR"/>
              <a:t>Lecture #9: MIPS Part 3: Instruction Formats</a:t>
            </a:r>
            <a:endParaRPr lang="en-US" dirty="0"/>
          </a:p>
        </p:txBody>
      </p:sp>
      <p:sp>
        <p:nvSpPr>
          <p:cNvPr id="21" name="[Date Placeholder 3]"/>
          <p:cNvSpPr>
            <a:spLocks noGrp="1"/>
          </p:cNvSpPr>
          <p:nvPr>
            <p:ph type="dt" sz="half" idx="10"/>
          </p:nvPr>
        </p:nvSpPr>
        <p:spPr>
          <a:xfrm>
            <a:off x="457200" y="18288"/>
            <a:ext cx="2895600" cy="329184"/>
          </a:xfrm>
        </p:spPr>
        <p:txBody>
          <a:bodyPr/>
          <a:lstStyle/>
          <a:p>
            <a:pPr>
              <a:defRPr/>
            </a:pPr>
            <a:r>
              <a:rPr lang="en-US"/>
              <a:t>Aaron Tan, NUS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48BEBB-8CA1-4054-A38D-C28888EEEA8B}"/>
              </a:ext>
            </a:extLst>
          </p:cNvPr>
          <p:cNvSpPr txBox="1"/>
          <p:nvPr/>
        </p:nvSpPr>
        <p:spPr>
          <a:xfrm>
            <a:off x="457200" y="587828"/>
            <a:ext cx="838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dirty="0">
                <a:solidFill>
                  <a:srgbClr val="0000FF"/>
                </a:solidFill>
              </a:rPr>
              <a:t>Summary (2/2)</a:t>
            </a:r>
            <a:endParaRPr lang="en-US" sz="3600" dirty="0">
              <a:solidFill>
                <a:srgbClr val="C00000"/>
              </a:solidFill>
            </a:endParaRPr>
          </a:p>
        </p:txBody>
      </p:sp>
      <p:graphicFrame>
        <p:nvGraphicFramePr>
          <p:cNvPr id="40" name="Object 33">
            <a:hlinkClick r:id="" action="ppaction://ole?verb=0"/>
          </p:cNvPr>
          <p:cNvGraphicFramePr>
            <a:graphicFrameLocks noGrp="1"/>
          </p:cNvGraphicFramePr>
          <p:nvPr>
            <p:ph sz="half" idx="4294967295"/>
          </p:nvPr>
        </p:nvGraphicFramePr>
        <p:xfrm>
          <a:off x="533399" y="1234159"/>
          <a:ext cx="8153400" cy="5111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3" imgW="6048360" imgH="3934080" progId="Excel.Sheet.8">
                  <p:embed/>
                </p:oleObj>
              </mc:Choice>
              <mc:Fallback>
                <p:oleObj name="Worksheet" r:id="rId3" imgW="6048360" imgH="3934080" progId="Excel.Sheet.8">
                  <p:embed/>
                  <p:pic>
                    <p:nvPicPr>
                      <p:cNvPr id="40" name="Object 33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399" y="1234159"/>
                        <a:ext cx="8153400" cy="5111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DD0A78-E970-4929-ADFC-70744DCF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3960" y="18288"/>
            <a:ext cx="865240" cy="329184"/>
          </a:xfrm>
        </p:spPr>
        <p:txBody>
          <a:bodyPr>
            <a:noAutofit/>
          </a:bodyPr>
          <a:lstStyle/>
          <a:p>
            <a:pPr algn="r">
              <a:defRPr/>
            </a:pPr>
            <a:fld id="{F7EC234A-9094-4BB8-9EA4-75ECDA8A365B}" type="slidenum">
              <a:rPr smtClean="0"/>
              <a:pPr algn="r">
                <a:defRPr/>
              </a:pPr>
              <a:t>44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1969550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7628</TotalTime>
  <Words>3754</Words>
  <Application>Microsoft Macintosh PowerPoint</Application>
  <PresentationFormat>On-screen Show (4:3)</PresentationFormat>
  <Paragraphs>784</Paragraphs>
  <Slides>44</Slides>
  <Notes>42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6" baseType="lpstr">
      <vt:lpstr>Times</vt:lpstr>
      <vt:lpstr>Arial</vt:lpstr>
      <vt:lpstr>Calibri</vt:lpstr>
      <vt:lpstr>Courier New</vt:lpstr>
      <vt:lpstr>Helvetica</vt:lpstr>
      <vt:lpstr>Symbol</vt:lpstr>
      <vt:lpstr>Times New Roman</vt:lpstr>
      <vt:lpstr>Verdana</vt:lpstr>
      <vt:lpstr>Wingdings</vt:lpstr>
      <vt:lpstr>Wingdings 2</vt:lpstr>
      <vt:lpstr>Blank</vt:lpstr>
      <vt:lpstr>Worksheet</vt:lpstr>
      <vt:lpstr>PowerPoint Presentation</vt:lpstr>
      <vt:lpstr>Q &amp; A</vt:lpstr>
      <vt:lpstr>Lecture #6: MIPS Part 3: Instruction Formats</vt:lpstr>
      <vt:lpstr>Lecture #9: MIPS Part 3: Instruction Formats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National University of Singapore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Timer Programming</dc:title>
  <dc:creator>Tan Keng Yan, Colin</dc:creator>
  <cp:lastModifiedBy>Tan Keng Yan, Colin</cp:lastModifiedBy>
  <cp:revision>163</cp:revision>
  <cp:lastPrinted>2019-09-04T09:23:22Z</cp:lastPrinted>
  <dcterms:created xsi:type="dcterms:W3CDTF">2018-02-10T09:13:59Z</dcterms:created>
  <dcterms:modified xsi:type="dcterms:W3CDTF">2025-09-01T06:53:43Z</dcterms:modified>
</cp:coreProperties>
</file>