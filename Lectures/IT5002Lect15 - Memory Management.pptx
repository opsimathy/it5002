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8" r:id="rId3"/>
    <p:sldId id="259" r:id="rId4"/>
    <p:sldId id="400" r:id="rId5"/>
    <p:sldId id="381" r:id="rId6"/>
    <p:sldId id="384" r:id="rId7"/>
    <p:sldId id="385" r:id="rId8"/>
    <p:sldId id="387" r:id="rId9"/>
    <p:sldId id="386" r:id="rId10"/>
    <p:sldId id="355" r:id="rId11"/>
    <p:sldId id="334" r:id="rId12"/>
    <p:sldId id="388" r:id="rId13"/>
    <p:sldId id="358" r:id="rId14"/>
    <p:sldId id="359" r:id="rId15"/>
    <p:sldId id="360" r:id="rId16"/>
    <p:sldId id="391" r:id="rId17"/>
    <p:sldId id="392" r:id="rId18"/>
    <p:sldId id="389" r:id="rId19"/>
    <p:sldId id="390" r:id="rId20"/>
    <p:sldId id="364" r:id="rId21"/>
    <p:sldId id="365" r:id="rId22"/>
    <p:sldId id="366" r:id="rId23"/>
    <p:sldId id="367" r:id="rId24"/>
    <p:sldId id="369" r:id="rId25"/>
    <p:sldId id="370" r:id="rId26"/>
    <p:sldId id="371" r:id="rId27"/>
    <p:sldId id="372" r:id="rId28"/>
    <p:sldId id="393" r:id="rId29"/>
    <p:sldId id="394" r:id="rId30"/>
    <p:sldId id="395" r:id="rId31"/>
    <p:sldId id="397" r:id="rId32"/>
    <p:sldId id="396" r:id="rId33"/>
    <p:sldId id="399" r:id="rId34"/>
    <p:sldId id="398" r:id="rId35"/>
  </p:sldIdLst>
  <p:sldSz cx="10152063" cy="7596188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9933"/>
    <a:srgbClr val="003399"/>
    <a:srgbClr val="00330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94678"/>
  </p:normalViewPr>
  <p:slideViewPr>
    <p:cSldViewPr>
      <p:cViewPr varScale="1">
        <p:scale>
          <a:sx n="52" d="100"/>
          <a:sy n="52" d="100"/>
        </p:scale>
        <p:origin x="1128" y="41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182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>
              <a:defRPr sz="11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>
              <a:defRPr sz="11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>
              <a:defRPr sz="11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763238D-3D53-45D2-BB46-FDE88AA2B9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>
              <a:defRPr sz="11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>
              <a:defRPr sz="11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5838" y="768350"/>
            <a:ext cx="5129212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1662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>
              <a:defRPr sz="11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46E8705-F810-4707-B991-9F863E630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FD498BE-3D92-45AF-86EC-E0071C11AE7C}" type="slidenum">
              <a:rPr lang="en-US" altLang="en-US" sz="1100" smtClean="0"/>
              <a:pPr/>
              <a:t>1</a:t>
            </a:fld>
            <a:endParaRPr lang="en-US" alt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37F05D1-4177-46F8-B856-0BCBB0BD32DC}" type="slidenum">
              <a:rPr lang="en-US" altLang="en-US" sz="1100" smtClean="0"/>
              <a:pPr/>
              <a:t>2</a:t>
            </a:fld>
            <a:endParaRPr lang="en-US" altLang="en-US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E00C609-34E5-4CE7-B63B-74CFFD09C84E}" type="slidenum">
              <a:rPr lang="en-US" altLang="en-US" sz="1100" smtClean="0"/>
              <a:pPr/>
              <a:t>3</a:t>
            </a:fld>
            <a:endParaRPr lang="en-US" alt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C769241-7886-4364-BE38-1E2FA74F0475}" type="slidenum">
              <a:rPr lang="en-US" altLang="en-US" sz="1100" smtClean="0"/>
              <a:pPr/>
              <a:t>4</a:t>
            </a:fld>
            <a:endParaRPr lang="en-US" altLang="en-US"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AEABF35-AF8E-469A-9A35-A526C88C6911}" type="slidenum">
              <a:rPr lang="en-US" altLang="en-US" sz="1100" smtClean="0"/>
              <a:pPr/>
              <a:t>10</a:t>
            </a:fld>
            <a:endParaRPr lang="en-US" altLang="en-US"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68C4D4F-45C4-4B30-B10B-44C7CBE55A21}" type="slidenum">
              <a:rPr lang="en-US" altLang="en-US" sz="1100" smtClean="0"/>
              <a:pPr/>
              <a:t>11</a:t>
            </a:fld>
            <a:endParaRPr lang="en-US" alt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860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CE3A5-83CE-44CC-B39A-06E24466B426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14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EBA3F-B7FB-4DD9-90F0-B8FB71D5A613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23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4CC02-9F56-473D-AD7A-DDD3DE2B8E08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01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56153-8008-4200-958B-96EA32930821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1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E912F-67A4-4153-9221-6683E352608F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66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D4085-E89E-4C79-96CB-56D87AF1DDE6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056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66B28-11E5-4E58-9128-272073F1DB26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57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12AD9-7670-4E69-BBCC-E87FCC0942D2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72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A442-9861-4E90-B7FB-E38A7B211576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84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5980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5980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4F856-9AAB-4BAE-B018-BBE20C70276F}" type="slidenum">
              <a:rPr lang="en-GB" altLang="en-US"/>
              <a:pPr>
                <a:defRPr/>
              </a:pPr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84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0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3399"/>
                </a:solidFill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3399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651BD27-6C4A-49C5-8E82-C2D9795DB57A}" type="slidenum">
              <a:rPr lang="en-GB" altLang="en-US"/>
              <a:pPr>
                <a:defRPr/>
              </a:pPr>
              <a:t>‹#›</a:t>
            </a:fld>
            <a:endParaRPr lang="en-GB" altLang="en-US" sz="1600"/>
          </a:p>
        </p:txBody>
      </p:sp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2" name="Text Box 11"/>
          <p:cNvSpPr txBox="1">
            <a:spLocks noChangeArrowheads="1"/>
          </p:cNvSpPr>
          <p:nvPr userDrawn="1"/>
        </p:nvSpPr>
        <p:spPr bwMode="auto">
          <a:xfrm>
            <a:off x="611188" y="358775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500" dirty="0">
                <a:solidFill>
                  <a:srgbClr val="003399"/>
                </a:solidFill>
                <a:latin typeface="Times New Roman" panose="02020603050405020304" pitchFamily="18" charset="0"/>
              </a:rPr>
              <a:t>Lecture 15: Memory Management				Page: </a:t>
            </a:r>
            <a:fld id="{D2D35B98-D854-4605-BACD-7312AD01C409}" type="slidenum">
              <a:rPr lang="en-US" altLang="en-US" sz="1500" smtClean="0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GB" altLang="en-US" sz="150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17" r:id="rId1"/>
    <p:sldLayoutId id="2147484618" r:id="rId2"/>
    <p:sldLayoutId id="2147484619" r:id="rId3"/>
    <p:sldLayoutId id="2147484620" r:id="rId4"/>
    <p:sldLayoutId id="2147484621" r:id="rId5"/>
    <p:sldLayoutId id="2147484622" r:id="rId6"/>
    <p:sldLayoutId id="2147484623" r:id="rId7"/>
    <p:sldLayoutId id="2147484624" r:id="rId8"/>
    <p:sldLayoutId id="2147484625" r:id="rId9"/>
    <p:sldLayoutId id="2147484626" r:id="rId10"/>
    <p:sldLayoutId id="2147484627" r:id="rId11"/>
  </p:sldLayoutIdLst>
  <p:txStyles>
    <p:titleStyle>
      <a:lvl1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defTabSz="1014413" rtl="0" eaLnBrk="0" fontAlgn="base" hangingPunct="0">
        <a:spcBef>
          <a:spcPct val="20000"/>
        </a:spcBef>
        <a:spcAft>
          <a:spcPct val="0"/>
        </a:spcAft>
        <a:buChar char="•"/>
        <a:defRPr sz="2500" b="1">
          <a:solidFill>
            <a:srgbClr val="003399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374650" indent="6350" algn="l" defTabSz="1014413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600">
          <a:solidFill>
            <a:srgbClr val="003399"/>
          </a:solidFill>
          <a:latin typeface="+mn-lt"/>
          <a:ea typeface="MS PGothic" panose="020B0600070205080204" pitchFamily="34" charset="-128"/>
        </a:defRPr>
      </a:lvl2pPr>
      <a:lvl3pPr marL="755650" indent="158750" algn="l" defTabSz="1014413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2200" b="1">
          <a:solidFill>
            <a:srgbClr val="FF6600"/>
          </a:solidFill>
          <a:latin typeface="+mn-lt"/>
          <a:ea typeface="MS PGothic" panose="020B0600070205080204" pitchFamily="34" charset="-128"/>
        </a:defRPr>
      </a:lvl3pPr>
      <a:lvl4pPr marL="1143000" indent="6350" algn="l" defTabSz="1014413" rtl="0" eaLnBrk="0" fontAlgn="base" hangingPunct="0">
        <a:spcBef>
          <a:spcPct val="20000"/>
        </a:spcBef>
        <a:spcAft>
          <a:spcPct val="0"/>
        </a:spcAft>
        <a:buChar char="–"/>
        <a:defRPr sz="2200" i="1">
          <a:solidFill>
            <a:srgbClr val="003399"/>
          </a:solidFill>
          <a:latin typeface="+mn-lt"/>
          <a:ea typeface="MS PGothic" panose="020B0600070205080204" pitchFamily="34" charset="-128"/>
        </a:defRPr>
      </a:lvl4pPr>
      <a:lvl5pPr marL="1524000" indent="3048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  <a:ea typeface="MS PGothic" panose="020B0600070205080204" pitchFamily="34" charset="-128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362" name="Text Box 18"/>
          <p:cNvSpPr txBox="1">
            <a:spLocks noChangeArrowheads="1"/>
          </p:cNvSpPr>
          <p:nvPr/>
        </p:nvSpPr>
        <p:spPr bwMode="auto">
          <a:xfrm>
            <a:off x="792163" y="269875"/>
            <a:ext cx="8580437" cy="72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800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800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800" dirty="0">
                <a:solidFill>
                  <a:schemeClr val="bg1"/>
                </a:solidFill>
                <a:latin typeface="Times New Roman" panose="02020603050405020304" pitchFamily="18" charset="0"/>
              </a:rPr>
              <a:t>Lecture 15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800" dirty="0">
                <a:solidFill>
                  <a:schemeClr val="bg1"/>
                </a:solidFill>
                <a:latin typeface="Times New Roman" panose="02020603050405020304" pitchFamily="18" charset="0"/>
              </a:rPr>
              <a:t>Memory Management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800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5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15364" name="Picture 22" descr="full 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5670550"/>
            <a:ext cx="2376487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By the end of this lecture you will be able to:</a:t>
            </a:r>
          </a:p>
          <a:p>
            <a:pPr lvl="1"/>
            <a:r>
              <a:rPr lang="en-US" altLang="en-US"/>
              <a:t>Understand the concept of address spaces and memory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611188" y="1998663"/>
            <a:ext cx="8628062" cy="4700587"/>
          </a:xfrm>
        </p:spPr>
        <p:txBody>
          <a:bodyPr/>
          <a:lstStyle/>
          <a:p>
            <a:r>
              <a:rPr lang="en-US" altLang="en-US"/>
              <a:t>Memory is crucial for computers:</a:t>
            </a:r>
          </a:p>
          <a:p>
            <a:pPr lvl="1"/>
            <a:r>
              <a:rPr lang="en-US" altLang="en-US"/>
              <a:t>Used to store:</a:t>
            </a:r>
          </a:p>
          <a:p>
            <a:pPr lvl="2"/>
            <a:r>
              <a:rPr lang="en-US" altLang="en-US"/>
              <a:t>Kernel code and data</a:t>
            </a:r>
          </a:p>
          <a:p>
            <a:pPr lvl="2"/>
            <a:r>
              <a:rPr lang="en-US" altLang="en-US"/>
              <a:t>User code and data</a:t>
            </a:r>
          </a:p>
          <a:p>
            <a:r>
              <a:rPr lang="en-US" altLang="en-US"/>
              <a:t>What responsibilities does the OS have here?</a:t>
            </a:r>
          </a:p>
          <a:p>
            <a:pPr lvl="1"/>
            <a:r>
              <a:rPr lang="en-US" altLang="en-US"/>
              <a:t>Allocate memory to new processes.</a:t>
            </a:r>
          </a:p>
          <a:p>
            <a:pPr lvl="1"/>
            <a:r>
              <a:rPr lang="en-US" altLang="en-US"/>
              <a:t>Manage process memory.</a:t>
            </a:r>
          </a:p>
          <a:p>
            <a:pPr lvl="1"/>
            <a:r>
              <a:rPr lang="en-US" altLang="en-US"/>
              <a:t>Manage kernel memory for its own use.</a:t>
            </a:r>
          </a:p>
          <a:p>
            <a:pPr lvl="1"/>
            <a:r>
              <a:rPr lang="en-US" altLang="en-US"/>
              <a:t>Provide OS services to:</a:t>
            </a:r>
          </a:p>
          <a:p>
            <a:pPr lvl="2"/>
            <a:r>
              <a:rPr lang="en-US" altLang="en-US"/>
              <a:t>Get more memory, e.g. via malloc.</a:t>
            </a:r>
          </a:p>
          <a:p>
            <a:pPr lvl="2"/>
            <a:r>
              <a:rPr lang="en-US" altLang="en-US"/>
              <a:t>Free memory, e.g. via free</a:t>
            </a:r>
          </a:p>
          <a:p>
            <a:pPr lvl="2"/>
            <a:r>
              <a:rPr lang="en-US" altLang="en-US"/>
              <a:t>Protect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cap="none"/>
              <a:t>PHYSICAL MEMORY ORGANIZATION</a:t>
            </a:r>
            <a:br>
              <a:rPr lang="en-US" altLang="en-US" cap="none"/>
            </a:br>
            <a:endParaRPr lang="en-US" altLang="en-US" cap="none"/>
          </a:p>
        </p:txBody>
      </p:sp>
      <p:sp>
        <p:nvSpPr>
          <p:cNvPr id="21506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Physical Memory Organization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5545137" cy="4700588"/>
          </a:xfrm>
        </p:spPr>
        <p:txBody>
          <a:bodyPr/>
          <a:lstStyle/>
          <a:p>
            <a:r>
              <a:rPr lang="en-US" altLang="en-US"/>
              <a:t>Physical memory is:</a:t>
            </a:r>
          </a:p>
          <a:p>
            <a:pPr lvl="1"/>
            <a:r>
              <a:rPr lang="en-US" altLang="en-US"/>
              <a:t>The actual matrix of capacitors (DRAM) or flip-flops (SRAM) that stores data and instructions.</a:t>
            </a:r>
          </a:p>
          <a:p>
            <a:pPr lvl="1"/>
            <a:r>
              <a:rPr lang="en-US" altLang="en-US"/>
              <a:t>Arranged as an array of bytes.</a:t>
            </a:r>
          </a:p>
          <a:p>
            <a:r>
              <a:rPr lang="en-US" altLang="en-US"/>
              <a:t>Memory addresses serve as byte indices.</a:t>
            </a:r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2141538"/>
            <a:ext cx="3589338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Endianness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98663"/>
            <a:ext cx="8501063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Alignment Issues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Data can be fetched across word boundaries.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E.g. fetching from address 1 in a 32-bit machine:</a:t>
            </a:r>
          </a:p>
          <a:p>
            <a:pPr lvl="2"/>
            <a:r>
              <a:rPr lang="en-US" altLang="en-US"/>
              <a:t>Bytes from addresses 0 to 3 are fetched.</a:t>
            </a:r>
          </a:p>
          <a:p>
            <a:pPr lvl="2"/>
            <a:r>
              <a:rPr lang="en-US" altLang="en-US"/>
              <a:t>Bytes from addresses 4 to 7 are fetched.</a:t>
            </a:r>
          </a:p>
          <a:p>
            <a:pPr lvl="2"/>
            <a:r>
              <a:rPr lang="en-US" altLang="en-US"/>
              <a:t>Bytes from addresses 0, 5 to 7 are discarded.</a:t>
            </a:r>
          </a:p>
          <a:p>
            <a:pPr lvl="2"/>
            <a:r>
              <a:rPr lang="en-US" altLang="en-US"/>
              <a:t>Bytes from addresses 1 to 3, 4 are merged.</a:t>
            </a:r>
          </a:p>
          <a:p>
            <a:pPr lvl="1"/>
            <a:r>
              <a:rPr lang="en-US" altLang="en-US"/>
              <a:t>SLOW!!</a:t>
            </a:r>
          </a:p>
        </p:txBody>
      </p:sp>
      <p:grpSp>
        <p:nvGrpSpPr>
          <p:cNvPr id="27651" name="Group 5"/>
          <p:cNvGrpSpPr>
            <a:grpSpLocks/>
          </p:cNvGrpSpPr>
          <p:nvPr/>
        </p:nvGrpSpPr>
        <p:grpSpPr bwMode="auto">
          <a:xfrm>
            <a:off x="1403350" y="2862263"/>
            <a:ext cx="5876925" cy="647700"/>
            <a:chOff x="1403623" y="2861990"/>
            <a:chExt cx="5876925" cy="648072"/>
          </a:xfrm>
        </p:grpSpPr>
        <p:pic>
          <p:nvPicPr>
            <p:cNvPr id="2765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23" y="2933998"/>
              <a:ext cx="5876925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2124348" y="2861990"/>
              <a:ext cx="3167063" cy="648072"/>
            </a:xfrm>
            <a:prstGeom prst="rect">
              <a:avLst/>
            </a:prstGeom>
            <a:solidFill>
              <a:schemeClr val="tx2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Alignment Issues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Since mis-aligned reads are very inefficient, data structures should always be created in units of words.</a:t>
            </a:r>
          </a:p>
          <a:p>
            <a:pPr lvl="1"/>
            <a:r>
              <a:rPr lang="en-US" altLang="en-US"/>
              <a:t>Add unused bytes to ensure this.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509963"/>
            <a:ext cx="70961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Alignment Issues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1100138"/>
          </a:xfrm>
        </p:spPr>
        <p:txBody>
          <a:bodyPr/>
          <a:lstStyle/>
          <a:p>
            <a:r>
              <a:rPr lang="en-US" altLang="en-US"/>
              <a:t>Due to CPU fetch circuitry design, instructions usually must be fetched on word boundaries.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Instructions fetched across word boundaries trigger “Bus Error” faults.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365500"/>
            <a:ext cx="58769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03350" y="3294063"/>
            <a:ext cx="3024188" cy="647700"/>
          </a:xfrm>
          <a:prstGeom prst="rect">
            <a:avLst/>
          </a:prstGeom>
          <a:solidFill>
            <a:schemeClr val="tx2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3294063"/>
            <a:ext cx="2879725" cy="647700"/>
          </a:xfrm>
          <a:prstGeom prst="rect">
            <a:avLst/>
          </a:prstGeom>
          <a:solidFill>
            <a:schemeClr val="tx2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9702" name="TextBox 6"/>
          <p:cNvSpPr txBox="1">
            <a:spLocks noChangeArrowheads="1"/>
          </p:cNvSpPr>
          <p:nvPr/>
        </p:nvSpPr>
        <p:spPr bwMode="auto">
          <a:xfrm>
            <a:off x="7524750" y="3294063"/>
            <a:ext cx="863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33CC33"/>
                </a:solidFill>
                <a:latin typeface="Sylfaen" panose="010A0502050306030303" pitchFamily="18" charset="0"/>
                <a:sym typeface="Symbol" panose="05050102010706020507" pitchFamily="18" charset="2"/>
              </a:rPr>
              <a:t></a:t>
            </a:r>
            <a:endParaRPr lang="en-US" altLang="en-US" b="1">
              <a:solidFill>
                <a:srgbClr val="33CC33"/>
              </a:solidFill>
            </a:endParaRPr>
          </a:p>
        </p:txBody>
      </p:sp>
      <p:grpSp>
        <p:nvGrpSpPr>
          <p:cNvPr id="29703" name="Group 7"/>
          <p:cNvGrpSpPr>
            <a:grpSpLocks/>
          </p:cNvGrpSpPr>
          <p:nvPr/>
        </p:nvGrpSpPr>
        <p:grpSpPr bwMode="auto">
          <a:xfrm>
            <a:off x="1476375" y="4446588"/>
            <a:ext cx="5876925" cy="647700"/>
            <a:chOff x="1403623" y="2861990"/>
            <a:chExt cx="5876925" cy="648072"/>
          </a:xfrm>
        </p:grpSpPr>
        <p:pic>
          <p:nvPicPr>
            <p:cNvPr id="2970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23" y="2933998"/>
              <a:ext cx="5876925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2124348" y="2861990"/>
              <a:ext cx="3167063" cy="648072"/>
            </a:xfrm>
            <a:prstGeom prst="rect">
              <a:avLst/>
            </a:prstGeom>
            <a:solidFill>
              <a:schemeClr val="tx2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9704" name="TextBox 13"/>
          <p:cNvSpPr txBox="1">
            <a:spLocks noChangeArrowheads="1"/>
          </p:cNvSpPr>
          <p:nvPr/>
        </p:nvSpPr>
        <p:spPr bwMode="auto">
          <a:xfrm>
            <a:off x="7596188" y="4373563"/>
            <a:ext cx="863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  <a:latin typeface="Sylfaen" panose="010A0502050306030303" pitchFamily="18" charset="0"/>
                <a:sym typeface="Symbol" panose="05050102010706020507" pitchFamily="18" charset="2"/>
              </a:rPr>
              <a:t>X</a:t>
            </a:r>
            <a:endParaRPr lang="en-US" altLang="en-US" b="1">
              <a:solidFill>
                <a:srgbClr val="FF0000"/>
              </a:solidFill>
            </a:endParaRPr>
          </a:p>
        </p:txBody>
      </p:sp>
      <p:pic>
        <p:nvPicPr>
          <p:cNvPr id="29705" name="Picture 2" descr="http://jakebillo.com/content/cats/scotch_dsl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5815013"/>
            <a:ext cx="1368425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cap="none"/>
              <a:t>MEMORY MANAGEMENT</a:t>
            </a:r>
            <a:br>
              <a:rPr lang="en-US" altLang="en-US" cap="none"/>
            </a:br>
            <a:endParaRPr lang="en-US" altLang="en-US" cap="none"/>
          </a:p>
        </p:txBody>
      </p:sp>
      <p:sp>
        <p:nvSpPr>
          <p:cNvPr id="30722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Memory Management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Why Memory Management?	</a:t>
            </a:r>
          </a:p>
          <a:p>
            <a:pPr lvl="1"/>
            <a:r>
              <a:rPr lang="en-US" altLang="en-US"/>
              <a:t>We want to use memory efficiently:</a:t>
            </a:r>
          </a:p>
          <a:p>
            <a:pPr lvl="2"/>
            <a:r>
              <a:rPr lang="en-US" altLang="en-US"/>
              <a:t>What memory has already been allocated and to whom?</a:t>
            </a:r>
          </a:p>
          <a:p>
            <a:pPr lvl="2"/>
            <a:r>
              <a:rPr lang="en-US" altLang="en-US"/>
              <a:t>What memory is now free and usable by others?</a:t>
            </a:r>
          </a:p>
          <a:p>
            <a:pPr lvl="1"/>
            <a:r>
              <a:rPr lang="en-US" altLang="en-US"/>
              <a:t>We want to protect proceses from each other.</a:t>
            </a:r>
          </a:p>
          <a:p>
            <a:pPr lvl="2"/>
            <a:r>
              <a:rPr lang="en-US" altLang="en-US"/>
              <a:t>One process should not be able to trash another process or the OS.</a:t>
            </a:r>
          </a:p>
          <a:p>
            <a:pPr lvl="2"/>
            <a:r>
              <a:rPr lang="en-US" altLang="en-US"/>
              <a:t>E.g. we don’t want Process 1 to be messing about with the variables and memory used by Process 2.</a:t>
            </a:r>
          </a:p>
          <a:p>
            <a:pPr lvl="2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Logical vs. Physical Addresses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4321175" cy="4700588"/>
          </a:xfrm>
        </p:spPr>
        <p:txBody>
          <a:bodyPr/>
          <a:lstStyle/>
          <a:p>
            <a:r>
              <a:rPr lang="en-US" altLang="en-US"/>
              <a:t>Logical addresses:</a:t>
            </a:r>
          </a:p>
          <a:p>
            <a:pPr lvl="1"/>
            <a:r>
              <a:rPr lang="en-US" altLang="en-US"/>
              <a:t>These are the addresses as “seen” by executing processes code.</a:t>
            </a:r>
          </a:p>
          <a:p>
            <a:r>
              <a:rPr lang="en-US" altLang="en-US"/>
              <a:t>Physical addresses:</a:t>
            </a:r>
          </a:p>
          <a:p>
            <a:pPr lvl="1"/>
            <a:r>
              <a:rPr lang="en-US" altLang="en-US"/>
              <a:t>These are addresses that are actually sent to memory to retrieve data or isntructions.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3006725"/>
            <a:ext cx="5040313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Program Systems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Having multiple processes complicates memory management:</a:t>
            </a:r>
          </a:p>
          <a:p>
            <a:pPr lvl="1"/>
            <a:r>
              <a:rPr lang="en-US" altLang="en-US"/>
              <a:t>Conflicting addresses.</a:t>
            </a:r>
          </a:p>
          <a:p>
            <a:pPr lvl="2"/>
            <a:r>
              <a:rPr lang="en-US" altLang="en-US"/>
              <a:t>What if &gt;1 program expects to load at the same place in memory?</a:t>
            </a:r>
          </a:p>
          <a:p>
            <a:pPr lvl="1"/>
            <a:r>
              <a:rPr lang="en-US" altLang="en-US"/>
              <a:t>Access violations.</a:t>
            </a:r>
          </a:p>
          <a:p>
            <a:pPr lvl="2"/>
            <a:r>
              <a:rPr lang="en-US" altLang="en-US"/>
              <a:t>What if 1 program overwrites the code/data of another? </a:t>
            </a:r>
          </a:p>
          <a:p>
            <a:pPr lvl="2"/>
            <a:r>
              <a:rPr lang="en-US" altLang="en-US"/>
              <a:t>Worse, what if 1 program overwrites parts of the operating system?</a:t>
            </a:r>
          </a:p>
          <a:p>
            <a:pPr lvl="1"/>
            <a:r>
              <a:rPr lang="en-US" altLang="en-US"/>
              <a:t>The ideal situation would be to give each program a section of memory to work with.</a:t>
            </a:r>
          </a:p>
          <a:p>
            <a:pPr lvl="2"/>
            <a:r>
              <a:rPr lang="en-US" altLang="en-US"/>
              <a:t>Basically each program will have its own address space!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Multiple Program Systems:</a:t>
            </a:r>
            <a:br>
              <a:rPr lang="en-US" altLang="en-US" dirty="0"/>
            </a:br>
            <a:r>
              <a:rPr lang="en-US" altLang="en-US" dirty="0"/>
              <a:t>Base and Limit Registers</a:t>
            </a: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611188" y="2122488"/>
            <a:ext cx="8628062" cy="4700587"/>
          </a:xfrm>
        </p:spPr>
        <p:txBody>
          <a:bodyPr/>
          <a:lstStyle/>
          <a:p>
            <a:r>
              <a:rPr lang="en-US" altLang="en-US" sz="2400"/>
              <a:t>To do this we require extra hardware support:</a:t>
            </a:r>
          </a:p>
          <a:p>
            <a:pPr lvl="1"/>
            <a:r>
              <a:rPr lang="en-US" altLang="en-US" sz="2400"/>
              <a:t>Base register:</a:t>
            </a:r>
          </a:p>
          <a:p>
            <a:pPr lvl="2"/>
            <a:r>
              <a:rPr lang="en-US" altLang="en-US" sz="2000"/>
              <a:t>This contains the starting address for the program.</a:t>
            </a:r>
          </a:p>
          <a:p>
            <a:pPr lvl="2"/>
            <a:r>
              <a:rPr lang="en-US" altLang="en-US" sz="2000"/>
              <a:t>All program addresses are computed relative to this register.</a:t>
            </a:r>
          </a:p>
          <a:p>
            <a:pPr lvl="1"/>
            <a:r>
              <a:rPr lang="en-US" altLang="en-US" sz="2400"/>
              <a:t>Limit register:</a:t>
            </a:r>
          </a:p>
          <a:p>
            <a:pPr lvl="2"/>
            <a:r>
              <a:rPr lang="en-US" altLang="en-US" sz="2000"/>
              <a:t>This contains the length of the memory segment.</a:t>
            </a:r>
          </a:p>
          <a:p>
            <a:r>
              <a:rPr lang="en-US" altLang="en-US" sz="2400"/>
              <a:t>These registers solve both problems:</a:t>
            </a:r>
          </a:p>
          <a:p>
            <a:pPr lvl="1"/>
            <a:r>
              <a:rPr lang="en-US" altLang="en-US" sz="2400"/>
              <a:t>We can resolve address conflicts by setting different values in the base register.</a:t>
            </a:r>
          </a:p>
          <a:p>
            <a:pPr lvl="1"/>
            <a:r>
              <a:rPr lang="en-US" altLang="en-US" sz="2400"/>
              <a:t>If a program tries to access memory below the base register value or above the (base+limit) register value, a “segmentation fault” occurs!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Program Systems:</a:t>
            </a:r>
            <a:br>
              <a:rPr lang="en-US" altLang="en-US"/>
            </a:br>
            <a:r>
              <a:rPr lang="en-US" altLang="en-US"/>
              <a:t>Base and Limit Registers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2141538"/>
            <a:ext cx="5040312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611188" y="4230688"/>
            <a:ext cx="8628062" cy="2592387"/>
          </a:xfrm>
        </p:spPr>
        <p:txBody>
          <a:bodyPr/>
          <a:lstStyle/>
          <a:p>
            <a:r>
              <a:rPr lang="en-US" altLang="en-US" sz="2400"/>
              <a:t>All memory references in the program are relative to the Base Register.</a:t>
            </a:r>
          </a:p>
          <a:p>
            <a:pPr lvl="1"/>
            <a:r>
              <a:rPr lang="en-US" altLang="en-US"/>
              <a:t>E.g. “jmp 28” above will cause a jump to location 16412.</a:t>
            </a:r>
          </a:p>
          <a:p>
            <a:r>
              <a:rPr lang="en-US" altLang="en-US"/>
              <a:t>Any memory access to location 24576 and above (or 16383 and below) will cause segmentation faults.</a:t>
            </a:r>
          </a:p>
          <a:p>
            <a:pPr lvl="1"/>
            <a:r>
              <a:rPr lang="en-US" altLang="en-US"/>
              <a:t>Other programs will occupy spaces above and below the segment given to the program shown here.</a:t>
            </a:r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Program Systems:</a:t>
            </a:r>
            <a:br>
              <a:rPr lang="en-US" altLang="en-US"/>
            </a:br>
            <a:r>
              <a:rPr lang="en-US" altLang="en-US"/>
              <a:t>Partitioning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4608512" cy="4700588"/>
          </a:xfrm>
        </p:spPr>
        <p:txBody>
          <a:bodyPr/>
          <a:lstStyle/>
          <a:p>
            <a:r>
              <a:rPr lang="en-US" altLang="en-US"/>
              <a:t>Base and limit registers allow us to partition memory for each running process.</a:t>
            </a:r>
          </a:p>
          <a:p>
            <a:pPr lvl="1"/>
            <a:r>
              <a:rPr lang="en-US" altLang="en-US"/>
              <a:t>Each process has its own fixed partition.</a:t>
            </a:r>
          </a:p>
          <a:p>
            <a:pPr lvl="1"/>
            <a:r>
              <a:rPr lang="en-US" altLang="en-US"/>
              <a:t>Assumed that we know how much memory each process needs.</a:t>
            </a: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1925638"/>
            <a:ext cx="25336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Partitioning Issues:</a:t>
            </a:r>
            <a:br>
              <a:rPr lang="en-US" altLang="en-US"/>
            </a:br>
            <a:r>
              <a:rPr lang="en-US" altLang="en-US"/>
              <a:t>Fragmentation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5832475" cy="4700588"/>
          </a:xfrm>
        </p:spPr>
        <p:txBody>
          <a:bodyPr/>
          <a:lstStyle/>
          <a:p>
            <a:r>
              <a:rPr lang="en-US" altLang="en-US"/>
              <a:t>Two types of fragmentation can arise:</a:t>
            </a:r>
          </a:p>
          <a:p>
            <a:pPr lvl="1"/>
            <a:r>
              <a:rPr lang="en-US" altLang="en-US"/>
              <a:t>Internal fragmentation:</a:t>
            </a:r>
          </a:p>
          <a:p>
            <a:pPr lvl="2"/>
            <a:r>
              <a:rPr lang="en-US" altLang="en-US"/>
              <a:t>Partition is much larger than is needed.</a:t>
            </a:r>
          </a:p>
          <a:p>
            <a:pPr lvl="2"/>
            <a:r>
              <a:rPr lang="en-US" altLang="en-US"/>
              <a:t>Cannot be used by other processes.</a:t>
            </a:r>
          </a:p>
          <a:p>
            <a:pPr lvl="2"/>
            <a:r>
              <a:rPr lang="en-US" altLang="en-US"/>
              <a:t>Extra space is wasted.</a:t>
            </a:r>
          </a:p>
          <a:p>
            <a:pPr lvl="1"/>
            <a:r>
              <a:rPr lang="en-US" altLang="en-US"/>
              <a:t>External fragmentation:</a:t>
            </a:r>
          </a:p>
          <a:p>
            <a:pPr lvl="2"/>
            <a:r>
              <a:rPr lang="en-US" altLang="en-US"/>
              <a:t>Free memory is broken into small chunks by allocated memory.</a:t>
            </a:r>
          </a:p>
          <a:p>
            <a:pPr lvl="2"/>
            <a:r>
              <a:rPr lang="en-US" altLang="en-US"/>
              <a:t>Sufficient free memory in TOTAL, but individual chunks insufficient to fulfill requests.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2862263"/>
            <a:ext cx="3313113" cy="392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Allocating Memory to Processes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UNIX, process space is divided into:</a:t>
            </a:r>
          </a:p>
          <a:p>
            <a:pPr lvl="1"/>
            <a:r>
              <a:rPr lang="en-US" altLang="en-US" dirty="0"/>
              <a:t>Text segments: Read-only, contains code. May have &gt;1 text segments.</a:t>
            </a:r>
          </a:p>
          <a:p>
            <a:pPr lvl="1"/>
            <a:r>
              <a:rPr lang="en-US" altLang="en-US" dirty="0"/>
              <a:t>Initialized Data: Global data initialized from executable file. E.g. when you do: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dirty="0"/>
              <a:t>char *</a:t>
            </a:r>
            <a:r>
              <a:rPr lang="en-US" altLang="en-US" dirty="0" err="1"/>
              <a:t>mesg</a:t>
            </a:r>
            <a:r>
              <a:rPr lang="en-US" altLang="en-US" dirty="0"/>
              <a:t>[]=“Hello world!”;</a:t>
            </a:r>
          </a:p>
          <a:p>
            <a:pPr lvl="1"/>
            <a:r>
              <a:rPr lang="en-US" altLang="en-US" dirty="0"/>
              <a:t>BSS Segment: Contains uninitialized </a:t>
            </a:r>
            <a:r>
              <a:rPr lang="en-US" altLang="en-US" dirty="0" err="1"/>
              <a:t>globals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Stack: Contains statically allocated local variables and arguments to functions, as well as return addresses.</a:t>
            </a:r>
          </a:p>
          <a:p>
            <a:pPr lvl="1"/>
            <a:r>
              <a:rPr lang="en-US" altLang="en-US" dirty="0"/>
              <a:t>Heap: Contains dynamically allocated memory.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Allocating Memory to Processes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25638"/>
            <a:ext cx="77724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Managing Free Memory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When memory can be allocated and de-allocated (e.g. using malloc/free or new/delete), it has to be managed by the operating system.</a:t>
            </a:r>
          </a:p>
          <a:p>
            <a:pPr lvl="1"/>
            <a:r>
              <a:rPr lang="en-US" altLang="en-US" dirty="0"/>
              <a:t>When a program requiring 4 KB is run, where does the OS get memory from?</a:t>
            </a:r>
          </a:p>
          <a:p>
            <a:pPr lvl="1"/>
            <a:r>
              <a:rPr lang="en-US" altLang="en-US" dirty="0"/>
              <a:t>When a 2KB process ends, what happens?</a:t>
            </a:r>
          </a:p>
          <a:p>
            <a:pPr lvl="2"/>
            <a:r>
              <a:rPr lang="en-US" altLang="en-US" dirty="0"/>
              <a:t>E.g. if it happens to be next to a 3KB block of free memory, should they be coalesced into a single 5KB block?</a:t>
            </a:r>
          </a:p>
          <a:p>
            <a:pPr lvl="1"/>
            <a:r>
              <a:rPr lang="en-US" altLang="en-US" dirty="0"/>
              <a:t>Should small fragments of free memory scattered all over be compacted?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 manage free memory, we must know where these free chunks of memory are.</a:t>
            </a:r>
          </a:p>
          <a:p>
            <a:r>
              <a:rPr lang="en-US" altLang="en-US"/>
              <a:t>Two approaches:</a:t>
            </a:r>
          </a:p>
          <a:p>
            <a:pPr lvl="1"/>
            <a:r>
              <a:rPr lang="en-US" altLang="en-US"/>
              <a:t>Bit maps</a:t>
            </a:r>
          </a:p>
          <a:p>
            <a:pPr lvl="1"/>
            <a:r>
              <a:rPr lang="en-US" altLang="en-US"/>
              <a:t>Free/Allocated List</a:t>
            </a:r>
          </a:p>
          <a:p>
            <a:r>
              <a:rPr lang="en-US" altLang="en-US"/>
              <a:t>In either approach, memory is divided up into fixed sized chunks called “allocation units”.</a:t>
            </a:r>
          </a:p>
          <a:p>
            <a:pPr lvl="1"/>
            <a:r>
              <a:rPr lang="en-US" altLang="en-US"/>
              <a:t>Common sizes range from several bytes (e.g. 16 bytes) to several kilobytes.</a:t>
            </a:r>
          </a:p>
          <a:p>
            <a:pPr lvl="1"/>
            <a:r>
              <a:rPr lang="en-US" altLang="en-US"/>
              <a:t>Each “tick mark” in figure (a) on the next page represents the boundary of an allocation unit.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</a:p>
        </p:txBody>
      </p:sp>
      <p:pic>
        <p:nvPicPr>
          <p:cNvPr id="4608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6763"/>
            <a:ext cx="1005840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Bit Maps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Figure (b) on the previous page shows how bit maps are used to keep track of free memory.</a:t>
            </a:r>
          </a:p>
          <a:p>
            <a:pPr lvl="1"/>
            <a:r>
              <a:rPr lang="en-US" altLang="en-US"/>
              <a:t>Each bit corresponds to an allocation unit.</a:t>
            </a:r>
          </a:p>
          <a:p>
            <a:pPr lvl="2"/>
            <a:r>
              <a:rPr lang="en-US" altLang="en-US"/>
              <a:t>A “0” indicates a free unit, a “1” indicates an allocated unit.</a:t>
            </a:r>
          </a:p>
          <a:p>
            <a:pPr lvl="1"/>
            <a:r>
              <a:rPr lang="en-US" altLang="en-US"/>
              <a:t>If a program requests for 128 bytes:</a:t>
            </a:r>
          </a:p>
          <a:p>
            <a:pPr lvl="2"/>
            <a:r>
              <a:rPr lang="en-US" altLang="en-US"/>
              <a:t>Find how many allocation units are needed. E.g. if each unit is 16 bytes, this corresponds to 8 units.</a:t>
            </a:r>
          </a:p>
          <a:p>
            <a:pPr lvl="2"/>
            <a:r>
              <a:rPr lang="en-US" altLang="en-US"/>
              <a:t>Scan through the list to find 8 consecutive 0’s.</a:t>
            </a:r>
          </a:p>
          <a:p>
            <a:pPr lvl="2"/>
            <a:r>
              <a:rPr lang="en-US" altLang="en-US"/>
              <a:t>Allocate the memory found, and change the 0’s to 1’s.</a:t>
            </a:r>
          </a:p>
          <a:p>
            <a:pPr lvl="1"/>
            <a:r>
              <a:rPr lang="en-US" altLang="en-US"/>
              <a:t>If a program frees 64 bytes:</a:t>
            </a:r>
          </a:p>
          <a:p>
            <a:pPr lvl="2"/>
            <a:r>
              <a:rPr lang="en-US" altLang="en-US"/>
              <a:t>Mark the bits corresponding to the 4 allocation units as “0”.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Free/Allocated List</a:t>
            </a: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Figure (c) shows an alternative method:</a:t>
            </a:r>
          </a:p>
          <a:p>
            <a:pPr lvl="1"/>
            <a:r>
              <a:rPr lang="en-US" altLang="en-US"/>
              <a:t>A single linked list is used to track allocated (“P”) units and free (“H”) units.</a:t>
            </a:r>
          </a:p>
          <a:p>
            <a:pPr lvl="2"/>
            <a:r>
              <a:rPr lang="en-US" altLang="en-US"/>
              <a:t>Each node on the linked list also maintains where the block of free units start, and how many consecutive free units are present in that block.</a:t>
            </a:r>
          </a:p>
          <a:p>
            <a:pPr lvl="1"/>
            <a:r>
              <a:rPr lang="en-US" altLang="en-US"/>
              <a:t>Allocating free memory becomes simple:</a:t>
            </a:r>
          </a:p>
          <a:p>
            <a:pPr lvl="2"/>
            <a:r>
              <a:rPr lang="en-US" altLang="en-US"/>
              <a:t>Scan the list until we reach a “H” node that points to a block of a sufficient number of free units.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Free/Allocated List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2324100"/>
          </a:xfrm>
        </p:spPr>
        <p:txBody>
          <a:bodyPr/>
          <a:lstStyle/>
          <a:p>
            <a:r>
              <a:rPr lang="en-US" altLang="en-US"/>
              <a:t>The list is implemented as a double-linked list.</a:t>
            </a:r>
          </a:p>
          <a:p>
            <a:pPr lvl="1"/>
            <a:r>
              <a:rPr lang="en-US" altLang="en-US"/>
              <a:t>Diagram below shows possible “neighbor combinations” that can occur when a process X terminates.</a:t>
            </a:r>
          </a:p>
          <a:p>
            <a:pPr lvl="1"/>
            <a:r>
              <a:rPr lang="en-US" altLang="en-US"/>
              <a:t>The “back pointer” in a double-linked list makes it easy to coalesce freed blocks together.</a:t>
            </a:r>
          </a:p>
        </p:txBody>
      </p:sp>
      <p:pic>
        <p:nvPicPr>
          <p:cNvPr id="4915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4373563"/>
            <a:ext cx="6665913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Allocation Policies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bit map and linked list tell us where the free space is, but not what to allocate!</a:t>
            </a:r>
          </a:p>
          <a:p>
            <a:r>
              <a:rPr lang="en-US" altLang="en-US"/>
              <a:t>There are several possibilities on how to do this.</a:t>
            </a:r>
          </a:p>
          <a:p>
            <a:pPr lvl="1"/>
            <a:r>
              <a:rPr lang="en-US" altLang="en-US"/>
              <a:t>Note that in each case, whatever free allocation units left at the end of an allocated block is returned to the free list.</a:t>
            </a:r>
          </a:p>
          <a:p>
            <a:pPr lvl="2"/>
            <a:r>
              <a:rPr lang="en-US" altLang="en-US"/>
              <a:t>E.g. if a block of 8 units is found and only 6 are needed, the remaining 2 units are marked as “free”.</a:t>
            </a:r>
          </a:p>
          <a:p>
            <a:pPr lvl="1"/>
            <a:r>
              <a:rPr lang="en-US" altLang="en-US"/>
              <a:t>First Fit</a:t>
            </a:r>
          </a:p>
          <a:p>
            <a:pPr lvl="2"/>
            <a:r>
              <a:rPr lang="en-US" altLang="en-US"/>
              <a:t>Scan through the list/bit map and find the first block of free units that can fit the requested size.</a:t>
            </a:r>
          </a:p>
          <a:p>
            <a:pPr lvl="2"/>
            <a:r>
              <a:rPr lang="en-US" altLang="en-US"/>
              <a:t>Fast, easy to implement.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Allocation Policies</a:t>
            </a:r>
          </a:p>
        </p:txBody>
      </p:sp>
      <p:sp>
        <p:nvSpPr>
          <p:cNvPr id="51202" name="Content Placeholder 2"/>
          <p:cNvSpPr>
            <a:spLocks noGrp="1"/>
          </p:cNvSpPr>
          <p:nvPr>
            <p:ph idx="1"/>
          </p:nvPr>
        </p:nvSpPr>
        <p:spPr>
          <a:xfrm>
            <a:off x="611188" y="2122488"/>
            <a:ext cx="8628062" cy="4700587"/>
          </a:xfrm>
        </p:spPr>
        <p:txBody>
          <a:bodyPr/>
          <a:lstStyle/>
          <a:p>
            <a:pPr lvl="1"/>
            <a:r>
              <a:rPr lang="en-US" altLang="en-US"/>
              <a:t>Best Fit</a:t>
            </a:r>
          </a:p>
          <a:p>
            <a:pPr lvl="2"/>
            <a:r>
              <a:rPr lang="en-US" altLang="en-US"/>
              <a:t>Scan through the list/bit map to find the smallest block of free units that can fit the requested size.</a:t>
            </a:r>
          </a:p>
          <a:p>
            <a:pPr lvl="2"/>
            <a:r>
              <a:rPr lang="en-US" altLang="en-US"/>
              <a:t>Theoretically should minimize “waste”.</a:t>
            </a:r>
          </a:p>
          <a:p>
            <a:pPr lvl="2"/>
            <a:r>
              <a:rPr lang="en-US" altLang="en-US"/>
              <a:t>However can lead to scattered bits of tiny useless holes.</a:t>
            </a:r>
          </a:p>
          <a:p>
            <a:pPr lvl="1"/>
            <a:r>
              <a:rPr lang="en-US" altLang="en-US"/>
              <a:t>Worst Fit</a:t>
            </a:r>
          </a:p>
          <a:p>
            <a:pPr lvl="2"/>
            <a:r>
              <a:rPr lang="en-US" altLang="en-US"/>
              <a:t>Find the largest block of free memory.</a:t>
            </a:r>
          </a:p>
          <a:p>
            <a:pPr lvl="2"/>
            <a:r>
              <a:rPr lang="en-US" altLang="en-US"/>
              <a:t>Theoretically should reduce the number of tiny useless holes.</a:t>
            </a:r>
          </a:p>
          <a:p>
            <a:r>
              <a:rPr lang="en-US" altLang="en-US"/>
              <a:t>We can sort the free memory from smallest to largest for best fit, or largest to smallest for worst fit.</a:t>
            </a:r>
          </a:p>
          <a:p>
            <a:pPr lvl="1"/>
            <a:r>
              <a:rPr lang="en-US" altLang="en-US"/>
              <a:t>This minimizes search time.</a:t>
            </a:r>
          </a:p>
          <a:p>
            <a:pPr lvl="1"/>
            <a:r>
              <a:rPr lang="en-US" altLang="en-US"/>
              <a:t>However coalescing free neighbors will be much harder.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Allocation Policies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1387475"/>
          </a:xfrm>
        </p:spPr>
        <p:txBody>
          <a:bodyPr/>
          <a:lstStyle/>
          <a:p>
            <a:r>
              <a:rPr lang="en-US" altLang="en-US"/>
              <a:t>E.g. using first-fit and linked lists:</a:t>
            </a:r>
          </a:p>
          <a:p>
            <a:pPr lvl="1"/>
            <a:r>
              <a:rPr lang="en-US" altLang="en-US"/>
              <a:t>First allocation: 3 units.</a:t>
            </a:r>
          </a:p>
          <a:p>
            <a:pPr lvl="1"/>
            <a:r>
              <a:rPr lang="en-US" altLang="en-US"/>
              <a:t>Second allocation: Another 3 units.</a:t>
            </a:r>
          </a:p>
        </p:txBody>
      </p:sp>
      <p:pic>
        <p:nvPicPr>
          <p:cNvPr id="522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4064000"/>
            <a:ext cx="9871075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ircular Arrow 3"/>
          <p:cNvSpPr/>
          <p:nvPr/>
        </p:nvSpPr>
        <p:spPr bwMode="auto">
          <a:xfrm>
            <a:off x="107950" y="3798888"/>
            <a:ext cx="1727200" cy="719137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800000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7" name="Circular Arrow 6"/>
          <p:cNvSpPr/>
          <p:nvPr/>
        </p:nvSpPr>
        <p:spPr bwMode="auto">
          <a:xfrm>
            <a:off x="2266950" y="3798888"/>
            <a:ext cx="1728788" cy="719137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324923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52230" name="TextBox 4"/>
          <p:cNvSpPr txBox="1">
            <a:spLocks noChangeArrowheads="1"/>
          </p:cNvSpPr>
          <p:nvPr/>
        </p:nvSpPr>
        <p:spPr bwMode="auto">
          <a:xfrm>
            <a:off x="3924300" y="6246813"/>
            <a:ext cx="3816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First Allocation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Managing Free Memory</a:t>
            </a:r>
            <a:br>
              <a:rPr lang="en-US" altLang="en-US"/>
            </a:br>
            <a:r>
              <a:rPr lang="en-US" altLang="en-US"/>
              <a:t>Allocation Policies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9088"/>
            <a:ext cx="96837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ircular Arrow 4"/>
          <p:cNvSpPr/>
          <p:nvPr/>
        </p:nvSpPr>
        <p:spPr bwMode="auto">
          <a:xfrm>
            <a:off x="0" y="2573338"/>
            <a:ext cx="1728788" cy="720725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800000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6" name="Circular Arrow 5"/>
          <p:cNvSpPr/>
          <p:nvPr/>
        </p:nvSpPr>
        <p:spPr bwMode="auto">
          <a:xfrm>
            <a:off x="2011363" y="2573338"/>
            <a:ext cx="1727200" cy="720725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266438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7" name="Circular Arrow 6"/>
          <p:cNvSpPr/>
          <p:nvPr/>
        </p:nvSpPr>
        <p:spPr bwMode="auto">
          <a:xfrm>
            <a:off x="4284663" y="2573338"/>
            <a:ext cx="1727200" cy="720725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266438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8" name="Circular Arrow 7"/>
          <p:cNvSpPr/>
          <p:nvPr/>
        </p:nvSpPr>
        <p:spPr bwMode="auto">
          <a:xfrm>
            <a:off x="6659563" y="2573338"/>
            <a:ext cx="1728787" cy="720725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266438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53255" name="Curved Up Arrow 3"/>
          <p:cNvSpPr>
            <a:spLocks noChangeArrowheads="1"/>
          </p:cNvSpPr>
          <p:nvPr/>
        </p:nvSpPr>
        <p:spPr bwMode="auto">
          <a:xfrm rot="10228039">
            <a:off x="1230313" y="2898775"/>
            <a:ext cx="7834312" cy="790575"/>
          </a:xfrm>
          <a:prstGeom prst="curvedUpArrow">
            <a:avLst>
              <a:gd name="adj1" fmla="val 25049"/>
              <a:gd name="adj2" fmla="val 50099"/>
              <a:gd name="adj3" fmla="val 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1" name="Circular Arrow 10"/>
          <p:cNvSpPr/>
          <p:nvPr/>
        </p:nvSpPr>
        <p:spPr bwMode="auto">
          <a:xfrm>
            <a:off x="4284663" y="3798888"/>
            <a:ext cx="1727200" cy="719137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266438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12" name="Circular Arrow 11"/>
          <p:cNvSpPr/>
          <p:nvPr/>
        </p:nvSpPr>
        <p:spPr bwMode="auto">
          <a:xfrm>
            <a:off x="6659563" y="3813175"/>
            <a:ext cx="1728787" cy="720725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266438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13" name="Circular Arrow 12"/>
          <p:cNvSpPr/>
          <p:nvPr/>
        </p:nvSpPr>
        <p:spPr bwMode="auto">
          <a:xfrm>
            <a:off x="1908175" y="3798888"/>
            <a:ext cx="1727200" cy="719137"/>
          </a:xfrm>
          <a:prstGeom prst="circularArrow">
            <a:avLst>
              <a:gd name="adj1" fmla="val 9291"/>
              <a:gd name="adj2" fmla="val 1142319"/>
              <a:gd name="adj3" fmla="val 21068383"/>
              <a:gd name="adj4" fmla="val 10266438"/>
              <a:gd name="adj5" fmla="val 1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SG">
              <a:ea typeface="+mn-ea"/>
            </a:endParaRPr>
          </a:p>
        </p:txBody>
      </p:sp>
      <p:sp>
        <p:nvSpPr>
          <p:cNvPr id="53259" name="TextBox 13"/>
          <p:cNvSpPr txBox="1">
            <a:spLocks noChangeArrowheads="1"/>
          </p:cNvSpPr>
          <p:nvPr/>
        </p:nvSpPr>
        <p:spPr bwMode="auto">
          <a:xfrm>
            <a:off x="3738563" y="5526088"/>
            <a:ext cx="3817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Second Allocation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Buddy Allocation (aka Quick Fit)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This is an efficient (better than O(n)) way to manage free blocks.</a:t>
            </a:r>
          </a:p>
          <a:p>
            <a:pPr lvl="1"/>
            <a:r>
              <a:rPr lang="en-US" altLang="en-US"/>
              <a:t>Binary splitting.</a:t>
            </a:r>
          </a:p>
          <a:p>
            <a:pPr lvl="2"/>
            <a:r>
              <a:rPr lang="en-US" altLang="en-US"/>
              <a:t>Half of the block is allocated.</a:t>
            </a:r>
          </a:p>
          <a:p>
            <a:pPr lvl="2"/>
            <a:r>
              <a:rPr lang="en-US" altLang="en-US"/>
              <a:t>The two halves are called “buddy blocks”.</a:t>
            </a:r>
          </a:p>
          <a:p>
            <a:pPr lvl="2"/>
            <a:r>
              <a:rPr lang="en-US" altLang="en-US"/>
              <a:t>Can coalesce again when two buddy blocks are free.</a:t>
            </a:r>
          </a:p>
          <a:p>
            <a:pPr lvl="1"/>
            <a:r>
              <a:rPr lang="en-US" altLang="en-US"/>
              <a:t>This scheme is also known as Quick Fit.</a:t>
            </a:r>
          </a:p>
          <a:p>
            <a:pPr lvl="2"/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Buddy Allocation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57438"/>
            <a:ext cx="78676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Buddy Allocation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4968875" cy="4700588"/>
          </a:xfrm>
        </p:spPr>
        <p:txBody>
          <a:bodyPr/>
          <a:lstStyle/>
          <a:p>
            <a:r>
              <a:rPr lang="en-US" altLang="en-US"/>
              <a:t>Example:</a:t>
            </a:r>
          </a:p>
          <a:p>
            <a:pPr lvl="1"/>
            <a:r>
              <a:rPr lang="en-US" altLang="en-US"/>
              <a:t>We initially have one free block of 512 bytes.</a:t>
            </a:r>
          </a:p>
          <a:p>
            <a:pPr lvl="1"/>
            <a:r>
              <a:rPr lang="en-US" altLang="en-US"/>
              <a:t>We want to do malloc(100)</a:t>
            </a:r>
          </a:p>
          <a:p>
            <a:pPr lvl="1"/>
            <a:r>
              <a:rPr lang="en-US" altLang="en-US"/>
              <a:t>Steps:</a:t>
            </a:r>
          </a:p>
          <a:p>
            <a:pPr lvl="2"/>
            <a:r>
              <a:rPr lang="en-US" altLang="en-US"/>
              <a:t>Split 512 byte block into 2 blocks of 256 bytes.</a:t>
            </a:r>
          </a:p>
          <a:p>
            <a:pPr lvl="2"/>
            <a:r>
              <a:rPr lang="en-US" altLang="en-US"/>
              <a:t>Split one 256 byte block into two 128 byte blocks.</a:t>
            </a:r>
          </a:p>
          <a:p>
            <a:endParaRPr lang="en-US" altLang="en-US"/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286000"/>
            <a:ext cx="44958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Buddy Allocation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7632700" cy="4700588"/>
          </a:xfrm>
        </p:spPr>
        <p:txBody>
          <a:bodyPr/>
          <a:lstStyle/>
          <a:p>
            <a:r>
              <a:rPr lang="en-US" altLang="en-US"/>
              <a:t>These allocations have created blocks at addresses:</a:t>
            </a:r>
          </a:p>
          <a:p>
            <a:pPr lvl="1"/>
            <a:r>
              <a:rPr lang="en-US" altLang="en-US"/>
              <a:t>0 to 127: the block given to the malloc, since we return the first free block of at least 100 bytes.</a:t>
            </a:r>
          </a:p>
          <a:p>
            <a:pPr lvl="1"/>
            <a:r>
              <a:rPr lang="en-US" altLang="en-US"/>
              <a:t>128-255: The free buddy block of the block at address 0.</a:t>
            </a:r>
          </a:p>
          <a:p>
            <a:pPr lvl="1"/>
            <a:r>
              <a:rPr lang="en-US" altLang="en-US"/>
              <a:t>256-511: The free buddy block of the block that was broken up to 0-127 and 128-255.</a:t>
            </a:r>
          </a:p>
          <a:p>
            <a:r>
              <a:rPr lang="en-US" altLang="en-US"/>
              <a:t>Suppose now we want to do malloc(256).</a:t>
            </a:r>
          </a:p>
          <a:p>
            <a:pPr lvl="1"/>
            <a:r>
              <a:rPr lang="en-US" altLang="en-US"/>
              <a:t>Block at address 256 is returned.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Buddy Allocation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4537075" cy="4700588"/>
          </a:xfrm>
        </p:spPr>
        <p:txBody>
          <a:bodyPr/>
          <a:lstStyle/>
          <a:p>
            <a:r>
              <a:rPr lang="en-US" altLang="en-US"/>
              <a:t>We now call free(0):</a:t>
            </a:r>
          </a:p>
          <a:p>
            <a:pPr lvl="1"/>
            <a:r>
              <a:rPr lang="en-US" altLang="en-US"/>
              <a:t>This frees up addresses 0 to 127.</a:t>
            </a:r>
          </a:p>
          <a:p>
            <a:pPr lvl="1"/>
            <a:r>
              <a:rPr lang="en-US" altLang="en-US"/>
              <a:t>Coalesces with its buddy block to form a single 256 byte block at address 0.</a:t>
            </a:r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613" y="2573338"/>
            <a:ext cx="47434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10497</TotalTime>
  <Words>1810</Words>
  <Application>Microsoft Office PowerPoint</Application>
  <PresentationFormat>Custom</PresentationFormat>
  <Paragraphs>204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Sylfaen</vt:lpstr>
      <vt:lpstr>Times</vt:lpstr>
      <vt:lpstr>Times New Roman</vt:lpstr>
      <vt:lpstr>Wingdings</vt:lpstr>
      <vt:lpstr>Blank</vt:lpstr>
      <vt:lpstr>PowerPoint Presentation</vt:lpstr>
      <vt:lpstr>Learning Objectives</vt:lpstr>
      <vt:lpstr>Introduction</vt:lpstr>
      <vt:lpstr>PHYSICAL MEMORY ORGANIZATION </vt:lpstr>
      <vt:lpstr>Physical Memory Organization</vt:lpstr>
      <vt:lpstr>Endianness</vt:lpstr>
      <vt:lpstr>Alignment Issues</vt:lpstr>
      <vt:lpstr>Alignment Issues</vt:lpstr>
      <vt:lpstr>Alignment Issues</vt:lpstr>
      <vt:lpstr>MEMORY MANAGEMENT </vt:lpstr>
      <vt:lpstr>Memory Management</vt:lpstr>
      <vt:lpstr>Logical vs. Physical Addresses</vt:lpstr>
      <vt:lpstr>Multiple Program Systems</vt:lpstr>
      <vt:lpstr>Multiple Program Systems: Base and Limit Registers</vt:lpstr>
      <vt:lpstr>Multiple Program Systems: Base and Limit Registers</vt:lpstr>
      <vt:lpstr>Multiple Program Systems: Partitioning</vt:lpstr>
      <vt:lpstr>Partitioning Issues: Fragmentation</vt:lpstr>
      <vt:lpstr>Allocating Memory to Processes</vt:lpstr>
      <vt:lpstr>Allocating Memory to Processes</vt:lpstr>
      <vt:lpstr>Managing Free Memory</vt:lpstr>
      <vt:lpstr>Managing Free Memory</vt:lpstr>
      <vt:lpstr>Managing Free Memory</vt:lpstr>
      <vt:lpstr>Managing Free Memory Bit Maps</vt:lpstr>
      <vt:lpstr>Managing Free Memory Free/Allocated List</vt:lpstr>
      <vt:lpstr>Managing Free Memory Free/Allocated List</vt:lpstr>
      <vt:lpstr>Managing Free Memory Allocation Policies</vt:lpstr>
      <vt:lpstr>Managing Free Memory Allocation Policies</vt:lpstr>
      <vt:lpstr>Managing Free Memory Allocation Policies</vt:lpstr>
      <vt:lpstr>Managing Free Memory Allocation Policies</vt:lpstr>
      <vt:lpstr>Buddy Allocation (aka Quick Fit)</vt:lpstr>
      <vt:lpstr>Buddy Allocation</vt:lpstr>
      <vt:lpstr>Buddy Allocation</vt:lpstr>
      <vt:lpstr>Buddy Allocation</vt:lpstr>
      <vt:lpstr>Buddy Allocation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Tan Keng Yan, Colin</cp:lastModifiedBy>
  <cp:revision>403</cp:revision>
  <cp:lastPrinted>2002-11-20T02:08:40Z</cp:lastPrinted>
  <dcterms:created xsi:type="dcterms:W3CDTF">2001-10-04T11:39:11Z</dcterms:created>
  <dcterms:modified xsi:type="dcterms:W3CDTF">2025-11-04T08:32:39Z</dcterms:modified>
</cp:coreProperties>
</file>