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36"/>
  </p:notesMasterIdLst>
  <p:handoutMasterIdLst>
    <p:handoutMasterId r:id="rId37"/>
  </p:handoutMasterIdLst>
  <p:sldIdLst>
    <p:sldId id="256" r:id="rId2"/>
    <p:sldId id="257" r:id="rId3"/>
    <p:sldId id="313" r:id="rId4"/>
    <p:sldId id="258" r:id="rId5"/>
    <p:sldId id="259" r:id="rId6"/>
    <p:sldId id="261" r:id="rId7"/>
    <p:sldId id="262" r:id="rId8"/>
    <p:sldId id="263" r:id="rId9"/>
    <p:sldId id="264" r:id="rId10"/>
    <p:sldId id="273" r:id="rId11"/>
    <p:sldId id="275" r:id="rId12"/>
    <p:sldId id="276" r:id="rId13"/>
    <p:sldId id="285" r:id="rId14"/>
    <p:sldId id="286" r:id="rId15"/>
    <p:sldId id="287" r:id="rId16"/>
    <p:sldId id="288" r:id="rId17"/>
    <p:sldId id="289" r:id="rId18"/>
    <p:sldId id="290" r:id="rId19"/>
    <p:sldId id="291" r:id="rId20"/>
    <p:sldId id="292" r:id="rId21"/>
    <p:sldId id="293" r:id="rId22"/>
    <p:sldId id="294" r:id="rId23"/>
    <p:sldId id="295" r:id="rId24"/>
    <p:sldId id="296" r:id="rId25"/>
    <p:sldId id="298" r:id="rId26"/>
    <p:sldId id="302" r:id="rId27"/>
    <p:sldId id="303" r:id="rId28"/>
    <p:sldId id="314" r:id="rId29"/>
    <p:sldId id="304" r:id="rId30"/>
    <p:sldId id="305" r:id="rId31"/>
    <p:sldId id="306" r:id="rId32"/>
    <p:sldId id="307" r:id="rId33"/>
    <p:sldId id="310" r:id="rId34"/>
    <p:sldId id="312" r:id="rId35"/>
  </p:sldIdLst>
  <p:sldSz cx="10152063" cy="7596188"/>
  <p:notesSz cx="7099300" cy="10234613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92">
          <p15:clr>
            <a:srgbClr val="A4A3A4"/>
          </p15:clr>
        </p15:guide>
        <p15:guide id="2" pos="321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33"/>
    <a:srgbClr val="003399"/>
    <a:srgbClr val="003300"/>
    <a:srgbClr val="FF660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60" autoAdjust="0"/>
    <p:restoredTop sz="94748" autoAdjust="0"/>
  </p:normalViewPr>
  <p:slideViewPr>
    <p:cSldViewPr>
      <p:cViewPr varScale="1">
        <p:scale>
          <a:sx n="106" d="100"/>
          <a:sy n="106" d="100"/>
        </p:scale>
        <p:origin x="1696" y="184"/>
      </p:cViewPr>
      <p:guideLst>
        <p:guide orient="horz" pos="1392"/>
        <p:guide pos="3216"/>
      </p:guideLst>
    </p:cSldViewPr>
  </p:slideViewPr>
  <p:outlineViewPr>
    <p:cViewPr>
      <p:scale>
        <a:sx n="33" d="100"/>
        <a:sy n="33" d="100"/>
      </p:scale>
      <p:origin x="18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3" d="100"/>
          <a:sy n="53" d="100"/>
        </p:scale>
        <p:origin x="-1182" y="-90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672" cy="5127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7151" tIns="43576" rIns="87151" bIns="43576" numCol="1" anchor="t" anchorCtr="0" compatLnSpc="1">
            <a:prstTxWarp prst="textNoShape">
              <a:avLst/>
            </a:prstTxWarp>
          </a:bodyPr>
          <a:lstStyle>
            <a:lvl1pPr defTabSz="871538">
              <a:defRPr sz="11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088" y="0"/>
            <a:ext cx="3076672" cy="5127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7151" tIns="43576" rIns="87151" bIns="43576" numCol="1" anchor="t" anchorCtr="0" compatLnSpc="1">
            <a:prstTxWarp prst="textNoShape">
              <a:avLst/>
            </a:prstTxWarp>
          </a:bodyPr>
          <a:lstStyle>
            <a:lvl1pPr algn="r" defTabSz="871538">
              <a:defRPr sz="11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0175"/>
            <a:ext cx="3076672" cy="5127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7151" tIns="43576" rIns="87151" bIns="43576" numCol="1" anchor="b" anchorCtr="0" compatLnSpc="1">
            <a:prstTxWarp prst="textNoShape">
              <a:avLst/>
            </a:prstTxWarp>
          </a:bodyPr>
          <a:lstStyle>
            <a:lvl1pPr defTabSz="871538">
              <a:defRPr sz="11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088" y="9720175"/>
            <a:ext cx="3076672" cy="5127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7151" tIns="43576" rIns="87151" bIns="43576" numCol="1" anchor="b" anchorCtr="0" compatLnSpc="1">
            <a:prstTxWarp prst="textNoShape">
              <a:avLst/>
            </a:prstTxWarp>
          </a:bodyPr>
          <a:lstStyle>
            <a:lvl1pPr algn="r" defTabSz="871538">
              <a:defRPr sz="1100"/>
            </a:lvl1pPr>
          </a:lstStyle>
          <a:p>
            <a:pPr>
              <a:defRPr/>
            </a:pPr>
            <a:fld id="{B79FDF3B-AB08-41BB-8186-0CEEB3EE482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2953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672" cy="5127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7151" tIns="43576" rIns="87151" bIns="43576" numCol="1" anchor="t" anchorCtr="0" compatLnSpc="1">
            <a:prstTxWarp prst="textNoShape">
              <a:avLst/>
            </a:prstTxWarp>
          </a:bodyPr>
          <a:lstStyle>
            <a:lvl1pPr defTabSz="871538">
              <a:defRPr sz="11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088" y="0"/>
            <a:ext cx="3076672" cy="5127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7151" tIns="43576" rIns="87151" bIns="43576" numCol="1" anchor="t" anchorCtr="0" compatLnSpc="1">
            <a:prstTxWarp prst="textNoShape">
              <a:avLst/>
            </a:prstTxWarp>
          </a:bodyPr>
          <a:lstStyle>
            <a:lvl1pPr algn="r" defTabSz="871538">
              <a:defRPr sz="11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42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85838" y="768350"/>
            <a:ext cx="5129212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83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10239" y="4861781"/>
            <a:ext cx="5680364" cy="4604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7151" tIns="43576" rIns="87151" bIns="4357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83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0175"/>
            <a:ext cx="3076672" cy="5127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7151" tIns="43576" rIns="87151" bIns="43576" numCol="1" anchor="b" anchorCtr="0" compatLnSpc="1">
            <a:prstTxWarp prst="textNoShape">
              <a:avLst/>
            </a:prstTxWarp>
          </a:bodyPr>
          <a:lstStyle>
            <a:lvl1pPr defTabSz="871538">
              <a:defRPr sz="11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83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088" y="9720175"/>
            <a:ext cx="3076672" cy="5127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7151" tIns="43576" rIns="87151" bIns="43576" numCol="1" anchor="b" anchorCtr="0" compatLnSpc="1">
            <a:prstTxWarp prst="textNoShape">
              <a:avLst/>
            </a:prstTxWarp>
          </a:bodyPr>
          <a:lstStyle>
            <a:lvl1pPr algn="r" defTabSz="871538">
              <a:defRPr sz="1100"/>
            </a:lvl1pPr>
          </a:lstStyle>
          <a:p>
            <a:pPr>
              <a:defRPr/>
            </a:pPr>
            <a:fld id="{15699CD2-5174-493D-BBDA-C71B4E0A6B9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12257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445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SG"/>
          </a:p>
        </p:txBody>
      </p:sp>
      <p:sp>
        <p:nvSpPr>
          <p:cNvPr id="10445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1538"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 defTabSz="871538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 defTabSz="871538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 defTabSz="871538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 defTabSz="871538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fld id="{033D4750-6226-4EDA-AEE2-16B1E14FFDA7}" type="slidenum">
              <a:rPr lang="en-US" sz="1100" smtClean="0"/>
              <a:pPr/>
              <a:t>1</a:t>
            </a:fld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14037538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335599D-BA16-413D-9AC0-822026BC9110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3152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335599D-BA16-413D-9AC0-822026BC9110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147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0"/>
          <p:cNvSpPr>
            <a:spLocks noChangeArrowheads="1"/>
          </p:cNvSpPr>
          <p:nvPr userDrawn="1"/>
        </p:nvSpPr>
        <p:spPr bwMode="auto">
          <a:xfrm>
            <a:off x="0" y="0"/>
            <a:ext cx="10152063" cy="5486400"/>
          </a:xfrm>
          <a:prstGeom prst="rect">
            <a:avLst/>
          </a:prstGeom>
          <a:solidFill>
            <a:srgbClr val="FF66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SG"/>
          </a:p>
        </p:txBody>
      </p:sp>
      <p:sp>
        <p:nvSpPr>
          <p:cNvPr id="4" name="Rectangle 11"/>
          <p:cNvSpPr>
            <a:spLocks noChangeArrowheads="1"/>
          </p:cNvSpPr>
          <p:nvPr userDrawn="1"/>
        </p:nvSpPr>
        <p:spPr bwMode="auto">
          <a:xfrm>
            <a:off x="0" y="7315200"/>
            <a:ext cx="10152063" cy="280988"/>
          </a:xfrm>
          <a:prstGeom prst="rect">
            <a:avLst/>
          </a:prstGeom>
          <a:solidFill>
            <a:srgbClr val="FF66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SG"/>
          </a:p>
        </p:txBody>
      </p:sp>
      <p:pic>
        <p:nvPicPr>
          <p:cNvPr id="5" name="Picture 1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5757863"/>
            <a:ext cx="2573338" cy="1258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09600" y="1524000"/>
            <a:ext cx="8991600" cy="1752600"/>
          </a:xfrm>
        </p:spPr>
        <p:txBody>
          <a:bodyPr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56607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CABF37-B3DF-4997-9D8B-ECF200EBF81F}" type="slidenum">
              <a:rPr lang="en-GB"/>
              <a:pPr>
                <a:defRPr/>
              </a:pPr>
              <a:t>‹#›</a:t>
            </a:fld>
            <a:endParaRPr lang="en-GB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00572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1688" y="4881563"/>
            <a:ext cx="8629650" cy="150812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1688" y="3219450"/>
            <a:ext cx="8629650" cy="1662113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189786-701C-4658-8773-7704D145ECB6}" type="slidenum">
              <a:rPr lang="en-GB"/>
              <a:pPr>
                <a:defRPr/>
              </a:pPr>
              <a:t>‹#›</a:t>
            </a:fld>
            <a:endParaRPr lang="en-GB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34673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1188" y="2193925"/>
            <a:ext cx="4237037" cy="47005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00625" y="2193925"/>
            <a:ext cx="4238625" cy="47005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17F263-5213-489A-A15A-9AE9C230DF1D}" type="slidenum">
              <a:rPr lang="en-GB"/>
              <a:pPr>
                <a:defRPr/>
              </a:pPr>
              <a:t>‹#›</a:t>
            </a:fld>
            <a:endParaRPr lang="en-GB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014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04800"/>
            <a:ext cx="9136063" cy="126523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0" y="1700213"/>
            <a:ext cx="4484688" cy="7080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000" y="2408238"/>
            <a:ext cx="4484688" cy="437673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57788" y="1700213"/>
            <a:ext cx="4486275" cy="7080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57788" y="2408238"/>
            <a:ext cx="4486275" cy="437673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9D77D8-3277-4F29-88B3-47213371898A}" type="slidenum">
              <a:rPr lang="en-GB"/>
              <a:pPr>
                <a:defRPr/>
              </a:pPr>
              <a:t>‹#›</a:t>
            </a:fld>
            <a:endParaRPr lang="en-GB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8713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6883C5-2311-485D-B60C-EFF575662F0C}" type="slidenum">
              <a:rPr lang="en-GB"/>
              <a:pPr>
                <a:defRPr/>
              </a:pPr>
              <a:t>‹#›</a:t>
            </a:fld>
            <a:endParaRPr lang="en-GB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3839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D901CE-A60B-469E-816E-3E893103C751}" type="slidenum">
              <a:rPr lang="en-GB"/>
              <a:pPr>
                <a:defRPr/>
              </a:pPr>
              <a:t>‹#›</a:t>
            </a:fld>
            <a:endParaRPr lang="en-GB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8026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03213"/>
            <a:ext cx="3340100" cy="12858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8750" y="303213"/>
            <a:ext cx="5675313" cy="64817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0" y="1589088"/>
            <a:ext cx="3340100" cy="51958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C6AD5E-3442-4F62-863F-F76FA9B92BB2}" type="slidenum">
              <a:rPr lang="en-GB"/>
              <a:pPr>
                <a:defRPr/>
              </a:pPr>
              <a:t>‹#›</a:t>
            </a:fld>
            <a:endParaRPr lang="en-GB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7372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9138" y="5318125"/>
            <a:ext cx="6091237" cy="627063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89138" y="679450"/>
            <a:ext cx="6091237" cy="455771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SG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9138" y="5945188"/>
            <a:ext cx="6091237" cy="8921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BDF623-CAD0-4BBA-A017-9AB7F7FC08D6}" type="slidenum">
              <a:rPr lang="en-GB"/>
              <a:pPr>
                <a:defRPr/>
              </a:pPr>
              <a:t>‹#›</a:t>
            </a:fld>
            <a:endParaRPr lang="en-GB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2711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2DD1D4-34C1-4403-8A4A-CFF24930C9D0}" type="slidenum">
              <a:rPr lang="en-GB"/>
              <a:pPr>
                <a:defRPr/>
              </a:pPr>
              <a:t>‹#›</a:t>
            </a:fld>
            <a:endParaRPr lang="en-GB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2727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3425" y="914400"/>
            <a:ext cx="2155825" cy="59801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11188" y="914400"/>
            <a:ext cx="6319837" cy="59801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592E94-FB39-4DB6-8A6F-598CBDE14CA1}" type="slidenum">
              <a:rPr lang="en-GB"/>
              <a:pPr>
                <a:defRPr/>
              </a:pPr>
              <a:t>‹#›</a:t>
            </a:fld>
            <a:endParaRPr lang="en-GB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63738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405" y="337608"/>
            <a:ext cx="8629254" cy="7596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761405" y="1350433"/>
            <a:ext cx="4230026" cy="57393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60632" y="1350433"/>
            <a:ext cx="4230026" cy="57393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Operating Systems</a:t>
            </a:r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68622" y="7174178"/>
            <a:ext cx="3214820" cy="422010"/>
          </a:xfrm>
          <a:prstGeom prst="rect">
            <a:avLst/>
          </a:prstGeom>
          <a:ln/>
        </p:spPr>
        <p:txBody>
          <a:bodyPr lIns="101416" tIns="50708" rIns="101416" bIns="50708"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Fall 2010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0BEDEE-1F59-4C4D-BEB4-B02654DE572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230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11188" y="914400"/>
            <a:ext cx="7237412" cy="126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384" tIns="50691" rIns="101384" bIns="50691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8" y="2193925"/>
            <a:ext cx="8628062" cy="4700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11188" y="7016750"/>
            <a:ext cx="2114550" cy="506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rgbClr val="003399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96200" y="7016750"/>
            <a:ext cx="2114550" cy="506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rgbClr val="003399"/>
                </a:solidFill>
              </a:defRPr>
            </a:lvl1pPr>
          </a:lstStyle>
          <a:p>
            <a:pPr>
              <a:defRPr/>
            </a:pPr>
            <a:fld id="{8EC0A60B-C7C9-4409-9D82-9DD10EFAA7CB}" type="slidenum">
              <a:rPr lang="en-GB"/>
              <a:pPr>
                <a:defRPr/>
              </a:pPr>
              <a:t>‹#›</a:t>
            </a:fld>
            <a:endParaRPr lang="en-GB" sz="1600"/>
          </a:p>
        </p:txBody>
      </p:sp>
      <p:sp>
        <p:nvSpPr>
          <p:cNvPr id="2" name="Rectangle 7"/>
          <p:cNvSpPr>
            <a:spLocks noChangeArrowheads="1"/>
          </p:cNvSpPr>
          <p:nvPr userDrawn="1"/>
        </p:nvSpPr>
        <p:spPr bwMode="auto">
          <a:xfrm>
            <a:off x="0" y="7312025"/>
            <a:ext cx="10152063" cy="280988"/>
          </a:xfrm>
          <a:prstGeom prst="rect">
            <a:avLst/>
          </a:prstGeom>
          <a:solidFill>
            <a:srgbClr val="003399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SG"/>
          </a:p>
        </p:txBody>
      </p:sp>
      <p:sp>
        <p:nvSpPr>
          <p:cNvPr id="1031" name="Rectangle 8"/>
          <p:cNvSpPr>
            <a:spLocks noChangeArrowheads="1"/>
          </p:cNvSpPr>
          <p:nvPr userDrawn="1"/>
        </p:nvSpPr>
        <p:spPr bwMode="auto">
          <a:xfrm>
            <a:off x="0" y="0"/>
            <a:ext cx="10152063" cy="280988"/>
          </a:xfrm>
          <a:prstGeom prst="rect">
            <a:avLst/>
          </a:prstGeom>
          <a:solidFill>
            <a:srgbClr val="003399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SG"/>
          </a:p>
        </p:txBody>
      </p:sp>
      <p:sp>
        <p:nvSpPr>
          <p:cNvPr id="1032" name="Text Box 11"/>
          <p:cNvSpPr txBox="1">
            <a:spLocks noChangeArrowheads="1"/>
          </p:cNvSpPr>
          <p:nvPr userDrawn="1"/>
        </p:nvSpPr>
        <p:spPr bwMode="auto">
          <a:xfrm>
            <a:off x="611188" y="358775"/>
            <a:ext cx="7239000" cy="32385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500" dirty="0">
                <a:solidFill>
                  <a:srgbClr val="003399"/>
                </a:solidFill>
                <a:latin typeface="Times New Roman" pitchFamily="18" charset="0"/>
              </a:rPr>
              <a:t>Lecture 17: File Systems				Page: </a:t>
            </a:r>
            <a:fld id="{3EC3A8E0-5A2A-40B6-847F-F5167E40D841}" type="slidenum">
              <a:rPr lang="en-US" sz="1500" smtClean="0">
                <a:solidFill>
                  <a:srgbClr val="003399"/>
                </a:solidFill>
                <a:latin typeface="Times New Roman" pitchFamily="18" charset="0"/>
              </a:rPr>
              <a:pPr>
                <a:spcBef>
                  <a:spcPct val="50000"/>
                </a:spcBef>
                <a:defRPr/>
              </a:pPr>
              <a:t>‹#›</a:t>
            </a:fld>
            <a:endParaRPr lang="en-GB" sz="1500" dirty="0">
              <a:solidFill>
                <a:srgbClr val="003399"/>
              </a:solidFill>
              <a:latin typeface="Times New Roman" pitchFamily="18" charset="0"/>
            </a:endParaRPr>
          </a:p>
        </p:txBody>
      </p:sp>
      <p:pic>
        <p:nvPicPr>
          <p:cNvPr id="1033" name="Picture 15" descr="full colour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4250" y="414338"/>
            <a:ext cx="1152525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397" r:id="rId1"/>
    <p:sldLayoutId id="2147484398" r:id="rId2"/>
    <p:sldLayoutId id="2147484399" r:id="rId3"/>
    <p:sldLayoutId id="2147484400" r:id="rId4"/>
    <p:sldLayoutId id="2147484401" r:id="rId5"/>
    <p:sldLayoutId id="2147484402" r:id="rId6"/>
    <p:sldLayoutId id="2147484403" r:id="rId7"/>
    <p:sldLayoutId id="2147484404" r:id="rId8"/>
    <p:sldLayoutId id="2147484405" r:id="rId9"/>
    <p:sldLayoutId id="2147484406" r:id="rId10"/>
    <p:sldLayoutId id="2147484407" r:id="rId11"/>
    <p:sldLayoutId id="2147484408" r:id="rId12"/>
  </p:sldLayoutIdLst>
  <p:txStyles>
    <p:titleStyle>
      <a:lvl1pPr algn="l" defTabSz="1014413" rtl="0" eaLnBrk="0" fontAlgn="base" hangingPunct="0">
        <a:spcBef>
          <a:spcPct val="0"/>
        </a:spcBef>
        <a:spcAft>
          <a:spcPct val="0"/>
        </a:spcAft>
        <a:defRPr sz="3500">
          <a:solidFill>
            <a:schemeClr val="tx1"/>
          </a:solidFill>
          <a:latin typeface="+mj-lt"/>
          <a:ea typeface="+mj-ea"/>
          <a:cs typeface="+mj-cs"/>
        </a:defRPr>
      </a:lvl1pPr>
      <a:lvl2pPr algn="l" defTabSz="1014413" rtl="0" eaLnBrk="0" fontAlgn="base" hangingPunct="0">
        <a:spcBef>
          <a:spcPct val="0"/>
        </a:spcBef>
        <a:spcAft>
          <a:spcPct val="0"/>
        </a:spcAft>
        <a:defRPr sz="3500">
          <a:solidFill>
            <a:schemeClr val="tx1"/>
          </a:solidFill>
          <a:latin typeface="Times New Roman" pitchFamily="18" charset="0"/>
        </a:defRPr>
      </a:lvl2pPr>
      <a:lvl3pPr algn="l" defTabSz="1014413" rtl="0" eaLnBrk="0" fontAlgn="base" hangingPunct="0">
        <a:spcBef>
          <a:spcPct val="0"/>
        </a:spcBef>
        <a:spcAft>
          <a:spcPct val="0"/>
        </a:spcAft>
        <a:defRPr sz="3500">
          <a:solidFill>
            <a:schemeClr val="tx1"/>
          </a:solidFill>
          <a:latin typeface="Times New Roman" pitchFamily="18" charset="0"/>
        </a:defRPr>
      </a:lvl3pPr>
      <a:lvl4pPr algn="l" defTabSz="1014413" rtl="0" eaLnBrk="0" fontAlgn="base" hangingPunct="0">
        <a:spcBef>
          <a:spcPct val="0"/>
        </a:spcBef>
        <a:spcAft>
          <a:spcPct val="0"/>
        </a:spcAft>
        <a:defRPr sz="3500">
          <a:solidFill>
            <a:schemeClr val="tx1"/>
          </a:solidFill>
          <a:latin typeface="Times New Roman" pitchFamily="18" charset="0"/>
        </a:defRPr>
      </a:lvl4pPr>
      <a:lvl5pPr algn="l" defTabSz="1014413" rtl="0" eaLnBrk="0" fontAlgn="base" hangingPunct="0">
        <a:spcBef>
          <a:spcPct val="0"/>
        </a:spcBef>
        <a:spcAft>
          <a:spcPct val="0"/>
        </a:spcAft>
        <a:defRPr sz="3500">
          <a:solidFill>
            <a:schemeClr val="tx1"/>
          </a:solidFill>
          <a:latin typeface="Times New Roman" pitchFamily="18" charset="0"/>
        </a:defRPr>
      </a:lvl5pPr>
      <a:lvl6pPr marL="457200" algn="l" defTabSz="1014413" rtl="0" fontAlgn="base">
        <a:spcBef>
          <a:spcPct val="0"/>
        </a:spcBef>
        <a:spcAft>
          <a:spcPct val="0"/>
        </a:spcAft>
        <a:defRPr sz="3500">
          <a:solidFill>
            <a:schemeClr val="tx1"/>
          </a:solidFill>
          <a:latin typeface="Times New Roman" pitchFamily="18" charset="0"/>
        </a:defRPr>
      </a:lvl6pPr>
      <a:lvl7pPr marL="914400" algn="l" defTabSz="1014413" rtl="0" fontAlgn="base">
        <a:spcBef>
          <a:spcPct val="0"/>
        </a:spcBef>
        <a:spcAft>
          <a:spcPct val="0"/>
        </a:spcAft>
        <a:defRPr sz="3500">
          <a:solidFill>
            <a:schemeClr val="tx1"/>
          </a:solidFill>
          <a:latin typeface="Times New Roman" pitchFamily="18" charset="0"/>
        </a:defRPr>
      </a:lvl7pPr>
      <a:lvl8pPr marL="1371600" algn="l" defTabSz="1014413" rtl="0" fontAlgn="base">
        <a:spcBef>
          <a:spcPct val="0"/>
        </a:spcBef>
        <a:spcAft>
          <a:spcPct val="0"/>
        </a:spcAft>
        <a:defRPr sz="3500">
          <a:solidFill>
            <a:schemeClr val="tx1"/>
          </a:solidFill>
          <a:latin typeface="Times New Roman" pitchFamily="18" charset="0"/>
        </a:defRPr>
      </a:lvl8pPr>
      <a:lvl9pPr marL="1828800" algn="l" defTabSz="1014413" rtl="0" fontAlgn="base">
        <a:spcBef>
          <a:spcPct val="0"/>
        </a:spcBef>
        <a:spcAft>
          <a:spcPct val="0"/>
        </a:spcAft>
        <a:defRPr sz="3500">
          <a:solidFill>
            <a:schemeClr val="tx1"/>
          </a:solidFill>
          <a:latin typeface="Times New Roman" pitchFamily="18" charset="0"/>
        </a:defRPr>
      </a:lvl9pPr>
    </p:titleStyle>
    <p:bodyStyle>
      <a:lvl1pPr marL="342900" indent="-342900" algn="l" defTabSz="1014413" rtl="0" eaLnBrk="0" fontAlgn="base" hangingPunct="0">
        <a:spcBef>
          <a:spcPct val="20000"/>
        </a:spcBef>
        <a:spcAft>
          <a:spcPct val="0"/>
        </a:spcAft>
        <a:buChar char="•"/>
        <a:defRPr sz="2500" b="1">
          <a:solidFill>
            <a:srgbClr val="003399"/>
          </a:solidFill>
          <a:latin typeface="+mn-lt"/>
          <a:ea typeface="+mn-ea"/>
          <a:cs typeface="+mn-cs"/>
        </a:defRPr>
      </a:lvl1pPr>
      <a:lvl2pPr marL="374650" indent="6350" algn="l" defTabSz="1014413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sz="2600">
          <a:solidFill>
            <a:srgbClr val="003399"/>
          </a:solidFill>
          <a:latin typeface="+mn-lt"/>
        </a:defRPr>
      </a:lvl2pPr>
      <a:lvl3pPr marL="755650" indent="158750" algn="l" defTabSz="1014413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ü"/>
        <a:defRPr sz="2200" b="1">
          <a:solidFill>
            <a:srgbClr val="FF6600"/>
          </a:solidFill>
          <a:latin typeface="+mn-lt"/>
        </a:defRPr>
      </a:lvl3pPr>
      <a:lvl4pPr marL="1143000" indent="6350" algn="l" defTabSz="1014413" rtl="0" eaLnBrk="0" fontAlgn="base" hangingPunct="0">
        <a:spcBef>
          <a:spcPct val="20000"/>
        </a:spcBef>
        <a:spcAft>
          <a:spcPct val="0"/>
        </a:spcAft>
        <a:buChar char="–"/>
        <a:defRPr sz="2200" i="1">
          <a:solidFill>
            <a:srgbClr val="003399"/>
          </a:solidFill>
          <a:latin typeface="+mn-lt"/>
        </a:defRPr>
      </a:lvl4pPr>
      <a:lvl5pPr marL="1524000" indent="304800" algn="l" defTabSz="1014413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rgbClr val="003399"/>
          </a:solidFill>
          <a:latin typeface="+mn-lt"/>
        </a:defRPr>
      </a:lvl5pPr>
      <a:lvl6pPr marL="1981200" algn="l" defTabSz="1014413" rtl="0" fontAlgn="base">
        <a:spcBef>
          <a:spcPct val="20000"/>
        </a:spcBef>
        <a:spcAft>
          <a:spcPct val="0"/>
        </a:spcAft>
        <a:defRPr sz="2000">
          <a:solidFill>
            <a:srgbClr val="003399"/>
          </a:solidFill>
          <a:latin typeface="+mn-lt"/>
        </a:defRPr>
      </a:lvl6pPr>
      <a:lvl7pPr marL="2438400" algn="l" defTabSz="1014413" rtl="0" fontAlgn="base">
        <a:spcBef>
          <a:spcPct val="20000"/>
        </a:spcBef>
        <a:spcAft>
          <a:spcPct val="0"/>
        </a:spcAft>
        <a:defRPr sz="2000">
          <a:solidFill>
            <a:srgbClr val="003399"/>
          </a:solidFill>
          <a:latin typeface="+mn-lt"/>
        </a:defRPr>
      </a:lvl7pPr>
      <a:lvl8pPr marL="2895600" algn="l" defTabSz="1014413" rtl="0" fontAlgn="base">
        <a:spcBef>
          <a:spcPct val="20000"/>
        </a:spcBef>
        <a:spcAft>
          <a:spcPct val="0"/>
        </a:spcAft>
        <a:defRPr sz="2000">
          <a:solidFill>
            <a:srgbClr val="003399"/>
          </a:solidFill>
          <a:latin typeface="+mn-lt"/>
        </a:defRPr>
      </a:lvl8pPr>
      <a:lvl9pPr marL="3352800" algn="l" defTabSz="1014413" rtl="0" fontAlgn="base">
        <a:spcBef>
          <a:spcPct val="20000"/>
        </a:spcBef>
        <a:spcAft>
          <a:spcPct val="0"/>
        </a:spcAft>
        <a:defRPr sz="2000">
          <a:solidFill>
            <a:srgbClr val="003399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colintan@nus.edu.sg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17"/>
          <p:cNvSpPr>
            <a:spLocks noChangeArrowheads="1"/>
          </p:cNvSpPr>
          <p:nvPr/>
        </p:nvSpPr>
        <p:spPr bwMode="auto">
          <a:xfrm>
            <a:off x="0" y="0"/>
            <a:ext cx="10152063" cy="54864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SG"/>
          </a:p>
        </p:txBody>
      </p:sp>
      <p:sp>
        <p:nvSpPr>
          <p:cNvPr id="13315" name="Text Box 18"/>
          <p:cNvSpPr txBox="1">
            <a:spLocks noChangeArrowheads="1"/>
          </p:cNvSpPr>
          <p:nvPr/>
        </p:nvSpPr>
        <p:spPr bwMode="auto">
          <a:xfrm>
            <a:off x="792163" y="269875"/>
            <a:ext cx="8580437" cy="61709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4400" dirty="0">
                <a:solidFill>
                  <a:schemeClr val="bg1"/>
                </a:solidFill>
                <a:latin typeface="Times New Roman" pitchFamily="18" charset="0"/>
              </a:rPr>
              <a:t>IT5002</a:t>
            </a:r>
          </a:p>
          <a:p>
            <a:pPr algn="ctr" eaLnBrk="1" hangingPunct="1">
              <a:spcBef>
                <a:spcPct val="50000"/>
              </a:spcBef>
            </a:pPr>
            <a:r>
              <a:rPr lang="en-US" sz="4400" dirty="0">
                <a:solidFill>
                  <a:schemeClr val="bg1"/>
                </a:solidFill>
                <a:latin typeface="Times New Roman" pitchFamily="18" charset="0"/>
              </a:rPr>
              <a:t>Computer Systems and Applications</a:t>
            </a:r>
          </a:p>
          <a:p>
            <a:pPr algn="ctr" eaLnBrk="1" hangingPunct="1">
              <a:spcBef>
                <a:spcPct val="50000"/>
              </a:spcBef>
            </a:pPr>
            <a:r>
              <a:rPr lang="en-US" sz="4400" dirty="0">
                <a:solidFill>
                  <a:schemeClr val="bg1"/>
                </a:solidFill>
                <a:latin typeface="Times New Roman" pitchFamily="18" charset="0"/>
              </a:rPr>
              <a:t>Lecture 17</a:t>
            </a:r>
          </a:p>
          <a:p>
            <a:pPr algn="ctr" eaLnBrk="1" hangingPunct="1">
              <a:spcBef>
                <a:spcPct val="50000"/>
              </a:spcBef>
            </a:pPr>
            <a:r>
              <a:rPr lang="en-US" sz="4400" dirty="0">
                <a:solidFill>
                  <a:schemeClr val="bg1"/>
                </a:solidFill>
                <a:latin typeface="Times New Roman" pitchFamily="18" charset="0"/>
              </a:rPr>
              <a:t>File Systems</a:t>
            </a:r>
          </a:p>
          <a:p>
            <a:pPr algn="ctr" eaLnBrk="1" hangingPunct="1">
              <a:spcBef>
                <a:spcPct val="50000"/>
              </a:spcBef>
            </a:pPr>
            <a:r>
              <a:rPr lang="en-US" sz="4800" dirty="0">
                <a:solidFill>
                  <a:schemeClr val="bg1"/>
                </a:solidFill>
                <a:latin typeface="Times New Roman" pitchFamily="18" charset="0"/>
                <a:hlinkClick r:id="rId3"/>
              </a:rPr>
              <a:t>colintan@nus.edu.sg</a:t>
            </a:r>
            <a:endParaRPr lang="en-US" sz="4800" dirty="0">
              <a:solidFill>
                <a:schemeClr val="bg1"/>
              </a:solidFill>
              <a:latin typeface="Times New Roman" pitchFamily="18" charset="0"/>
            </a:endParaRPr>
          </a:p>
          <a:p>
            <a:pPr algn="ctr" eaLnBrk="1" hangingPunct="1">
              <a:spcBef>
                <a:spcPct val="50000"/>
              </a:spcBef>
            </a:pPr>
            <a:endParaRPr lang="en-GB" sz="5400" dirty="0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13316" name="Rectangle 19"/>
          <p:cNvSpPr>
            <a:spLocks noChangeArrowheads="1"/>
          </p:cNvSpPr>
          <p:nvPr/>
        </p:nvSpPr>
        <p:spPr bwMode="auto">
          <a:xfrm>
            <a:off x="0" y="7315200"/>
            <a:ext cx="10152063" cy="280988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SG"/>
          </a:p>
        </p:txBody>
      </p:sp>
      <p:pic>
        <p:nvPicPr>
          <p:cNvPr id="13317" name="Picture 22" descr="full colour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738" y="5670550"/>
            <a:ext cx="2376487" cy="1525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File System?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Present logical (abstract) view of files and directories</a:t>
            </a:r>
          </a:p>
          <a:p>
            <a:pPr lvl="1"/>
            <a:r>
              <a:rPr lang="en-US" sz="2400" dirty="0"/>
              <a:t>Accessing a disk is very complicated:</a:t>
            </a:r>
          </a:p>
          <a:p>
            <a:pPr lvl="2"/>
            <a:r>
              <a:rPr lang="en-US" dirty="0"/>
              <a:t>2D or 3D structure, track/surface/sector, seek, rotation, …</a:t>
            </a:r>
          </a:p>
          <a:p>
            <a:pPr lvl="1"/>
            <a:r>
              <a:rPr lang="en-US" sz="2400" dirty="0"/>
              <a:t>Hide complexity of hardware devices</a:t>
            </a:r>
          </a:p>
          <a:p>
            <a:r>
              <a:rPr lang="en-US" sz="2400" dirty="0"/>
              <a:t>Facilitate efficient use of storage devices</a:t>
            </a:r>
          </a:p>
          <a:p>
            <a:pPr lvl="1"/>
            <a:r>
              <a:rPr lang="en-US" sz="2400" dirty="0"/>
              <a:t>Optimize access, e.g., to disk</a:t>
            </a:r>
          </a:p>
          <a:p>
            <a:r>
              <a:rPr lang="en-US" sz="2400" dirty="0"/>
              <a:t>Support sharing</a:t>
            </a:r>
          </a:p>
          <a:p>
            <a:pPr lvl="1"/>
            <a:r>
              <a:rPr lang="en-US" sz="2400" dirty="0"/>
              <a:t>Files persist even when owner/creator is not currently active (unlike main memory)</a:t>
            </a:r>
          </a:p>
          <a:p>
            <a:pPr lvl="1"/>
            <a:r>
              <a:rPr lang="en-US" sz="2400" dirty="0"/>
              <a:t>Key issue: Provide protection (control access)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17682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F3F49-1CDF-31CE-9098-2D553262A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2D8775-1BD5-5186-9635-107C4C83D2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5405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Hierarchical View of File Systems</a:t>
            </a:r>
            <a:endParaRPr lang="en-SG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4343400" y="5958990"/>
            <a:ext cx="40386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>
            <a:lvl1pPr marL="342900" indent="-342900" algn="l" defTabSz="10144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500" b="1">
                <a:solidFill>
                  <a:srgbClr val="003399"/>
                </a:solidFill>
                <a:latin typeface="+mn-lt"/>
                <a:ea typeface="+mn-ea"/>
                <a:cs typeface="+mn-cs"/>
              </a:defRPr>
            </a:lvl1pPr>
            <a:lvl2pPr marL="374650" indent="6350" algn="l" defTabSz="1014413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600">
                <a:solidFill>
                  <a:srgbClr val="003399"/>
                </a:solidFill>
                <a:latin typeface="+mn-lt"/>
              </a:defRPr>
            </a:lvl2pPr>
            <a:lvl3pPr marL="755650" indent="158750" algn="l" defTabSz="1014413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ü"/>
              <a:defRPr sz="2200" b="1">
                <a:solidFill>
                  <a:srgbClr val="FF6600"/>
                </a:solidFill>
                <a:latin typeface="+mn-lt"/>
              </a:defRPr>
            </a:lvl3pPr>
            <a:lvl4pPr marL="1143000" indent="6350" algn="l" defTabSz="1014413" rtl="0" eaLnBrk="0" fontAlgn="base" hangingPunct="0">
              <a:spcBef>
                <a:spcPct val="20000"/>
              </a:spcBef>
              <a:spcAft>
                <a:spcPct val="0"/>
              </a:spcAft>
              <a:defRPr sz="2200" i="1">
                <a:solidFill>
                  <a:srgbClr val="003399"/>
                </a:solidFill>
                <a:latin typeface="+mn-lt"/>
              </a:defRPr>
            </a:lvl4pPr>
            <a:lvl5pPr marL="1524000" indent="304800" algn="l" defTabSz="1014413" rtl="0" eaLnBrk="0" fontAlgn="base" hangingPunct="0">
              <a:spcBef>
                <a:spcPct val="20000"/>
              </a:spcBef>
              <a:spcAft>
                <a:spcPct val="0"/>
              </a:spcAft>
              <a:defRPr sz="2000">
                <a:solidFill>
                  <a:srgbClr val="003399"/>
                </a:solidFill>
                <a:latin typeface="+mn-lt"/>
              </a:defRPr>
            </a:lvl5pPr>
            <a:lvl6pPr marL="1981200" algn="l" defTabSz="1014413" rtl="0" fontAlgn="base">
              <a:spcBef>
                <a:spcPct val="20000"/>
              </a:spcBef>
              <a:spcAft>
                <a:spcPct val="0"/>
              </a:spcAft>
              <a:defRPr sz="2000">
                <a:solidFill>
                  <a:srgbClr val="003399"/>
                </a:solidFill>
                <a:latin typeface="+mn-lt"/>
              </a:defRPr>
            </a:lvl6pPr>
            <a:lvl7pPr marL="2438400" algn="l" defTabSz="1014413" rtl="0" fontAlgn="base">
              <a:spcBef>
                <a:spcPct val="20000"/>
              </a:spcBef>
              <a:spcAft>
                <a:spcPct val="0"/>
              </a:spcAft>
              <a:defRPr sz="2000">
                <a:solidFill>
                  <a:srgbClr val="003399"/>
                </a:solidFill>
                <a:latin typeface="+mn-lt"/>
              </a:defRPr>
            </a:lvl7pPr>
            <a:lvl8pPr marL="2895600" algn="l" defTabSz="1014413" rtl="0" fontAlgn="base">
              <a:spcBef>
                <a:spcPct val="20000"/>
              </a:spcBef>
              <a:spcAft>
                <a:spcPct val="0"/>
              </a:spcAft>
              <a:defRPr sz="2000">
                <a:solidFill>
                  <a:srgbClr val="003399"/>
                </a:solidFill>
                <a:latin typeface="+mn-lt"/>
              </a:defRPr>
            </a:lvl8pPr>
            <a:lvl9pPr marL="3352800" algn="l" defTabSz="1014413" rtl="0" fontAlgn="base">
              <a:spcBef>
                <a:spcPct val="20000"/>
              </a:spcBef>
              <a:spcAft>
                <a:spcPct val="0"/>
              </a:spcAft>
              <a:defRPr sz="2000">
                <a:solidFill>
                  <a:srgbClr val="003399"/>
                </a:solidFill>
                <a:latin typeface="+mn-lt"/>
              </a:defRPr>
            </a:lvl9pPr>
          </a:lstStyle>
          <a:p>
            <a:pPr>
              <a:spcBef>
                <a:spcPts val="0"/>
              </a:spcBef>
              <a:buFontTx/>
              <a:buNone/>
            </a:pPr>
            <a:r>
              <a:rPr lang="en-US" sz="2400" kern="0" dirty="0">
                <a:solidFill>
                  <a:schemeClr val="accent6"/>
                </a:solidFill>
              </a:rPr>
              <a:t>Physical device organization:</a:t>
            </a:r>
          </a:p>
          <a:p>
            <a:pPr>
              <a:spcBef>
                <a:spcPts val="0"/>
              </a:spcBef>
            </a:pPr>
            <a:r>
              <a:rPr lang="en-US" sz="2400" kern="0" dirty="0">
                <a:solidFill>
                  <a:schemeClr val="accent6"/>
                </a:solidFill>
              </a:rPr>
              <a:t>map file data to disk blocks</a:t>
            </a:r>
          </a:p>
        </p:txBody>
      </p:sp>
      <p:pic>
        <p:nvPicPr>
          <p:cNvPr id="5" name="Picture 5" descr="10-1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835671" y="2069902"/>
            <a:ext cx="6591576" cy="3597857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6" name="Rectangle 8"/>
          <p:cNvSpPr>
            <a:spLocks noChangeArrowheads="1"/>
          </p:cNvSpPr>
          <p:nvPr/>
        </p:nvSpPr>
        <p:spPr bwMode="auto">
          <a:xfrm>
            <a:off x="381000" y="5134360"/>
            <a:ext cx="3962400" cy="167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80000"/>
              </a:lnSpc>
              <a:spcBef>
                <a:spcPts val="0"/>
              </a:spcBef>
              <a:defRPr/>
            </a:pPr>
            <a:r>
              <a:rPr lang="en-US" sz="2400" b="1" dirty="0">
                <a:solidFill>
                  <a:schemeClr val="accent6"/>
                </a:solidFill>
              </a:rPr>
              <a:t>Directory management</a:t>
            </a:r>
            <a:r>
              <a:rPr lang="en-US" sz="2400" dirty="0">
                <a:solidFill>
                  <a:schemeClr val="accent6"/>
                </a:solidFill>
              </a:rPr>
              <a:t>:</a:t>
            </a:r>
          </a:p>
          <a:p>
            <a:pPr marL="342900" indent="-342900">
              <a:lnSpc>
                <a:spcPct val="80000"/>
              </a:lnSpc>
              <a:spcBef>
                <a:spcPts val="0"/>
              </a:spcBef>
              <a:buFont typeface="Arial" pitchFamily="34" charset="0"/>
              <a:buChar char="•"/>
              <a:defRPr/>
            </a:pPr>
            <a:r>
              <a:rPr lang="en-US" sz="2400" dirty="0">
                <a:solidFill>
                  <a:schemeClr val="accent6"/>
                </a:solidFill>
              </a:rPr>
              <a:t>map logical name to</a:t>
            </a:r>
            <a:br>
              <a:rPr lang="en-US" sz="2400" dirty="0">
                <a:solidFill>
                  <a:schemeClr val="accent6"/>
                </a:solidFill>
              </a:rPr>
            </a:br>
            <a:r>
              <a:rPr lang="en-US" sz="2400" dirty="0">
                <a:solidFill>
                  <a:schemeClr val="accent6"/>
                </a:solidFill>
              </a:rPr>
              <a:t>unique Id, file descriptor</a:t>
            </a:r>
          </a:p>
          <a:p>
            <a:pPr marL="342900" indent="-342900">
              <a:spcBef>
                <a:spcPts val="0"/>
              </a:spcBef>
              <a:defRPr/>
            </a:pPr>
            <a:r>
              <a:rPr lang="en-US" sz="2400" b="1" kern="0" dirty="0">
                <a:solidFill>
                  <a:schemeClr val="accent6"/>
                </a:solidFill>
                <a:latin typeface="Times New Roman"/>
              </a:rPr>
              <a:t>Basic file system:</a:t>
            </a:r>
          </a:p>
          <a:p>
            <a:pPr marL="342900" indent="-342900">
              <a:spcBef>
                <a:spcPts val="0"/>
              </a:spcBef>
              <a:buFont typeface="Arial" pitchFamily="34" charset="0"/>
              <a:buChar char="•"/>
              <a:defRPr/>
            </a:pPr>
            <a:r>
              <a:rPr lang="en-US" sz="2400" kern="0" dirty="0">
                <a:solidFill>
                  <a:schemeClr val="accent6"/>
                </a:solidFill>
                <a:latin typeface="Times New Roman"/>
              </a:rPr>
              <a:t>open/close files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defRPr/>
            </a:pPr>
            <a:endParaRPr lang="en-US" sz="24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32693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User’s View of a File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File name and type</a:t>
            </a:r>
          </a:p>
          <a:p>
            <a:pPr lvl="1"/>
            <a:r>
              <a:rPr lang="en-US" dirty="0"/>
              <a:t>Valid </a:t>
            </a:r>
            <a:r>
              <a:rPr lang="en-US" b="1" dirty="0"/>
              <a:t>name </a:t>
            </a:r>
          </a:p>
          <a:p>
            <a:pPr lvl="2"/>
            <a:r>
              <a:rPr lang="en-US" dirty="0"/>
              <a:t>Number of characters</a:t>
            </a:r>
          </a:p>
          <a:p>
            <a:pPr lvl="2"/>
            <a:r>
              <a:rPr lang="en-US" dirty="0"/>
              <a:t>Lower </a:t>
            </a:r>
            <a:r>
              <a:rPr lang="en-US" i="1" dirty="0"/>
              <a:t>vs</a:t>
            </a:r>
            <a:r>
              <a:rPr lang="en-US" dirty="0"/>
              <a:t> upper case, illegal characters</a:t>
            </a:r>
          </a:p>
          <a:p>
            <a:pPr lvl="1"/>
            <a:r>
              <a:rPr lang="en-US" sz="2400" b="1" dirty="0"/>
              <a:t>Extension</a:t>
            </a:r>
          </a:p>
          <a:p>
            <a:pPr lvl="2"/>
            <a:r>
              <a:rPr lang="en-US" dirty="0"/>
              <a:t>Tied to type of file</a:t>
            </a:r>
          </a:p>
          <a:p>
            <a:pPr lvl="2"/>
            <a:r>
              <a:rPr lang="en-US" dirty="0"/>
              <a:t>Used by applications</a:t>
            </a:r>
          </a:p>
          <a:p>
            <a:pPr lvl="1"/>
            <a:r>
              <a:rPr lang="en-US" sz="2400" dirty="0"/>
              <a:t>File </a:t>
            </a:r>
            <a:r>
              <a:rPr lang="en-US" sz="2400" b="1" dirty="0"/>
              <a:t>type</a:t>
            </a:r>
            <a:r>
              <a:rPr lang="en-US" sz="2400" dirty="0"/>
              <a:t> recorded in header</a:t>
            </a:r>
          </a:p>
          <a:p>
            <a:pPr lvl="2"/>
            <a:r>
              <a:rPr lang="en-US" dirty="0"/>
              <a:t>Cannot be changed (even when extension changes)</a:t>
            </a:r>
          </a:p>
          <a:p>
            <a:pPr lvl="2"/>
            <a:r>
              <a:rPr lang="en-US" dirty="0"/>
              <a:t>Basic types: text, object, load file, directory</a:t>
            </a:r>
          </a:p>
          <a:p>
            <a:pPr lvl="2"/>
            <a:r>
              <a:rPr lang="en-US" dirty="0"/>
              <a:t>Application-specific types, e.g., .doc, .</a:t>
            </a:r>
            <a:r>
              <a:rPr lang="en-US" dirty="0" err="1"/>
              <a:t>ps</a:t>
            </a:r>
            <a:r>
              <a:rPr lang="en-US" dirty="0"/>
              <a:t>, .html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799283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Operations on Files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en-US" sz="2400" dirty="0"/>
              <a:t>Create/Delete</a:t>
            </a:r>
          </a:p>
          <a:p>
            <a:pPr>
              <a:spcBef>
                <a:spcPts val="0"/>
              </a:spcBef>
            </a:pPr>
            <a:r>
              <a:rPr lang="en-US" sz="2400" dirty="0"/>
              <a:t>Open/Close</a:t>
            </a:r>
          </a:p>
          <a:p>
            <a:pPr>
              <a:spcBef>
                <a:spcPts val="0"/>
              </a:spcBef>
            </a:pPr>
            <a:r>
              <a:rPr lang="en-US" sz="2400" dirty="0"/>
              <a:t>Read/Write (sequential or direct)</a:t>
            </a:r>
          </a:p>
          <a:p>
            <a:pPr marL="342900" lvl="1" indent="-342900">
              <a:spcBef>
                <a:spcPts val="0"/>
              </a:spcBef>
              <a:buFontTx/>
              <a:buChar char="•"/>
            </a:pPr>
            <a:r>
              <a:rPr lang="en-US" sz="2400" dirty="0"/>
              <a:t>Seek/Rewind (sequential)</a:t>
            </a:r>
          </a:p>
          <a:p>
            <a:pPr>
              <a:spcBef>
                <a:spcPts val="0"/>
              </a:spcBef>
            </a:pPr>
            <a:r>
              <a:rPr lang="en-US" sz="2400" dirty="0"/>
              <a:t>Copy (physical or just link)</a:t>
            </a:r>
          </a:p>
          <a:p>
            <a:pPr>
              <a:spcBef>
                <a:spcPts val="0"/>
              </a:spcBef>
            </a:pPr>
            <a:r>
              <a:rPr lang="en-US" sz="2400" dirty="0"/>
              <a:t>Rename</a:t>
            </a:r>
          </a:p>
          <a:p>
            <a:pPr>
              <a:spcBef>
                <a:spcPts val="0"/>
              </a:spcBef>
            </a:pPr>
            <a:r>
              <a:rPr lang="en-US" sz="2400" dirty="0"/>
              <a:t>Change protection</a:t>
            </a:r>
          </a:p>
          <a:p>
            <a:pPr>
              <a:spcBef>
                <a:spcPts val="0"/>
              </a:spcBef>
            </a:pPr>
            <a:r>
              <a:rPr lang="en-US" sz="2400" dirty="0"/>
              <a:t>Get properties</a:t>
            </a:r>
          </a:p>
          <a:p>
            <a:pPr>
              <a:spcBef>
                <a:spcPts val="600"/>
              </a:spcBef>
            </a:pPr>
            <a:r>
              <a:rPr lang="en-US" sz="2400" dirty="0"/>
              <a:t>Each involves parts of Directory Management, BFS, or Device Organization</a:t>
            </a:r>
          </a:p>
          <a:p>
            <a:pPr>
              <a:spcBef>
                <a:spcPts val="600"/>
              </a:spcBef>
            </a:pPr>
            <a:r>
              <a:rPr lang="en-US" sz="2400" dirty="0"/>
              <a:t>GUI is built on top of these functions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9090954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Operations on Files</a:t>
            </a:r>
            <a:endParaRPr lang="en-SG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7" t="4198" r="41127" b="19000"/>
          <a:stretch>
            <a:fillRect/>
          </a:stretch>
        </p:blipFill>
        <p:spPr bwMode="auto">
          <a:xfrm>
            <a:off x="1475630" y="2006742"/>
            <a:ext cx="6220569" cy="5103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814592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Directory Management</a:t>
            </a:r>
            <a:endParaRPr lang="en-SG" dirty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3" t="20398" r="48251" b="28003"/>
          <a:stretch>
            <a:fillRect/>
          </a:stretch>
        </p:blipFill>
        <p:spPr bwMode="auto">
          <a:xfrm>
            <a:off x="3363333" y="2768203"/>
            <a:ext cx="5817154" cy="37338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647305" y="2234803"/>
            <a:ext cx="2832100" cy="5019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Times New Roman" pitchFamily="18" charset="0"/>
              </a:defRPr>
            </a:lvl1pPr>
            <a:lvl2pPr marL="365125" indent="-285750">
              <a:defRPr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20000"/>
              </a:spcBef>
              <a:buFontTx/>
              <a:buChar char="•"/>
            </a:pPr>
            <a:r>
              <a:rPr lang="en-US" sz="2800" dirty="0">
                <a:solidFill>
                  <a:schemeClr val="accent2"/>
                </a:solidFill>
              </a:rPr>
              <a:t>Main issues:</a:t>
            </a:r>
          </a:p>
          <a:p>
            <a:pPr lvl="1">
              <a:spcBef>
                <a:spcPct val="20000"/>
              </a:spcBef>
              <a:buFontTx/>
              <a:buChar char="–"/>
            </a:pPr>
            <a:r>
              <a:rPr lang="en-US" sz="2400" b="1" dirty="0">
                <a:solidFill>
                  <a:schemeClr val="accent2"/>
                </a:solidFill>
              </a:rPr>
              <a:t>Shape</a:t>
            </a:r>
            <a:r>
              <a:rPr lang="en-US" sz="2400" dirty="0">
                <a:solidFill>
                  <a:schemeClr val="accent2"/>
                </a:solidFill>
              </a:rPr>
              <a:t> of data structure (e.g. tree, shortcuts, …)</a:t>
            </a:r>
          </a:p>
          <a:p>
            <a:pPr lvl="1">
              <a:spcBef>
                <a:spcPct val="20000"/>
              </a:spcBef>
              <a:buFontTx/>
              <a:buChar char="–"/>
            </a:pPr>
            <a:r>
              <a:rPr lang="en-US" sz="2400" b="1" dirty="0">
                <a:solidFill>
                  <a:schemeClr val="accent2"/>
                </a:solidFill>
              </a:rPr>
              <a:t>What</a:t>
            </a:r>
            <a:r>
              <a:rPr lang="en-US" sz="2400" dirty="0">
                <a:solidFill>
                  <a:schemeClr val="accent2"/>
                </a:solidFill>
              </a:rPr>
              <a:t> info to keep about files</a:t>
            </a:r>
          </a:p>
          <a:p>
            <a:pPr lvl="1">
              <a:spcBef>
                <a:spcPct val="20000"/>
              </a:spcBef>
              <a:buFontTx/>
              <a:buChar char="–"/>
            </a:pPr>
            <a:r>
              <a:rPr lang="en-US" sz="2400" b="1" dirty="0">
                <a:solidFill>
                  <a:schemeClr val="accent2"/>
                </a:solidFill>
              </a:rPr>
              <a:t>Where</a:t>
            </a:r>
            <a:r>
              <a:rPr lang="en-US" sz="2400" dirty="0">
                <a:solidFill>
                  <a:schemeClr val="accent2"/>
                </a:solidFill>
              </a:rPr>
              <a:t> to keep it? (in directory?)</a:t>
            </a:r>
          </a:p>
          <a:p>
            <a:pPr lvl="1">
              <a:spcBef>
                <a:spcPct val="20000"/>
              </a:spcBef>
              <a:buFontTx/>
              <a:buChar char="–"/>
            </a:pPr>
            <a:r>
              <a:rPr lang="en-US" sz="2400" b="1" dirty="0">
                <a:solidFill>
                  <a:schemeClr val="accent2"/>
                </a:solidFill>
              </a:rPr>
              <a:t>How</a:t>
            </a:r>
            <a:r>
              <a:rPr lang="en-US" sz="2400" dirty="0">
                <a:solidFill>
                  <a:schemeClr val="accent2"/>
                </a:solidFill>
              </a:rPr>
              <a:t> to organize entries for efficiency?</a:t>
            </a:r>
          </a:p>
        </p:txBody>
      </p:sp>
    </p:spTree>
    <p:extLst>
      <p:ext uri="{BB962C8B-B14F-4D97-AF65-F5344CB8AC3E}">
        <p14:creationId xmlns:p14="http://schemas.microsoft.com/office/powerpoint/2010/main" val="9345537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Directories</a:t>
            </a:r>
            <a:endParaRPr lang="en-SG" dirty="0"/>
          </a:p>
        </p:txBody>
      </p:sp>
      <p:pic>
        <p:nvPicPr>
          <p:cNvPr id="4" name="Picture 5" descr="10-3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627685" y="2367542"/>
            <a:ext cx="5904730" cy="474292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531415" y="1910341"/>
            <a:ext cx="3810000" cy="236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>
            <a:lvl1pPr marL="342900" indent="-342900" algn="l" defTabSz="10144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500" b="1">
                <a:solidFill>
                  <a:srgbClr val="003399"/>
                </a:solidFill>
                <a:latin typeface="+mn-lt"/>
                <a:ea typeface="+mn-ea"/>
                <a:cs typeface="+mn-cs"/>
              </a:defRPr>
            </a:lvl1pPr>
            <a:lvl2pPr marL="374650" indent="6350" algn="l" defTabSz="1014413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600">
                <a:solidFill>
                  <a:srgbClr val="003399"/>
                </a:solidFill>
                <a:latin typeface="+mn-lt"/>
              </a:defRPr>
            </a:lvl2pPr>
            <a:lvl3pPr marL="755650" indent="158750" algn="l" defTabSz="1014413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ü"/>
              <a:defRPr sz="2200" b="1">
                <a:solidFill>
                  <a:srgbClr val="FF6600"/>
                </a:solidFill>
                <a:latin typeface="+mn-lt"/>
              </a:defRPr>
            </a:lvl3pPr>
            <a:lvl4pPr marL="1143000" indent="6350" algn="l" defTabSz="1014413" rtl="0" eaLnBrk="0" fontAlgn="base" hangingPunct="0">
              <a:spcBef>
                <a:spcPct val="20000"/>
              </a:spcBef>
              <a:spcAft>
                <a:spcPct val="0"/>
              </a:spcAft>
              <a:defRPr sz="2200" i="1">
                <a:solidFill>
                  <a:srgbClr val="003399"/>
                </a:solidFill>
                <a:latin typeface="+mn-lt"/>
              </a:defRPr>
            </a:lvl4pPr>
            <a:lvl5pPr marL="1524000" indent="304800" algn="l" defTabSz="1014413" rtl="0" eaLnBrk="0" fontAlgn="base" hangingPunct="0">
              <a:spcBef>
                <a:spcPct val="20000"/>
              </a:spcBef>
              <a:spcAft>
                <a:spcPct val="0"/>
              </a:spcAft>
              <a:defRPr sz="2000">
                <a:solidFill>
                  <a:srgbClr val="003399"/>
                </a:solidFill>
                <a:latin typeface="+mn-lt"/>
              </a:defRPr>
            </a:lvl5pPr>
            <a:lvl6pPr marL="1981200" algn="l" defTabSz="1014413" rtl="0" fontAlgn="base">
              <a:spcBef>
                <a:spcPct val="20000"/>
              </a:spcBef>
              <a:spcAft>
                <a:spcPct val="0"/>
              </a:spcAft>
              <a:defRPr sz="2000">
                <a:solidFill>
                  <a:srgbClr val="003399"/>
                </a:solidFill>
                <a:latin typeface="+mn-lt"/>
              </a:defRPr>
            </a:lvl6pPr>
            <a:lvl7pPr marL="2438400" algn="l" defTabSz="1014413" rtl="0" fontAlgn="base">
              <a:spcBef>
                <a:spcPct val="20000"/>
              </a:spcBef>
              <a:spcAft>
                <a:spcPct val="0"/>
              </a:spcAft>
              <a:defRPr sz="2000">
                <a:solidFill>
                  <a:srgbClr val="003399"/>
                </a:solidFill>
                <a:latin typeface="+mn-lt"/>
              </a:defRPr>
            </a:lvl7pPr>
            <a:lvl8pPr marL="2895600" algn="l" defTabSz="1014413" rtl="0" fontAlgn="base">
              <a:spcBef>
                <a:spcPct val="20000"/>
              </a:spcBef>
              <a:spcAft>
                <a:spcPct val="0"/>
              </a:spcAft>
              <a:defRPr sz="2000">
                <a:solidFill>
                  <a:srgbClr val="003399"/>
                </a:solidFill>
                <a:latin typeface="+mn-lt"/>
              </a:defRPr>
            </a:lvl8pPr>
            <a:lvl9pPr marL="3352800" algn="l" defTabSz="1014413" rtl="0" fontAlgn="base">
              <a:spcBef>
                <a:spcPct val="20000"/>
              </a:spcBef>
              <a:spcAft>
                <a:spcPct val="0"/>
              </a:spcAft>
              <a:defRPr sz="2000">
                <a:solidFill>
                  <a:srgbClr val="003399"/>
                </a:solidFill>
                <a:latin typeface="+mn-lt"/>
              </a:defRPr>
            </a:lvl9pPr>
          </a:lstStyle>
          <a:p>
            <a:r>
              <a:rPr lang="en-US" sz="2800" kern="0" dirty="0"/>
              <a:t>Tree-structured</a:t>
            </a:r>
          </a:p>
          <a:p>
            <a:pPr lvl="1"/>
            <a:r>
              <a:rPr lang="en-US" sz="2400" b="1" kern="0" dirty="0"/>
              <a:t>Simple</a:t>
            </a:r>
            <a:r>
              <a:rPr lang="en-US" sz="2400" kern="0" dirty="0"/>
              <a:t> search, insert, delete operations</a:t>
            </a:r>
          </a:p>
          <a:p>
            <a:pPr lvl="1"/>
            <a:r>
              <a:rPr lang="en-US" sz="2400" kern="0" dirty="0"/>
              <a:t>Sharing is </a:t>
            </a:r>
            <a:r>
              <a:rPr lang="en-US" sz="2400" b="1" kern="0" dirty="0"/>
              <a:t>asymmetric</a:t>
            </a:r>
            <a:r>
              <a:rPr lang="en-US" sz="2400" kern="0" dirty="0"/>
              <a:t> (only one parent)</a:t>
            </a:r>
          </a:p>
          <a:p>
            <a:pPr algn="ctr">
              <a:buFontTx/>
              <a:buNone/>
            </a:pPr>
            <a:endParaRPr lang="en-US" sz="2800" kern="0" dirty="0"/>
          </a:p>
        </p:txBody>
      </p:sp>
    </p:spTree>
    <p:extLst>
      <p:ext uri="{BB962C8B-B14F-4D97-AF65-F5344CB8AC3E}">
        <p14:creationId xmlns:p14="http://schemas.microsoft.com/office/powerpoint/2010/main" val="13073106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Directories</a:t>
            </a:r>
            <a:endParaRPr lang="en-SG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685800" y="1853878"/>
            <a:ext cx="77724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>
            <a:lvl1pPr marL="342900" indent="-342900" algn="l" defTabSz="10144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500" b="1">
                <a:solidFill>
                  <a:srgbClr val="003399"/>
                </a:solidFill>
                <a:latin typeface="+mn-lt"/>
                <a:ea typeface="+mn-ea"/>
                <a:cs typeface="+mn-cs"/>
              </a:defRPr>
            </a:lvl1pPr>
            <a:lvl2pPr marL="374650" indent="6350" algn="l" defTabSz="1014413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600">
                <a:solidFill>
                  <a:srgbClr val="003399"/>
                </a:solidFill>
                <a:latin typeface="+mn-lt"/>
              </a:defRPr>
            </a:lvl2pPr>
            <a:lvl3pPr marL="755650" indent="158750" algn="l" defTabSz="1014413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ü"/>
              <a:defRPr sz="2200" b="1">
                <a:solidFill>
                  <a:srgbClr val="FF6600"/>
                </a:solidFill>
                <a:latin typeface="+mn-lt"/>
              </a:defRPr>
            </a:lvl3pPr>
            <a:lvl4pPr marL="1143000" indent="6350" algn="l" defTabSz="1014413" rtl="0" eaLnBrk="0" fontAlgn="base" hangingPunct="0">
              <a:spcBef>
                <a:spcPct val="20000"/>
              </a:spcBef>
              <a:spcAft>
                <a:spcPct val="0"/>
              </a:spcAft>
              <a:defRPr sz="2200" i="1">
                <a:solidFill>
                  <a:srgbClr val="003399"/>
                </a:solidFill>
                <a:latin typeface="+mn-lt"/>
              </a:defRPr>
            </a:lvl4pPr>
            <a:lvl5pPr marL="1524000" indent="304800" algn="l" defTabSz="1014413" rtl="0" eaLnBrk="0" fontAlgn="base" hangingPunct="0">
              <a:spcBef>
                <a:spcPct val="20000"/>
              </a:spcBef>
              <a:spcAft>
                <a:spcPct val="0"/>
              </a:spcAft>
              <a:defRPr sz="2000">
                <a:solidFill>
                  <a:srgbClr val="003399"/>
                </a:solidFill>
                <a:latin typeface="+mn-lt"/>
              </a:defRPr>
            </a:lvl5pPr>
            <a:lvl6pPr marL="1981200" algn="l" defTabSz="1014413" rtl="0" fontAlgn="base">
              <a:spcBef>
                <a:spcPct val="20000"/>
              </a:spcBef>
              <a:spcAft>
                <a:spcPct val="0"/>
              </a:spcAft>
              <a:defRPr sz="2000">
                <a:solidFill>
                  <a:srgbClr val="003399"/>
                </a:solidFill>
                <a:latin typeface="+mn-lt"/>
              </a:defRPr>
            </a:lvl6pPr>
            <a:lvl7pPr marL="2438400" algn="l" defTabSz="1014413" rtl="0" fontAlgn="base">
              <a:spcBef>
                <a:spcPct val="20000"/>
              </a:spcBef>
              <a:spcAft>
                <a:spcPct val="0"/>
              </a:spcAft>
              <a:defRPr sz="2000">
                <a:solidFill>
                  <a:srgbClr val="003399"/>
                </a:solidFill>
                <a:latin typeface="+mn-lt"/>
              </a:defRPr>
            </a:lvl7pPr>
            <a:lvl8pPr marL="2895600" algn="l" defTabSz="1014413" rtl="0" fontAlgn="base">
              <a:spcBef>
                <a:spcPct val="20000"/>
              </a:spcBef>
              <a:spcAft>
                <a:spcPct val="0"/>
              </a:spcAft>
              <a:defRPr sz="2000">
                <a:solidFill>
                  <a:srgbClr val="003399"/>
                </a:solidFill>
                <a:latin typeface="+mn-lt"/>
              </a:defRPr>
            </a:lvl8pPr>
            <a:lvl9pPr marL="3352800" algn="l" defTabSz="1014413" rtl="0" fontAlgn="base">
              <a:spcBef>
                <a:spcPct val="20000"/>
              </a:spcBef>
              <a:spcAft>
                <a:spcPct val="0"/>
              </a:spcAft>
              <a:defRPr sz="2000">
                <a:solidFill>
                  <a:srgbClr val="003399"/>
                </a:solidFill>
                <a:latin typeface="+mn-lt"/>
              </a:defRPr>
            </a:lvl9pPr>
          </a:lstStyle>
          <a:p>
            <a:r>
              <a:rPr lang="en-US" sz="2400" kern="0">
                <a:solidFill>
                  <a:schemeClr val="accent6"/>
                </a:solidFill>
              </a:rPr>
              <a:t>How to uniquely name a file in the hierarchy?</a:t>
            </a:r>
          </a:p>
          <a:p>
            <a:r>
              <a:rPr lang="en-US" sz="2400" kern="0">
                <a:solidFill>
                  <a:schemeClr val="accent6"/>
                </a:solidFill>
              </a:rPr>
              <a:t>Path names</a:t>
            </a:r>
          </a:p>
          <a:p>
            <a:pPr lvl="1"/>
            <a:r>
              <a:rPr lang="en-US" sz="2400" kern="0">
                <a:solidFill>
                  <a:schemeClr val="accent6"/>
                </a:solidFill>
              </a:rPr>
              <a:t>Concatenated local names with delimiter: </a:t>
            </a:r>
          </a:p>
          <a:p>
            <a:pPr lvl="2">
              <a:buFontTx/>
              <a:buNone/>
            </a:pPr>
            <a:r>
              <a:rPr lang="en-US" kern="0">
                <a:solidFill>
                  <a:schemeClr val="accent6"/>
                </a:solidFill>
              </a:rPr>
              <a:t>   ( </a:t>
            </a:r>
            <a:r>
              <a:rPr lang="en-US" kern="0">
                <a:solidFill>
                  <a:schemeClr val="accent6"/>
                </a:solidFill>
                <a:latin typeface="Courier New" pitchFamily="49" charset="0"/>
              </a:rPr>
              <a:t>.</a:t>
            </a:r>
            <a:r>
              <a:rPr lang="en-US" kern="0">
                <a:solidFill>
                  <a:schemeClr val="accent6"/>
                </a:solidFill>
              </a:rPr>
              <a:t>  or  </a:t>
            </a:r>
            <a:r>
              <a:rPr lang="en-US" kern="0">
                <a:solidFill>
                  <a:schemeClr val="accent6"/>
                </a:solidFill>
                <a:latin typeface="Courier New" pitchFamily="49" charset="0"/>
              </a:rPr>
              <a:t>/</a:t>
            </a:r>
            <a:r>
              <a:rPr lang="en-US" kern="0">
                <a:solidFill>
                  <a:schemeClr val="accent6"/>
                </a:solidFill>
              </a:rPr>
              <a:t>  or  </a:t>
            </a:r>
            <a:r>
              <a:rPr lang="en-US" kern="0">
                <a:solidFill>
                  <a:schemeClr val="accent6"/>
                </a:solidFill>
                <a:latin typeface="Courier New" pitchFamily="49" charset="0"/>
              </a:rPr>
              <a:t>\</a:t>
            </a:r>
            <a:r>
              <a:rPr lang="en-US" kern="0">
                <a:solidFill>
                  <a:schemeClr val="accent6"/>
                </a:solidFill>
              </a:rPr>
              <a:t> )</a:t>
            </a:r>
          </a:p>
          <a:p>
            <a:pPr lvl="1"/>
            <a:r>
              <a:rPr lang="en-US" sz="2400" b="1" kern="0">
                <a:solidFill>
                  <a:schemeClr val="accent6"/>
                </a:solidFill>
              </a:rPr>
              <a:t>Absolute</a:t>
            </a:r>
            <a:r>
              <a:rPr lang="en-US" sz="2400" kern="0">
                <a:solidFill>
                  <a:schemeClr val="accent6"/>
                </a:solidFill>
              </a:rPr>
              <a:t> path name: start with root</a:t>
            </a:r>
            <a:br>
              <a:rPr lang="en-US" sz="2400" kern="0">
                <a:solidFill>
                  <a:schemeClr val="accent6"/>
                </a:solidFill>
              </a:rPr>
            </a:br>
            <a:r>
              <a:rPr lang="en-US" sz="2400" kern="0">
                <a:solidFill>
                  <a:schemeClr val="accent6"/>
                </a:solidFill>
              </a:rPr>
              <a:t>     (</a:t>
            </a:r>
            <a:r>
              <a:rPr lang="en-US" sz="2400" b="1" kern="0">
                <a:solidFill>
                  <a:schemeClr val="accent6"/>
                </a:solidFill>
                <a:latin typeface="Courier New" pitchFamily="49" charset="0"/>
              </a:rPr>
              <a:t>/</a:t>
            </a:r>
            <a:r>
              <a:rPr lang="en-US" sz="2400" kern="0">
                <a:solidFill>
                  <a:schemeClr val="accent6"/>
                </a:solidFill>
              </a:rPr>
              <a:t>)</a:t>
            </a:r>
          </a:p>
          <a:p>
            <a:pPr lvl="1"/>
            <a:r>
              <a:rPr lang="en-US" sz="2400" b="1" kern="0">
                <a:solidFill>
                  <a:schemeClr val="accent6"/>
                </a:solidFill>
              </a:rPr>
              <a:t>Relative</a:t>
            </a:r>
            <a:r>
              <a:rPr lang="en-US" sz="2400" kern="0">
                <a:solidFill>
                  <a:schemeClr val="accent6"/>
                </a:solidFill>
              </a:rPr>
              <a:t> path name: Start with current directory</a:t>
            </a:r>
            <a:br>
              <a:rPr lang="en-US" sz="2400" kern="0">
                <a:solidFill>
                  <a:schemeClr val="accent6"/>
                </a:solidFill>
              </a:rPr>
            </a:br>
            <a:r>
              <a:rPr lang="en-US" sz="2400" kern="0">
                <a:solidFill>
                  <a:schemeClr val="accent6"/>
                </a:solidFill>
              </a:rPr>
              <a:t>     (</a:t>
            </a:r>
            <a:r>
              <a:rPr lang="en-US" sz="2400" b="1" kern="0">
                <a:solidFill>
                  <a:schemeClr val="accent6"/>
                </a:solidFill>
                <a:latin typeface="Courier New" pitchFamily="49" charset="0"/>
              </a:rPr>
              <a:t>.</a:t>
            </a:r>
            <a:r>
              <a:rPr lang="en-US" sz="2400" kern="0">
                <a:solidFill>
                  <a:schemeClr val="accent6"/>
                </a:solidFill>
              </a:rPr>
              <a:t>)</a:t>
            </a:r>
          </a:p>
          <a:p>
            <a:pPr lvl="1"/>
            <a:r>
              <a:rPr lang="en-US" sz="2400" kern="0">
                <a:solidFill>
                  <a:schemeClr val="accent6"/>
                </a:solidFill>
              </a:rPr>
              <a:t>Notation to move upward in hierarchy</a:t>
            </a:r>
            <a:br>
              <a:rPr lang="en-US" sz="2400" kern="0">
                <a:solidFill>
                  <a:schemeClr val="accent6"/>
                </a:solidFill>
              </a:rPr>
            </a:br>
            <a:r>
              <a:rPr lang="en-US" sz="2400" kern="0">
                <a:solidFill>
                  <a:schemeClr val="accent6"/>
                </a:solidFill>
              </a:rPr>
              <a:t>     (</a:t>
            </a:r>
            <a:r>
              <a:rPr lang="en-US" sz="2400" b="1" kern="0">
                <a:solidFill>
                  <a:schemeClr val="accent6"/>
                </a:solidFill>
                <a:latin typeface="Courier New" pitchFamily="49" charset="0"/>
              </a:rPr>
              <a:t>..</a:t>
            </a:r>
            <a:r>
              <a:rPr lang="en-US" sz="2400" kern="0">
                <a:solidFill>
                  <a:schemeClr val="accent6"/>
                </a:solidFill>
              </a:rPr>
              <a:t>)</a:t>
            </a:r>
            <a:endParaRPr lang="en-US" sz="2400" kern="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62506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3983" y="1988283"/>
            <a:ext cx="5423480" cy="5257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411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Times New Roman" pitchFamily="18" charset="0"/>
              </a:defRPr>
            </a:lvl1pPr>
            <a:lvl2pPr marL="824006" indent="-316925">
              <a:defRPr>
                <a:solidFill>
                  <a:schemeClr val="tx1"/>
                </a:solidFill>
                <a:latin typeface="Times New Roman" pitchFamily="18" charset="0"/>
              </a:defRPr>
            </a:lvl2pPr>
            <a:lvl3pPr marL="1267701" indent="-253540">
              <a:defRPr>
                <a:solidFill>
                  <a:schemeClr val="tx1"/>
                </a:solidFill>
                <a:latin typeface="Times New Roman" pitchFamily="18" charset="0"/>
              </a:defRPr>
            </a:lvl3pPr>
            <a:lvl4pPr marL="1774782" indent="-253540"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281862" indent="-253540"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788943" indent="-25354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3296023" indent="-25354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803104" indent="-25354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4310184" indent="-25354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>
                <a:solidFill>
                  <a:schemeClr val="accent2"/>
                </a:solidFill>
              </a:rPr>
              <a:t>Operating Systems</a:t>
            </a:r>
          </a:p>
        </p:txBody>
      </p:sp>
      <p:sp>
        <p:nvSpPr>
          <p:cNvPr id="17413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7275645" y="7174178"/>
            <a:ext cx="2115013" cy="422010"/>
          </a:xfrm>
          <a:prstGeom prst="rect">
            <a:avLst/>
          </a:prstGeom>
          <a:noFill/>
        </p:spPr>
        <p:txBody>
          <a:bodyPr lIns="101416" tIns="50708" rIns="101416" bIns="50708"/>
          <a:lstStyle>
            <a:lvl1pPr>
              <a:defRPr>
                <a:solidFill>
                  <a:schemeClr val="tx1"/>
                </a:solidFill>
                <a:latin typeface="Times New Roman" pitchFamily="18" charset="0"/>
              </a:defRPr>
            </a:lvl1pPr>
            <a:lvl2pPr marL="824006" indent="-316925">
              <a:defRPr>
                <a:solidFill>
                  <a:schemeClr val="tx1"/>
                </a:solidFill>
                <a:latin typeface="Times New Roman" pitchFamily="18" charset="0"/>
              </a:defRPr>
            </a:lvl2pPr>
            <a:lvl3pPr marL="1267701" indent="-253540">
              <a:defRPr>
                <a:solidFill>
                  <a:schemeClr val="tx1"/>
                </a:solidFill>
                <a:latin typeface="Times New Roman" pitchFamily="18" charset="0"/>
              </a:defRPr>
            </a:lvl3pPr>
            <a:lvl4pPr marL="1774782" indent="-253540"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281862" indent="-253540"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788943" indent="-25354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3296023" indent="-25354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803104" indent="-25354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4310184" indent="-25354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5BBC948C-1933-46F7-89DB-C7CD41046BE3}" type="slidenum">
              <a:rPr lang="en-US" smtClean="0">
                <a:solidFill>
                  <a:schemeClr val="accent2"/>
                </a:solidFill>
              </a:rPr>
              <a:pPr/>
              <a:t>11</a:t>
            </a:fld>
            <a:endParaRPr lang="en-US">
              <a:solidFill>
                <a:schemeClr val="accent2"/>
              </a:solidFill>
            </a:endParaRPr>
          </a:p>
        </p:txBody>
      </p:sp>
      <p:sp>
        <p:nvSpPr>
          <p:cNvPr id="174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Operations on File Directories</a:t>
            </a:r>
          </a:p>
        </p:txBody>
      </p:sp>
      <p:sp>
        <p:nvSpPr>
          <p:cNvPr id="174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7603" y="1925885"/>
            <a:ext cx="3848348" cy="5163889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700" dirty="0">
                <a:solidFill>
                  <a:srgbClr val="3333CC"/>
                </a:solidFill>
              </a:rPr>
              <a:t>GUI </a:t>
            </a:r>
            <a:r>
              <a:rPr lang="en-US" sz="2700" dirty="0" err="1">
                <a:solidFill>
                  <a:srgbClr val="3333CC"/>
                </a:solidFill>
              </a:rPr>
              <a:t>vs</a:t>
            </a:r>
            <a:r>
              <a:rPr lang="en-US" sz="2700" dirty="0">
                <a:solidFill>
                  <a:srgbClr val="3333CC"/>
                </a:solidFill>
              </a:rPr>
              <a:t> commands</a:t>
            </a:r>
            <a:endParaRPr lang="en-US" sz="3100" dirty="0"/>
          </a:p>
          <a:p>
            <a:pPr marL="404960" lvl="1">
              <a:lnSpc>
                <a:spcPct val="90000"/>
              </a:lnSpc>
            </a:pPr>
            <a:r>
              <a:rPr lang="en-US" sz="2400" dirty="0"/>
              <a:t>Create/delete</a:t>
            </a:r>
          </a:p>
          <a:p>
            <a:pPr marL="404960" lvl="1">
              <a:lnSpc>
                <a:spcPct val="90000"/>
              </a:lnSpc>
            </a:pPr>
            <a:r>
              <a:rPr lang="en-US" sz="2400" dirty="0"/>
              <a:t>List: sorting, wild cards, recursion, information shown</a:t>
            </a:r>
          </a:p>
          <a:p>
            <a:pPr marL="404960" lvl="1">
              <a:lnSpc>
                <a:spcPct val="90000"/>
              </a:lnSpc>
            </a:pPr>
            <a:r>
              <a:rPr lang="en-US" sz="2400" dirty="0"/>
              <a:t>Change (current, working) directory</a:t>
            </a:r>
          </a:p>
          <a:p>
            <a:pPr marL="404960" lvl="1">
              <a:lnSpc>
                <a:spcPct val="90000"/>
              </a:lnSpc>
            </a:pPr>
            <a:r>
              <a:rPr lang="en-US" sz="2400" dirty="0"/>
              <a:t>Move</a:t>
            </a:r>
          </a:p>
          <a:p>
            <a:pPr marL="404960" lvl="1">
              <a:lnSpc>
                <a:spcPct val="90000"/>
              </a:lnSpc>
            </a:pPr>
            <a:r>
              <a:rPr lang="en-US" sz="2400" dirty="0"/>
              <a:t>Rename</a:t>
            </a:r>
          </a:p>
          <a:p>
            <a:pPr marL="404960" lvl="1">
              <a:lnSpc>
                <a:spcPct val="90000"/>
              </a:lnSpc>
            </a:pPr>
            <a:r>
              <a:rPr lang="en-US" sz="2400" dirty="0"/>
              <a:t>Change protection</a:t>
            </a:r>
          </a:p>
          <a:p>
            <a:pPr marL="404960" lvl="1">
              <a:lnSpc>
                <a:spcPct val="90000"/>
              </a:lnSpc>
            </a:pPr>
            <a:r>
              <a:rPr lang="en-US" sz="2400" dirty="0"/>
              <a:t>Create/delete link (symbolic)</a:t>
            </a:r>
          </a:p>
          <a:p>
            <a:pPr marL="404960" lvl="1">
              <a:lnSpc>
                <a:spcPct val="90000"/>
              </a:lnSpc>
            </a:pPr>
            <a:r>
              <a:rPr lang="en-US" sz="2400" dirty="0"/>
              <a:t>Find/search routines</a:t>
            </a:r>
          </a:p>
          <a:p>
            <a:pPr>
              <a:lnSpc>
                <a:spcPct val="90000"/>
              </a:lnSpc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971864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4679" y="5007272"/>
            <a:ext cx="6249864" cy="22472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434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Times New Roman" pitchFamily="18" charset="0"/>
              </a:defRPr>
            </a:lvl1pPr>
            <a:lvl2pPr marL="824006" indent="-316925">
              <a:defRPr>
                <a:solidFill>
                  <a:schemeClr val="tx1"/>
                </a:solidFill>
                <a:latin typeface="Times New Roman" pitchFamily="18" charset="0"/>
              </a:defRPr>
            </a:lvl2pPr>
            <a:lvl3pPr marL="1267701" indent="-253540">
              <a:defRPr>
                <a:solidFill>
                  <a:schemeClr val="tx1"/>
                </a:solidFill>
                <a:latin typeface="Times New Roman" pitchFamily="18" charset="0"/>
              </a:defRPr>
            </a:lvl3pPr>
            <a:lvl4pPr marL="1774782" indent="-253540"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281862" indent="-253540"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788943" indent="-25354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3296023" indent="-25354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803104" indent="-25354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4310184" indent="-25354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>
                <a:solidFill>
                  <a:schemeClr val="accent2"/>
                </a:solidFill>
              </a:rPr>
              <a:t>Operating Systems</a:t>
            </a:r>
          </a:p>
        </p:txBody>
      </p:sp>
      <p:sp>
        <p:nvSpPr>
          <p:cNvPr id="1843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7275645" y="7174178"/>
            <a:ext cx="2115013" cy="422010"/>
          </a:xfrm>
          <a:prstGeom prst="rect">
            <a:avLst/>
          </a:prstGeom>
          <a:noFill/>
        </p:spPr>
        <p:txBody>
          <a:bodyPr lIns="101416" tIns="50708" rIns="101416" bIns="50708"/>
          <a:lstStyle>
            <a:lvl1pPr>
              <a:defRPr>
                <a:solidFill>
                  <a:schemeClr val="tx1"/>
                </a:solidFill>
                <a:latin typeface="Times New Roman" pitchFamily="18" charset="0"/>
              </a:defRPr>
            </a:lvl1pPr>
            <a:lvl2pPr marL="824006" indent="-316925">
              <a:defRPr>
                <a:solidFill>
                  <a:schemeClr val="tx1"/>
                </a:solidFill>
                <a:latin typeface="Times New Roman" pitchFamily="18" charset="0"/>
              </a:defRPr>
            </a:lvl2pPr>
            <a:lvl3pPr marL="1267701" indent="-253540">
              <a:defRPr>
                <a:solidFill>
                  <a:schemeClr val="tx1"/>
                </a:solidFill>
                <a:latin typeface="Times New Roman" pitchFamily="18" charset="0"/>
              </a:defRPr>
            </a:lvl3pPr>
            <a:lvl4pPr marL="1774782" indent="-253540"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281862" indent="-253540"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788943" indent="-25354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3296023" indent="-25354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803104" indent="-25354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4310184" indent="-25354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EDAD9006-6767-4060-B072-81825241EE2F}" type="slidenum">
              <a:rPr lang="en-US" smtClean="0">
                <a:solidFill>
                  <a:schemeClr val="accent2"/>
                </a:solidFill>
              </a:rPr>
              <a:pPr/>
              <a:t>12</a:t>
            </a:fld>
            <a:endParaRPr lang="en-US">
              <a:solidFill>
                <a:schemeClr val="accent2"/>
              </a:solidFill>
            </a:endParaRPr>
          </a:p>
        </p:txBody>
      </p:sp>
      <p:sp>
        <p:nvSpPr>
          <p:cNvPr id="184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Implementation of Directories</a:t>
            </a:r>
          </a:p>
        </p:txBody>
      </p:sp>
      <p:sp>
        <p:nvSpPr>
          <p:cNvPr id="1843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1405" y="1925885"/>
            <a:ext cx="8629254" cy="5163889"/>
          </a:xfrm>
        </p:spPr>
        <p:txBody>
          <a:bodyPr/>
          <a:lstStyle/>
          <a:p>
            <a:r>
              <a:rPr lang="en-US" sz="2700" dirty="0"/>
              <a:t>What information to keep in each entry</a:t>
            </a:r>
          </a:p>
          <a:p>
            <a:pPr lvl="1"/>
            <a:r>
              <a:rPr lang="en-US" sz="2700" b="1" dirty="0"/>
              <a:t>All</a:t>
            </a:r>
            <a:r>
              <a:rPr lang="en-US" sz="2700" dirty="0"/>
              <a:t> descriptive information</a:t>
            </a:r>
          </a:p>
          <a:p>
            <a:pPr lvl="2"/>
            <a:r>
              <a:rPr lang="en-US" dirty="0"/>
              <a:t>Directory can become very large</a:t>
            </a:r>
          </a:p>
          <a:p>
            <a:pPr lvl="2"/>
            <a:r>
              <a:rPr lang="en-US" dirty="0"/>
              <a:t>Searches are difficult/slow</a:t>
            </a:r>
          </a:p>
          <a:p>
            <a:pPr lvl="1"/>
            <a:r>
              <a:rPr lang="en-US" sz="2700" dirty="0"/>
              <a:t>Only symbolic </a:t>
            </a:r>
            <a:r>
              <a:rPr lang="en-US" sz="2700" b="1" dirty="0"/>
              <a:t>name and pointer </a:t>
            </a:r>
            <a:r>
              <a:rPr lang="en-US" sz="2700" dirty="0"/>
              <a:t>to descriptor</a:t>
            </a:r>
          </a:p>
          <a:p>
            <a:pPr lvl="2"/>
            <a:r>
              <a:rPr lang="en-US" dirty="0"/>
              <a:t>Needs an extra disk access to descriptor</a:t>
            </a:r>
          </a:p>
          <a:p>
            <a:pPr lvl="2"/>
            <a:r>
              <a:rPr lang="en-US" dirty="0"/>
              <a:t>Variable name length?</a:t>
            </a:r>
          </a:p>
        </p:txBody>
      </p:sp>
    </p:spTree>
    <p:extLst>
      <p:ext uri="{BB962C8B-B14F-4D97-AF65-F5344CB8AC3E}">
        <p14:creationId xmlns:p14="http://schemas.microsoft.com/office/powerpoint/2010/main" val="9154961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 New Roman" charset="0"/>
              </a:rPr>
              <a:t>Organizing Data on a Disk</a:t>
            </a:r>
          </a:p>
        </p:txBody>
      </p:sp>
      <p:pic>
        <p:nvPicPr>
          <p:cNvPr id="29698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1925638"/>
            <a:ext cx="9010650" cy="4608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775776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 New Roman" charset="0"/>
              </a:rPr>
              <a:t>Organizing Files</a:t>
            </a:r>
          </a:p>
        </p:txBody>
      </p:sp>
      <p:pic>
        <p:nvPicPr>
          <p:cNvPr id="3072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2070100"/>
            <a:ext cx="8999537" cy="4921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715759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 New Roman" charset="0"/>
              </a:rPr>
              <a:t>Data Structures on Disk</a:t>
            </a:r>
          </a:p>
        </p:txBody>
      </p:sp>
      <p:pic>
        <p:nvPicPr>
          <p:cNvPr id="31746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1878013"/>
            <a:ext cx="9899650" cy="5303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398910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Date Placeholder 4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Times New Roman" pitchFamily="18" charset="0"/>
              </a:defRPr>
            </a:lvl1pPr>
            <a:lvl2pPr marL="824006" indent="-316925">
              <a:defRPr>
                <a:solidFill>
                  <a:schemeClr val="tx1"/>
                </a:solidFill>
                <a:latin typeface="Times New Roman" pitchFamily="18" charset="0"/>
              </a:defRPr>
            </a:lvl2pPr>
            <a:lvl3pPr marL="1267701" indent="-253540">
              <a:defRPr>
                <a:solidFill>
                  <a:schemeClr val="tx1"/>
                </a:solidFill>
                <a:latin typeface="Times New Roman" pitchFamily="18" charset="0"/>
              </a:defRPr>
            </a:lvl3pPr>
            <a:lvl4pPr marL="1774782" indent="-253540"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281862" indent="-253540"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788943" indent="-25354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3296023" indent="-25354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803104" indent="-25354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4310184" indent="-25354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>
                <a:solidFill>
                  <a:schemeClr val="accent2"/>
                </a:solidFill>
              </a:rPr>
              <a:t>Operating Systems</a:t>
            </a:r>
          </a:p>
        </p:txBody>
      </p:sp>
      <p:sp>
        <p:nvSpPr>
          <p:cNvPr id="27652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Times New Roman" pitchFamily="18" charset="0"/>
              </a:defRPr>
            </a:lvl1pPr>
            <a:lvl2pPr marL="824006" indent="-316925">
              <a:defRPr>
                <a:solidFill>
                  <a:schemeClr val="tx1"/>
                </a:solidFill>
                <a:latin typeface="Times New Roman" pitchFamily="18" charset="0"/>
              </a:defRPr>
            </a:lvl2pPr>
            <a:lvl3pPr marL="1267701" indent="-253540">
              <a:defRPr>
                <a:solidFill>
                  <a:schemeClr val="tx1"/>
                </a:solidFill>
                <a:latin typeface="Times New Roman" pitchFamily="18" charset="0"/>
              </a:defRPr>
            </a:lvl3pPr>
            <a:lvl4pPr marL="1774782" indent="-253540"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281862" indent="-253540"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788943" indent="-25354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3296023" indent="-25354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803104" indent="-25354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4310184" indent="-25354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B83044E6-3EFA-4048-88CE-31BCDD09DDD3}" type="slidenum">
              <a:rPr lang="en-US" smtClean="0">
                <a:solidFill>
                  <a:schemeClr val="accent2"/>
                </a:solidFill>
              </a:rPr>
              <a:pPr/>
              <a:t>16</a:t>
            </a:fld>
            <a:endParaRPr lang="en-US">
              <a:solidFill>
                <a:schemeClr val="accent2"/>
              </a:solidFill>
            </a:endParaRPr>
          </a:p>
        </p:txBody>
      </p:sp>
      <p:sp>
        <p:nvSpPr>
          <p:cNvPr id="27653" name="Rectangle 2"/>
          <p:cNvSpPr>
            <a:spLocks noGrp="1" noChangeArrowheads="1"/>
          </p:cNvSpPr>
          <p:nvPr>
            <p:ph type="title"/>
          </p:nvPr>
        </p:nvSpPr>
        <p:spPr>
          <a:xfrm>
            <a:off x="761405" y="806227"/>
            <a:ext cx="8629254" cy="759619"/>
          </a:xfrm>
        </p:spPr>
        <p:txBody>
          <a:bodyPr/>
          <a:lstStyle/>
          <a:p>
            <a:r>
              <a:rPr lang="en-US" dirty="0"/>
              <a:t>Physical Organization Methods</a:t>
            </a:r>
          </a:p>
        </p:txBody>
      </p:sp>
      <p:sp>
        <p:nvSpPr>
          <p:cNvPr id="2765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61405" y="1639077"/>
            <a:ext cx="8629254" cy="3207279"/>
          </a:xfrm>
        </p:spPr>
        <p:txBody>
          <a:bodyPr/>
          <a:lstStyle/>
          <a:p>
            <a:r>
              <a:rPr lang="en-US" sz="3100" dirty="0"/>
              <a:t>Contiguous organization</a:t>
            </a:r>
            <a:endParaRPr lang="en-US" sz="2000" i="1" dirty="0"/>
          </a:p>
          <a:p>
            <a:pPr lvl="1"/>
            <a:r>
              <a:rPr lang="en-US" sz="2700" dirty="0"/>
              <a:t>Simple implementation</a:t>
            </a:r>
          </a:p>
          <a:p>
            <a:pPr lvl="1"/>
            <a:r>
              <a:rPr lang="en-US" sz="2700" dirty="0"/>
              <a:t>Fast sequential access (minimal arm movement)</a:t>
            </a:r>
          </a:p>
          <a:p>
            <a:pPr lvl="1"/>
            <a:r>
              <a:rPr lang="en-US" sz="2700" dirty="0"/>
              <a:t>Insert/delete is difficult</a:t>
            </a:r>
          </a:p>
          <a:p>
            <a:pPr lvl="1"/>
            <a:r>
              <a:rPr lang="en-US" sz="2700" dirty="0"/>
              <a:t>How much space to allocate initially</a:t>
            </a:r>
          </a:p>
          <a:p>
            <a:pPr lvl="1"/>
            <a:r>
              <a:rPr lang="en-US" sz="2700" dirty="0"/>
              <a:t>External fragmentation</a:t>
            </a:r>
          </a:p>
          <a:p>
            <a:pPr lvl="1"/>
            <a:endParaRPr lang="en-US" sz="3500" dirty="0"/>
          </a:p>
        </p:txBody>
      </p:sp>
      <p:pic>
        <p:nvPicPr>
          <p:cNvPr id="27655" name="Picture 5" descr="10-12a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95729" y="5048570"/>
            <a:ext cx="8872480" cy="1485828"/>
          </a:xfr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844370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Date Placeholder 4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Times New Roman" pitchFamily="18" charset="0"/>
              </a:defRPr>
            </a:lvl1pPr>
            <a:lvl2pPr marL="824006" indent="-316925">
              <a:defRPr>
                <a:solidFill>
                  <a:schemeClr val="tx1"/>
                </a:solidFill>
                <a:latin typeface="Times New Roman" pitchFamily="18" charset="0"/>
              </a:defRPr>
            </a:lvl2pPr>
            <a:lvl3pPr marL="1267701" indent="-253540">
              <a:defRPr>
                <a:solidFill>
                  <a:schemeClr val="tx1"/>
                </a:solidFill>
                <a:latin typeface="Times New Roman" pitchFamily="18" charset="0"/>
              </a:defRPr>
            </a:lvl3pPr>
            <a:lvl4pPr marL="1774782" indent="-253540"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281862" indent="-253540"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788943" indent="-25354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3296023" indent="-25354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803104" indent="-25354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4310184" indent="-25354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>
                <a:solidFill>
                  <a:schemeClr val="accent2"/>
                </a:solidFill>
              </a:rPr>
              <a:t>Operating Systems</a:t>
            </a:r>
          </a:p>
        </p:txBody>
      </p:sp>
      <p:sp>
        <p:nvSpPr>
          <p:cNvPr id="28676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Times New Roman" pitchFamily="18" charset="0"/>
              </a:defRPr>
            </a:lvl1pPr>
            <a:lvl2pPr marL="824006" indent="-316925">
              <a:defRPr>
                <a:solidFill>
                  <a:schemeClr val="tx1"/>
                </a:solidFill>
                <a:latin typeface="Times New Roman" pitchFamily="18" charset="0"/>
              </a:defRPr>
            </a:lvl2pPr>
            <a:lvl3pPr marL="1267701" indent="-253540">
              <a:defRPr>
                <a:solidFill>
                  <a:schemeClr val="tx1"/>
                </a:solidFill>
                <a:latin typeface="Times New Roman" pitchFamily="18" charset="0"/>
              </a:defRPr>
            </a:lvl3pPr>
            <a:lvl4pPr marL="1774782" indent="-253540"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281862" indent="-253540"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788943" indent="-25354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3296023" indent="-25354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803104" indent="-25354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4310184" indent="-25354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D6C3E450-FF5F-44D0-9257-6C6C69736655}" type="slidenum">
              <a:rPr lang="en-US" smtClean="0">
                <a:solidFill>
                  <a:schemeClr val="accent2"/>
                </a:solidFill>
              </a:rPr>
              <a:pPr/>
              <a:t>17</a:t>
            </a:fld>
            <a:endParaRPr lang="en-US">
              <a:solidFill>
                <a:schemeClr val="accent2"/>
              </a:solidFill>
            </a:endParaRPr>
          </a:p>
        </p:txBody>
      </p:sp>
      <p:sp>
        <p:nvSpPr>
          <p:cNvPr id="28677" name="Rectangle 2"/>
          <p:cNvSpPr>
            <a:spLocks noGrp="1" noChangeArrowheads="1"/>
          </p:cNvSpPr>
          <p:nvPr>
            <p:ph type="title"/>
          </p:nvPr>
        </p:nvSpPr>
        <p:spPr>
          <a:xfrm>
            <a:off x="761405" y="881814"/>
            <a:ext cx="8629254" cy="759619"/>
          </a:xfrm>
        </p:spPr>
        <p:txBody>
          <a:bodyPr/>
          <a:lstStyle/>
          <a:p>
            <a:r>
              <a:rPr lang="en-US"/>
              <a:t>Physical Organization Methods</a:t>
            </a:r>
          </a:p>
        </p:txBody>
      </p:sp>
      <p:sp>
        <p:nvSpPr>
          <p:cNvPr id="2867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76804" y="1725835"/>
            <a:ext cx="8883055" cy="2785269"/>
          </a:xfrm>
        </p:spPr>
        <p:txBody>
          <a:bodyPr/>
          <a:lstStyle/>
          <a:p>
            <a:r>
              <a:rPr lang="en-US" sz="3100" dirty="0"/>
              <a:t>Linked Organization</a:t>
            </a:r>
            <a:endParaRPr lang="en-US" sz="2000" i="1" dirty="0"/>
          </a:p>
          <a:p>
            <a:pPr lvl="1"/>
            <a:r>
              <a:rPr lang="en-US" sz="2700" dirty="0"/>
              <a:t>Simple insert/delete, no external fragmentation</a:t>
            </a:r>
          </a:p>
          <a:p>
            <a:pPr lvl="1"/>
            <a:r>
              <a:rPr lang="en-US" sz="2700" dirty="0"/>
              <a:t>Sequential access less efficient (seek latency)</a:t>
            </a:r>
          </a:p>
          <a:p>
            <a:pPr lvl="1"/>
            <a:r>
              <a:rPr lang="en-US" sz="2700" dirty="0"/>
              <a:t>Direct access not possible</a:t>
            </a:r>
          </a:p>
          <a:p>
            <a:pPr lvl="1"/>
            <a:r>
              <a:rPr lang="en-US" sz="2700" dirty="0"/>
              <a:t>Poor reliability (when chain breaks)</a:t>
            </a:r>
          </a:p>
        </p:txBody>
      </p:sp>
      <p:pic>
        <p:nvPicPr>
          <p:cNvPr id="28679" name="Picture 6" descr="10-12b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1405" y="4933115"/>
            <a:ext cx="9131570" cy="1097227"/>
          </a:xfr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597983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charset="0"/>
              </a:rPr>
              <a:t>Linked List Allocation - FAT</a:t>
            </a:r>
          </a:p>
        </p:txBody>
      </p:sp>
      <p:pic>
        <p:nvPicPr>
          <p:cNvPr id="37890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" y="1925638"/>
            <a:ext cx="10152063" cy="5148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352172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 New Roman" charset="0"/>
              </a:rPr>
              <a:t>MSDOS File System Layout</a:t>
            </a:r>
          </a:p>
        </p:txBody>
      </p:sp>
      <p:pic>
        <p:nvPicPr>
          <p:cNvPr id="38914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1854200"/>
            <a:ext cx="9540875" cy="5162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92688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 New Roman" charset="0"/>
              </a:rPr>
              <a:t>DOS Directory</a:t>
            </a:r>
          </a:p>
        </p:txBody>
      </p:sp>
      <p:pic>
        <p:nvPicPr>
          <p:cNvPr id="39938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1844675"/>
            <a:ext cx="9685338" cy="533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362354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 New Roman" charset="0"/>
              </a:rPr>
              <a:t>FAT Organization</a:t>
            </a:r>
          </a:p>
        </p:txBody>
      </p:sp>
      <p:pic>
        <p:nvPicPr>
          <p:cNvPr id="4096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1847850"/>
            <a:ext cx="9685337" cy="540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748110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 New Roman" charset="0"/>
              </a:rPr>
              <a:t>FAT Organization</a:t>
            </a:r>
          </a:p>
        </p:txBody>
      </p:sp>
      <p:pic>
        <p:nvPicPr>
          <p:cNvPr id="41986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" y="1901825"/>
            <a:ext cx="10152063" cy="5064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108753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 New Roman" charset="0"/>
              </a:rPr>
              <a:t>MSDOS: Deleting a File</a:t>
            </a:r>
          </a:p>
        </p:txBody>
      </p:sp>
      <p:pic>
        <p:nvPicPr>
          <p:cNvPr id="43010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3338" y="1998663"/>
            <a:ext cx="10152063" cy="4811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376935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 New Roman" charset="0"/>
              </a:rPr>
              <a:t>FAT16 Cluster Size</a:t>
            </a:r>
          </a:p>
        </p:txBody>
      </p:sp>
      <p:pic>
        <p:nvPicPr>
          <p:cNvPr id="44034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1854200"/>
            <a:ext cx="9544050" cy="5284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457046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 New Roman" charset="0"/>
              </a:rPr>
              <a:t>FAT32</a:t>
            </a:r>
          </a:p>
        </p:txBody>
      </p:sp>
      <p:pic>
        <p:nvPicPr>
          <p:cNvPr id="4608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75" y="1806575"/>
            <a:ext cx="10152063" cy="559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587232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Date Placeholder 4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Times New Roman" pitchFamily="18" charset="0"/>
              </a:defRPr>
            </a:lvl1pPr>
            <a:lvl2pPr marL="824006" indent="-316925">
              <a:defRPr>
                <a:solidFill>
                  <a:schemeClr val="tx1"/>
                </a:solidFill>
                <a:latin typeface="Times New Roman" pitchFamily="18" charset="0"/>
              </a:defRPr>
            </a:lvl2pPr>
            <a:lvl3pPr marL="1267701" indent="-253540">
              <a:defRPr>
                <a:solidFill>
                  <a:schemeClr val="tx1"/>
                </a:solidFill>
                <a:latin typeface="Times New Roman" pitchFamily="18" charset="0"/>
              </a:defRPr>
            </a:lvl3pPr>
            <a:lvl4pPr marL="1774782" indent="-253540"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281862" indent="-253540"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788943" indent="-25354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3296023" indent="-25354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803104" indent="-25354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4310184" indent="-25354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>
                <a:solidFill>
                  <a:schemeClr val="accent2"/>
                </a:solidFill>
              </a:rPr>
              <a:t>Operating Systems</a:t>
            </a:r>
          </a:p>
        </p:txBody>
      </p:sp>
      <p:sp>
        <p:nvSpPr>
          <p:cNvPr id="30724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Times New Roman" pitchFamily="18" charset="0"/>
              </a:defRPr>
            </a:lvl1pPr>
            <a:lvl2pPr marL="824006" indent="-316925">
              <a:defRPr>
                <a:solidFill>
                  <a:schemeClr val="tx1"/>
                </a:solidFill>
                <a:latin typeface="Times New Roman" pitchFamily="18" charset="0"/>
              </a:defRPr>
            </a:lvl2pPr>
            <a:lvl3pPr marL="1267701" indent="-253540">
              <a:defRPr>
                <a:solidFill>
                  <a:schemeClr val="tx1"/>
                </a:solidFill>
                <a:latin typeface="Times New Roman" pitchFamily="18" charset="0"/>
              </a:defRPr>
            </a:lvl3pPr>
            <a:lvl4pPr marL="1774782" indent="-253540"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281862" indent="-253540"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788943" indent="-25354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3296023" indent="-25354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803104" indent="-25354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4310184" indent="-25354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15810E9D-241E-4D64-878D-FE65B6C76C13}" type="slidenum">
              <a:rPr lang="en-US" smtClean="0">
                <a:solidFill>
                  <a:schemeClr val="accent2"/>
                </a:solidFill>
              </a:rPr>
              <a:pPr/>
              <a:t>26</a:t>
            </a:fld>
            <a:endParaRPr lang="en-US">
              <a:solidFill>
                <a:schemeClr val="accent2"/>
              </a:solidFill>
            </a:endParaRPr>
          </a:p>
        </p:txBody>
      </p:sp>
      <p:sp>
        <p:nvSpPr>
          <p:cNvPr id="30725" name="Rectangle 2"/>
          <p:cNvSpPr>
            <a:spLocks noGrp="1" noChangeArrowheads="1"/>
          </p:cNvSpPr>
          <p:nvPr>
            <p:ph type="title"/>
          </p:nvPr>
        </p:nvSpPr>
        <p:spPr>
          <a:xfrm>
            <a:off x="761405" y="646327"/>
            <a:ext cx="8629254" cy="759619"/>
          </a:xfrm>
        </p:spPr>
        <p:txBody>
          <a:bodyPr/>
          <a:lstStyle/>
          <a:p>
            <a:r>
              <a:rPr lang="en-US" dirty="0"/>
              <a:t>Physical Organization Methods</a:t>
            </a:r>
          </a:p>
        </p:txBody>
      </p:sp>
      <p:sp>
        <p:nvSpPr>
          <p:cNvPr id="3072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23002" y="1490348"/>
            <a:ext cx="8967656" cy="5908146"/>
          </a:xfrm>
        </p:spPr>
        <p:txBody>
          <a:bodyPr/>
          <a:lstStyle/>
          <a:p>
            <a:r>
              <a:rPr lang="en-US" sz="2700" dirty="0"/>
              <a:t>Indexed Organization</a:t>
            </a:r>
          </a:p>
          <a:p>
            <a:pPr lvl="1"/>
            <a:r>
              <a:rPr lang="en-US" sz="2700" dirty="0"/>
              <a:t>Index table: sequential list of records</a:t>
            </a:r>
          </a:p>
          <a:p>
            <a:pPr lvl="1"/>
            <a:r>
              <a:rPr lang="en-US" sz="2700" dirty="0"/>
              <a:t>Simplest implementation: keep index list in descriptor </a:t>
            </a:r>
            <a:br>
              <a:rPr lang="en-US" sz="2700" dirty="0"/>
            </a:br>
            <a:br>
              <a:rPr lang="en-US" sz="2700" dirty="0"/>
            </a:br>
            <a:br>
              <a:rPr lang="en-US" sz="2700" dirty="0"/>
            </a:br>
            <a:br>
              <a:rPr lang="en-US" sz="2700" dirty="0"/>
            </a:br>
            <a:br>
              <a:rPr lang="en-US" sz="2700" dirty="0"/>
            </a:br>
            <a:endParaRPr lang="en-US" sz="2700" i="1" dirty="0"/>
          </a:p>
          <a:p>
            <a:pPr lvl="1"/>
            <a:endParaRPr lang="en-US" sz="2700" dirty="0"/>
          </a:p>
          <a:p>
            <a:pPr lvl="1"/>
            <a:r>
              <a:rPr lang="en-US" sz="2700" dirty="0"/>
              <a:t>Insert/delete is easy</a:t>
            </a:r>
          </a:p>
          <a:p>
            <a:pPr lvl="1"/>
            <a:r>
              <a:rPr lang="en-US" sz="2700" dirty="0"/>
              <a:t>Sequential and direct access is efficient</a:t>
            </a:r>
          </a:p>
          <a:p>
            <a:pPr lvl="1"/>
            <a:r>
              <a:rPr lang="en-US" sz="2700" dirty="0"/>
              <a:t>Drawback: file size limited by number of index entries</a:t>
            </a:r>
          </a:p>
        </p:txBody>
      </p:sp>
      <p:pic>
        <p:nvPicPr>
          <p:cNvPr id="30727" name="Picture 5" descr="10-12e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89307" y="3424563"/>
            <a:ext cx="9405265" cy="1863879"/>
          </a:xfr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949584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Times New Roman" pitchFamily="18" charset="0"/>
              </a:defRPr>
            </a:lvl1pPr>
            <a:lvl2pPr marL="824006" indent="-316925">
              <a:defRPr>
                <a:solidFill>
                  <a:schemeClr val="tx1"/>
                </a:solidFill>
                <a:latin typeface="Times New Roman" pitchFamily="18" charset="0"/>
              </a:defRPr>
            </a:lvl2pPr>
            <a:lvl3pPr marL="1267701" indent="-253540">
              <a:defRPr>
                <a:solidFill>
                  <a:schemeClr val="tx1"/>
                </a:solidFill>
                <a:latin typeface="Times New Roman" pitchFamily="18" charset="0"/>
              </a:defRPr>
            </a:lvl3pPr>
            <a:lvl4pPr marL="1774782" indent="-253540"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281862" indent="-253540"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788943" indent="-25354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3296023" indent="-25354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803104" indent="-25354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4310184" indent="-25354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>
                <a:solidFill>
                  <a:schemeClr val="accent2"/>
                </a:solidFill>
              </a:rPr>
              <a:t>Operating Systems</a:t>
            </a:r>
          </a:p>
        </p:txBody>
      </p:sp>
      <p:sp>
        <p:nvSpPr>
          <p:cNvPr id="31748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7275645" y="7174178"/>
            <a:ext cx="2115013" cy="422010"/>
          </a:xfrm>
          <a:prstGeom prst="rect">
            <a:avLst/>
          </a:prstGeom>
          <a:noFill/>
        </p:spPr>
        <p:txBody>
          <a:bodyPr lIns="101416" tIns="50708" rIns="101416" bIns="50708"/>
          <a:lstStyle>
            <a:lvl1pPr>
              <a:defRPr>
                <a:solidFill>
                  <a:schemeClr val="tx1"/>
                </a:solidFill>
                <a:latin typeface="Times New Roman" pitchFamily="18" charset="0"/>
              </a:defRPr>
            </a:lvl1pPr>
            <a:lvl2pPr marL="824006" indent="-316925">
              <a:defRPr>
                <a:solidFill>
                  <a:schemeClr val="tx1"/>
                </a:solidFill>
                <a:latin typeface="Times New Roman" pitchFamily="18" charset="0"/>
              </a:defRPr>
            </a:lvl2pPr>
            <a:lvl3pPr marL="1267701" indent="-253540">
              <a:defRPr>
                <a:solidFill>
                  <a:schemeClr val="tx1"/>
                </a:solidFill>
                <a:latin typeface="Times New Roman" pitchFamily="18" charset="0"/>
              </a:defRPr>
            </a:lvl3pPr>
            <a:lvl4pPr marL="1774782" indent="-253540"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281862" indent="-253540"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788943" indent="-25354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3296023" indent="-25354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803104" indent="-25354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4310184" indent="-25354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85629B6F-0475-4D38-BB7D-CE739662DAB2}" type="slidenum">
              <a:rPr lang="en-US" smtClean="0">
                <a:solidFill>
                  <a:schemeClr val="accent2"/>
                </a:solidFill>
              </a:rPr>
              <a:pPr/>
              <a:t>27</a:t>
            </a:fld>
            <a:endParaRPr lang="en-US">
              <a:solidFill>
                <a:schemeClr val="accent2"/>
              </a:solidFill>
            </a:endParaRPr>
          </a:p>
        </p:txBody>
      </p:sp>
      <p:sp>
        <p:nvSpPr>
          <p:cNvPr id="317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Physical Organization Methods</a:t>
            </a:r>
          </a:p>
        </p:txBody>
      </p:sp>
      <p:sp>
        <p:nvSpPr>
          <p:cNvPr id="317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92203" y="1951897"/>
            <a:ext cx="8798455" cy="4726517"/>
          </a:xfrm>
        </p:spPr>
        <p:txBody>
          <a:bodyPr/>
          <a:lstStyle/>
          <a:p>
            <a:pPr>
              <a:spcBef>
                <a:spcPts val="665"/>
              </a:spcBef>
            </a:pPr>
            <a:r>
              <a:rPr lang="en-US" sz="2700" dirty="0"/>
              <a:t>Variations of indexing</a:t>
            </a:r>
          </a:p>
          <a:p>
            <a:pPr lvl="1">
              <a:spcBef>
                <a:spcPts val="1331"/>
              </a:spcBef>
            </a:pPr>
            <a:r>
              <a:rPr lang="en-US" sz="2700" b="1" dirty="0"/>
              <a:t>Multi-level</a:t>
            </a:r>
            <a:r>
              <a:rPr lang="en-US" sz="2700" dirty="0"/>
              <a:t> index hierarchy</a:t>
            </a:r>
          </a:p>
          <a:p>
            <a:pPr lvl="2">
              <a:spcBef>
                <a:spcPts val="665"/>
              </a:spcBef>
            </a:pPr>
            <a:r>
              <a:rPr lang="en-US" dirty="0"/>
              <a:t>Primary index points to secondary indices</a:t>
            </a:r>
          </a:p>
          <a:p>
            <a:pPr lvl="2">
              <a:spcBef>
                <a:spcPts val="665"/>
              </a:spcBef>
            </a:pPr>
            <a:r>
              <a:rPr lang="en-US" dirty="0"/>
              <a:t>Problem: number of disk accesses increases with depth of hierarchy</a:t>
            </a:r>
          </a:p>
          <a:p>
            <a:pPr lvl="1">
              <a:spcBef>
                <a:spcPts val="1331"/>
              </a:spcBef>
            </a:pPr>
            <a:r>
              <a:rPr lang="en-US" sz="2700" b="1" dirty="0"/>
              <a:t>Incremental</a:t>
            </a:r>
            <a:r>
              <a:rPr lang="en-US" sz="2700" dirty="0"/>
              <a:t> indexing</a:t>
            </a:r>
          </a:p>
          <a:p>
            <a:pPr lvl="2">
              <a:spcBef>
                <a:spcPts val="665"/>
              </a:spcBef>
            </a:pPr>
            <a:r>
              <a:rPr lang="en-US" dirty="0"/>
              <a:t>Fixed number of entries at top-level index</a:t>
            </a:r>
          </a:p>
          <a:p>
            <a:pPr lvl="2">
              <a:spcBef>
                <a:spcPts val="665"/>
              </a:spcBef>
            </a:pPr>
            <a:r>
              <a:rPr lang="en-US" dirty="0"/>
              <a:t>When insufficient, allocate additional index levels </a:t>
            </a:r>
          </a:p>
          <a:p>
            <a:pPr lvl="2">
              <a:spcBef>
                <a:spcPts val="665"/>
              </a:spcBef>
            </a:pPr>
            <a:r>
              <a:rPr lang="en-US" dirty="0"/>
              <a:t>Example: Unix, 3-level expansion (see next slide)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8991056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95F04-6C24-87DE-297C-9859438D7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9B703A-A2EE-D651-D986-56B0D2C1CB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5017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 New Roman" charset="0"/>
              </a:rPr>
              <a:t>UNIX File Systems</a:t>
            </a:r>
          </a:p>
        </p:txBody>
      </p:sp>
      <p:pic>
        <p:nvPicPr>
          <p:cNvPr id="49154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3" y="1998663"/>
            <a:ext cx="10152062" cy="5319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378777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 New Roman" charset="0"/>
              </a:rPr>
              <a:t>s5fs: Inodes</a:t>
            </a:r>
          </a:p>
        </p:txBody>
      </p:sp>
      <p:pic>
        <p:nvPicPr>
          <p:cNvPr id="50178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288" y="1854200"/>
            <a:ext cx="9629775" cy="5437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2232064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Date Placeholder 4"/>
          <p:cNvSpPr>
            <a:spLocks noGrp="1"/>
          </p:cNvSpPr>
          <p:nvPr>
            <p:ph type="dt" sz="quarter" idx="10"/>
          </p:nvPr>
        </p:nvSpPr>
        <p:spPr>
          <a:xfrm>
            <a:off x="611188" y="7540153"/>
            <a:ext cx="2114550" cy="506413"/>
          </a:xfrm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Times New Roman" pitchFamily="18" charset="0"/>
              </a:defRPr>
            </a:lvl1pPr>
            <a:lvl2pPr marL="824006" indent="-316925">
              <a:defRPr>
                <a:solidFill>
                  <a:schemeClr val="tx1"/>
                </a:solidFill>
                <a:latin typeface="Times New Roman" pitchFamily="18" charset="0"/>
              </a:defRPr>
            </a:lvl2pPr>
            <a:lvl3pPr marL="1267701" indent="-253540">
              <a:defRPr>
                <a:solidFill>
                  <a:schemeClr val="tx1"/>
                </a:solidFill>
                <a:latin typeface="Times New Roman" pitchFamily="18" charset="0"/>
              </a:defRPr>
            </a:lvl3pPr>
            <a:lvl4pPr marL="1774782" indent="-253540"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281862" indent="-253540"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788943" indent="-25354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3296023" indent="-25354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803104" indent="-25354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4310184" indent="-25354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>
                <a:solidFill>
                  <a:schemeClr val="accent2"/>
                </a:solidFill>
              </a:rPr>
              <a:t>Operating Systems</a:t>
            </a:r>
          </a:p>
        </p:txBody>
      </p:sp>
      <p:sp>
        <p:nvSpPr>
          <p:cNvPr id="32772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96200" y="7540153"/>
            <a:ext cx="2114550" cy="506413"/>
          </a:xfrm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Times New Roman" pitchFamily="18" charset="0"/>
              </a:defRPr>
            </a:lvl1pPr>
            <a:lvl2pPr marL="824006" indent="-316925">
              <a:defRPr>
                <a:solidFill>
                  <a:schemeClr val="tx1"/>
                </a:solidFill>
                <a:latin typeface="Times New Roman" pitchFamily="18" charset="0"/>
              </a:defRPr>
            </a:lvl2pPr>
            <a:lvl3pPr marL="1267701" indent="-253540">
              <a:defRPr>
                <a:solidFill>
                  <a:schemeClr val="tx1"/>
                </a:solidFill>
                <a:latin typeface="Times New Roman" pitchFamily="18" charset="0"/>
              </a:defRPr>
            </a:lvl3pPr>
            <a:lvl4pPr marL="1774782" indent="-253540"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281862" indent="-253540"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788943" indent="-25354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3296023" indent="-25354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803104" indent="-25354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4310184" indent="-25354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B6C5791D-2C8B-4504-9207-661A422ADE28}" type="slidenum">
              <a:rPr lang="en-US" smtClean="0">
                <a:solidFill>
                  <a:schemeClr val="accent2"/>
                </a:solidFill>
              </a:rPr>
              <a:pPr/>
              <a:t>31</a:t>
            </a:fld>
            <a:endParaRPr lang="en-US">
              <a:solidFill>
                <a:schemeClr val="accent2"/>
              </a:solidFill>
            </a:endParaRPr>
          </a:p>
        </p:txBody>
      </p:sp>
      <p:sp>
        <p:nvSpPr>
          <p:cNvPr id="32773" name="Rectangle 2"/>
          <p:cNvSpPr>
            <a:spLocks noGrp="1" noChangeArrowheads="1"/>
          </p:cNvSpPr>
          <p:nvPr>
            <p:ph type="title"/>
          </p:nvPr>
        </p:nvSpPr>
        <p:spPr>
          <a:xfrm>
            <a:off x="761405" y="692207"/>
            <a:ext cx="8629254" cy="759619"/>
          </a:xfrm>
        </p:spPr>
        <p:txBody>
          <a:bodyPr/>
          <a:lstStyle/>
          <a:p>
            <a:r>
              <a:rPr lang="en-US" dirty="0"/>
              <a:t>Unix Table of Contents (TOC)</a:t>
            </a:r>
          </a:p>
        </p:txBody>
      </p:sp>
      <p:pic>
        <p:nvPicPr>
          <p:cNvPr id="32775" name="Picture 5" descr="10-13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55551" y="1536229"/>
            <a:ext cx="5796467" cy="5662396"/>
          </a:xfr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277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737630" y="1705032"/>
            <a:ext cx="4906830" cy="2532063"/>
          </a:xfrm>
        </p:spPr>
        <p:txBody>
          <a:bodyPr/>
          <a:lstStyle/>
          <a:p>
            <a:r>
              <a:rPr lang="en-US" sz="2700" dirty="0"/>
              <a:t>Incremental indexing in Unix</a:t>
            </a:r>
          </a:p>
          <a:p>
            <a:pPr lvl="1">
              <a:spcBef>
                <a:spcPts val="0"/>
              </a:spcBef>
            </a:pPr>
            <a:r>
              <a:rPr lang="en-US" sz="2700" b="1" dirty="0"/>
              <a:t>file size vs. speed of access</a:t>
            </a:r>
          </a:p>
          <a:p>
            <a:pPr lvl="1">
              <a:spcBef>
                <a:spcPts val="0"/>
              </a:spcBef>
            </a:pPr>
            <a:r>
              <a:rPr lang="en-US" sz="2700" dirty="0"/>
              <a:t>blocks 0-9: 1 access (direct)</a:t>
            </a:r>
          </a:p>
          <a:p>
            <a:pPr lvl="1">
              <a:spcBef>
                <a:spcPts val="0"/>
              </a:spcBef>
            </a:pPr>
            <a:r>
              <a:rPr lang="en-US" sz="2700" dirty="0"/>
              <a:t>blocks 10-137: 2 accesses</a:t>
            </a:r>
          </a:p>
          <a:p>
            <a:pPr lvl="1">
              <a:spcBef>
                <a:spcPts val="0"/>
              </a:spcBef>
            </a:pPr>
            <a:r>
              <a:rPr lang="en-US" sz="2700" dirty="0"/>
              <a:t>blocks 138-16521: 3 acc.</a:t>
            </a:r>
          </a:p>
          <a:p>
            <a:pPr lvl="1">
              <a:spcBef>
                <a:spcPts val="0"/>
              </a:spcBef>
            </a:pPr>
            <a:r>
              <a:rPr lang="en-US" sz="2700" dirty="0"/>
              <a:t>etc.</a:t>
            </a:r>
          </a:p>
        </p:txBody>
      </p:sp>
    </p:spTree>
    <p:extLst>
      <p:ext uri="{BB962C8B-B14F-4D97-AF65-F5344CB8AC3E}">
        <p14:creationId xmlns:p14="http://schemas.microsoft.com/office/powerpoint/2010/main" val="12804435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 New Roman" charset="0"/>
              </a:rPr>
              <a:t>s5fs: TOC Index Blocks</a:t>
            </a:r>
          </a:p>
        </p:txBody>
      </p:sp>
      <p:pic>
        <p:nvPicPr>
          <p:cNvPr id="52226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263" y="1849438"/>
            <a:ext cx="9540875" cy="526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066846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 New Roman" charset="0"/>
              </a:rPr>
              <a:t>s5fs: Directories</a:t>
            </a:r>
          </a:p>
        </p:txBody>
      </p:sp>
      <p:pic>
        <p:nvPicPr>
          <p:cNvPr id="55298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525" y="1781175"/>
            <a:ext cx="9836150" cy="546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851977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Times New Roman" pitchFamily="18" charset="0"/>
              </a:defRPr>
            </a:lvl1pPr>
            <a:lvl2pPr marL="824006" indent="-316925">
              <a:defRPr>
                <a:solidFill>
                  <a:schemeClr val="tx1"/>
                </a:solidFill>
                <a:latin typeface="Times New Roman" pitchFamily="18" charset="0"/>
              </a:defRPr>
            </a:lvl2pPr>
            <a:lvl3pPr marL="1267701" indent="-253540">
              <a:defRPr>
                <a:solidFill>
                  <a:schemeClr val="tx1"/>
                </a:solidFill>
                <a:latin typeface="Times New Roman" pitchFamily="18" charset="0"/>
              </a:defRPr>
            </a:lvl3pPr>
            <a:lvl4pPr marL="1774782" indent="-253540"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281862" indent="-253540"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788943" indent="-25354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3296023" indent="-25354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803104" indent="-25354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4310184" indent="-25354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>
                <a:solidFill>
                  <a:schemeClr val="accent2"/>
                </a:solidFill>
              </a:rPr>
              <a:t>Operating Systems</a:t>
            </a:r>
          </a:p>
        </p:txBody>
      </p:sp>
      <p:sp>
        <p:nvSpPr>
          <p:cNvPr id="3379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7275645" y="7174178"/>
            <a:ext cx="2115013" cy="422010"/>
          </a:xfrm>
          <a:prstGeom prst="rect">
            <a:avLst/>
          </a:prstGeom>
          <a:noFill/>
        </p:spPr>
        <p:txBody>
          <a:bodyPr lIns="101416" tIns="50708" rIns="101416" bIns="50708"/>
          <a:lstStyle>
            <a:lvl1pPr>
              <a:defRPr>
                <a:solidFill>
                  <a:schemeClr val="tx1"/>
                </a:solidFill>
                <a:latin typeface="Times New Roman" pitchFamily="18" charset="0"/>
              </a:defRPr>
            </a:lvl1pPr>
            <a:lvl2pPr marL="824006" indent="-316925">
              <a:defRPr>
                <a:solidFill>
                  <a:schemeClr val="tx1"/>
                </a:solidFill>
                <a:latin typeface="Times New Roman" pitchFamily="18" charset="0"/>
              </a:defRPr>
            </a:lvl2pPr>
            <a:lvl3pPr marL="1267701" indent="-253540">
              <a:defRPr>
                <a:solidFill>
                  <a:schemeClr val="tx1"/>
                </a:solidFill>
                <a:latin typeface="Times New Roman" pitchFamily="18" charset="0"/>
              </a:defRPr>
            </a:lvl3pPr>
            <a:lvl4pPr marL="1774782" indent="-253540"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281862" indent="-253540"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788943" indent="-25354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3296023" indent="-25354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803104" indent="-25354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4310184" indent="-25354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CBF45DCB-8170-4BE1-B077-AED4E83F24F9}" type="slidenum">
              <a:rPr lang="en-US" smtClean="0">
                <a:solidFill>
                  <a:schemeClr val="accent2"/>
                </a:solidFill>
              </a:rPr>
              <a:pPr/>
              <a:t>34</a:t>
            </a:fld>
            <a:endParaRPr lang="en-US">
              <a:solidFill>
                <a:schemeClr val="accent2"/>
              </a:solidFill>
            </a:endParaRPr>
          </a:p>
        </p:txBody>
      </p:sp>
      <p:sp>
        <p:nvSpPr>
          <p:cNvPr id="337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Free Storage Space Management</a:t>
            </a:r>
          </a:p>
        </p:txBody>
      </p:sp>
      <p:sp>
        <p:nvSpPr>
          <p:cNvPr id="3379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1405" y="2021548"/>
            <a:ext cx="8629254" cy="5232930"/>
          </a:xfrm>
        </p:spPr>
        <p:txBody>
          <a:bodyPr/>
          <a:lstStyle/>
          <a:p>
            <a:pPr>
              <a:spcBef>
                <a:spcPts val="665"/>
              </a:spcBef>
            </a:pPr>
            <a:r>
              <a:rPr lang="en-US" sz="2700" dirty="0"/>
              <a:t>Similar to main memory management</a:t>
            </a:r>
          </a:p>
          <a:p>
            <a:pPr>
              <a:spcBef>
                <a:spcPts val="665"/>
              </a:spcBef>
            </a:pPr>
            <a:r>
              <a:rPr lang="en-US" sz="2700" dirty="0"/>
              <a:t>Linked list organization</a:t>
            </a:r>
          </a:p>
          <a:p>
            <a:pPr lvl="1">
              <a:spcBef>
                <a:spcPts val="665"/>
              </a:spcBef>
            </a:pPr>
            <a:r>
              <a:rPr lang="en-US" sz="2700" dirty="0"/>
              <a:t>Linking </a:t>
            </a:r>
            <a:r>
              <a:rPr lang="en-US" sz="2700" b="1" dirty="0"/>
              <a:t>individual</a:t>
            </a:r>
            <a:r>
              <a:rPr lang="en-US" sz="2700" dirty="0"/>
              <a:t> blocks -- inefficient:</a:t>
            </a:r>
          </a:p>
          <a:p>
            <a:pPr lvl="2">
              <a:spcBef>
                <a:spcPts val="665"/>
              </a:spcBef>
            </a:pPr>
            <a:r>
              <a:rPr lang="en-US" dirty="0"/>
              <a:t>no block clustering to minimize seek operations</a:t>
            </a:r>
          </a:p>
          <a:p>
            <a:pPr lvl="2">
              <a:spcBef>
                <a:spcPts val="665"/>
              </a:spcBef>
            </a:pPr>
            <a:r>
              <a:rPr lang="en-US" dirty="0"/>
              <a:t>groups of blocks are allocated/released one at a time</a:t>
            </a:r>
          </a:p>
          <a:p>
            <a:pPr lvl="1">
              <a:spcBef>
                <a:spcPts val="665"/>
              </a:spcBef>
            </a:pPr>
            <a:r>
              <a:rPr lang="en-US" sz="2700" dirty="0"/>
              <a:t>Better: Link </a:t>
            </a:r>
            <a:r>
              <a:rPr lang="en-US" sz="2700" b="1" dirty="0"/>
              <a:t>groups</a:t>
            </a:r>
            <a:r>
              <a:rPr lang="en-US" sz="2700" dirty="0"/>
              <a:t> of consecutive blocks</a:t>
            </a:r>
          </a:p>
          <a:p>
            <a:pPr>
              <a:spcBef>
                <a:spcPts val="665"/>
              </a:spcBef>
            </a:pPr>
            <a:r>
              <a:rPr lang="en-US" sz="2700" dirty="0"/>
              <a:t>Bit map organization</a:t>
            </a:r>
          </a:p>
          <a:p>
            <a:pPr lvl="1">
              <a:spcBef>
                <a:spcPts val="665"/>
              </a:spcBef>
            </a:pPr>
            <a:r>
              <a:rPr lang="en-US" sz="2700" dirty="0"/>
              <a:t>Analogous to main memory</a:t>
            </a:r>
          </a:p>
          <a:p>
            <a:pPr lvl="1">
              <a:spcBef>
                <a:spcPts val="665"/>
              </a:spcBef>
            </a:pPr>
            <a:r>
              <a:rPr lang="en-US" sz="2700" dirty="0"/>
              <a:t>A single bit per block indicates if free or occupied</a:t>
            </a:r>
          </a:p>
        </p:txBody>
      </p:sp>
    </p:spTree>
    <p:extLst>
      <p:ext uri="{BB962C8B-B14F-4D97-AF65-F5344CB8AC3E}">
        <p14:creationId xmlns:p14="http://schemas.microsoft.com/office/powerpoint/2010/main" val="1688157543"/>
      </p:ext>
    </p:extLst>
  </p:cSld>
  <p:clrMapOvr>
    <a:masterClrMapping/>
  </p:clrMapOvr>
</p:sld>
</file>

<file path=ppt/theme/theme1.xml><?xml version="1.0" encoding="utf-8"?>
<a:theme xmlns:a="http://schemas.openxmlformats.org/drawingml/2006/main" name="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11592</TotalTime>
  <Words>801</Words>
  <Application>Microsoft Office PowerPoint</Application>
  <PresentationFormat>Custom</PresentationFormat>
  <Paragraphs>163</Paragraphs>
  <Slides>34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5" baseType="lpstr">
      <vt:lpstr>Blank</vt:lpstr>
      <vt:lpstr>PowerPoint Presentation</vt:lpstr>
      <vt:lpstr>What is a File System?</vt:lpstr>
      <vt:lpstr>PowerPoint Presentation</vt:lpstr>
      <vt:lpstr>Hierarchical View of File Systems</vt:lpstr>
      <vt:lpstr>User’s View of a File</vt:lpstr>
      <vt:lpstr>Operations on Files</vt:lpstr>
      <vt:lpstr>Operations on Files</vt:lpstr>
      <vt:lpstr>Directory Management</vt:lpstr>
      <vt:lpstr>File Directories</vt:lpstr>
      <vt:lpstr>File Directories</vt:lpstr>
      <vt:lpstr>Operations on File Directories</vt:lpstr>
      <vt:lpstr>Implementation of Directories</vt:lpstr>
      <vt:lpstr>Organizing Data on a Disk</vt:lpstr>
      <vt:lpstr>Organizing Files</vt:lpstr>
      <vt:lpstr>Data Structures on Disk</vt:lpstr>
      <vt:lpstr>Physical Organization Methods</vt:lpstr>
      <vt:lpstr>Physical Organization Methods</vt:lpstr>
      <vt:lpstr>Linked List Allocation - FAT</vt:lpstr>
      <vt:lpstr>MSDOS File System Layout</vt:lpstr>
      <vt:lpstr>DOS Directory</vt:lpstr>
      <vt:lpstr>FAT Organization</vt:lpstr>
      <vt:lpstr>FAT Organization</vt:lpstr>
      <vt:lpstr>MSDOS: Deleting a File</vt:lpstr>
      <vt:lpstr>FAT16 Cluster Size</vt:lpstr>
      <vt:lpstr>FAT32</vt:lpstr>
      <vt:lpstr>Physical Organization Methods</vt:lpstr>
      <vt:lpstr>Physical Organization Methods</vt:lpstr>
      <vt:lpstr>PowerPoint Presentation</vt:lpstr>
      <vt:lpstr>UNIX File Systems</vt:lpstr>
      <vt:lpstr>s5fs: Inodes</vt:lpstr>
      <vt:lpstr>Unix Table of Contents (TOC)</vt:lpstr>
      <vt:lpstr>s5fs: TOC Index Blocks</vt:lpstr>
      <vt:lpstr>s5fs: Directories</vt:lpstr>
      <vt:lpstr>Free Storage Space Management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PowerPC</dc:creator>
  <cp:lastModifiedBy>Tan Keng Yan, Colin</cp:lastModifiedBy>
  <cp:revision>398</cp:revision>
  <cp:lastPrinted>2002-11-20T02:08:40Z</cp:lastPrinted>
  <dcterms:created xsi:type="dcterms:W3CDTF">2001-10-04T11:39:11Z</dcterms:created>
  <dcterms:modified xsi:type="dcterms:W3CDTF">2025-04-08T12:13:55Z</dcterms:modified>
</cp:coreProperties>
</file>