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77" r:id="rId2"/>
    <p:sldId id="292" r:id="rId3"/>
    <p:sldId id="278" r:id="rId4"/>
    <p:sldId id="279" r:id="rId5"/>
    <p:sldId id="280" r:id="rId6"/>
    <p:sldId id="293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570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8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0F297C3-9C17-4D83-8D06-073FE7156636}" type="datetimeFigureOut">
              <a:rPr lang="en-SG" smtClean="0"/>
              <a:t>14/1/25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F20944AB-9450-45DE-8E02-6649B9843C2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7350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SG" altLang="en-US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804763" indent="-309524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238098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733337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228576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723815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3219054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714293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4209532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fld id="{82BE9358-62D1-4C72-8487-3415FE5B8C84}" type="slidenum">
              <a:rPr lang="en-US" altLang="en-US" sz="1200"/>
              <a:pPr/>
              <a:t>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177980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1" y="1"/>
            <a:ext cx="9144000" cy="4953239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4" name="Rectangle 11"/>
          <p:cNvSpPr>
            <a:spLocks noChangeArrowheads="1"/>
          </p:cNvSpPr>
          <p:nvPr userDrawn="1"/>
        </p:nvSpPr>
        <p:spPr bwMode="auto">
          <a:xfrm>
            <a:off x="1" y="6604318"/>
            <a:ext cx="9144000" cy="253682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pic>
        <p:nvPicPr>
          <p:cNvPr id="5" name="Picture 1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047" y="5198322"/>
            <a:ext cx="2317815" cy="11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49069" y="1375900"/>
            <a:ext cx="8098767" cy="1582285"/>
          </a:xfrm>
        </p:spPr>
        <p:txBody>
          <a:bodyPr/>
          <a:lstStyle>
            <a:lvl1pPr algn="ctr">
              <a:defRPr sz="4063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9948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99" y="561666"/>
            <a:ext cx="6518763" cy="11437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B421092-8A9E-4509-949B-F11F09B532FB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07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084" y="4407180"/>
            <a:ext cx="7772757" cy="1361567"/>
          </a:xfrm>
        </p:spPr>
        <p:txBody>
          <a:bodyPr anchor="t"/>
          <a:lstStyle>
            <a:lvl1pPr algn="l">
              <a:defRPr sz="2708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084" y="2906589"/>
            <a:ext cx="7772757" cy="1500591"/>
          </a:xfrm>
        </p:spPr>
        <p:txBody>
          <a:bodyPr anchor="b"/>
          <a:lstStyle>
            <a:lvl1pPr marL="0" indent="0">
              <a:buNone/>
              <a:defRPr sz="1355"/>
            </a:lvl1pPr>
            <a:lvl2pPr marL="309570" indent="0">
              <a:buNone/>
              <a:defRPr sz="1219"/>
            </a:lvl2pPr>
            <a:lvl3pPr marL="619140" indent="0">
              <a:buNone/>
              <a:defRPr sz="1083"/>
            </a:lvl3pPr>
            <a:lvl4pPr marL="928710" indent="0">
              <a:buNone/>
              <a:defRPr sz="948"/>
            </a:lvl4pPr>
            <a:lvl5pPr marL="1238281" indent="0">
              <a:buNone/>
              <a:defRPr sz="948"/>
            </a:lvl5pPr>
            <a:lvl6pPr marL="1547851" indent="0">
              <a:buNone/>
              <a:defRPr sz="948"/>
            </a:lvl6pPr>
            <a:lvl7pPr marL="1857421" indent="0">
              <a:buNone/>
              <a:defRPr sz="948"/>
            </a:lvl7pPr>
            <a:lvl8pPr marL="2166991" indent="0">
              <a:buNone/>
              <a:defRPr sz="948"/>
            </a:lvl8pPr>
            <a:lvl9pPr marL="2476561" indent="0">
              <a:buNone/>
              <a:defRPr sz="9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E3A226-6E30-4DE6-9E8C-249C8EDEBBA8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118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0501" y="1980723"/>
            <a:ext cx="3816314" cy="4243791"/>
          </a:xfrm>
        </p:spPr>
        <p:txBody>
          <a:bodyPr/>
          <a:lstStyle>
            <a:lvl1pPr>
              <a:defRPr sz="1896"/>
            </a:lvl1pPr>
            <a:lvl2pPr>
              <a:defRPr sz="1625"/>
            </a:lvl2pPr>
            <a:lvl3pPr>
              <a:defRPr sz="1355"/>
            </a:lvl3pPr>
            <a:lvl4pPr>
              <a:defRPr sz="1219"/>
            </a:lvl4pPr>
            <a:lvl5pPr>
              <a:defRPr sz="1219"/>
            </a:lvl5pPr>
            <a:lvl6pPr>
              <a:defRPr sz="1219"/>
            </a:lvl6pPr>
            <a:lvl7pPr>
              <a:defRPr sz="1219"/>
            </a:lvl7pPr>
            <a:lvl8pPr>
              <a:defRPr sz="1219"/>
            </a:lvl8pPr>
            <a:lvl9pPr>
              <a:defRPr sz="12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4082" y="1980723"/>
            <a:ext cx="3817745" cy="4243791"/>
          </a:xfrm>
        </p:spPr>
        <p:txBody>
          <a:bodyPr/>
          <a:lstStyle>
            <a:lvl1pPr>
              <a:defRPr sz="1896"/>
            </a:lvl1pPr>
            <a:lvl2pPr>
              <a:defRPr sz="1625"/>
            </a:lvl2pPr>
            <a:lvl3pPr>
              <a:defRPr sz="1355"/>
            </a:lvl3pPr>
            <a:lvl4pPr>
              <a:defRPr sz="1219"/>
            </a:lvl4pPr>
            <a:lvl5pPr>
              <a:defRPr sz="1219"/>
            </a:lvl5pPr>
            <a:lvl6pPr>
              <a:defRPr sz="1219"/>
            </a:lvl6pPr>
            <a:lvl7pPr>
              <a:defRPr sz="1219"/>
            </a:lvl7pPr>
            <a:lvl8pPr>
              <a:defRPr sz="1219"/>
            </a:lvl8pPr>
            <a:lvl9pPr>
              <a:defRPr sz="12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B8A561D-031E-4C46-8BE8-07B563279054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463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58" y="275180"/>
            <a:ext cx="8228885" cy="114228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558" y="1534989"/>
            <a:ext cx="4039375" cy="639220"/>
          </a:xfrm>
        </p:spPr>
        <p:txBody>
          <a:bodyPr anchor="b"/>
          <a:lstStyle>
            <a:lvl1pPr marL="0" indent="0">
              <a:buNone/>
              <a:defRPr sz="1625" b="1"/>
            </a:lvl1pPr>
            <a:lvl2pPr marL="309570" indent="0">
              <a:buNone/>
              <a:defRPr sz="1355" b="1"/>
            </a:lvl2pPr>
            <a:lvl3pPr marL="619140" indent="0">
              <a:buNone/>
              <a:defRPr sz="1219" b="1"/>
            </a:lvl3pPr>
            <a:lvl4pPr marL="928710" indent="0">
              <a:buNone/>
              <a:defRPr sz="1083" b="1"/>
            </a:lvl4pPr>
            <a:lvl5pPr marL="1238281" indent="0">
              <a:buNone/>
              <a:defRPr sz="1083" b="1"/>
            </a:lvl5pPr>
            <a:lvl6pPr marL="1547851" indent="0">
              <a:buNone/>
              <a:defRPr sz="1083" b="1"/>
            </a:lvl6pPr>
            <a:lvl7pPr marL="1857421" indent="0">
              <a:buNone/>
              <a:defRPr sz="1083" b="1"/>
            </a:lvl7pPr>
            <a:lvl8pPr marL="2166991" indent="0">
              <a:buNone/>
              <a:defRPr sz="1083" b="1"/>
            </a:lvl8pPr>
            <a:lvl9pPr marL="2476561" indent="0">
              <a:buNone/>
              <a:defRPr sz="10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558" y="2174210"/>
            <a:ext cx="4039375" cy="3951411"/>
          </a:xfrm>
        </p:spPr>
        <p:txBody>
          <a:bodyPr/>
          <a:lstStyle>
            <a:lvl1pPr>
              <a:defRPr sz="1625"/>
            </a:lvl1pPr>
            <a:lvl2pPr>
              <a:defRPr sz="1355"/>
            </a:lvl2pPr>
            <a:lvl3pPr>
              <a:defRPr sz="1219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639" y="1534989"/>
            <a:ext cx="4040804" cy="639220"/>
          </a:xfrm>
        </p:spPr>
        <p:txBody>
          <a:bodyPr anchor="b"/>
          <a:lstStyle>
            <a:lvl1pPr marL="0" indent="0">
              <a:buNone/>
              <a:defRPr sz="1625" b="1"/>
            </a:lvl1pPr>
            <a:lvl2pPr marL="309570" indent="0">
              <a:buNone/>
              <a:defRPr sz="1355" b="1"/>
            </a:lvl2pPr>
            <a:lvl3pPr marL="619140" indent="0">
              <a:buNone/>
              <a:defRPr sz="1219" b="1"/>
            </a:lvl3pPr>
            <a:lvl4pPr marL="928710" indent="0">
              <a:buNone/>
              <a:defRPr sz="1083" b="1"/>
            </a:lvl4pPr>
            <a:lvl5pPr marL="1238281" indent="0">
              <a:buNone/>
              <a:defRPr sz="1083" b="1"/>
            </a:lvl5pPr>
            <a:lvl6pPr marL="1547851" indent="0">
              <a:buNone/>
              <a:defRPr sz="1083" b="1"/>
            </a:lvl6pPr>
            <a:lvl7pPr marL="1857421" indent="0">
              <a:buNone/>
              <a:defRPr sz="1083" b="1"/>
            </a:lvl7pPr>
            <a:lvl8pPr marL="2166991" indent="0">
              <a:buNone/>
              <a:defRPr sz="1083" b="1"/>
            </a:lvl8pPr>
            <a:lvl9pPr marL="2476561" indent="0">
              <a:buNone/>
              <a:defRPr sz="10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639" y="2174210"/>
            <a:ext cx="4040804" cy="3951411"/>
          </a:xfrm>
        </p:spPr>
        <p:txBody>
          <a:bodyPr/>
          <a:lstStyle>
            <a:lvl1pPr>
              <a:defRPr sz="1625"/>
            </a:lvl1pPr>
            <a:lvl2pPr>
              <a:defRPr sz="1355"/>
            </a:lvl2pPr>
            <a:lvl3pPr>
              <a:defRPr sz="1219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EB8533-CE85-4DBF-AEA3-5156B892FCBE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83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CA4D5B0-F94C-4A30-AD62-A23380D72EE3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35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699C9E-2E8D-4D3C-ABF9-CB5FFE5481EB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786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57" y="273749"/>
            <a:ext cx="3008441" cy="1160915"/>
          </a:xfrm>
        </p:spPr>
        <p:txBody>
          <a:bodyPr anchor="b"/>
          <a:lstStyle>
            <a:lvl1pPr algn="l">
              <a:defRPr sz="1355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668" y="273748"/>
            <a:ext cx="5111775" cy="5851873"/>
          </a:xfrm>
        </p:spPr>
        <p:txBody>
          <a:bodyPr/>
          <a:lstStyle>
            <a:lvl1pPr>
              <a:defRPr sz="2167"/>
            </a:lvl1pPr>
            <a:lvl2pPr>
              <a:defRPr sz="1896"/>
            </a:lvl2pPr>
            <a:lvl3pPr>
              <a:defRPr sz="1625"/>
            </a:lvl3pPr>
            <a:lvl4pPr>
              <a:defRPr sz="1355"/>
            </a:lvl4pPr>
            <a:lvl5pPr>
              <a:defRPr sz="1355"/>
            </a:lvl5pPr>
            <a:lvl6pPr>
              <a:defRPr sz="1355"/>
            </a:lvl6pPr>
            <a:lvl7pPr>
              <a:defRPr sz="1355"/>
            </a:lvl7pPr>
            <a:lvl8pPr>
              <a:defRPr sz="1355"/>
            </a:lvl8pPr>
            <a:lvl9pPr>
              <a:defRPr sz="13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557" y="1434664"/>
            <a:ext cx="3008441" cy="4690957"/>
          </a:xfrm>
        </p:spPr>
        <p:txBody>
          <a:bodyPr/>
          <a:lstStyle>
            <a:lvl1pPr marL="0" indent="0">
              <a:buNone/>
              <a:defRPr sz="948"/>
            </a:lvl1pPr>
            <a:lvl2pPr marL="309570" indent="0">
              <a:buNone/>
              <a:defRPr sz="812"/>
            </a:lvl2pPr>
            <a:lvl3pPr marL="619140" indent="0">
              <a:buNone/>
              <a:defRPr sz="677"/>
            </a:lvl3pPr>
            <a:lvl4pPr marL="928710" indent="0">
              <a:buNone/>
              <a:defRPr sz="610"/>
            </a:lvl4pPr>
            <a:lvl5pPr marL="1238281" indent="0">
              <a:buNone/>
              <a:defRPr sz="610"/>
            </a:lvl5pPr>
            <a:lvl6pPr marL="1547851" indent="0">
              <a:buNone/>
              <a:defRPr sz="610"/>
            </a:lvl6pPr>
            <a:lvl7pPr marL="1857421" indent="0">
              <a:buNone/>
              <a:defRPr sz="610"/>
            </a:lvl7pPr>
            <a:lvl8pPr marL="2166991" indent="0">
              <a:buNone/>
              <a:defRPr sz="610"/>
            </a:lvl8pPr>
            <a:lvl9pPr marL="2476561" indent="0">
              <a:buNone/>
              <a:defRPr sz="6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CB0E37-8CB9-480C-9AFF-44A8B18EB558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971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625" y="4801317"/>
            <a:ext cx="5486399" cy="566126"/>
          </a:xfrm>
        </p:spPr>
        <p:txBody>
          <a:bodyPr anchor="b"/>
          <a:lstStyle>
            <a:lvl1pPr algn="l">
              <a:defRPr sz="1355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1625" y="613422"/>
            <a:ext cx="5486399" cy="4114800"/>
          </a:xfrm>
        </p:spPr>
        <p:txBody>
          <a:bodyPr/>
          <a:lstStyle>
            <a:lvl1pPr marL="0" indent="0">
              <a:buNone/>
              <a:defRPr sz="2167"/>
            </a:lvl1pPr>
            <a:lvl2pPr marL="309570" indent="0">
              <a:buNone/>
              <a:defRPr sz="1896"/>
            </a:lvl2pPr>
            <a:lvl3pPr marL="619140" indent="0">
              <a:buNone/>
              <a:defRPr sz="1625"/>
            </a:lvl3pPr>
            <a:lvl4pPr marL="928710" indent="0">
              <a:buNone/>
              <a:defRPr sz="1355"/>
            </a:lvl4pPr>
            <a:lvl5pPr marL="1238281" indent="0">
              <a:buNone/>
              <a:defRPr sz="1355"/>
            </a:lvl5pPr>
            <a:lvl6pPr marL="1547851" indent="0">
              <a:buNone/>
              <a:defRPr sz="1355"/>
            </a:lvl6pPr>
            <a:lvl7pPr marL="1857421" indent="0">
              <a:buNone/>
              <a:defRPr sz="1355"/>
            </a:lvl7pPr>
            <a:lvl8pPr marL="2166991" indent="0">
              <a:buNone/>
              <a:defRPr sz="1355"/>
            </a:lvl8pPr>
            <a:lvl9pPr marL="2476561" indent="0">
              <a:buNone/>
              <a:defRPr sz="1355"/>
            </a:lvl9pPr>
          </a:lstStyle>
          <a:p>
            <a:pPr lvl="0"/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625" y="5367443"/>
            <a:ext cx="5486399" cy="805475"/>
          </a:xfrm>
        </p:spPr>
        <p:txBody>
          <a:bodyPr/>
          <a:lstStyle>
            <a:lvl1pPr marL="0" indent="0">
              <a:buNone/>
              <a:defRPr sz="948"/>
            </a:lvl1pPr>
            <a:lvl2pPr marL="309570" indent="0">
              <a:buNone/>
              <a:defRPr sz="812"/>
            </a:lvl2pPr>
            <a:lvl3pPr marL="619140" indent="0">
              <a:buNone/>
              <a:defRPr sz="677"/>
            </a:lvl3pPr>
            <a:lvl4pPr marL="928710" indent="0">
              <a:buNone/>
              <a:defRPr sz="610"/>
            </a:lvl4pPr>
            <a:lvl5pPr marL="1238281" indent="0">
              <a:buNone/>
              <a:defRPr sz="610"/>
            </a:lvl5pPr>
            <a:lvl6pPr marL="1547851" indent="0">
              <a:buNone/>
              <a:defRPr sz="610"/>
            </a:lvl6pPr>
            <a:lvl7pPr marL="1857421" indent="0">
              <a:buNone/>
              <a:defRPr sz="610"/>
            </a:lvl7pPr>
            <a:lvl8pPr marL="2166991" indent="0">
              <a:buNone/>
              <a:defRPr sz="610"/>
            </a:lvl8pPr>
            <a:lvl9pPr marL="2476561" indent="0">
              <a:buNone/>
              <a:defRPr sz="6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EA0026-3E0A-467C-A77C-0D95BD348815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552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574199-541A-442D-BD63-BB275F057B6F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03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80067" y="825540"/>
            <a:ext cx="1941760" cy="53989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0499" y="825540"/>
            <a:ext cx="5692301" cy="53989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284C3F7-6313-43B9-8FA0-AEEB61BF0DA5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05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50499" y="554982"/>
            <a:ext cx="6518763" cy="1143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500" y="1818969"/>
            <a:ext cx="7771328" cy="4405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50499" y="6334872"/>
            <a:ext cx="19045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677">
                <a:solidFill>
                  <a:srgbClr val="003399"/>
                </a:solidFill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1995" y="6334872"/>
            <a:ext cx="19045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677">
                <a:solidFill>
                  <a:srgbClr val="003399"/>
                </a:solidFill>
              </a:defRPr>
            </a:lvl1pPr>
          </a:lstStyle>
          <a:p>
            <a:fld id="{7DD0F54A-7FC4-4DC8-816F-141A28D7A639}" type="slidenum">
              <a:rPr lang="en-GB" altLang="en-US"/>
              <a:pPr/>
              <a:t>‹#›</a:t>
            </a:fld>
            <a:endParaRPr lang="en-GB" altLang="en-US" sz="1083"/>
          </a:p>
        </p:txBody>
      </p:sp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1" y="6601452"/>
            <a:ext cx="9144000" cy="253682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1" y="0"/>
            <a:ext cx="9144000" cy="253682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1032" name="Text Box 11"/>
          <p:cNvSpPr txBox="1">
            <a:spLocks noChangeArrowheads="1"/>
          </p:cNvSpPr>
          <p:nvPr/>
        </p:nvSpPr>
        <p:spPr bwMode="auto">
          <a:xfrm>
            <a:off x="550500" y="323910"/>
            <a:ext cx="6520193" cy="2485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15" dirty="0">
                <a:solidFill>
                  <a:srgbClr val="003399"/>
                </a:solidFill>
                <a:latin typeface="Times New Roman" panose="02020603050405020304" pitchFamily="18" charset="0"/>
              </a:rPr>
              <a:t>IT5002</a:t>
            </a:r>
            <a:r>
              <a:rPr lang="en-US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 Lecture 2 </a:t>
            </a:r>
            <a:r>
              <a:rPr lang="mr-IN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 Introduction</a:t>
            </a:r>
            <a:r>
              <a:rPr lang="en-US" altLang="en-US" sz="1015" dirty="0">
                <a:solidFill>
                  <a:srgbClr val="003399"/>
                </a:solidFill>
                <a:latin typeface="Times New Roman" panose="02020603050405020304" pitchFamily="18" charset="0"/>
              </a:rPr>
              <a:t>			Page: </a:t>
            </a:r>
            <a:fld id="{49A9A4C6-A24E-4FBB-A733-87BDEC242BCE}" type="slidenum">
              <a:rPr lang="en-US" altLang="en-US" sz="1015">
                <a:solidFill>
                  <a:srgbClr val="003399"/>
                </a:solidFill>
                <a:latin typeface="Times New Roman" panose="02020603050405020304" pitchFamily="18" charset="0"/>
              </a:rPr>
              <a:pPr>
                <a:spcBef>
                  <a:spcPct val="50000"/>
                </a:spcBef>
              </a:pPr>
              <a:t>‹#›</a:t>
            </a:fld>
            <a:endParaRPr lang="en-GB" altLang="en-US" sz="1015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33" name="Picture 15" descr="full colour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880" y="374074"/>
            <a:ext cx="1038083" cy="667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96086B-3EE0-892A-78A0-6D1D80558AA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162497"/>
            <a:ext cx="695503" cy="69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93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rgbClr val="663300"/>
          </a:solidFill>
          <a:latin typeface="+mj-lt"/>
          <a:ea typeface="+mj-ea"/>
          <a:cs typeface="+mj-cs"/>
        </a:defRPr>
      </a:lvl1pPr>
      <a:lvl2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2pPr>
      <a:lvl3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3pPr>
      <a:lvl4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4pPr>
      <a:lvl5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5pPr>
      <a:lvl6pPr marL="30957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6pPr>
      <a:lvl7pPr marL="61914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7pPr>
      <a:lvl8pPr marL="92871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8pPr>
      <a:lvl9pPr marL="1238281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9pPr>
    </p:titleStyle>
    <p:bodyStyle>
      <a:lvl1pPr marL="232178" indent="-232178" algn="l" defTabSz="686859" rtl="0" eaLnBrk="0" fontAlgn="base" hangingPunct="0">
        <a:spcBef>
          <a:spcPct val="20000"/>
        </a:spcBef>
        <a:spcAft>
          <a:spcPct val="0"/>
        </a:spcAft>
        <a:buChar char="•"/>
        <a:defRPr sz="1693" b="1">
          <a:solidFill>
            <a:srgbClr val="003399"/>
          </a:solidFill>
          <a:latin typeface="+mn-lt"/>
          <a:ea typeface="+mn-ea"/>
          <a:cs typeface="+mn-cs"/>
        </a:defRPr>
      </a:lvl1pPr>
      <a:lvl2pPr marL="253676" indent="4300" algn="l" defTabSz="686859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760">
          <a:solidFill>
            <a:srgbClr val="003399"/>
          </a:solidFill>
          <a:latin typeface="+mn-lt"/>
        </a:defRPr>
      </a:lvl2pPr>
      <a:lvl3pPr marL="511651" indent="107490" algn="l" defTabSz="686859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sz="1490" b="1">
          <a:solidFill>
            <a:srgbClr val="FF6600"/>
          </a:solidFill>
          <a:latin typeface="+mn-lt"/>
        </a:defRPr>
      </a:lvl3pPr>
      <a:lvl4pPr marL="773925" indent="4300" algn="l" defTabSz="686859" rtl="0" eaLnBrk="0" fontAlgn="base" hangingPunct="0">
        <a:spcBef>
          <a:spcPct val="20000"/>
        </a:spcBef>
        <a:spcAft>
          <a:spcPct val="0"/>
        </a:spcAft>
        <a:buChar char="–"/>
        <a:defRPr sz="1490" i="1">
          <a:solidFill>
            <a:srgbClr val="003399"/>
          </a:solidFill>
          <a:latin typeface="+mn-lt"/>
        </a:defRPr>
      </a:lvl4pPr>
      <a:lvl5pPr marL="1031900" indent="206380" algn="l" defTabSz="686859" rtl="0" eaLnBrk="0" fontAlgn="base" hangingPunct="0">
        <a:spcBef>
          <a:spcPct val="20000"/>
        </a:spcBef>
        <a:spcAft>
          <a:spcPct val="0"/>
        </a:spcAft>
        <a:buChar char="»"/>
        <a:defRPr sz="1355">
          <a:solidFill>
            <a:srgbClr val="003399"/>
          </a:solidFill>
          <a:latin typeface="+mn-lt"/>
        </a:defRPr>
      </a:lvl5pPr>
      <a:lvl6pPr marL="1341470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6pPr>
      <a:lvl7pPr marL="165104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7pPr>
      <a:lvl8pPr marL="196061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8pPr>
      <a:lvl9pPr marL="227018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1pPr>
      <a:lvl2pPr marL="30957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2pPr>
      <a:lvl3pPr marL="61914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3pPr>
      <a:lvl4pPr marL="92871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4pPr>
      <a:lvl5pPr marL="123828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5pPr>
      <a:lvl6pPr marL="154785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6pPr>
      <a:lvl7pPr marL="185742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7pPr>
      <a:lvl8pPr marL="216699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8pPr>
      <a:lvl9pPr marL="247656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olintan@nus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ets.netlify.app/module/6783ad89fc362746fec5218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tech3news.com/most-recent-computer-technology/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overclock3d.net/reviews/cpu_mainboard/the_computer_council_-_clocked_gamer_quad/1" TargetMode="External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mputer-hardware-explained.com/what-is-a-motherboard.html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7"/>
          <p:cNvSpPr>
            <a:spLocks noChangeArrowheads="1"/>
          </p:cNvSpPr>
          <p:nvPr/>
        </p:nvSpPr>
        <p:spPr bwMode="auto">
          <a:xfrm>
            <a:off x="1" y="8043"/>
            <a:ext cx="9144000" cy="4941621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2162"/>
          </a:p>
        </p:txBody>
      </p:sp>
      <p:sp>
        <p:nvSpPr>
          <p:cNvPr id="13315" name="Text Box 18"/>
          <p:cNvSpPr txBox="1">
            <a:spLocks noChangeArrowheads="1"/>
          </p:cNvSpPr>
          <p:nvPr/>
        </p:nvSpPr>
        <p:spPr bwMode="auto">
          <a:xfrm>
            <a:off x="713505" y="251120"/>
            <a:ext cx="7728431" cy="553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IT5002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Computer Systems and Applications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Introduction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  <a:hlinkClick r:id="rId3"/>
              </a:rPr>
              <a:t>colintan@nus.edu.sg</a:t>
            </a:r>
            <a:endParaRPr lang="en-US" altLang="en-US" sz="4323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endParaRPr lang="en-GB" altLang="en-US" sz="4864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6" name="Rectangle 19"/>
          <p:cNvSpPr>
            <a:spLocks noChangeArrowheads="1"/>
          </p:cNvSpPr>
          <p:nvPr/>
        </p:nvSpPr>
        <p:spPr bwMode="auto">
          <a:xfrm>
            <a:off x="1" y="6596870"/>
            <a:ext cx="9144000" cy="253087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2162"/>
          </a:p>
        </p:txBody>
      </p:sp>
      <p:pic>
        <p:nvPicPr>
          <p:cNvPr id="13317" name="Picture 22" descr="full colou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976" y="5115528"/>
            <a:ext cx="2140511" cy="1374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204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12620-B446-0261-58CA-2773BDA09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398-9E2B-F6FC-AD1E-0D3700FB2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500" y="1818969"/>
            <a:ext cx="7771328" cy="1610031"/>
          </a:xfrm>
        </p:spPr>
        <p:txBody>
          <a:bodyPr/>
          <a:lstStyle/>
          <a:p>
            <a:r>
              <a:rPr lang="en-US" sz="2000" dirty="0"/>
              <a:t>Please ask questions at </a:t>
            </a:r>
            <a:r>
              <a:rPr lang="en-US" sz="2000" dirty="0">
                <a:hlinkClick r:id="rId2"/>
              </a:rPr>
              <a:t>https://sets.netlify.app/module/6783ad89fc362746fec52180</a:t>
            </a: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EA404A-F0AA-7559-3AC8-BA00D9852424}"/>
              </a:ext>
            </a:extLst>
          </p:cNvPr>
          <p:cNvSpPr txBox="1"/>
          <p:nvPr/>
        </p:nvSpPr>
        <p:spPr>
          <a:xfrm>
            <a:off x="1804416" y="5730240"/>
            <a:ext cx="7046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 scan this QR code (may be obscured on some slides)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1B3F75-F81C-B108-2EC2-C045B94A54F7}"/>
              </a:ext>
            </a:extLst>
          </p:cNvPr>
          <p:cNvCxnSpPr>
            <a:stCxn id="6" idx="1"/>
          </p:cNvCxnSpPr>
          <p:nvPr/>
        </p:nvCxnSpPr>
        <p:spPr bwMode="auto">
          <a:xfrm flipH="1">
            <a:off x="841248" y="6145739"/>
            <a:ext cx="963168" cy="1122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03772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1: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1800" dirty="0"/>
              <a:t>Programming Languages</a:t>
            </a: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1800" dirty="0"/>
              <a:t>Abstraction</a:t>
            </a: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1800" dirty="0"/>
              <a:t>What is a Computer?</a:t>
            </a: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1800" dirty="0"/>
              <a:t>IT5002: It’s About Computer Organization and Applications</a:t>
            </a: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1800" dirty="0"/>
              <a:t>What’s Next?</a:t>
            </a: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endParaRPr lang="en-GB" sz="1800" dirty="0"/>
          </a:p>
          <a:p>
            <a:pPr marL="0" indent="0">
              <a:buClrTx/>
              <a:buSzPct val="100000"/>
              <a:buNone/>
            </a:pPr>
            <a:r>
              <a:rPr lang="en-GB" sz="1800" dirty="0"/>
              <a:t>Credit for course notes: A/P Aaron Tan (CS2100)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988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590" y="3401067"/>
            <a:ext cx="6654209" cy="27690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713621"/>
            <a:ext cx="708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olidFill>
                  <a:srgbClr val="C00000"/>
                </a:solidFill>
              </a:rPr>
              <a:t>Programming language</a:t>
            </a:r>
            <a:r>
              <a:rPr lang="en-SG" sz="2400" dirty="0"/>
              <a:t>: a </a:t>
            </a:r>
            <a:r>
              <a:rPr lang="en-SG" sz="2400" u="sng" dirty="0"/>
              <a:t>formal</a:t>
            </a:r>
            <a:r>
              <a:rPr lang="en-SG" sz="2400" dirty="0"/>
              <a:t> language that specifies a set of </a:t>
            </a:r>
            <a:r>
              <a:rPr lang="en-SG" sz="2400" u="sng" dirty="0"/>
              <a:t>instructions</a:t>
            </a:r>
            <a:r>
              <a:rPr lang="en-SG" sz="2400" dirty="0"/>
              <a:t> for a computer to implement specific algorithms to </a:t>
            </a:r>
            <a:r>
              <a:rPr lang="en-SG" sz="2400" u="sng" dirty="0"/>
              <a:t>solve problems</a:t>
            </a:r>
            <a:r>
              <a:rPr lang="en-SG" sz="2400" dirty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83811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7480"/>
            <a:ext cx="32879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olidFill>
                  <a:srgbClr val="C00000"/>
                </a:solidFill>
              </a:rPr>
              <a:t>High-level program</a:t>
            </a:r>
          </a:p>
          <a:p>
            <a:r>
              <a:rPr lang="en-SG" sz="1600" dirty="0" err="1"/>
              <a:t>Eg</a:t>
            </a:r>
            <a:r>
              <a:rPr lang="en-SG" sz="1600" dirty="0"/>
              <a:t>: C, Java, Python, ECMAScript</a:t>
            </a:r>
            <a:endParaRPr lang="en-US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3899490" y="1697481"/>
            <a:ext cx="2658965" cy="95410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a = 0;</a:t>
            </a:r>
          </a:p>
          <a:p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SG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=1; </a:t>
            </a:r>
            <a:r>
              <a:rPr lang="en-SG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&lt;=10; </a:t>
            </a:r>
            <a:r>
              <a:rPr lang="en-SG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a = a + </a:t>
            </a:r>
            <a:r>
              <a:rPr lang="en-SG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SG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199" y="3246195"/>
            <a:ext cx="30728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olidFill>
                  <a:srgbClr val="C00000"/>
                </a:solidFill>
              </a:rPr>
              <a:t>Low-level program</a:t>
            </a:r>
          </a:p>
          <a:p>
            <a:r>
              <a:rPr lang="en-SG" sz="1600" dirty="0" err="1"/>
              <a:t>Eg</a:t>
            </a:r>
            <a:r>
              <a:rPr lang="en-SG" sz="1600" dirty="0"/>
              <a:t>: MIPS (IT5002)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3899490" y="3107974"/>
            <a:ext cx="4074470" cy="1754326"/>
          </a:xfrm>
          <a:prstGeom prst="rect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S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$t1, $zero, 10</a:t>
            </a:r>
          </a:p>
          <a:p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add  $t1, $t1, $t1</a:t>
            </a:r>
          </a:p>
          <a:p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S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$t2, $zero, 10</a:t>
            </a:r>
          </a:p>
          <a:p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Loop: </a:t>
            </a:r>
            <a:r>
              <a:rPr lang="en-S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$t2, $t2, 10</a:t>
            </a:r>
          </a:p>
          <a:p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S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$t1, $t1, -1</a:t>
            </a:r>
          </a:p>
          <a:p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S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 $t1, $zero, Loop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8" y="4933545"/>
            <a:ext cx="3072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olidFill>
                  <a:srgbClr val="C00000"/>
                </a:solidFill>
              </a:rPr>
              <a:t>Machine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99489" y="5042593"/>
            <a:ext cx="4787309" cy="923330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00100000000010010000000000001010</a:t>
            </a:r>
          </a:p>
          <a:p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00000001001010010100100000100000</a:t>
            </a:r>
          </a:p>
          <a:p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. . .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Line Callout 2 9"/>
          <p:cNvSpPr/>
          <p:nvPr/>
        </p:nvSpPr>
        <p:spPr>
          <a:xfrm flipH="1">
            <a:off x="595423" y="5552147"/>
            <a:ext cx="2434855" cy="822527"/>
          </a:xfrm>
          <a:prstGeom prst="borderCallout2">
            <a:avLst>
              <a:gd name="adj1" fmla="val 61408"/>
              <a:gd name="adj2" fmla="val -556"/>
              <a:gd name="adj3" fmla="val 61408"/>
              <a:gd name="adj4" fmla="val -6187"/>
              <a:gd name="adj5" fmla="val -7487"/>
              <a:gd name="adj6" fmla="val -35737"/>
            </a:avLst>
          </a:prstGeom>
          <a:solidFill>
            <a:srgbClr val="EBFFE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Computers can execute only machine code directly.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13634" y="1697481"/>
            <a:ext cx="2469169" cy="954107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= 0</a:t>
            </a:r>
          </a:p>
          <a:p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SG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range(1,11):</a:t>
            </a:r>
          </a:p>
          <a:p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 = a + </a:t>
            </a:r>
            <a:r>
              <a:rPr lang="en-SG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SG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S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924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CACE2-857F-C161-E59C-3BBEE7B72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Languages</a:t>
            </a:r>
          </a:p>
        </p:txBody>
      </p:sp>
      <p:pic>
        <p:nvPicPr>
          <p:cNvPr id="1026" name="Picture 2" descr="MITS Altair 8800 computer">
            <a:extLst>
              <a:ext uri="{FF2B5EF4-FFF2-40B4-BE49-F238E27FC236}">
                <a16:creationId xmlns:a16="http://schemas.microsoft.com/office/drawing/2014/main" id="{D76C0F05-BF32-CA4C-4B62-A3349637A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59" y="2087418"/>
            <a:ext cx="3721100" cy="218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Journey of ENIAC, the World's First ...">
            <a:extLst>
              <a:ext uri="{FF2B5EF4-FFF2-40B4-BE49-F238E27FC236}">
                <a16:creationId xmlns:a16="http://schemas.microsoft.com/office/drawing/2014/main" id="{C9389F3C-327C-6DAF-C8C3-DCD37E643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853" y="2125518"/>
            <a:ext cx="3848100" cy="210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ringing back the EDSAC, an iconic general-purpose computer">
            <a:extLst>
              <a:ext uri="{FF2B5EF4-FFF2-40B4-BE49-F238E27FC236}">
                <a16:creationId xmlns:a16="http://schemas.microsoft.com/office/drawing/2014/main" id="{83A7D1FD-37F4-351A-6A23-BAB32D0F3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1491" y="4385612"/>
            <a:ext cx="3721100" cy="2093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4383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9332"/>
            <a:ext cx="43806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3600"/>
              </a:spcAft>
              <a:buSzPct val="90000"/>
              <a:buFont typeface="Wingdings" panose="05000000000000000000" pitchFamily="2" charset="2"/>
              <a:buChar char="v"/>
            </a:pPr>
            <a:r>
              <a:rPr lang="en-SG" sz="2400" dirty="0"/>
              <a:t>1</a:t>
            </a:r>
            <a:r>
              <a:rPr lang="en-SG" sz="2400" baseline="30000" dirty="0"/>
              <a:t>st</a:t>
            </a:r>
            <a:r>
              <a:rPr lang="en-SG" sz="2400" dirty="0"/>
              <a:t> Generation Languages</a:t>
            </a:r>
          </a:p>
          <a:p>
            <a:pPr marL="342900" indent="-342900">
              <a:spcAft>
                <a:spcPts val="3600"/>
              </a:spcAft>
              <a:buSzPct val="90000"/>
              <a:buFont typeface="Wingdings" panose="05000000000000000000" pitchFamily="2" charset="2"/>
              <a:buChar char="v"/>
            </a:pPr>
            <a:r>
              <a:rPr lang="en-SG" sz="2400" dirty="0"/>
              <a:t>2</a:t>
            </a:r>
            <a:r>
              <a:rPr lang="en-SG" sz="2400" baseline="30000" dirty="0"/>
              <a:t>nd</a:t>
            </a:r>
            <a:r>
              <a:rPr lang="en-SG" sz="2400" dirty="0"/>
              <a:t> Generation Languages</a:t>
            </a:r>
          </a:p>
          <a:p>
            <a:pPr marL="342900" indent="-342900">
              <a:spcAft>
                <a:spcPts val="3600"/>
              </a:spcAft>
              <a:buSzPct val="90000"/>
              <a:buFont typeface="Wingdings" panose="05000000000000000000" pitchFamily="2" charset="2"/>
              <a:buChar char="v"/>
            </a:pPr>
            <a:r>
              <a:rPr lang="en-SG" sz="2400" dirty="0"/>
              <a:t>3</a:t>
            </a:r>
            <a:r>
              <a:rPr lang="en-SG" sz="2400" baseline="30000" dirty="0"/>
              <a:t>rd</a:t>
            </a:r>
            <a:r>
              <a:rPr lang="en-SG" sz="2400" dirty="0"/>
              <a:t> Generation Languages</a:t>
            </a:r>
          </a:p>
          <a:p>
            <a:pPr marL="342900" indent="-342900">
              <a:spcAft>
                <a:spcPts val="3600"/>
              </a:spcAft>
              <a:buSzPct val="90000"/>
              <a:buFont typeface="Wingdings" panose="05000000000000000000" pitchFamily="2" charset="2"/>
              <a:buChar char="v"/>
            </a:pPr>
            <a:r>
              <a:rPr lang="en-SG" sz="2400" dirty="0"/>
              <a:t>4</a:t>
            </a:r>
            <a:r>
              <a:rPr lang="en-SG" sz="2400" baseline="30000" dirty="0"/>
              <a:t>th</a:t>
            </a:r>
            <a:r>
              <a:rPr lang="en-SG" sz="2400" dirty="0"/>
              <a:t> Generation Languages</a:t>
            </a:r>
          </a:p>
          <a:p>
            <a:pPr marL="342900" indent="-342900">
              <a:spcAft>
                <a:spcPts val="3600"/>
              </a:spcAft>
              <a:buSzPct val="90000"/>
              <a:buFont typeface="Wingdings" panose="05000000000000000000" pitchFamily="2" charset="2"/>
              <a:buChar char="v"/>
            </a:pPr>
            <a:r>
              <a:rPr lang="en-SG" sz="2400" dirty="0"/>
              <a:t>5</a:t>
            </a:r>
            <a:r>
              <a:rPr lang="en-SG" sz="2400" baseline="30000" dirty="0"/>
              <a:t>th</a:t>
            </a:r>
            <a:r>
              <a:rPr lang="en-SG" sz="2400" dirty="0"/>
              <a:t> Generation Languages</a:t>
            </a:r>
            <a:endParaRPr lang="en-US" sz="1600" dirty="0"/>
          </a:p>
        </p:txBody>
      </p:sp>
      <p:sp>
        <p:nvSpPr>
          <p:cNvPr id="5" name="Line Callout 2 4"/>
          <p:cNvSpPr/>
          <p:nvPr/>
        </p:nvSpPr>
        <p:spPr>
          <a:xfrm>
            <a:off x="5050465" y="1517036"/>
            <a:ext cx="3030279" cy="878310"/>
          </a:xfrm>
          <a:prstGeom prst="borderCallout2">
            <a:avLst>
              <a:gd name="adj1" fmla="val 67174"/>
              <a:gd name="adj2" fmla="val -115"/>
              <a:gd name="adj3" fmla="val 67500"/>
              <a:gd name="adj4" fmla="val -10995"/>
              <a:gd name="adj5" fmla="val 41912"/>
              <a:gd name="adj6" fmla="val -20336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400" dirty="0">
                <a:solidFill>
                  <a:schemeClr val="tx1"/>
                </a:solidFill>
              </a:rPr>
              <a:t>Machine language.</a:t>
            </a:r>
          </a:p>
          <a:p>
            <a:r>
              <a:rPr lang="en-SG" sz="1400" dirty="0">
                <a:solidFill>
                  <a:schemeClr val="tx1"/>
                </a:solidFill>
              </a:rPr>
              <a:t>Directly executable by machine.</a:t>
            </a:r>
          </a:p>
          <a:p>
            <a:r>
              <a:rPr lang="en-SG" sz="1400" dirty="0">
                <a:solidFill>
                  <a:schemeClr val="tx1"/>
                </a:solidFill>
              </a:rPr>
              <a:t>Machine dependent.</a:t>
            </a:r>
          </a:p>
          <a:p>
            <a:r>
              <a:rPr lang="en-SG" sz="1400" dirty="0">
                <a:solidFill>
                  <a:schemeClr val="tx1"/>
                </a:solidFill>
              </a:rPr>
              <a:t>Efficient code but difficult to write.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Line Callout 2 5"/>
          <p:cNvSpPr/>
          <p:nvPr/>
        </p:nvSpPr>
        <p:spPr>
          <a:xfrm>
            <a:off x="4837814" y="2500889"/>
            <a:ext cx="4093535" cy="923569"/>
          </a:xfrm>
          <a:prstGeom prst="borderCallout2">
            <a:avLst>
              <a:gd name="adj1" fmla="val 46452"/>
              <a:gd name="adj2" fmla="val -374"/>
              <a:gd name="adj3" fmla="val 46778"/>
              <a:gd name="adj4" fmla="val -7323"/>
              <a:gd name="adj5" fmla="val 28196"/>
              <a:gd name="adj6" fmla="val -12483"/>
            </a:avLst>
          </a:prstGeom>
          <a:solidFill>
            <a:srgbClr val="E5E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400" dirty="0">
                <a:solidFill>
                  <a:schemeClr val="tx1"/>
                </a:solidFill>
              </a:rPr>
              <a:t>Assembly language.</a:t>
            </a:r>
          </a:p>
          <a:p>
            <a:r>
              <a:rPr lang="en-SG" sz="1400" dirty="0">
                <a:solidFill>
                  <a:schemeClr val="tx1"/>
                </a:solidFill>
              </a:rPr>
              <a:t>Need to be translated (</a:t>
            </a:r>
            <a:r>
              <a:rPr lang="en-SG" sz="1400" dirty="0">
                <a:solidFill>
                  <a:srgbClr val="C00000"/>
                </a:solidFill>
              </a:rPr>
              <a:t>assembled</a:t>
            </a:r>
            <a:r>
              <a:rPr lang="en-SG" sz="1400" dirty="0">
                <a:solidFill>
                  <a:schemeClr val="tx1"/>
                </a:solidFill>
              </a:rPr>
              <a:t>) into machine code for execution.</a:t>
            </a:r>
          </a:p>
          <a:p>
            <a:r>
              <a:rPr lang="en-SG" sz="1400" dirty="0">
                <a:solidFill>
                  <a:schemeClr val="tx1"/>
                </a:solidFill>
              </a:rPr>
              <a:t>Efficient code, easier to write than machine code.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Line Callout 2 6"/>
          <p:cNvSpPr/>
          <p:nvPr/>
        </p:nvSpPr>
        <p:spPr>
          <a:xfrm>
            <a:off x="4837813" y="3497321"/>
            <a:ext cx="4093535" cy="938694"/>
          </a:xfrm>
          <a:prstGeom prst="borderCallout2">
            <a:avLst>
              <a:gd name="adj1" fmla="val 46452"/>
              <a:gd name="adj2" fmla="val -374"/>
              <a:gd name="adj3" fmla="val 46778"/>
              <a:gd name="adj4" fmla="val -7323"/>
              <a:gd name="adj5" fmla="val 7694"/>
              <a:gd name="adj6" fmla="val -13002"/>
            </a:avLst>
          </a:prstGeom>
          <a:solidFill>
            <a:srgbClr val="CC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400" dirty="0">
                <a:solidFill>
                  <a:schemeClr val="tx1"/>
                </a:solidFill>
              </a:rPr>
              <a:t>Closer to English.</a:t>
            </a:r>
          </a:p>
          <a:p>
            <a:r>
              <a:rPr lang="en-SG" sz="1400" dirty="0">
                <a:solidFill>
                  <a:schemeClr val="tx1"/>
                </a:solidFill>
              </a:rPr>
              <a:t>Need to be translated (</a:t>
            </a:r>
            <a:r>
              <a:rPr lang="en-SG" sz="1400" dirty="0">
                <a:solidFill>
                  <a:srgbClr val="C00000"/>
                </a:solidFill>
              </a:rPr>
              <a:t>compiled</a:t>
            </a:r>
            <a:r>
              <a:rPr lang="en-SG" sz="1400" dirty="0">
                <a:solidFill>
                  <a:schemeClr val="tx1"/>
                </a:solidFill>
              </a:rPr>
              <a:t> or </a:t>
            </a:r>
            <a:r>
              <a:rPr lang="en-SG" sz="1400" dirty="0">
                <a:solidFill>
                  <a:srgbClr val="C00000"/>
                </a:solidFill>
              </a:rPr>
              <a:t>interpreted</a:t>
            </a:r>
            <a:r>
              <a:rPr lang="en-SG" sz="1400" dirty="0">
                <a:solidFill>
                  <a:schemeClr val="tx1"/>
                </a:solidFill>
              </a:rPr>
              <a:t>) into machine code for execution.</a:t>
            </a:r>
          </a:p>
          <a:p>
            <a:r>
              <a:rPr lang="en-SG" sz="1400" dirty="0" err="1">
                <a:solidFill>
                  <a:schemeClr val="tx1"/>
                </a:solidFill>
              </a:rPr>
              <a:t>Eg</a:t>
            </a:r>
            <a:r>
              <a:rPr lang="en-SG" sz="1400" dirty="0">
                <a:solidFill>
                  <a:schemeClr val="tx1"/>
                </a:solidFill>
              </a:rPr>
              <a:t>: FORTRAN, COBOL, C, BASIC</a:t>
            </a:r>
          </a:p>
        </p:txBody>
      </p:sp>
      <p:sp>
        <p:nvSpPr>
          <p:cNvPr id="8" name="Line Callout 2 7"/>
          <p:cNvSpPr/>
          <p:nvPr/>
        </p:nvSpPr>
        <p:spPr>
          <a:xfrm>
            <a:off x="4837812" y="4541558"/>
            <a:ext cx="4093535" cy="938694"/>
          </a:xfrm>
          <a:prstGeom prst="borderCallout2">
            <a:avLst>
              <a:gd name="adj1" fmla="val 19267"/>
              <a:gd name="adj2" fmla="val -114"/>
              <a:gd name="adj3" fmla="val 19593"/>
              <a:gd name="adj4" fmla="val -7063"/>
              <a:gd name="adj5" fmla="val -12695"/>
              <a:gd name="adj6" fmla="val -12482"/>
            </a:avLst>
          </a:prstGeom>
          <a:solidFill>
            <a:srgbClr val="E2FFC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400" dirty="0">
                <a:solidFill>
                  <a:schemeClr val="tx1"/>
                </a:solidFill>
              </a:rPr>
              <a:t>Require fewer instructions than 3GL.</a:t>
            </a:r>
          </a:p>
          <a:p>
            <a:r>
              <a:rPr lang="en-SG" sz="1400" dirty="0">
                <a:solidFill>
                  <a:schemeClr val="tx1"/>
                </a:solidFill>
              </a:rPr>
              <a:t>Used with databases (query languages, report generators, forms designers)</a:t>
            </a:r>
          </a:p>
          <a:p>
            <a:r>
              <a:rPr lang="en-SG" sz="1400" dirty="0" err="1">
                <a:solidFill>
                  <a:schemeClr val="tx1"/>
                </a:solidFill>
              </a:rPr>
              <a:t>Eg</a:t>
            </a:r>
            <a:r>
              <a:rPr lang="en-SG" sz="1400" dirty="0">
                <a:solidFill>
                  <a:schemeClr val="tx1"/>
                </a:solidFill>
              </a:rPr>
              <a:t>: SQL, PostScript, Mathematica</a:t>
            </a:r>
          </a:p>
        </p:txBody>
      </p:sp>
      <p:sp>
        <p:nvSpPr>
          <p:cNvPr id="9" name="Line Callout 2 8"/>
          <p:cNvSpPr/>
          <p:nvPr/>
        </p:nvSpPr>
        <p:spPr>
          <a:xfrm>
            <a:off x="4837811" y="5604543"/>
            <a:ext cx="4093535" cy="938694"/>
          </a:xfrm>
          <a:prstGeom prst="borderCallout2">
            <a:avLst>
              <a:gd name="adj1" fmla="val 19267"/>
              <a:gd name="adj2" fmla="val -114"/>
              <a:gd name="adj3" fmla="val 19593"/>
              <a:gd name="adj4" fmla="val -7063"/>
              <a:gd name="adj5" fmla="val -41012"/>
              <a:gd name="adj6" fmla="val -143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400" dirty="0">
                <a:solidFill>
                  <a:schemeClr val="tx1"/>
                </a:solidFill>
              </a:rPr>
              <a:t>Used mainly in A.I. research.</a:t>
            </a:r>
          </a:p>
          <a:p>
            <a:r>
              <a:rPr lang="en-SG" sz="1400" dirty="0">
                <a:solidFill>
                  <a:schemeClr val="tx1"/>
                </a:solidFill>
              </a:rPr>
              <a:t>Declarative languages</a:t>
            </a:r>
          </a:p>
          <a:p>
            <a:r>
              <a:rPr lang="en-SG" sz="1400" dirty="0">
                <a:solidFill>
                  <a:schemeClr val="tx1"/>
                </a:solidFill>
              </a:rPr>
              <a:t>Functional languages (</a:t>
            </a:r>
            <a:r>
              <a:rPr lang="en-SG" sz="1400" dirty="0" err="1">
                <a:solidFill>
                  <a:schemeClr val="tx1"/>
                </a:solidFill>
              </a:rPr>
              <a:t>eg</a:t>
            </a:r>
            <a:r>
              <a:rPr lang="en-SG" sz="1400" dirty="0">
                <a:solidFill>
                  <a:schemeClr val="tx1"/>
                </a:solidFill>
              </a:rPr>
              <a:t>: Lisp, Scheme, SML)</a:t>
            </a:r>
          </a:p>
          <a:p>
            <a:r>
              <a:rPr lang="en-SG" sz="1400" dirty="0">
                <a:solidFill>
                  <a:schemeClr val="tx1"/>
                </a:solidFill>
              </a:rPr>
              <a:t>Logic programming (</a:t>
            </a:r>
            <a:r>
              <a:rPr lang="en-SG" sz="1400" dirty="0" err="1">
                <a:solidFill>
                  <a:schemeClr val="tx1"/>
                </a:solidFill>
              </a:rPr>
              <a:t>eg</a:t>
            </a:r>
            <a:r>
              <a:rPr lang="en-SG" sz="1400" dirty="0">
                <a:solidFill>
                  <a:schemeClr val="tx1"/>
                </a:solidFill>
              </a:rPr>
              <a:t>: </a:t>
            </a:r>
            <a:r>
              <a:rPr lang="en-SG" sz="1400" dirty="0" err="1">
                <a:solidFill>
                  <a:schemeClr val="tx1"/>
                </a:solidFill>
              </a:rPr>
              <a:t>Prolog</a:t>
            </a:r>
            <a:r>
              <a:rPr lang="en-SG" sz="14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53854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0525" y="1813712"/>
            <a:ext cx="758343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SG" sz="2400" dirty="0"/>
              <a:t>“Generational” classification of high level languages (3GL and later) was never fully precise.</a:t>
            </a:r>
          </a:p>
          <a:p>
            <a:pPr marL="285750" indent="-285750"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SG" sz="2400" dirty="0"/>
              <a:t>A different classification is based on </a:t>
            </a:r>
            <a:r>
              <a:rPr lang="en-SG" sz="2400" dirty="0">
                <a:solidFill>
                  <a:srgbClr val="C00000"/>
                </a:solidFill>
              </a:rPr>
              <a:t>paradigm</a:t>
            </a:r>
            <a:r>
              <a:rPr lang="en-SG" sz="2400" dirty="0"/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56" t="7049" r="6642" b="3563"/>
          <a:stretch/>
        </p:blipFill>
        <p:spPr>
          <a:xfrm>
            <a:off x="273448" y="3406000"/>
            <a:ext cx="4242511" cy="25282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4" t="6348" r="4886" b="12708"/>
          <a:stretch/>
        </p:blipFill>
        <p:spPr>
          <a:xfrm>
            <a:off x="4572000" y="3406000"/>
            <a:ext cx="4340398" cy="2224726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4515959" y="3254907"/>
            <a:ext cx="0" cy="291842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671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 Programming Language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0" t="6975" r="4330"/>
          <a:stretch/>
        </p:blipFill>
        <p:spPr>
          <a:xfrm>
            <a:off x="6830768" y="873403"/>
            <a:ext cx="2219881" cy="22818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7275" y="1641482"/>
            <a:ext cx="63896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SG" sz="2400" dirty="0"/>
              <a:t>Created by Dennis Ritchie (1941 – 2011) at Bell Laboratories in the early 1970s.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275" y="2472479"/>
            <a:ext cx="7693159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SG" sz="2400" dirty="0"/>
              <a:t>C is an </a:t>
            </a:r>
            <a:r>
              <a:rPr lang="en-SG" sz="2400" dirty="0">
                <a:solidFill>
                  <a:srgbClr val="C00000"/>
                </a:solidFill>
              </a:rPr>
              <a:t>imperative procedural language</a:t>
            </a:r>
            <a:r>
              <a:rPr lang="en-SG" sz="2400" dirty="0"/>
              <a:t>.</a:t>
            </a:r>
          </a:p>
          <a:p>
            <a:pPr marL="285750" indent="-285750"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SG" sz="2400" dirty="0"/>
              <a:t>C provides constructs that map efficiently to typical machine instructions.</a:t>
            </a:r>
          </a:p>
          <a:p>
            <a:pPr marL="285750" indent="-285750"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SG" sz="2400" dirty="0"/>
              <a:t>C is a high-level language very close to the machine level, hence sometimes it is called “mid-level”.</a:t>
            </a:r>
          </a:p>
          <a:p>
            <a:pPr marL="285750" indent="-285750"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SG" sz="2400" dirty="0"/>
              <a:t>UNIX is written in C.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238463" y="4496229"/>
            <a:ext cx="4415086" cy="1938992"/>
            <a:chOff x="4271714" y="4088906"/>
            <a:chExt cx="4415086" cy="1938992"/>
          </a:xfrm>
        </p:grpSpPr>
        <p:sp>
          <p:nvSpPr>
            <p:cNvPr id="8" name="TextBox 7"/>
            <p:cNvSpPr txBox="1"/>
            <p:nvPr/>
          </p:nvSpPr>
          <p:spPr>
            <a:xfrm>
              <a:off x="4271714" y="4273572"/>
              <a:ext cx="4284920" cy="1754326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tabLst>
                  <a:tab pos="361950" algn="l"/>
                </a:tabLst>
              </a:pPr>
              <a:r>
                <a:rPr lang="en-SG" b="1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#include </a:t>
              </a:r>
              <a:r>
                <a:rPr lang="en-SG" b="1" dirty="0">
                  <a:solidFill>
                    <a:srgbClr val="00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</a:t>
              </a:r>
              <a:r>
                <a:rPr lang="en-SG" b="1" dirty="0" err="1">
                  <a:solidFill>
                    <a:srgbClr val="00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stdio.h</a:t>
              </a:r>
              <a:r>
                <a:rPr lang="en-SG" b="1" dirty="0">
                  <a:solidFill>
                    <a:srgbClr val="00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</a:p>
            <a:p>
              <a:pPr>
                <a:tabLst>
                  <a:tab pos="361950" algn="l"/>
                </a:tabLst>
              </a:pPr>
              <a:endParaRPr lang="en-SG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tabLst>
                  <a:tab pos="361950" algn="l"/>
                </a:tabLst>
              </a:pPr>
              <a:r>
                <a:rPr lang="en-SG" b="1" dirty="0" err="1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SG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main(</a:t>
              </a:r>
              <a:r>
                <a:rPr lang="en-SG" b="1" dirty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</a:t>
              </a:r>
              <a:r>
                <a:rPr lang="en-SG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{</a:t>
              </a:r>
            </a:p>
            <a:p>
              <a:pPr>
                <a:tabLst>
                  <a:tab pos="361950" algn="l"/>
                </a:tabLst>
              </a:pPr>
              <a:r>
                <a:rPr lang="en-SG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lang="en-SG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printf</a:t>
              </a:r>
              <a:r>
                <a:rPr lang="en-SG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SG" b="1" dirty="0">
                  <a:solidFill>
                    <a:srgbClr val="00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"Hello, world</a:t>
              </a:r>
              <a:r>
                <a:rPr lang="en-SG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\n</a:t>
              </a:r>
              <a:r>
                <a:rPr lang="en-SG" b="1" dirty="0">
                  <a:solidFill>
                    <a:srgbClr val="00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"</a:t>
              </a:r>
              <a:r>
                <a:rPr lang="en-SG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);</a:t>
              </a:r>
            </a:p>
            <a:p>
              <a:pPr>
                <a:tabLst>
                  <a:tab pos="361950" algn="l"/>
                </a:tabLst>
              </a:pPr>
              <a:r>
                <a:rPr lang="en-SG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lang="en-SG" b="1" dirty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return</a:t>
              </a:r>
              <a:r>
                <a:rPr lang="en-SG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SG" b="1" dirty="0">
                  <a:solidFill>
                    <a:srgbClr val="00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  <a:r>
                <a:rPr lang="en-SG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</a:p>
            <a:p>
              <a:pPr>
                <a:tabLst>
                  <a:tab pos="361950" algn="l"/>
                </a:tabLst>
              </a:pPr>
              <a:r>
                <a:rPr lang="en-SG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E8A8E0-C6E2-4967-AA51-8D34455B228E}"/>
                </a:ext>
              </a:extLst>
            </p:cNvPr>
            <p:cNvSpPr txBox="1"/>
            <p:nvPr/>
          </p:nvSpPr>
          <p:spPr>
            <a:xfrm>
              <a:off x="7127065" y="4088906"/>
              <a:ext cx="1559735" cy="369332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HelloWorld.c</a:t>
              </a:r>
              <a:endParaRPr lang="en-SG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EEE9BA-D8A5-49AF-B4B2-1977E38C4F10}"/>
              </a:ext>
            </a:extLst>
          </p:cNvPr>
          <p:cNvGrpSpPr/>
          <p:nvPr/>
        </p:nvGrpSpPr>
        <p:grpSpPr>
          <a:xfrm>
            <a:off x="423949" y="5732453"/>
            <a:ext cx="3348392" cy="702768"/>
            <a:chOff x="457200" y="5325130"/>
            <a:chExt cx="3348392" cy="702768"/>
          </a:xfrm>
        </p:grpSpPr>
        <p:sp>
          <p:nvSpPr>
            <p:cNvPr id="11" name="Callout: Bent Line 2">
              <a:extLst>
                <a:ext uri="{FF2B5EF4-FFF2-40B4-BE49-F238E27FC236}">
                  <a16:creationId xmlns:a16="http://schemas.microsoft.com/office/drawing/2014/main" id="{EE04486A-E042-43EE-AA79-6F7295836D4A}"/>
                </a:ext>
              </a:extLst>
            </p:cNvPr>
            <p:cNvSpPr/>
            <p:nvPr/>
          </p:nvSpPr>
          <p:spPr>
            <a:xfrm>
              <a:off x="856649" y="5692294"/>
              <a:ext cx="2948943" cy="335604"/>
            </a:xfrm>
            <a:prstGeom prst="borderCallout2">
              <a:avLst>
                <a:gd name="adj1" fmla="val 369"/>
                <a:gd name="adj2" fmla="val 91695"/>
                <a:gd name="adj3" fmla="val -233644"/>
                <a:gd name="adj4" fmla="val 91410"/>
                <a:gd name="adj5" fmla="val -228846"/>
                <a:gd name="adj6" fmla="val 115637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buFont typeface="Wingdings" pitchFamily="2" charset="2"/>
                <a:buNone/>
                <a:tabLst>
                  <a:tab pos="561975" algn="l"/>
                </a:tabLst>
                <a:defRPr/>
              </a:pPr>
              <a:r>
                <a:rPr lang="en-SG" sz="16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print(</a:t>
              </a:r>
              <a:r>
                <a:rPr lang="en-SG" sz="1600" b="1" dirty="0">
                  <a:solidFill>
                    <a:srgbClr val="00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"Hello, world"</a:t>
              </a:r>
              <a:r>
                <a:rPr lang="en-SG" sz="16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  <a:endParaRPr lang="en-US" dirty="0">
                <a:solidFill>
                  <a:schemeClr val="tx1"/>
                </a:solidFill>
                <a:latin typeface="Calibri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6DBB3BF-67F5-418E-B1B1-92C3C768FF96}"/>
                </a:ext>
              </a:extLst>
            </p:cNvPr>
            <p:cNvSpPr txBox="1"/>
            <p:nvPr/>
          </p:nvSpPr>
          <p:spPr>
            <a:xfrm>
              <a:off x="457200" y="5325130"/>
              <a:ext cx="1703196" cy="369332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HelloWorld.py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53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 Programming Language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15D3C8C-F8A4-4A66-BE96-54C9419C9038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5784935" y="4865742"/>
            <a:ext cx="1" cy="110286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3901" y="1622253"/>
            <a:ext cx="4032537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400" dirty="0"/>
              <a:t>Creating a C program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400" dirty="0"/>
              <a:t>We assume that you are familiar with C Programming.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400" dirty="0"/>
              <a:t>If not see the “A Quick Introduction to C” document.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3DBDC9A-19F1-4CCB-B8CA-FE0C69C5E471}"/>
              </a:ext>
            </a:extLst>
          </p:cNvPr>
          <p:cNvGrpSpPr/>
          <p:nvPr/>
        </p:nvGrpSpPr>
        <p:grpSpPr>
          <a:xfrm>
            <a:off x="4696363" y="2929040"/>
            <a:ext cx="2177144" cy="504612"/>
            <a:chOff x="3069770" y="2284768"/>
            <a:chExt cx="2177144" cy="50461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C45FBE0-2367-4516-9CBC-8AB93CC320D1}"/>
                </a:ext>
              </a:extLst>
            </p:cNvPr>
            <p:cNvSpPr/>
            <p:nvPr/>
          </p:nvSpPr>
          <p:spPr>
            <a:xfrm>
              <a:off x="3069771" y="2284768"/>
              <a:ext cx="2177143" cy="504612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74BB28F-C368-42B4-97CE-3BB7EC40C48D}"/>
                </a:ext>
              </a:extLst>
            </p:cNvPr>
            <p:cNvSpPr txBox="1"/>
            <p:nvPr/>
          </p:nvSpPr>
          <p:spPr>
            <a:xfrm>
              <a:off x="3069770" y="2303524"/>
              <a:ext cx="21771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/>
                <a:t>Source code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43CA4CC-E8ED-4A96-9EE7-BB12368AEB97}"/>
              </a:ext>
            </a:extLst>
          </p:cNvPr>
          <p:cNvGrpSpPr/>
          <p:nvPr/>
        </p:nvGrpSpPr>
        <p:grpSpPr>
          <a:xfrm>
            <a:off x="4696363" y="4422434"/>
            <a:ext cx="2177145" cy="504612"/>
            <a:chOff x="3069769" y="3515358"/>
            <a:chExt cx="2177145" cy="50461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43C1AAD-8997-47E9-91A7-FD91017EB24A}"/>
                </a:ext>
              </a:extLst>
            </p:cNvPr>
            <p:cNvSpPr/>
            <p:nvPr/>
          </p:nvSpPr>
          <p:spPr>
            <a:xfrm>
              <a:off x="3069771" y="3515358"/>
              <a:ext cx="2177143" cy="504612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092C44E-4A4F-4B7F-9434-E29976415BFA}"/>
                </a:ext>
              </a:extLst>
            </p:cNvPr>
            <p:cNvSpPr txBox="1"/>
            <p:nvPr/>
          </p:nvSpPr>
          <p:spPr>
            <a:xfrm>
              <a:off x="3069769" y="3558556"/>
              <a:ext cx="21771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/>
                <a:t>Object code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B5B90C7-572C-44CE-AF46-CD545F601931}"/>
              </a:ext>
            </a:extLst>
          </p:cNvPr>
          <p:cNvGrpSpPr/>
          <p:nvPr/>
        </p:nvGrpSpPr>
        <p:grpSpPr>
          <a:xfrm>
            <a:off x="4696364" y="5968604"/>
            <a:ext cx="2177143" cy="504612"/>
            <a:chOff x="3069771" y="4745949"/>
            <a:chExt cx="2177143" cy="50461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78F0006-A4BB-4B06-AB64-A7FE2048F864}"/>
                </a:ext>
              </a:extLst>
            </p:cNvPr>
            <p:cNvSpPr/>
            <p:nvPr/>
          </p:nvSpPr>
          <p:spPr>
            <a:xfrm>
              <a:off x="3069771" y="4745949"/>
              <a:ext cx="2177143" cy="504612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D70382A-BA3C-4FF1-A8D7-C077BE496A38}"/>
                </a:ext>
              </a:extLst>
            </p:cNvPr>
            <p:cNvSpPr txBox="1"/>
            <p:nvPr/>
          </p:nvSpPr>
          <p:spPr>
            <a:xfrm>
              <a:off x="3069771" y="4813589"/>
              <a:ext cx="21771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/>
                <a:t>Executable code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588C8A9-4C9E-4C73-B783-9D3C6073C6B0}"/>
              </a:ext>
            </a:extLst>
          </p:cNvPr>
          <p:cNvGrpSpPr/>
          <p:nvPr/>
        </p:nvGrpSpPr>
        <p:grpSpPr>
          <a:xfrm>
            <a:off x="5088734" y="2221816"/>
            <a:ext cx="1392405" cy="400111"/>
            <a:chOff x="3413511" y="2039208"/>
            <a:chExt cx="1392405" cy="400111"/>
          </a:xfrm>
        </p:grpSpPr>
        <p:sp>
          <p:nvSpPr>
            <p:cNvPr id="16" name="Rectangle: Rounded Corners 16">
              <a:extLst>
                <a:ext uri="{FF2B5EF4-FFF2-40B4-BE49-F238E27FC236}">
                  <a16:creationId xmlns:a16="http://schemas.microsoft.com/office/drawing/2014/main" id="{3E7A3E82-4FC0-489F-9D66-DEBD0DBF75DF}"/>
                </a:ext>
              </a:extLst>
            </p:cNvPr>
            <p:cNvSpPr/>
            <p:nvPr/>
          </p:nvSpPr>
          <p:spPr>
            <a:xfrm>
              <a:off x="3413511" y="2039208"/>
              <a:ext cx="1392405" cy="400111"/>
            </a:xfrm>
            <a:prstGeom prst="round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AE11139-AC3D-45EB-880E-5D8A74716B86}"/>
                </a:ext>
              </a:extLst>
            </p:cNvPr>
            <p:cNvSpPr txBox="1"/>
            <p:nvPr/>
          </p:nvSpPr>
          <p:spPr>
            <a:xfrm>
              <a:off x="3508744" y="2054597"/>
              <a:ext cx="12227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>
                  <a:solidFill>
                    <a:schemeClr val="bg1"/>
                  </a:solidFill>
                </a:rPr>
                <a:t>Editor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06DAC8C-F59A-48BD-94F2-D00BDE7FEE38}"/>
              </a:ext>
            </a:extLst>
          </p:cNvPr>
          <p:cNvGrpSpPr/>
          <p:nvPr/>
        </p:nvGrpSpPr>
        <p:grpSpPr>
          <a:xfrm>
            <a:off x="5088733" y="5254358"/>
            <a:ext cx="1392405" cy="400111"/>
            <a:chOff x="3413511" y="2039208"/>
            <a:chExt cx="1392405" cy="400111"/>
          </a:xfrm>
        </p:grpSpPr>
        <p:sp>
          <p:nvSpPr>
            <p:cNvPr id="19" name="Rectangle: Rounded Corners 25">
              <a:extLst>
                <a:ext uri="{FF2B5EF4-FFF2-40B4-BE49-F238E27FC236}">
                  <a16:creationId xmlns:a16="http://schemas.microsoft.com/office/drawing/2014/main" id="{85007F34-79D6-4B7D-A08F-49A8BC9B6770}"/>
                </a:ext>
              </a:extLst>
            </p:cNvPr>
            <p:cNvSpPr/>
            <p:nvPr/>
          </p:nvSpPr>
          <p:spPr>
            <a:xfrm>
              <a:off x="3413511" y="2039208"/>
              <a:ext cx="1392405" cy="400111"/>
            </a:xfrm>
            <a:prstGeom prst="round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8DF2356-90B3-40B0-B315-0BD15A12B322}"/>
                </a:ext>
              </a:extLst>
            </p:cNvPr>
            <p:cNvSpPr txBox="1"/>
            <p:nvPr/>
          </p:nvSpPr>
          <p:spPr>
            <a:xfrm>
              <a:off x="3508744" y="2054597"/>
              <a:ext cx="12227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>
                  <a:solidFill>
                    <a:schemeClr val="bg1"/>
                  </a:solidFill>
                </a:rPr>
                <a:t>Linker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42EC898-EDE7-4283-BAC2-922C4E979904}"/>
              </a:ext>
            </a:extLst>
          </p:cNvPr>
          <p:cNvCxnSpPr>
            <a:stCxn id="16" idx="2"/>
            <a:endCxn id="8" idx="0"/>
          </p:cNvCxnSpPr>
          <p:nvPr/>
        </p:nvCxnSpPr>
        <p:spPr>
          <a:xfrm flipH="1">
            <a:off x="5784935" y="2621927"/>
            <a:ext cx="2" cy="32586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F489F4A-4FB5-46CD-8C4A-5986A1D9125E}"/>
              </a:ext>
            </a:extLst>
          </p:cNvPr>
          <p:cNvCxnSpPr>
            <a:cxnSpLocks/>
          </p:cNvCxnSpPr>
          <p:nvPr/>
        </p:nvCxnSpPr>
        <p:spPr>
          <a:xfrm>
            <a:off x="5784935" y="3433652"/>
            <a:ext cx="0" cy="98878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904CE3A-C84B-4E3F-B918-DA76FCE4471A}"/>
              </a:ext>
            </a:extLst>
          </p:cNvPr>
          <p:cNvGrpSpPr/>
          <p:nvPr/>
        </p:nvGrpSpPr>
        <p:grpSpPr>
          <a:xfrm>
            <a:off x="5088733" y="3724263"/>
            <a:ext cx="1392405" cy="400111"/>
            <a:chOff x="3413511" y="2039208"/>
            <a:chExt cx="1392405" cy="400111"/>
          </a:xfrm>
        </p:grpSpPr>
        <p:sp>
          <p:nvSpPr>
            <p:cNvPr id="24" name="Rectangle: Rounded Corners 22">
              <a:extLst>
                <a:ext uri="{FF2B5EF4-FFF2-40B4-BE49-F238E27FC236}">
                  <a16:creationId xmlns:a16="http://schemas.microsoft.com/office/drawing/2014/main" id="{61444365-BE33-4F45-AD42-8CF59A250A84}"/>
                </a:ext>
              </a:extLst>
            </p:cNvPr>
            <p:cNvSpPr/>
            <p:nvPr/>
          </p:nvSpPr>
          <p:spPr>
            <a:xfrm>
              <a:off x="3413511" y="2039208"/>
              <a:ext cx="1392405" cy="400111"/>
            </a:xfrm>
            <a:prstGeom prst="round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CC2EE52-ACC4-473E-87A1-0D7ED584C45D}"/>
                </a:ext>
              </a:extLst>
            </p:cNvPr>
            <p:cNvSpPr txBox="1"/>
            <p:nvPr/>
          </p:nvSpPr>
          <p:spPr>
            <a:xfrm>
              <a:off x="3508744" y="2054597"/>
              <a:ext cx="12227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>
                  <a:solidFill>
                    <a:schemeClr val="bg1"/>
                  </a:solidFill>
                </a:rPr>
                <a:t>Compiler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221C477-0238-4EEF-BBBA-198D8194794C}"/>
              </a:ext>
            </a:extLst>
          </p:cNvPr>
          <p:cNvGrpSpPr/>
          <p:nvPr/>
        </p:nvGrpSpPr>
        <p:grpSpPr>
          <a:xfrm>
            <a:off x="2877613" y="5131035"/>
            <a:ext cx="1528825" cy="665866"/>
            <a:chOff x="3069770" y="3505802"/>
            <a:chExt cx="1528825" cy="665866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D54C940-B4DE-4E42-BDAE-22134497ABE7}"/>
                </a:ext>
              </a:extLst>
            </p:cNvPr>
            <p:cNvSpPr/>
            <p:nvPr/>
          </p:nvSpPr>
          <p:spPr>
            <a:xfrm>
              <a:off x="3069773" y="3515357"/>
              <a:ext cx="1528822" cy="65631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B35C1C7-A87D-40BE-A694-5763BD8BE4C1}"/>
                </a:ext>
              </a:extLst>
            </p:cNvPr>
            <p:cNvSpPr txBox="1"/>
            <p:nvPr/>
          </p:nvSpPr>
          <p:spPr>
            <a:xfrm>
              <a:off x="3069770" y="3505802"/>
              <a:ext cx="15288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Other object codes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302CB2F-5964-40B4-98DF-8943215D56CB}"/>
              </a:ext>
            </a:extLst>
          </p:cNvPr>
          <p:cNvGrpSpPr/>
          <p:nvPr/>
        </p:nvGrpSpPr>
        <p:grpSpPr>
          <a:xfrm>
            <a:off x="7112994" y="5111500"/>
            <a:ext cx="1557180" cy="675846"/>
            <a:chOff x="3069773" y="3495822"/>
            <a:chExt cx="1557180" cy="67584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8F2C5BA-1184-4E49-9F05-78833C048D4D}"/>
                </a:ext>
              </a:extLst>
            </p:cNvPr>
            <p:cNvSpPr/>
            <p:nvPr/>
          </p:nvSpPr>
          <p:spPr>
            <a:xfrm>
              <a:off x="3069773" y="3515357"/>
              <a:ext cx="1557180" cy="65631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BFFCB26-8547-4A57-BAD9-D8CD45CEBAEA}"/>
                </a:ext>
              </a:extLst>
            </p:cNvPr>
            <p:cNvSpPr txBox="1"/>
            <p:nvPr/>
          </p:nvSpPr>
          <p:spPr>
            <a:xfrm>
              <a:off x="3077726" y="3495822"/>
              <a:ext cx="14650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Function libraries</a:t>
              </a:r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F3261C2-8F8B-45FB-9DAB-C13FC45F58AB}"/>
              </a:ext>
            </a:extLst>
          </p:cNvPr>
          <p:cNvCxnSpPr>
            <a:cxnSpLocks/>
            <a:stCxn id="28" idx="3"/>
            <a:endCxn id="19" idx="1"/>
          </p:cNvCxnSpPr>
          <p:nvPr/>
        </p:nvCxnSpPr>
        <p:spPr>
          <a:xfrm>
            <a:off x="4406438" y="5454201"/>
            <a:ext cx="682295" cy="21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E6964DF-F41C-4295-A331-C794EA184760}"/>
              </a:ext>
            </a:extLst>
          </p:cNvPr>
          <p:cNvCxnSpPr>
            <a:cxnSpLocks/>
            <a:stCxn id="30" idx="1"/>
            <a:endCxn id="19" idx="3"/>
          </p:cNvCxnSpPr>
          <p:nvPr/>
        </p:nvCxnSpPr>
        <p:spPr>
          <a:xfrm flipH="1" flipV="1">
            <a:off x="6481138" y="5454414"/>
            <a:ext cx="631856" cy="477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51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E2783A-A552-4767-BB63-8266A47565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69" t="15927" r="3908" b="7138"/>
          <a:stretch/>
        </p:blipFill>
        <p:spPr>
          <a:xfrm>
            <a:off x="5342959" y="1267667"/>
            <a:ext cx="3593223" cy="53131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A7DFA4-51E7-4BF6-AE54-6CDA92E0FAD7}"/>
              </a:ext>
            </a:extLst>
          </p:cNvPr>
          <p:cNvSpPr txBox="1"/>
          <p:nvPr/>
        </p:nvSpPr>
        <p:spPr>
          <a:xfrm>
            <a:off x="1039091" y="1589274"/>
            <a:ext cx="4097390" cy="17235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400" dirty="0"/>
              <a:t>High-level language</a:t>
            </a:r>
          </a:p>
          <a:p>
            <a:pPr marL="623888" lvl="1" indent="-2603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dirty="0"/>
              <a:t>Level of abstraction closer to problem domain</a:t>
            </a:r>
          </a:p>
          <a:p>
            <a:pPr marL="623888" lvl="1" indent="-2603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dirty="0"/>
              <a:t>Provides productivity and portability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73A10E-B1C4-45B9-B6A4-B1D06E0ACB6D}"/>
              </a:ext>
            </a:extLst>
          </p:cNvPr>
          <p:cNvSpPr txBox="1"/>
          <p:nvPr/>
        </p:nvSpPr>
        <p:spPr>
          <a:xfrm>
            <a:off x="1039091" y="3476745"/>
            <a:ext cx="4097390" cy="109260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400" dirty="0"/>
              <a:t>Assembly language</a:t>
            </a:r>
          </a:p>
          <a:p>
            <a:pPr marL="623888" lvl="1" indent="-2603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dirty="0"/>
              <a:t>Textual and symbolic representation of instructions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D5512E-2C66-4F97-852E-7103944CC05D}"/>
              </a:ext>
            </a:extLst>
          </p:cNvPr>
          <p:cNvSpPr txBox="1"/>
          <p:nvPr/>
        </p:nvSpPr>
        <p:spPr>
          <a:xfrm>
            <a:off x="1039091" y="4880752"/>
            <a:ext cx="4097390" cy="1461939"/>
          </a:xfrm>
          <a:prstGeom prst="rect">
            <a:avLst/>
          </a:prstGeom>
          <a:solidFill>
            <a:srgbClr val="E2FFC5"/>
          </a:solidFill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400" dirty="0"/>
              <a:t>Machine code (object code or binary)</a:t>
            </a:r>
          </a:p>
          <a:p>
            <a:pPr marL="623888" lvl="1" indent="-2603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dirty="0"/>
              <a:t>Binary bits of instructions and data</a:t>
            </a:r>
          </a:p>
        </p:txBody>
      </p:sp>
    </p:spTree>
    <p:extLst>
      <p:ext uri="{BB962C8B-B14F-4D97-AF65-F5344CB8AC3E}">
        <p14:creationId xmlns:p14="http://schemas.microsoft.com/office/powerpoint/2010/main" val="3040346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BF04D-D66C-4F73-895E-3DB7F32E5527}"/>
              </a:ext>
            </a:extLst>
          </p:cNvPr>
          <p:cNvSpPr txBox="1"/>
          <p:nvPr/>
        </p:nvSpPr>
        <p:spPr>
          <a:xfrm>
            <a:off x="5780227" y="1503193"/>
            <a:ext cx="3005789" cy="83099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Hardware/Software Stack in Computer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916159" y="2552813"/>
            <a:ext cx="3701446" cy="501445"/>
            <a:chOff x="3082413" y="1887794"/>
            <a:chExt cx="3701446" cy="501445"/>
          </a:xfrm>
        </p:grpSpPr>
        <p:sp>
          <p:nvSpPr>
            <p:cNvPr id="6" name="Rectangle 5"/>
            <p:cNvSpPr/>
            <p:nvPr/>
          </p:nvSpPr>
          <p:spPr>
            <a:xfrm>
              <a:off x="3082413" y="1887794"/>
              <a:ext cx="3701446" cy="50144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605981" y="1941783"/>
              <a:ext cx="28095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/>
                <a:t>Application software</a:t>
              </a:r>
              <a:endParaRPr lang="en-US" sz="2000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529812" y="3054258"/>
            <a:ext cx="6081862" cy="921448"/>
            <a:chOff x="1696066" y="2389239"/>
            <a:chExt cx="6081862" cy="921448"/>
          </a:xfrm>
        </p:grpSpPr>
        <p:sp>
          <p:nvSpPr>
            <p:cNvPr id="9" name="Rectangle 8"/>
            <p:cNvSpPr/>
            <p:nvPr/>
          </p:nvSpPr>
          <p:spPr>
            <a:xfrm>
              <a:off x="1696066" y="2389239"/>
              <a:ext cx="6081862" cy="92144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39513" y="2463118"/>
              <a:ext cx="25429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/>
                <a:t>Operating System</a:t>
              </a:r>
              <a:endParaRPr lang="en-US" sz="20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804867" y="2735562"/>
            <a:ext cx="1528915" cy="1238220"/>
            <a:chOff x="1553498" y="3544319"/>
            <a:chExt cx="1528915" cy="1238220"/>
          </a:xfrm>
        </p:grpSpPr>
        <p:grpSp>
          <p:nvGrpSpPr>
            <p:cNvPr id="12" name="Group 11"/>
            <p:cNvGrpSpPr/>
            <p:nvPr/>
          </p:nvGrpSpPr>
          <p:grpSpPr>
            <a:xfrm>
              <a:off x="1553498" y="3544319"/>
              <a:ext cx="1528915" cy="412741"/>
              <a:chOff x="1553498" y="3544319"/>
              <a:chExt cx="1528915" cy="400111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1553498" y="3544320"/>
                <a:ext cx="1528915" cy="40011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593440" y="3544319"/>
                <a:ext cx="144902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000" dirty="0"/>
                  <a:t>Compiler</a:t>
                </a:r>
                <a:endParaRPr lang="en-US" sz="2000" dirty="0"/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1553498" y="3957059"/>
              <a:ext cx="1528915" cy="412741"/>
              <a:chOff x="1553498" y="3544319"/>
              <a:chExt cx="1528915" cy="400111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1553498" y="3544320"/>
                <a:ext cx="1528915" cy="40011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1593440" y="3544319"/>
                <a:ext cx="144902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000" dirty="0"/>
                  <a:t>Assembler</a:t>
                </a:r>
                <a:endParaRPr lang="en-US" sz="2000" dirty="0"/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1553498" y="4369798"/>
              <a:ext cx="1528915" cy="412741"/>
              <a:chOff x="1553498" y="3544319"/>
              <a:chExt cx="1528915" cy="400111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1553498" y="3544320"/>
                <a:ext cx="1528915" cy="40011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1593440" y="3544319"/>
                <a:ext cx="144902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000" dirty="0"/>
                  <a:t>Linker</a:t>
                </a:r>
                <a:endParaRPr lang="en-US" sz="2000" dirty="0"/>
              </a:p>
            </p:txBody>
          </p:sp>
        </p:grpSp>
      </p:grpSp>
      <p:grpSp>
        <p:nvGrpSpPr>
          <p:cNvPr id="21" name="Group 20"/>
          <p:cNvGrpSpPr/>
          <p:nvPr/>
        </p:nvGrpSpPr>
        <p:grpSpPr>
          <a:xfrm>
            <a:off x="3333783" y="3561041"/>
            <a:ext cx="991836" cy="412741"/>
            <a:chOff x="1553499" y="3544319"/>
            <a:chExt cx="1056545" cy="400111"/>
          </a:xfrm>
        </p:grpSpPr>
        <p:sp>
          <p:nvSpPr>
            <p:cNvPr id="22" name="Rectangle 21"/>
            <p:cNvSpPr/>
            <p:nvPr/>
          </p:nvSpPr>
          <p:spPr>
            <a:xfrm>
              <a:off x="1553499" y="3544320"/>
              <a:ext cx="1056545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593441" y="3544319"/>
              <a:ext cx="1016602" cy="358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Loader</a:t>
              </a:r>
              <a:endParaRPr lang="en-US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325619" y="3561041"/>
            <a:ext cx="1294787" cy="412741"/>
            <a:chOff x="1553498" y="3544319"/>
            <a:chExt cx="1294787" cy="400111"/>
          </a:xfrm>
        </p:grpSpPr>
        <p:sp>
          <p:nvSpPr>
            <p:cNvPr id="25" name="Rectangle 24"/>
            <p:cNvSpPr/>
            <p:nvPr/>
          </p:nvSpPr>
          <p:spPr>
            <a:xfrm>
              <a:off x="1553498" y="3544320"/>
              <a:ext cx="1294787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593440" y="3544319"/>
              <a:ext cx="1254845" cy="358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Scheduler</a:t>
              </a:r>
              <a:endParaRPr lang="en-US" dirty="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620407" y="3561042"/>
            <a:ext cx="1791593" cy="412740"/>
            <a:chOff x="1782430" y="3544320"/>
            <a:chExt cx="1779105" cy="400110"/>
          </a:xfrm>
        </p:grpSpPr>
        <p:sp>
          <p:nvSpPr>
            <p:cNvPr id="28" name="Rectangle 27"/>
            <p:cNvSpPr/>
            <p:nvPr/>
          </p:nvSpPr>
          <p:spPr>
            <a:xfrm>
              <a:off x="1782430" y="3544320"/>
              <a:ext cx="1779105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82431" y="3560291"/>
              <a:ext cx="1779104" cy="358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Device Drivers</a:t>
              </a:r>
              <a:endParaRPr lang="en-US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529811" y="4437157"/>
            <a:ext cx="2035675" cy="416585"/>
            <a:chOff x="1782429" y="3544320"/>
            <a:chExt cx="2021486" cy="403837"/>
          </a:xfrm>
        </p:grpSpPr>
        <p:sp>
          <p:nvSpPr>
            <p:cNvPr id="31" name="Rectangle 30"/>
            <p:cNvSpPr/>
            <p:nvPr/>
          </p:nvSpPr>
          <p:spPr>
            <a:xfrm>
              <a:off x="1782429" y="3544320"/>
              <a:ext cx="2021486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877427" y="3560291"/>
              <a:ext cx="1801605" cy="387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/>
                <a:t>Processor</a:t>
              </a:r>
              <a:endParaRPr lang="en-US" sz="2000" dirty="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3565486" y="4437157"/>
            <a:ext cx="2035675" cy="416585"/>
            <a:chOff x="1782429" y="3544320"/>
            <a:chExt cx="2021486" cy="403837"/>
          </a:xfrm>
        </p:grpSpPr>
        <p:sp>
          <p:nvSpPr>
            <p:cNvPr id="34" name="Rectangle 33"/>
            <p:cNvSpPr/>
            <p:nvPr/>
          </p:nvSpPr>
          <p:spPr>
            <a:xfrm>
              <a:off x="1782429" y="3544320"/>
              <a:ext cx="2021486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877427" y="3560291"/>
              <a:ext cx="1801605" cy="387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/>
                <a:t>Memory</a:t>
              </a:r>
              <a:endParaRPr lang="en-US" sz="2000" dirty="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5601161" y="4437157"/>
            <a:ext cx="2035675" cy="416585"/>
            <a:chOff x="1782429" y="3544320"/>
            <a:chExt cx="2021486" cy="403837"/>
          </a:xfrm>
        </p:grpSpPr>
        <p:sp>
          <p:nvSpPr>
            <p:cNvPr id="37" name="Rectangle 36"/>
            <p:cNvSpPr/>
            <p:nvPr/>
          </p:nvSpPr>
          <p:spPr>
            <a:xfrm>
              <a:off x="1782429" y="3544320"/>
              <a:ext cx="2021486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877427" y="3560291"/>
              <a:ext cx="1801605" cy="387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/>
                <a:t>I/O System</a:t>
              </a:r>
              <a:endParaRPr lang="en-US" sz="2000" dirty="0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529810" y="4844126"/>
            <a:ext cx="6107026" cy="416585"/>
            <a:chOff x="1782429" y="3544320"/>
            <a:chExt cx="6064459" cy="403837"/>
          </a:xfrm>
        </p:grpSpPr>
        <p:sp>
          <p:nvSpPr>
            <p:cNvPr id="40" name="Rectangle 39"/>
            <p:cNvSpPr/>
            <p:nvPr/>
          </p:nvSpPr>
          <p:spPr>
            <a:xfrm>
              <a:off x="1782429" y="3544320"/>
              <a:ext cx="6064459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877427" y="3560291"/>
              <a:ext cx="5814163" cy="387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 err="1"/>
                <a:t>Datapath</a:t>
              </a:r>
              <a:r>
                <a:rPr lang="en-SG" sz="2000" dirty="0"/>
                <a:t> &amp; Control Design</a:t>
              </a:r>
              <a:endParaRPr lang="en-US" sz="2000" dirty="0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529810" y="5247250"/>
            <a:ext cx="6107026" cy="416585"/>
            <a:chOff x="1782429" y="3544320"/>
            <a:chExt cx="6064459" cy="403837"/>
          </a:xfrm>
        </p:grpSpPr>
        <p:sp>
          <p:nvSpPr>
            <p:cNvPr id="43" name="Rectangle 42"/>
            <p:cNvSpPr/>
            <p:nvPr/>
          </p:nvSpPr>
          <p:spPr>
            <a:xfrm>
              <a:off x="1782429" y="3544320"/>
              <a:ext cx="6064459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877427" y="3560291"/>
              <a:ext cx="5814163" cy="387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/>
                <a:t>Digital Logic Design</a:t>
              </a:r>
              <a:endParaRPr lang="en-US" sz="2000" dirty="0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1529810" y="5658566"/>
            <a:ext cx="6107026" cy="416585"/>
            <a:chOff x="1782429" y="3544320"/>
            <a:chExt cx="6064459" cy="403837"/>
          </a:xfrm>
        </p:grpSpPr>
        <p:sp>
          <p:nvSpPr>
            <p:cNvPr id="46" name="Rectangle 45"/>
            <p:cNvSpPr/>
            <p:nvPr/>
          </p:nvSpPr>
          <p:spPr>
            <a:xfrm>
              <a:off x="1782429" y="3544320"/>
              <a:ext cx="6064459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877427" y="3560291"/>
              <a:ext cx="5814163" cy="387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/>
                <a:t>Circuit Design</a:t>
              </a:r>
              <a:endParaRPr lang="en-US" sz="2000" dirty="0"/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1529810" y="6071306"/>
            <a:ext cx="6107026" cy="416585"/>
            <a:chOff x="1782429" y="3544320"/>
            <a:chExt cx="6064459" cy="403837"/>
          </a:xfrm>
        </p:grpSpPr>
        <p:sp>
          <p:nvSpPr>
            <p:cNvPr id="49" name="Rectangle 48"/>
            <p:cNvSpPr/>
            <p:nvPr/>
          </p:nvSpPr>
          <p:spPr>
            <a:xfrm>
              <a:off x="1782429" y="3544320"/>
              <a:ext cx="6064459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877427" y="3560291"/>
              <a:ext cx="5814163" cy="387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/>
                <a:t>Transistors</a:t>
              </a:r>
              <a:endParaRPr lang="en-US" sz="2000" dirty="0"/>
            </a:p>
          </p:txBody>
        </p:sp>
      </p:grpSp>
      <p:sp>
        <p:nvSpPr>
          <p:cNvPr id="51" name="TextBox 50"/>
          <p:cNvSpPr txBox="1"/>
          <p:nvPr/>
        </p:nvSpPr>
        <p:spPr>
          <a:xfrm rot="16200000">
            <a:off x="340691" y="3076845"/>
            <a:ext cx="13849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000" dirty="0">
                <a:solidFill>
                  <a:srgbClr val="C00000"/>
                </a:solidFill>
              </a:rPr>
              <a:t>Software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 rot="16200000">
            <a:off x="340690" y="5202886"/>
            <a:ext cx="13849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000" dirty="0">
                <a:solidFill>
                  <a:srgbClr val="C00000"/>
                </a:solidFill>
              </a:rPr>
              <a:t>Hardware</a:t>
            </a:r>
            <a:endParaRPr lang="en-US" sz="2000" dirty="0">
              <a:solidFill>
                <a:srgbClr val="C00000"/>
              </a:solidFill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1173519" y="3969399"/>
            <a:ext cx="6845581" cy="477374"/>
            <a:chOff x="1339773" y="3304380"/>
            <a:chExt cx="6845581" cy="477374"/>
          </a:xfrm>
        </p:grpSpPr>
        <p:sp>
          <p:nvSpPr>
            <p:cNvPr id="54" name="Rectangle 53"/>
            <p:cNvSpPr/>
            <p:nvPr/>
          </p:nvSpPr>
          <p:spPr>
            <a:xfrm>
              <a:off x="1339773" y="3304380"/>
              <a:ext cx="6845581" cy="477374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176912" y="3304380"/>
              <a:ext cx="51713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Instruction Set Architecture (ISA)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6" name="Straight Arrow Connector 55"/>
          <p:cNvCxnSpPr/>
          <p:nvPr/>
        </p:nvCxnSpPr>
        <p:spPr>
          <a:xfrm flipV="1">
            <a:off x="1338081" y="2552813"/>
            <a:ext cx="0" cy="137756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1338081" y="4446773"/>
            <a:ext cx="0" cy="2037273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3973259" y="3148302"/>
            <a:ext cx="2542944" cy="379945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7181961" y="2584401"/>
            <a:ext cx="1107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olidFill>
                  <a:srgbClr val="0000FF"/>
                </a:solidFill>
              </a:rPr>
              <a:t>IT5002 Part 2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60" name="Straight Arrow Connector 59"/>
          <p:cNvCxnSpPr/>
          <p:nvPr/>
        </p:nvCxnSpPr>
        <p:spPr>
          <a:xfrm flipV="1">
            <a:off x="6516203" y="2866352"/>
            <a:ext cx="756921" cy="281950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1983733" y="2779221"/>
            <a:ext cx="1189086" cy="314064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544965" y="2037928"/>
            <a:ext cx="1107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olidFill>
                  <a:srgbClr val="7030A0"/>
                </a:solidFill>
              </a:rPr>
              <a:t>CS4212</a:t>
            </a:r>
            <a:endParaRPr lang="en-US" dirty="0">
              <a:solidFill>
                <a:srgbClr val="7030A0"/>
              </a:solidFill>
            </a:endParaRPr>
          </a:p>
        </p:txBody>
      </p:sp>
      <p:cxnSp>
        <p:nvCxnSpPr>
          <p:cNvPr id="63" name="Straight Arrow Connector 62"/>
          <p:cNvCxnSpPr/>
          <p:nvPr/>
        </p:nvCxnSpPr>
        <p:spPr>
          <a:xfrm flipH="1" flipV="1">
            <a:off x="2010659" y="2384786"/>
            <a:ext cx="206364" cy="37282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833133" y="3889345"/>
            <a:ext cx="7275369" cy="1785696"/>
          </a:xfrm>
          <a:prstGeom prst="ellipse">
            <a:avLst/>
          </a:prstGeom>
          <a:solidFill>
            <a:srgbClr val="FFCCFF">
              <a:alpha val="27843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7584885" y="5164024"/>
            <a:ext cx="1376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olidFill>
                  <a:srgbClr val="C00000"/>
                </a:solidFill>
              </a:rPr>
              <a:t>IT5002 Part 1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4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4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8" grpId="0" animBg="1"/>
      <p:bldP spid="59" grpId="0"/>
      <p:bldP spid="61" grpId="0" animBg="1"/>
      <p:bldP spid="62" grpId="0"/>
      <p:bldP spid="64" grpId="0" animBg="1"/>
      <p:bldP spid="6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1BF04D-D66C-4F73-895E-3DB7F32E5527}"/>
              </a:ext>
            </a:extLst>
          </p:cNvPr>
          <p:cNvSpPr txBox="1"/>
          <p:nvPr/>
        </p:nvSpPr>
        <p:spPr>
          <a:xfrm>
            <a:off x="3976840" y="963688"/>
            <a:ext cx="3686782" cy="461665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Level of Representation</a:t>
            </a:r>
          </a:p>
        </p:txBody>
      </p:sp>
      <p:pic>
        <p:nvPicPr>
          <p:cNvPr id="6" name="Picture 4" descr="level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0038" y="1520641"/>
            <a:ext cx="7086600" cy="504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6446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Computer?</a:t>
            </a:r>
          </a:p>
        </p:txBody>
      </p:sp>
      <p:pic>
        <p:nvPicPr>
          <p:cNvPr id="4" name="Picture 3" descr="most_recent_computer_tech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4196" y="1417039"/>
            <a:ext cx="5029200" cy="4879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4196" y="6355080"/>
            <a:ext cx="4419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Credit: </a:t>
            </a:r>
            <a:r>
              <a:rPr lang="en-US" sz="1100" dirty="0">
                <a:hlinkClick r:id="rId3"/>
              </a:rPr>
              <a:t>http://tech3news.com/most-recent-computer-technology/</a:t>
            </a:r>
            <a:r>
              <a:rPr lang="en-US" sz="1100"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53396" y="1325880"/>
            <a:ext cx="3505200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300"/>
              </a:spcBef>
              <a:buAutoNum type="arabicPeriod"/>
            </a:pPr>
            <a:r>
              <a:rPr lang="en-US" sz="1600" dirty="0"/>
              <a:t>Power supply</a:t>
            </a:r>
          </a:p>
          <a:p>
            <a:pPr marL="342900" indent="-342900">
              <a:spcBef>
                <a:spcPts val="300"/>
              </a:spcBef>
              <a:buAutoNum type="arabicPeriod"/>
            </a:pPr>
            <a:r>
              <a:rPr lang="en-US" sz="1600" dirty="0"/>
              <a:t>Motherboard</a:t>
            </a:r>
          </a:p>
          <a:p>
            <a:pPr marL="342900" indent="-342900">
              <a:spcBef>
                <a:spcPts val="300"/>
              </a:spcBef>
              <a:buAutoNum type="arabicPeriod"/>
            </a:pPr>
            <a:r>
              <a:rPr lang="en-US" sz="1600" dirty="0">
                <a:solidFill>
                  <a:srgbClr val="C00000"/>
                </a:solidFill>
              </a:rPr>
              <a:t>Central Processing Unit (CPU)</a:t>
            </a:r>
          </a:p>
          <a:p>
            <a:pPr marL="342900" indent="-342900">
              <a:spcBef>
                <a:spcPts val="300"/>
              </a:spcBef>
              <a:buAutoNum type="arabicPeriod"/>
            </a:pPr>
            <a:r>
              <a:rPr lang="en-US" sz="1600" dirty="0"/>
              <a:t>Random Access Memory (RAM)</a:t>
            </a:r>
          </a:p>
          <a:p>
            <a:pPr marL="342900" indent="-342900">
              <a:spcBef>
                <a:spcPts val="300"/>
              </a:spcBef>
              <a:buAutoNum type="arabicPeriod"/>
            </a:pPr>
            <a:r>
              <a:rPr lang="en-US" sz="1600" dirty="0"/>
              <a:t>Hard drive</a:t>
            </a:r>
          </a:p>
          <a:p>
            <a:pPr marL="342900" indent="-342900">
              <a:spcBef>
                <a:spcPts val="300"/>
              </a:spcBef>
              <a:buAutoNum type="arabicPeriod"/>
            </a:pPr>
            <a:r>
              <a:rPr lang="en-US" sz="1600" dirty="0"/>
              <a:t>Cooling fan</a:t>
            </a:r>
          </a:p>
          <a:p>
            <a:pPr marL="342900" indent="-342900">
              <a:spcBef>
                <a:spcPts val="300"/>
              </a:spcBef>
              <a:buAutoNum type="arabicPeriod"/>
            </a:pPr>
            <a:r>
              <a:rPr lang="en-US" sz="1600" dirty="0"/>
              <a:t>I/O devices</a:t>
            </a:r>
          </a:p>
        </p:txBody>
      </p:sp>
      <p:pic>
        <p:nvPicPr>
          <p:cNvPr id="7" name="Picture 6" descr="20121022368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29596" y="3459480"/>
            <a:ext cx="1981200" cy="23420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53396" y="5745480"/>
            <a:ext cx="35052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Credit: </a:t>
            </a:r>
            <a:r>
              <a:rPr lang="en-US" sz="1100" dirty="0">
                <a:hlinkClick r:id="rId5"/>
              </a:rPr>
              <a:t>http://www.overclock3d.net/reviews/cpu_mainboard/the_computer_council_-_clocked_gamer_quad/1</a:t>
            </a:r>
            <a:r>
              <a:rPr lang="en-US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2674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Computer?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16930" y="2021875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PC motherboard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212630" y="2109767"/>
            <a:ext cx="3733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lang="en-US" sz="2400" kern="0" noProof="0" dirty="0">
                <a:latin typeface="+mn-lt"/>
                <a:cs typeface="+mn-cs"/>
              </a:rPr>
              <a:t>Pentium processor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50230" y="2643167"/>
            <a:ext cx="3505200" cy="2488287"/>
            <a:chOff x="381000" y="1905000"/>
            <a:chExt cx="3505200" cy="2488287"/>
          </a:xfrm>
        </p:grpSpPr>
        <p:pic>
          <p:nvPicPr>
            <p:cNvPr id="7" name="Picture 6" descr="motherboard-labelled5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" y="1905000"/>
              <a:ext cx="3505200" cy="2087299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457200" y="3962400"/>
              <a:ext cx="32766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Credit: </a:t>
              </a:r>
              <a:r>
                <a:rPr lang="en-US" sz="1100" dirty="0">
                  <a:hlinkClick r:id="rId3"/>
                </a:rPr>
                <a:t>http://www.computer-hardware-explained.com/what-is-a-motherboard.html</a:t>
              </a:r>
              <a:r>
                <a:rPr lang="en-US" sz="1100" dirty="0"/>
                <a:t> </a:t>
              </a:r>
            </a:p>
          </p:txBody>
        </p:sp>
      </p:grpSp>
      <p:pic>
        <p:nvPicPr>
          <p:cNvPr id="9" name="Picture 8" descr="Pentium4_chip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13030" y="1957367"/>
            <a:ext cx="1320800" cy="990600"/>
          </a:xfrm>
          <a:prstGeom prst="rect">
            <a:avLst/>
          </a:prstGeom>
        </p:spPr>
      </p:pic>
      <p:pic>
        <p:nvPicPr>
          <p:cNvPr id="10" name="Picture 21" descr="10~figure_1"/>
          <p:cNvPicPr>
            <a:picLocks noChangeAspect="1" noChangeArrowheads="1"/>
          </p:cNvPicPr>
          <p:nvPr/>
        </p:nvPicPr>
        <p:blipFill>
          <a:blip r:embed="rId5" cstate="print"/>
          <a:srcRect r="34860" b="38312"/>
          <a:stretch>
            <a:fillRect/>
          </a:stretch>
        </p:blipFill>
        <p:spPr bwMode="auto">
          <a:xfrm>
            <a:off x="6727230" y="3252767"/>
            <a:ext cx="2133600" cy="2785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" name="Group 10"/>
          <p:cNvGrpSpPr/>
          <p:nvPr/>
        </p:nvGrpSpPr>
        <p:grpSpPr>
          <a:xfrm>
            <a:off x="4060230" y="2795567"/>
            <a:ext cx="2501457" cy="3200400"/>
            <a:chOff x="4191000" y="1828800"/>
            <a:chExt cx="2501457" cy="3200400"/>
          </a:xfrm>
        </p:grpSpPr>
        <p:pic>
          <p:nvPicPr>
            <p:cNvPr id="12" name="Picture 11" descr="chip_inside_pentium_4_processor.jp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91000" y="2209800"/>
              <a:ext cx="2501457" cy="2819400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4267200" y="1828800"/>
              <a:ext cx="2362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Inside a Pentium chip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779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IT5002 : It’s About Computer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0499" y="1415882"/>
            <a:ext cx="757508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C00000"/>
                </a:solidFill>
              </a:rPr>
              <a:t>Computer </a:t>
            </a:r>
            <a:r>
              <a:rPr lang="en-US" sz="2400" dirty="0" err="1">
                <a:solidFill>
                  <a:srgbClr val="C00000"/>
                </a:solidFill>
              </a:rPr>
              <a:t>organisation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is the study of internal working, structuring and implementation of a computer system.</a:t>
            </a:r>
            <a:endParaRPr lang="en-SG" sz="24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It refers to the level of abstraction above the digital logic level, but below the operating system level.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37" b="6836"/>
          <a:stretch/>
        </p:blipFill>
        <p:spPr>
          <a:xfrm>
            <a:off x="1094603" y="3441386"/>
            <a:ext cx="5642811" cy="3157087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6583803" y="4598308"/>
            <a:ext cx="1615007" cy="1256044"/>
            <a:chOff x="7305151" y="4531807"/>
            <a:chExt cx="1615007" cy="1256044"/>
          </a:xfrm>
        </p:grpSpPr>
        <p:sp>
          <p:nvSpPr>
            <p:cNvPr id="7" name="Right Brace 6"/>
            <p:cNvSpPr/>
            <p:nvPr/>
          </p:nvSpPr>
          <p:spPr>
            <a:xfrm>
              <a:off x="7305151" y="4531807"/>
              <a:ext cx="238649" cy="1256044"/>
            </a:xfrm>
            <a:prstGeom prst="rightBrace">
              <a:avLst>
                <a:gd name="adj1" fmla="val 40591"/>
                <a:gd name="adj2" fmla="val 50000"/>
              </a:avLst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543800" y="4928996"/>
              <a:ext cx="13763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rgbClr val="C00000"/>
                  </a:solidFill>
                </a:rPr>
                <a:t>IT5002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257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IT5002 : It’s About Computer Organization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BF04D-D66C-4F73-895E-3DB7F32E5527}"/>
              </a:ext>
            </a:extLst>
          </p:cNvPr>
          <p:cNvSpPr txBox="1"/>
          <p:nvPr/>
        </p:nvSpPr>
        <p:spPr>
          <a:xfrm>
            <a:off x="960437" y="1705383"/>
            <a:ext cx="3160078" cy="461665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(From user to builder)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57446" y="2203219"/>
            <a:ext cx="8229600" cy="4454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fontAlgn="auto">
              <a:lnSpc>
                <a:spcPct val="90000"/>
              </a:lnSpc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You want to call yourself a </a:t>
            </a:r>
            <a:r>
              <a:rPr lang="en-US" dirty="0">
                <a:solidFill>
                  <a:srgbClr val="800000"/>
                </a:solidFill>
              </a:rPr>
              <a:t>computer scientist/specialist</a:t>
            </a:r>
            <a:r>
              <a:rPr lang="en-US" dirty="0"/>
              <a:t>.</a:t>
            </a:r>
          </a:p>
          <a:p>
            <a:pPr marL="271463" indent="-271463" fontAlgn="auto">
              <a:lnSpc>
                <a:spcPct val="90000"/>
              </a:lnSpc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You want to </a:t>
            </a:r>
            <a:r>
              <a:rPr lang="en-US" dirty="0">
                <a:solidFill>
                  <a:srgbClr val="800000"/>
                </a:solidFill>
              </a:rPr>
              <a:t>build</a:t>
            </a:r>
            <a:r>
              <a:rPr lang="en-US" dirty="0"/>
              <a:t> software people use.</a:t>
            </a:r>
          </a:p>
          <a:p>
            <a:pPr marL="271463" indent="-271463" fontAlgn="auto">
              <a:lnSpc>
                <a:spcPct val="90000"/>
              </a:lnSpc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You need to make purchasing </a:t>
            </a:r>
            <a:r>
              <a:rPr lang="en-US" dirty="0">
                <a:solidFill>
                  <a:srgbClr val="800000"/>
                </a:solidFill>
              </a:rPr>
              <a:t>decisions</a:t>
            </a:r>
            <a:r>
              <a:rPr lang="en-US" dirty="0"/>
              <a:t>.</a:t>
            </a:r>
          </a:p>
          <a:p>
            <a:pPr marL="271463" indent="-271463" fontAlgn="auto">
              <a:lnSpc>
                <a:spcPct val="90000"/>
              </a:lnSpc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You need to offer “expert” </a:t>
            </a:r>
            <a:r>
              <a:rPr lang="en-US" dirty="0">
                <a:solidFill>
                  <a:srgbClr val="800000"/>
                </a:solidFill>
              </a:rPr>
              <a:t>advice</a:t>
            </a:r>
            <a:r>
              <a:rPr lang="en-US" dirty="0"/>
              <a:t>.</a:t>
            </a:r>
          </a:p>
          <a:p>
            <a:pPr marL="271463" indent="-271463" fontAlgn="auto">
              <a:lnSpc>
                <a:spcPct val="90000"/>
              </a:lnSpc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Hardware and software affect performance</a:t>
            </a:r>
          </a:p>
          <a:p>
            <a:pPr marL="622300" lvl="1" indent="-347663" fontAlgn="auto">
              <a:lnSpc>
                <a:spcPct val="90000"/>
              </a:lnSpc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Algorithm determines number of source-level statements </a:t>
            </a:r>
            <a:endParaRPr lang="en-US" dirty="0">
              <a:solidFill>
                <a:srgbClr val="0000CC"/>
              </a:solidFill>
            </a:endParaRPr>
          </a:p>
          <a:p>
            <a:pPr marL="622300" lvl="1" indent="-347663" fontAlgn="auto">
              <a:lnSpc>
                <a:spcPct val="90000"/>
              </a:lnSpc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Language, compiler, and architecture determine machine instructions </a:t>
            </a:r>
            <a:r>
              <a:rPr lang="en-US" dirty="0">
                <a:solidFill>
                  <a:srgbClr val="0000CC"/>
                </a:solidFill>
              </a:rPr>
              <a:t>(COD chapters 2 and 3)</a:t>
            </a:r>
          </a:p>
          <a:p>
            <a:pPr marL="622300" lvl="1" indent="-347663" fontAlgn="auto">
              <a:lnSpc>
                <a:spcPct val="90000"/>
              </a:lnSpc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Processor and memory determine how fast instructions are executed </a:t>
            </a:r>
            <a:r>
              <a:rPr lang="en-US" dirty="0">
                <a:solidFill>
                  <a:srgbClr val="0000CC"/>
                </a:solidFill>
              </a:rPr>
              <a:t>(COD chapters 5, 6 and 7)</a:t>
            </a:r>
          </a:p>
          <a:p>
            <a:pPr marL="271463" indent="-271463" fontAlgn="auto">
              <a:lnSpc>
                <a:spcPct val="90000"/>
              </a:lnSpc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Understanding performance </a:t>
            </a:r>
            <a:r>
              <a:rPr lang="en-US" sz="2000" dirty="0">
                <a:solidFill>
                  <a:srgbClr val="0000CC"/>
                </a:solidFill>
              </a:rPr>
              <a:t>(COD chapter 4)</a:t>
            </a:r>
          </a:p>
        </p:txBody>
      </p:sp>
    </p:spTree>
    <p:extLst>
      <p:ext uri="{BB962C8B-B14F-4D97-AF65-F5344CB8AC3E}">
        <p14:creationId xmlns:p14="http://schemas.microsoft.com/office/powerpoint/2010/main" val="399287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5738</TotalTime>
  <Words>895</Words>
  <Application>Microsoft Macintosh PowerPoint</Application>
  <PresentationFormat>On-screen Show (4:3)</PresentationFormat>
  <Paragraphs>159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Courier New</vt:lpstr>
      <vt:lpstr>Times</vt:lpstr>
      <vt:lpstr>Times New Roman</vt:lpstr>
      <vt:lpstr>Wingdings</vt:lpstr>
      <vt:lpstr>Blank</vt:lpstr>
      <vt:lpstr>PowerPoint Presentation</vt:lpstr>
      <vt:lpstr>Q &amp; A</vt:lpstr>
      <vt:lpstr>Lecture 1: Introduction</vt:lpstr>
      <vt:lpstr>Programming Languages</vt:lpstr>
      <vt:lpstr>Programming Languages</vt:lpstr>
      <vt:lpstr>Programming Languages</vt:lpstr>
      <vt:lpstr>Programming Languages</vt:lpstr>
      <vt:lpstr>Programming Languages</vt:lpstr>
      <vt:lpstr>The C Programming Language</vt:lpstr>
      <vt:lpstr>The C Programming Language</vt:lpstr>
      <vt:lpstr>Abstraction</vt:lpstr>
      <vt:lpstr>Abstraction</vt:lpstr>
      <vt:lpstr>Abstraction</vt:lpstr>
      <vt:lpstr>What is a Computer?</vt:lpstr>
      <vt:lpstr>What is a Computer?</vt:lpstr>
      <vt:lpstr>IT5002 : It’s About Computer Organization</vt:lpstr>
      <vt:lpstr>IT5002 : It’s About Computer Organization</vt:lpstr>
    </vt:vector>
  </TitlesOfParts>
  <Company>National University of Singapore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Timer Programming</dc:title>
  <dc:creator>Tan Keng Yan, Colin</dc:creator>
  <cp:lastModifiedBy>Tan Keng Yan, Colin</cp:lastModifiedBy>
  <cp:revision>132</cp:revision>
  <cp:lastPrinted>2020-08-05T02:34:11Z</cp:lastPrinted>
  <dcterms:created xsi:type="dcterms:W3CDTF">2018-02-10T09:13:59Z</dcterms:created>
  <dcterms:modified xsi:type="dcterms:W3CDTF">2025-01-14T08:58:30Z</dcterms:modified>
</cp:coreProperties>
</file>