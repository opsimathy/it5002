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7" r:id="rId2"/>
    <p:sldId id="278" r:id="rId3"/>
    <p:sldId id="279" r:id="rId4"/>
    <p:sldId id="286" r:id="rId5"/>
    <p:sldId id="280" r:id="rId6"/>
    <p:sldId id="281" r:id="rId7"/>
    <p:sldId id="283" r:id="rId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3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6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9/8/25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9904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1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Welcome to IT5002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Welcome to 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9613EDB-127A-4FF7-975C-4576BD15F002}"/>
              </a:ext>
            </a:extLst>
          </p:cNvPr>
          <p:cNvSpPr txBox="1"/>
          <p:nvPr/>
        </p:nvSpPr>
        <p:spPr>
          <a:xfrm>
            <a:off x="229802" y="3561891"/>
            <a:ext cx="35370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Colin Tan</a:t>
            </a:r>
          </a:p>
          <a:p>
            <a:r>
              <a:rPr lang="en-SG" dirty="0">
                <a:latin typeface="Calibri" panose="020F0502020204030204" pitchFamily="34" charset="0"/>
                <a:cs typeface="Calibri" panose="020F0502020204030204" pitchFamily="34" charset="0"/>
              </a:rPr>
              <a:t>Consultation: </a:t>
            </a:r>
          </a:p>
          <a:p>
            <a:r>
              <a:rPr lang="en-SG" sz="1600" dirty="0">
                <a:latin typeface="Calibri" panose="020F0502020204030204" pitchFamily="34" charset="0"/>
                <a:cs typeface="Calibri" panose="020F0502020204030204" pitchFamily="34" charset="0"/>
              </a:rPr>
              <a:t>By appointment</a:t>
            </a:r>
          </a:p>
          <a:p>
            <a:endParaRPr lang="en-SG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600" dirty="0">
                <a:latin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SG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colintan@nus.edu.sg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E0CC1D-4845-4E72-8E2A-C41407631177}"/>
              </a:ext>
            </a:extLst>
          </p:cNvPr>
          <p:cNvSpPr txBox="1"/>
          <p:nvPr/>
        </p:nvSpPr>
        <p:spPr>
          <a:xfrm>
            <a:off x="229802" y="5193107"/>
            <a:ext cx="2906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i="1" dirty="0">
                <a:latin typeface="Calibri" panose="020F0502020204030204" pitchFamily="34" charset="0"/>
                <a:cs typeface="Calibri" panose="020F0502020204030204" pitchFamily="34" charset="0"/>
              </a:rPr>
              <a:t>Admin appointment:</a:t>
            </a:r>
            <a:endParaRPr lang="en-SG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2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Chief Randomness Generator,</a:t>
            </a:r>
          </a:p>
          <a:p>
            <a:r>
              <a:rPr lang="en-SG" sz="2000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Makers@SoC</a:t>
            </a:r>
            <a:endParaRPr lang="en-SG" sz="2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7" y="1191416"/>
            <a:ext cx="2349310" cy="2370475"/>
          </a:xfrm>
          <a:prstGeom prst="rect">
            <a:avLst/>
          </a:prstGeom>
        </p:spPr>
      </p:pic>
      <p:pic>
        <p:nvPicPr>
          <p:cNvPr id="19" name="Shape 96" descr="Image result for west coast highway viadu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521" y="1096262"/>
            <a:ext cx="1927265" cy="144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Shape 99" descr="Image result for dronebox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3278" y="2888825"/>
            <a:ext cx="2072711" cy="174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Shape 100" descr="Image may contain: one or more people and outdo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9110" y="1070559"/>
            <a:ext cx="2661947" cy="163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Shape 10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9852" y="2815289"/>
            <a:ext cx="2216299" cy="166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Shape 10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9992" y="1087878"/>
            <a:ext cx="1514008" cy="201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68837" y="4937778"/>
            <a:ext cx="1795525" cy="134664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658" y="4590303"/>
            <a:ext cx="2442685" cy="183517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29985" y="3467131"/>
            <a:ext cx="2254287" cy="169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4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IT5002 Computer Systems and Applications</a:t>
            </a:r>
            <a:br>
              <a:rPr lang="en-US"/>
            </a:br>
            <a:r>
              <a:rPr lang="en-US"/>
              <a:t>Course </a:t>
            </a:r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9875" indent="-269875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The objective of this module is to </a:t>
            </a:r>
            <a:r>
              <a:rPr lang="en-US" dirty="0" err="1">
                <a:solidFill>
                  <a:srgbClr val="800000"/>
                </a:solidFill>
              </a:rPr>
              <a:t>familiarise</a:t>
            </a:r>
            <a:r>
              <a:rPr lang="en-US" dirty="0">
                <a:solidFill>
                  <a:srgbClr val="800000"/>
                </a:solidFill>
              </a:rPr>
              <a:t> students with the fundamentals of computing devices and applications</a:t>
            </a:r>
          </a:p>
          <a:p>
            <a:pPr marL="539750" lvl="1" indent="-265113">
              <a:buSzPct val="100000"/>
            </a:pPr>
            <a:r>
              <a:rPr lang="en-US" dirty="0"/>
              <a:t>This is a fast paced, intense course.</a:t>
            </a:r>
          </a:p>
          <a:p>
            <a:pPr marL="539750" lvl="1" indent="-265113">
              <a:buSzPct val="100000"/>
            </a:pPr>
            <a:r>
              <a:rPr lang="en-US" dirty="0"/>
              <a:t>But you will learn a lot.</a:t>
            </a:r>
          </a:p>
          <a:p>
            <a:pPr marL="269875" indent="-269875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Topics</a:t>
            </a:r>
          </a:p>
          <a:p>
            <a:pPr marL="539750" lvl="1" indent="-265113">
              <a:buSzPct val="100000"/>
            </a:pPr>
            <a:r>
              <a:rPr lang="en-US" dirty="0"/>
              <a:t>Part 1: Processor Organization</a:t>
            </a:r>
          </a:p>
          <a:p>
            <a:pPr marL="797725" lvl="2" indent="-265113">
              <a:buSzPct val="100000"/>
            </a:pPr>
            <a:r>
              <a:rPr lang="en-US" dirty="0"/>
              <a:t>Interfacing High Level Programming Languages to Hardware.</a:t>
            </a:r>
          </a:p>
          <a:p>
            <a:pPr marL="797725" lvl="2" indent="-265113">
              <a:buSzPct val="100000"/>
            </a:pPr>
            <a:r>
              <a:rPr lang="en-US" dirty="0"/>
              <a:t>Data representation and number systems</a:t>
            </a:r>
          </a:p>
          <a:p>
            <a:pPr marL="797725" lvl="2" indent="-265113">
              <a:buSzPct val="100000"/>
            </a:pPr>
            <a:r>
              <a:rPr lang="en-US" dirty="0"/>
              <a:t>Assembly language</a:t>
            </a:r>
          </a:p>
          <a:p>
            <a:pPr marL="797725" lvl="2" indent="-265113">
              <a:buSzPct val="100000"/>
            </a:pPr>
            <a:r>
              <a:rPr lang="en-US" dirty="0"/>
              <a:t>Processor </a:t>
            </a:r>
            <a:r>
              <a:rPr lang="en-US" dirty="0" err="1"/>
              <a:t>datapath</a:t>
            </a:r>
            <a:r>
              <a:rPr lang="en-US" dirty="0"/>
              <a:t> and control</a:t>
            </a:r>
          </a:p>
          <a:p>
            <a:pPr marL="797725" lvl="2" indent="-265113">
              <a:buSzPct val="100000"/>
            </a:pPr>
            <a:r>
              <a:rPr lang="en-US" dirty="0"/>
              <a:t>Pipelining (Brief)</a:t>
            </a:r>
          </a:p>
          <a:p>
            <a:pPr marL="797725" lvl="2" indent="-265113">
              <a:buSzPct val="100000"/>
            </a:pPr>
            <a:r>
              <a:rPr lang="en-US" dirty="0"/>
              <a:t>Cache (Brief)</a:t>
            </a:r>
          </a:p>
          <a:p>
            <a:pPr marL="539750" lvl="1" indent="-265113">
              <a:buSzPct val="100000"/>
            </a:pPr>
            <a:r>
              <a:rPr lang="en-US" dirty="0"/>
              <a:t>Part 2: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163382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IT5002 Computer Systems and Applications</a:t>
            </a:r>
            <a:br>
              <a:rPr lang="en-US"/>
            </a:br>
            <a:r>
              <a:rPr lang="en-US"/>
              <a:t>Course </a:t>
            </a:r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9875" indent="-269875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The objective of this module is to </a:t>
            </a:r>
            <a:r>
              <a:rPr lang="en-US" dirty="0" err="1">
                <a:solidFill>
                  <a:srgbClr val="800000"/>
                </a:solidFill>
              </a:rPr>
              <a:t>familiarise</a:t>
            </a:r>
            <a:r>
              <a:rPr lang="en-US" dirty="0">
                <a:solidFill>
                  <a:srgbClr val="800000"/>
                </a:solidFill>
              </a:rPr>
              <a:t> students with the fundamentals of computing devices and applications</a:t>
            </a:r>
          </a:p>
          <a:p>
            <a:pPr marL="539750" lvl="1" indent="-265113">
              <a:buSzPct val="100000"/>
            </a:pPr>
            <a:r>
              <a:rPr lang="en-US" dirty="0"/>
              <a:t>This is a fast paced, intense course.</a:t>
            </a:r>
          </a:p>
          <a:p>
            <a:pPr marL="539750" lvl="1" indent="-265113">
              <a:buSzPct val="100000"/>
            </a:pPr>
            <a:r>
              <a:rPr lang="en-US" dirty="0"/>
              <a:t>But you will learn a lot.</a:t>
            </a:r>
          </a:p>
          <a:p>
            <a:pPr marL="269875" indent="-269875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800000"/>
                </a:solidFill>
              </a:rPr>
              <a:t>Topics</a:t>
            </a:r>
            <a:endParaRPr lang="en-US" dirty="0"/>
          </a:p>
          <a:p>
            <a:pPr marL="539750" lvl="1" indent="-265113">
              <a:buSzPct val="100000"/>
            </a:pPr>
            <a:r>
              <a:rPr lang="en-US" dirty="0"/>
              <a:t>Part 1: Processor Organization</a:t>
            </a:r>
          </a:p>
          <a:p>
            <a:pPr marL="539750" lvl="1" indent="-265113">
              <a:buSzPct val="100000"/>
            </a:pPr>
            <a:r>
              <a:rPr lang="en-US" dirty="0"/>
              <a:t>Part 2: Operating Systems</a:t>
            </a:r>
          </a:p>
          <a:p>
            <a:pPr marL="797725" lvl="2" indent="-265113">
              <a:buSzPct val="100000"/>
            </a:pPr>
            <a:r>
              <a:rPr lang="en-US" dirty="0"/>
              <a:t>OS Architecture.</a:t>
            </a:r>
          </a:p>
          <a:p>
            <a:pPr marL="797725" lvl="2" indent="-265113">
              <a:buSzPct val="100000"/>
            </a:pPr>
            <a:r>
              <a:rPr lang="en-US" dirty="0"/>
              <a:t>Process Management</a:t>
            </a:r>
          </a:p>
          <a:p>
            <a:pPr marL="797725" lvl="2" indent="-265113">
              <a:buSzPct val="100000"/>
            </a:pPr>
            <a:r>
              <a:rPr lang="en-US" dirty="0"/>
              <a:t>Process Coordination</a:t>
            </a:r>
          </a:p>
          <a:p>
            <a:pPr marL="797725" lvl="2" indent="-265113">
              <a:buSzPct val="100000"/>
            </a:pPr>
            <a:r>
              <a:rPr lang="en-US" dirty="0"/>
              <a:t>Memory Management</a:t>
            </a:r>
          </a:p>
          <a:p>
            <a:pPr marL="797725" lvl="2" indent="-265113">
              <a:buSzPct val="100000"/>
            </a:pPr>
            <a:r>
              <a:rPr lang="en-US" dirty="0"/>
              <a:t>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303698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Aspects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239128"/>
            <a:ext cx="5839428" cy="526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544195" lvl="1" indent="-269875"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Tutorials / Labs most Fridays, 6.30 pm to 7.30 pm or 7.30 pm to 8.30 pm from Week 3 onwards</a:t>
            </a:r>
          </a:p>
          <a:p>
            <a:pPr marL="818515" lvl="2" indent="-269875"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200" dirty="0"/>
              <a:t>Tutorials</a:t>
            </a:r>
          </a:p>
          <a:p>
            <a:pPr marL="818515" lvl="2" indent="-269875"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200" dirty="0"/>
              <a:t>Lab sessions</a:t>
            </a:r>
          </a:p>
          <a:p>
            <a:pPr marL="548640" lvl="2" indent="0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SG" sz="2200" dirty="0"/>
          </a:p>
          <a:p>
            <a:pPr marL="818515" lvl="2" indent="-269875"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SG" sz="2200" dirty="0"/>
          </a:p>
          <a:p>
            <a:pPr marL="544195" lvl="1" indent="-269875"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96628" y="1239128"/>
            <a:ext cx="2626456" cy="2051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928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803865"/>
              </p:ext>
            </p:extLst>
          </p:nvPr>
        </p:nvGraphicFramePr>
        <p:xfrm>
          <a:off x="1524000" y="1548246"/>
          <a:ext cx="6096000" cy="27728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547021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00062700"/>
                    </a:ext>
                  </a:extLst>
                </a:gridCol>
              </a:tblGrid>
              <a:tr h="55456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CA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75743"/>
                  </a:ext>
                </a:extLst>
              </a:tr>
              <a:tr h="55456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Tutorials / 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057991"/>
                  </a:ext>
                </a:extLst>
              </a:tr>
              <a:tr h="55456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596587"/>
                  </a:ext>
                </a:extLst>
              </a:tr>
              <a:tr h="55456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Mid-Term</a:t>
                      </a:r>
                      <a:r>
                        <a:rPr lang="en-SG" sz="2400" baseline="0" dirty="0"/>
                        <a:t> Test*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110481"/>
                  </a:ext>
                </a:extLst>
              </a:tr>
              <a:tr h="554567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Final</a:t>
                      </a:r>
                      <a:r>
                        <a:rPr lang="en-SG" sz="2400" baseline="0" dirty="0"/>
                        <a:t> Exam*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4882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4692614"/>
            <a:ext cx="692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* Face-to-Face Electronic Assessments (</a:t>
            </a:r>
            <a:r>
              <a:rPr lang="en-SG" dirty="0" err="1"/>
              <a:t>Examsoft</a:t>
            </a:r>
            <a:r>
              <a:rPr lang="en-SG" dirty="0"/>
              <a:t>)</a:t>
            </a:r>
            <a:r>
              <a:rPr lang="en-US" dirty="0"/>
              <a:t>. Two-page cheat-sheet (ONE A4 sheet)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196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9875" indent="-2698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000" dirty="0"/>
              <a:t>Lectures are 3 hours long, every Tuesday 6.30 pm to 9.30 pm</a:t>
            </a:r>
          </a:p>
          <a:p>
            <a:pPr marL="269875" indent="-2698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000" dirty="0"/>
              <a:t>All course materials will be uploaded on Canvas.</a:t>
            </a:r>
            <a:endParaRPr lang="en-US" sz="2000" dirty="0"/>
          </a:p>
          <a:p>
            <a:pPr marL="269875" indent="-2698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Tutorials/Labs start in week 3 (29 August 2025)</a:t>
            </a:r>
          </a:p>
          <a:p>
            <a:pPr marL="269875" indent="-2698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C00000"/>
                </a:solidFill>
              </a:rPr>
              <a:t>Mid-term test</a:t>
            </a:r>
          </a:p>
          <a:p>
            <a:pPr marL="544195" lvl="1" indent="-269875" fontAlgn="auto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-US" sz="2000" dirty="0">
                <a:solidFill>
                  <a:srgbClr val="C00000"/>
                </a:solidFill>
              </a:rPr>
              <a:t>Tuesday 30 September 2025, 7 pm to 8 pm (during </a:t>
            </a:r>
            <a:r>
              <a:rPr lang="en-US" sz="2000">
                <a:solidFill>
                  <a:srgbClr val="C00000"/>
                </a:solidFill>
              </a:rPr>
              <a:t>lecture slot)</a:t>
            </a:r>
            <a:endParaRPr lang="en-US" sz="2000" dirty="0">
              <a:solidFill>
                <a:srgbClr val="C00000"/>
              </a:solidFill>
            </a:endParaRPr>
          </a:p>
          <a:p>
            <a:pPr marL="802170" lvl="2" indent="-269875" fontAlgn="auto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-US" sz="1730" dirty="0">
                <a:solidFill>
                  <a:srgbClr val="C00000"/>
                </a:solidFill>
              </a:rPr>
              <a:t>In person electronic assessment. 2-page cheat sheet (single A4 sheet)</a:t>
            </a:r>
            <a:endParaRPr lang="en-SG" sz="1730" dirty="0">
              <a:solidFill>
                <a:srgbClr val="C00000"/>
              </a:solidFill>
            </a:endParaRPr>
          </a:p>
          <a:p>
            <a:pPr marL="544195" lvl="1" indent="-269875" fontAlgn="auto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-SG" sz="2000" dirty="0"/>
              <a:t>Please check Canvas announcements for updates</a:t>
            </a:r>
          </a:p>
          <a:p>
            <a:pPr marL="269875" indent="-2698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SG" sz="2000" dirty="0"/>
              <a:t>Please post your queries on Canvas forums</a:t>
            </a:r>
          </a:p>
          <a:p>
            <a:pPr marL="539750" lvl="1" indent="-269875" fontAlgn="auto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-US" sz="2000" dirty="0"/>
              <a:t>Everybody can help answer and everybody can read the answers</a:t>
            </a:r>
          </a:p>
          <a:p>
            <a:pPr marL="539750" lvl="1" indent="-269875" fontAlgn="auto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-US" sz="2000" dirty="0"/>
              <a:t>Email me at </a:t>
            </a:r>
            <a:r>
              <a:rPr lang="en-US" sz="2000" dirty="0" err="1">
                <a:solidFill>
                  <a:srgbClr val="0000CC"/>
                </a:solidFill>
              </a:rPr>
              <a:t>colintan@nus.edu.sg</a:t>
            </a:r>
            <a:r>
              <a:rPr lang="en-US" sz="2000" dirty="0"/>
              <a:t> only for personal matters</a:t>
            </a:r>
          </a:p>
        </p:txBody>
      </p:sp>
    </p:spTree>
    <p:extLst>
      <p:ext uri="{BB962C8B-B14F-4D97-AF65-F5344CB8AC3E}">
        <p14:creationId xmlns:p14="http://schemas.microsoft.com/office/powerpoint/2010/main" val="101791982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10397</TotalTime>
  <Words>349</Words>
  <Application>Microsoft Macintosh PowerPoint</Application>
  <PresentationFormat>On-screen Show (4:3)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</vt:lpstr>
      <vt:lpstr>Calibri</vt:lpstr>
      <vt:lpstr>Times New Roman</vt:lpstr>
      <vt:lpstr>Wingdings</vt:lpstr>
      <vt:lpstr>Blank</vt:lpstr>
      <vt:lpstr>PowerPoint Presentation</vt:lpstr>
      <vt:lpstr>PowerPoint Presentation</vt:lpstr>
      <vt:lpstr>IT5002 Computer Systems and Applications Course Objective</vt:lpstr>
      <vt:lpstr>IT5002 Computer Systems and Applications Course Objective</vt:lpstr>
      <vt:lpstr>Practical Aspects</vt:lpstr>
      <vt:lpstr>Assessment</vt:lpstr>
      <vt:lpstr>Admin Matters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147</cp:revision>
  <cp:lastPrinted>2018-02-28T02:01:21Z</cp:lastPrinted>
  <dcterms:created xsi:type="dcterms:W3CDTF">2018-02-10T09:13:59Z</dcterms:created>
  <dcterms:modified xsi:type="dcterms:W3CDTF">2025-08-09T05:50:28Z</dcterms:modified>
</cp:coreProperties>
</file>