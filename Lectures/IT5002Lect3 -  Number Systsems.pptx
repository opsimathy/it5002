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77" r:id="rId2"/>
    <p:sldId id="292" r:id="rId3"/>
    <p:sldId id="294" r:id="rId4"/>
    <p:sldId id="611" r:id="rId5"/>
    <p:sldId id="612" r:id="rId6"/>
    <p:sldId id="613" r:id="rId7"/>
    <p:sldId id="614" r:id="rId8"/>
    <p:sldId id="615" r:id="rId9"/>
    <p:sldId id="616" r:id="rId10"/>
    <p:sldId id="617" r:id="rId11"/>
    <p:sldId id="618" r:id="rId12"/>
    <p:sldId id="619" r:id="rId13"/>
    <p:sldId id="620" r:id="rId14"/>
    <p:sldId id="621" r:id="rId15"/>
    <p:sldId id="622" r:id="rId16"/>
    <p:sldId id="623" r:id="rId17"/>
    <p:sldId id="609" r:id="rId18"/>
    <p:sldId id="610" r:id="rId19"/>
    <p:sldId id="650" r:id="rId20"/>
    <p:sldId id="577" r:id="rId21"/>
    <p:sldId id="624" r:id="rId22"/>
    <p:sldId id="625" r:id="rId23"/>
    <p:sldId id="651" r:id="rId24"/>
    <p:sldId id="631" r:id="rId25"/>
    <p:sldId id="632" r:id="rId26"/>
    <p:sldId id="578" r:id="rId27"/>
    <p:sldId id="559" r:id="rId28"/>
    <p:sldId id="579" r:id="rId29"/>
    <p:sldId id="580" r:id="rId30"/>
    <p:sldId id="633" r:id="rId31"/>
    <p:sldId id="634" r:id="rId32"/>
    <p:sldId id="635" r:id="rId33"/>
    <p:sldId id="636" r:id="rId34"/>
    <p:sldId id="637" r:id="rId35"/>
    <p:sldId id="581" r:id="rId36"/>
    <p:sldId id="638" r:id="rId37"/>
    <p:sldId id="639" r:id="rId38"/>
    <p:sldId id="640" r:id="rId39"/>
    <p:sldId id="641" r:id="rId40"/>
    <p:sldId id="642" r:id="rId41"/>
    <p:sldId id="643" r:id="rId42"/>
    <p:sldId id="644" r:id="rId43"/>
    <p:sldId id="626" r:id="rId44"/>
    <p:sldId id="627" r:id="rId45"/>
    <p:sldId id="628" r:id="rId46"/>
    <p:sldId id="630" r:id="rId47"/>
    <p:sldId id="645" r:id="rId48"/>
    <p:sldId id="646" r:id="rId49"/>
    <p:sldId id="647" r:id="rId50"/>
    <p:sldId id="648" r:id="rId51"/>
    <p:sldId id="649" r:id="rId5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12/1/25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93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121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134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3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1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03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41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19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28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93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18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19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692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73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940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03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96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35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56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04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48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95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5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67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81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80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64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1237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167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732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755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73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26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3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Number Systems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7E6785-6C31-3542-FF07-131B22A6A88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132" y="6169030"/>
            <a:ext cx="681237" cy="68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ets.netlify.app/module/6783ad89fc362746fec5218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>
                <a:solidFill>
                  <a:schemeClr val="bg1"/>
                </a:solidFill>
                <a:latin typeface="Times New Roman" panose="02020603050405020304" pitchFamily="18" charset="0"/>
              </a:rPr>
              <a:t>Number Systems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https://sets.netlify.app</a:t>
            </a:r>
            <a:r>
              <a:rPr lang="en-US" sz="2000">
                <a:hlinkClick r:id="rId2"/>
              </a:rPr>
              <a:t>/module/6783ad89fc362746fec52180</a:t>
            </a:r>
            <a:endParaRPr lang="en-US" sz="200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6E0C-0B4F-6146-9FA2-F6A6D5E7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3: Number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83EA-0608-8F41-94ED-31E80F2A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Data Representation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Decimal (base 10) Number System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Other Number Systems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Base-</a:t>
            </a:r>
            <a:r>
              <a:rPr lang="en-GB" sz="1800" i="1" dirty="0"/>
              <a:t>R</a:t>
            </a:r>
            <a:r>
              <a:rPr lang="en-GB" sz="1800" dirty="0"/>
              <a:t> to Decimal Conversion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Decimal to Binary Conversion</a:t>
            </a:r>
          </a:p>
          <a:p>
            <a:pPr marL="1165225" lvl="1" indent="-531813">
              <a:spcBef>
                <a:spcPts val="600"/>
              </a:spcBef>
              <a:buClrTx/>
              <a:buSzPct val="100000"/>
              <a:buNone/>
              <a:tabLst>
                <a:tab pos="1165225" algn="l"/>
              </a:tabLst>
            </a:pPr>
            <a:r>
              <a:rPr lang="en-GB" sz="1800" dirty="0"/>
              <a:t>5.1	Repeated Division-by-2</a:t>
            </a:r>
          </a:p>
          <a:p>
            <a:pPr marL="1165225" lvl="1" indent="-531813">
              <a:spcBef>
                <a:spcPts val="600"/>
              </a:spcBef>
              <a:buClrTx/>
              <a:buSzPct val="100000"/>
              <a:buNone/>
              <a:tabLst>
                <a:tab pos="1165225" algn="l"/>
              </a:tabLst>
            </a:pPr>
            <a:r>
              <a:rPr lang="en-GB" sz="1800" dirty="0"/>
              <a:t>5.2	Repeated Multiplication-by-2</a:t>
            </a:r>
            <a:endParaRPr lang="en-GB" sz="2800" dirty="0"/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Conversion Between Decimal and Other Bases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Conversion Between Bases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1800" dirty="0"/>
              <a:t>Binary to Octal/Hexadecimal Conversion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2422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705383"/>
            <a:ext cx="8420559" cy="4733517"/>
          </a:xfrm>
        </p:spPr>
        <p:txBody>
          <a:bodyPr>
            <a:normAutofit/>
          </a:bodyPr>
          <a:lstStyle/>
          <a:p>
            <a:pPr marL="714375" indent="-714375" eaLnBrk="1" hangingPunct="1">
              <a:lnSpc>
                <a:spcPct val="110000"/>
              </a:lnSpc>
              <a:spcBef>
                <a:spcPts val="600"/>
              </a:spcBef>
              <a:buClrTx/>
              <a:buSzPct val="100000"/>
              <a:buFont typeface="+mj-lt"/>
              <a:buAutoNum type="arabicPeriod" startAt="9"/>
            </a:pPr>
            <a:r>
              <a:rPr lang="en-GB" dirty="0"/>
              <a:t>ASCII Code</a:t>
            </a:r>
          </a:p>
          <a:p>
            <a:pPr marL="714375" indent="-714375" eaLnBrk="1" hangingPunct="1">
              <a:lnSpc>
                <a:spcPct val="110000"/>
              </a:lnSpc>
              <a:spcBef>
                <a:spcPts val="600"/>
              </a:spcBef>
              <a:buClrTx/>
              <a:buSzPct val="100000"/>
              <a:buFont typeface="+mj-lt"/>
              <a:buAutoNum type="arabicPeriod" startAt="9"/>
            </a:pPr>
            <a:r>
              <a:rPr lang="en-GB" dirty="0"/>
              <a:t>Negative Numbers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10.1	Sign-and-Magnitude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10.2	1s Complement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10.3	2s Complement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10.4	Comparisons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10.5	Complement on Fractions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10.6	2s Complement Addition/Subtraction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10.7	1s Complement Addition/Subtraction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10.8	Excess Representation</a:t>
            </a:r>
          </a:p>
          <a:p>
            <a:pPr marL="714375" indent="-714375">
              <a:lnSpc>
                <a:spcPct val="110000"/>
              </a:lnSpc>
              <a:spcBef>
                <a:spcPts val="600"/>
              </a:spcBef>
              <a:buClrTx/>
              <a:buSzPct val="100000"/>
              <a:buFont typeface="+mj-lt"/>
              <a:buAutoNum type="arabicPeriod" startAt="11"/>
            </a:pPr>
            <a:r>
              <a:rPr lang="en-GB" dirty="0"/>
              <a:t>Real Numbers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11.1	Fixed-Point Representation</a:t>
            </a:r>
          </a:p>
          <a:p>
            <a:pPr marL="1695450" lvl="1" indent="-884238">
              <a:lnSpc>
                <a:spcPct val="110000"/>
              </a:lnSpc>
              <a:buClrTx/>
              <a:buSzPct val="100000"/>
              <a:buNone/>
            </a:pPr>
            <a:r>
              <a:rPr lang="en-GB" dirty="0"/>
              <a:t>11.2	Floating-Point Representation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3C47B9-0E12-584D-8DC5-8E6BB22D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3: Number Systems</a:t>
            </a:r>
          </a:p>
        </p:txBody>
      </p:sp>
    </p:spTree>
    <p:extLst>
      <p:ext uri="{BB962C8B-B14F-4D97-AF65-F5344CB8AC3E}">
        <p14:creationId xmlns:p14="http://schemas.microsoft.com/office/powerpoint/2010/main" val="81437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222A-E68C-1D40-9E6B-F86B2B15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Data Representation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D25DD65-B0AD-2D44-84DE-98D03EC281DD}"/>
              </a:ext>
            </a:extLst>
          </p:cNvPr>
          <p:cNvSpPr txBox="1">
            <a:spLocks/>
          </p:cNvSpPr>
          <p:nvPr/>
        </p:nvSpPr>
        <p:spPr>
          <a:xfrm>
            <a:off x="7973960" y="18288"/>
            <a:ext cx="865240" cy="32918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7EC234A-9094-4BB8-9EA4-75ECDA8A365B}" type="slidenum">
              <a:rPr lang="en-SG" smtClean="0"/>
              <a:pPr algn="r">
                <a:defRPr/>
              </a:pPr>
              <a:t>5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C9C30-2C9F-A14E-918C-C26E8EE9C85E}"/>
              </a:ext>
            </a:extLst>
          </p:cNvPr>
          <p:cNvSpPr txBox="1"/>
          <p:nvPr/>
        </p:nvSpPr>
        <p:spPr>
          <a:xfrm>
            <a:off x="638432" y="1325909"/>
            <a:ext cx="393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Basic data types in C: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964F5-C9C5-0E45-87BE-E418D9CF8FAA}"/>
              </a:ext>
            </a:extLst>
          </p:cNvPr>
          <p:cNvSpPr txBox="1"/>
          <p:nvPr/>
        </p:nvSpPr>
        <p:spPr>
          <a:xfrm>
            <a:off x="1336590" y="1985657"/>
            <a:ext cx="1196546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/>
              <a:t>int</a:t>
            </a:r>
            <a:endParaRPr lang="en-SG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BAAA6-BE8D-5940-9E79-DCD147A8E9B5}"/>
              </a:ext>
            </a:extLst>
          </p:cNvPr>
          <p:cNvSpPr txBox="1"/>
          <p:nvPr/>
        </p:nvSpPr>
        <p:spPr>
          <a:xfrm>
            <a:off x="3120082" y="1982524"/>
            <a:ext cx="1196546" cy="523220"/>
          </a:xfrm>
          <a:prstGeom prst="rect">
            <a:avLst/>
          </a:prstGeom>
          <a:solidFill>
            <a:srgbClr val="CC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float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7B751-4721-434E-8DA0-8FA3A726B172}"/>
              </a:ext>
            </a:extLst>
          </p:cNvPr>
          <p:cNvSpPr txBox="1"/>
          <p:nvPr/>
        </p:nvSpPr>
        <p:spPr>
          <a:xfrm>
            <a:off x="4903574" y="1982524"/>
            <a:ext cx="1435442" cy="523220"/>
          </a:xfrm>
          <a:prstGeom prst="rect">
            <a:avLst/>
          </a:prstGeom>
          <a:solidFill>
            <a:srgbClr val="CC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double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57EE4B-E7EE-2F4A-8346-F9C47942D0DD}"/>
              </a:ext>
            </a:extLst>
          </p:cNvPr>
          <p:cNvSpPr txBox="1"/>
          <p:nvPr/>
        </p:nvSpPr>
        <p:spPr>
          <a:xfrm>
            <a:off x="7089689" y="1982524"/>
            <a:ext cx="121405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char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7773A-B5D4-0B4A-91A9-CBCE3C2AD9B4}"/>
              </a:ext>
            </a:extLst>
          </p:cNvPr>
          <p:cNvSpPr txBox="1"/>
          <p:nvPr/>
        </p:nvSpPr>
        <p:spPr>
          <a:xfrm>
            <a:off x="253726" y="2513613"/>
            <a:ext cx="227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Variants: short, long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808C7-7EF2-7649-A2C7-367B63B942B1}"/>
              </a:ext>
            </a:extLst>
          </p:cNvPr>
          <p:cNvSpPr txBox="1"/>
          <p:nvPr/>
        </p:nvSpPr>
        <p:spPr>
          <a:xfrm>
            <a:off x="638431" y="3024209"/>
            <a:ext cx="7665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How data is represented depends on its type: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2FDE0-3120-204D-88F9-B576E2280569}"/>
              </a:ext>
            </a:extLst>
          </p:cNvPr>
          <p:cNvSpPr txBox="1"/>
          <p:nvPr/>
        </p:nvSpPr>
        <p:spPr>
          <a:xfrm>
            <a:off x="1602260" y="3848400"/>
            <a:ext cx="2376615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01000110</a:t>
            </a:r>
          </a:p>
        </p:txBody>
      </p:sp>
      <p:sp>
        <p:nvSpPr>
          <p:cNvPr id="13" name="Callout: Line 4">
            <a:extLst>
              <a:ext uri="{FF2B5EF4-FFF2-40B4-BE49-F238E27FC236}">
                <a16:creationId xmlns:a16="http://schemas.microsoft.com/office/drawing/2014/main" id="{013A60A1-C314-E14A-B440-E1C25B7EA603}"/>
              </a:ext>
            </a:extLst>
          </p:cNvPr>
          <p:cNvSpPr/>
          <p:nvPr/>
        </p:nvSpPr>
        <p:spPr>
          <a:xfrm>
            <a:off x="4917581" y="3594088"/>
            <a:ext cx="2868826" cy="367284"/>
          </a:xfrm>
          <a:prstGeom prst="borderCallout1">
            <a:avLst>
              <a:gd name="adj1" fmla="val 24283"/>
              <a:gd name="adj2" fmla="val -702"/>
              <a:gd name="adj3" fmla="val 109734"/>
              <a:gd name="adj4" fmla="val -3125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an ‘</a:t>
            </a:r>
            <a:r>
              <a:rPr lang="en-SG" sz="2400" dirty="0" err="1">
                <a:solidFill>
                  <a:schemeClr val="tx1"/>
                </a:solidFill>
              </a:rPr>
              <a:t>int</a:t>
            </a:r>
            <a:r>
              <a:rPr lang="en-SG" sz="2400" dirty="0">
                <a:solidFill>
                  <a:schemeClr val="tx1"/>
                </a:solidFill>
              </a:rPr>
              <a:t>’, it is </a:t>
            </a:r>
            <a:r>
              <a:rPr lang="en-SG" sz="2400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14" name="Callout: Line 16">
            <a:extLst>
              <a:ext uri="{FF2B5EF4-FFF2-40B4-BE49-F238E27FC236}">
                <a16:creationId xmlns:a16="http://schemas.microsoft.com/office/drawing/2014/main" id="{1D93BBF1-4050-B346-9864-1A67626A54FB}"/>
              </a:ext>
            </a:extLst>
          </p:cNvPr>
          <p:cNvSpPr/>
          <p:nvPr/>
        </p:nvSpPr>
        <p:spPr>
          <a:xfrm>
            <a:off x="4917581" y="4170997"/>
            <a:ext cx="2868826" cy="367284"/>
          </a:xfrm>
          <a:prstGeom prst="borderCallout1">
            <a:avLst>
              <a:gd name="adj1" fmla="val 24283"/>
              <a:gd name="adj2" fmla="val -702"/>
              <a:gd name="adj3" fmla="val -3682"/>
              <a:gd name="adj4" fmla="val -3054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 ‘char’, it is </a:t>
            </a:r>
            <a:r>
              <a:rPr lang="en-SG" sz="2400" dirty="0">
                <a:solidFill>
                  <a:srgbClr val="C00000"/>
                </a:solidFill>
              </a:rPr>
              <a:t>‘F’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99CA0-8151-7646-8084-F371AE1AFC1B}"/>
              </a:ext>
            </a:extLst>
          </p:cNvPr>
          <p:cNvSpPr txBox="1"/>
          <p:nvPr/>
        </p:nvSpPr>
        <p:spPr>
          <a:xfrm>
            <a:off x="1393431" y="4825498"/>
            <a:ext cx="7130809" cy="523220"/>
          </a:xfrm>
          <a:prstGeom prst="rect">
            <a:avLst/>
          </a:prstGeom>
          <a:solidFill>
            <a:srgbClr val="0066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11000000110100000000000000000000</a:t>
            </a:r>
          </a:p>
        </p:txBody>
      </p:sp>
      <p:sp>
        <p:nvSpPr>
          <p:cNvPr id="16" name="Callout: Line 23">
            <a:extLst>
              <a:ext uri="{FF2B5EF4-FFF2-40B4-BE49-F238E27FC236}">
                <a16:creationId xmlns:a16="http://schemas.microsoft.com/office/drawing/2014/main" id="{9591ED68-1262-0C45-AE24-210C8C2050C2}"/>
              </a:ext>
            </a:extLst>
          </p:cNvPr>
          <p:cNvSpPr/>
          <p:nvPr/>
        </p:nvSpPr>
        <p:spPr>
          <a:xfrm>
            <a:off x="473996" y="5772578"/>
            <a:ext cx="4353376" cy="367284"/>
          </a:xfrm>
          <a:prstGeom prst="borderCallout1">
            <a:avLst>
              <a:gd name="adj1" fmla="val 2153"/>
              <a:gd name="adj2" fmla="val 35067"/>
              <a:gd name="adj3" fmla="val -111567"/>
              <a:gd name="adj4" fmla="val 64252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an ‘</a:t>
            </a:r>
            <a:r>
              <a:rPr lang="en-SG" sz="2400" dirty="0" err="1">
                <a:solidFill>
                  <a:schemeClr val="tx1"/>
                </a:solidFill>
              </a:rPr>
              <a:t>int</a:t>
            </a:r>
            <a:r>
              <a:rPr lang="en-SG" sz="2400" dirty="0">
                <a:solidFill>
                  <a:schemeClr val="tx1"/>
                </a:solidFill>
              </a:rPr>
              <a:t>’, it is </a:t>
            </a:r>
            <a:r>
              <a:rPr lang="en-SG" sz="2400" dirty="0">
                <a:solidFill>
                  <a:srgbClr val="C00000"/>
                </a:solidFill>
              </a:rPr>
              <a:t>-1060110336 </a:t>
            </a:r>
          </a:p>
        </p:txBody>
      </p:sp>
      <p:sp>
        <p:nvSpPr>
          <p:cNvPr id="17" name="Callout: Line 24">
            <a:extLst>
              <a:ext uri="{FF2B5EF4-FFF2-40B4-BE49-F238E27FC236}">
                <a16:creationId xmlns:a16="http://schemas.microsoft.com/office/drawing/2014/main" id="{7991BC8D-8A2E-544A-A4F6-0198548E93F9}"/>
              </a:ext>
            </a:extLst>
          </p:cNvPr>
          <p:cNvSpPr/>
          <p:nvPr/>
        </p:nvSpPr>
        <p:spPr>
          <a:xfrm>
            <a:off x="5271278" y="5775253"/>
            <a:ext cx="3275044" cy="367284"/>
          </a:xfrm>
          <a:prstGeom prst="borderCallout1">
            <a:avLst>
              <a:gd name="adj1" fmla="val 2153"/>
              <a:gd name="adj2" fmla="val 35067"/>
              <a:gd name="adj3" fmla="val -111567"/>
              <a:gd name="adj4" fmla="val 351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an ‘float’, it is </a:t>
            </a:r>
            <a:r>
              <a:rPr lang="en-SG" sz="2400" dirty="0">
                <a:solidFill>
                  <a:srgbClr val="C00000"/>
                </a:solidFill>
              </a:rPr>
              <a:t>-6.5 </a:t>
            </a:r>
          </a:p>
        </p:txBody>
      </p:sp>
    </p:spTree>
    <p:extLst>
      <p:ext uri="{BB962C8B-B14F-4D97-AF65-F5344CB8AC3E}">
        <p14:creationId xmlns:p14="http://schemas.microsoft.com/office/powerpoint/2010/main" val="136682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AA51E7-500A-A643-B6D9-59E2E179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Data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D57B2-5112-D745-8237-904609EC9084}"/>
              </a:ext>
            </a:extLst>
          </p:cNvPr>
          <p:cNvSpPr txBox="1"/>
          <p:nvPr/>
        </p:nvSpPr>
        <p:spPr>
          <a:xfrm>
            <a:off x="447260" y="1612557"/>
            <a:ext cx="8006081" cy="48936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Data are internally represented as sequence of </a:t>
            </a:r>
            <a:r>
              <a:rPr lang="en-SG" sz="2400" dirty="0">
                <a:solidFill>
                  <a:srgbClr val="C00000"/>
                </a:solidFill>
              </a:rPr>
              <a:t>bits</a:t>
            </a:r>
            <a:r>
              <a:rPr lang="en-SG" sz="2400" dirty="0"/>
              <a:t> (</a:t>
            </a:r>
            <a:r>
              <a:rPr lang="en-SG" sz="2400" b="1" i="1" dirty="0">
                <a:solidFill>
                  <a:srgbClr val="C00000"/>
                </a:solidFill>
              </a:rPr>
              <a:t>b</a:t>
            </a:r>
            <a:r>
              <a:rPr lang="en-SG" sz="2400" dirty="0"/>
              <a:t>inary dig</a:t>
            </a:r>
            <a:r>
              <a:rPr lang="en-SG" sz="2400" b="1" i="1" dirty="0">
                <a:solidFill>
                  <a:srgbClr val="C00000"/>
                </a:solidFill>
              </a:rPr>
              <a:t>it</a:t>
            </a:r>
            <a:r>
              <a:rPr lang="en-SG" sz="2400" dirty="0"/>
              <a:t>s). A bit is either 0 or 1.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Other units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C00000"/>
                </a:solidFill>
              </a:rPr>
              <a:t>Byte</a:t>
            </a:r>
            <a:r>
              <a:rPr lang="en-SG" sz="2000" dirty="0"/>
              <a:t>: 8 bits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000" dirty="0"/>
              <a:t>Nibble: 4 bits (rarely used now)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C00000"/>
                </a:solidFill>
              </a:rPr>
              <a:t>Word</a:t>
            </a:r>
            <a:r>
              <a:rPr lang="en-SG" sz="2000" dirty="0"/>
              <a:t>: Multiple of bytes (</a:t>
            </a:r>
            <a:r>
              <a:rPr lang="en-SG" sz="2000" dirty="0" err="1"/>
              <a:t>eg</a:t>
            </a:r>
            <a:r>
              <a:rPr lang="en-SG" sz="2000" dirty="0"/>
              <a:t>: 1 byte, 2 bytes, 4 bytes, etc.) depending on the computer architecture</a:t>
            </a:r>
          </a:p>
          <a:p>
            <a:pPr marL="285750" indent="-28575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SG" sz="2400" i="1" dirty="0">
                <a:solidFill>
                  <a:srgbClr val="C00000"/>
                </a:solidFill>
              </a:rPr>
              <a:t>N</a:t>
            </a:r>
            <a:r>
              <a:rPr lang="en-SG" sz="2400" dirty="0"/>
              <a:t> bits can represent up to </a:t>
            </a:r>
            <a:r>
              <a:rPr lang="en-SG" sz="2400" dirty="0">
                <a:solidFill>
                  <a:srgbClr val="C00000"/>
                </a:solidFill>
              </a:rPr>
              <a:t>2</a:t>
            </a:r>
            <a:r>
              <a:rPr lang="en-SG" sz="2400" i="1" baseline="30000" dirty="0">
                <a:solidFill>
                  <a:srgbClr val="C00000"/>
                </a:solidFill>
              </a:rPr>
              <a:t>N</a:t>
            </a:r>
            <a:r>
              <a:rPr lang="en-SG" sz="2400" dirty="0"/>
              <a:t> values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000" dirty="0" err="1"/>
              <a:t>Eg</a:t>
            </a:r>
            <a:r>
              <a:rPr lang="en-SG" sz="2000" dirty="0"/>
              <a:t>: 2 bits represent up to 4 values (00, 01, 10, 11)</a:t>
            </a:r>
            <a:r>
              <a:rPr lang="en-SG" sz="2400" dirty="0"/>
              <a:t>; </a:t>
            </a:r>
            <a:br>
              <a:rPr lang="en-SG" sz="2400" dirty="0"/>
            </a:br>
            <a:r>
              <a:rPr lang="en-SG" sz="2000" dirty="0"/>
              <a:t>4 bits represent up to 16 values </a:t>
            </a:r>
            <a:r>
              <a:rPr lang="en-SG" dirty="0"/>
              <a:t>(0000, 0001, 0010, …., 1111)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To represent M values, </a:t>
            </a:r>
            <a:r>
              <a:rPr lang="en-US" sz="2400" dirty="0">
                <a:solidFill>
                  <a:srgbClr val="800000"/>
                </a:solidFill>
                <a:sym typeface="Symbol" pitchFamily="18" charset="2"/>
              </a:rPr>
              <a:t></a:t>
            </a:r>
            <a:r>
              <a:rPr lang="en-US" sz="2400" dirty="0">
                <a:solidFill>
                  <a:srgbClr val="800000"/>
                </a:solidFill>
              </a:rPr>
              <a:t>log</a:t>
            </a:r>
            <a:r>
              <a:rPr lang="en-US" sz="2400" baseline="-25000" dirty="0">
                <a:solidFill>
                  <a:srgbClr val="800000"/>
                </a:solidFill>
              </a:rPr>
              <a:t>2</a:t>
            </a:r>
            <a:r>
              <a:rPr lang="en-US" sz="2400" i="1" dirty="0">
                <a:solidFill>
                  <a:srgbClr val="800000"/>
                </a:solidFill>
              </a:rPr>
              <a:t>M</a:t>
            </a:r>
            <a:r>
              <a:rPr lang="en-US" sz="2400" dirty="0">
                <a:solidFill>
                  <a:srgbClr val="800000"/>
                </a:solidFill>
                <a:sym typeface="Symbol" pitchFamily="18" charset="2"/>
              </a:rPr>
              <a:t></a:t>
            </a:r>
            <a:r>
              <a:rPr lang="en-US" sz="2400" i="1" dirty="0">
                <a:solidFill>
                  <a:srgbClr val="800000"/>
                </a:solidFill>
              </a:rPr>
              <a:t> </a:t>
            </a:r>
            <a:r>
              <a:rPr lang="en-US" sz="2400" dirty="0"/>
              <a:t>bits required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Eg</a:t>
            </a:r>
            <a:r>
              <a:rPr lang="en-US" sz="2000" dirty="0"/>
              <a:t>: 32 values require 5 bits; 1000 values require 10 bits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7581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6180-EA81-804F-A3C5-FBCDCAA0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Base 10 Number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9EEE0-EC1C-FE4B-A3B7-4B25BBBF0394}"/>
              </a:ext>
            </a:extLst>
          </p:cNvPr>
          <p:cNvSpPr txBox="1"/>
          <p:nvPr/>
        </p:nvSpPr>
        <p:spPr>
          <a:xfrm>
            <a:off x="457199" y="1483348"/>
            <a:ext cx="800608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A </a:t>
            </a:r>
            <a:r>
              <a:rPr lang="en-SG" sz="2400" dirty="0">
                <a:solidFill>
                  <a:srgbClr val="C00000"/>
                </a:solidFill>
              </a:rPr>
              <a:t>weighted-positional</a:t>
            </a:r>
            <a:r>
              <a:rPr lang="en-SG" sz="2400" dirty="0"/>
              <a:t> number system.</a:t>
            </a:r>
          </a:p>
          <a:p>
            <a:pPr marL="285750" indent="-28575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Base</a:t>
            </a:r>
            <a:r>
              <a:rPr lang="en-SG" sz="2400" dirty="0"/>
              <a:t> (also called </a:t>
            </a:r>
            <a:r>
              <a:rPr lang="en-SG" sz="2400" dirty="0">
                <a:solidFill>
                  <a:srgbClr val="C00000"/>
                </a:solidFill>
              </a:rPr>
              <a:t>radix</a:t>
            </a:r>
            <a:r>
              <a:rPr lang="en-SG" sz="2400" dirty="0"/>
              <a:t>) is 10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Symbols/digits = { 0, 1, 2, 3, 4, 5, 6, 7, 8, 9 }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Each position has a weight of power of 10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Eg</a:t>
            </a:r>
            <a:r>
              <a:rPr lang="en-US" sz="2000" dirty="0"/>
              <a:t>: (7594.36)</a:t>
            </a:r>
            <a:r>
              <a:rPr lang="en-US" sz="2000" baseline="-25000" dirty="0"/>
              <a:t>10</a:t>
            </a:r>
            <a:r>
              <a:rPr lang="en-US" sz="2000" dirty="0"/>
              <a:t> = (7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3</a:t>
            </a:r>
            <a:r>
              <a:rPr lang="en-US" sz="2000" dirty="0"/>
              <a:t>) + (5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2</a:t>
            </a:r>
            <a:r>
              <a:rPr lang="en-US" sz="2000" dirty="0"/>
              <a:t>) + (9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1</a:t>
            </a:r>
            <a:r>
              <a:rPr lang="en-US" sz="2000" dirty="0"/>
              <a:t>) + (4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0</a:t>
            </a:r>
            <a:r>
              <a:rPr lang="en-US" sz="2000" dirty="0"/>
              <a:t>) + (3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-1</a:t>
            </a:r>
            <a:r>
              <a:rPr lang="en-US" sz="2000" dirty="0"/>
              <a:t>) + (6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-2</a:t>
            </a:r>
            <a:r>
              <a:rPr lang="en-US" sz="2000"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SG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47B8D-7F5B-F349-8E09-98FEA9623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592" y="4051369"/>
            <a:ext cx="7144815" cy="1223293"/>
          </a:xfrm>
          <a:prstGeom prst="rect">
            <a:avLst/>
          </a:prstGeom>
          <a:solidFill>
            <a:srgbClr val="FFCC99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400" dirty="0"/>
              <a:t>(a</a:t>
            </a:r>
            <a:r>
              <a:rPr lang="en-GB" sz="2400" baseline="-25000" dirty="0"/>
              <a:t>n</a:t>
            </a:r>
            <a:r>
              <a:rPr lang="en-GB" sz="2400" dirty="0"/>
              <a:t>a</a:t>
            </a:r>
            <a:r>
              <a:rPr lang="en-GB" sz="2400" baseline="-25000" dirty="0"/>
              <a:t>n-1</a:t>
            </a:r>
            <a:r>
              <a:rPr lang="en-GB" sz="2400" dirty="0"/>
              <a:t>… a</a:t>
            </a:r>
            <a:r>
              <a:rPr lang="en-GB" sz="2400" baseline="-25000" dirty="0"/>
              <a:t>0</a:t>
            </a:r>
            <a:r>
              <a:rPr lang="en-GB" sz="2400" dirty="0"/>
              <a:t> </a:t>
            </a:r>
            <a:r>
              <a:rPr lang="en-GB" sz="2400" b="1" dirty="0"/>
              <a:t>.</a:t>
            </a:r>
            <a:r>
              <a:rPr lang="en-GB" sz="2400" dirty="0"/>
              <a:t> f</a:t>
            </a:r>
            <a:r>
              <a:rPr lang="en-GB" sz="2400" baseline="-25000" dirty="0"/>
              <a:t>1</a:t>
            </a:r>
            <a:r>
              <a:rPr lang="en-GB" sz="2400" dirty="0"/>
              <a:t>f</a:t>
            </a:r>
            <a:r>
              <a:rPr lang="en-GB" sz="2400" baseline="-25000" dirty="0"/>
              <a:t>2</a:t>
            </a:r>
            <a:r>
              <a:rPr lang="en-GB" sz="2400" dirty="0"/>
              <a:t> … </a:t>
            </a:r>
            <a:r>
              <a:rPr lang="en-GB" sz="2400" dirty="0" err="1"/>
              <a:t>f</a:t>
            </a:r>
            <a:r>
              <a:rPr lang="en-GB" sz="2400" baseline="-25000" dirty="0" err="1"/>
              <a:t>m</a:t>
            </a:r>
            <a:r>
              <a:rPr lang="en-GB" sz="2400" dirty="0"/>
              <a:t>)</a:t>
            </a:r>
            <a:r>
              <a:rPr lang="en-GB" sz="2400" baseline="-25000" dirty="0"/>
              <a:t>10</a:t>
            </a:r>
            <a:r>
              <a:rPr lang="en-GB" sz="2400" dirty="0"/>
              <a:t> = </a:t>
            </a:r>
            <a:br>
              <a:rPr lang="en-GB" sz="2400" dirty="0"/>
            </a:br>
            <a:r>
              <a:rPr lang="en-GB" sz="2400" dirty="0"/>
              <a:t>          (a</a:t>
            </a:r>
            <a:r>
              <a:rPr lang="en-GB" sz="2400" baseline="-25000" dirty="0"/>
              <a:t>n </a:t>
            </a:r>
            <a:r>
              <a:rPr lang="en-GB" sz="2400" dirty="0"/>
              <a:t>x 10</a:t>
            </a:r>
            <a:r>
              <a:rPr lang="en-GB" sz="2400" baseline="30000" dirty="0"/>
              <a:t>n</a:t>
            </a:r>
            <a:r>
              <a:rPr lang="en-GB" sz="2400" dirty="0"/>
              <a:t>) + (a</a:t>
            </a:r>
            <a:r>
              <a:rPr lang="en-GB" sz="2400" baseline="-25000" dirty="0"/>
              <a:t>n-1</a:t>
            </a:r>
            <a:r>
              <a:rPr lang="en-GB" sz="2400" dirty="0"/>
              <a:t>x10</a:t>
            </a:r>
            <a:r>
              <a:rPr lang="en-GB" sz="2400" baseline="30000" dirty="0"/>
              <a:t>n-1</a:t>
            </a:r>
            <a:r>
              <a:rPr lang="en-GB" sz="2400" dirty="0"/>
              <a:t>) + … + (a</a:t>
            </a:r>
            <a:r>
              <a:rPr lang="en-GB" sz="2400" baseline="-25000" dirty="0"/>
              <a:t>0 </a:t>
            </a:r>
            <a:r>
              <a:rPr lang="en-GB" sz="2400" dirty="0"/>
              <a:t>x 10</a:t>
            </a:r>
            <a:r>
              <a:rPr lang="en-GB" sz="2400" baseline="30000" dirty="0"/>
              <a:t>0</a:t>
            </a:r>
            <a:r>
              <a:rPr lang="en-GB" sz="2400" dirty="0"/>
              <a:t>) + </a:t>
            </a:r>
            <a:br>
              <a:rPr lang="en-GB" sz="2400" dirty="0"/>
            </a:br>
            <a:r>
              <a:rPr lang="en-GB" sz="2400" dirty="0"/>
              <a:t>          (f</a:t>
            </a:r>
            <a:r>
              <a:rPr lang="en-GB" sz="2400" baseline="-25000" dirty="0"/>
              <a:t>1 </a:t>
            </a:r>
            <a:r>
              <a:rPr lang="en-GB" sz="2400" dirty="0"/>
              <a:t>x 10</a:t>
            </a:r>
            <a:r>
              <a:rPr lang="en-GB" sz="2400" baseline="30000" dirty="0"/>
              <a:t>-1</a:t>
            </a:r>
            <a:r>
              <a:rPr lang="en-GB" sz="2400" dirty="0"/>
              <a:t>) + (f</a:t>
            </a:r>
            <a:r>
              <a:rPr lang="en-GB" sz="2400" baseline="-25000" dirty="0"/>
              <a:t>2</a:t>
            </a:r>
            <a:r>
              <a:rPr lang="en-GB" sz="2400" dirty="0"/>
              <a:t> x 10</a:t>
            </a:r>
            <a:r>
              <a:rPr lang="en-GB" sz="2400" baseline="30000" dirty="0"/>
              <a:t>-2</a:t>
            </a:r>
            <a:r>
              <a:rPr lang="en-GB" sz="2400" dirty="0"/>
              <a:t>) + … + (</a:t>
            </a:r>
            <a:r>
              <a:rPr lang="en-GB" sz="2400" dirty="0" err="1"/>
              <a:t>f</a:t>
            </a:r>
            <a:r>
              <a:rPr lang="en-GB" sz="2400" baseline="-25000" dirty="0" err="1"/>
              <a:t>m</a:t>
            </a:r>
            <a:r>
              <a:rPr lang="en-GB" sz="2400" baseline="-25000" dirty="0"/>
              <a:t> </a:t>
            </a:r>
            <a:r>
              <a:rPr lang="en-GB" sz="2400" dirty="0"/>
              <a:t>x 10</a:t>
            </a:r>
            <a:r>
              <a:rPr lang="en-GB" sz="2400" baseline="30000" dirty="0"/>
              <a:t>-m</a:t>
            </a:r>
            <a:r>
              <a:rPr lang="en-GB" sz="2400" dirty="0"/>
              <a:t>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143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1074-C60E-FD43-9139-2A38A920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Other Number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00CF7-8B44-0C40-A7C2-72BD8FDB8D2E}"/>
              </a:ext>
            </a:extLst>
          </p:cNvPr>
          <p:cNvSpPr txBox="1"/>
          <p:nvPr/>
        </p:nvSpPr>
        <p:spPr>
          <a:xfrm>
            <a:off x="457199" y="1383957"/>
            <a:ext cx="800608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A </a:t>
            </a:r>
            <a:r>
              <a:rPr lang="en-SG" sz="2400" dirty="0">
                <a:solidFill>
                  <a:srgbClr val="C00000"/>
                </a:solidFill>
              </a:rPr>
              <a:t>weighted-positional</a:t>
            </a:r>
            <a:r>
              <a:rPr lang="en-SG" sz="2400" dirty="0"/>
              <a:t> number system.</a:t>
            </a:r>
          </a:p>
          <a:p>
            <a:pPr marL="285750" indent="-28575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Base</a:t>
            </a:r>
            <a:r>
              <a:rPr lang="en-SG" sz="2400" dirty="0"/>
              <a:t> (also called </a:t>
            </a:r>
            <a:r>
              <a:rPr lang="en-SG" sz="2400" dirty="0">
                <a:solidFill>
                  <a:srgbClr val="C00000"/>
                </a:solidFill>
              </a:rPr>
              <a:t>radix</a:t>
            </a:r>
            <a:r>
              <a:rPr lang="en-SG" sz="2400" dirty="0"/>
              <a:t>) is 10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Symbols/digits = { 0, 1, 2, 3, 4, 5, 6, 7, 8, 9 }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Each position has a weight of power of 10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Eg</a:t>
            </a:r>
            <a:r>
              <a:rPr lang="en-US" sz="2000" dirty="0"/>
              <a:t>: (7594.36)</a:t>
            </a:r>
            <a:r>
              <a:rPr lang="en-US" sz="2000" baseline="-25000" dirty="0"/>
              <a:t>10</a:t>
            </a:r>
            <a:r>
              <a:rPr lang="en-US" sz="2000" dirty="0"/>
              <a:t> = (7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3</a:t>
            </a:r>
            <a:r>
              <a:rPr lang="en-US" sz="2000" dirty="0"/>
              <a:t>) + (5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2</a:t>
            </a:r>
            <a:r>
              <a:rPr lang="en-US" sz="2000" dirty="0"/>
              <a:t>) + (9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1</a:t>
            </a:r>
            <a:r>
              <a:rPr lang="en-US" sz="2000" dirty="0"/>
              <a:t>) + (4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0</a:t>
            </a:r>
            <a:r>
              <a:rPr lang="en-US" sz="2000" dirty="0"/>
              <a:t>) + (3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-1</a:t>
            </a:r>
            <a:r>
              <a:rPr lang="en-US" sz="2000" dirty="0"/>
              <a:t>) + (6 × </a:t>
            </a:r>
            <a:r>
              <a:rPr lang="en-US" sz="2000" dirty="0">
                <a:solidFill>
                  <a:srgbClr val="C00000"/>
                </a:solidFill>
              </a:rPr>
              <a:t>10</a:t>
            </a:r>
            <a:r>
              <a:rPr lang="en-US" sz="2000" baseline="30000" dirty="0">
                <a:solidFill>
                  <a:srgbClr val="C00000"/>
                </a:solidFill>
              </a:rPr>
              <a:t>-2</a:t>
            </a:r>
            <a:r>
              <a:rPr lang="en-US" sz="2000"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SG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758C7-432B-B043-A02C-725BDF4EC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592" y="3951978"/>
            <a:ext cx="7144815" cy="1223293"/>
          </a:xfrm>
          <a:prstGeom prst="rect">
            <a:avLst/>
          </a:prstGeom>
          <a:solidFill>
            <a:srgbClr val="FFCC99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400" dirty="0"/>
              <a:t>(a</a:t>
            </a:r>
            <a:r>
              <a:rPr lang="en-GB" sz="2400" baseline="-25000" dirty="0"/>
              <a:t>n</a:t>
            </a:r>
            <a:r>
              <a:rPr lang="en-GB" sz="2400" dirty="0"/>
              <a:t>a</a:t>
            </a:r>
            <a:r>
              <a:rPr lang="en-GB" sz="2400" baseline="-25000" dirty="0"/>
              <a:t>n-1</a:t>
            </a:r>
            <a:r>
              <a:rPr lang="en-GB" sz="2400" dirty="0"/>
              <a:t>… a</a:t>
            </a:r>
            <a:r>
              <a:rPr lang="en-GB" sz="2400" baseline="-25000" dirty="0"/>
              <a:t>0</a:t>
            </a:r>
            <a:r>
              <a:rPr lang="en-GB" sz="2400" dirty="0"/>
              <a:t> </a:t>
            </a:r>
            <a:r>
              <a:rPr lang="en-GB" sz="2400" b="1" dirty="0"/>
              <a:t>.</a:t>
            </a:r>
            <a:r>
              <a:rPr lang="en-GB" sz="2400" dirty="0"/>
              <a:t> f</a:t>
            </a:r>
            <a:r>
              <a:rPr lang="en-GB" sz="2400" baseline="-25000" dirty="0"/>
              <a:t>1</a:t>
            </a:r>
            <a:r>
              <a:rPr lang="en-GB" sz="2400" dirty="0"/>
              <a:t>f</a:t>
            </a:r>
            <a:r>
              <a:rPr lang="en-GB" sz="2400" baseline="-25000" dirty="0"/>
              <a:t>2</a:t>
            </a:r>
            <a:r>
              <a:rPr lang="en-GB" sz="2400" dirty="0"/>
              <a:t> … </a:t>
            </a:r>
            <a:r>
              <a:rPr lang="en-GB" sz="2400" dirty="0" err="1"/>
              <a:t>f</a:t>
            </a:r>
            <a:r>
              <a:rPr lang="en-GB" sz="2400" baseline="-25000" dirty="0" err="1"/>
              <a:t>m</a:t>
            </a:r>
            <a:r>
              <a:rPr lang="en-GB" sz="2400" dirty="0"/>
              <a:t>)</a:t>
            </a:r>
            <a:r>
              <a:rPr lang="en-GB" sz="2400" baseline="-25000" dirty="0"/>
              <a:t>10</a:t>
            </a:r>
            <a:r>
              <a:rPr lang="en-GB" sz="2400" dirty="0"/>
              <a:t> = </a:t>
            </a:r>
            <a:br>
              <a:rPr lang="en-GB" sz="2400" dirty="0"/>
            </a:br>
            <a:r>
              <a:rPr lang="en-GB" sz="2400" dirty="0"/>
              <a:t>          (a</a:t>
            </a:r>
            <a:r>
              <a:rPr lang="en-GB" sz="2400" baseline="-25000" dirty="0"/>
              <a:t>n </a:t>
            </a:r>
            <a:r>
              <a:rPr lang="en-GB" sz="2400" dirty="0"/>
              <a:t>x 10</a:t>
            </a:r>
            <a:r>
              <a:rPr lang="en-GB" sz="2400" baseline="30000" dirty="0"/>
              <a:t>n</a:t>
            </a:r>
            <a:r>
              <a:rPr lang="en-GB" sz="2400" dirty="0"/>
              <a:t>) + (a</a:t>
            </a:r>
            <a:r>
              <a:rPr lang="en-GB" sz="2400" baseline="-25000" dirty="0"/>
              <a:t>n-1</a:t>
            </a:r>
            <a:r>
              <a:rPr lang="en-GB" sz="2400" dirty="0"/>
              <a:t>x10</a:t>
            </a:r>
            <a:r>
              <a:rPr lang="en-GB" sz="2400" baseline="30000" dirty="0"/>
              <a:t>n-1</a:t>
            </a:r>
            <a:r>
              <a:rPr lang="en-GB" sz="2400" dirty="0"/>
              <a:t>) + … + (a</a:t>
            </a:r>
            <a:r>
              <a:rPr lang="en-GB" sz="2400" baseline="-25000" dirty="0"/>
              <a:t>0 </a:t>
            </a:r>
            <a:r>
              <a:rPr lang="en-GB" sz="2400" dirty="0"/>
              <a:t>x 10</a:t>
            </a:r>
            <a:r>
              <a:rPr lang="en-GB" sz="2400" baseline="30000" dirty="0"/>
              <a:t>0</a:t>
            </a:r>
            <a:r>
              <a:rPr lang="en-GB" sz="2400" dirty="0"/>
              <a:t>) + </a:t>
            </a:r>
            <a:br>
              <a:rPr lang="en-GB" sz="2400" dirty="0"/>
            </a:br>
            <a:r>
              <a:rPr lang="en-GB" sz="2400" dirty="0"/>
              <a:t>          (f</a:t>
            </a:r>
            <a:r>
              <a:rPr lang="en-GB" sz="2400" baseline="-25000" dirty="0"/>
              <a:t>1 </a:t>
            </a:r>
            <a:r>
              <a:rPr lang="en-GB" sz="2400" dirty="0"/>
              <a:t>x 10</a:t>
            </a:r>
            <a:r>
              <a:rPr lang="en-GB" sz="2400" baseline="30000" dirty="0"/>
              <a:t>-1</a:t>
            </a:r>
            <a:r>
              <a:rPr lang="en-GB" sz="2400" dirty="0"/>
              <a:t>) + (f</a:t>
            </a:r>
            <a:r>
              <a:rPr lang="en-GB" sz="2400" baseline="-25000" dirty="0"/>
              <a:t>2</a:t>
            </a:r>
            <a:r>
              <a:rPr lang="en-GB" sz="2400" dirty="0"/>
              <a:t> x 10</a:t>
            </a:r>
            <a:r>
              <a:rPr lang="en-GB" sz="2400" baseline="30000" dirty="0"/>
              <a:t>-2</a:t>
            </a:r>
            <a:r>
              <a:rPr lang="en-GB" sz="2400" dirty="0"/>
              <a:t>) + … + (</a:t>
            </a:r>
            <a:r>
              <a:rPr lang="en-GB" sz="2400" dirty="0" err="1"/>
              <a:t>f</a:t>
            </a:r>
            <a:r>
              <a:rPr lang="en-GB" sz="2400" baseline="-25000" dirty="0" err="1"/>
              <a:t>m</a:t>
            </a:r>
            <a:r>
              <a:rPr lang="en-GB" sz="2400" baseline="-25000" dirty="0"/>
              <a:t> </a:t>
            </a:r>
            <a:r>
              <a:rPr lang="en-GB" sz="2400" dirty="0"/>
              <a:t>x 10</a:t>
            </a:r>
            <a:r>
              <a:rPr lang="en-GB" sz="2400" baseline="30000" dirty="0"/>
              <a:t>-m</a:t>
            </a:r>
            <a:r>
              <a:rPr lang="en-GB" sz="2400" dirty="0"/>
              <a:t>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109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D150-7E27-9546-8DEB-CDE057F0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Other Number Systems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D4A17A-3C43-074C-9C0C-91C96C2974A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93185"/>
            <a:ext cx="8229600" cy="489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some programming languages/software, special notations are used to represent numbers in certain bases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programming language </a:t>
            </a:r>
            <a:r>
              <a:rPr lang="en-US" dirty="0">
                <a:solidFill>
                  <a:srgbClr val="800000"/>
                </a:solidFill>
              </a:rPr>
              <a:t>C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Prefix </a:t>
            </a:r>
            <a:r>
              <a:rPr lang="en-US" dirty="0">
                <a:solidFill>
                  <a:srgbClr val="0000CC"/>
                </a:solidFill>
              </a:rPr>
              <a:t>0</a:t>
            </a:r>
            <a:r>
              <a:rPr lang="en-US" dirty="0"/>
              <a:t> for octal. </a:t>
            </a:r>
            <a:r>
              <a:rPr lang="en-US" dirty="0" err="1"/>
              <a:t>Eg</a:t>
            </a:r>
            <a:r>
              <a:rPr lang="en-US" dirty="0"/>
              <a:t>: 032 represents the octal number (32)</a:t>
            </a:r>
            <a:r>
              <a:rPr lang="en-US" baseline="-25000" dirty="0"/>
              <a:t>8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Prefix </a:t>
            </a:r>
            <a:r>
              <a:rPr lang="en-US" dirty="0">
                <a:solidFill>
                  <a:srgbClr val="0000CC"/>
                </a:solidFill>
              </a:rPr>
              <a:t>0x</a:t>
            </a:r>
            <a:r>
              <a:rPr lang="en-US" dirty="0"/>
              <a:t> for hexadecimal. </a:t>
            </a:r>
            <a:r>
              <a:rPr lang="en-US" dirty="0" err="1"/>
              <a:t>Eg</a:t>
            </a:r>
            <a:r>
              <a:rPr lang="en-US" dirty="0"/>
              <a:t>: 0x32 represents the hexadecimal number (32)</a:t>
            </a:r>
            <a:r>
              <a:rPr lang="en-US" baseline="-25000" dirty="0"/>
              <a:t>16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dirty="0" err="1">
                <a:solidFill>
                  <a:srgbClr val="800000"/>
                </a:solidFill>
              </a:rPr>
              <a:t>QTSpim</a:t>
            </a:r>
            <a:r>
              <a:rPr lang="en-US" dirty="0"/>
              <a:t> (a MIPS simulator you will use)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Prefix </a:t>
            </a:r>
            <a:r>
              <a:rPr lang="en-US" dirty="0">
                <a:solidFill>
                  <a:srgbClr val="0000CC"/>
                </a:solidFill>
              </a:rPr>
              <a:t>0x</a:t>
            </a:r>
            <a:r>
              <a:rPr lang="en-US" dirty="0"/>
              <a:t> for hexadecimal. </a:t>
            </a:r>
            <a:r>
              <a:rPr lang="en-US" dirty="0" err="1"/>
              <a:t>Eg</a:t>
            </a:r>
            <a:r>
              <a:rPr lang="en-US" dirty="0"/>
              <a:t>: 0x100 represents the hexadecimal number (100)</a:t>
            </a:r>
            <a:r>
              <a:rPr lang="en-US" baseline="-25000" dirty="0"/>
              <a:t>16</a:t>
            </a:r>
          </a:p>
          <a:p>
            <a:pPr marL="538163" lvl="1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dirty="0">
                <a:solidFill>
                  <a:srgbClr val="800000"/>
                </a:solidFill>
              </a:rPr>
              <a:t>Verilog</a:t>
            </a:r>
            <a:r>
              <a:rPr lang="en-US" dirty="0"/>
              <a:t>, the following values are the same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CC"/>
                </a:solidFill>
              </a:rPr>
              <a:t>8’b</a:t>
            </a:r>
            <a:r>
              <a:rPr lang="en-US" dirty="0"/>
              <a:t>11110000: an 8-bit binary value 11110000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CC"/>
                </a:solidFill>
              </a:rPr>
              <a:t>8’h</a:t>
            </a:r>
            <a:r>
              <a:rPr lang="en-US" dirty="0"/>
              <a:t>F0: an 8-bit binary value represented in hexadecimal F0</a:t>
            </a:r>
          </a:p>
          <a:p>
            <a:pPr lvl="2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CC"/>
                </a:solidFill>
              </a:rPr>
              <a:t>8’d</a:t>
            </a:r>
            <a:r>
              <a:rPr lang="en-US" dirty="0"/>
              <a:t>240: an 8-bit binary value represented in decimal 240</a:t>
            </a:r>
          </a:p>
        </p:txBody>
      </p:sp>
    </p:spTree>
    <p:extLst>
      <p:ext uri="{BB962C8B-B14F-4D97-AF65-F5344CB8AC3E}">
        <p14:creationId xmlns:p14="http://schemas.microsoft.com/office/powerpoint/2010/main" val="150312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6284-A146-8E4F-8989-BB97671F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Base-R to Decimal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4FC931-5E5D-394A-AFAD-7A80CC819A2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295401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Easy!</a:t>
            </a:r>
          </a:p>
          <a:p>
            <a:pPr marL="630238" lvl="1" indent="-271463" fontAlgn="auto">
              <a:spcBef>
                <a:spcPts val="1200"/>
              </a:spcBef>
              <a:spcAft>
                <a:spcPts val="0"/>
              </a:spcAft>
              <a:buClr>
                <a:schemeClr val="accent6">
                  <a:lumMod val="60000"/>
                  <a:lumOff val="40000"/>
                </a:schemeClr>
              </a:buClr>
              <a:buSzPct val="60000"/>
              <a:buFont typeface="Wingdings" panose="05000000000000000000" pitchFamily="2" charset="2"/>
              <a:buChar char="q"/>
            </a:pPr>
            <a:r>
              <a:rPr lang="en-GB" sz="2400" dirty="0"/>
              <a:t>1101.101</a:t>
            </a:r>
            <a:r>
              <a:rPr lang="en-GB" sz="2400" baseline="-25000" dirty="0"/>
              <a:t>2 </a:t>
            </a:r>
            <a:r>
              <a:rPr lang="en-GB" sz="2400" dirty="0"/>
              <a:t>= 1</a:t>
            </a:r>
            <a:r>
              <a:rPr lang="en-GB" sz="2400" dirty="0">
                <a:sym typeface="Symbol" pitchFamily="18" charset="2"/>
              </a:rPr>
              <a:t></a:t>
            </a:r>
            <a:r>
              <a:rPr lang="en-GB" sz="24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GB" sz="2400" baseline="30000" dirty="0">
                <a:solidFill>
                  <a:srgbClr val="006600"/>
                </a:solidFill>
              </a:rPr>
              <a:t>3</a:t>
            </a:r>
            <a:r>
              <a:rPr lang="en-GB" sz="2400" baseline="30000" dirty="0"/>
              <a:t>  </a:t>
            </a:r>
            <a:r>
              <a:rPr lang="en-GB" sz="2400" dirty="0"/>
              <a:t>+  1</a:t>
            </a:r>
            <a:r>
              <a:rPr lang="en-GB" sz="2400" dirty="0">
                <a:sym typeface="Symbol" pitchFamily="18" charset="2"/>
              </a:rPr>
              <a:t></a:t>
            </a:r>
            <a:r>
              <a:rPr lang="en-GB" sz="24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GB" sz="2400" baseline="30000" dirty="0">
                <a:solidFill>
                  <a:srgbClr val="006600"/>
                </a:solidFill>
              </a:rPr>
              <a:t>2</a:t>
            </a:r>
            <a:r>
              <a:rPr lang="en-GB" sz="2400" baseline="30000" dirty="0"/>
              <a:t>  </a:t>
            </a:r>
            <a:r>
              <a:rPr lang="en-GB" sz="2400" dirty="0"/>
              <a:t>+  1</a:t>
            </a:r>
            <a:r>
              <a:rPr lang="en-GB" sz="2400" dirty="0">
                <a:sym typeface="Symbol" pitchFamily="18" charset="2"/>
              </a:rPr>
              <a:t></a:t>
            </a:r>
            <a:r>
              <a:rPr lang="en-GB" sz="24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GB" sz="2400" baseline="30000" dirty="0">
                <a:solidFill>
                  <a:srgbClr val="006600"/>
                </a:solidFill>
              </a:rPr>
              <a:t>0</a:t>
            </a:r>
            <a:r>
              <a:rPr lang="en-GB" sz="2400" baseline="30000" dirty="0"/>
              <a:t>  </a:t>
            </a:r>
            <a:r>
              <a:rPr lang="en-GB" sz="2400" dirty="0"/>
              <a:t>+ 1</a:t>
            </a:r>
            <a:r>
              <a:rPr lang="en-GB" sz="2400" dirty="0">
                <a:sym typeface="Symbol" pitchFamily="18" charset="2"/>
              </a:rPr>
              <a:t></a:t>
            </a:r>
            <a:r>
              <a:rPr lang="en-GB" sz="24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GB" sz="2400" baseline="30000" dirty="0">
                <a:solidFill>
                  <a:srgbClr val="006600"/>
                </a:solidFill>
              </a:rPr>
              <a:t>-1</a:t>
            </a:r>
            <a:r>
              <a:rPr lang="en-GB" sz="2400" baseline="30000" dirty="0"/>
              <a:t>  </a:t>
            </a:r>
            <a:r>
              <a:rPr lang="en-GB" sz="2400" dirty="0"/>
              <a:t>+ 1</a:t>
            </a:r>
            <a:r>
              <a:rPr lang="en-GB" sz="2400" dirty="0">
                <a:sym typeface="Symbol" pitchFamily="18" charset="2"/>
              </a:rPr>
              <a:t></a:t>
            </a:r>
            <a:r>
              <a:rPr lang="en-GB" sz="24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GB" sz="2400" baseline="30000" dirty="0">
                <a:solidFill>
                  <a:srgbClr val="006600"/>
                </a:solidFill>
              </a:rPr>
              <a:t>-3</a:t>
            </a:r>
            <a:r>
              <a:rPr lang="en-GB" sz="2400" baseline="30000" dirty="0"/>
              <a:t> </a:t>
            </a:r>
            <a:r>
              <a:rPr lang="en-GB" sz="2400" dirty="0"/>
              <a:t>		</a:t>
            </a:r>
            <a:endParaRPr lang="en-GB" sz="2400" b="1" baseline="-25000" dirty="0">
              <a:solidFill>
                <a:srgbClr val="0000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A1724-C28F-034D-97A7-FEAFBFEF7BD2}"/>
              </a:ext>
            </a:extLst>
          </p:cNvPr>
          <p:cNvSpPr txBox="1"/>
          <p:nvPr/>
        </p:nvSpPr>
        <p:spPr>
          <a:xfrm>
            <a:off x="2667000" y="220087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= 8 + 4 + 1 + 0.5 + 0.125 = </a:t>
            </a:r>
            <a:r>
              <a:rPr lang="en-GB" sz="2400" b="1" dirty="0">
                <a:solidFill>
                  <a:srgbClr val="0000CC"/>
                </a:solidFill>
              </a:rPr>
              <a:t>13.625</a:t>
            </a:r>
            <a:r>
              <a:rPr lang="en-GB" sz="2400" b="1" baseline="-25000" dirty="0">
                <a:solidFill>
                  <a:srgbClr val="0000CC"/>
                </a:solidFill>
              </a:rPr>
              <a:t>10</a:t>
            </a:r>
            <a:endParaRPr lang="en-US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E9E62F-A9B3-BB49-A29B-D2FEAAE45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85593"/>
            <a:ext cx="2514600" cy="53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572.6</a:t>
            </a:r>
            <a:r>
              <a:rPr kumimoji="0" lang="en-GB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8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=</a:t>
            </a:r>
            <a:endParaRPr kumimoji="0" lang="en-GB" sz="2400" b="1" i="0" u="none" strike="noStrike" kern="0" cap="none" spc="0" normalizeH="0" baseline="-2500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B1E1A9-8368-A34C-8DBE-F5E919D4D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1741"/>
            <a:ext cx="2438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2A.8</a:t>
            </a:r>
            <a:r>
              <a:rPr kumimoji="0" lang="en-GB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16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= </a:t>
            </a:r>
            <a:endParaRPr kumimoji="0" lang="en-GB" sz="2400" b="1" i="0" u="none" strike="noStrike" kern="0" cap="none" spc="0" normalizeH="0" baseline="-2500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B963A-B6D5-A44B-A9B3-EEE202499BFF}"/>
              </a:ext>
            </a:extLst>
          </p:cNvPr>
          <p:cNvSpPr txBox="1"/>
          <p:nvPr/>
        </p:nvSpPr>
        <p:spPr>
          <a:xfrm>
            <a:off x="2743200" y="2775492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5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8</a:t>
            </a:r>
            <a:r>
              <a:rPr lang="en-GB" sz="2400" kern="0" baseline="30000" dirty="0">
                <a:solidFill>
                  <a:srgbClr val="006600"/>
                </a:solidFill>
              </a:rPr>
              <a:t>2</a:t>
            </a:r>
            <a:r>
              <a:rPr lang="en-GB" sz="2400" kern="0" baseline="30000" dirty="0"/>
              <a:t>  </a:t>
            </a:r>
            <a:r>
              <a:rPr lang="en-GB" sz="2400" kern="0" dirty="0"/>
              <a:t>+  7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8</a:t>
            </a:r>
            <a:r>
              <a:rPr lang="en-GB" sz="2400" kern="0" baseline="30000" dirty="0">
                <a:solidFill>
                  <a:srgbClr val="006600"/>
                </a:solidFill>
              </a:rPr>
              <a:t>1</a:t>
            </a:r>
            <a:r>
              <a:rPr lang="en-GB" sz="2400" kern="0" baseline="30000" dirty="0"/>
              <a:t>  </a:t>
            </a:r>
            <a:r>
              <a:rPr lang="en-GB" sz="2400" kern="0" dirty="0"/>
              <a:t>+  2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8</a:t>
            </a:r>
            <a:r>
              <a:rPr lang="en-GB" sz="2400" kern="0" baseline="30000" dirty="0">
                <a:solidFill>
                  <a:srgbClr val="006600"/>
                </a:solidFill>
              </a:rPr>
              <a:t>0 </a:t>
            </a:r>
            <a:r>
              <a:rPr lang="en-GB" sz="2400" kern="0" baseline="30000" dirty="0"/>
              <a:t> </a:t>
            </a:r>
            <a:r>
              <a:rPr lang="en-GB" sz="2400" kern="0" dirty="0"/>
              <a:t>+ 6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8</a:t>
            </a:r>
            <a:r>
              <a:rPr lang="en-GB" sz="2400" kern="0" baseline="30000" dirty="0">
                <a:solidFill>
                  <a:srgbClr val="006600"/>
                </a:solidFill>
              </a:rPr>
              <a:t>-1</a:t>
            </a:r>
            <a:r>
              <a:rPr lang="en-GB" sz="2400" kern="0" baseline="30000" dirty="0"/>
              <a:t>  	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EDE5-F092-1D4D-8E3D-F14C62D8E5C9}"/>
              </a:ext>
            </a:extLst>
          </p:cNvPr>
          <p:cNvSpPr txBox="1"/>
          <p:nvPr/>
        </p:nvSpPr>
        <p:spPr>
          <a:xfrm>
            <a:off x="2438400" y="3193107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= 320 + 56 + 2 + 0.75 = </a:t>
            </a:r>
            <a:r>
              <a:rPr lang="en-GB" sz="2400" b="1" kern="0" dirty="0">
                <a:solidFill>
                  <a:srgbClr val="0000CC"/>
                </a:solidFill>
              </a:rPr>
              <a:t>378.75</a:t>
            </a:r>
            <a:r>
              <a:rPr lang="en-GB" sz="2400" b="1" kern="0" baseline="-25000" dirty="0">
                <a:solidFill>
                  <a:srgbClr val="0000CC"/>
                </a:solidFill>
              </a:rPr>
              <a:t>10</a:t>
            </a:r>
            <a:endParaRPr lang="en-US" sz="2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D7B3BC-588B-A045-B1B3-D0DBBC5C0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74314"/>
            <a:ext cx="2362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341.24</a:t>
            </a:r>
            <a:r>
              <a:rPr kumimoji="0" lang="en-GB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5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=</a:t>
            </a:r>
            <a:endParaRPr kumimoji="0" lang="en-GB" sz="2400" b="1" i="0" u="none" strike="noStrike" kern="0" cap="none" spc="0" normalizeH="0" baseline="-2500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978A6-DA99-7C43-ABFE-FC6241FC628D}"/>
              </a:ext>
            </a:extLst>
          </p:cNvPr>
          <p:cNvSpPr txBox="1"/>
          <p:nvPr/>
        </p:nvSpPr>
        <p:spPr>
          <a:xfrm>
            <a:off x="2743200" y="3731741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2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16</a:t>
            </a:r>
            <a:r>
              <a:rPr lang="en-GB" sz="2400" kern="0" baseline="30000" dirty="0">
                <a:solidFill>
                  <a:srgbClr val="006600"/>
                </a:solidFill>
              </a:rPr>
              <a:t>1</a:t>
            </a:r>
            <a:r>
              <a:rPr lang="en-GB" sz="2400" kern="0" baseline="30000" dirty="0"/>
              <a:t>  </a:t>
            </a:r>
            <a:r>
              <a:rPr lang="en-GB" sz="2400" kern="0" dirty="0"/>
              <a:t>+ 10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16</a:t>
            </a:r>
            <a:r>
              <a:rPr lang="en-GB" sz="2400" kern="0" baseline="30000" dirty="0">
                <a:solidFill>
                  <a:srgbClr val="006600"/>
                </a:solidFill>
              </a:rPr>
              <a:t>0 </a:t>
            </a:r>
            <a:r>
              <a:rPr lang="en-GB" sz="2400" kern="0" baseline="30000" dirty="0"/>
              <a:t> </a:t>
            </a:r>
            <a:r>
              <a:rPr lang="en-GB" sz="2400" kern="0" dirty="0"/>
              <a:t>+ 8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16</a:t>
            </a:r>
            <a:r>
              <a:rPr lang="en-GB" sz="2400" kern="0" baseline="30000" dirty="0">
                <a:solidFill>
                  <a:srgbClr val="006600"/>
                </a:solidFill>
              </a:rPr>
              <a:t>-1</a:t>
            </a:r>
            <a:endParaRPr lang="en-US" sz="2400" dirty="0">
              <a:solidFill>
                <a:srgbClr val="0066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EFBB3-01F7-B94E-A310-D9787E66CCCA}"/>
              </a:ext>
            </a:extLst>
          </p:cNvPr>
          <p:cNvSpPr txBox="1"/>
          <p:nvPr/>
        </p:nvSpPr>
        <p:spPr>
          <a:xfrm>
            <a:off x="2438400" y="4093979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= 32 + 10 + 0.5 = </a:t>
            </a:r>
            <a:r>
              <a:rPr lang="en-GB" sz="2400" b="1" kern="0" dirty="0">
                <a:solidFill>
                  <a:srgbClr val="0000CC"/>
                </a:solidFill>
              </a:rPr>
              <a:t>42.5</a:t>
            </a:r>
            <a:r>
              <a:rPr lang="en-GB" sz="2400" b="1" kern="0" baseline="-25000" dirty="0">
                <a:solidFill>
                  <a:srgbClr val="0000CC"/>
                </a:solidFill>
              </a:rPr>
              <a:t>10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B217E-9968-314C-ABB1-F78EDB25C81E}"/>
              </a:ext>
            </a:extLst>
          </p:cNvPr>
          <p:cNvSpPr txBox="1"/>
          <p:nvPr/>
        </p:nvSpPr>
        <p:spPr>
          <a:xfrm>
            <a:off x="2743200" y="4674314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3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5</a:t>
            </a:r>
            <a:r>
              <a:rPr lang="en-GB" sz="2400" kern="0" baseline="30000" dirty="0">
                <a:solidFill>
                  <a:srgbClr val="006600"/>
                </a:solidFill>
              </a:rPr>
              <a:t>2</a:t>
            </a:r>
            <a:r>
              <a:rPr lang="en-GB" sz="2400" kern="0" baseline="30000" dirty="0"/>
              <a:t>  </a:t>
            </a:r>
            <a:r>
              <a:rPr lang="en-GB" sz="2400" kern="0" dirty="0"/>
              <a:t>+  4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5</a:t>
            </a:r>
            <a:r>
              <a:rPr lang="en-GB" sz="2400" kern="0" baseline="30000" dirty="0">
                <a:solidFill>
                  <a:srgbClr val="006600"/>
                </a:solidFill>
              </a:rPr>
              <a:t>1</a:t>
            </a:r>
            <a:r>
              <a:rPr lang="en-GB" sz="2400" kern="0" baseline="30000" dirty="0"/>
              <a:t>  </a:t>
            </a:r>
            <a:r>
              <a:rPr lang="en-GB" sz="2400" kern="0" dirty="0"/>
              <a:t>+ 1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5</a:t>
            </a:r>
            <a:r>
              <a:rPr lang="en-GB" sz="2400" kern="0" baseline="30000" dirty="0">
                <a:solidFill>
                  <a:srgbClr val="006600"/>
                </a:solidFill>
              </a:rPr>
              <a:t>0</a:t>
            </a:r>
            <a:r>
              <a:rPr lang="en-GB" sz="2400" kern="0" baseline="30000" dirty="0"/>
              <a:t>  </a:t>
            </a:r>
            <a:r>
              <a:rPr lang="en-GB" sz="2400" kern="0" dirty="0"/>
              <a:t>+ 2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5</a:t>
            </a:r>
            <a:r>
              <a:rPr lang="en-GB" sz="2400" kern="0" baseline="30000" dirty="0">
                <a:solidFill>
                  <a:srgbClr val="006600"/>
                </a:solidFill>
              </a:rPr>
              <a:t>-1</a:t>
            </a:r>
            <a:r>
              <a:rPr lang="en-GB" sz="2400" kern="0" baseline="30000" dirty="0"/>
              <a:t>  </a:t>
            </a:r>
            <a:r>
              <a:rPr lang="en-GB" sz="2400" kern="0" dirty="0"/>
              <a:t>+ 4</a:t>
            </a:r>
            <a:r>
              <a:rPr lang="en-GB" sz="2400" kern="0" dirty="0">
                <a:sym typeface="Symbol" pitchFamily="18" charset="2"/>
              </a:rPr>
              <a:t></a:t>
            </a:r>
            <a:r>
              <a:rPr lang="en-GB" sz="2400" kern="0" dirty="0">
                <a:solidFill>
                  <a:srgbClr val="006600"/>
                </a:solidFill>
                <a:sym typeface="Symbol" pitchFamily="18" charset="2"/>
              </a:rPr>
              <a:t>5</a:t>
            </a:r>
            <a:r>
              <a:rPr lang="en-GB" sz="2400" kern="0" baseline="30000" dirty="0">
                <a:solidFill>
                  <a:srgbClr val="006600"/>
                </a:solidFill>
              </a:rPr>
              <a:t>-2</a:t>
            </a:r>
            <a:endParaRPr lang="en-US" sz="2400" dirty="0">
              <a:solidFill>
                <a:srgbClr val="0066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992AE1-4348-6F45-8BC3-4938BF52D995}"/>
              </a:ext>
            </a:extLst>
          </p:cNvPr>
          <p:cNvSpPr txBox="1"/>
          <p:nvPr/>
        </p:nvSpPr>
        <p:spPr>
          <a:xfrm>
            <a:off x="2438400" y="5013897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/>
              <a:t>= 75 + 20 + 1 + 0.4 + 0.16 = </a:t>
            </a:r>
            <a:r>
              <a:rPr lang="en-GB" sz="2400" b="1" kern="0" dirty="0">
                <a:solidFill>
                  <a:srgbClr val="0000CC"/>
                </a:solidFill>
              </a:rPr>
              <a:t>96.56</a:t>
            </a:r>
            <a:r>
              <a:rPr lang="en-GB" sz="2400" b="1" kern="0" baseline="-25000" dirty="0">
                <a:solidFill>
                  <a:srgbClr val="0000CC"/>
                </a:solidFill>
              </a:rPr>
              <a:t>10</a:t>
            </a:r>
            <a:endParaRPr lang="en-US" sz="2400" dirty="0"/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537A2CB9-6B83-3C45-B330-D7A9DBD8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E9C303E-9918-314D-A508-6379B6FA9672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5582484"/>
            <a:ext cx="8229600" cy="820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2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2B5A-7FB1-AA45-8129-00CC62F8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Decimal to Binary (Base-2) Conversion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5BC82AF-20EB-4A4B-A12B-3D8C4EA18BA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5"/>
            <a:ext cx="8229600" cy="465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For whole numbers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Repeated Division-by-2 Method</a:t>
            </a:r>
          </a:p>
          <a:p>
            <a:pPr marL="271463" indent="-27146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For fractions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Repeated Multiplication-by-2 Method</a:t>
            </a:r>
          </a:p>
        </p:txBody>
      </p:sp>
    </p:spTree>
    <p:extLst>
      <p:ext uri="{BB962C8B-B14F-4D97-AF65-F5344CB8AC3E}">
        <p14:creationId xmlns:p14="http://schemas.microsoft.com/office/powerpoint/2010/main" val="94935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865E-C82C-0E46-AC3B-EC4B01BE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5.1 Decimal to Binary (Base-2) Conversion:</a:t>
            </a:r>
            <a:br>
              <a:rPr lang="en-US" dirty="0"/>
            </a:br>
            <a:r>
              <a:rPr lang="en-US" dirty="0"/>
              <a:t>Repeated Divide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0C8FC82-94E2-7242-B682-7F4DA561985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80930"/>
            <a:ext cx="80772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To convert a </a:t>
            </a:r>
            <a:r>
              <a:rPr lang="en-GB" dirty="0">
                <a:solidFill>
                  <a:srgbClr val="800000"/>
                </a:solidFill>
              </a:rPr>
              <a:t>whole number</a:t>
            </a:r>
            <a:r>
              <a:rPr lang="en-GB" dirty="0"/>
              <a:t> to binary, use </a:t>
            </a:r>
            <a:r>
              <a:rPr lang="en-GB" dirty="0">
                <a:solidFill>
                  <a:srgbClr val="800000"/>
                </a:solidFill>
              </a:rPr>
              <a:t>successive division by 2</a:t>
            </a:r>
            <a:r>
              <a:rPr lang="en-GB" dirty="0"/>
              <a:t> until the quotient is 0.  The remainders form the answer, with the first remainder as the </a:t>
            </a:r>
            <a:r>
              <a:rPr lang="en-GB" i="1" dirty="0"/>
              <a:t>least significant bit (LSB)</a:t>
            </a:r>
            <a:r>
              <a:rPr lang="en-GB" dirty="0"/>
              <a:t> and the last as the </a:t>
            </a:r>
            <a:r>
              <a:rPr lang="en-GB" i="1" dirty="0"/>
              <a:t>most significant bit (MSB)</a:t>
            </a:r>
            <a:r>
              <a:rPr lang="en-GB" dirty="0"/>
              <a:t>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GB" dirty="0"/>
              <a:t>    (43)</a:t>
            </a:r>
            <a:r>
              <a:rPr lang="en-GB" baseline="-25000" dirty="0"/>
              <a:t>10 </a:t>
            </a:r>
            <a:r>
              <a:rPr lang="en-GB" dirty="0"/>
              <a:t>= (      </a:t>
            </a:r>
            <a:r>
              <a:rPr lang="en-GB" dirty="0">
                <a:solidFill>
                  <a:srgbClr val="C00000"/>
                </a:solidFill>
              </a:rPr>
              <a:t>?</a:t>
            </a:r>
            <a:r>
              <a:rPr lang="en-GB" dirty="0"/>
              <a:t>      )</a:t>
            </a:r>
            <a:r>
              <a:rPr lang="en-GB" baseline="-25000" dirty="0"/>
              <a:t>2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26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7906-B1B9-854B-9C7B-459646CB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5.1 Decimal to Binary (Base-2) Conversion:</a:t>
            </a:r>
            <a:br>
              <a:rPr lang="en-US" dirty="0"/>
            </a:br>
            <a:r>
              <a:rPr lang="en-US" dirty="0"/>
              <a:t>Repeated Divide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1412FB-69C6-E143-9ECD-D06AF90C8CC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80929"/>
            <a:ext cx="80772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To convert a </a:t>
            </a:r>
            <a:r>
              <a:rPr lang="en-GB" dirty="0">
                <a:solidFill>
                  <a:srgbClr val="800000"/>
                </a:solidFill>
              </a:rPr>
              <a:t>whole number</a:t>
            </a:r>
            <a:r>
              <a:rPr lang="en-GB" dirty="0"/>
              <a:t> to binary, use </a:t>
            </a:r>
            <a:r>
              <a:rPr lang="en-GB" dirty="0">
                <a:solidFill>
                  <a:srgbClr val="800000"/>
                </a:solidFill>
              </a:rPr>
              <a:t>successive division by 2</a:t>
            </a:r>
            <a:r>
              <a:rPr lang="en-GB" dirty="0"/>
              <a:t> until the quotient is 0.  The remainders form the answer, with the first remainder as the </a:t>
            </a:r>
            <a:r>
              <a:rPr lang="en-GB" i="1" dirty="0"/>
              <a:t>least significant bit (LSB)</a:t>
            </a:r>
            <a:r>
              <a:rPr lang="en-GB" dirty="0"/>
              <a:t> and the last as the </a:t>
            </a:r>
            <a:r>
              <a:rPr lang="en-GB" i="1" dirty="0"/>
              <a:t>most significant bit (MSB)</a:t>
            </a:r>
            <a:r>
              <a:rPr lang="en-GB" dirty="0"/>
              <a:t>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GB" dirty="0"/>
              <a:t>    (43)</a:t>
            </a:r>
            <a:r>
              <a:rPr lang="en-GB" baseline="-25000" dirty="0"/>
              <a:t>10 </a:t>
            </a:r>
            <a:r>
              <a:rPr lang="en-GB" dirty="0"/>
              <a:t>= (      </a:t>
            </a:r>
            <a:r>
              <a:rPr lang="en-GB" dirty="0">
                <a:solidFill>
                  <a:srgbClr val="C00000"/>
                </a:solidFill>
              </a:rPr>
              <a:t>?</a:t>
            </a:r>
            <a:r>
              <a:rPr lang="en-GB" dirty="0"/>
              <a:t>      )</a:t>
            </a:r>
            <a:r>
              <a:rPr lang="en-GB" baseline="-25000" dirty="0"/>
              <a:t>2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9BEB9EA6-F453-754E-9673-B231B971F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122089"/>
              </p:ext>
            </p:extLst>
          </p:nvPr>
        </p:nvGraphicFramePr>
        <p:xfrm>
          <a:off x="4876800" y="3462129"/>
          <a:ext cx="278447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783880" imgH="2616120" progId="Word.Document.8">
                  <p:embed/>
                </p:oleObj>
              </mc:Choice>
              <mc:Fallback>
                <p:oleObj name="Document" r:id="rId2" imgW="2783880" imgH="2616120" progId="Word.Document.8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9BEB9EA6-F453-754E-9673-B231B971F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5533"/>
                      <a:stretch>
                        <a:fillRect/>
                      </a:stretch>
                    </p:blipFill>
                    <p:spPr bwMode="auto">
                      <a:xfrm>
                        <a:off x="4876800" y="3462129"/>
                        <a:ext cx="2784475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7843D5-FAB2-DC43-9E9A-23B3FE6BFDFF}"/>
              </a:ext>
            </a:extLst>
          </p:cNvPr>
          <p:cNvSpPr txBox="1"/>
          <p:nvPr/>
        </p:nvSpPr>
        <p:spPr>
          <a:xfrm>
            <a:off x="1898374" y="3144077"/>
            <a:ext cx="1219200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rgbClr val="C00000"/>
                </a:solidFill>
              </a:rPr>
              <a:t>101011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3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E22F-6DAB-BE4E-B101-7E7B246F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5.2 Decimal to Binary (Base-2) Conversion:</a:t>
            </a:r>
            <a:br>
              <a:rPr lang="en-US" dirty="0"/>
            </a:br>
            <a:r>
              <a:rPr lang="en-US" dirty="0"/>
              <a:t>Repeated Multiply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AA837D-46DD-2541-8C5B-A8125C59112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0685"/>
            <a:ext cx="80772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To convert </a:t>
            </a:r>
            <a:r>
              <a:rPr lang="en-GB" dirty="0">
                <a:solidFill>
                  <a:srgbClr val="800000"/>
                </a:solidFill>
              </a:rPr>
              <a:t>decimal fractions</a:t>
            </a:r>
            <a:r>
              <a:rPr lang="en-GB" dirty="0"/>
              <a:t> to binary, </a:t>
            </a:r>
            <a:r>
              <a:rPr lang="en-GB" dirty="0">
                <a:solidFill>
                  <a:srgbClr val="800000"/>
                </a:solidFill>
              </a:rPr>
              <a:t>repeated multiplication by 2</a:t>
            </a:r>
            <a:r>
              <a:rPr lang="en-GB" dirty="0"/>
              <a:t> is used, until the fractional product is 0 (or until the desired number of decimal places). The carried digits, or </a:t>
            </a:r>
            <a:r>
              <a:rPr lang="en-GB" i="1" dirty="0"/>
              <a:t>carries</a:t>
            </a:r>
            <a:r>
              <a:rPr lang="en-GB" dirty="0"/>
              <a:t>, produce the answer, with the first carry as the MSB, and the last as the LSB.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GB" dirty="0"/>
              <a:t>    (</a:t>
            </a:r>
            <a:r>
              <a:rPr lang="en-GB" sz="2600" dirty="0"/>
              <a:t>0.3125</a:t>
            </a:r>
            <a:r>
              <a:rPr lang="en-GB" dirty="0"/>
              <a:t>)</a:t>
            </a:r>
            <a:r>
              <a:rPr lang="en-GB" baseline="-25000" dirty="0"/>
              <a:t>10 </a:t>
            </a:r>
            <a:r>
              <a:rPr lang="en-GB" dirty="0"/>
              <a:t>= (     </a:t>
            </a:r>
            <a:r>
              <a:rPr lang="en-GB" dirty="0">
                <a:solidFill>
                  <a:srgbClr val="C00000"/>
                </a:solidFill>
              </a:rPr>
              <a:t>? </a:t>
            </a:r>
            <a:r>
              <a:rPr lang="en-GB" dirty="0"/>
              <a:t>    )</a:t>
            </a:r>
            <a:r>
              <a:rPr lang="en-GB" baseline="-25000" dirty="0"/>
              <a:t>2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89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116C-186C-5A4F-B75B-E5CE8797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5.2 Decimal to Binary (Base-2) Conversion:</a:t>
            </a:r>
            <a:br>
              <a:rPr lang="en-US" dirty="0"/>
            </a:br>
            <a:r>
              <a:rPr lang="en-US" dirty="0"/>
              <a:t>Repeated Multiply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259426-5640-A54B-8F33-512534F73D1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0685"/>
            <a:ext cx="80772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To convert </a:t>
            </a:r>
            <a:r>
              <a:rPr lang="en-GB" dirty="0">
                <a:solidFill>
                  <a:srgbClr val="800000"/>
                </a:solidFill>
              </a:rPr>
              <a:t>decimal fractions</a:t>
            </a:r>
            <a:r>
              <a:rPr lang="en-GB" dirty="0"/>
              <a:t> to binary, </a:t>
            </a:r>
            <a:r>
              <a:rPr lang="en-GB" dirty="0">
                <a:solidFill>
                  <a:srgbClr val="800000"/>
                </a:solidFill>
              </a:rPr>
              <a:t>repeated multiplication by 2</a:t>
            </a:r>
            <a:r>
              <a:rPr lang="en-GB" dirty="0"/>
              <a:t> is used, until the fractional product is 0 (or until the desired number of decimal places). The carried digits, or </a:t>
            </a:r>
            <a:r>
              <a:rPr lang="en-GB" i="1" dirty="0"/>
              <a:t>carries</a:t>
            </a:r>
            <a:r>
              <a:rPr lang="en-GB" dirty="0"/>
              <a:t>, produce the answer, with the first carry as the MSB, and the last as the LSB.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GB" dirty="0"/>
              <a:t>    (</a:t>
            </a:r>
            <a:r>
              <a:rPr lang="en-GB" sz="2600" dirty="0"/>
              <a:t>0.3125</a:t>
            </a:r>
            <a:r>
              <a:rPr lang="en-GB" dirty="0"/>
              <a:t>)</a:t>
            </a:r>
            <a:r>
              <a:rPr lang="en-GB" baseline="-25000" dirty="0"/>
              <a:t>10 </a:t>
            </a:r>
            <a:r>
              <a:rPr lang="en-GB" dirty="0"/>
              <a:t>= (     </a:t>
            </a:r>
            <a:r>
              <a:rPr lang="en-GB" dirty="0">
                <a:solidFill>
                  <a:srgbClr val="C00000"/>
                </a:solidFill>
              </a:rPr>
              <a:t>? </a:t>
            </a:r>
            <a:r>
              <a:rPr lang="en-GB" dirty="0"/>
              <a:t>    )</a:t>
            </a:r>
            <a:r>
              <a:rPr lang="en-GB" baseline="-25000" dirty="0"/>
              <a:t>2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E7AF949F-4ED8-7546-85DA-FBF3F0AD4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355052"/>
              </p:ext>
            </p:extLst>
          </p:nvPr>
        </p:nvGraphicFramePr>
        <p:xfrm>
          <a:off x="3886200" y="3806685"/>
          <a:ext cx="4495800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136400" imgH="1981080" progId="Word.Document.8">
                  <p:embed/>
                </p:oleObj>
              </mc:Choice>
              <mc:Fallback>
                <p:oleObj name="Document" r:id="rId2" imgW="4136400" imgH="1981080" progId="Word.Document.8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E7AF949F-4ED8-7546-85DA-FBF3F0AD4E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806685"/>
                        <a:ext cx="4495800" cy="215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D4E664-BD22-0141-9C1D-90A593A29447}"/>
              </a:ext>
            </a:extLst>
          </p:cNvPr>
          <p:cNvSpPr txBox="1"/>
          <p:nvPr/>
        </p:nvSpPr>
        <p:spPr>
          <a:xfrm>
            <a:off x="2504662" y="3527689"/>
            <a:ext cx="990600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rgbClr val="C00000"/>
                </a:solidFill>
              </a:rPr>
              <a:t>.0101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0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1049-95D3-344A-BA6F-B43ED5D8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Conversion from Decimal to Other Bases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A7AAA-77BC-554C-990B-5D3BA415A523}"/>
              </a:ext>
            </a:extLst>
          </p:cNvPr>
          <p:cNvSpPr txBox="1"/>
          <p:nvPr/>
        </p:nvSpPr>
        <p:spPr>
          <a:xfrm>
            <a:off x="457198" y="1982660"/>
            <a:ext cx="8382001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1" hangingPunct="1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800000"/>
                </a:solidFill>
              </a:rPr>
              <a:t>Base-</a:t>
            </a:r>
            <a:r>
              <a:rPr lang="en-GB" sz="2400" i="1" dirty="0">
                <a:solidFill>
                  <a:srgbClr val="800000"/>
                </a:solidFill>
              </a:rPr>
              <a:t>R</a:t>
            </a:r>
            <a:r>
              <a:rPr lang="en-GB" sz="2400" dirty="0">
                <a:solidFill>
                  <a:srgbClr val="800000"/>
                </a:solidFill>
              </a:rPr>
              <a:t> to decimal:</a:t>
            </a:r>
            <a:r>
              <a:rPr lang="en-GB" sz="2400" dirty="0"/>
              <a:t> multiply digits with their corresponding weights </a:t>
            </a:r>
          </a:p>
          <a:p>
            <a:pPr marL="342900" indent="-342900" eaLnBrk="1" hangingPunct="1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800000"/>
                </a:solidFill>
              </a:rPr>
              <a:t>Decimal to binary (base 2</a:t>
            </a:r>
            <a:r>
              <a:rPr lang="en-US" sz="2400" dirty="0">
                <a:solidFill>
                  <a:srgbClr val="800000"/>
                </a:solidFill>
              </a:rPr>
              <a:t>)</a:t>
            </a:r>
          </a:p>
          <a:p>
            <a:pPr marL="800100" lvl="1" indent="-342900"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Whole numbers: repeated division-by-2</a:t>
            </a:r>
          </a:p>
          <a:p>
            <a:pPr marL="800100" lvl="1" indent="-342900"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Fractions: repeated multiplication-by-2</a:t>
            </a:r>
          </a:p>
          <a:p>
            <a:pPr marL="342900" indent="-342900" eaLnBrk="1" hangingPunct="1">
              <a:spcBef>
                <a:spcPts val="12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800000"/>
                </a:solidFill>
              </a:rPr>
              <a:t>Decimal to base-</a:t>
            </a:r>
            <a:r>
              <a:rPr lang="en-US" sz="2400" i="1" dirty="0">
                <a:solidFill>
                  <a:srgbClr val="800000"/>
                </a:solidFill>
              </a:rPr>
              <a:t>R</a:t>
            </a:r>
            <a:endParaRPr lang="en-US" sz="2400" dirty="0">
              <a:solidFill>
                <a:srgbClr val="800000"/>
              </a:solidFill>
            </a:endParaRPr>
          </a:p>
          <a:p>
            <a:pPr marL="800100" lvl="1" indent="-342900"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Whole numbers: repeated division-by-</a:t>
            </a:r>
            <a:r>
              <a:rPr lang="en-US" sz="2000" i="1" dirty="0"/>
              <a:t>R</a:t>
            </a:r>
          </a:p>
          <a:p>
            <a:pPr marL="800100" lvl="1" indent="-342900"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Fractions: repeated multiplication-by-</a:t>
            </a:r>
            <a:r>
              <a:rPr lang="en-US" sz="2000" i="1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406545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E6110F-BA9C-4F5D-BD70-94BD50ED208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7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 general, conversion between bases can be done via decimal: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CD049B7-1B0D-43C4-8BB5-20AD7254D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48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Shortcuts for conversion between bases 2, 4, 8, 16 </a:t>
            </a:r>
            <a:r>
              <a:rPr lang="en-US" sz="2800" dirty="0"/>
              <a:t>(see next slide)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0C8BFB47-ED2B-4BDE-BFD5-FE8947072E33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4841875" cy="1857375"/>
            <a:chOff x="1584" y="1488"/>
            <a:chExt cx="3050" cy="1170"/>
          </a:xfrm>
        </p:grpSpPr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3B151BBC-A5DE-4553-BBCC-3FAE87D96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488"/>
              <a:ext cx="3050" cy="117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GB" sz="2000" dirty="0">
                  <a:latin typeface="Times New Roman" pitchFamily="18" charset="0"/>
                </a:rPr>
                <a:t>Base-2				</a:t>
              </a:r>
              <a:r>
                <a:rPr lang="en-GB" sz="2000" dirty="0" err="1">
                  <a:latin typeface="Times New Roman" pitchFamily="18" charset="0"/>
                </a:rPr>
                <a:t>Base-2</a:t>
              </a:r>
              <a:endParaRPr lang="en-GB" sz="2000" dirty="0">
                <a:latin typeface="Times New Roman" pitchFamily="18" charset="0"/>
              </a:endParaRPr>
            </a:p>
            <a:p>
              <a:pPr eaLnBrk="0" hangingPunct="0">
                <a:spcBef>
                  <a:spcPct val="20000"/>
                </a:spcBef>
              </a:pPr>
              <a:r>
                <a:rPr lang="en-GB" sz="2000" dirty="0">
                  <a:latin typeface="Times New Roman" pitchFamily="18" charset="0"/>
                </a:rPr>
                <a:t>Base-3				</a:t>
              </a:r>
              <a:r>
                <a:rPr lang="en-GB" sz="2000" dirty="0" err="1">
                  <a:latin typeface="Times New Roman" pitchFamily="18" charset="0"/>
                </a:rPr>
                <a:t>Base-3</a:t>
              </a:r>
              <a:endParaRPr lang="en-GB" sz="2000" dirty="0">
                <a:latin typeface="Times New Roman" pitchFamily="18" charset="0"/>
              </a:endParaRPr>
            </a:p>
            <a:p>
              <a:pPr eaLnBrk="0" hangingPunct="0">
                <a:spcBef>
                  <a:spcPct val="20000"/>
                </a:spcBef>
              </a:pPr>
              <a:r>
                <a:rPr lang="en-GB" sz="2000" dirty="0">
                  <a:latin typeface="Times New Roman" pitchFamily="18" charset="0"/>
                </a:rPr>
                <a:t>Base-4		Decimal		Base-4</a:t>
              </a:r>
            </a:p>
            <a:p>
              <a:pPr eaLnBrk="0" hangingPunct="0">
                <a:spcBef>
                  <a:spcPct val="20000"/>
                </a:spcBef>
              </a:pPr>
              <a:r>
                <a:rPr lang="en-GB" sz="2000" dirty="0">
                  <a:latin typeface="Times New Roman" pitchFamily="18" charset="0"/>
                </a:rPr>
                <a:t>    …				    ….</a:t>
              </a:r>
            </a:p>
            <a:p>
              <a:pPr eaLnBrk="0" hangingPunct="0">
                <a:spcBef>
                  <a:spcPct val="20000"/>
                </a:spcBef>
              </a:pPr>
              <a:r>
                <a:rPr lang="en-GB" sz="2000" dirty="0">
                  <a:latin typeface="Times New Roman" pitchFamily="18" charset="0"/>
                </a:rPr>
                <a:t>Base-</a:t>
              </a:r>
              <a:r>
                <a:rPr lang="en-GB" sz="2000" i="1" dirty="0">
                  <a:latin typeface="Times New Roman" pitchFamily="18" charset="0"/>
                </a:rPr>
                <a:t>R</a:t>
              </a:r>
              <a:r>
                <a:rPr lang="en-GB" sz="2000" dirty="0">
                  <a:latin typeface="Times New Roman" pitchFamily="18" charset="0"/>
                </a:rPr>
                <a:t>				</a:t>
              </a:r>
              <a:r>
                <a:rPr lang="en-GB" sz="2000" dirty="0" err="1">
                  <a:latin typeface="Times New Roman" pitchFamily="18" charset="0"/>
                </a:rPr>
                <a:t>Base-</a:t>
              </a:r>
              <a:r>
                <a:rPr lang="en-GB" sz="2000" i="1" dirty="0" err="1">
                  <a:latin typeface="Times New Roman" pitchFamily="18" charset="0"/>
                </a:rPr>
                <a:t>R</a:t>
              </a:r>
              <a:endParaRPr lang="en-GB" sz="2000" i="1" dirty="0">
                <a:latin typeface="Times New Roman" pitchFamily="18" charset="0"/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5AF9C477-891B-4756-93C7-0213B3718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680"/>
              <a:ext cx="62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B8F082D1-3468-4120-81F2-4F25B2976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72"/>
              <a:ext cx="62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FE1A2AC0-66B3-4C7E-885A-43A40177D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097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13EA65F4-2790-44D0-9185-E56A1C55B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160"/>
              <a:ext cx="624" cy="3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06B8020A-EF52-4EDD-8023-348A7DAFA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728"/>
              <a:ext cx="52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E6C271BA-875F-40E0-980B-EA6237C5D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920"/>
              <a:ext cx="52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E7777911-9D91-447D-ABF0-5198CE953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1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A211AC23-4536-4386-8B6E-52EDD4A71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60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A6ABDAE3-7037-1E4A-A810-6ECC5DC2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7. Conversion Between Bases</a:t>
            </a:r>
          </a:p>
        </p:txBody>
      </p:sp>
    </p:spTree>
    <p:extLst>
      <p:ext uri="{BB962C8B-B14F-4D97-AF65-F5344CB8AC3E}">
        <p14:creationId xmlns:p14="http://schemas.microsoft.com/office/powerpoint/2010/main" val="355882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49C41BC4-8792-4D2B-9070-1D7577B514F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92876"/>
            <a:ext cx="8229600" cy="3991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Binary </a:t>
            </a:r>
            <a:r>
              <a:rPr lang="en-US" dirty="0">
                <a:solidFill>
                  <a:srgbClr val="800000"/>
                </a:solidFill>
                <a:sym typeface="Wingdings" pitchFamily="2" charset="2"/>
              </a:rPr>
              <a:t> Octal: </a:t>
            </a:r>
            <a:r>
              <a:rPr lang="en-US" dirty="0">
                <a:sym typeface="Wingdings" pitchFamily="2" charset="2"/>
              </a:rPr>
              <a:t>partition in groups of 3</a:t>
            </a:r>
            <a:endParaRPr lang="en-US" dirty="0">
              <a:solidFill>
                <a:srgbClr val="800000"/>
              </a:solidFill>
            </a:endParaRP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(10 111 011 001 . 101 110)</a:t>
            </a:r>
            <a:r>
              <a:rPr lang="en-US" baseline="-25000" dirty="0"/>
              <a:t>2</a:t>
            </a:r>
            <a:r>
              <a:rPr lang="en-US" dirty="0"/>
              <a:t> =</a:t>
            </a:r>
            <a:endParaRPr lang="en-US" baseline="-25000" dirty="0"/>
          </a:p>
          <a:p>
            <a:pPr marL="358775" indent="-358775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Octal </a:t>
            </a:r>
            <a:r>
              <a:rPr lang="en-US" dirty="0">
                <a:solidFill>
                  <a:srgbClr val="800000"/>
                </a:solidFill>
                <a:sym typeface="Wingdings" pitchFamily="2" charset="2"/>
              </a:rPr>
              <a:t> Binary: </a:t>
            </a:r>
            <a:r>
              <a:rPr lang="en-US" dirty="0">
                <a:sym typeface="Wingdings" pitchFamily="2" charset="2"/>
              </a:rPr>
              <a:t>reverse</a:t>
            </a:r>
            <a:endParaRPr lang="en-US" dirty="0">
              <a:solidFill>
                <a:srgbClr val="800000"/>
              </a:solidFill>
            </a:endParaRP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(2731.56)</a:t>
            </a:r>
            <a:r>
              <a:rPr lang="en-US" baseline="-25000" dirty="0"/>
              <a:t>8</a:t>
            </a:r>
            <a:r>
              <a:rPr lang="en-US" dirty="0"/>
              <a:t> =</a:t>
            </a:r>
            <a:endParaRPr lang="en-US" baseline="-25000" dirty="0"/>
          </a:p>
          <a:p>
            <a:pPr marL="358775" indent="-358775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Binary </a:t>
            </a:r>
            <a:r>
              <a:rPr lang="en-US" dirty="0">
                <a:solidFill>
                  <a:srgbClr val="800000"/>
                </a:solidFill>
                <a:sym typeface="Wingdings" pitchFamily="2" charset="2"/>
              </a:rPr>
              <a:t> Hexadecimal: </a:t>
            </a:r>
            <a:r>
              <a:rPr lang="en-US" dirty="0">
                <a:sym typeface="Wingdings" pitchFamily="2" charset="2"/>
              </a:rPr>
              <a:t>partition in groups of 4</a:t>
            </a:r>
            <a:endParaRPr lang="en-US" dirty="0">
              <a:solidFill>
                <a:srgbClr val="800000"/>
              </a:solidFill>
            </a:endParaRP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</a:t>
            </a:r>
            <a:r>
              <a:rPr lang="en-GB" sz="1800" dirty="0"/>
              <a:t>101 1101 1001 . 1011 1000</a:t>
            </a:r>
            <a:r>
              <a:rPr lang="en-US" dirty="0"/>
              <a:t>)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endParaRPr lang="en-US" baseline="-25000" dirty="0"/>
          </a:p>
          <a:p>
            <a:pPr marL="358775" indent="-358775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Hexadecimal </a:t>
            </a:r>
            <a:r>
              <a:rPr lang="en-US" dirty="0">
                <a:solidFill>
                  <a:srgbClr val="800000"/>
                </a:solidFill>
                <a:sym typeface="Wingdings" pitchFamily="2" charset="2"/>
              </a:rPr>
              <a:t> Binary: </a:t>
            </a:r>
            <a:r>
              <a:rPr lang="en-US" dirty="0">
                <a:sym typeface="Wingdings" pitchFamily="2" charset="2"/>
              </a:rPr>
              <a:t>reverse</a:t>
            </a:r>
            <a:endParaRPr lang="en-US" dirty="0">
              <a:solidFill>
                <a:srgbClr val="800000"/>
              </a:solidFill>
            </a:endParaRP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</a:t>
            </a:r>
            <a:r>
              <a:rPr lang="en-GB" sz="1800" dirty="0"/>
              <a:t>5D9.B8</a:t>
            </a:r>
            <a:r>
              <a:rPr lang="en-US" dirty="0"/>
              <a:t>)</a:t>
            </a:r>
            <a:r>
              <a:rPr lang="en-US" baseline="-25000" dirty="0"/>
              <a:t>16</a:t>
            </a:r>
            <a:r>
              <a:rPr lang="en-US" dirty="0"/>
              <a:t> =</a:t>
            </a:r>
            <a:endParaRPr lang="en-US" sz="2400" baseline="-25000" dirty="0"/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A9177F5C-06B6-4215-AC63-2A5DC1FF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E59275-F70C-45F6-9453-C26715FEDDDD}"/>
              </a:ext>
            </a:extLst>
          </p:cNvPr>
          <p:cNvSpPr txBox="1"/>
          <p:nvPr/>
        </p:nvSpPr>
        <p:spPr>
          <a:xfrm>
            <a:off x="4637902" y="2134261"/>
            <a:ext cx="1696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(2731.56)</a:t>
            </a:r>
            <a:r>
              <a:rPr lang="en-US" sz="2000" b="1" baseline="-25000" dirty="0">
                <a:solidFill>
                  <a:srgbClr val="0000CC"/>
                </a:solidFill>
              </a:rPr>
              <a:t>8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A47D01-1ADD-46E5-AECA-2B5F26048F41}"/>
              </a:ext>
            </a:extLst>
          </p:cNvPr>
          <p:cNvSpPr txBox="1"/>
          <p:nvPr/>
        </p:nvSpPr>
        <p:spPr>
          <a:xfrm>
            <a:off x="2685535" y="3057599"/>
            <a:ext cx="3649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(10 111 011 001 . 101 110)</a:t>
            </a:r>
            <a:r>
              <a:rPr lang="en-US" sz="2000" b="1" baseline="-25000" dirty="0">
                <a:solidFill>
                  <a:srgbClr val="0000CC"/>
                </a:solidFill>
              </a:rPr>
              <a:t>2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AA6EA-F214-4F4A-A9D3-3766761C9979}"/>
              </a:ext>
            </a:extLst>
          </p:cNvPr>
          <p:cNvSpPr txBox="1"/>
          <p:nvPr/>
        </p:nvSpPr>
        <p:spPr>
          <a:xfrm>
            <a:off x="4572000" y="4024762"/>
            <a:ext cx="1762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(</a:t>
            </a:r>
            <a:r>
              <a:rPr lang="en-GB" sz="2000" b="1" dirty="0">
                <a:solidFill>
                  <a:srgbClr val="0000CC"/>
                </a:solidFill>
              </a:rPr>
              <a:t>5D9.B8</a:t>
            </a:r>
            <a:r>
              <a:rPr lang="en-US" sz="2000" b="1" dirty="0">
                <a:solidFill>
                  <a:srgbClr val="0000CC"/>
                </a:solidFill>
              </a:rPr>
              <a:t>)</a:t>
            </a:r>
            <a:r>
              <a:rPr lang="en-US" sz="2000" b="1" baseline="-25000" dirty="0">
                <a:solidFill>
                  <a:srgbClr val="0000CC"/>
                </a:solidFill>
              </a:rPr>
              <a:t>16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7E69B7-A4BB-46BA-A94F-63FD4902246C}"/>
              </a:ext>
            </a:extLst>
          </p:cNvPr>
          <p:cNvSpPr txBox="1"/>
          <p:nvPr/>
        </p:nvSpPr>
        <p:spPr>
          <a:xfrm>
            <a:off x="2675238" y="4991925"/>
            <a:ext cx="3793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(</a:t>
            </a:r>
            <a:r>
              <a:rPr lang="en-GB" sz="2000" b="1" dirty="0">
                <a:solidFill>
                  <a:srgbClr val="0000CC"/>
                </a:solidFill>
              </a:rPr>
              <a:t>101 1101 1001 . 1011 1000</a:t>
            </a:r>
            <a:r>
              <a:rPr lang="en-US" sz="2000" b="1" dirty="0">
                <a:solidFill>
                  <a:srgbClr val="0000CC"/>
                </a:solidFill>
              </a:rPr>
              <a:t>)</a:t>
            </a:r>
            <a:r>
              <a:rPr lang="en-US" sz="2000" b="1" baseline="-25000" dirty="0">
                <a:solidFill>
                  <a:srgbClr val="0000CC"/>
                </a:solidFill>
              </a:rPr>
              <a:t>2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F872E47-97B0-C044-A27A-52FDD437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8. Binary to Octal / Hexadecimal Conversion</a:t>
            </a:r>
          </a:p>
        </p:txBody>
      </p:sp>
    </p:spTree>
    <p:extLst>
      <p:ext uri="{BB962C8B-B14F-4D97-AF65-F5344CB8AC3E}">
        <p14:creationId xmlns:p14="http://schemas.microsoft.com/office/powerpoint/2010/main" val="76669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D0D6-D62C-00D3-613B-38793F06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0166-27B2-632D-C7FB-C69C80F48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31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7800"/>
            <a:ext cx="5140960" cy="416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ASCII code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C00000"/>
                </a:solidFill>
              </a:rPr>
              <a:t>Unicode</a:t>
            </a:r>
            <a:r>
              <a:rPr lang="en-US" sz="2800" dirty="0"/>
              <a:t> are used to represent characters (‘a’, ‘C’, ‘?’, ‘\0’, etc.) 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ASCII</a:t>
            </a:r>
          </a:p>
          <a:p>
            <a:pPr marL="633095" lvl="1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American Standard Code for Information Interchange</a:t>
            </a:r>
          </a:p>
          <a:p>
            <a:pPr marL="633095" lvl="1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7 bits, plus 1 parity bit (odd or even parity)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3B91282F-D8EF-4E75-B376-D5DB92A78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9937" y="1661160"/>
          <a:ext cx="2989263" cy="330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989080" imgH="3307320" progId="Word.Document.8">
                  <p:embed/>
                </p:oleObj>
              </mc:Choice>
              <mc:Fallback>
                <p:oleObj name="Document" r:id="rId3" imgW="2989080" imgH="3307320" progId="Word.Document.8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3B91282F-D8EF-4E75-B376-D5DB92A78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7" y="1661160"/>
                        <a:ext cx="2989263" cy="330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CDAE22-2606-494E-9319-ADEA54EC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9. ASCII Code</a:t>
            </a:r>
          </a:p>
        </p:txBody>
      </p:sp>
    </p:spTree>
    <p:extLst>
      <p:ext uri="{BB962C8B-B14F-4D97-AF65-F5344CB8AC3E}">
        <p14:creationId xmlns:p14="http://schemas.microsoft.com/office/powerpoint/2010/main" val="126817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7800"/>
            <a:ext cx="260096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ASCII table</a:t>
            </a:r>
            <a:endParaRPr lang="en-US" sz="2400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347F11A1-9E5B-4C19-AA7E-ADEDDA362909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981200"/>
            <a:ext cx="5343525" cy="4457700"/>
            <a:chOff x="1634" y="1344"/>
            <a:chExt cx="3366" cy="2808"/>
          </a:xfrm>
        </p:grpSpPr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88E52E9C-FE76-4065-B342-A8864CE296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4" y="1345"/>
            <a:ext cx="3366" cy="2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343480" imgH="4459680" progId="Word.Document.8">
                    <p:embed/>
                  </p:oleObj>
                </mc:Choice>
                <mc:Fallback>
                  <p:oleObj name="Document" r:id="rId3" imgW="5343480" imgH="4459680" progId="Word.Document.8">
                    <p:embed/>
                    <p:pic>
                      <p:nvPicPr>
                        <p:cNvPr id="9" name="Object 5">
                          <a:extLst>
                            <a:ext uri="{FF2B5EF4-FFF2-40B4-BE49-F238E27FC236}">
                              <a16:creationId xmlns:a16="http://schemas.microsoft.com/office/drawing/2014/main" id="{88E52E9C-FE76-4065-B342-A8864CE296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4" y="1345"/>
                          <a:ext cx="3366" cy="28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D0740BB0-E256-402E-9154-F17EF6C89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44"/>
              <a:ext cx="0" cy="25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4AFB1F5E-2253-488E-9747-279D9AA73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632"/>
              <a:ext cx="31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692019DD-3686-4E99-AFE6-7A75369F4491}"/>
              </a:ext>
            </a:extLst>
          </p:cNvPr>
          <p:cNvGrpSpPr>
            <a:grpSpLocks/>
          </p:cNvGrpSpPr>
          <p:nvPr/>
        </p:nvGrpSpPr>
        <p:grpSpPr bwMode="auto">
          <a:xfrm>
            <a:off x="5338762" y="1258888"/>
            <a:ext cx="1903413" cy="1446213"/>
            <a:chOff x="3360" y="769"/>
            <a:chExt cx="1199" cy="911"/>
          </a:xfrm>
        </p:grpSpPr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A6CA22CF-6FDD-4351-87FE-2AABF24B8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056"/>
              <a:ext cx="384" cy="624"/>
            </a:xfrm>
            <a:prstGeom prst="line">
              <a:avLst/>
            </a:prstGeom>
            <a:noFill/>
            <a:ln w="15875">
              <a:solidFill>
                <a:srgbClr val="0000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A42A0C2F-C46A-4B64-ADD4-66D573961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769"/>
              <a:ext cx="91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0000CC"/>
                  </a:solidFill>
                </a:rPr>
                <a:t>‘A’: 1000001 (or 65</a:t>
              </a:r>
              <a:r>
                <a:rPr lang="en-US" baseline="-25000" dirty="0">
                  <a:solidFill>
                    <a:srgbClr val="0000CC"/>
                  </a:solidFill>
                </a:rPr>
                <a:t>10</a:t>
              </a:r>
              <a:r>
                <a:rPr lang="en-US" dirty="0">
                  <a:solidFill>
                    <a:srgbClr val="0000CC"/>
                  </a:solidFill>
                </a:rPr>
                <a:t>)</a:t>
              </a: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4CDFDAB9-ADC2-8341-8CEF-1CFA769B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9. ASCII Code</a:t>
            </a:r>
          </a:p>
        </p:txBody>
      </p:sp>
    </p:spTree>
    <p:extLst>
      <p:ext uri="{BB962C8B-B14F-4D97-AF65-F5344CB8AC3E}">
        <p14:creationId xmlns:p14="http://schemas.microsoft.com/office/powerpoint/2010/main" val="268825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418955"/>
            <a:ext cx="8382000" cy="833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Integers (0 to 127) and characters are ‘somewhat’ interchangeable in C</a:t>
            </a:r>
            <a:endParaRPr lang="en-US" sz="1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93BCEA-E22E-4376-B988-ADEB0CC71CAF}"/>
              </a:ext>
            </a:extLst>
          </p:cNvPr>
          <p:cNvGrpSpPr/>
          <p:nvPr/>
        </p:nvGrpSpPr>
        <p:grpSpPr>
          <a:xfrm>
            <a:off x="610124" y="3305642"/>
            <a:ext cx="6052127" cy="2740462"/>
            <a:chOff x="1616200" y="3253107"/>
            <a:chExt cx="6052127" cy="274046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FFA61E-65E8-44A9-BE07-DECE86FE68F6}"/>
                </a:ext>
              </a:extLst>
            </p:cNvPr>
            <p:cNvSpPr txBox="1"/>
            <p:nvPr/>
          </p:nvSpPr>
          <p:spPr>
            <a:xfrm>
              <a:off x="1616200" y="3408246"/>
              <a:ext cx="5638275" cy="2585323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num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= 65;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ch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= 'F';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num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(in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%%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d)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num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num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(in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%%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c)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num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ch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(in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%%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c)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ch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0363" algn="l"/>
                  <a:tab pos="722313" algn="l"/>
                  <a:tab pos="1071563" algn="l"/>
                  <a:tab pos="1431925" algn="l"/>
                </a:tabLst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ch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(in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%%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d)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ch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EBD7C8-693C-4C9B-9888-74D52A384C2B}"/>
                </a:ext>
              </a:extLst>
            </p:cNvPr>
            <p:cNvSpPr txBox="1"/>
            <p:nvPr/>
          </p:nvSpPr>
          <p:spPr>
            <a:xfrm>
              <a:off x="6104793" y="3253107"/>
              <a:ext cx="1563534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CharAndInt.c</a:t>
              </a:r>
              <a:endParaRPr lang="en-SG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DC3467A-68AD-400C-AC4F-4383FFB355AD}"/>
              </a:ext>
            </a:extLst>
          </p:cNvPr>
          <p:cNvSpPr txBox="1"/>
          <p:nvPr/>
        </p:nvSpPr>
        <p:spPr>
          <a:xfrm>
            <a:off x="5778867" y="4228123"/>
            <a:ext cx="2907933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SG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SG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 %d) = 65</a:t>
            </a:r>
          </a:p>
          <a:p>
            <a:r>
              <a:rPr lang="en-SG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SG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 %c) = A</a:t>
            </a:r>
          </a:p>
          <a:p>
            <a:endParaRPr lang="en-SG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F0713-EBCA-4CD1-ADFC-EC1A596AA6EB}"/>
              </a:ext>
            </a:extLst>
          </p:cNvPr>
          <p:cNvSpPr txBox="1"/>
          <p:nvPr/>
        </p:nvSpPr>
        <p:spPr>
          <a:xfrm>
            <a:off x="5778867" y="5243786"/>
            <a:ext cx="2907933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SG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SG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 %c) = F</a:t>
            </a:r>
          </a:p>
          <a:p>
            <a:r>
              <a:rPr lang="en-SG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SG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 %d) = 70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C651B70E-B997-4E9B-8D08-B8FEAFF2B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7D211-25F2-4B9E-AE5A-0AE3E502F2CB}"/>
              </a:ext>
            </a:extLst>
          </p:cNvPr>
          <p:cNvSpPr txBox="1"/>
          <p:nvPr/>
        </p:nvSpPr>
        <p:spPr>
          <a:xfrm>
            <a:off x="1647247" y="1597635"/>
            <a:ext cx="2376615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01000110</a:t>
            </a:r>
          </a:p>
        </p:txBody>
      </p:sp>
      <p:sp>
        <p:nvSpPr>
          <p:cNvPr id="15" name="Callout: Line 4">
            <a:extLst>
              <a:ext uri="{FF2B5EF4-FFF2-40B4-BE49-F238E27FC236}">
                <a16:creationId xmlns:a16="http://schemas.microsoft.com/office/drawing/2014/main" id="{AC23006B-4C01-4D33-A0B5-4F132E9380F0}"/>
              </a:ext>
            </a:extLst>
          </p:cNvPr>
          <p:cNvSpPr/>
          <p:nvPr/>
        </p:nvSpPr>
        <p:spPr>
          <a:xfrm>
            <a:off x="4962568" y="1343323"/>
            <a:ext cx="2868826" cy="367284"/>
          </a:xfrm>
          <a:prstGeom prst="borderCallout1">
            <a:avLst>
              <a:gd name="adj1" fmla="val 24283"/>
              <a:gd name="adj2" fmla="val -702"/>
              <a:gd name="adj3" fmla="val 109734"/>
              <a:gd name="adj4" fmla="val -3125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an ‘</a:t>
            </a:r>
            <a:r>
              <a:rPr lang="en-SG" sz="2400" dirty="0" err="1">
                <a:solidFill>
                  <a:schemeClr val="tx1"/>
                </a:solidFill>
              </a:rPr>
              <a:t>int</a:t>
            </a:r>
            <a:r>
              <a:rPr lang="en-SG" sz="2400" dirty="0">
                <a:solidFill>
                  <a:schemeClr val="tx1"/>
                </a:solidFill>
              </a:rPr>
              <a:t>’, it is </a:t>
            </a:r>
            <a:r>
              <a:rPr lang="en-SG" sz="2400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16" name="Callout: Line 16">
            <a:extLst>
              <a:ext uri="{FF2B5EF4-FFF2-40B4-BE49-F238E27FC236}">
                <a16:creationId xmlns:a16="http://schemas.microsoft.com/office/drawing/2014/main" id="{4A1D80A9-7279-4ACA-9F99-E7BA5646F487}"/>
              </a:ext>
            </a:extLst>
          </p:cNvPr>
          <p:cNvSpPr/>
          <p:nvPr/>
        </p:nvSpPr>
        <p:spPr>
          <a:xfrm>
            <a:off x="4962568" y="1920232"/>
            <a:ext cx="2868826" cy="367284"/>
          </a:xfrm>
          <a:prstGeom prst="borderCallout1">
            <a:avLst>
              <a:gd name="adj1" fmla="val 24283"/>
              <a:gd name="adj2" fmla="val -702"/>
              <a:gd name="adj3" fmla="val -3682"/>
              <a:gd name="adj4" fmla="val -3054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As a ‘char’, it is </a:t>
            </a:r>
            <a:r>
              <a:rPr lang="en-SG" sz="2400" dirty="0">
                <a:solidFill>
                  <a:srgbClr val="C00000"/>
                </a:solidFill>
              </a:rPr>
              <a:t>‘F’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DE36AE7-B1B3-4F4B-A696-9F13234B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9. ASCII Code</a:t>
            </a:r>
          </a:p>
        </p:txBody>
      </p:sp>
    </p:spTree>
    <p:extLst>
      <p:ext uri="{BB962C8B-B14F-4D97-AF65-F5344CB8AC3E}">
        <p14:creationId xmlns:p14="http://schemas.microsoft.com/office/powerpoint/2010/main" val="407283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1CCC-62AA-805C-B35E-D4FAC92F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3630-B7A7-9707-72DF-906C1599C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41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1342104" y="1696064"/>
            <a:ext cx="4675238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2147483640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n = n +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 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%d\n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BD7C8-693C-4C9B-9888-74D52A384C2B}"/>
              </a:ext>
            </a:extLst>
          </p:cNvPr>
          <p:cNvSpPr txBox="1"/>
          <p:nvPr/>
        </p:nvSpPr>
        <p:spPr>
          <a:xfrm>
            <a:off x="4852219" y="1474515"/>
            <a:ext cx="172556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PastYearQn.c</a:t>
            </a:r>
            <a:endParaRPr lang="en-SG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661219" y="3789185"/>
            <a:ext cx="6742471" cy="1697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is the output of the above code when run on </a:t>
            </a:r>
            <a:r>
              <a:rPr lang="en-US" sz="2800" dirty="0" err="1"/>
              <a:t>sunfire</a:t>
            </a:r>
            <a:r>
              <a:rPr lang="en-US" sz="2800" dirty="0"/>
              <a:t>?</a:t>
            </a:r>
          </a:p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Is it 2147483650?</a:t>
            </a:r>
            <a:endParaRPr lang="en-US" sz="28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4D4C0C-B96C-4E44-9ED7-D634F534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PAST YEAR QUESTION</a:t>
            </a:r>
          </a:p>
        </p:txBody>
      </p:sp>
    </p:spTree>
    <p:extLst>
      <p:ext uri="{BB962C8B-B14F-4D97-AF65-F5344CB8AC3E}">
        <p14:creationId xmlns:p14="http://schemas.microsoft.com/office/powerpoint/2010/main" val="3148528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60752A5-AF70-4BB4-96B2-3B52915D0D4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28529"/>
            <a:ext cx="8229600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Unsigned numbers: </a:t>
            </a:r>
            <a:r>
              <a:rPr lang="en-US" sz="2800" dirty="0"/>
              <a:t>only non-negative values</a:t>
            </a:r>
          </a:p>
          <a:p>
            <a:pPr marL="357188" indent="-357188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Signed numbers:</a:t>
            </a:r>
            <a:r>
              <a:rPr lang="en-US" sz="2800" dirty="0"/>
              <a:t> include all values (positive and negative)</a:t>
            </a:r>
          </a:p>
          <a:p>
            <a:pPr marL="357188" indent="-357188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There are 3 common representations for signed binary numbers:</a:t>
            </a:r>
          </a:p>
          <a:p>
            <a:pPr marL="714375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Sign-and-Magnitude</a:t>
            </a:r>
          </a:p>
          <a:p>
            <a:pPr marL="714375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1s Complement</a:t>
            </a:r>
          </a:p>
          <a:p>
            <a:pPr marL="714375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CC"/>
                </a:solidFill>
              </a:rPr>
              <a:t>2s Complement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85DD78-596A-9341-897A-4036636E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 Negative Numbers</a:t>
            </a:r>
          </a:p>
        </p:txBody>
      </p:sp>
    </p:spTree>
    <p:extLst>
      <p:ext uri="{BB962C8B-B14F-4D97-AF65-F5344CB8AC3E}">
        <p14:creationId xmlns:p14="http://schemas.microsoft.com/office/powerpoint/2010/main" val="2622740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457200" y="1423147"/>
            <a:ext cx="8229600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sign is represented by a ‘</a:t>
            </a:r>
            <a:r>
              <a:rPr lang="en-US" sz="2800" dirty="0">
                <a:solidFill>
                  <a:srgbClr val="C00000"/>
                </a:solidFill>
              </a:rPr>
              <a:t>sign bit</a:t>
            </a:r>
            <a:r>
              <a:rPr lang="en-US" sz="2800" dirty="0"/>
              <a:t>’</a:t>
            </a:r>
          </a:p>
          <a:p>
            <a:pPr marL="803275" lvl="1" indent="-358775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0 for +</a:t>
            </a:r>
          </a:p>
          <a:p>
            <a:pPr marL="803275" lvl="1" indent="-358775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1 for -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 err="1"/>
              <a:t>Eg</a:t>
            </a:r>
            <a:r>
              <a:rPr lang="en-US" sz="2800" dirty="0"/>
              <a:t>: a 1-bit sign and 7-bit magnitude format.</a:t>
            </a:r>
          </a:p>
        </p:txBody>
      </p:sp>
      <p:grpSp>
        <p:nvGrpSpPr>
          <p:cNvPr id="53" name="Group 4"/>
          <p:cNvGrpSpPr>
            <a:grpSpLocks/>
          </p:cNvGrpSpPr>
          <p:nvPr/>
        </p:nvGrpSpPr>
        <p:grpSpPr bwMode="auto">
          <a:xfrm>
            <a:off x="1524000" y="3480547"/>
            <a:ext cx="5334000" cy="1616075"/>
            <a:chOff x="1248" y="1728"/>
            <a:chExt cx="3360" cy="1018"/>
          </a:xfrm>
        </p:grpSpPr>
        <p:sp>
          <p:nvSpPr>
            <p:cNvPr id="54" name="Text Box 5"/>
            <p:cNvSpPr txBox="1">
              <a:spLocks noChangeArrowheads="1"/>
            </p:cNvSpPr>
            <p:nvPr/>
          </p:nvSpPr>
          <p:spPr bwMode="auto">
            <a:xfrm>
              <a:off x="1248" y="2496"/>
              <a:ext cx="57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sign</a:t>
              </a:r>
            </a:p>
          </p:txBody>
        </p:sp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1776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2256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4272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3936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59" name="Rectangle 10"/>
            <p:cNvSpPr>
              <a:spLocks noChangeArrowheads="1"/>
            </p:cNvSpPr>
            <p:nvPr/>
          </p:nvSpPr>
          <p:spPr bwMode="auto">
            <a:xfrm>
              <a:off x="3600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0" name="Rectangle 11"/>
            <p:cNvSpPr>
              <a:spLocks noChangeArrowheads="1"/>
            </p:cNvSpPr>
            <p:nvPr/>
          </p:nvSpPr>
          <p:spPr bwMode="auto">
            <a:xfrm>
              <a:off x="2928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1" name="Rectangle 12"/>
            <p:cNvSpPr>
              <a:spLocks noChangeArrowheads="1"/>
            </p:cNvSpPr>
            <p:nvPr/>
          </p:nvSpPr>
          <p:spPr bwMode="auto">
            <a:xfrm>
              <a:off x="3264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2" name="Rectangle 13"/>
            <p:cNvSpPr>
              <a:spLocks noChangeArrowheads="1"/>
            </p:cNvSpPr>
            <p:nvPr/>
          </p:nvSpPr>
          <p:spPr bwMode="auto">
            <a:xfrm>
              <a:off x="2592" y="1728"/>
              <a:ext cx="3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3" name="Line 14"/>
            <p:cNvSpPr>
              <a:spLocks noChangeShapeType="1"/>
            </p:cNvSpPr>
            <p:nvPr/>
          </p:nvSpPr>
          <p:spPr bwMode="auto">
            <a:xfrm flipV="1">
              <a:off x="1584" y="2160"/>
              <a:ext cx="24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auto">
            <a:xfrm flipH="1" flipV="1">
              <a:off x="3456" y="2160"/>
              <a:ext cx="33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Text Box 16"/>
            <p:cNvSpPr txBox="1">
              <a:spLocks noChangeArrowheads="1"/>
            </p:cNvSpPr>
            <p:nvPr/>
          </p:nvSpPr>
          <p:spPr bwMode="auto">
            <a:xfrm>
              <a:off x="3696" y="2448"/>
              <a:ext cx="86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magnitude</a:t>
              </a:r>
            </a:p>
          </p:txBody>
        </p:sp>
      </p:grp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609600" y="5233147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0</a:t>
            </a:r>
            <a:r>
              <a:rPr lang="en-US" sz="2400" dirty="0"/>
              <a:t>0110100 </a:t>
            </a:r>
            <a:r>
              <a:rPr lang="en-US" sz="2400" dirty="0">
                <a:sym typeface="Wingdings" pitchFamily="2" charset="2"/>
              </a:rPr>
              <a:t> +110100</a:t>
            </a:r>
            <a:r>
              <a:rPr lang="en-US" sz="2400" baseline="-25000" dirty="0">
                <a:sym typeface="Wingdings" pitchFamily="2" charset="2"/>
              </a:rPr>
              <a:t>2</a:t>
            </a:r>
            <a:r>
              <a:rPr lang="en-US" sz="2400" dirty="0">
                <a:sym typeface="Wingdings" pitchFamily="2" charset="2"/>
              </a:rPr>
              <a:t> =  </a:t>
            </a:r>
            <a:r>
              <a:rPr lang="en-US" sz="2400" dirty="0">
                <a:solidFill>
                  <a:srgbClr val="0000CC"/>
                </a:solidFill>
                <a:sym typeface="Wingdings" pitchFamily="2" charset="2"/>
              </a:rPr>
              <a:t>+52</a:t>
            </a:r>
            <a:r>
              <a:rPr lang="en-US" sz="2400" baseline="-25000" dirty="0">
                <a:solidFill>
                  <a:srgbClr val="0000CC"/>
                </a:solidFill>
                <a:sym typeface="Wingdings" pitchFamily="2" charset="2"/>
              </a:rPr>
              <a:t>10</a:t>
            </a:r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0010011 </a:t>
            </a:r>
            <a:r>
              <a:rPr lang="en-US" sz="2400" dirty="0">
                <a:sym typeface="Wingdings" pitchFamily="2" charset="2"/>
              </a:rPr>
              <a:t> -10011</a:t>
            </a:r>
            <a:r>
              <a:rPr lang="en-US" sz="2400" baseline="-25000" dirty="0">
                <a:sym typeface="Wingdings" pitchFamily="2" charset="2"/>
              </a:rPr>
              <a:t>2</a:t>
            </a:r>
            <a:r>
              <a:rPr lang="en-US" sz="2400" dirty="0">
                <a:sym typeface="Wingdings" pitchFamily="2" charset="2"/>
              </a:rPr>
              <a:t> =  </a:t>
            </a:r>
            <a:r>
              <a:rPr lang="en-US" sz="2400" dirty="0">
                <a:solidFill>
                  <a:srgbClr val="0000CC"/>
                </a:solidFill>
                <a:sym typeface="Wingdings" pitchFamily="2" charset="2"/>
              </a:rPr>
              <a:t>-19</a:t>
            </a:r>
            <a:r>
              <a:rPr lang="en-US" sz="2400" baseline="-25000" dirty="0">
                <a:solidFill>
                  <a:srgbClr val="0000CC"/>
                </a:solidFill>
                <a:sym typeface="Wingdings" pitchFamily="2" charset="2"/>
              </a:rPr>
              <a:t>10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5502DD4-7F59-5F4D-A1C6-4B7185EA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10.1 Negative Numbers:</a:t>
            </a:r>
            <a:br>
              <a:rPr lang="en-US" dirty="0"/>
            </a:br>
            <a:r>
              <a:rPr lang="en-US" dirty="0"/>
              <a:t>Sign and Magnitude</a:t>
            </a:r>
          </a:p>
        </p:txBody>
      </p:sp>
    </p:spTree>
    <p:extLst>
      <p:ext uri="{BB962C8B-B14F-4D97-AF65-F5344CB8AC3E}">
        <p14:creationId xmlns:p14="http://schemas.microsoft.com/office/powerpoint/2010/main" val="286655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6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>
          <a:xfrm>
            <a:off x="457200" y="1538477"/>
            <a:ext cx="8229600" cy="4796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Largest value: 		01111111 =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Smallest value: 	11111111 = -127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Zeros:			00000000 = +0</a:t>
            </a:r>
            <a:r>
              <a:rPr lang="en-US" sz="2800" baseline="-25000" dirty="0"/>
              <a:t>10</a:t>
            </a:r>
            <a:br>
              <a:rPr lang="en-US" sz="2800" dirty="0"/>
            </a:br>
            <a:r>
              <a:rPr lang="en-US" sz="2800" dirty="0"/>
              <a:t>				10000000 = -0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Range (for 8-bit): -127</a:t>
            </a:r>
            <a:r>
              <a:rPr lang="en-US" sz="2800" baseline="-25000" dirty="0"/>
              <a:t>10</a:t>
            </a:r>
            <a:r>
              <a:rPr lang="en-US" sz="2800" dirty="0"/>
              <a:t> to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Question: </a:t>
            </a:r>
          </a:p>
          <a:p>
            <a:pPr marL="630238" lvl="1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For an </a:t>
            </a:r>
            <a:r>
              <a:rPr lang="en-US" sz="2400" i="1" dirty="0"/>
              <a:t>n</a:t>
            </a:r>
            <a:r>
              <a:rPr lang="en-US" sz="2400" dirty="0"/>
              <a:t>-bit sign-and-magnitude representation, what is the range of values that can be represented?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4B0058-4D4B-BA4B-A1FF-3A7B5494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10.1 Negative Numbers:</a:t>
            </a:r>
            <a:br>
              <a:rPr lang="en-US" dirty="0"/>
            </a:br>
            <a:r>
              <a:rPr lang="en-US" dirty="0"/>
              <a:t>Sign and Magnitude</a:t>
            </a:r>
          </a:p>
        </p:txBody>
      </p:sp>
    </p:spTree>
    <p:extLst>
      <p:ext uri="{BB962C8B-B14F-4D97-AF65-F5344CB8AC3E}">
        <p14:creationId xmlns:p14="http://schemas.microsoft.com/office/powerpoint/2010/main" val="3803086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" y="1583846"/>
            <a:ext cx="8229600" cy="3276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negate a number, just </a:t>
            </a:r>
            <a:r>
              <a:rPr lang="en-US" sz="2800" u="sng" dirty="0">
                <a:solidFill>
                  <a:srgbClr val="800000"/>
                </a:solidFill>
              </a:rPr>
              <a:t>invert</a:t>
            </a:r>
            <a:r>
              <a:rPr lang="en-US" sz="2800" u="sng" dirty="0"/>
              <a:t> </a:t>
            </a:r>
            <a:r>
              <a:rPr lang="en-US" sz="2800" u="sng" dirty="0">
                <a:solidFill>
                  <a:srgbClr val="800000"/>
                </a:solidFill>
              </a:rPr>
              <a:t>the sign bit</a:t>
            </a:r>
            <a:r>
              <a:rPr lang="en-US" sz="2800" dirty="0">
                <a:solidFill>
                  <a:srgbClr val="800000"/>
                </a:solidFill>
              </a:rPr>
              <a:t>.</a:t>
            </a:r>
            <a:endParaRPr lang="en-US" sz="2800" baseline="-25000" dirty="0">
              <a:solidFill>
                <a:srgbClr val="800000"/>
              </a:solidFill>
            </a:endParaRP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Examples:</a:t>
            </a:r>
          </a:p>
          <a:p>
            <a:pPr marL="715963" lvl="1" indent="-357188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 to negate 00100001</a:t>
            </a:r>
            <a:r>
              <a:rPr lang="en-US" sz="2400" baseline="-25000" dirty="0"/>
              <a:t>sm</a:t>
            </a:r>
            <a:r>
              <a:rPr lang="en-US" sz="2400" dirty="0"/>
              <a:t> (decimal 33)?</a:t>
            </a:r>
            <a:br>
              <a:rPr lang="en-US" sz="2400" dirty="0"/>
            </a:br>
            <a:r>
              <a:rPr lang="en-US" sz="2400" dirty="0"/>
              <a:t>Answer: </a:t>
            </a:r>
            <a:r>
              <a:rPr lang="en-US" sz="2400" dirty="0">
                <a:solidFill>
                  <a:srgbClr val="C00000"/>
                </a:solidFill>
              </a:rPr>
              <a:t>10100001</a:t>
            </a:r>
            <a:r>
              <a:rPr lang="en-US" sz="2400" baseline="-25000" dirty="0">
                <a:solidFill>
                  <a:srgbClr val="C00000"/>
                </a:solidFill>
              </a:rPr>
              <a:t>sm</a:t>
            </a:r>
            <a:r>
              <a:rPr lang="en-US" sz="2400" dirty="0"/>
              <a:t> (decimal -33)</a:t>
            </a:r>
          </a:p>
          <a:p>
            <a:pPr marL="715963" lvl="1" indent="-357188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 to negate 10000101</a:t>
            </a:r>
            <a:r>
              <a:rPr lang="en-US" sz="2400" baseline="-25000" dirty="0"/>
              <a:t>sm</a:t>
            </a:r>
            <a:r>
              <a:rPr lang="en-US" sz="2400" dirty="0"/>
              <a:t> (decimal -5)?</a:t>
            </a:r>
            <a:br>
              <a:rPr lang="en-US" sz="2400" dirty="0"/>
            </a:br>
            <a:r>
              <a:rPr lang="en-US" sz="2400" dirty="0"/>
              <a:t>Answer: </a:t>
            </a:r>
            <a:r>
              <a:rPr lang="en-US" sz="2400" dirty="0">
                <a:solidFill>
                  <a:srgbClr val="C00000"/>
                </a:solidFill>
              </a:rPr>
              <a:t>00000101</a:t>
            </a:r>
            <a:r>
              <a:rPr lang="en-US" sz="2400" baseline="-25000" dirty="0">
                <a:solidFill>
                  <a:srgbClr val="C00000"/>
                </a:solidFill>
              </a:rPr>
              <a:t>sm</a:t>
            </a:r>
            <a:r>
              <a:rPr lang="en-US" sz="2400" dirty="0"/>
              <a:t> (decimal +5)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4C0090-CFD9-3447-9F49-DDF4F091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10.1 Negative Numbers:</a:t>
            </a:r>
            <a:br>
              <a:rPr lang="en-US" dirty="0"/>
            </a:br>
            <a:r>
              <a:rPr lang="en-US" dirty="0"/>
              <a:t>Sign and Magnitude</a:t>
            </a:r>
          </a:p>
        </p:txBody>
      </p:sp>
    </p:spTree>
    <p:extLst>
      <p:ext uri="{BB962C8B-B14F-4D97-AF65-F5344CB8AC3E}">
        <p14:creationId xmlns:p14="http://schemas.microsoft.com/office/powerpoint/2010/main" val="698227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560923"/>
            <a:ext cx="8023123" cy="49117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a number 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r>
              <a:rPr lang="en-US" dirty="0"/>
              <a:t> which can be expressed as an </a:t>
            </a:r>
            <a:r>
              <a:rPr lang="en-US" i="1" dirty="0"/>
              <a:t>n</a:t>
            </a:r>
            <a:r>
              <a:rPr lang="en-US" dirty="0"/>
              <a:t>-bit binary number, its </a:t>
            </a:r>
            <a:r>
              <a:rPr lang="en-US" u="sng" dirty="0"/>
              <a:t>negated value</a:t>
            </a:r>
            <a:r>
              <a:rPr lang="en-US" dirty="0"/>
              <a:t> can be obtained in </a:t>
            </a:r>
            <a:r>
              <a:rPr lang="en-US" b="1" dirty="0"/>
              <a:t>1s-complement</a:t>
            </a:r>
            <a:r>
              <a:rPr lang="en-US" dirty="0"/>
              <a:t> representation using:</a:t>
            </a:r>
          </a:p>
          <a:p>
            <a:pPr marL="0" indent="0" fontAlgn="auto">
              <a:spcAft>
                <a:spcPts val="0"/>
              </a:spcAft>
              <a:buSzPct val="100000"/>
              <a:buNone/>
            </a:pPr>
            <a:r>
              <a:rPr lang="en-US" dirty="0"/>
              <a:t>			</a:t>
            </a:r>
            <a:r>
              <a:rPr lang="en-US" b="1" dirty="0">
                <a:solidFill>
                  <a:srgbClr val="800000"/>
                </a:solidFill>
              </a:rPr>
              <a:t>-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r>
              <a:rPr lang="en-US" b="1" dirty="0">
                <a:solidFill>
                  <a:srgbClr val="800000"/>
                </a:solidFill>
              </a:rPr>
              <a:t> = 2</a:t>
            </a:r>
            <a:r>
              <a:rPr lang="en-US" b="1" i="1" baseline="30000" dirty="0">
                <a:solidFill>
                  <a:srgbClr val="800000"/>
                </a:solidFill>
              </a:rPr>
              <a:t>n</a:t>
            </a:r>
            <a:r>
              <a:rPr lang="en-US" b="1" dirty="0">
                <a:solidFill>
                  <a:srgbClr val="800000"/>
                </a:solidFill>
              </a:rPr>
              <a:t> – 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r>
              <a:rPr lang="en-US" b="1" dirty="0">
                <a:solidFill>
                  <a:srgbClr val="800000"/>
                </a:solidFill>
              </a:rPr>
              <a:t> – 1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With an 8-bit number 00001100 (or 12</a:t>
            </a:r>
            <a:r>
              <a:rPr lang="en-US" baseline="-25000" dirty="0"/>
              <a:t>10</a:t>
            </a:r>
            <a:r>
              <a:rPr lang="en-US" dirty="0"/>
              <a:t>), its negated value expressed in 1s-complement is:</a:t>
            </a:r>
          </a:p>
          <a:p>
            <a:pPr marL="0" indent="0" fontAlgn="auto">
              <a:spcAft>
                <a:spcPts val="0"/>
              </a:spcAft>
              <a:buSzPct val="100000"/>
              <a:buNone/>
            </a:pPr>
            <a:r>
              <a:rPr lang="en-US" dirty="0"/>
              <a:t>	-00001100</a:t>
            </a:r>
            <a:r>
              <a:rPr lang="en-US" baseline="-25000" dirty="0"/>
              <a:t>2</a:t>
            </a:r>
            <a:r>
              <a:rPr lang="en-US" dirty="0"/>
              <a:t> 	= 2</a:t>
            </a:r>
            <a:r>
              <a:rPr lang="en-US" baseline="30000" dirty="0"/>
              <a:t>8</a:t>
            </a:r>
            <a:r>
              <a:rPr lang="en-US" dirty="0"/>
              <a:t> – 12 – 1 </a:t>
            </a:r>
            <a:r>
              <a:rPr lang="en-US" sz="2000" dirty="0"/>
              <a:t>(calculation done in decimal)</a:t>
            </a:r>
            <a:br>
              <a:rPr lang="en-US" sz="2000" dirty="0"/>
            </a:br>
            <a:r>
              <a:rPr lang="en-US" dirty="0"/>
              <a:t>			= 243</a:t>
            </a:r>
            <a:br>
              <a:rPr lang="en-US" dirty="0"/>
            </a:br>
            <a:r>
              <a:rPr lang="en-US" dirty="0"/>
              <a:t>			= </a:t>
            </a:r>
            <a:r>
              <a:rPr lang="en-US" dirty="0">
                <a:solidFill>
                  <a:srgbClr val="0000CC"/>
                </a:solidFill>
              </a:rPr>
              <a:t>11110011</a:t>
            </a:r>
            <a:r>
              <a:rPr lang="en-US" baseline="-25000" dirty="0">
                <a:solidFill>
                  <a:srgbClr val="0000CC"/>
                </a:solidFill>
              </a:rPr>
              <a:t>1s</a:t>
            </a:r>
            <a:r>
              <a:rPr lang="en-US" dirty="0"/>
              <a:t> </a:t>
            </a:r>
          </a:p>
          <a:p>
            <a:pPr fontAlgn="auto">
              <a:spcAft>
                <a:spcPts val="0"/>
              </a:spcAft>
              <a:buFont typeface="Wingdings" pitchFamily="2" charset="2"/>
              <a:buNone/>
            </a:pPr>
            <a:r>
              <a:rPr lang="en-US" dirty="0"/>
              <a:t>	(This means that -12</a:t>
            </a:r>
            <a:r>
              <a:rPr lang="en-US" baseline="-25000" dirty="0"/>
              <a:t>10</a:t>
            </a:r>
            <a:r>
              <a:rPr lang="en-US" dirty="0"/>
              <a:t> is written as 11110011 in 1s-complement representation.)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4390BA-D09B-424D-9683-CE01E1F8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10.2 Negative Numbers:</a:t>
            </a:r>
            <a:br>
              <a:rPr lang="en-US" dirty="0"/>
            </a:br>
            <a:r>
              <a:rPr lang="en-US" dirty="0"/>
              <a:t>1’s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872798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>
          <a:xfrm>
            <a:off x="457200" y="1474515"/>
            <a:ext cx="8229600" cy="4722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Technique to negate a value: </a:t>
            </a:r>
            <a:r>
              <a:rPr lang="en-SG" sz="2800" dirty="0">
                <a:solidFill>
                  <a:srgbClr val="C00000"/>
                </a:solidFill>
              </a:rPr>
              <a:t>invert all the bits</a:t>
            </a:r>
            <a:r>
              <a:rPr lang="en-SG" sz="2800" dirty="0"/>
              <a:t>.</a:t>
            </a:r>
            <a:endParaRPr lang="en-US" sz="2800" dirty="0"/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Largest value: 		01111111 =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Smallest value: 	10000000 = -127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Zeros:			00000000 = +0</a:t>
            </a:r>
            <a:r>
              <a:rPr lang="en-US" sz="2800" baseline="-25000" dirty="0"/>
              <a:t>10</a:t>
            </a:r>
            <a:br>
              <a:rPr lang="en-US" sz="2800" dirty="0"/>
            </a:br>
            <a:r>
              <a:rPr lang="en-US" sz="2800" dirty="0"/>
              <a:t>				11111111 = -0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Range (for 8 bits): -127</a:t>
            </a:r>
            <a:r>
              <a:rPr lang="en-US" sz="2800" baseline="-25000" dirty="0"/>
              <a:t>10</a:t>
            </a:r>
            <a:r>
              <a:rPr lang="en-US" sz="2800" dirty="0"/>
              <a:t> to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Range (for </a:t>
            </a:r>
            <a:r>
              <a:rPr lang="en-US" sz="2800" i="1" dirty="0"/>
              <a:t>n</a:t>
            </a:r>
            <a:r>
              <a:rPr lang="en-US" sz="2800" dirty="0"/>
              <a:t> bits): -(2</a:t>
            </a:r>
            <a:r>
              <a:rPr lang="en-US" sz="2800" i="1" baseline="30000" dirty="0"/>
              <a:t>n</a:t>
            </a:r>
            <a:r>
              <a:rPr lang="en-US" sz="2800" baseline="30000" dirty="0"/>
              <a:t>-1</a:t>
            </a:r>
            <a:r>
              <a:rPr lang="en-US" sz="2800" dirty="0"/>
              <a:t> – 1) to 2</a:t>
            </a:r>
            <a:r>
              <a:rPr lang="en-US" sz="2800" i="1" baseline="30000" dirty="0"/>
              <a:t>n</a:t>
            </a:r>
            <a:r>
              <a:rPr lang="en-US" sz="2800" baseline="30000" dirty="0"/>
              <a:t>-1</a:t>
            </a:r>
            <a:r>
              <a:rPr lang="en-US" sz="2800" dirty="0"/>
              <a:t> – 1 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C00000"/>
                </a:solidFill>
              </a:rPr>
              <a:t>most significant bit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C00000"/>
                </a:solidFill>
              </a:rPr>
              <a:t>MSB</a:t>
            </a:r>
            <a:r>
              <a:rPr lang="en-US" sz="2800" dirty="0"/>
              <a:t>) still represents the sign: 0 for positive, 1 for negative.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C2708A-FF4F-4748-A2AD-D7483E5F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10.2 Negative Numbers:</a:t>
            </a:r>
            <a:br>
              <a:rPr lang="en-US" dirty="0"/>
            </a:br>
            <a:r>
              <a:rPr lang="en-US" dirty="0"/>
              <a:t>1’s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1589792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" y="1489587"/>
            <a:ext cx="82296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Examples (assuming 8-bit):</a:t>
            </a:r>
          </a:p>
          <a:p>
            <a:pPr>
              <a:spcBef>
                <a:spcPct val="60000"/>
              </a:spcBef>
              <a:buNone/>
            </a:pPr>
            <a:r>
              <a:rPr lang="en-US" sz="2800" dirty="0"/>
              <a:t>		(14)</a:t>
            </a:r>
            <a:r>
              <a:rPr lang="en-US" sz="2800" baseline="-25000" dirty="0"/>
              <a:t>10</a:t>
            </a:r>
            <a:r>
              <a:rPr lang="en-US" sz="2800" dirty="0"/>
              <a:t>  = (00001110)</a:t>
            </a:r>
            <a:r>
              <a:rPr lang="en-US" sz="2800" baseline="-25000" dirty="0"/>
              <a:t>2</a:t>
            </a:r>
            <a:r>
              <a:rPr lang="en-US" sz="2800" dirty="0"/>
              <a:t> = (00001110)</a:t>
            </a:r>
            <a:r>
              <a:rPr lang="en-US" sz="2800" baseline="-25000" dirty="0"/>
              <a:t>1s</a:t>
            </a:r>
          </a:p>
          <a:p>
            <a:pPr>
              <a:spcBef>
                <a:spcPct val="60000"/>
              </a:spcBef>
              <a:buSzPct val="120000"/>
              <a:buNone/>
            </a:pPr>
            <a:r>
              <a:rPr lang="en-US" sz="2800" dirty="0"/>
              <a:t>	 	-(14)</a:t>
            </a:r>
            <a:r>
              <a:rPr lang="en-US" sz="2800" baseline="-25000" dirty="0"/>
              <a:t>10</a:t>
            </a:r>
            <a:r>
              <a:rPr lang="en-US" sz="2800" dirty="0"/>
              <a:t> = -(00001110)</a:t>
            </a:r>
            <a:r>
              <a:rPr lang="en-US" sz="2800" baseline="-25000" dirty="0"/>
              <a:t>2</a:t>
            </a:r>
            <a:r>
              <a:rPr lang="en-US" sz="2800" dirty="0"/>
              <a:t> = (11110001)</a:t>
            </a:r>
            <a:r>
              <a:rPr lang="en-US" sz="2800" baseline="-25000" dirty="0"/>
              <a:t>1s</a:t>
            </a:r>
            <a:r>
              <a:rPr lang="en-US" sz="2800" dirty="0"/>
              <a:t> </a:t>
            </a:r>
          </a:p>
          <a:p>
            <a:pPr>
              <a:spcBef>
                <a:spcPct val="60000"/>
              </a:spcBef>
              <a:buSzPct val="120000"/>
              <a:buNone/>
            </a:pPr>
            <a:r>
              <a:rPr lang="en-US" sz="2800" dirty="0"/>
              <a:t>		-(80)</a:t>
            </a:r>
            <a:r>
              <a:rPr lang="en-US" sz="2800" baseline="-25000" dirty="0"/>
              <a:t>10</a:t>
            </a:r>
            <a:r>
              <a:rPr lang="en-US" sz="2800" dirty="0"/>
              <a:t> = -( </a:t>
            </a:r>
            <a:r>
              <a:rPr lang="en-US" sz="2800" dirty="0">
                <a:solidFill>
                  <a:srgbClr val="0000CC"/>
                </a:solidFill>
              </a:rPr>
              <a:t>?</a:t>
            </a:r>
            <a:r>
              <a:rPr lang="en-US" sz="2800" dirty="0"/>
              <a:t> )</a:t>
            </a:r>
            <a:r>
              <a:rPr lang="en-US" sz="2800" baseline="-25000" dirty="0"/>
              <a:t>2</a:t>
            </a:r>
            <a:r>
              <a:rPr lang="en-US" sz="2800" dirty="0"/>
              <a:t> = ( </a:t>
            </a:r>
            <a:r>
              <a:rPr lang="en-US" sz="2800" dirty="0">
                <a:solidFill>
                  <a:srgbClr val="0000CC"/>
                </a:solidFill>
              </a:rPr>
              <a:t>? </a:t>
            </a:r>
            <a:r>
              <a:rPr lang="en-US" sz="2800" dirty="0"/>
              <a:t>)</a:t>
            </a:r>
            <a:r>
              <a:rPr lang="en-US" sz="2800" baseline="-25000" dirty="0"/>
              <a:t>1s</a:t>
            </a:r>
            <a:r>
              <a:rPr lang="en-US" sz="2800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545075-46D7-954F-9051-DDF13AEB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10.2 Negative Numbers:</a:t>
            </a:r>
            <a:br>
              <a:rPr lang="en-US" dirty="0"/>
            </a:br>
            <a:r>
              <a:rPr lang="en-US" dirty="0"/>
              <a:t>1’s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2174948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560923"/>
            <a:ext cx="8023123" cy="49117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a number 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r>
              <a:rPr lang="en-US" dirty="0"/>
              <a:t> which can be expressed as an </a:t>
            </a:r>
            <a:r>
              <a:rPr lang="en-US" i="1" dirty="0"/>
              <a:t>n</a:t>
            </a:r>
            <a:r>
              <a:rPr lang="en-US" dirty="0"/>
              <a:t>-bit binary number, its </a:t>
            </a:r>
            <a:r>
              <a:rPr lang="en-US" u="sng" dirty="0"/>
              <a:t>negated value</a:t>
            </a:r>
            <a:r>
              <a:rPr lang="en-US" dirty="0"/>
              <a:t> can be obtained in </a:t>
            </a:r>
            <a:r>
              <a:rPr lang="en-US" b="1" dirty="0"/>
              <a:t>2s-complement</a:t>
            </a:r>
            <a:r>
              <a:rPr lang="en-US" dirty="0"/>
              <a:t> representation using:</a:t>
            </a:r>
          </a:p>
          <a:p>
            <a:pPr marL="0" indent="0" fontAlgn="auto">
              <a:spcAft>
                <a:spcPts val="0"/>
              </a:spcAft>
              <a:buSzPct val="100000"/>
              <a:buNone/>
            </a:pPr>
            <a:r>
              <a:rPr lang="en-US" dirty="0"/>
              <a:t>			</a:t>
            </a:r>
            <a:r>
              <a:rPr lang="en-US" b="1" dirty="0">
                <a:solidFill>
                  <a:srgbClr val="800000"/>
                </a:solidFill>
              </a:rPr>
              <a:t>-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r>
              <a:rPr lang="en-US" b="1" dirty="0">
                <a:solidFill>
                  <a:srgbClr val="800000"/>
                </a:solidFill>
              </a:rPr>
              <a:t> = 2</a:t>
            </a:r>
            <a:r>
              <a:rPr lang="en-US" b="1" i="1" baseline="30000" dirty="0">
                <a:solidFill>
                  <a:srgbClr val="800000"/>
                </a:solidFill>
              </a:rPr>
              <a:t>n</a:t>
            </a:r>
            <a:r>
              <a:rPr lang="en-US" b="1" dirty="0">
                <a:solidFill>
                  <a:srgbClr val="800000"/>
                </a:solidFill>
              </a:rPr>
              <a:t> – </a:t>
            </a:r>
            <a:r>
              <a:rPr lang="en-US" b="1" i="1" dirty="0">
                <a:solidFill>
                  <a:srgbClr val="800000"/>
                </a:solidFill>
              </a:rPr>
              <a:t>x</a:t>
            </a:r>
            <a:endParaRPr lang="en-US" b="1" dirty="0">
              <a:solidFill>
                <a:srgbClr val="800000"/>
              </a:solidFill>
            </a:endParaRP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With an 8-bit number 00001100 (or 12</a:t>
            </a:r>
            <a:r>
              <a:rPr lang="en-US" baseline="-25000" dirty="0"/>
              <a:t>10</a:t>
            </a:r>
            <a:r>
              <a:rPr lang="en-US" dirty="0"/>
              <a:t>), its negated value expressed in 2s-complement is:</a:t>
            </a:r>
          </a:p>
          <a:p>
            <a:pPr marL="0" indent="0" fontAlgn="auto">
              <a:spcAft>
                <a:spcPts val="0"/>
              </a:spcAft>
              <a:buSzPct val="100000"/>
              <a:buNone/>
            </a:pPr>
            <a:r>
              <a:rPr lang="en-US" dirty="0"/>
              <a:t>	-00001100</a:t>
            </a:r>
            <a:r>
              <a:rPr lang="en-US" baseline="-25000" dirty="0"/>
              <a:t>2</a:t>
            </a:r>
            <a:r>
              <a:rPr lang="en-US" dirty="0"/>
              <a:t> 	= 2</a:t>
            </a:r>
            <a:r>
              <a:rPr lang="en-US" baseline="30000" dirty="0"/>
              <a:t>8</a:t>
            </a:r>
            <a:r>
              <a:rPr lang="en-US" dirty="0"/>
              <a:t> – 12 </a:t>
            </a:r>
            <a:r>
              <a:rPr lang="en-US" sz="2000" dirty="0"/>
              <a:t>(calculation done in decimal)</a:t>
            </a:r>
            <a:br>
              <a:rPr lang="en-US" sz="2000" dirty="0"/>
            </a:br>
            <a:r>
              <a:rPr lang="en-US" dirty="0"/>
              <a:t>			= 244</a:t>
            </a:r>
            <a:br>
              <a:rPr lang="en-US" dirty="0"/>
            </a:br>
            <a:r>
              <a:rPr lang="en-US" dirty="0"/>
              <a:t>			= </a:t>
            </a:r>
            <a:r>
              <a:rPr lang="en-US" dirty="0">
                <a:solidFill>
                  <a:srgbClr val="0000CC"/>
                </a:solidFill>
              </a:rPr>
              <a:t>11110100</a:t>
            </a:r>
            <a:r>
              <a:rPr lang="en-US" baseline="-25000" dirty="0">
                <a:solidFill>
                  <a:srgbClr val="0000CC"/>
                </a:solidFill>
              </a:rPr>
              <a:t>2s</a:t>
            </a:r>
            <a:r>
              <a:rPr lang="en-US" dirty="0"/>
              <a:t> </a:t>
            </a:r>
          </a:p>
          <a:p>
            <a:pPr fontAlgn="auto">
              <a:spcAft>
                <a:spcPts val="0"/>
              </a:spcAft>
              <a:buFont typeface="Wingdings" pitchFamily="2" charset="2"/>
              <a:buNone/>
            </a:pPr>
            <a:r>
              <a:rPr lang="en-US" dirty="0"/>
              <a:t>	(This means that -12</a:t>
            </a:r>
            <a:r>
              <a:rPr lang="en-US" baseline="-25000" dirty="0"/>
              <a:t>10</a:t>
            </a:r>
            <a:r>
              <a:rPr lang="en-US" dirty="0"/>
              <a:t> is written as 11110100 in 2s-complement representation.)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889A5C-4890-FD4B-B798-D8794339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10.3 Negative Numbers:</a:t>
            </a:r>
            <a:br>
              <a:rPr lang="en-US" dirty="0"/>
            </a:br>
            <a:r>
              <a:rPr lang="en-US" dirty="0"/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744446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>
          <a:xfrm>
            <a:off x="457200" y="1538477"/>
            <a:ext cx="8229600" cy="4796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Technique to negate a value: </a:t>
            </a:r>
            <a:r>
              <a:rPr lang="en-SG" sz="2800" dirty="0">
                <a:solidFill>
                  <a:srgbClr val="C00000"/>
                </a:solidFill>
              </a:rPr>
              <a:t>invert all the bits</a:t>
            </a:r>
            <a:r>
              <a:rPr lang="en-SG" sz="2800" dirty="0"/>
              <a:t>, then </a:t>
            </a:r>
            <a:r>
              <a:rPr lang="en-SG" sz="2800" dirty="0">
                <a:solidFill>
                  <a:srgbClr val="C00000"/>
                </a:solidFill>
              </a:rPr>
              <a:t>add 1</a:t>
            </a:r>
            <a:r>
              <a:rPr lang="en-SG" sz="2800" dirty="0"/>
              <a:t>.</a:t>
            </a:r>
            <a:endParaRPr lang="en-US" sz="2800" dirty="0"/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Largest value: 		01111111 =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Smallest value: 	10000000 = -128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Zero:			00000000 = +0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Range (for 8 bits): -128</a:t>
            </a:r>
            <a:r>
              <a:rPr lang="en-US" sz="2800" baseline="-25000" dirty="0"/>
              <a:t>10</a:t>
            </a:r>
            <a:r>
              <a:rPr lang="en-US" sz="2800" dirty="0"/>
              <a:t> to +127</a:t>
            </a:r>
            <a:r>
              <a:rPr lang="en-US" sz="2800" baseline="-25000" dirty="0"/>
              <a:t>10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Range (for </a:t>
            </a:r>
            <a:r>
              <a:rPr lang="en-US" sz="2800" i="1" dirty="0"/>
              <a:t>n</a:t>
            </a:r>
            <a:r>
              <a:rPr lang="en-US" sz="2800" dirty="0"/>
              <a:t> bits): -2</a:t>
            </a:r>
            <a:r>
              <a:rPr lang="en-US" sz="2800" i="1" baseline="30000" dirty="0"/>
              <a:t>n</a:t>
            </a:r>
            <a:r>
              <a:rPr lang="en-US" sz="2800" baseline="30000" dirty="0"/>
              <a:t>-1</a:t>
            </a:r>
            <a:r>
              <a:rPr lang="en-US" sz="2800" dirty="0"/>
              <a:t> to 2</a:t>
            </a:r>
            <a:r>
              <a:rPr lang="en-US" sz="2800" i="1" baseline="30000" dirty="0"/>
              <a:t>n</a:t>
            </a:r>
            <a:r>
              <a:rPr lang="en-US" sz="2800" baseline="30000" dirty="0"/>
              <a:t>-1</a:t>
            </a:r>
            <a:r>
              <a:rPr lang="en-US" sz="2800" dirty="0"/>
              <a:t> – 1 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C00000"/>
                </a:solidFill>
              </a:rPr>
              <a:t>most significant bit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C00000"/>
                </a:solidFill>
              </a:rPr>
              <a:t>MSB</a:t>
            </a:r>
            <a:r>
              <a:rPr lang="en-US" sz="2800" dirty="0"/>
              <a:t>) still represents the sign: 0 for positive, 1 for negative.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764F86-A719-754A-B3F8-34AA1C1F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10.3 Negative Numbers:</a:t>
            </a:r>
            <a:br>
              <a:rPr lang="en-US" dirty="0"/>
            </a:br>
            <a:r>
              <a:rPr lang="en-US" dirty="0"/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420920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" y="1575547"/>
            <a:ext cx="8229600" cy="4759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Examples (assuming 8-bit):</a:t>
            </a:r>
          </a:p>
          <a:p>
            <a:pPr>
              <a:spcBef>
                <a:spcPct val="60000"/>
              </a:spcBef>
              <a:buNone/>
            </a:pPr>
            <a:r>
              <a:rPr lang="en-US" sz="2800" dirty="0"/>
              <a:t>		(14)</a:t>
            </a:r>
            <a:r>
              <a:rPr lang="en-US" sz="2800" baseline="-25000" dirty="0"/>
              <a:t>10</a:t>
            </a:r>
            <a:r>
              <a:rPr lang="en-US" sz="2800" dirty="0"/>
              <a:t>  = (00001110)</a:t>
            </a:r>
            <a:r>
              <a:rPr lang="en-US" sz="2800" baseline="-25000" dirty="0"/>
              <a:t>2</a:t>
            </a:r>
            <a:r>
              <a:rPr lang="en-US" sz="2800" dirty="0"/>
              <a:t> = (00001110)</a:t>
            </a:r>
            <a:r>
              <a:rPr lang="en-US" sz="2800" baseline="-25000" dirty="0"/>
              <a:t>2s</a:t>
            </a:r>
          </a:p>
          <a:p>
            <a:pPr>
              <a:spcBef>
                <a:spcPct val="60000"/>
              </a:spcBef>
              <a:buSzPct val="120000"/>
              <a:buNone/>
            </a:pPr>
            <a:r>
              <a:rPr lang="en-US" sz="2800" dirty="0"/>
              <a:t>	 	-(14)</a:t>
            </a:r>
            <a:r>
              <a:rPr lang="en-US" sz="2800" baseline="-25000" dirty="0"/>
              <a:t>10</a:t>
            </a:r>
            <a:r>
              <a:rPr lang="en-US" sz="2800" dirty="0"/>
              <a:t> = -(00001110)</a:t>
            </a:r>
            <a:r>
              <a:rPr lang="en-US" sz="2800" baseline="-25000" dirty="0"/>
              <a:t>2</a:t>
            </a:r>
            <a:r>
              <a:rPr lang="en-US" sz="2800" dirty="0"/>
              <a:t> = (11110010)</a:t>
            </a:r>
            <a:r>
              <a:rPr lang="en-US" sz="2800" baseline="-25000" dirty="0"/>
              <a:t>2s</a:t>
            </a:r>
            <a:r>
              <a:rPr lang="en-US" sz="2800" dirty="0"/>
              <a:t> </a:t>
            </a:r>
          </a:p>
          <a:p>
            <a:pPr>
              <a:spcBef>
                <a:spcPct val="60000"/>
              </a:spcBef>
              <a:buSzPct val="120000"/>
              <a:buNone/>
            </a:pPr>
            <a:r>
              <a:rPr lang="en-US" sz="2800" dirty="0"/>
              <a:t>		-(80)</a:t>
            </a:r>
            <a:r>
              <a:rPr lang="en-US" sz="2800" baseline="-25000" dirty="0"/>
              <a:t>10</a:t>
            </a:r>
            <a:r>
              <a:rPr lang="en-US" sz="2800" dirty="0"/>
              <a:t> = -( </a:t>
            </a:r>
            <a:r>
              <a:rPr lang="en-US" sz="2800" dirty="0">
                <a:solidFill>
                  <a:srgbClr val="0000CC"/>
                </a:solidFill>
              </a:rPr>
              <a:t>?</a:t>
            </a:r>
            <a:r>
              <a:rPr lang="en-US" sz="2800" dirty="0"/>
              <a:t> )</a:t>
            </a:r>
            <a:r>
              <a:rPr lang="en-US" sz="2800" baseline="-25000" dirty="0"/>
              <a:t>2</a:t>
            </a:r>
            <a:r>
              <a:rPr lang="en-US" sz="2800" dirty="0"/>
              <a:t> = ( </a:t>
            </a:r>
            <a:r>
              <a:rPr lang="en-US" sz="2800" dirty="0">
                <a:solidFill>
                  <a:srgbClr val="0000CC"/>
                </a:solidFill>
              </a:rPr>
              <a:t>? </a:t>
            </a:r>
            <a:r>
              <a:rPr lang="en-US" sz="2800" dirty="0"/>
              <a:t>)</a:t>
            </a:r>
            <a:r>
              <a:rPr lang="en-US" sz="2800" baseline="-25000" dirty="0"/>
              <a:t>2s</a:t>
            </a:r>
            <a:r>
              <a:rPr lang="en-US" sz="2800" dirty="0"/>
              <a:t> 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60331" y="4416353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 dirty="0">
                <a:solidFill>
                  <a:srgbClr val="800000"/>
                </a:solidFill>
              </a:rPr>
              <a:t>Compare with slide 29.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41331" y="4873553"/>
            <a:ext cx="6858000" cy="1295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1s complement: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(14)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= (00001110)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(00001110)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	-(14)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-(00001110)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(11110001)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68EDDE-066F-FE42-9273-4542A15B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10.3 Negative Numbers:</a:t>
            </a:r>
            <a:br>
              <a:rPr lang="en-US" dirty="0"/>
            </a:br>
            <a:r>
              <a:rPr lang="en-US" dirty="0"/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154688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57200" y="1371600"/>
            <a:ext cx="8305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ct val="20000"/>
              </a:spcAft>
              <a:buFont typeface="Wingdings" pitchFamily="2" charset="2"/>
              <a:buNone/>
            </a:pPr>
            <a:r>
              <a:rPr lang="en-US" dirty="0">
                <a:solidFill>
                  <a:srgbClr val="800000"/>
                </a:solidFill>
              </a:rPr>
              <a:t>4-bit system</a:t>
            </a:r>
          </a:p>
          <a:p>
            <a:pPr fontAlgn="auto">
              <a:spcAft>
                <a:spcPts val="0"/>
              </a:spcAft>
              <a:buFont typeface="Wingdings" pitchFamily="2" charset="2"/>
              <a:buNone/>
              <a:tabLst>
                <a:tab pos="4306888" algn="l"/>
              </a:tabLst>
            </a:pPr>
            <a:r>
              <a:rPr lang="en-US" sz="2000" b="1" i="1" dirty="0">
                <a:solidFill>
                  <a:srgbClr val="0000FF"/>
                </a:solidFill>
              </a:rPr>
              <a:t>Positive values</a:t>
            </a:r>
            <a:r>
              <a:rPr lang="en-US" sz="2000" b="1" dirty="0">
                <a:solidFill>
                  <a:srgbClr val="0000FF"/>
                </a:solidFill>
              </a:rPr>
              <a:t>		</a:t>
            </a:r>
            <a:r>
              <a:rPr lang="en-US" sz="2000" b="1" i="1" dirty="0">
                <a:solidFill>
                  <a:srgbClr val="0000FF"/>
                </a:solidFill>
              </a:rPr>
              <a:t>Negative values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4572000" y="19812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65889" y="3110845"/>
            <a:ext cx="2808071" cy="3016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455446"/>
          <a:ext cx="3844564" cy="3261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80854">
                  <a:extLst>
                    <a:ext uri="{9D8B030D-6E8A-4147-A177-3AD203B41FA5}">
                      <a16:colId xmlns:a16="http://schemas.microsoft.com/office/drawing/2014/main" val="1316983542"/>
                    </a:ext>
                  </a:extLst>
                </a:gridCol>
                <a:gridCol w="1234911">
                  <a:extLst>
                    <a:ext uri="{9D8B030D-6E8A-4147-A177-3AD203B41FA5}">
                      <a16:colId xmlns:a16="http://schemas.microsoft.com/office/drawing/2014/main" val="905240958"/>
                    </a:ext>
                  </a:extLst>
                </a:gridCol>
                <a:gridCol w="942681">
                  <a:extLst>
                    <a:ext uri="{9D8B030D-6E8A-4147-A177-3AD203B41FA5}">
                      <a16:colId xmlns:a16="http://schemas.microsoft.com/office/drawing/2014/main" val="631925039"/>
                    </a:ext>
                  </a:extLst>
                </a:gridCol>
                <a:gridCol w="886118">
                  <a:extLst>
                    <a:ext uri="{9D8B030D-6E8A-4147-A177-3AD203B41FA5}">
                      <a16:colId xmlns:a16="http://schemas.microsoft.com/office/drawing/2014/main" val="1505218664"/>
                    </a:ext>
                  </a:extLst>
                </a:gridCol>
              </a:tblGrid>
              <a:tr h="459817"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Value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Sign-and-Magnitude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1s Comp.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2s Comp.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519448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104916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71303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63335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0100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3284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28566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41438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50971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+0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6018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842236" y="2446020"/>
          <a:ext cx="3844564" cy="35966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80854">
                  <a:extLst>
                    <a:ext uri="{9D8B030D-6E8A-4147-A177-3AD203B41FA5}">
                      <a16:colId xmlns:a16="http://schemas.microsoft.com/office/drawing/2014/main" val="1316983542"/>
                    </a:ext>
                  </a:extLst>
                </a:gridCol>
                <a:gridCol w="1234911">
                  <a:extLst>
                    <a:ext uri="{9D8B030D-6E8A-4147-A177-3AD203B41FA5}">
                      <a16:colId xmlns:a16="http://schemas.microsoft.com/office/drawing/2014/main" val="905240958"/>
                    </a:ext>
                  </a:extLst>
                </a:gridCol>
                <a:gridCol w="942681">
                  <a:extLst>
                    <a:ext uri="{9D8B030D-6E8A-4147-A177-3AD203B41FA5}">
                      <a16:colId xmlns:a16="http://schemas.microsoft.com/office/drawing/2014/main" val="631925039"/>
                    </a:ext>
                  </a:extLst>
                </a:gridCol>
                <a:gridCol w="886118">
                  <a:extLst>
                    <a:ext uri="{9D8B030D-6E8A-4147-A177-3AD203B41FA5}">
                      <a16:colId xmlns:a16="http://schemas.microsoft.com/office/drawing/2014/main" val="1505218664"/>
                    </a:ext>
                  </a:extLst>
                </a:gridCol>
              </a:tblGrid>
              <a:tr h="459817"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Value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Sign-and-Magnitude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1s Comp.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0" dirty="0"/>
                        <a:t>2s Comp.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519448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104916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71303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63335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3284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28566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41438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50971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60183"/>
                  </a:ext>
                </a:extLst>
              </a:tr>
              <a:tr h="294444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56469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37F5FA7-BB6F-C248-8B3F-EB10CD2D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10.4 Negative Numbers:</a:t>
            </a:r>
            <a:br>
              <a:rPr lang="en-US" dirty="0"/>
            </a:br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35715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#3: Data Representation and Number Systems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Past-Year’s Exam Question! </a:t>
            </a:r>
            <a:r>
              <a:rPr lang="en-SG" sz="3600" dirty="0">
                <a:solidFill>
                  <a:srgbClr val="7030A0"/>
                </a:solidFill>
                <a:latin typeface="+mn-lt"/>
              </a:rPr>
              <a:t>(Answer)</a:t>
            </a:r>
            <a:endParaRPr lang="en-US" sz="3600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C651B70E-B997-4E9B-8D08-B8FEAFF2B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432" y="1548407"/>
            <a:ext cx="3952568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2147483640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n = n +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 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%d\n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BD7C8-693C-4C9B-9888-74D52A384C2B}"/>
              </a:ext>
            </a:extLst>
          </p:cNvPr>
          <p:cNvSpPr txBox="1"/>
          <p:nvPr/>
        </p:nvSpPr>
        <p:spPr>
          <a:xfrm>
            <a:off x="3967315" y="1289849"/>
            <a:ext cx="172556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PastYearQn.c</a:t>
            </a:r>
            <a:endParaRPr lang="en-SG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724399" y="1671639"/>
            <a:ext cx="4304071" cy="1072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What is the output of the above code when run on </a:t>
            </a:r>
            <a:r>
              <a:rPr lang="en-US" sz="2000" dirty="0" err="1"/>
              <a:t>sunfire</a:t>
            </a:r>
            <a:r>
              <a:rPr lang="en-US" sz="2000" dirty="0"/>
              <a:t>?</a:t>
            </a:r>
          </a:p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000" dirty="0"/>
              <a:t>Is it 2147483650?</a:t>
            </a:r>
            <a:endParaRPr lang="en-US" sz="20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324465" y="3438181"/>
            <a:ext cx="4331110" cy="23038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 err="1">
                <a:solidFill>
                  <a:srgbClr val="0000FF"/>
                </a:solidFill>
              </a:rPr>
              <a:t>int</a:t>
            </a:r>
            <a:r>
              <a:rPr lang="en-SG" dirty="0"/>
              <a:t> type in </a:t>
            </a:r>
            <a:r>
              <a:rPr lang="en-SG" dirty="0" err="1"/>
              <a:t>sunfire</a:t>
            </a:r>
            <a:r>
              <a:rPr lang="en-SG" dirty="0"/>
              <a:t> takes up 4 bytes (32 bits) and uses 2s complement</a:t>
            </a:r>
          </a:p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Largest positive integer = 2</a:t>
            </a:r>
            <a:r>
              <a:rPr lang="en-SG" baseline="30000" dirty="0"/>
              <a:t>31</a:t>
            </a:r>
            <a:r>
              <a:rPr lang="en-SG" dirty="0"/>
              <a:t> – 1 =  </a:t>
            </a:r>
            <a:r>
              <a:rPr lang="en-US" dirty="0"/>
              <a:t>2147483647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830096" y="2868020"/>
            <a:ext cx="4198375" cy="1040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1</a:t>
            </a:r>
            <a:r>
              <a:rPr lang="en-SG" baseline="30000" dirty="0"/>
              <a:t>st</a:t>
            </a:r>
            <a:r>
              <a:rPr lang="en-SG" dirty="0"/>
              <a:t> iteration: n = 2147483641</a:t>
            </a:r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7</a:t>
            </a:r>
            <a:r>
              <a:rPr lang="en-SG" baseline="30000" dirty="0"/>
              <a:t>th</a:t>
            </a:r>
            <a:r>
              <a:rPr lang="en-SG" dirty="0"/>
              <a:t> iteration: n = 2147483647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5341374" y="3771354"/>
            <a:ext cx="3497826" cy="493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01111 ……. 1111111111</a:t>
            </a:r>
            <a:endParaRPr 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830095" y="5338680"/>
            <a:ext cx="4198375" cy="49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8</a:t>
            </a:r>
            <a:r>
              <a:rPr lang="en-SG" baseline="30000" dirty="0"/>
              <a:t>th</a:t>
            </a:r>
            <a:r>
              <a:rPr lang="en-SG" dirty="0"/>
              <a:t> iteration: n = -2147483648</a:t>
            </a:r>
            <a:endParaRPr 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5341374" y="4721857"/>
            <a:ext cx="3497826" cy="493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10000…….0000000000</a:t>
            </a:r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7973960" y="4228466"/>
            <a:ext cx="865240" cy="493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+ 1</a:t>
            </a:r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830094" y="5694629"/>
            <a:ext cx="4198375" cy="49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9</a:t>
            </a:r>
            <a:r>
              <a:rPr lang="en-SG" baseline="30000" dirty="0"/>
              <a:t>th</a:t>
            </a:r>
            <a:r>
              <a:rPr lang="en-SG" dirty="0"/>
              <a:t> iteration: n = -2147483647</a:t>
            </a:r>
            <a:endParaRPr lang="en-US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93E3571-76ED-48F0-BC54-EBEE2A032398}"/>
              </a:ext>
            </a:extLst>
          </p:cNvPr>
          <p:cNvSpPr txBox="1">
            <a:spLocks noChangeArrowheads="1"/>
          </p:cNvSpPr>
          <p:nvPr/>
        </p:nvSpPr>
        <p:spPr>
          <a:xfrm>
            <a:off x="4655575" y="6109314"/>
            <a:ext cx="4372893" cy="493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10</a:t>
            </a:r>
            <a:r>
              <a:rPr lang="en-SG" baseline="30000" dirty="0"/>
              <a:t>th</a:t>
            </a:r>
            <a:r>
              <a:rPr lang="en-SG" dirty="0"/>
              <a:t> iteration: n = </a:t>
            </a:r>
            <a:r>
              <a:rPr lang="en-SG" dirty="0">
                <a:solidFill>
                  <a:srgbClr val="C00000"/>
                </a:solidFill>
              </a:rPr>
              <a:t>-2147483646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85703" y="2260761"/>
            <a:ext cx="51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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9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 animBg="1"/>
      <p:bldP spid="15" grpId="0"/>
      <p:bldP spid="16" grpId="0" animBg="1"/>
      <p:bldP spid="17" grpId="0" animBg="1"/>
      <p:bldP spid="18" grpId="0"/>
      <p:bldP spid="19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590368"/>
            <a:ext cx="8229600" cy="4835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We can extend the idea of complement on fractions.</a:t>
            </a:r>
          </a:p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Examples:</a:t>
            </a:r>
          </a:p>
          <a:p>
            <a:pPr marL="811213" lvl="1" indent="-3683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Negate 0101.01 in 1s-complement</a:t>
            </a:r>
            <a:br>
              <a:rPr lang="en-US" sz="2400" dirty="0"/>
            </a:br>
            <a:r>
              <a:rPr lang="en-US" sz="2400" dirty="0">
                <a:solidFill>
                  <a:srgbClr val="7030A0"/>
                </a:solidFill>
              </a:rPr>
              <a:t>Answer: 1010.10</a:t>
            </a:r>
          </a:p>
          <a:p>
            <a:pPr marL="811213" lvl="1" indent="-368300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Negate 111000.101 in 1s-complement</a:t>
            </a:r>
            <a:br>
              <a:rPr lang="en-US" sz="2400" dirty="0"/>
            </a:br>
            <a:r>
              <a:rPr lang="en-US" sz="2400" dirty="0">
                <a:solidFill>
                  <a:srgbClr val="7030A0"/>
                </a:solidFill>
              </a:rPr>
              <a:t>Answer: 000111.010</a:t>
            </a:r>
          </a:p>
          <a:p>
            <a:pPr marL="811213" lvl="1" indent="-368300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Negate 0101.01 in 2s-complement</a:t>
            </a:r>
            <a:br>
              <a:rPr lang="en-US" sz="2400" dirty="0"/>
            </a:br>
            <a:r>
              <a:rPr lang="en-US" sz="2400" dirty="0">
                <a:solidFill>
                  <a:srgbClr val="7030A0"/>
                </a:solidFill>
              </a:rPr>
              <a:t>Answer: 1010.11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BFFB17-CEE0-0546-9663-E964FEFC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10.5 Negative Numbers:</a:t>
            </a:r>
            <a:br>
              <a:rPr lang="en-US" dirty="0"/>
            </a:br>
            <a:r>
              <a:rPr lang="en-US" dirty="0"/>
              <a:t>Complements on Fractions</a:t>
            </a:r>
          </a:p>
        </p:txBody>
      </p:sp>
    </p:spTree>
    <p:extLst>
      <p:ext uri="{BB962C8B-B14F-4D97-AF65-F5344CB8AC3E}">
        <p14:creationId xmlns:p14="http://schemas.microsoft.com/office/powerpoint/2010/main" val="725091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840386"/>
            <a:ext cx="7831394" cy="2410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Algorithm for addition of integers, A + B: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Perform binary addition on the two numbers.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>
                <a:solidFill>
                  <a:srgbClr val="9900CC"/>
                </a:solidFill>
              </a:rPr>
              <a:t>Ignore the carry out of the MSB</a:t>
            </a:r>
            <a:r>
              <a:rPr lang="en-US" dirty="0"/>
              <a:t>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>
                <a:solidFill>
                  <a:srgbClr val="0000CC"/>
                </a:solidFill>
              </a:rPr>
              <a:t>Check for overflow. </a:t>
            </a:r>
            <a:r>
              <a:rPr lang="en-US" dirty="0"/>
              <a:t>Overflow occurs if the ‘carry in’ and ‘carry out’ of the MSB are different, or if result is opposite sign of A and B.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4251138"/>
            <a:ext cx="8229600" cy="1898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Algorithm for subtraction of integers, A – B:</a:t>
            </a:r>
            <a:br>
              <a:rPr lang="en-US" sz="2800" dirty="0">
                <a:solidFill>
                  <a:srgbClr val="800000"/>
                </a:solidFill>
              </a:rPr>
            </a:br>
            <a:r>
              <a:rPr lang="en-US" sz="2800" dirty="0">
                <a:solidFill>
                  <a:srgbClr val="800000"/>
                </a:solidFill>
              </a:rPr>
              <a:t>	A – B = A + (-B)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Take 2s-complement of B.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Add the 2s-complement of B to A.</a:t>
            </a:r>
          </a:p>
          <a:p>
            <a:pPr marL="571500" indent="-571500" fontAlgn="auto">
              <a:spcAft>
                <a:spcPts val="0"/>
              </a:spcAft>
              <a:buFont typeface="Wingdings" pitchFamily="2" charset="2"/>
              <a:buNone/>
            </a:pP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86DF672-89EC-D641-A1BA-B3294F5D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10.6 Negative Numbers:</a:t>
            </a:r>
            <a:br>
              <a:rPr lang="en-US" dirty="0"/>
            </a:br>
            <a:r>
              <a:rPr lang="en-US" dirty="0"/>
              <a:t>2’s Complements on Additions and Subtractions</a:t>
            </a:r>
          </a:p>
        </p:txBody>
      </p:sp>
    </p:spTree>
    <p:extLst>
      <p:ext uri="{BB962C8B-B14F-4D97-AF65-F5344CB8AC3E}">
        <p14:creationId xmlns:p14="http://schemas.microsoft.com/office/powerpoint/2010/main" val="1650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560923"/>
            <a:ext cx="8229600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Signed numbers are of a fixed range.</a:t>
            </a:r>
          </a:p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the result of addition/subtraction goes beyond this range, an </a:t>
            </a:r>
            <a:r>
              <a:rPr lang="en-US" b="1" dirty="0">
                <a:solidFill>
                  <a:srgbClr val="800000"/>
                </a:solidFill>
              </a:rPr>
              <a:t>overflow</a:t>
            </a:r>
            <a:r>
              <a:rPr lang="en-US" dirty="0"/>
              <a:t> occurs.</a:t>
            </a:r>
          </a:p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Overflow can be easily detected:</a:t>
            </a:r>
          </a:p>
          <a:p>
            <a:pPr marL="633413" lvl="1" indent="-2794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i="1" dirty="0"/>
              <a:t>positive </a:t>
            </a:r>
            <a:r>
              <a:rPr lang="en-US" dirty="0"/>
              <a:t>add</a:t>
            </a:r>
            <a:r>
              <a:rPr lang="en-US" i="1" dirty="0"/>
              <a:t> positive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/>
              <a:t>negative</a:t>
            </a:r>
          </a:p>
          <a:p>
            <a:pPr marL="633413" lvl="1" indent="-2794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i="1" dirty="0"/>
              <a:t>negative </a:t>
            </a:r>
            <a:r>
              <a:rPr lang="en-US" dirty="0"/>
              <a:t>add</a:t>
            </a:r>
            <a:r>
              <a:rPr lang="en-US" i="1" dirty="0"/>
              <a:t> negative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i="1" dirty="0"/>
              <a:t>positive</a:t>
            </a:r>
          </a:p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4-bit 2s-complement system</a:t>
            </a:r>
          </a:p>
          <a:p>
            <a:pPr marL="633413" lvl="1" indent="-2794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Range of value: -8</a:t>
            </a:r>
            <a:r>
              <a:rPr lang="en-US" baseline="-25000" dirty="0"/>
              <a:t>10</a:t>
            </a:r>
            <a:r>
              <a:rPr lang="en-US" dirty="0"/>
              <a:t> to 7</a:t>
            </a:r>
            <a:r>
              <a:rPr lang="en-US" baseline="-25000" dirty="0"/>
              <a:t>10</a:t>
            </a:r>
          </a:p>
          <a:p>
            <a:pPr marL="633413" lvl="1" indent="-279400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0101</a:t>
            </a:r>
            <a:r>
              <a:rPr lang="en-US" baseline="-25000" dirty="0"/>
              <a:t>2s</a:t>
            </a:r>
            <a:r>
              <a:rPr lang="en-US" dirty="0"/>
              <a:t> + 0110</a:t>
            </a:r>
            <a:r>
              <a:rPr lang="en-US" baseline="-25000" dirty="0"/>
              <a:t>2s</a:t>
            </a:r>
            <a:r>
              <a:rPr lang="en-US" dirty="0"/>
              <a:t> = 1011</a:t>
            </a:r>
            <a:r>
              <a:rPr lang="en-US" baseline="-25000" dirty="0"/>
              <a:t>2s</a:t>
            </a:r>
            <a:br>
              <a:rPr lang="en-US" dirty="0"/>
            </a:br>
            <a:r>
              <a:rPr lang="en-US" dirty="0"/>
              <a:t>5</a:t>
            </a:r>
            <a:r>
              <a:rPr lang="en-US" baseline="-25000" dirty="0"/>
              <a:t>10</a:t>
            </a:r>
            <a:r>
              <a:rPr lang="en-US" dirty="0"/>
              <a:t> + 6</a:t>
            </a:r>
            <a:r>
              <a:rPr lang="en-US" baseline="-25000" dirty="0"/>
              <a:t>10</a:t>
            </a:r>
            <a:r>
              <a:rPr lang="en-US" dirty="0"/>
              <a:t> = -5</a:t>
            </a:r>
            <a:r>
              <a:rPr lang="en-US" baseline="-25000" dirty="0"/>
              <a:t>10</a:t>
            </a:r>
            <a:r>
              <a:rPr lang="en-US" dirty="0"/>
              <a:t> ?! </a:t>
            </a:r>
            <a:r>
              <a:rPr lang="en-US" dirty="0">
                <a:solidFill>
                  <a:srgbClr val="C00000"/>
                </a:solidFill>
              </a:rPr>
              <a:t>(overflow!)</a:t>
            </a:r>
          </a:p>
          <a:p>
            <a:pPr marL="633413" lvl="1" indent="-279400" fontAlgn="auto">
              <a:spcBef>
                <a:spcPct val="6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1001</a:t>
            </a:r>
            <a:r>
              <a:rPr lang="en-US" baseline="-25000" dirty="0"/>
              <a:t>2s</a:t>
            </a:r>
            <a:r>
              <a:rPr lang="en-US" dirty="0"/>
              <a:t> + 1101</a:t>
            </a:r>
            <a:r>
              <a:rPr lang="en-US" baseline="-25000" dirty="0"/>
              <a:t>2s</a:t>
            </a:r>
            <a:r>
              <a:rPr lang="en-US" dirty="0"/>
              <a:t> = </a:t>
            </a:r>
            <a:r>
              <a:rPr lang="en-US" u="sng" dirty="0"/>
              <a:t>1</a:t>
            </a:r>
            <a:r>
              <a:rPr lang="en-US" dirty="0"/>
              <a:t>0110</a:t>
            </a:r>
            <a:r>
              <a:rPr lang="en-US" baseline="-25000" dirty="0"/>
              <a:t>2s </a:t>
            </a:r>
            <a:r>
              <a:rPr lang="en-US" dirty="0"/>
              <a:t>(discard end-carry) = 0110</a:t>
            </a:r>
            <a:r>
              <a:rPr lang="en-US" baseline="-25000" dirty="0"/>
              <a:t>2s</a:t>
            </a:r>
            <a:br>
              <a:rPr lang="en-US" dirty="0"/>
            </a:br>
            <a:r>
              <a:rPr lang="en-US" dirty="0"/>
              <a:t>-7</a:t>
            </a:r>
            <a:r>
              <a:rPr lang="en-US" baseline="-25000" dirty="0"/>
              <a:t>10</a:t>
            </a:r>
            <a:r>
              <a:rPr lang="en-US" dirty="0"/>
              <a:t> + -3</a:t>
            </a:r>
            <a:r>
              <a:rPr lang="en-US" baseline="-25000" dirty="0"/>
              <a:t>10</a:t>
            </a:r>
            <a:r>
              <a:rPr lang="en-US" dirty="0"/>
              <a:t> = 6</a:t>
            </a:r>
            <a:r>
              <a:rPr lang="en-US" baseline="-25000" dirty="0"/>
              <a:t>10</a:t>
            </a:r>
            <a:r>
              <a:rPr lang="en-US" dirty="0"/>
              <a:t> ?! </a:t>
            </a:r>
            <a:r>
              <a:rPr lang="en-US" dirty="0">
                <a:solidFill>
                  <a:srgbClr val="C00000"/>
                </a:solidFill>
              </a:rPr>
              <a:t>(overflow!)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25F457-06FD-9843-904B-2D38635C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10.6 Negative Numbers:</a:t>
            </a:r>
            <a:br>
              <a:rPr lang="en-US" dirty="0"/>
            </a:br>
            <a:r>
              <a:rPr lang="en-US" dirty="0"/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1811850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47368" y="1355295"/>
            <a:ext cx="8229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Examples: 4-bit system</a:t>
            </a:r>
            <a:endParaRPr lang="en-US" dirty="0"/>
          </a:p>
          <a:p>
            <a:pPr marL="571500" indent="-571500" fontAlgn="auto">
              <a:spcAft>
                <a:spcPts val="0"/>
              </a:spcAft>
              <a:buFont typeface="Wingdings" pitchFamily="2" charset="2"/>
              <a:buNone/>
            </a:pP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80768" y="6219370"/>
            <a:ext cx="6553200" cy="479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2913" indent="-354013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7030A0"/>
                </a:solidFill>
              </a:rPr>
              <a:t>Which of the above is/are overflow(s)?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52168" y="1825364"/>
            <a:ext cx="2590800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+3       0011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+4     + 0100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+7       0111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5039883" y="1825125"/>
            <a:ext cx="2607212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-2       1110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-6     + 1010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-8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1000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746760" y="3203846"/>
            <a:ext cx="2606040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+6       0110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-3     + 1101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+3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0011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5057335" y="3188367"/>
            <a:ext cx="2599592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+4       0100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-7     + 1001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-3       1101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362897" y="2740103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762000" y="4684058"/>
            <a:ext cx="2590800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-3       1101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-6     + 1010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-9      </a:t>
            </a:r>
            <a:r>
              <a:rPr lang="en-US" b="1" dirty="0">
                <a:solidFill>
                  <a:srgbClr val="CC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5053232" y="4667642"/>
            <a:ext cx="2603695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+5       0101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+6     + 0110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+11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1011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328901" y="4312515"/>
            <a:ext cx="14618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326555" y="5789794"/>
            <a:ext cx="13118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Overflow!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647095" y="5789794"/>
            <a:ext cx="13118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Overflow!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80604" y="4712596"/>
            <a:ext cx="164122" cy="106914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754838" y="4682116"/>
            <a:ext cx="164122" cy="106914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7662042" y="2675302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628046" y="4247714"/>
            <a:ext cx="14618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EB48409-266D-064C-B282-A67A28F9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10.6 Negative Numbers:</a:t>
            </a:r>
            <a:br>
              <a:rPr lang="en-US" dirty="0"/>
            </a:br>
            <a:r>
              <a:rPr lang="en-US" dirty="0"/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25869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2" grpId="0" animBg="1"/>
      <p:bldP spid="13" grpId="0" animBg="1"/>
      <p:bldP spid="15" grpId="0" animBg="1"/>
      <p:bldP spid="16" grpId="0"/>
      <p:bldP spid="17" grpId="0" animBg="1"/>
      <p:bldP spid="18" grpId="0" animBg="1"/>
      <p:bldP spid="19" grpId="0"/>
      <p:bldP spid="20" grpId="0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41</a:t>
            </a:fld>
            <a:endParaRPr dirty="0"/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447368" y="1470128"/>
            <a:ext cx="4343400" cy="1207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Examples: 4-bit system</a:t>
            </a:r>
          </a:p>
          <a:p>
            <a:pPr marL="717550" lvl="1" indent="-390525" fontAlgn="auto">
              <a:spcAft>
                <a:spcPts val="0"/>
              </a:spcAft>
              <a:buSzPct val="60000"/>
              <a:buFont typeface="Wingdings" panose="05000000000000000000" pitchFamily="2" charset="2"/>
              <a:buChar char="q"/>
            </a:pPr>
            <a:r>
              <a:rPr lang="en-US" dirty="0"/>
              <a:t>4 – 7 </a:t>
            </a:r>
          </a:p>
          <a:p>
            <a:pPr marL="717550" lvl="1" indent="-390525" fontAlgn="auto">
              <a:spcAft>
                <a:spcPts val="0"/>
              </a:spcAft>
              <a:buSzPct val="60000"/>
              <a:buFont typeface="Wingdings" panose="05000000000000000000" pitchFamily="2" charset="2"/>
              <a:buChar char="q"/>
            </a:pPr>
            <a:r>
              <a:rPr lang="en-US" dirty="0"/>
              <a:t>Convert it to 4 + (-7)</a:t>
            </a:r>
          </a:p>
          <a:p>
            <a:pPr marL="571500" indent="-571500" fontAlgn="auto">
              <a:spcAft>
                <a:spcPts val="0"/>
              </a:spcAft>
              <a:buFont typeface="Wingdings" pitchFamily="2" charset="2"/>
              <a:buNone/>
            </a:pP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4409768" y="1621428"/>
            <a:ext cx="2693377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+4       0100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-7     + 1001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-3       1101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523568" y="6058845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3538" indent="-363538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7030A0"/>
                </a:solidFill>
              </a:rPr>
              <a:t>Which of the above is/are overflow(s)?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447368" y="3100903"/>
            <a:ext cx="3733800" cy="83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17550" lvl="1" indent="-390525" eaLnBrk="1" hangingPunct="1"/>
            <a:r>
              <a:rPr lang="en-US" sz="2000" kern="0" dirty="0"/>
              <a:t>6 – 1 </a:t>
            </a:r>
          </a:p>
          <a:p>
            <a:pPr marL="717550" lvl="1" indent="-390525" eaLnBrk="1" hangingPunct="1"/>
            <a:r>
              <a:rPr lang="en-US" sz="2000" kern="0" dirty="0"/>
              <a:t>Convert it to 6 + (-1)</a:t>
            </a:r>
          </a:p>
          <a:p>
            <a:pPr marL="571500" indent="-571500" eaLnBrk="1" hangingPunct="1">
              <a:buFont typeface="Wingdings" pitchFamily="2" charset="2"/>
              <a:buNone/>
            </a:pPr>
            <a:endParaRPr lang="en-US" sz="2800" kern="0" dirty="0">
              <a:solidFill>
                <a:srgbClr val="800000"/>
              </a:solidFill>
            </a:endParaRP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406251" y="3097063"/>
            <a:ext cx="2693377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+6       0110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-1     + 1111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+5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447368" y="4671920"/>
            <a:ext cx="3733800" cy="83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17550" lvl="1" indent="-390525" eaLnBrk="1" hangingPunct="1"/>
            <a:r>
              <a:rPr lang="en-US" sz="2000" kern="0" dirty="0"/>
              <a:t>-5 – 4 </a:t>
            </a:r>
          </a:p>
          <a:p>
            <a:pPr marL="717550" lvl="1" indent="-390525" eaLnBrk="1" hangingPunct="1"/>
            <a:r>
              <a:rPr lang="en-US" sz="2000" kern="0" dirty="0"/>
              <a:t>Convert it to -5 + (-4)</a:t>
            </a:r>
          </a:p>
          <a:p>
            <a:pPr marL="571500" indent="-571500" eaLnBrk="1" hangingPunct="1">
              <a:buFont typeface="Wingdings" pitchFamily="2" charset="2"/>
              <a:buNone/>
            </a:pPr>
            <a:endParaRPr lang="en-US" sz="2800" kern="0" dirty="0">
              <a:solidFill>
                <a:srgbClr val="800000"/>
              </a:solidFill>
            </a:endParaRP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4406250" y="4582430"/>
            <a:ext cx="2693377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-5       1011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-4     + 1100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-9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5930" y="4385481"/>
            <a:ext cx="164122" cy="106914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134505" y="2505106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7143883" y="4007083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143883" y="5521960"/>
            <a:ext cx="13118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Overflow!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D3458ED-E3E5-7A45-9038-CFB5E3C0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10.6 Negative Numbers:</a:t>
            </a:r>
            <a:br>
              <a:rPr lang="en-US" dirty="0"/>
            </a:br>
            <a:r>
              <a:rPr lang="en-US" dirty="0"/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381101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 animBg="1"/>
      <p:bldP spid="33" grpId="0"/>
      <p:bldP spid="34" grpId="0"/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840386"/>
            <a:ext cx="7831394" cy="2410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Algorithm for addition of integers, A + B: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Perform binary addition on the two numbers.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>
                <a:solidFill>
                  <a:srgbClr val="9900CC"/>
                </a:solidFill>
              </a:rPr>
              <a:t>If there is a carry out of the MSB, add 1 to the result</a:t>
            </a:r>
            <a:r>
              <a:rPr lang="en-US" dirty="0"/>
              <a:t>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>
                <a:solidFill>
                  <a:srgbClr val="0000CC"/>
                </a:solidFill>
              </a:rPr>
              <a:t>Check for overflow. </a:t>
            </a:r>
            <a:r>
              <a:rPr lang="en-US" dirty="0"/>
              <a:t>Overflow occurs if result is opposite sign of A and B.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4015164"/>
            <a:ext cx="8229600" cy="1898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800000"/>
                </a:solidFill>
              </a:rPr>
              <a:t>Algorithm for subtraction of integers, A – B:</a:t>
            </a:r>
            <a:br>
              <a:rPr lang="en-US" sz="2800" dirty="0">
                <a:solidFill>
                  <a:srgbClr val="800000"/>
                </a:solidFill>
              </a:rPr>
            </a:br>
            <a:r>
              <a:rPr lang="en-US" sz="2800" dirty="0">
                <a:solidFill>
                  <a:srgbClr val="800000"/>
                </a:solidFill>
              </a:rPr>
              <a:t>	A – B = A + (-B)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Take 1s-complement of B.</a:t>
            </a:r>
          </a:p>
          <a:p>
            <a:pPr marL="839788" lvl="1" indent="-495300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</a:pPr>
            <a:r>
              <a:rPr lang="en-US" dirty="0"/>
              <a:t>Add the 1s-complement of B to A.</a:t>
            </a:r>
          </a:p>
          <a:p>
            <a:pPr marL="571500" indent="-571500" fontAlgn="auto">
              <a:spcAft>
                <a:spcPts val="0"/>
              </a:spcAft>
              <a:buFont typeface="Wingdings" pitchFamily="2" charset="2"/>
              <a:buNone/>
            </a:pP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4ED218-5C17-E74E-A906-EA3304D59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 dirty="0"/>
              <a:t>10.7 Negative Numbers:</a:t>
            </a:r>
            <a:br>
              <a:rPr lang="en-US" dirty="0"/>
            </a:br>
            <a:r>
              <a:rPr lang="en-US" dirty="0"/>
              <a:t>1’s Complement on Additions and Subtractions.</a:t>
            </a:r>
          </a:p>
        </p:txBody>
      </p:sp>
    </p:spTree>
    <p:extLst>
      <p:ext uri="{BB962C8B-B14F-4D97-AF65-F5344CB8AC3E}">
        <p14:creationId xmlns:p14="http://schemas.microsoft.com/office/powerpoint/2010/main" val="9856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335631"/>
            <a:ext cx="8229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Examples: 4-bit system</a:t>
            </a:r>
            <a:endParaRPr lang="en-US" dirty="0"/>
          </a:p>
          <a:p>
            <a:pPr marL="571500" indent="-571500" fontAlgn="auto">
              <a:spcAft>
                <a:spcPts val="0"/>
              </a:spcAft>
              <a:buFont typeface="Wingdings" pitchFamily="2" charset="2"/>
              <a:buNone/>
            </a:pP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762000" y="1864880"/>
            <a:ext cx="2667000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+3       0011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+4     + 0100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+7     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0111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4876800" y="1875431"/>
            <a:ext cx="2667000" cy="139076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+5       0101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-5     + 1010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-0     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1111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62000" y="3502196"/>
            <a:ext cx="2667000" cy="216982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-2      1101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-5    + 1010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-7     </a:t>
            </a:r>
            <a:r>
              <a:rPr lang="en-US" b="1" dirty="0">
                <a:solidFill>
                  <a:srgbClr val="CC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0111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+    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------- 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  1000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-------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4876800" y="3502195"/>
            <a:ext cx="2667000" cy="2169825"/>
          </a:xfrm>
          <a:prstGeom prst="rect">
            <a:avLst/>
          </a:prstGeom>
          <a:solidFill>
            <a:srgbClr val="FFFFCC"/>
          </a:solidFill>
          <a:ln w="12700">
            <a:solidFill>
              <a:srgbClr val="660033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-3       1100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+ -7     + 1000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-10      </a:t>
            </a:r>
            <a:r>
              <a:rPr lang="en-US" b="1" dirty="0">
                <a:solidFill>
                  <a:srgbClr val="CC0000"/>
                </a:solidFill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0100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----     +    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 -------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   0101</a:t>
            </a:r>
          </a:p>
          <a:p>
            <a:pPr eaLnBrk="0" hangingPunct="0">
              <a:lnSpc>
                <a:spcPct val="85000"/>
              </a:lnSpc>
              <a:spcBef>
                <a:spcPct val="10000"/>
              </a:spcBef>
            </a:pPr>
            <a:r>
              <a:rPr lang="en-US" b="1" dirty="0">
                <a:latin typeface="Courier New" pitchFamily="49" charset="0"/>
              </a:rPr>
              <a:t>          -------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47367" y="5848532"/>
            <a:ext cx="242365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Any overflow?</a:t>
            </a:r>
            <a:endParaRPr lang="en-SG" sz="2400" dirty="0">
              <a:solidFill>
                <a:srgbClr val="7030A0"/>
              </a:solidFill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365989" y="2810656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7498374" y="2810656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378738" y="5118877"/>
            <a:ext cx="1548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No overflow</a:t>
            </a:r>
            <a:endParaRPr lang="en-SG" dirty="0">
              <a:solidFill>
                <a:srgbClr val="0000CC"/>
              </a:solidFill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485039" y="5118877"/>
            <a:ext cx="13118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Overflow!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F6881E0B-124E-4F5E-A67B-A163AF2F6DB2}"/>
              </a:ext>
            </a:extLst>
          </p:cNvPr>
          <p:cNvSpPr txBox="1">
            <a:spLocks noChangeArrowheads="1"/>
          </p:cNvSpPr>
          <p:nvPr/>
        </p:nvSpPr>
        <p:spPr>
          <a:xfrm>
            <a:off x="3052916" y="5900179"/>
            <a:ext cx="5786284" cy="82063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rgbClr val="006600"/>
                </a:solidFill>
              </a:rPr>
              <a:t>DLD page 42 – 43 Quick Review Questions</a:t>
            </a:r>
            <a:br>
              <a:rPr lang="en-US" dirty="0">
                <a:solidFill>
                  <a:srgbClr val="006600"/>
                </a:solidFill>
              </a:rPr>
            </a:br>
            <a:r>
              <a:rPr lang="en-US" dirty="0" err="1">
                <a:solidFill>
                  <a:srgbClr val="006600"/>
                </a:solidFill>
              </a:rPr>
              <a:t>Questions</a:t>
            </a:r>
            <a:r>
              <a:rPr lang="en-US" dirty="0">
                <a:solidFill>
                  <a:srgbClr val="006600"/>
                </a:solidFill>
              </a:rPr>
              <a:t> 2-13 to 2-18.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8DDC834-DD5B-6140-AE02-49AD05DB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10.7 Negative Numbers:</a:t>
            </a:r>
            <a:br>
              <a:rPr lang="en-US" dirty="0"/>
            </a:br>
            <a:r>
              <a:rPr lang="en-US" dirty="0"/>
              <a:t>1’s Complement Addition</a:t>
            </a:r>
          </a:p>
        </p:txBody>
      </p:sp>
    </p:spTree>
    <p:extLst>
      <p:ext uri="{BB962C8B-B14F-4D97-AF65-F5344CB8AC3E}">
        <p14:creationId xmlns:p14="http://schemas.microsoft.com/office/powerpoint/2010/main" val="233705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44</a:t>
            </a:fld>
            <a:endParaRPr dirty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57199" y="1565229"/>
            <a:ext cx="4925961" cy="4144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ct val="30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Besides sign-and-magnitude and complement schemes, the </a:t>
            </a:r>
            <a:r>
              <a:rPr lang="en-US" sz="2200" b="1" dirty="0">
                <a:solidFill>
                  <a:srgbClr val="800000"/>
                </a:solidFill>
              </a:rPr>
              <a:t>excess representation</a:t>
            </a:r>
            <a:r>
              <a:rPr lang="en-US" sz="2200" dirty="0"/>
              <a:t> is another scheme.</a:t>
            </a:r>
          </a:p>
          <a:p>
            <a:pPr marL="265113" indent="-265113" fontAlgn="auto">
              <a:spcBef>
                <a:spcPts val="600"/>
              </a:spcBef>
              <a:spcAft>
                <a:spcPct val="30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It allows the range of values to be distributed </a:t>
            </a:r>
            <a:r>
              <a:rPr lang="en-US" sz="2200" u="sng" dirty="0"/>
              <a:t>evenly</a:t>
            </a:r>
            <a:r>
              <a:rPr lang="en-US" sz="2200" dirty="0"/>
              <a:t> between the positive and negative values, by a simple translation (addition/subtraction).</a:t>
            </a:r>
          </a:p>
          <a:p>
            <a:pPr marL="265113" indent="-265113" fontAlgn="auto">
              <a:spcBef>
                <a:spcPts val="600"/>
              </a:spcBef>
              <a:spcAft>
                <a:spcPct val="30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</a:t>
            </a:r>
            <a:r>
              <a:rPr lang="en-US" sz="2200" dirty="0">
                <a:solidFill>
                  <a:srgbClr val="0000CC"/>
                </a:solidFill>
              </a:rPr>
              <a:t>Excess-4 representation on 3-bit numbers. </a:t>
            </a:r>
            <a:r>
              <a:rPr lang="en-US" sz="2200" dirty="0"/>
              <a:t>See table on the right.</a:t>
            </a:r>
          </a:p>
        </p:txBody>
      </p:sp>
      <p:graphicFrame>
        <p:nvGraphicFramePr>
          <p:cNvPr id="18" name="Group 50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23026348"/>
              </p:ext>
            </p:extLst>
          </p:nvPr>
        </p:nvGraphicFramePr>
        <p:xfrm>
          <a:off x="5663380" y="1537481"/>
          <a:ext cx="2743200" cy="4171952"/>
        </p:xfrm>
        <a:graphic>
          <a:graphicData uri="http://schemas.openxmlformats.org/drawingml/2006/table">
            <a:tbl>
              <a:tblPr/>
              <a:tblGrid>
                <a:gridCol w="166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Excess-4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Representation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Rectangle 48"/>
          <p:cNvSpPr>
            <a:spLocks noChangeArrowheads="1"/>
          </p:cNvSpPr>
          <p:nvPr/>
        </p:nvSpPr>
        <p:spPr bwMode="auto">
          <a:xfrm>
            <a:off x="604683" y="5845612"/>
            <a:ext cx="6939117" cy="74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7030A0"/>
                </a:solidFill>
              </a:rPr>
              <a:t>Questions: What if we use Excess-2 on 3-bit numbers? Or Excess-7?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7181A4-2DFA-3E4B-B7CE-CB7D7F2C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10.8 Negative Numbers:</a:t>
            </a:r>
            <a:br>
              <a:rPr lang="en-US" dirty="0"/>
            </a:br>
            <a:r>
              <a:rPr lang="en-US" dirty="0"/>
              <a:t>Excess Notation</a:t>
            </a:r>
          </a:p>
        </p:txBody>
      </p:sp>
    </p:spTree>
    <p:extLst>
      <p:ext uri="{BB962C8B-B14F-4D97-AF65-F5344CB8AC3E}">
        <p14:creationId xmlns:p14="http://schemas.microsoft.com/office/powerpoint/2010/main" val="111967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bldLvl="2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45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423219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For 4-bit numbers, we may use excess-7 or excess-8. Excess-8 is shown below.</a:t>
            </a:r>
          </a:p>
        </p:txBody>
      </p:sp>
      <p:graphicFrame>
        <p:nvGraphicFramePr>
          <p:cNvPr id="10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796625"/>
              </p:ext>
            </p:extLst>
          </p:nvPr>
        </p:nvGraphicFramePr>
        <p:xfrm>
          <a:off x="1379538" y="2413819"/>
          <a:ext cx="2582862" cy="3558541"/>
        </p:xfrm>
        <a:graphic>
          <a:graphicData uri="http://schemas.openxmlformats.org/drawingml/2006/table">
            <a:tbl>
              <a:tblPr/>
              <a:tblGrid>
                <a:gridCol w="177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Excess-8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Representation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440851"/>
              </p:ext>
            </p:extLst>
          </p:nvPr>
        </p:nvGraphicFramePr>
        <p:xfrm>
          <a:off x="4572000" y="2413819"/>
          <a:ext cx="2582863" cy="3603626"/>
        </p:xfrm>
        <a:graphic>
          <a:graphicData uri="http://schemas.openxmlformats.org/drawingml/2006/table">
            <a:tbl>
              <a:tblPr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Excess-8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Representation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C4FF8885-32B2-1F49-981D-E8EEDA33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10.8 Negative Numbers:</a:t>
            </a:r>
            <a:br>
              <a:rPr lang="en-US" dirty="0"/>
            </a:br>
            <a:r>
              <a:rPr lang="en-US" dirty="0"/>
              <a:t>Excess Notation</a:t>
            </a:r>
          </a:p>
        </p:txBody>
      </p:sp>
    </p:spTree>
    <p:extLst>
      <p:ext uri="{BB962C8B-B14F-4D97-AF65-F5344CB8AC3E}">
        <p14:creationId xmlns:p14="http://schemas.microsoft.com/office/powerpoint/2010/main" val="18591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46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474514"/>
            <a:ext cx="8229600" cy="3082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Many applications involve computations not only on integers but also on real numbers.</a:t>
            </a:r>
          </a:p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How are real numbers represented in a computer system?</a:t>
            </a:r>
          </a:p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Due to the finite number of bits, real number are often represented in their approximate values. </a:t>
            </a:r>
            <a:endParaRPr lang="en-US" sz="28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1123C49-FF8C-9649-ADEB-E6165FB7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11 Real Numbers</a:t>
            </a:r>
          </a:p>
        </p:txBody>
      </p:sp>
    </p:spTree>
    <p:extLst>
      <p:ext uri="{BB962C8B-B14F-4D97-AF65-F5344CB8AC3E}">
        <p14:creationId xmlns:p14="http://schemas.microsoft.com/office/powerpoint/2010/main" val="2234356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47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356526"/>
            <a:ext cx="8229600" cy="2138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In </a:t>
            </a:r>
            <a:r>
              <a:rPr lang="en-SG" dirty="0">
                <a:solidFill>
                  <a:srgbClr val="C00000"/>
                </a:solidFill>
              </a:rPr>
              <a:t>fixed-point representation</a:t>
            </a:r>
            <a:r>
              <a:rPr lang="en-SG" dirty="0"/>
              <a:t>, the number of bits allocated for the whole number part and fractional part are fixed.</a:t>
            </a:r>
          </a:p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For example, given an 8-bit representation, 6 bits are for whole number part and 2 bits for fractional parts.</a:t>
            </a:r>
            <a:endParaRPr lang="en-US" dirty="0"/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2337620" y="3518718"/>
            <a:ext cx="4953000" cy="1463675"/>
            <a:chOff x="1584" y="1728"/>
            <a:chExt cx="3120" cy="922"/>
          </a:xfrm>
        </p:grpSpPr>
        <p:sp>
          <p:nvSpPr>
            <p:cNvPr id="8" name="Line 19"/>
            <p:cNvSpPr>
              <a:spLocks noChangeShapeType="1"/>
            </p:cNvSpPr>
            <p:nvPr/>
          </p:nvSpPr>
          <p:spPr bwMode="auto">
            <a:xfrm flipV="1">
              <a:off x="3600" y="2112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736" y="2400"/>
              <a:ext cx="196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 dirty="0"/>
                <a:t>assumed binary point</a:t>
              </a: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2064" y="2208"/>
              <a:ext cx="94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integer part</a:t>
              </a:r>
            </a:p>
          </p:txBody>
        </p: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3600" y="2160"/>
              <a:ext cx="987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fraction part</a:t>
              </a:r>
            </a:p>
          </p:txBody>
        </p:sp>
        <p:grpSp>
          <p:nvGrpSpPr>
            <p:cNvPr id="15" name="Group 39"/>
            <p:cNvGrpSpPr>
              <a:grpSpLocks/>
            </p:cNvGrpSpPr>
            <p:nvPr/>
          </p:nvGrpSpPr>
          <p:grpSpPr bwMode="auto">
            <a:xfrm>
              <a:off x="1584" y="1728"/>
              <a:ext cx="2693" cy="336"/>
              <a:chOff x="1296" y="1872"/>
              <a:chExt cx="2693" cy="336"/>
            </a:xfrm>
          </p:grpSpPr>
          <p:grpSp>
            <p:nvGrpSpPr>
              <p:cNvPr id="18" name="Group 29"/>
              <p:cNvGrpSpPr>
                <a:grpSpLocks/>
              </p:cNvGrpSpPr>
              <p:nvPr/>
            </p:nvGrpSpPr>
            <p:grpSpPr bwMode="auto">
              <a:xfrm>
                <a:off x="3312" y="1872"/>
                <a:ext cx="677" cy="336"/>
                <a:chOff x="3312" y="1872"/>
                <a:chExt cx="677" cy="336"/>
              </a:xfrm>
            </p:grpSpPr>
            <p:sp>
              <p:nvSpPr>
                <p:cNvPr id="29" name="Rectangle 16"/>
                <p:cNvSpPr>
                  <a:spLocks noChangeArrowheads="1"/>
                </p:cNvSpPr>
                <p:nvPr/>
              </p:nvSpPr>
              <p:spPr bwMode="auto">
                <a:xfrm>
                  <a:off x="3648" y="1872"/>
                  <a:ext cx="341" cy="336"/>
                </a:xfrm>
                <a:prstGeom prst="rect">
                  <a:avLst/>
                </a:prstGeom>
                <a:solidFill>
                  <a:srgbClr val="CCFFCC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30" name="Rectangle 28"/>
                <p:cNvSpPr>
                  <a:spLocks noChangeArrowheads="1"/>
                </p:cNvSpPr>
                <p:nvPr/>
              </p:nvSpPr>
              <p:spPr bwMode="auto">
                <a:xfrm>
                  <a:off x="3312" y="1872"/>
                  <a:ext cx="341" cy="336"/>
                </a:xfrm>
                <a:prstGeom prst="rect">
                  <a:avLst/>
                </a:prstGeom>
                <a:solidFill>
                  <a:srgbClr val="CCFFCC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</p:grpSp>
          <p:grpSp>
            <p:nvGrpSpPr>
              <p:cNvPr id="19" name="Group 30"/>
              <p:cNvGrpSpPr>
                <a:grpSpLocks/>
              </p:cNvGrpSpPr>
              <p:nvPr/>
            </p:nvGrpSpPr>
            <p:grpSpPr bwMode="auto">
              <a:xfrm>
                <a:off x="2640" y="1872"/>
                <a:ext cx="677" cy="336"/>
                <a:chOff x="3312" y="1872"/>
                <a:chExt cx="677" cy="336"/>
              </a:xfrm>
            </p:grpSpPr>
            <p:sp>
              <p:nvSpPr>
                <p:cNvPr id="27" name="Rectangle 31"/>
                <p:cNvSpPr>
                  <a:spLocks noChangeArrowheads="1"/>
                </p:cNvSpPr>
                <p:nvPr/>
              </p:nvSpPr>
              <p:spPr bwMode="auto">
                <a:xfrm>
                  <a:off x="3648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28" name="Rectangle 32"/>
                <p:cNvSpPr>
                  <a:spLocks noChangeArrowheads="1"/>
                </p:cNvSpPr>
                <p:nvPr/>
              </p:nvSpPr>
              <p:spPr bwMode="auto">
                <a:xfrm>
                  <a:off x="3312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</p:grpSp>
          <p:grpSp>
            <p:nvGrpSpPr>
              <p:cNvPr id="20" name="Group 33"/>
              <p:cNvGrpSpPr>
                <a:grpSpLocks/>
              </p:cNvGrpSpPr>
              <p:nvPr/>
            </p:nvGrpSpPr>
            <p:grpSpPr bwMode="auto">
              <a:xfrm>
                <a:off x="1968" y="1872"/>
                <a:ext cx="677" cy="336"/>
                <a:chOff x="3312" y="1872"/>
                <a:chExt cx="677" cy="336"/>
              </a:xfrm>
            </p:grpSpPr>
            <p:sp>
              <p:nvSpPr>
                <p:cNvPr id="25" name="Rectangle 34"/>
                <p:cNvSpPr>
                  <a:spLocks noChangeArrowheads="1"/>
                </p:cNvSpPr>
                <p:nvPr/>
              </p:nvSpPr>
              <p:spPr bwMode="auto">
                <a:xfrm>
                  <a:off x="3648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26" name="Rectangle 35"/>
                <p:cNvSpPr>
                  <a:spLocks noChangeArrowheads="1"/>
                </p:cNvSpPr>
                <p:nvPr/>
              </p:nvSpPr>
              <p:spPr bwMode="auto">
                <a:xfrm>
                  <a:off x="3312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</p:grpSp>
          <p:grpSp>
            <p:nvGrpSpPr>
              <p:cNvPr id="22" name="Group 36"/>
              <p:cNvGrpSpPr>
                <a:grpSpLocks/>
              </p:cNvGrpSpPr>
              <p:nvPr/>
            </p:nvGrpSpPr>
            <p:grpSpPr bwMode="auto">
              <a:xfrm>
                <a:off x="1296" y="1872"/>
                <a:ext cx="677" cy="336"/>
                <a:chOff x="3312" y="1872"/>
                <a:chExt cx="677" cy="336"/>
              </a:xfrm>
            </p:grpSpPr>
            <p:sp>
              <p:nvSpPr>
                <p:cNvPr id="23" name="Rectangle 37"/>
                <p:cNvSpPr>
                  <a:spLocks noChangeArrowheads="1"/>
                </p:cNvSpPr>
                <p:nvPr/>
              </p:nvSpPr>
              <p:spPr bwMode="auto">
                <a:xfrm>
                  <a:off x="3648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24" name="Rectangle 38"/>
                <p:cNvSpPr>
                  <a:spLocks noChangeArrowheads="1"/>
                </p:cNvSpPr>
                <p:nvPr/>
              </p:nvSpPr>
              <p:spPr bwMode="auto">
                <a:xfrm>
                  <a:off x="3312" y="1872"/>
                  <a:ext cx="341" cy="33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</p:grpSp>
        </p:grpSp>
        <p:sp>
          <p:nvSpPr>
            <p:cNvPr id="16" name="AutoShape 40"/>
            <p:cNvSpPr>
              <a:spLocks/>
            </p:cNvSpPr>
            <p:nvPr/>
          </p:nvSpPr>
          <p:spPr bwMode="auto">
            <a:xfrm rot="-5400000">
              <a:off x="3936" y="1824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AutoShape 41"/>
            <p:cNvSpPr>
              <a:spLocks/>
            </p:cNvSpPr>
            <p:nvPr/>
          </p:nvSpPr>
          <p:spPr bwMode="auto">
            <a:xfrm rot="-5400000">
              <a:off x="2520" y="1176"/>
              <a:ext cx="96" cy="1968"/>
            </a:xfrm>
            <a:prstGeom prst="leftBrace">
              <a:avLst>
                <a:gd name="adj1" fmla="val 170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609600" y="5114129"/>
            <a:ext cx="8229600" cy="1389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2s complement is used, we can represent values like</a:t>
            </a:r>
            <a:r>
              <a:rPr lang="en-SG" dirty="0"/>
              <a:t>:</a:t>
            </a:r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	011010.11</a:t>
            </a:r>
            <a:r>
              <a:rPr lang="en-SG" baseline="-25000" dirty="0"/>
              <a:t>2s</a:t>
            </a:r>
            <a:r>
              <a:rPr lang="en-SG" dirty="0"/>
              <a:t> = 26.75</a:t>
            </a:r>
            <a:r>
              <a:rPr lang="en-SG" baseline="-25000" dirty="0"/>
              <a:t>10</a:t>
            </a:r>
            <a:endParaRPr lang="en-SG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	111110.11</a:t>
            </a:r>
            <a:r>
              <a:rPr lang="en-SG" baseline="-25000" dirty="0"/>
              <a:t>2s</a:t>
            </a:r>
            <a:r>
              <a:rPr lang="en-SG" dirty="0"/>
              <a:t> = -000001.01</a:t>
            </a:r>
            <a:r>
              <a:rPr lang="en-SG" baseline="-25000" dirty="0"/>
              <a:t>2</a:t>
            </a:r>
            <a:r>
              <a:rPr lang="en-SG" dirty="0"/>
              <a:t> = -1.25</a:t>
            </a:r>
            <a:r>
              <a:rPr lang="en-SG" baseline="-25000" dirty="0"/>
              <a:t>10</a:t>
            </a:r>
            <a:endParaRPr lang="en-SG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D5DFFA04-C35A-EE45-8AAD-DB0B9EE18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11.1 Real Numbers</a:t>
            </a:r>
            <a:br>
              <a:rPr lang="en-US" dirty="0"/>
            </a:br>
            <a:r>
              <a:rPr lang="en-US" dirty="0"/>
              <a:t>Fixed Point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63137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48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523674"/>
            <a:ext cx="8229600" cy="3259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Fixed-point representation has limited range.</a:t>
            </a:r>
          </a:p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Alternative:</a:t>
            </a:r>
            <a:r>
              <a:rPr lang="en-US" dirty="0">
                <a:solidFill>
                  <a:srgbClr val="800000"/>
                </a:solidFill>
              </a:rPr>
              <a:t> Floating point numbers</a:t>
            </a:r>
            <a:r>
              <a:rPr lang="en-US" dirty="0"/>
              <a:t> allow us to represent very large or very small numbers</a:t>
            </a:r>
            <a:r>
              <a:rPr lang="en-SG" dirty="0"/>
              <a:t>.</a:t>
            </a:r>
          </a:p>
          <a:p>
            <a:pPr marL="354013" indent="-3540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Examples:</a:t>
            </a:r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	</a:t>
            </a:r>
            <a:r>
              <a:rPr lang="en-US" dirty="0">
                <a:solidFill>
                  <a:srgbClr val="800000"/>
                </a:solidFill>
              </a:rPr>
              <a:t> 0.23 × 10</a:t>
            </a:r>
            <a:r>
              <a:rPr lang="en-US" baseline="30000" dirty="0">
                <a:solidFill>
                  <a:srgbClr val="800000"/>
                </a:solidFill>
              </a:rPr>
              <a:t>23</a:t>
            </a:r>
            <a:r>
              <a:rPr lang="en-US" dirty="0">
                <a:solidFill>
                  <a:srgbClr val="800000"/>
                </a:solidFill>
              </a:rPr>
              <a:t> </a:t>
            </a:r>
            <a:r>
              <a:rPr lang="en-US" dirty="0"/>
              <a:t>(very large positive number)</a:t>
            </a:r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	</a:t>
            </a:r>
            <a:r>
              <a:rPr lang="en-US" dirty="0">
                <a:solidFill>
                  <a:srgbClr val="800000"/>
                </a:solidFill>
              </a:rPr>
              <a:t> 0.5 × 10</a:t>
            </a:r>
            <a:r>
              <a:rPr lang="en-US" baseline="30000" dirty="0">
                <a:solidFill>
                  <a:srgbClr val="800000"/>
                </a:solidFill>
              </a:rPr>
              <a:t>-37</a:t>
            </a:r>
            <a:r>
              <a:rPr lang="en-US" dirty="0">
                <a:solidFill>
                  <a:srgbClr val="800000"/>
                </a:solidFill>
              </a:rPr>
              <a:t> </a:t>
            </a:r>
            <a:r>
              <a:rPr lang="en-US" dirty="0"/>
              <a:t>(very small positive number)</a:t>
            </a:r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SG" dirty="0"/>
              <a:t>	</a:t>
            </a:r>
            <a:r>
              <a:rPr lang="en-US" dirty="0">
                <a:solidFill>
                  <a:srgbClr val="800000"/>
                </a:solidFill>
              </a:rPr>
              <a:t> -0.2397 × 10</a:t>
            </a:r>
            <a:r>
              <a:rPr lang="en-US" baseline="30000" dirty="0">
                <a:solidFill>
                  <a:srgbClr val="800000"/>
                </a:solidFill>
              </a:rPr>
              <a:t>-18</a:t>
            </a:r>
            <a:r>
              <a:rPr lang="en-US" dirty="0">
                <a:solidFill>
                  <a:srgbClr val="800000"/>
                </a:solidFill>
              </a:rPr>
              <a:t> </a:t>
            </a:r>
            <a:r>
              <a:rPr lang="en-US" dirty="0"/>
              <a:t>(very small negative number)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37F5AB-3825-144F-A270-BA494BF4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11.2 Real Numbers</a:t>
            </a:r>
            <a:br>
              <a:rPr lang="en-US" dirty="0"/>
            </a:br>
            <a:r>
              <a:rPr lang="en-US" dirty="0"/>
              <a:t>Floating Point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2590591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49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199" y="1379545"/>
            <a:ext cx="8229600" cy="48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3 components: </a:t>
            </a:r>
            <a:r>
              <a:rPr lang="en-US" b="1" dirty="0">
                <a:solidFill>
                  <a:srgbClr val="800000"/>
                </a:solidFill>
              </a:rPr>
              <a:t>sign</a:t>
            </a:r>
            <a:r>
              <a:rPr lang="en-US" dirty="0"/>
              <a:t>, </a:t>
            </a:r>
            <a:r>
              <a:rPr lang="en-US" b="1" dirty="0">
                <a:solidFill>
                  <a:srgbClr val="800000"/>
                </a:solidFill>
              </a:rPr>
              <a:t>exponent</a:t>
            </a:r>
            <a:r>
              <a:rPr lang="en-US" dirty="0"/>
              <a:t> and </a:t>
            </a:r>
            <a:r>
              <a:rPr lang="en-US" b="1" dirty="0">
                <a:solidFill>
                  <a:srgbClr val="800000"/>
                </a:solidFill>
              </a:rPr>
              <a:t>mantissa (fraction)</a:t>
            </a:r>
          </a:p>
        </p:txBody>
      </p: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1893225" y="1938403"/>
            <a:ext cx="5087938" cy="504825"/>
            <a:chOff x="1355" y="1872"/>
            <a:chExt cx="3205" cy="318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728" y="1872"/>
              <a:ext cx="848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392" y="1872"/>
              <a:ext cx="336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576" y="1872"/>
              <a:ext cx="1984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355" y="1920"/>
              <a:ext cx="432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sign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131" y="1908"/>
              <a:ext cx="864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 dirty="0"/>
                <a:t>mantissa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808" y="1920"/>
              <a:ext cx="768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 dirty="0"/>
                <a:t>exponent</a:t>
              </a:r>
            </a:p>
          </p:txBody>
        </p:sp>
      </p:grp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52672" y="2616924"/>
            <a:ext cx="8305800" cy="2862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The base (radix) is assumed to be 2.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Two formats:</a:t>
            </a:r>
          </a:p>
          <a:p>
            <a:pPr lvl="1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rgbClr val="0000CC"/>
                </a:solidFill>
              </a:rPr>
              <a:t>Single-precision (32 bits): </a:t>
            </a:r>
            <a:r>
              <a:rPr lang="en-US" sz="2000" kern="0" dirty="0"/>
              <a:t>1-bit sign, 8-bit exponent with bias 127 (excess-127), 23-bit mantissa</a:t>
            </a:r>
          </a:p>
          <a:p>
            <a:pPr lvl="1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rgbClr val="0000CC"/>
                </a:solidFill>
              </a:rPr>
              <a:t>Double-precision (64 bits): </a:t>
            </a:r>
            <a:r>
              <a:rPr lang="en-US" sz="2000" kern="0" dirty="0"/>
              <a:t>1-bit sign, 11-bit exponent with bias 1023 (excess-1023), and 52-bit mantissa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We will focus on the single-precision format</a:t>
            </a:r>
          </a:p>
          <a:p>
            <a:pPr lvl="1" eaLnBrk="1" hangingPunct="1"/>
            <a:endParaRPr lang="en-US" sz="2000" kern="0" dirty="0"/>
          </a:p>
          <a:p>
            <a:pPr lvl="1" eaLnBrk="1" hangingPunct="1"/>
            <a:endParaRPr lang="en-US" sz="2000" kern="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856EB28-11F1-3E42-9DFA-75D47575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11.2 Real Numbers</a:t>
            </a:r>
            <a:br>
              <a:rPr lang="en-US" dirty="0"/>
            </a:br>
            <a:r>
              <a:rPr lang="en-US" dirty="0"/>
              <a:t>Floating Point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2667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50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199" y="1527031"/>
            <a:ext cx="8229600" cy="486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013" indent="-3540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3 components: </a:t>
            </a:r>
            <a:r>
              <a:rPr lang="en-US" b="1" dirty="0">
                <a:solidFill>
                  <a:srgbClr val="800000"/>
                </a:solidFill>
              </a:rPr>
              <a:t>sign</a:t>
            </a:r>
            <a:r>
              <a:rPr lang="en-US" dirty="0"/>
              <a:t>, </a:t>
            </a:r>
            <a:r>
              <a:rPr lang="en-US" b="1" dirty="0">
                <a:solidFill>
                  <a:srgbClr val="800000"/>
                </a:solidFill>
              </a:rPr>
              <a:t>exponent</a:t>
            </a:r>
            <a:r>
              <a:rPr lang="en-US" dirty="0"/>
              <a:t> and </a:t>
            </a:r>
            <a:r>
              <a:rPr lang="en-US" b="1" dirty="0">
                <a:solidFill>
                  <a:srgbClr val="800000"/>
                </a:solidFill>
              </a:rPr>
              <a:t>mantissa (fraction)</a:t>
            </a:r>
          </a:p>
        </p:txBody>
      </p: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1893225" y="2085889"/>
            <a:ext cx="5087938" cy="504825"/>
            <a:chOff x="1355" y="1872"/>
            <a:chExt cx="3205" cy="318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728" y="1872"/>
              <a:ext cx="848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392" y="1872"/>
              <a:ext cx="336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576" y="1872"/>
              <a:ext cx="1984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355" y="1920"/>
              <a:ext cx="432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/>
                <a:t>sign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131" y="1908"/>
              <a:ext cx="864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 dirty="0"/>
                <a:t>mantissa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808" y="1920"/>
              <a:ext cx="768" cy="2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sz="2000" dirty="0"/>
                <a:t>exponent</a:t>
              </a:r>
            </a:p>
          </p:txBody>
        </p:sp>
      </p:grp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52672" y="2764410"/>
            <a:ext cx="8305800" cy="2466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Sign bit: 0 for positive, 1 for negative.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Mantissa is </a:t>
            </a:r>
            <a:r>
              <a:rPr lang="en-US" sz="2400" b="1" dirty="0" err="1">
                <a:solidFill>
                  <a:srgbClr val="800000"/>
                </a:solidFill>
              </a:rPr>
              <a:t>normalised</a:t>
            </a:r>
            <a:r>
              <a:rPr lang="en-US" sz="2400" dirty="0"/>
              <a:t> with an implicit leading bit 1</a:t>
            </a:r>
            <a:endParaRPr lang="en-US" sz="2400" kern="0" dirty="0"/>
          </a:p>
          <a:p>
            <a:pPr lvl="1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110.1</a:t>
            </a:r>
            <a:r>
              <a:rPr lang="en-US" sz="2000" baseline="-25000" dirty="0"/>
              <a:t>2</a:t>
            </a:r>
            <a:r>
              <a:rPr lang="en-US" sz="2000" b="1" dirty="0"/>
              <a:t> 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 err="1">
                <a:solidFill>
                  <a:srgbClr val="800000"/>
                </a:solidFill>
                <a:sym typeface="Wingdings" pitchFamily="2" charset="2"/>
              </a:rPr>
              <a:t>normalised</a:t>
            </a:r>
            <a:r>
              <a:rPr lang="en-US" sz="2000" dirty="0">
                <a:solidFill>
                  <a:srgbClr val="800000"/>
                </a:solidFill>
                <a:sym typeface="Wingdings" pitchFamily="2" charset="2"/>
              </a:rPr>
              <a:t> </a:t>
            </a:r>
            <a:r>
              <a:rPr lang="en-US" sz="2000" dirty="0">
                <a:sym typeface="Wingdings" pitchFamily="2" charset="2"/>
              </a:rPr>
              <a:t> 1.</a:t>
            </a:r>
            <a:r>
              <a:rPr lang="en-US" sz="2000" dirty="0">
                <a:solidFill>
                  <a:srgbClr val="0000CC"/>
                </a:solidFill>
                <a:sym typeface="Wingdings" pitchFamily="2" charset="2"/>
              </a:rPr>
              <a:t>101</a:t>
            </a:r>
            <a:r>
              <a:rPr lang="en-US" sz="2000" baseline="-25000" dirty="0">
                <a:solidFill>
                  <a:srgbClr val="0000CC"/>
                </a:solidFill>
                <a:sym typeface="Wingdings" pitchFamily="2" charset="2"/>
              </a:rPr>
              <a:t>2</a:t>
            </a:r>
            <a:r>
              <a:rPr lang="en-US" sz="2000" dirty="0">
                <a:sym typeface="Wingdings" pitchFamily="2" charset="2"/>
              </a:rPr>
              <a:t> </a:t>
            </a:r>
            <a:r>
              <a:rPr lang="en-US" sz="2000" dirty="0"/>
              <a:t>× 2</a:t>
            </a:r>
            <a:r>
              <a:rPr lang="en-US" sz="2000" baseline="30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only </a:t>
            </a:r>
            <a:r>
              <a:rPr lang="en-US" sz="2000" b="1" dirty="0">
                <a:solidFill>
                  <a:srgbClr val="0000CC"/>
                </a:solidFill>
                <a:sym typeface="Wingdings" panose="05000000000000000000" pitchFamily="2" charset="2"/>
              </a:rPr>
              <a:t>101</a:t>
            </a:r>
            <a:r>
              <a:rPr lang="en-US" sz="2000" dirty="0">
                <a:sym typeface="Wingdings" panose="05000000000000000000" pitchFamily="2" charset="2"/>
              </a:rPr>
              <a:t> is stored in the mantissa fie</a:t>
            </a:r>
            <a:r>
              <a:rPr lang="en-US" sz="2000" kern="0" dirty="0">
                <a:sym typeface="Wingdings" panose="05000000000000000000" pitchFamily="2" charset="2"/>
              </a:rPr>
              <a:t>ld</a:t>
            </a:r>
            <a:endParaRPr lang="en-US" sz="2000" kern="0" dirty="0"/>
          </a:p>
          <a:p>
            <a:pPr lvl="1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0.00101101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 err="1">
                <a:solidFill>
                  <a:srgbClr val="800000"/>
                </a:solidFill>
                <a:sym typeface="Wingdings" pitchFamily="2" charset="2"/>
              </a:rPr>
              <a:t>normalised</a:t>
            </a:r>
            <a:r>
              <a:rPr lang="en-US" sz="2000" dirty="0">
                <a:solidFill>
                  <a:srgbClr val="800000"/>
                </a:solidFill>
                <a:sym typeface="Wingdings" pitchFamily="2" charset="2"/>
              </a:rPr>
              <a:t> </a:t>
            </a:r>
            <a:r>
              <a:rPr lang="en-US" sz="2000" dirty="0">
                <a:sym typeface="Wingdings" pitchFamily="2" charset="2"/>
              </a:rPr>
              <a:t> 1.</a:t>
            </a:r>
            <a:r>
              <a:rPr lang="en-US" sz="2000" dirty="0">
                <a:solidFill>
                  <a:srgbClr val="0000CC"/>
                </a:solidFill>
                <a:sym typeface="Wingdings" pitchFamily="2" charset="2"/>
              </a:rPr>
              <a:t>01101</a:t>
            </a:r>
            <a:r>
              <a:rPr lang="en-US" sz="2000" baseline="-25000" dirty="0">
                <a:solidFill>
                  <a:srgbClr val="0000CC"/>
                </a:solidFill>
                <a:sym typeface="Wingdings" pitchFamily="2" charset="2"/>
              </a:rPr>
              <a:t>2</a:t>
            </a:r>
            <a:r>
              <a:rPr lang="en-US" sz="2000" dirty="0">
                <a:sym typeface="Wingdings" pitchFamily="2" charset="2"/>
              </a:rPr>
              <a:t> </a:t>
            </a:r>
            <a:r>
              <a:rPr lang="en-US" sz="2000" dirty="0"/>
              <a:t>× 2</a:t>
            </a:r>
            <a:r>
              <a:rPr lang="en-US" sz="2000" baseline="30000" dirty="0"/>
              <a:t>–3</a:t>
            </a:r>
            <a:r>
              <a:rPr lang="en-US" sz="2000" dirty="0"/>
              <a:t>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ym typeface="Wingdings" panose="05000000000000000000" pitchFamily="2" charset="2"/>
              </a:rPr>
              <a:t>only </a:t>
            </a:r>
            <a:r>
              <a:rPr lang="en-US" sz="2000" b="1" dirty="0">
                <a:solidFill>
                  <a:srgbClr val="0000CC"/>
                </a:solidFill>
                <a:sym typeface="Wingdings" panose="05000000000000000000" pitchFamily="2" charset="2"/>
              </a:rPr>
              <a:t>01101</a:t>
            </a:r>
            <a:r>
              <a:rPr lang="en-US" sz="2000" dirty="0">
                <a:sym typeface="Wingdings" panose="05000000000000000000" pitchFamily="2" charset="2"/>
              </a:rPr>
              <a:t> is stored in the mantissa field</a:t>
            </a:r>
            <a:endParaRPr lang="en-US" sz="2000" kern="0" dirty="0"/>
          </a:p>
          <a:p>
            <a:pPr lvl="1" eaLnBrk="1" hangingPunct="1"/>
            <a:endParaRPr lang="en-US" sz="2000" kern="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3B676FD-407B-A84E-885A-3185EA94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32" y="456538"/>
            <a:ext cx="6518763" cy="1143717"/>
          </a:xfrm>
        </p:spPr>
        <p:txBody>
          <a:bodyPr/>
          <a:lstStyle/>
          <a:p>
            <a:r>
              <a:rPr lang="en-US" dirty="0"/>
              <a:t>11.2 Real Numbers</a:t>
            </a:r>
            <a:br>
              <a:rPr lang="en-US" dirty="0"/>
            </a:br>
            <a:r>
              <a:rPr lang="en-US" dirty="0"/>
              <a:t>Floating Point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427221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4D2A2D8-A518-46FF-90CA-A8017CF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51</a:t>
            </a:fld>
            <a:endParaRPr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57200" y="1238102"/>
            <a:ext cx="8229600" cy="96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Example: How is </a:t>
            </a:r>
            <a:r>
              <a:rPr lang="en-US" sz="2400" kern="0" dirty="0">
                <a:solidFill>
                  <a:srgbClr val="0000CC"/>
                </a:solidFill>
              </a:rPr>
              <a:t>–6.5</a:t>
            </a:r>
            <a:r>
              <a:rPr lang="en-US" sz="2400" kern="0" baseline="-25000" dirty="0">
                <a:solidFill>
                  <a:srgbClr val="0000CC"/>
                </a:solidFill>
              </a:rPr>
              <a:t>10</a:t>
            </a:r>
            <a:r>
              <a:rPr lang="en-US" sz="2400" kern="0" dirty="0">
                <a:solidFill>
                  <a:srgbClr val="0000CC"/>
                </a:solidFill>
              </a:rPr>
              <a:t> </a:t>
            </a:r>
            <a:r>
              <a:rPr lang="en-US" sz="2400" kern="0" dirty="0"/>
              <a:t>represented in IEEE 754 single-precision floating-point format?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2024446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800000"/>
                </a:solidFill>
              </a:rPr>
              <a:t>-6.5</a:t>
            </a:r>
            <a:r>
              <a:rPr lang="en-US" sz="2800" baseline="-25000" dirty="0">
                <a:solidFill>
                  <a:srgbClr val="800000"/>
                </a:solidFill>
              </a:rPr>
              <a:t>10</a:t>
            </a:r>
            <a:r>
              <a:rPr lang="en-US" sz="2800" dirty="0">
                <a:solidFill>
                  <a:srgbClr val="800000"/>
                </a:solidFill>
              </a:rPr>
              <a:t> = -110.1</a:t>
            </a:r>
            <a:r>
              <a:rPr lang="en-US" sz="2800" baseline="-25000" dirty="0">
                <a:solidFill>
                  <a:srgbClr val="800000"/>
                </a:solidFill>
              </a:rPr>
              <a:t>2</a:t>
            </a:r>
            <a:r>
              <a:rPr lang="en-US" sz="2800" dirty="0">
                <a:solidFill>
                  <a:srgbClr val="800000"/>
                </a:solidFill>
              </a:rPr>
              <a:t> = -1.101</a:t>
            </a:r>
            <a:r>
              <a:rPr lang="en-US" sz="2800" baseline="-25000" dirty="0">
                <a:solidFill>
                  <a:srgbClr val="800000"/>
                </a:solidFill>
              </a:rPr>
              <a:t>2</a:t>
            </a:r>
            <a:r>
              <a:rPr lang="en-US" sz="2800" dirty="0">
                <a:solidFill>
                  <a:srgbClr val="800000"/>
                </a:solidFill>
              </a:rPr>
              <a:t> × 2</a:t>
            </a:r>
            <a:r>
              <a:rPr lang="en-US" sz="2800" baseline="30000" dirty="0">
                <a:solidFill>
                  <a:srgbClr val="800000"/>
                </a:solidFill>
              </a:rPr>
              <a:t>2</a:t>
            </a:r>
            <a:r>
              <a:rPr lang="en-US" sz="2800" dirty="0">
                <a:solidFill>
                  <a:srgbClr val="800000"/>
                </a:solidFill>
              </a:rPr>
              <a:t> 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261450" y="3173090"/>
            <a:ext cx="6891950" cy="993245"/>
            <a:chOff x="1261450" y="3673257"/>
            <a:chExt cx="6891950" cy="993245"/>
          </a:xfrm>
        </p:grpSpPr>
        <p:grpSp>
          <p:nvGrpSpPr>
            <p:cNvPr id="23" name="Group 22"/>
            <p:cNvGrpSpPr/>
            <p:nvPr/>
          </p:nvGrpSpPr>
          <p:grpSpPr>
            <a:xfrm>
              <a:off x="1295400" y="3673257"/>
              <a:ext cx="6858000" cy="457200"/>
              <a:chOff x="1295400" y="3673257"/>
              <a:chExt cx="6858000" cy="45720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295400" y="3673257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752600" y="3673257"/>
                <a:ext cx="17526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505200" y="3673257"/>
                <a:ext cx="4648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1261450" y="4143283"/>
              <a:ext cx="533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sign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5001" y="4143282"/>
              <a:ext cx="12659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exponent</a:t>
              </a:r>
            </a:p>
            <a:p>
              <a:pPr algn="ctr"/>
              <a:r>
                <a:rPr lang="en-SG" sz="1400" dirty="0"/>
                <a:t>(excess-127)</a:t>
              </a:r>
              <a:endParaRPr lang="en-US" sz="14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05400" y="4143282"/>
              <a:ext cx="11769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mantissa</a:t>
              </a:r>
            </a:p>
          </p:txBody>
        </p:sp>
      </p:grpSp>
      <p:sp>
        <p:nvSpPr>
          <p:cNvPr id="30" name="Oval 29"/>
          <p:cNvSpPr/>
          <p:nvPr/>
        </p:nvSpPr>
        <p:spPr>
          <a:xfrm>
            <a:off x="4876800" y="2126540"/>
            <a:ext cx="228600" cy="369222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371600" y="3195724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2036080"/>
            <a:ext cx="228600" cy="319060"/>
          </a:xfrm>
          <a:prstGeom prst="ellipse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900CC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2500" y="264976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Exponent = 2 + 127 = 129 = </a:t>
            </a:r>
            <a:r>
              <a:rPr lang="en-US" dirty="0">
                <a:solidFill>
                  <a:srgbClr val="006600"/>
                </a:solidFill>
              </a:rPr>
              <a:t>10000001</a:t>
            </a:r>
            <a:r>
              <a:rPr lang="en-US" baseline="-25000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2600" y="3194971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6600"/>
                </a:solidFill>
              </a:rPr>
              <a:t>10000001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34000" y="2036080"/>
            <a:ext cx="609600" cy="51158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3708903" y="3201635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10100000000000000000000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457200" y="4225769"/>
            <a:ext cx="8229600" cy="57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We may write the 32-bit representation in hexadecimal: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201" y="4694562"/>
            <a:ext cx="6920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1 10000001 10100000000000000000000</a:t>
            </a:r>
            <a:r>
              <a:rPr lang="en-US" sz="2000" baseline="-25000" dirty="0"/>
              <a:t>2</a:t>
            </a:r>
            <a:r>
              <a:rPr lang="en-US" sz="2000" dirty="0"/>
              <a:t> = </a:t>
            </a:r>
            <a:r>
              <a:rPr lang="en-US" sz="2400" dirty="0">
                <a:solidFill>
                  <a:srgbClr val="FF0000"/>
                </a:solidFill>
              </a:rPr>
              <a:t>C0D00000</a:t>
            </a:r>
            <a:r>
              <a:rPr lang="en-US" sz="2400" baseline="-25000" dirty="0"/>
              <a:t>16</a:t>
            </a:r>
            <a:r>
              <a:rPr lang="en-US" sz="2400" dirty="0"/>
              <a:t>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9635" y="5462892"/>
            <a:ext cx="7456130" cy="1144263"/>
            <a:chOff x="462069" y="5410010"/>
            <a:chExt cx="7456130" cy="1144263"/>
          </a:xfrm>
        </p:grpSpPr>
        <p:sp>
          <p:nvSpPr>
            <p:cNvPr id="39" name="TextBox 38"/>
            <p:cNvSpPr txBox="1"/>
            <p:nvPr/>
          </p:nvSpPr>
          <p:spPr>
            <a:xfrm>
              <a:off x="462069" y="5410010"/>
              <a:ext cx="1070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(Slide 4)</a:t>
              </a:r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CDBB19-BF37-4112-88CD-C1265C6B62C4}"/>
                </a:ext>
              </a:extLst>
            </p:cNvPr>
            <p:cNvSpPr txBox="1"/>
            <p:nvPr/>
          </p:nvSpPr>
          <p:spPr>
            <a:xfrm>
              <a:off x="1532333" y="5421939"/>
              <a:ext cx="6156920" cy="461665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>
                  <a:solidFill>
                    <a:schemeClr val="bg1"/>
                  </a:solidFill>
                </a:rPr>
                <a:t>11000000110100000000000000000000</a:t>
              </a:r>
            </a:p>
          </p:txBody>
        </p:sp>
        <p:sp>
          <p:nvSpPr>
            <p:cNvPr id="41" name="Callout: Line 23">
              <a:extLst>
                <a:ext uri="{FF2B5EF4-FFF2-40B4-BE49-F238E27FC236}">
                  <a16:creationId xmlns:a16="http://schemas.microsoft.com/office/drawing/2014/main" id="{CF4D8BD4-D37C-412D-819F-FD07AC96981D}"/>
                </a:ext>
              </a:extLst>
            </p:cNvPr>
            <p:cNvSpPr/>
            <p:nvPr/>
          </p:nvSpPr>
          <p:spPr>
            <a:xfrm>
              <a:off x="917718" y="6186989"/>
              <a:ext cx="3553837" cy="367284"/>
            </a:xfrm>
            <a:prstGeom prst="borderCallout1">
              <a:avLst>
                <a:gd name="adj1" fmla="val 2153"/>
                <a:gd name="adj2" fmla="val 35067"/>
                <a:gd name="adj3" fmla="val -74789"/>
                <a:gd name="adj4" fmla="val 67761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2000" dirty="0">
                  <a:solidFill>
                    <a:schemeClr val="tx1"/>
                  </a:solidFill>
                </a:rPr>
                <a:t>As an ‘</a:t>
              </a:r>
              <a:r>
                <a:rPr lang="en-SG" sz="2000" dirty="0" err="1">
                  <a:solidFill>
                    <a:schemeClr val="tx1"/>
                  </a:solidFill>
                </a:rPr>
                <a:t>int</a:t>
              </a:r>
              <a:r>
                <a:rPr lang="en-SG" sz="2000" dirty="0">
                  <a:solidFill>
                    <a:schemeClr val="tx1"/>
                  </a:solidFill>
                </a:rPr>
                <a:t>’, it is </a:t>
              </a:r>
              <a:r>
                <a:rPr lang="en-SG" sz="2000" dirty="0">
                  <a:solidFill>
                    <a:srgbClr val="C00000"/>
                  </a:solidFill>
                </a:rPr>
                <a:t>-1060110336 </a:t>
              </a:r>
            </a:p>
          </p:txBody>
        </p:sp>
        <p:sp>
          <p:nvSpPr>
            <p:cNvPr id="42" name="Callout: Line 24">
              <a:extLst>
                <a:ext uri="{FF2B5EF4-FFF2-40B4-BE49-F238E27FC236}">
                  <a16:creationId xmlns:a16="http://schemas.microsoft.com/office/drawing/2014/main" id="{F390C419-D78C-41DC-9C79-B6BD38CC7A9E}"/>
                </a:ext>
              </a:extLst>
            </p:cNvPr>
            <p:cNvSpPr/>
            <p:nvPr/>
          </p:nvSpPr>
          <p:spPr>
            <a:xfrm>
              <a:off x="5254663" y="6186989"/>
              <a:ext cx="2663536" cy="367284"/>
            </a:xfrm>
            <a:prstGeom prst="borderCallout1">
              <a:avLst>
                <a:gd name="adj1" fmla="val 2153"/>
                <a:gd name="adj2" fmla="val 35067"/>
                <a:gd name="adj3" fmla="val -71959"/>
                <a:gd name="adj4" fmla="val 273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2000" dirty="0">
                  <a:solidFill>
                    <a:schemeClr val="tx1"/>
                  </a:solidFill>
                </a:rPr>
                <a:t>As an ‘float’, it is </a:t>
              </a:r>
              <a:r>
                <a:rPr lang="en-SG" sz="2000" dirty="0">
                  <a:solidFill>
                    <a:srgbClr val="C00000"/>
                  </a:solidFill>
                </a:rPr>
                <a:t>-6.5 </a:t>
              </a:r>
            </a:p>
          </p:txBody>
        </p: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11C5382D-27E0-5E43-A8DF-42DA4950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164" y="368504"/>
            <a:ext cx="6518763" cy="1143717"/>
          </a:xfrm>
        </p:spPr>
        <p:txBody>
          <a:bodyPr/>
          <a:lstStyle/>
          <a:p>
            <a:r>
              <a:rPr lang="en-US" dirty="0"/>
              <a:t>11.2 Real Numbers</a:t>
            </a:r>
            <a:br>
              <a:rPr lang="en-US" dirty="0"/>
            </a:br>
            <a:r>
              <a:rPr lang="en-US" dirty="0"/>
              <a:t>Floating Point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3302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 animBg="1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7593</TotalTime>
  <Words>4273</Words>
  <Application>Microsoft Macintosh PowerPoint</Application>
  <PresentationFormat>On-screen Show (4:3)</PresentationFormat>
  <Paragraphs>709</Paragraphs>
  <Slides>51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Courier New</vt:lpstr>
      <vt:lpstr>Symbol</vt:lpstr>
      <vt:lpstr>Times</vt:lpstr>
      <vt:lpstr>Times New Roman</vt:lpstr>
      <vt:lpstr>Wingdings</vt:lpstr>
      <vt:lpstr>Wingdings 2</vt:lpstr>
      <vt:lpstr>Blank</vt:lpstr>
      <vt:lpstr>Document</vt:lpstr>
      <vt:lpstr>PowerPoint Presentation</vt:lpstr>
      <vt:lpstr>Q &amp; A</vt:lpstr>
      <vt:lpstr>Lecture 3: Number Systems</vt:lpstr>
      <vt:lpstr>Lecture 3: Number Systems</vt:lpstr>
      <vt:lpstr>1. Data Representation</vt:lpstr>
      <vt:lpstr>1. Data Representation</vt:lpstr>
      <vt:lpstr>2. Base 10 Number System</vt:lpstr>
      <vt:lpstr>3. Other Number Systems</vt:lpstr>
      <vt:lpstr>3. Other Number Systems</vt:lpstr>
      <vt:lpstr>4. Base-R to Decimal Conversion</vt:lpstr>
      <vt:lpstr>5. Decimal to Binary (Base-2) Conversion</vt:lpstr>
      <vt:lpstr>5.1 Decimal to Binary (Base-2) Conversion: Repeated Divide</vt:lpstr>
      <vt:lpstr>5.1 Decimal to Binary (Base-2) Conversion: Repeated Divide</vt:lpstr>
      <vt:lpstr>5.2 Decimal to Binary (Base-2) Conversion: Repeated Multiply</vt:lpstr>
      <vt:lpstr>5.2 Decimal to Binary (Base-2) Conversion: Repeated Multiply</vt:lpstr>
      <vt:lpstr>6. Conversion from Decimal to Other Bases</vt:lpstr>
      <vt:lpstr>7. Conversion Between Bases</vt:lpstr>
      <vt:lpstr>8. Binary to Octal / Hexadecimal Conversion</vt:lpstr>
      <vt:lpstr>PowerPoint Presentation</vt:lpstr>
      <vt:lpstr>9. ASCII Code</vt:lpstr>
      <vt:lpstr>9. ASCII Code</vt:lpstr>
      <vt:lpstr>9. ASCII Code</vt:lpstr>
      <vt:lpstr>PowerPoint Presentation</vt:lpstr>
      <vt:lpstr>PAST YEAR QUESTION</vt:lpstr>
      <vt:lpstr>10. Negative Numbers</vt:lpstr>
      <vt:lpstr>10.1 Negative Numbers: Sign and Magnitude</vt:lpstr>
      <vt:lpstr>10.1 Negative Numbers: Sign and Magnitude</vt:lpstr>
      <vt:lpstr>10.1 Negative Numbers: Sign and Magnitude</vt:lpstr>
      <vt:lpstr>10.2 Negative Numbers: 1’s Complement</vt:lpstr>
      <vt:lpstr>10.2 Negative Numbers: 1’s Complement</vt:lpstr>
      <vt:lpstr>10.2 Negative Numbers: 1’s Complement</vt:lpstr>
      <vt:lpstr>10.3 Negative Numbers: 2’s Complement</vt:lpstr>
      <vt:lpstr>10.3 Negative Numbers: 2’s Complement</vt:lpstr>
      <vt:lpstr>10.3 Negative Numbers: 2’s Complement</vt:lpstr>
      <vt:lpstr>10.4 Negative Numbers: Comparison</vt:lpstr>
      <vt:lpstr>PowerPoint Presentation</vt:lpstr>
      <vt:lpstr>10.5 Negative Numbers: Complements on Fractions</vt:lpstr>
      <vt:lpstr>10.6 Negative Numbers: 2’s Complements on Additions and Subtractions</vt:lpstr>
      <vt:lpstr>10.6 Negative Numbers: Overflow</vt:lpstr>
      <vt:lpstr>10.6 Negative Numbers: Overflow</vt:lpstr>
      <vt:lpstr>10.6 Negative Numbers: Overflow</vt:lpstr>
      <vt:lpstr>10.7 Negative Numbers: 1’s Complement on Additions and Subtractions.</vt:lpstr>
      <vt:lpstr>10.7 Negative Numbers: 1’s Complement Addition</vt:lpstr>
      <vt:lpstr>10.8 Negative Numbers: Excess Notation</vt:lpstr>
      <vt:lpstr>10.8 Negative Numbers: Excess Notation</vt:lpstr>
      <vt:lpstr>11 Real Numbers</vt:lpstr>
      <vt:lpstr>11.1 Real Numbers Fixed Point Representation</vt:lpstr>
      <vt:lpstr>11.2 Real Numbers Floating Point Representation </vt:lpstr>
      <vt:lpstr>11.2 Real Numbers Floating Point Representation </vt:lpstr>
      <vt:lpstr>11.2 Real Numbers Floating Point Representation </vt:lpstr>
      <vt:lpstr>11.2 Real Numbers Floating Point Representation 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156</cp:revision>
  <cp:lastPrinted>2020-08-05T02:32:21Z</cp:lastPrinted>
  <dcterms:created xsi:type="dcterms:W3CDTF">2018-02-10T09:13:59Z</dcterms:created>
  <dcterms:modified xsi:type="dcterms:W3CDTF">2025-01-12T11:57:40Z</dcterms:modified>
</cp:coreProperties>
</file>