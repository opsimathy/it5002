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6"/>
  </p:notesMasterIdLst>
  <p:sldIdLst>
    <p:sldId id="277" r:id="rId2"/>
    <p:sldId id="319" r:id="rId3"/>
    <p:sldId id="469" r:id="rId4"/>
    <p:sldId id="507" r:id="rId5"/>
    <p:sldId id="470" r:id="rId6"/>
    <p:sldId id="537" r:id="rId7"/>
    <p:sldId id="538" r:id="rId8"/>
    <p:sldId id="539" r:id="rId9"/>
    <p:sldId id="540" r:id="rId10"/>
    <p:sldId id="541" r:id="rId11"/>
    <p:sldId id="542" r:id="rId12"/>
    <p:sldId id="543" r:id="rId13"/>
    <p:sldId id="544" r:id="rId14"/>
    <p:sldId id="545" r:id="rId15"/>
    <p:sldId id="546" r:id="rId16"/>
    <p:sldId id="547" r:id="rId17"/>
    <p:sldId id="636" r:id="rId18"/>
    <p:sldId id="548" r:id="rId19"/>
    <p:sldId id="549" r:id="rId20"/>
    <p:sldId id="550" r:id="rId21"/>
    <p:sldId id="551" r:id="rId22"/>
    <p:sldId id="552" r:id="rId23"/>
    <p:sldId id="553" r:id="rId24"/>
    <p:sldId id="554" r:id="rId25"/>
    <p:sldId id="555" r:id="rId26"/>
    <p:sldId id="556" r:id="rId27"/>
    <p:sldId id="637" r:id="rId28"/>
    <p:sldId id="557" r:id="rId29"/>
    <p:sldId id="558" r:id="rId30"/>
    <p:sldId id="559" r:id="rId31"/>
    <p:sldId id="560" r:id="rId32"/>
    <p:sldId id="561" r:id="rId33"/>
    <p:sldId id="562" r:id="rId34"/>
    <p:sldId id="563" r:id="rId35"/>
    <p:sldId id="564" r:id="rId36"/>
    <p:sldId id="565" r:id="rId37"/>
    <p:sldId id="566" r:id="rId38"/>
    <p:sldId id="567" r:id="rId39"/>
    <p:sldId id="568" r:id="rId40"/>
    <p:sldId id="569" r:id="rId41"/>
    <p:sldId id="570" r:id="rId42"/>
    <p:sldId id="571" r:id="rId43"/>
    <p:sldId id="572" r:id="rId44"/>
    <p:sldId id="573" r:id="rId45"/>
    <p:sldId id="574" r:id="rId46"/>
    <p:sldId id="575" r:id="rId47"/>
    <p:sldId id="576" r:id="rId48"/>
    <p:sldId id="577" r:id="rId49"/>
    <p:sldId id="578" r:id="rId50"/>
    <p:sldId id="579" r:id="rId51"/>
    <p:sldId id="580" r:id="rId52"/>
    <p:sldId id="581" r:id="rId53"/>
    <p:sldId id="582" r:id="rId54"/>
    <p:sldId id="598" r:id="rId55"/>
    <p:sldId id="595" r:id="rId56"/>
    <p:sldId id="596" r:id="rId57"/>
    <p:sldId id="597" r:id="rId58"/>
    <p:sldId id="599" r:id="rId59"/>
    <p:sldId id="600" r:id="rId60"/>
    <p:sldId id="605" r:id="rId61"/>
    <p:sldId id="606" r:id="rId62"/>
    <p:sldId id="607" r:id="rId63"/>
    <p:sldId id="608" r:id="rId64"/>
    <p:sldId id="638" r:id="rId65"/>
    <p:sldId id="609" r:id="rId66"/>
    <p:sldId id="610" r:id="rId67"/>
    <p:sldId id="611" r:id="rId68"/>
    <p:sldId id="615" r:id="rId69"/>
    <p:sldId id="616" r:id="rId70"/>
    <p:sldId id="617" r:id="rId71"/>
    <p:sldId id="618" r:id="rId72"/>
    <p:sldId id="619" r:id="rId73"/>
    <p:sldId id="620" r:id="rId74"/>
    <p:sldId id="621" r:id="rId75"/>
    <p:sldId id="623" r:id="rId76"/>
    <p:sldId id="624" r:id="rId77"/>
    <p:sldId id="625" r:id="rId78"/>
    <p:sldId id="629" r:id="rId79"/>
    <p:sldId id="630" r:id="rId80"/>
    <p:sldId id="631" r:id="rId81"/>
    <p:sldId id="632" r:id="rId82"/>
    <p:sldId id="633" r:id="rId83"/>
    <p:sldId id="634" r:id="rId84"/>
    <p:sldId id="635" r:id="rId85"/>
  </p:sldIdLst>
  <p:sldSz cx="9144000" cy="6858000" type="screen4x3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BCCCC"/>
    <a:srgbClr val="003298"/>
    <a:srgbClr val="66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603" autoAdjust="0"/>
    <p:restoredTop sz="94660"/>
  </p:normalViewPr>
  <p:slideViewPr>
    <p:cSldViewPr snapToGrid="0">
      <p:cViewPr varScale="1">
        <p:scale>
          <a:sx n="67" d="100"/>
          <a:sy n="67" d="100"/>
        </p:scale>
        <p:origin x="40" y="8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373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ableStyles" Target="tableStyle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B0F297C3-9C17-4D83-8D06-073FE7156636}" type="datetimeFigureOut">
              <a:rPr lang="en-SG" smtClean="0"/>
              <a:t>7/10/2025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37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F20944AB-9450-45DE-8E02-6649B9843C2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17350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67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SG" altLang="en-US"/>
          </a:p>
        </p:txBody>
      </p:sp>
      <p:sp>
        <p:nvSpPr>
          <p:cNvPr id="115716" name="Slide Number Placeholder 3"/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4050" eaLnBrk="0" hangingPunct="0">
              <a:defRPr sz="26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1pPr>
            <a:lvl2pPr marL="804763" indent="-309524" defTabSz="944050" eaLnBrk="0" hangingPunct="0">
              <a:defRPr sz="26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2pPr>
            <a:lvl3pPr marL="1238098" indent="-247620" defTabSz="944050" eaLnBrk="0" hangingPunct="0">
              <a:defRPr sz="26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3pPr>
            <a:lvl4pPr marL="1733337" indent="-247620" defTabSz="944050" eaLnBrk="0" hangingPunct="0">
              <a:defRPr sz="26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4pPr>
            <a:lvl5pPr marL="2228576" indent="-247620" defTabSz="944050" eaLnBrk="0" hangingPunct="0">
              <a:defRPr sz="26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5pPr>
            <a:lvl6pPr marL="2723815" indent="-247620" defTabSz="94405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6pPr>
            <a:lvl7pPr marL="3219054" indent="-247620" defTabSz="94405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7pPr>
            <a:lvl8pPr marL="3714293" indent="-247620" defTabSz="94405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8pPr>
            <a:lvl9pPr marL="4209532" indent="-247620" defTabSz="94405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9pPr>
          </a:lstStyle>
          <a:p>
            <a:fld id="{82BE9358-62D1-4C72-8487-3415FE5B8C84}" type="slidenum">
              <a:rPr lang="en-US" altLang="en-US" sz="1200"/>
              <a:pPr/>
              <a:t>1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41779809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5993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38025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0200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04074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46855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67807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28382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50489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83262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31341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2543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9907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72053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7568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42581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75182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7549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610875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273061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536948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917994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659535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530361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942481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23458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390961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566226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268583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81919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24280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366886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374807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118281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856671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632178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727899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9815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680845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017679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934319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940556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144302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973960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195521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239657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16197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631148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687263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901132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96687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378868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243211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5309917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638853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3011694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7895039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9753153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5582175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415564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0230927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7289406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2670355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220420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3017058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0249552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9730412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561375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8436877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374403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4305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388389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2196100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613007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8582994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8090340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405592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7627469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6876682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CS2100 Computer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31958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0"/>
          <p:cNvSpPr>
            <a:spLocks noChangeArrowheads="1"/>
          </p:cNvSpPr>
          <p:nvPr userDrawn="1"/>
        </p:nvSpPr>
        <p:spPr bwMode="auto">
          <a:xfrm>
            <a:off x="1" y="1"/>
            <a:ext cx="9144000" cy="4953239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en-SG" altLang="en-US" sz="1625"/>
          </a:p>
        </p:txBody>
      </p:sp>
      <p:sp>
        <p:nvSpPr>
          <p:cNvPr id="4" name="Rectangle 11"/>
          <p:cNvSpPr>
            <a:spLocks noChangeArrowheads="1"/>
          </p:cNvSpPr>
          <p:nvPr userDrawn="1"/>
        </p:nvSpPr>
        <p:spPr bwMode="auto">
          <a:xfrm>
            <a:off x="1" y="6604318"/>
            <a:ext cx="9144000" cy="253682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en-SG" altLang="en-US" sz="1625"/>
          </a:p>
        </p:txBody>
      </p:sp>
      <p:pic>
        <p:nvPicPr>
          <p:cNvPr id="5" name="Picture 1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3047" y="5198322"/>
            <a:ext cx="2317815" cy="11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49069" y="1375900"/>
            <a:ext cx="8098767" cy="1582285"/>
          </a:xfrm>
        </p:spPr>
        <p:txBody>
          <a:bodyPr/>
          <a:lstStyle>
            <a:lvl1pPr algn="ctr">
              <a:defRPr sz="4063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19948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0499" y="561666"/>
            <a:ext cx="6518763" cy="11437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B421092-8A9E-4509-949B-F11F09B532FB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6107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084" y="4407180"/>
            <a:ext cx="7772757" cy="1361567"/>
          </a:xfrm>
        </p:spPr>
        <p:txBody>
          <a:bodyPr anchor="t"/>
          <a:lstStyle>
            <a:lvl1pPr algn="l">
              <a:defRPr sz="2708" b="1" cap="all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084" y="2906589"/>
            <a:ext cx="7772757" cy="1500591"/>
          </a:xfrm>
        </p:spPr>
        <p:txBody>
          <a:bodyPr anchor="b"/>
          <a:lstStyle>
            <a:lvl1pPr marL="0" indent="0">
              <a:buNone/>
              <a:defRPr sz="1355"/>
            </a:lvl1pPr>
            <a:lvl2pPr marL="309570" indent="0">
              <a:buNone/>
              <a:defRPr sz="1219"/>
            </a:lvl2pPr>
            <a:lvl3pPr marL="619140" indent="0">
              <a:buNone/>
              <a:defRPr sz="1083"/>
            </a:lvl3pPr>
            <a:lvl4pPr marL="928710" indent="0">
              <a:buNone/>
              <a:defRPr sz="948"/>
            </a:lvl4pPr>
            <a:lvl5pPr marL="1238281" indent="0">
              <a:buNone/>
              <a:defRPr sz="948"/>
            </a:lvl5pPr>
            <a:lvl6pPr marL="1547851" indent="0">
              <a:buNone/>
              <a:defRPr sz="948"/>
            </a:lvl6pPr>
            <a:lvl7pPr marL="1857421" indent="0">
              <a:buNone/>
              <a:defRPr sz="948"/>
            </a:lvl7pPr>
            <a:lvl8pPr marL="2166991" indent="0">
              <a:buNone/>
              <a:defRPr sz="948"/>
            </a:lvl8pPr>
            <a:lvl9pPr marL="2476561" indent="0">
              <a:buNone/>
              <a:defRPr sz="94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2E3A226-6E30-4DE6-9E8C-249C8EDEBBA8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9118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0499" y="554982"/>
            <a:ext cx="6518763" cy="11437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50501" y="1980723"/>
            <a:ext cx="3816314" cy="4243791"/>
          </a:xfrm>
        </p:spPr>
        <p:txBody>
          <a:bodyPr/>
          <a:lstStyle>
            <a:lvl1pPr>
              <a:defRPr sz="1896"/>
            </a:lvl1pPr>
            <a:lvl2pPr>
              <a:defRPr sz="1625"/>
            </a:lvl2pPr>
            <a:lvl3pPr>
              <a:defRPr sz="1355"/>
            </a:lvl3pPr>
            <a:lvl4pPr>
              <a:defRPr sz="1219"/>
            </a:lvl4pPr>
            <a:lvl5pPr>
              <a:defRPr sz="1219"/>
            </a:lvl5pPr>
            <a:lvl6pPr>
              <a:defRPr sz="1219"/>
            </a:lvl6pPr>
            <a:lvl7pPr>
              <a:defRPr sz="1219"/>
            </a:lvl7pPr>
            <a:lvl8pPr>
              <a:defRPr sz="1219"/>
            </a:lvl8pPr>
            <a:lvl9pPr>
              <a:defRPr sz="121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4082" y="1980723"/>
            <a:ext cx="3817745" cy="4243791"/>
          </a:xfrm>
        </p:spPr>
        <p:txBody>
          <a:bodyPr/>
          <a:lstStyle>
            <a:lvl1pPr>
              <a:defRPr sz="1896"/>
            </a:lvl1pPr>
            <a:lvl2pPr>
              <a:defRPr sz="1625"/>
            </a:lvl2pPr>
            <a:lvl3pPr>
              <a:defRPr sz="1355"/>
            </a:lvl3pPr>
            <a:lvl4pPr>
              <a:defRPr sz="1219"/>
            </a:lvl4pPr>
            <a:lvl5pPr>
              <a:defRPr sz="1219"/>
            </a:lvl5pPr>
            <a:lvl6pPr>
              <a:defRPr sz="1219"/>
            </a:lvl6pPr>
            <a:lvl7pPr>
              <a:defRPr sz="1219"/>
            </a:lvl7pPr>
            <a:lvl8pPr>
              <a:defRPr sz="1219"/>
            </a:lvl8pPr>
            <a:lvl9pPr>
              <a:defRPr sz="121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B8A561D-031E-4C46-8BE8-07B563279054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7463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558" y="275180"/>
            <a:ext cx="8228885" cy="114228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558" y="1534989"/>
            <a:ext cx="4039375" cy="639220"/>
          </a:xfrm>
        </p:spPr>
        <p:txBody>
          <a:bodyPr anchor="b"/>
          <a:lstStyle>
            <a:lvl1pPr marL="0" indent="0">
              <a:buNone/>
              <a:defRPr sz="1625" b="1"/>
            </a:lvl1pPr>
            <a:lvl2pPr marL="309570" indent="0">
              <a:buNone/>
              <a:defRPr sz="1355" b="1"/>
            </a:lvl2pPr>
            <a:lvl3pPr marL="619140" indent="0">
              <a:buNone/>
              <a:defRPr sz="1219" b="1"/>
            </a:lvl3pPr>
            <a:lvl4pPr marL="928710" indent="0">
              <a:buNone/>
              <a:defRPr sz="1083" b="1"/>
            </a:lvl4pPr>
            <a:lvl5pPr marL="1238281" indent="0">
              <a:buNone/>
              <a:defRPr sz="1083" b="1"/>
            </a:lvl5pPr>
            <a:lvl6pPr marL="1547851" indent="0">
              <a:buNone/>
              <a:defRPr sz="1083" b="1"/>
            </a:lvl6pPr>
            <a:lvl7pPr marL="1857421" indent="0">
              <a:buNone/>
              <a:defRPr sz="1083" b="1"/>
            </a:lvl7pPr>
            <a:lvl8pPr marL="2166991" indent="0">
              <a:buNone/>
              <a:defRPr sz="1083" b="1"/>
            </a:lvl8pPr>
            <a:lvl9pPr marL="2476561" indent="0">
              <a:buNone/>
              <a:defRPr sz="108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558" y="2174210"/>
            <a:ext cx="4039375" cy="3951411"/>
          </a:xfrm>
        </p:spPr>
        <p:txBody>
          <a:bodyPr/>
          <a:lstStyle>
            <a:lvl1pPr>
              <a:defRPr sz="1625"/>
            </a:lvl1pPr>
            <a:lvl2pPr>
              <a:defRPr sz="1355"/>
            </a:lvl2pPr>
            <a:lvl3pPr>
              <a:defRPr sz="1219"/>
            </a:lvl3pPr>
            <a:lvl4pPr>
              <a:defRPr sz="1083"/>
            </a:lvl4pPr>
            <a:lvl5pPr>
              <a:defRPr sz="1083"/>
            </a:lvl5pPr>
            <a:lvl6pPr>
              <a:defRPr sz="1083"/>
            </a:lvl6pPr>
            <a:lvl7pPr>
              <a:defRPr sz="1083"/>
            </a:lvl7pPr>
            <a:lvl8pPr>
              <a:defRPr sz="1083"/>
            </a:lvl8pPr>
            <a:lvl9pPr>
              <a:defRPr sz="108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639" y="1534989"/>
            <a:ext cx="4040804" cy="639220"/>
          </a:xfrm>
        </p:spPr>
        <p:txBody>
          <a:bodyPr anchor="b"/>
          <a:lstStyle>
            <a:lvl1pPr marL="0" indent="0">
              <a:buNone/>
              <a:defRPr sz="1625" b="1"/>
            </a:lvl1pPr>
            <a:lvl2pPr marL="309570" indent="0">
              <a:buNone/>
              <a:defRPr sz="1355" b="1"/>
            </a:lvl2pPr>
            <a:lvl3pPr marL="619140" indent="0">
              <a:buNone/>
              <a:defRPr sz="1219" b="1"/>
            </a:lvl3pPr>
            <a:lvl4pPr marL="928710" indent="0">
              <a:buNone/>
              <a:defRPr sz="1083" b="1"/>
            </a:lvl4pPr>
            <a:lvl5pPr marL="1238281" indent="0">
              <a:buNone/>
              <a:defRPr sz="1083" b="1"/>
            </a:lvl5pPr>
            <a:lvl6pPr marL="1547851" indent="0">
              <a:buNone/>
              <a:defRPr sz="1083" b="1"/>
            </a:lvl6pPr>
            <a:lvl7pPr marL="1857421" indent="0">
              <a:buNone/>
              <a:defRPr sz="1083" b="1"/>
            </a:lvl7pPr>
            <a:lvl8pPr marL="2166991" indent="0">
              <a:buNone/>
              <a:defRPr sz="1083" b="1"/>
            </a:lvl8pPr>
            <a:lvl9pPr marL="2476561" indent="0">
              <a:buNone/>
              <a:defRPr sz="108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639" y="2174210"/>
            <a:ext cx="4040804" cy="3951411"/>
          </a:xfrm>
        </p:spPr>
        <p:txBody>
          <a:bodyPr/>
          <a:lstStyle>
            <a:lvl1pPr>
              <a:defRPr sz="1625"/>
            </a:lvl1pPr>
            <a:lvl2pPr>
              <a:defRPr sz="1355"/>
            </a:lvl2pPr>
            <a:lvl3pPr>
              <a:defRPr sz="1219"/>
            </a:lvl3pPr>
            <a:lvl4pPr>
              <a:defRPr sz="1083"/>
            </a:lvl4pPr>
            <a:lvl5pPr>
              <a:defRPr sz="1083"/>
            </a:lvl5pPr>
            <a:lvl6pPr>
              <a:defRPr sz="1083"/>
            </a:lvl6pPr>
            <a:lvl7pPr>
              <a:defRPr sz="1083"/>
            </a:lvl7pPr>
            <a:lvl8pPr>
              <a:defRPr sz="1083"/>
            </a:lvl8pPr>
            <a:lvl9pPr>
              <a:defRPr sz="108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CEB8533-CE85-4DBF-AEA3-5156B892FCBE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083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CA4D5B0-F94C-4A30-AD62-A23380D72EE3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7351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0699C9E-2E8D-4D3C-ABF9-CB5FFE5481EB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  <p:pic>
        <p:nvPicPr>
          <p:cNvPr id="5" name="Picture 4" descr="A qr code with a few black squares&#10;&#10;Description automatically generated">
            <a:extLst>
              <a:ext uri="{FF2B5EF4-FFF2-40B4-BE49-F238E27FC236}">
                <a16:creationId xmlns:a16="http://schemas.microsoft.com/office/drawing/2014/main" id="{E69C781F-2667-FE56-6B1E-2993284F970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36962"/>
            <a:ext cx="726510" cy="726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786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557" y="273749"/>
            <a:ext cx="3008441" cy="1160915"/>
          </a:xfrm>
        </p:spPr>
        <p:txBody>
          <a:bodyPr anchor="b"/>
          <a:lstStyle>
            <a:lvl1pPr algn="l">
              <a:defRPr sz="1355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4668" y="273748"/>
            <a:ext cx="5111775" cy="5851873"/>
          </a:xfrm>
        </p:spPr>
        <p:txBody>
          <a:bodyPr/>
          <a:lstStyle>
            <a:lvl1pPr>
              <a:defRPr sz="2167"/>
            </a:lvl1pPr>
            <a:lvl2pPr>
              <a:defRPr sz="1896"/>
            </a:lvl2pPr>
            <a:lvl3pPr>
              <a:defRPr sz="1625"/>
            </a:lvl3pPr>
            <a:lvl4pPr>
              <a:defRPr sz="1355"/>
            </a:lvl4pPr>
            <a:lvl5pPr>
              <a:defRPr sz="1355"/>
            </a:lvl5pPr>
            <a:lvl6pPr>
              <a:defRPr sz="1355"/>
            </a:lvl6pPr>
            <a:lvl7pPr>
              <a:defRPr sz="1355"/>
            </a:lvl7pPr>
            <a:lvl8pPr>
              <a:defRPr sz="1355"/>
            </a:lvl8pPr>
            <a:lvl9pPr>
              <a:defRPr sz="135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557" y="1434664"/>
            <a:ext cx="3008441" cy="4690957"/>
          </a:xfrm>
        </p:spPr>
        <p:txBody>
          <a:bodyPr/>
          <a:lstStyle>
            <a:lvl1pPr marL="0" indent="0">
              <a:buNone/>
              <a:defRPr sz="948"/>
            </a:lvl1pPr>
            <a:lvl2pPr marL="309570" indent="0">
              <a:buNone/>
              <a:defRPr sz="812"/>
            </a:lvl2pPr>
            <a:lvl3pPr marL="619140" indent="0">
              <a:buNone/>
              <a:defRPr sz="677"/>
            </a:lvl3pPr>
            <a:lvl4pPr marL="928710" indent="0">
              <a:buNone/>
              <a:defRPr sz="610"/>
            </a:lvl4pPr>
            <a:lvl5pPr marL="1238281" indent="0">
              <a:buNone/>
              <a:defRPr sz="610"/>
            </a:lvl5pPr>
            <a:lvl6pPr marL="1547851" indent="0">
              <a:buNone/>
              <a:defRPr sz="610"/>
            </a:lvl6pPr>
            <a:lvl7pPr marL="1857421" indent="0">
              <a:buNone/>
              <a:defRPr sz="610"/>
            </a:lvl7pPr>
            <a:lvl8pPr marL="2166991" indent="0">
              <a:buNone/>
              <a:defRPr sz="610"/>
            </a:lvl8pPr>
            <a:lvl9pPr marL="2476561" indent="0">
              <a:buNone/>
              <a:defRPr sz="61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DCB0E37-8CB9-480C-9AFF-44A8B18EB558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4971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1625" y="4801317"/>
            <a:ext cx="5486399" cy="566126"/>
          </a:xfrm>
        </p:spPr>
        <p:txBody>
          <a:bodyPr anchor="b"/>
          <a:lstStyle>
            <a:lvl1pPr algn="l">
              <a:defRPr sz="1355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1625" y="613422"/>
            <a:ext cx="5486399" cy="4114800"/>
          </a:xfrm>
        </p:spPr>
        <p:txBody>
          <a:bodyPr/>
          <a:lstStyle>
            <a:lvl1pPr marL="0" indent="0">
              <a:buNone/>
              <a:defRPr sz="2167"/>
            </a:lvl1pPr>
            <a:lvl2pPr marL="309570" indent="0">
              <a:buNone/>
              <a:defRPr sz="1896"/>
            </a:lvl2pPr>
            <a:lvl3pPr marL="619140" indent="0">
              <a:buNone/>
              <a:defRPr sz="1625"/>
            </a:lvl3pPr>
            <a:lvl4pPr marL="928710" indent="0">
              <a:buNone/>
              <a:defRPr sz="1355"/>
            </a:lvl4pPr>
            <a:lvl5pPr marL="1238281" indent="0">
              <a:buNone/>
              <a:defRPr sz="1355"/>
            </a:lvl5pPr>
            <a:lvl6pPr marL="1547851" indent="0">
              <a:buNone/>
              <a:defRPr sz="1355"/>
            </a:lvl6pPr>
            <a:lvl7pPr marL="1857421" indent="0">
              <a:buNone/>
              <a:defRPr sz="1355"/>
            </a:lvl7pPr>
            <a:lvl8pPr marL="2166991" indent="0">
              <a:buNone/>
              <a:defRPr sz="1355"/>
            </a:lvl8pPr>
            <a:lvl9pPr marL="2476561" indent="0">
              <a:buNone/>
              <a:defRPr sz="1355"/>
            </a:lvl9pPr>
          </a:lstStyle>
          <a:p>
            <a:pPr lvl="0"/>
            <a:endParaRPr lang="en-SG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1625" y="5367443"/>
            <a:ext cx="5486399" cy="805475"/>
          </a:xfrm>
        </p:spPr>
        <p:txBody>
          <a:bodyPr/>
          <a:lstStyle>
            <a:lvl1pPr marL="0" indent="0">
              <a:buNone/>
              <a:defRPr sz="948"/>
            </a:lvl1pPr>
            <a:lvl2pPr marL="309570" indent="0">
              <a:buNone/>
              <a:defRPr sz="812"/>
            </a:lvl2pPr>
            <a:lvl3pPr marL="619140" indent="0">
              <a:buNone/>
              <a:defRPr sz="677"/>
            </a:lvl3pPr>
            <a:lvl4pPr marL="928710" indent="0">
              <a:buNone/>
              <a:defRPr sz="610"/>
            </a:lvl4pPr>
            <a:lvl5pPr marL="1238281" indent="0">
              <a:buNone/>
              <a:defRPr sz="610"/>
            </a:lvl5pPr>
            <a:lvl6pPr marL="1547851" indent="0">
              <a:buNone/>
              <a:defRPr sz="610"/>
            </a:lvl6pPr>
            <a:lvl7pPr marL="1857421" indent="0">
              <a:buNone/>
              <a:defRPr sz="610"/>
            </a:lvl7pPr>
            <a:lvl8pPr marL="2166991" indent="0">
              <a:buNone/>
              <a:defRPr sz="610"/>
            </a:lvl8pPr>
            <a:lvl9pPr marL="2476561" indent="0">
              <a:buNone/>
              <a:defRPr sz="61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9EA0026-3E0A-467C-A77C-0D95BD348815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3552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0574199-541A-442D-BD63-BB275F057B6F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2030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80067" y="825540"/>
            <a:ext cx="1941760" cy="53989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50499" y="825540"/>
            <a:ext cx="5692301" cy="539897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284C3F7-6313-43B9-8FA0-AEEB61BF0DA5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1050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50499" y="554982"/>
            <a:ext cx="6518763" cy="11437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384" tIns="50691" rIns="101384" bIns="5069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50500" y="1818969"/>
            <a:ext cx="7771328" cy="4405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50499" y="6334872"/>
            <a:ext cx="190458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677">
                <a:solidFill>
                  <a:srgbClr val="003399"/>
                </a:solidFill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1995" y="6334872"/>
            <a:ext cx="190458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677">
                <a:solidFill>
                  <a:srgbClr val="003399"/>
                </a:solidFill>
              </a:defRPr>
            </a:lvl1pPr>
          </a:lstStyle>
          <a:p>
            <a:fld id="{7DD0F54A-7FC4-4DC8-816F-141A28D7A639}" type="slidenum">
              <a:rPr lang="en-GB" altLang="en-US"/>
              <a:pPr/>
              <a:t>‹#›</a:t>
            </a:fld>
            <a:endParaRPr lang="en-GB" altLang="en-US" sz="1083"/>
          </a:p>
        </p:txBody>
      </p:sp>
      <p:sp>
        <p:nvSpPr>
          <p:cNvPr id="2" name="Rectangle 7"/>
          <p:cNvSpPr>
            <a:spLocks noChangeArrowheads="1"/>
          </p:cNvSpPr>
          <p:nvPr/>
        </p:nvSpPr>
        <p:spPr bwMode="auto">
          <a:xfrm>
            <a:off x="1" y="6601452"/>
            <a:ext cx="9144000" cy="253682"/>
          </a:xfrm>
          <a:prstGeom prst="rect">
            <a:avLst/>
          </a:prstGeom>
          <a:solidFill>
            <a:srgbClr val="00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en-SG" altLang="en-US" sz="1625"/>
          </a:p>
        </p:txBody>
      </p:sp>
      <p:sp>
        <p:nvSpPr>
          <p:cNvPr id="1031" name="Rectangle 8"/>
          <p:cNvSpPr>
            <a:spLocks noChangeArrowheads="1"/>
          </p:cNvSpPr>
          <p:nvPr/>
        </p:nvSpPr>
        <p:spPr bwMode="auto">
          <a:xfrm>
            <a:off x="1" y="0"/>
            <a:ext cx="9144000" cy="253682"/>
          </a:xfrm>
          <a:prstGeom prst="rect">
            <a:avLst/>
          </a:prstGeom>
          <a:solidFill>
            <a:srgbClr val="00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en-SG" altLang="en-US" sz="1625"/>
          </a:p>
        </p:txBody>
      </p:sp>
      <p:sp>
        <p:nvSpPr>
          <p:cNvPr id="1032" name="Text Box 11"/>
          <p:cNvSpPr txBox="1">
            <a:spLocks noChangeArrowheads="1"/>
          </p:cNvSpPr>
          <p:nvPr/>
        </p:nvSpPr>
        <p:spPr bwMode="auto">
          <a:xfrm>
            <a:off x="550500" y="323910"/>
            <a:ext cx="6520193" cy="24853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015" dirty="0">
                <a:solidFill>
                  <a:srgbClr val="003399"/>
                </a:solidFill>
                <a:latin typeface="Times New Roman" panose="02020603050405020304" pitchFamily="18" charset="0"/>
              </a:rPr>
              <a:t>IT5002</a:t>
            </a:r>
            <a:r>
              <a:rPr lang="en-US" altLang="en-US" sz="1015" baseline="0" dirty="0">
                <a:solidFill>
                  <a:srgbClr val="003399"/>
                </a:solidFill>
                <a:latin typeface="Times New Roman" panose="02020603050405020304" pitchFamily="18" charset="0"/>
              </a:rPr>
              <a:t> Lecture 10 </a:t>
            </a:r>
            <a:r>
              <a:rPr lang="mr-IN" altLang="en-US" sz="1015" baseline="0" dirty="0">
                <a:solidFill>
                  <a:srgbClr val="003399"/>
                </a:solidFill>
                <a:latin typeface="Times New Roman" panose="02020603050405020304" pitchFamily="18" charset="0"/>
              </a:rPr>
              <a:t>–</a:t>
            </a:r>
            <a:r>
              <a:rPr lang="en-US" altLang="en-US" sz="1015" baseline="0" dirty="0">
                <a:solidFill>
                  <a:srgbClr val="003399"/>
                </a:solidFill>
                <a:latin typeface="Times New Roman" panose="02020603050405020304" pitchFamily="18" charset="0"/>
              </a:rPr>
              <a:t> Caches</a:t>
            </a:r>
            <a:r>
              <a:rPr lang="en-US" altLang="en-US" sz="1015" dirty="0">
                <a:solidFill>
                  <a:srgbClr val="003399"/>
                </a:solidFill>
                <a:latin typeface="Times New Roman" panose="02020603050405020304" pitchFamily="18" charset="0"/>
              </a:rPr>
              <a:t>			Page: </a:t>
            </a:r>
            <a:fld id="{49A9A4C6-A24E-4FBB-A733-87BDEC242BCE}" type="slidenum">
              <a:rPr lang="en-US" altLang="en-US" sz="1015">
                <a:solidFill>
                  <a:srgbClr val="003399"/>
                </a:solidFill>
                <a:latin typeface="Times New Roman" panose="02020603050405020304" pitchFamily="18" charset="0"/>
              </a:rPr>
              <a:pPr>
                <a:spcBef>
                  <a:spcPct val="50000"/>
                </a:spcBef>
              </a:pPr>
              <a:t>‹#›</a:t>
            </a:fld>
            <a:endParaRPr lang="en-GB" altLang="en-US" sz="1015" dirty="0">
              <a:solidFill>
                <a:srgbClr val="003399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033" name="Picture 15" descr="full colour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9880" y="374074"/>
            <a:ext cx="1038083" cy="667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6A8FB5C-2351-B4F7-306F-3959363B0ECF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6017339"/>
            <a:ext cx="837795" cy="837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935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6859" rtl="0" eaLnBrk="0" fontAlgn="base" hangingPunct="0">
        <a:spcBef>
          <a:spcPct val="0"/>
        </a:spcBef>
        <a:spcAft>
          <a:spcPct val="0"/>
        </a:spcAft>
        <a:defRPr sz="2370">
          <a:solidFill>
            <a:srgbClr val="663300"/>
          </a:solidFill>
          <a:latin typeface="+mj-lt"/>
          <a:ea typeface="+mj-ea"/>
          <a:cs typeface="+mj-cs"/>
        </a:defRPr>
      </a:lvl1pPr>
      <a:lvl2pPr algn="l" defTabSz="686859" rtl="0" eaLnBrk="0" fontAlgn="base" hangingPunct="0">
        <a:spcBef>
          <a:spcPct val="0"/>
        </a:spcBef>
        <a:spcAft>
          <a:spcPct val="0"/>
        </a:spcAft>
        <a:defRPr sz="2370">
          <a:solidFill>
            <a:schemeClr val="tx1"/>
          </a:solidFill>
          <a:latin typeface="Times New Roman" pitchFamily="18" charset="0"/>
        </a:defRPr>
      </a:lvl2pPr>
      <a:lvl3pPr algn="l" defTabSz="686859" rtl="0" eaLnBrk="0" fontAlgn="base" hangingPunct="0">
        <a:spcBef>
          <a:spcPct val="0"/>
        </a:spcBef>
        <a:spcAft>
          <a:spcPct val="0"/>
        </a:spcAft>
        <a:defRPr sz="2370">
          <a:solidFill>
            <a:schemeClr val="tx1"/>
          </a:solidFill>
          <a:latin typeface="Times New Roman" pitchFamily="18" charset="0"/>
        </a:defRPr>
      </a:lvl3pPr>
      <a:lvl4pPr algn="l" defTabSz="686859" rtl="0" eaLnBrk="0" fontAlgn="base" hangingPunct="0">
        <a:spcBef>
          <a:spcPct val="0"/>
        </a:spcBef>
        <a:spcAft>
          <a:spcPct val="0"/>
        </a:spcAft>
        <a:defRPr sz="2370">
          <a:solidFill>
            <a:schemeClr val="tx1"/>
          </a:solidFill>
          <a:latin typeface="Times New Roman" pitchFamily="18" charset="0"/>
        </a:defRPr>
      </a:lvl4pPr>
      <a:lvl5pPr algn="l" defTabSz="686859" rtl="0" eaLnBrk="0" fontAlgn="base" hangingPunct="0">
        <a:spcBef>
          <a:spcPct val="0"/>
        </a:spcBef>
        <a:spcAft>
          <a:spcPct val="0"/>
        </a:spcAft>
        <a:defRPr sz="2370">
          <a:solidFill>
            <a:schemeClr val="tx1"/>
          </a:solidFill>
          <a:latin typeface="Times New Roman" pitchFamily="18" charset="0"/>
        </a:defRPr>
      </a:lvl5pPr>
      <a:lvl6pPr marL="309570" algn="l" defTabSz="686859" rtl="0" fontAlgn="base">
        <a:spcBef>
          <a:spcPct val="0"/>
        </a:spcBef>
        <a:spcAft>
          <a:spcPct val="0"/>
        </a:spcAft>
        <a:defRPr sz="2370">
          <a:solidFill>
            <a:schemeClr val="tx1"/>
          </a:solidFill>
          <a:latin typeface="Times New Roman" pitchFamily="18" charset="0"/>
        </a:defRPr>
      </a:lvl6pPr>
      <a:lvl7pPr marL="619140" algn="l" defTabSz="686859" rtl="0" fontAlgn="base">
        <a:spcBef>
          <a:spcPct val="0"/>
        </a:spcBef>
        <a:spcAft>
          <a:spcPct val="0"/>
        </a:spcAft>
        <a:defRPr sz="2370">
          <a:solidFill>
            <a:schemeClr val="tx1"/>
          </a:solidFill>
          <a:latin typeface="Times New Roman" pitchFamily="18" charset="0"/>
        </a:defRPr>
      </a:lvl7pPr>
      <a:lvl8pPr marL="928710" algn="l" defTabSz="686859" rtl="0" fontAlgn="base">
        <a:spcBef>
          <a:spcPct val="0"/>
        </a:spcBef>
        <a:spcAft>
          <a:spcPct val="0"/>
        </a:spcAft>
        <a:defRPr sz="2370">
          <a:solidFill>
            <a:schemeClr val="tx1"/>
          </a:solidFill>
          <a:latin typeface="Times New Roman" pitchFamily="18" charset="0"/>
        </a:defRPr>
      </a:lvl8pPr>
      <a:lvl9pPr marL="1238281" algn="l" defTabSz="686859" rtl="0" fontAlgn="base">
        <a:spcBef>
          <a:spcPct val="0"/>
        </a:spcBef>
        <a:spcAft>
          <a:spcPct val="0"/>
        </a:spcAft>
        <a:defRPr sz="2370">
          <a:solidFill>
            <a:schemeClr val="tx1"/>
          </a:solidFill>
          <a:latin typeface="Times New Roman" pitchFamily="18" charset="0"/>
        </a:defRPr>
      </a:lvl9pPr>
    </p:titleStyle>
    <p:bodyStyle>
      <a:lvl1pPr marL="232178" indent="-232178" algn="l" defTabSz="686859" rtl="0" eaLnBrk="0" fontAlgn="base" hangingPunct="0">
        <a:spcBef>
          <a:spcPct val="20000"/>
        </a:spcBef>
        <a:spcAft>
          <a:spcPct val="0"/>
        </a:spcAft>
        <a:buChar char="•"/>
        <a:defRPr sz="1693" b="1">
          <a:solidFill>
            <a:srgbClr val="003399"/>
          </a:solidFill>
          <a:latin typeface="+mn-lt"/>
          <a:ea typeface="+mn-ea"/>
          <a:cs typeface="+mn-cs"/>
        </a:defRPr>
      </a:lvl1pPr>
      <a:lvl2pPr marL="253676" indent="4300" algn="l" defTabSz="686859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1760">
          <a:solidFill>
            <a:srgbClr val="003399"/>
          </a:solidFill>
          <a:latin typeface="+mn-lt"/>
        </a:defRPr>
      </a:lvl2pPr>
      <a:lvl3pPr marL="511651" indent="107490" algn="l" defTabSz="686859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ü"/>
        <a:defRPr sz="1490" b="1">
          <a:solidFill>
            <a:srgbClr val="FF6600"/>
          </a:solidFill>
          <a:latin typeface="+mn-lt"/>
        </a:defRPr>
      </a:lvl3pPr>
      <a:lvl4pPr marL="773925" indent="4300" algn="l" defTabSz="686859" rtl="0" eaLnBrk="0" fontAlgn="base" hangingPunct="0">
        <a:spcBef>
          <a:spcPct val="20000"/>
        </a:spcBef>
        <a:spcAft>
          <a:spcPct val="0"/>
        </a:spcAft>
        <a:buChar char="–"/>
        <a:defRPr sz="1490" i="1">
          <a:solidFill>
            <a:srgbClr val="003399"/>
          </a:solidFill>
          <a:latin typeface="+mn-lt"/>
        </a:defRPr>
      </a:lvl4pPr>
      <a:lvl5pPr marL="1031900" indent="206380" algn="l" defTabSz="686859" rtl="0" eaLnBrk="0" fontAlgn="base" hangingPunct="0">
        <a:spcBef>
          <a:spcPct val="20000"/>
        </a:spcBef>
        <a:spcAft>
          <a:spcPct val="0"/>
        </a:spcAft>
        <a:buChar char="»"/>
        <a:defRPr sz="1355">
          <a:solidFill>
            <a:srgbClr val="003399"/>
          </a:solidFill>
          <a:latin typeface="+mn-lt"/>
        </a:defRPr>
      </a:lvl5pPr>
      <a:lvl6pPr marL="1341470" algn="l" defTabSz="686859" rtl="0" fontAlgn="base">
        <a:spcBef>
          <a:spcPct val="20000"/>
        </a:spcBef>
        <a:spcAft>
          <a:spcPct val="0"/>
        </a:spcAft>
        <a:defRPr sz="1355">
          <a:solidFill>
            <a:srgbClr val="003399"/>
          </a:solidFill>
          <a:latin typeface="+mn-lt"/>
        </a:defRPr>
      </a:lvl6pPr>
      <a:lvl7pPr marL="1651041" algn="l" defTabSz="686859" rtl="0" fontAlgn="base">
        <a:spcBef>
          <a:spcPct val="20000"/>
        </a:spcBef>
        <a:spcAft>
          <a:spcPct val="0"/>
        </a:spcAft>
        <a:defRPr sz="1355">
          <a:solidFill>
            <a:srgbClr val="003399"/>
          </a:solidFill>
          <a:latin typeface="+mn-lt"/>
        </a:defRPr>
      </a:lvl7pPr>
      <a:lvl8pPr marL="1960611" algn="l" defTabSz="686859" rtl="0" fontAlgn="base">
        <a:spcBef>
          <a:spcPct val="20000"/>
        </a:spcBef>
        <a:spcAft>
          <a:spcPct val="0"/>
        </a:spcAft>
        <a:defRPr sz="1355">
          <a:solidFill>
            <a:srgbClr val="003399"/>
          </a:solidFill>
          <a:latin typeface="+mn-lt"/>
        </a:defRPr>
      </a:lvl8pPr>
      <a:lvl9pPr marL="2270181" algn="l" defTabSz="686859" rtl="0" fontAlgn="base">
        <a:spcBef>
          <a:spcPct val="20000"/>
        </a:spcBef>
        <a:spcAft>
          <a:spcPct val="0"/>
        </a:spcAft>
        <a:defRPr sz="1355">
          <a:solidFill>
            <a:srgbClr val="003399"/>
          </a:solidFill>
          <a:latin typeface="+mn-lt"/>
        </a:defRPr>
      </a:lvl9pPr>
    </p:bodyStyle>
    <p:otherStyle>
      <a:defPPr>
        <a:defRPr lang="en-US"/>
      </a:defPPr>
      <a:lvl1pPr marL="0" algn="l" defTabSz="619140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1pPr>
      <a:lvl2pPr marL="309570" algn="l" defTabSz="619140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2pPr>
      <a:lvl3pPr marL="619140" algn="l" defTabSz="619140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3pPr>
      <a:lvl4pPr marL="928710" algn="l" defTabSz="619140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4pPr>
      <a:lvl5pPr marL="1238281" algn="l" defTabSz="619140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5pPr>
      <a:lvl6pPr marL="1547851" algn="l" defTabSz="619140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6pPr>
      <a:lvl7pPr marL="1857421" algn="l" defTabSz="619140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7pPr>
      <a:lvl8pPr marL="2166991" algn="l" defTabSz="619140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8pPr>
      <a:lvl9pPr marL="2476561" algn="l" defTabSz="619140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colintan@nus.edu.sg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piazza.com/class/me6eor4hpe0374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1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wmf"/><Relationship Id="rId5" Type="http://schemas.openxmlformats.org/officeDocument/2006/relationships/image" Target="../media/image16.png"/><Relationship Id="rId4" Type="http://schemas.openxmlformats.org/officeDocument/2006/relationships/image" Target="../media/image15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wmf"/><Relationship Id="rId4" Type="http://schemas.openxmlformats.org/officeDocument/2006/relationships/image" Target="../media/image1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wmf"/><Relationship Id="rId4" Type="http://schemas.openxmlformats.org/officeDocument/2006/relationships/image" Target="../media/image17.w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w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w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wmf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jpe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7"/>
          <p:cNvSpPr>
            <a:spLocks noChangeArrowheads="1"/>
          </p:cNvSpPr>
          <p:nvPr/>
        </p:nvSpPr>
        <p:spPr bwMode="auto">
          <a:xfrm>
            <a:off x="1" y="8043"/>
            <a:ext cx="9144000" cy="4941621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en-SG" altLang="en-US" sz="2162"/>
          </a:p>
        </p:txBody>
      </p:sp>
      <p:sp>
        <p:nvSpPr>
          <p:cNvPr id="13315" name="Text Box 18"/>
          <p:cNvSpPr txBox="1">
            <a:spLocks noChangeArrowheads="1"/>
          </p:cNvSpPr>
          <p:nvPr/>
        </p:nvSpPr>
        <p:spPr bwMode="auto">
          <a:xfrm>
            <a:off x="713505" y="251120"/>
            <a:ext cx="7728431" cy="5539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4323" dirty="0">
                <a:solidFill>
                  <a:schemeClr val="bg1"/>
                </a:solidFill>
                <a:latin typeface="Times New Roman" panose="02020603050405020304" pitchFamily="18" charset="0"/>
              </a:rPr>
              <a:t>IT5002</a:t>
            </a:r>
          </a:p>
          <a:p>
            <a:pPr algn="ctr" eaLnBrk="1" hangingPunct="1">
              <a:spcBef>
                <a:spcPct val="50000"/>
              </a:spcBef>
            </a:pPr>
            <a:r>
              <a:rPr lang="en-US" altLang="en-US" sz="4323" dirty="0">
                <a:solidFill>
                  <a:schemeClr val="bg1"/>
                </a:solidFill>
                <a:latin typeface="Times New Roman" panose="02020603050405020304" pitchFamily="18" charset="0"/>
              </a:rPr>
              <a:t>Computer Systems and Applications</a:t>
            </a:r>
          </a:p>
          <a:p>
            <a:pPr algn="ctr" eaLnBrk="1" hangingPunct="1">
              <a:spcBef>
                <a:spcPct val="50000"/>
              </a:spcBef>
            </a:pPr>
            <a:r>
              <a:rPr lang="en-US" altLang="en-US" sz="4323" dirty="0">
                <a:solidFill>
                  <a:schemeClr val="bg1"/>
                </a:solidFill>
                <a:latin typeface="Times New Roman" panose="02020603050405020304" pitchFamily="18" charset="0"/>
              </a:rPr>
              <a:t>Caches</a:t>
            </a:r>
          </a:p>
          <a:p>
            <a:pPr algn="ctr" eaLnBrk="1" hangingPunct="1">
              <a:spcBef>
                <a:spcPct val="50000"/>
              </a:spcBef>
            </a:pPr>
            <a:r>
              <a:rPr lang="en-US" altLang="en-US" sz="4323" dirty="0">
                <a:solidFill>
                  <a:schemeClr val="bg1"/>
                </a:solidFill>
                <a:latin typeface="Times New Roman" panose="02020603050405020304" pitchFamily="18" charset="0"/>
                <a:hlinkClick r:id="rId3"/>
              </a:rPr>
              <a:t>colintan@nus.edu.sg</a:t>
            </a:r>
            <a:endParaRPr lang="en-US" altLang="en-US" sz="4323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algn="ctr" eaLnBrk="1" hangingPunct="1">
              <a:spcBef>
                <a:spcPct val="50000"/>
              </a:spcBef>
            </a:pPr>
            <a:endParaRPr lang="en-GB" altLang="en-US" sz="4864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16" name="Rectangle 19"/>
          <p:cNvSpPr>
            <a:spLocks noChangeArrowheads="1"/>
          </p:cNvSpPr>
          <p:nvPr/>
        </p:nvSpPr>
        <p:spPr bwMode="auto">
          <a:xfrm>
            <a:off x="1" y="6596870"/>
            <a:ext cx="9144000" cy="253087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en-SG" altLang="en-US" sz="2162"/>
          </a:p>
        </p:txBody>
      </p:sp>
      <p:pic>
        <p:nvPicPr>
          <p:cNvPr id="13317" name="Picture 22" descr="full colour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8976" y="5115528"/>
            <a:ext cx="2140511" cy="1374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12040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12620-B446-0261-58CA-2773BDA09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 &amp; 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3D398-9E2B-F6FC-AD1E-0D3700FB2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500" y="1818969"/>
            <a:ext cx="7771328" cy="1610031"/>
          </a:xfrm>
        </p:spPr>
        <p:txBody>
          <a:bodyPr/>
          <a:lstStyle/>
          <a:p>
            <a:r>
              <a:rPr lang="en-US" sz="2000" dirty="0"/>
              <a:t>Please ask questions at </a:t>
            </a:r>
            <a:r>
              <a:rPr lang="en-US" sz="2000" dirty="0">
                <a:hlinkClick r:id="rId2"/>
              </a:rPr>
              <a:t>https://piazza.com/class/me6eor4hpe0374</a:t>
            </a:r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EA404A-F0AA-7559-3AC8-BA00D9852424}"/>
              </a:ext>
            </a:extLst>
          </p:cNvPr>
          <p:cNvSpPr txBox="1"/>
          <p:nvPr/>
        </p:nvSpPr>
        <p:spPr>
          <a:xfrm>
            <a:off x="1804416" y="5730240"/>
            <a:ext cx="70469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OR scan this QR code (may be obscured on some slides)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D1B3F75-F81C-B108-2EC2-C045B94A54F7}"/>
              </a:ext>
            </a:extLst>
          </p:cNvPr>
          <p:cNvCxnSpPr>
            <a:stCxn id="6" idx="1"/>
          </p:cNvCxnSpPr>
          <p:nvPr/>
        </p:nvCxnSpPr>
        <p:spPr bwMode="auto">
          <a:xfrm flipH="1">
            <a:off x="841248" y="6145739"/>
            <a:ext cx="963168" cy="11221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403772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290644" cy="644577"/>
          </a:xfrm>
        </p:spPr>
        <p:txBody>
          <a:bodyPr>
            <a:normAutofit fontScale="90000"/>
          </a:bodyPr>
          <a:lstStyle/>
          <a:p>
            <a:pPr marL="1976438" indent="-1976438" eaLnBrk="1" hangingPunct="1"/>
            <a:r>
              <a:rPr lang="en-GB" sz="3600" dirty="0">
                <a:solidFill>
                  <a:srgbClr val="0000FF"/>
                </a:solidFill>
              </a:rPr>
              <a:t>1. Data Transfer: The Big Picture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#22: Cache I: Direct Mapped Cache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3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9" name="Rectangle 148">
            <a:extLst>
              <a:ext uri="{FF2B5EF4-FFF2-40B4-BE49-F238E27FC236}">
                <a16:creationId xmlns:a16="http://schemas.microsoft.com/office/drawing/2014/main" id="{03428BD8-1A8E-4FA0-AFE8-CCA438424F7E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5308816"/>
            <a:ext cx="8252086" cy="1295401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2600" dirty="0"/>
              <a:t>	</a:t>
            </a:r>
            <a:r>
              <a:rPr lang="en-US" dirty="0"/>
              <a:t>Registers are in the </a:t>
            </a:r>
            <a:r>
              <a:rPr lang="en-US" dirty="0" err="1"/>
              <a:t>datapath</a:t>
            </a:r>
            <a:r>
              <a:rPr lang="en-US" dirty="0"/>
              <a:t> of the processor. If operands are in memory we have to </a:t>
            </a:r>
            <a:r>
              <a:rPr lang="en-US" b="1" dirty="0">
                <a:solidFill>
                  <a:srgbClr val="C00000"/>
                </a:solidFill>
              </a:rPr>
              <a:t>load</a:t>
            </a:r>
            <a:r>
              <a:rPr lang="en-US" dirty="0">
                <a:solidFill>
                  <a:srgbClr val="0000CC"/>
                </a:solidFill>
              </a:rPr>
              <a:t> </a:t>
            </a:r>
            <a:r>
              <a:rPr lang="en-US" dirty="0"/>
              <a:t>them to processor (registers), operate on them, and </a:t>
            </a:r>
            <a:r>
              <a:rPr lang="en-US" b="1" dirty="0">
                <a:solidFill>
                  <a:srgbClr val="006600"/>
                </a:solidFill>
              </a:rPr>
              <a:t>store</a:t>
            </a:r>
            <a:r>
              <a:rPr lang="en-US" dirty="0">
                <a:solidFill>
                  <a:srgbClr val="0000CC"/>
                </a:solidFill>
              </a:rPr>
              <a:t> </a:t>
            </a:r>
            <a:r>
              <a:rPr lang="en-US" dirty="0"/>
              <a:t>them back to memory.</a:t>
            </a:r>
            <a:endParaRPr lang="en-US" sz="200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2B65CBC-5DD6-4A04-9550-3DEFE4CD9491}"/>
              </a:ext>
            </a:extLst>
          </p:cNvPr>
          <p:cNvGrpSpPr/>
          <p:nvPr/>
        </p:nvGrpSpPr>
        <p:grpSpPr>
          <a:xfrm>
            <a:off x="1371600" y="1346417"/>
            <a:ext cx="6400800" cy="3962399"/>
            <a:chOff x="1447800" y="1371600"/>
            <a:chExt cx="6400800" cy="3962399"/>
          </a:xfrm>
        </p:grpSpPr>
        <p:grpSp>
          <p:nvGrpSpPr>
            <p:cNvPr id="15" name="Group 112">
              <a:extLst>
                <a:ext uri="{FF2B5EF4-FFF2-40B4-BE49-F238E27FC236}">
                  <a16:creationId xmlns:a16="http://schemas.microsoft.com/office/drawing/2014/main" id="{E2FF1580-F11C-4931-8197-9E8F42AD97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7800" y="1371600"/>
              <a:ext cx="6400800" cy="3962399"/>
              <a:chOff x="1200" y="864"/>
              <a:chExt cx="3456" cy="2256"/>
            </a:xfrm>
          </p:grpSpPr>
          <p:sp>
            <p:nvSpPr>
              <p:cNvPr id="20" name="Rectangle 93">
                <a:extLst>
                  <a:ext uri="{FF2B5EF4-FFF2-40B4-BE49-F238E27FC236}">
                    <a16:creationId xmlns:a16="http://schemas.microsoft.com/office/drawing/2014/main" id="{F6C9FB70-ECC9-4B6C-A7E6-E01BCBB83B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1248"/>
                <a:ext cx="864" cy="1632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chemeClr val="tx2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1" name="Rectangle 94">
                <a:extLst>
                  <a:ext uri="{FF2B5EF4-FFF2-40B4-BE49-F238E27FC236}">
                    <a16:creationId xmlns:a16="http://schemas.microsoft.com/office/drawing/2014/main" id="{41C4D98C-D3DA-41C1-854A-77F618701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0" y="864"/>
                <a:ext cx="3456" cy="2256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chemeClr val="tx2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 anchor="ctr">
                <a:noAutofit/>
              </a:bodyPr>
              <a:lstStyle/>
              <a:p>
                <a:pPr algn="ctr"/>
                <a:endParaRPr lang="en-US" sz="2800" b="1">
                  <a:latin typeface="Verdana" pitchFamily="34" charset="0"/>
                </a:endParaRPr>
              </a:p>
            </p:txBody>
          </p:sp>
          <p:sp>
            <p:nvSpPr>
              <p:cNvPr id="22" name="Rectangle 95">
                <a:extLst>
                  <a:ext uri="{FF2B5EF4-FFF2-40B4-BE49-F238E27FC236}">
                    <a16:creationId xmlns:a16="http://schemas.microsoft.com/office/drawing/2014/main" id="{2DABE008-E452-495B-A671-4693797CC7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78" y="1248"/>
                <a:ext cx="864" cy="1632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chemeClr val="tx2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 wrap="none" anchor="ctr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3" name="Rectangle 96">
                <a:extLst>
                  <a:ext uri="{FF2B5EF4-FFF2-40B4-BE49-F238E27FC236}">
                    <a16:creationId xmlns:a16="http://schemas.microsoft.com/office/drawing/2014/main" id="{81C12B5B-2454-4E41-B80B-93651558F8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96" y="1248"/>
                <a:ext cx="864" cy="1632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9525" algn="ctr">
                <a:solidFill>
                  <a:schemeClr val="tx2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 wrap="none" anchor="ctr">
                <a:noAutofit/>
              </a:bodyPr>
              <a:lstStyle/>
              <a:p>
                <a:pPr algn="ctr"/>
                <a:r>
                  <a:rPr lang="en-US" sz="2400" b="1" dirty="0">
                    <a:solidFill>
                      <a:srgbClr val="C00000"/>
                    </a:solidFill>
                  </a:rPr>
                  <a:t>Memory</a:t>
                </a:r>
              </a:p>
            </p:txBody>
          </p:sp>
          <p:sp>
            <p:nvSpPr>
              <p:cNvPr id="24" name="Rectangle 97">
                <a:extLst>
                  <a:ext uri="{FF2B5EF4-FFF2-40B4-BE49-F238E27FC236}">
                    <a16:creationId xmlns:a16="http://schemas.microsoft.com/office/drawing/2014/main" id="{1589D86A-5BCD-47C2-AD80-799DAE41E2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8" y="1248"/>
                <a:ext cx="864" cy="163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2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" name="Text Box 98">
                <a:extLst>
                  <a:ext uri="{FF2B5EF4-FFF2-40B4-BE49-F238E27FC236}">
                    <a16:creationId xmlns:a16="http://schemas.microsoft.com/office/drawing/2014/main" id="{55F83CA0-8D43-460A-AE13-EB0D7774440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34" y="864"/>
                <a:ext cx="1013" cy="263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400" b="1" dirty="0">
                    <a:latin typeface="Verdana" pitchFamily="34" charset="0"/>
                  </a:rPr>
                  <a:t>Computer</a:t>
                </a:r>
              </a:p>
            </p:txBody>
          </p:sp>
          <p:sp>
            <p:nvSpPr>
              <p:cNvPr id="26" name="Text Box 99">
                <a:extLst>
                  <a:ext uri="{FF2B5EF4-FFF2-40B4-BE49-F238E27FC236}">
                    <a16:creationId xmlns:a16="http://schemas.microsoft.com/office/drawing/2014/main" id="{5F68ADE3-F3BB-4D94-98DC-B06170868A0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65" y="1248"/>
                <a:ext cx="867" cy="228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000" b="1" dirty="0">
                    <a:latin typeface="Verdana" pitchFamily="34" charset="0"/>
                  </a:rPr>
                  <a:t>Processor</a:t>
                </a:r>
              </a:p>
            </p:txBody>
          </p:sp>
          <p:sp>
            <p:nvSpPr>
              <p:cNvPr id="27" name="AutoShape 100">
                <a:extLst>
                  <a:ext uri="{FF2B5EF4-FFF2-40B4-BE49-F238E27FC236}">
                    <a16:creationId xmlns:a16="http://schemas.microsoft.com/office/drawing/2014/main" id="{5A95471A-56E1-4F4D-8499-7E1D625471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8" y="1632"/>
                <a:ext cx="658" cy="384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9525" algn="ctr">
                <a:solidFill>
                  <a:schemeClr val="tx2"/>
                </a:solidFill>
                <a:round/>
                <a:headEnd/>
                <a:tailEnd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 wrap="none" anchor="ctr">
                <a:noAutofit/>
              </a:bodyPr>
              <a:lstStyle/>
              <a:p>
                <a:pPr algn="ctr"/>
                <a:r>
                  <a:rPr lang="en-US" sz="2000" b="1" dirty="0"/>
                  <a:t>Control</a:t>
                </a:r>
              </a:p>
            </p:txBody>
          </p:sp>
          <p:sp>
            <p:nvSpPr>
              <p:cNvPr id="28" name="Text Box 103">
                <a:extLst>
                  <a:ext uri="{FF2B5EF4-FFF2-40B4-BE49-F238E27FC236}">
                    <a16:creationId xmlns:a16="http://schemas.microsoft.com/office/drawing/2014/main" id="{75F33EB9-CABF-4937-8286-DD93E229CC7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13" y="1248"/>
                <a:ext cx="700" cy="228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000" b="1" dirty="0">
                    <a:latin typeface="Verdana" pitchFamily="34" charset="0"/>
                  </a:rPr>
                  <a:t>Devices</a:t>
                </a:r>
              </a:p>
            </p:txBody>
          </p:sp>
          <p:sp>
            <p:nvSpPr>
              <p:cNvPr id="29" name="AutoShape 104">
                <a:extLst>
                  <a:ext uri="{FF2B5EF4-FFF2-40B4-BE49-F238E27FC236}">
                    <a16:creationId xmlns:a16="http://schemas.microsoft.com/office/drawing/2014/main" id="{39775697-D435-423F-A01B-67DB15497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4" y="1680"/>
                <a:ext cx="624" cy="384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9525" algn="ctr">
                <a:solidFill>
                  <a:schemeClr val="tx2"/>
                </a:solidFill>
                <a:round/>
                <a:headEnd/>
                <a:tailEnd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 wrap="none" anchor="ctr">
                <a:noAutofit/>
              </a:bodyPr>
              <a:lstStyle/>
              <a:p>
                <a:pPr algn="ctr"/>
                <a:r>
                  <a:rPr lang="en-US" b="1" dirty="0"/>
                  <a:t>Input</a:t>
                </a:r>
              </a:p>
            </p:txBody>
          </p:sp>
          <p:sp>
            <p:nvSpPr>
              <p:cNvPr id="30" name="AutoShape 105">
                <a:extLst>
                  <a:ext uri="{FF2B5EF4-FFF2-40B4-BE49-F238E27FC236}">
                    <a16:creationId xmlns:a16="http://schemas.microsoft.com/office/drawing/2014/main" id="{EEAC6BCC-1256-4D7C-A11E-05B0F336CC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4" y="2208"/>
                <a:ext cx="624" cy="384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9525" algn="ctr">
                <a:solidFill>
                  <a:schemeClr val="tx2"/>
                </a:solidFill>
                <a:round/>
                <a:headEnd/>
                <a:tailEnd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 wrap="none" anchor="ctr">
                <a:noAutofit/>
              </a:bodyPr>
              <a:lstStyle/>
              <a:p>
                <a:pPr algn="ctr"/>
                <a:r>
                  <a:rPr lang="en-US" b="1" dirty="0"/>
                  <a:t>Output</a:t>
                </a:r>
              </a:p>
            </p:txBody>
          </p:sp>
          <p:sp>
            <p:nvSpPr>
              <p:cNvPr id="31" name="AutoShape 108">
                <a:extLst>
                  <a:ext uri="{FF2B5EF4-FFF2-40B4-BE49-F238E27FC236}">
                    <a16:creationId xmlns:a16="http://schemas.microsoft.com/office/drawing/2014/main" id="{627AAA30-D019-4C45-B846-9717EE7A81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8" y="2208"/>
                <a:ext cx="658" cy="576"/>
              </a:xfrm>
              <a:prstGeom prst="roundRect">
                <a:avLst>
                  <a:gd name="adj" fmla="val 16667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 w="9525" algn="ctr">
                <a:solidFill>
                  <a:schemeClr val="tx2"/>
                </a:solidFill>
                <a:round/>
                <a:headEnd/>
                <a:tailEnd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 wrap="none" anchor="ctr">
                <a:noAutofit/>
              </a:bodyPr>
              <a:lstStyle/>
              <a:p>
                <a:pPr algn="ctr"/>
                <a:r>
                  <a:rPr lang="en-US" sz="2000" b="1" dirty="0" err="1"/>
                  <a:t>Datapath</a:t>
                </a:r>
                <a:endParaRPr lang="en-US" sz="2000" b="1" dirty="0"/>
              </a:p>
              <a:p>
                <a:pPr algn="ctr"/>
                <a:r>
                  <a:rPr lang="en-US" sz="2000" b="1" dirty="0"/>
                  <a:t>+</a:t>
                </a:r>
              </a:p>
              <a:p>
                <a:pPr algn="ctr"/>
                <a:r>
                  <a:rPr lang="en-US" sz="2000" b="1" dirty="0">
                    <a:solidFill>
                      <a:srgbClr val="C00000"/>
                    </a:solidFill>
                  </a:rPr>
                  <a:t>Registers</a:t>
                </a:r>
              </a:p>
            </p:txBody>
          </p:sp>
        </p:grpSp>
        <p:cxnSp>
          <p:nvCxnSpPr>
            <p:cNvPr id="16" name="Shape 21">
              <a:extLst>
                <a:ext uri="{FF2B5EF4-FFF2-40B4-BE49-F238E27FC236}">
                  <a16:creationId xmlns:a16="http://schemas.microsoft.com/office/drawing/2014/main" id="{95CA8F34-7E40-4D14-9E0D-0FAD5363D85D}"/>
                </a:ext>
              </a:extLst>
            </p:cNvPr>
            <p:cNvCxnSpPr/>
            <p:nvPr/>
          </p:nvCxnSpPr>
          <p:spPr>
            <a:xfrm flipV="1">
              <a:off x="3200400" y="3962400"/>
              <a:ext cx="1600200" cy="457200"/>
            </a:xfrm>
            <a:prstGeom prst="bentConnector3">
              <a:avLst>
                <a:gd name="adj1" fmla="val 28437"/>
              </a:avLst>
            </a:prstGeom>
            <a:ln w="31750">
              <a:solidFill>
                <a:srgbClr val="0066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A003ACBD-4E9B-4C01-95E7-B53FB91C662A}"/>
                </a:ext>
              </a:extLst>
            </p:cNvPr>
            <p:cNvCxnSpPr/>
            <p:nvPr/>
          </p:nvCxnSpPr>
          <p:spPr>
            <a:xfrm flipH="1">
              <a:off x="3200400" y="4648200"/>
              <a:ext cx="1676400" cy="0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DBBA60C-2966-435E-BEF9-BAF691AC2FD5}"/>
                </a:ext>
              </a:extLst>
            </p:cNvPr>
            <p:cNvSpPr/>
            <p:nvPr/>
          </p:nvSpPr>
          <p:spPr>
            <a:xfrm>
              <a:off x="3810000" y="3683478"/>
              <a:ext cx="990600" cy="533400"/>
            </a:xfrm>
            <a:prstGeom prst="rect">
              <a:avLst/>
            </a:prstGeom>
            <a:solidFill>
              <a:schemeClr val="bg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Store to memory 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1D51B93-018E-429E-8B8C-B4F4E5CF0CFF}"/>
                </a:ext>
              </a:extLst>
            </p:cNvPr>
            <p:cNvSpPr/>
            <p:nvPr/>
          </p:nvSpPr>
          <p:spPr>
            <a:xfrm>
              <a:off x="3810000" y="4369278"/>
              <a:ext cx="1219200" cy="533400"/>
            </a:xfrm>
            <a:prstGeom prst="rect">
              <a:avLst/>
            </a:prstGeom>
            <a:solidFill>
              <a:schemeClr val="bg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Load from memory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96256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290644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1. Memory Technology: 1950s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#22: Cache I: Direct Mapped Cache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4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pic>
        <p:nvPicPr>
          <p:cNvPr id="10" name="Picture 6" descr="102637027_sm">
            <a:extLst>
              <a:ext uri="{FF2B5EF4-FFF2-40B4-BE49-F238E27FC236}">
                <a16:creationId xmlns:a16="http://schemas.microsoft.com/office/drawing/2014/main" id="{E7E5696B-E2AF-4A4B-AF3C-15BDFC7A60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28986" y="1346417"/>
            <a:ext cx="1476375" cy="1905000"/>
          </a:xfrm>
          <a:prstGeom prst="rect">
            <a:avLst/>
          </a:prstGeom>
          <a:noFill/>
        </p:spPr>
      </p:pic>
      <p:sp>
        <p:nvSpPr>
          <p:cNvPr id="11" name="Rectangle 7">
            <a:extLst>
              <a:ext uri="{FF2B5EF4-FFF2-40B4-BE49-F238E27FC236}">
                <a16:creationId xmlns:a16="http://schemas.microsoft.com/office/drawing/2014/main" id="{140BBB5C-55E2-4EB8-ABB0-492AEFC7C9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386" y="3324869"/>
            <a:ext cx="3916457" cy="83099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l"/>
            <a:r>
              <a:rPr lang="en-US" sz="1600" b="1" dirty="0"/>
              <a:t>1948: Maurice Wilkes examining </a:t>
            </a:r>
          </a:p>
          <a:p>
            <a:pPr algn="l"/>
            <a:r>
              <a:rPr lang="en-US" sz="1600" b="1" dirty="0"/>
              <a:t>EDSAC’s delay line memory tubes</a:t>
            </a:r>
          </a:p>
          <a:p>
            <a:pPr algn="l"/>
            <a:r>
              <a:rPr lang="en-US" sz="1600" b="1" dirty="0"/>
              <a:t>16-tubes each storing 32 17-bit words </a:t>
            </a:r>
          </a:p>
        </p:txBody>
      </p:sp>
      <p:pic>
        <p:nvPicPr>
          <p:cNvPr id="13" name="Picture 10" descr="MauriceWilkes">
            <a:extLst>
              <a:ext uri="{FF2B5EF4-FFF2-40B4-BE49-F238E27FC236}">
                <a16:creationId xmlns:a16="http://schemas.microsoft.com/office/drawing/2014/main" id="{B4C5326E-67B6-44EC-B1BD-A97C20A697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52786" y="4513063"/>
            <a:ext cx="1276350" cy="1390650"/>
          </a:xfrm>
          <a:prstGeom prst="rect">
            <a:avLst/>
          </a:prstGeom>
          <a:noFill/>
        </p:spPr>
      </p:pic>
      <p:sp>
        <p:nvSpPr>
          <p:cNvPr id="14" name="Text Box 11">
            <a:extLst>
              <a:ext uri="{FF2B5EF4-FFF2-40B4-BE49-F238E27FC236}">
                <a16:creationId xmlns:a16="http://schemas.microsoft.com/office/drawing/2014/main" id="{A51863A7-B236-41DC-AB8F-4E3B244A48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786" y="5884663"/>
            <a:ext cx="2249142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b="1" dirty="0"/>
              <a:t>Maurice Wilkes: 2005</a:t>
            </a:r>
          </a:p>
        </p:txBody>
      </p:sp>
      <p:pic>
        <p:nvPicPr>
          <p:cNvPr id="15" name="Picture 13" descr="Photo">
            <a:extLst>
              <a:ext uri="{FF2B5EF4-FFF2-40B4-BE49-F238E27FC236}">
                <a16:creationId xmlns:a16="http://schemas.microsoft.com/office/drawing/2014/main" id="{5317CFD7-3F0B-4778-A902-17EAB179A8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941706" y="1705565"/>
            <a:ext cx="2347913" cy="1833563"/>
          </a:xfrm>
          <a:prstGeom prst="rect">
            <a:avLst/>
          </a:prstGeom>
          <a:noFill/>
        </p:spPr>
      </p:pic>
      <p:pic>
        <p:nvPicPr>
          <p:cNvPr id="16" name="Picture 15" descr="Photo">
            <a:extLst>
              <a:ext uri="{FF2B5EF4-FFF2-40B4-BE49-F238E27FC236}">
                <a16:creationId xmlns:a16="http://schemas.microsoft.com/office/drawing/2014/main" id="{1F3AE2CD-583C-4F41-8DA2-C9A5C91A21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380106" y="1248365"/>
            <a:ext cx="2146300" cy="2514600"/>
          </a:xfrm>
          <a:prstGeom prst="rect">
            <a:avLst/>
          </a:prstGeom>
          <a:noFill/>
        </p:spPr>
      </p:pic>
      <p:sp>
        <p:nvSpPr>
          <p:cNvPr id="17" name="Text Box 16">
            <a:extLst>
              <a:ext uri="{FF2B5EF4-FFF2-40B4-BE49-F238E27FC236}">
                <a16:creationId xmlns:a16="http://schemas.microsoft.com/office/drawing/2014/main" id="{E4483870-97FF-40EB-B353-0359C0BACC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1706" y="3772286"/>
            <a:ext cx="4541628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b="1" dirty="0"/>
              <a:t>1952: IBM 2361 16KB magnetic core memory</a:t>
            </a:r>
          </a:p>
        </p:txBody>
      </p:sp>
      <p:pic>
        <p:nvPicPr>
          <p:cNvPr id="1026" name="Picture 2" descr="im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7676" y="4177409"/>
            <a:ext cx="1498296" cy="1743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 Box 16">
            <a:extLst>
              <a:ext uri="{FF2B5EF4-FFF2-40B4-BE49-F238E27FC236}">
                <a16:creationId xmlns:a16="http://schemas.microsoft.com/office/drawing/2014/main" id="{E4483870-97FF-40EB-B353-0359C0BACC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9292" y="5940096"/>
            <a:ext cx="3468065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b="1" dirty="0"/>
              <a:t>1963:Core rope memory on Apollo 13</a:t>
            </a:r>
          </a:p>
        </p:txBody>
      </p:sp>
    </p:spTree>
    <p:extLst>
      <p:ext uri="{BB962C8B-B14F-4D97-AF65-F5344CB8AC3E}">
        <p14:creationId xmlns:p14="http://schemas.microsoft.com/office/powerpoint/2010/main" val="2180789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1. Memory Technology Today: </a:t>
            </a:r>
            <a:r>
              <a:rPr lang="en-GB" sz="3600" b="1" dirty="0">
                <a:solidFill>
                  <a:srgbClr val="0000FF"/>
                </a:solidFill>
              </a:rPr>
              <a:t>DRAM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#22: Cache I: Direct Mapped Cache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5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31" name="Content Placeholder 4">
            <a:extLst>
              <a:ext uri="{FF2B5EF4-FFF2-40B4-BE49-F238E27FC236}">
                <a16:creationId xmlns:a16="http://schemas.microsoft.com/office/drawing/2014/main" id="{7F6268AF-8611-4D17-AFE1-684DAA63BF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8642" y="1346417"/>
            <a:ext cx="8229600" cy="4911725"/>
          </a:xfrm>
        </p:spPr>
        <p:txBody>
          <a:bodyPr/>
          <a:lstStyle/>
          <a:p>
            <a:pPr marL="266700" indent="-266700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sz="2800" b="1" dirty="0">
                <a:solidFill>
                  <a:srgbClr val="C00000"/>
                </a:solidFill>
              </a:rPr>
              <a:t>DDR SDRAM</a:t>
            </a:r>
            <a:r>
              <a:rPr lang="en-US" sz="2800" dirty="0">
                <a:solidFill>
                  <a:srgbClr val="C00000"/>
                </a:solidFill>
              </a:rPr>
              <a:t> </a:t>
            </a:r>
          </a:p>
          <a:p>
            <a:pPr marL="625475" lvl="1" indent="-266700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sz="2400" b="1" dirty="0"/>
              <a:t>D</a:t>
            </a:r>
            <a:r>
              <a:rPr lang="en-US" sz="2400" dirty="0"/>
              <a:t>ouble </a:t>
            </a:r>
            <a:r>
              <a:rPr lang="en-US" sz="2400" b="1" dirty="0"/>
              <a:t>D</a:t>
            </a:r>
            <a:r>
              <a:rPr lang="en-US" sz="2400" dirty="0"/>
              <a:t>ata </a:t>
            </a:r>
            <a:r>
              <a:rPr lang="en-US" sz="2400" b="1" dirty="0"/>
              <a:t>R</a:t>
            </a:r>
            <a:r>
              <a:rPr lang="en-US" sz="2400" dirty="0"/>
              <a:t>ate </a:t>
            </a:r>
          </a:p>
          <a:p>
            <a:pPr lvl="1">
              <a:spcBef>
                <a:spcPts val="600"/>
              </a:spcBef>
              <a:buNone/>
            </a:pPr>
            <a:r>
              <a:rPr lang="en-US" sz="2400" dirty="0"/>
              <a:t>          – </a:t>
            </a:r>
            <a:r>
              <a:rPr lang="en-US" sz="2400" b="1" dirty="0"/>
              <a:t>S</a:t>
            </a:r>
            <a:r>
              <a:rPr lang="en-US" sz="2400" dirty="0"/>
              <a:t>ynchronous </a:t>
            </a:r>
            <a:r>
              <a:rPr lang="en-US" sz="2400" b="1" dirty="0"/>
              <a:t>D</a:t>
            </a:r>
            <a:r>
              <a:rPr lang="en-US" sz="2400" dirty="0"/>
              <a:t>ynamic </a:t>
            </a:r>
            <a:r>
              <a:rPr lang="en-US" sz="2400" b="1" dirty="0"/>
              <a:t>RAM</a:t>
            </a:r>
          </a:p>
          <a:p>
            <a:pPr marL="625475" lvl="1" indent="-2667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400" dirty="0"/>
              <a:t>The dominant memory technology in PC market</a:t>
            </a:r>
          </a:p>
          <a:p>
            <a:pPr marL="625475" lvl="1" indent="-2667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400" dirty="0"/>
              <a:t>Delivers memory on the positive and negative edge of a clock (double rate)</a:t>
            </a:r>
          </a:p>
          <a:p>
            <a:pPr marL="625475" lvl="1" indent="-2667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400" dirty="0"/>
              <a:t>Generations:</a:t>
            </a:r>
          </a:p>
          <a:p>
            <a:pPr marL="984250" lvl="2" indent="-2667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000" dirty="0"/>
              <a:t>DDR    (</a:t>
            </a:r>
            <a:r>
              <a:rPr lang="en-US" sz="2000" dirty="0" err="1"/>
              <a:t>MemClkFreq</a:t>
            </a:r>
            <a:r>
              <a:rPr lang="en-US" sz="2000" dirty="0"/>
              <a:t> x 2(double rate) x 8 words)</a:t>
            </a:r>
          </a:p>
          <a:p>
            <a:pPr marL="984250" lvl="2" indent="-2667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000" dirty="0"/>
              <a:t>DDR2  (</a:t>
            </a:r>
            <a:r>
              <a:rPr lang="en-US" sz="2000" dirty="0" err="1"/>
              <a:t>MemClkFreq</a:t>
            </a:r>
            <a:r>
              <a:rPr lang="en-US" sz="2000" dirty="0"/>
              <a:t> x 2(multiplier) x 2 x 8 words)</a:t>
            </a:r>
          </a:p>
          <a:p>
            <a:pPr marL="984250" lvl="2" indent="-2667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000" dirty="0"/>
              <a:t>DDR3  (</a:t>
            </a:r>
            <a:r>
              <a:rPr lang="en-US" sz="2000" dirty="0" err="1"/>
              <a:t>MemClkFreq</a:t>
            </a:r>
            <a:r>
              <a:rPr lang="en-US" sz="2000" dirty="0"/>
              <a:t> x 4(multiplier) x 2 x 8 words)</a:t>
            </a:r>
          </a:p>
          <a:p>
            <a:pPr marL="984250" lvl="2" indent="-2667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000" dirty="0"/>
              <a:t>DDR4  (Lower power consumption, higher bandwidth)</a:t>
            </a:r>
            <a:endParaRPr lang="en-US" dirty="0"/>
          </a:p>
        </p:txBody>
      </p:sp>
      <p:pic>
        <p:nvPicPr>
          <p:cNvPr id="132" name="Picture 3">
            <a:extLst>
              <a:ext uri="{FF2B5EF4-FFF2-40B4-BE49-F238E27FC236}">
                <a16:creationId xmlns:a16="http://schemas.microsoft.com/office/drawing/2014/main" id="{0534EE82-E2DD-4AF8-93FD-740AC2B71C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667042" y="1346417"/>
            <a:ext cx="2133600" cy="128298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</p:pic>
    </p:spTree>
    <p:extLst>
      <p:ext uri="{BB962C8B-B14F-4D97-AF65-F5344CB8AC3E}">
        <p14:creationId xmlns:p14="http://schemas.microsoft.com/office/powerpoint/2010/main" val="2334684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1. DRAM Capacity Growth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#22: Cache I: Direct Mapped Cache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6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18CBFC40-5244-4DAC-B9B7-E514CFAA3D26}"/>
              </a:ext>
            </a:extLst>
          </p:cNvPr>
          <p:cNvSpPr txBox="1">
            <a:spLocks noChangeArrowheads="1"/>
          </p:cNvSpPr>
          <p:nvPr/>
        </p:nvSpPr>
        <p:spPr>
          <a:xfrm>
            <a:off x="478564" y="4851617"/>
            <a:ext cx="8229600" cy="924150"/>
          </a:xfrm>
          <a:prstGeom prst="rect">
            <a:avLst/>
          </a:prstGeom>
        </p:spPr>
        <p:txBody>
          <a:bodyPr/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indent="-266700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Unprecedented growth in density, but we still have a problem</a:t>
            </a:r>
          </a:p>
          <a:p>
            <a:pPr fontAlgn="auto">
              <a:spcAft>
                <a:spcPts val="0"/>
              </a:spcAft>
            </a:pP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DFDA933-F474-4B98-9DD8-877B6C3C6FF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9" r="2111"/>
          <a:stretch/>
        </p:blipFill>
        <p:spPr>
          <a:xfrm>
            <a:off x="457200" y="1422617"/>
            <a:ext cx="3913974" cy="30861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A199993-E5F2-465F-BCDF-9CE3939B2C7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72" r="13656"/>
          <a:stretch/>
        </p:blipFill>
        <p:spPr>
          <a:xfrm>
            <a:off x="4534256" y="1346417"/>
            <a:ext cx="3733800" cy="316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1512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1. Processor-DRAM Performance Gap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#22: Cache I: Direct Mapped Cache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7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3C10BC6-CB35-45D0-BD04-E7283B9A58C7}"/>
              </a:ext>
            </a:extLst>
          </p:cNvPr>
          <p:cNvGrpSpPr/>
          <p:nvPr/>
        </p:nvGrpSpPr>
        <p:grpSpPr>
          <a:xfrm>
            <a:off x="517525" y="2489417"/>
            <a:ext cx="7788275" cy="3838575"/>
            <a:chOff x="381000" y="2508250"/>
            <a:chExt cx="7788275" cy="3838575"/>
          </a:xfrm>
        </p:grpSpPr>
        <p:sp>
          <p:nvSpPr>
            <p:cNvPr id="14" name="Line 6">
              <a:extLst>
                <a:ext uri="{FF2B5EF4-FFF2-40B4-BE49-F238E27FC236}">
                  <a16:creationId xmlns:a16="http://schemas.microsoft.com/office/drawing/2014/main" id="{A61327C3-BE53-4F05-AFEA-A9CCFB9270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92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Line 7">
              <a:extLst>
                <a:ext uri="{FF2B5EF4-FFF2-40B4-BE49-F238E27FC236}">
                  <a16:creationId xmlns:a16="http://schemas.microsoft.com/office/drawing/2014/main" id="{170AFC52-211F-4086-8B26-D9A18D10B9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954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Line 8">
              <a:extLst>
                <a:ext uri="{FF2B5EF4-FFF2-40B4-BE49-F238E27FC236}">
                  <a16:creationId xmlns:a16="http://schemas.microsoft.com/office/drawing/2014/main" id="{4B8ED799-F786-4668-9694-D1E10E25FA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16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Line 9">
              <a:extLst>
                <a:ext uri="{FF2B5EF4-FFF2-40B4-BE49-F238E27FC236}">
                  <a16:creationId xmlns:a16="http://schemas.microsoft.com/office/drawing/2014/main" id="{63E17059-7002-4642-AF5D-41929A3BC4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478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Line 10">
              <a:extLst>
                <a:ext uri="{FF2B5EF4-FFF2-40B4-BE49-F238E27FC236}">
                  <a16:creationId xmlns:a16="http://schemas.microsoft.com/office/drawing/2014/main" id="{25AA933A-AD9A-4DDC-89F9-55F2FE8BAC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40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Line 11">
              <a:extLst>
                <a:ext uri="{FF2B5EF4-FFF2-40B4-BE49-F238E27FC236}">
                  <a16:creationId xmlns:a16="http://schemas.microsoft.com/office/drawing/2014/main" id="{239BE144-6948-426F-B94D-7F64EFAFBF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02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Line 12">
              <a:extLst>
                <a:ext uri="{FF2B5EF4-FFF2-40B4-BE49-F238E27FC236}">
                  <a16:creationId xmlns:a16="http://schemas.microsoft.com/office/drawing/2014/main" id="{E0CAA776-7FF1-4333-85E4-3DE8E8F137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64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Line 13">
              <a:extLst>
                <a:ext uri="{FF2B5EF4-FFF2-40B4-BE49-F238E27FC236}">
                  <a16:creationId xmlns:a16="http://schemas.microsoft.com/office/drawing/2014/main" id="{421599EB-DD60-42A0-B9A2-8C8A367C46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526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Line 14">
              <a:extLst>
                <a:ext uri="{FF2B5EF4-FFF2-40B4-BE49-F238E27FC236}">
                  <a16:creationId xmlns:a16="http://schemas.microsoft.com/office/drawing/2014/main" id="{2E9C8672-7B98-4706-8FFA-6264B8E254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88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Line 15">
              <a:extLst>
                <a:ext uri="{FF2B5EF4-FFF2-40B4-BE49-F238E27FC236}">
                  <a16:creationId xmlns:a16="http://schemas.microsoft.com/office/drawing/2014/main" id="{DFC75CEF-579B-43B6-83A7-73A27C6492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50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Line 16">
              <a:extLst>
                <a:ext uri="{FF2B5EF4-FFF2-40B4-BE49-F238E27FC236}">
                  <a16:creationId xmlns:a16="http://schemas.microsoft.com/office/drawing/2014/main" id="{3AA12DBC-323D-4B7B-9713-8278EB3E48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812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Line 17">
              <a:extLst>
                <a:ext uri="{FF2B5EF4-FFF2-40B4-BE49-F238E27FC236}">
                  <a16:creationId xmlns:a16="http://schemas.microsoft.com/office/drawing/2014/main" id="{06755E6A-EC6C-41B0-89D4-E77228D648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574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Line 18">
              <a:extLst>
                <a:ext uri="{FF2B5EF4-FFF2-40B4-BE49-F238E27FC236}">
                  <a16:creationId xmlns:a16="http://schemas.microsoft.com/office/drawing/2014/main" id="{E44172BC-D6CA-4286-9696-927B6A20D2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336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Line 19">
              <a:extLst>
                <a:ext uri="{FF2B5EF4-FFF2-40B4-BE49-F238E27FC236}">
                  <a16:creationId xmlns:a16="http://schemas.microsoft.com/office/drawing/2014/main" id="{A21F942B-6BBD-432D-B3B0-ACE4D3C094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98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Line 20">
              <a:extLst>
                <a:ext uri="{FF2B5EF4-FFF2-40B4-BE49-F238E27FC236}">
                  <a16:creationId xmlns:a16="http://schemas.microsoft.com/office/drawing/2014/main" id="{763074B7-2F34-4BC6-B613-568FC3C5E1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60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Line 21">
              <a:extLst>
                <a:ext uri="{FF2B5EF4-FFF2-40B4-BE49-F238E27FC236}">
                  <a16:creationId xmlns:a16="http://schemas.microsoft.com/office/drawing/2014/main" id="{06C6DFE3-BBD6-4930-B72C-30F9E95679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22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Line 22">
              <a:extLst>
                <a:ext uri="{FF2B5EF4-FFF2-40B4-BE49-F238E27FC236}">
                  <a16:creationId xmlns:a16="http://schemas.microsoft.com/office/drawing/2014/main" id="{6D785C6C-8899-46D3-90E0-22CA61BFBE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84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Line 23">
              <a:extLst>
                <a:ext uri="{FF2B5EF4-FFF2-40B4-BE49-F238E27FC236}">
                  <a16:creationId xmlns:a16="http://schemas.microsoft.com/office/drawing/2014/main" id="{1A6383AE-9523-4988-A3CE-8543B66220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46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Line 24">
              <a:extLst>
                <a:ext uri="{FF2B5EF4-FFF2-40B4-BE49-F238E27FC236}">
                  <a16:creationId xmlns:a16="http://schemas.microsoft.com/office/drawing/2014/main" id="{D4DF871B-0E73-48FD-BBAE-CAB0255EC0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908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Line 25">
              <a:extLst>
                <a:ext uri="{FF2B5EF4-FFF2-40B4-BE49-F238E27FC236}">
                  <a16:creationId xmlns:a16="http://schemas.microsoft.com/office/drawing/2014/main" id="{8D1B2E36-1B29-41CC-8FC0-31A51E1411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70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Line 26">
              <a:extLst>
                <a:ext uri="{FF2B5EF4-FFF2-40B4-BE49-F238E27FC236}">
                  <a16:creationId xmlns:a16="http://schemas.microsoft.com/office/drawing/2014/main" id="{847C32F8-774B-46D5-8759-AC6B9D7FFB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432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Line 27">
              <a:extLst>
                <a:ext uri="{FF2B5EF4-FFF2-40B4-BE49-F238E27FC236}">
                  <a16:creationId xmlns:a16="http://schemas.microsoft.com/office/drawing/2014/main" id="{8BCB9151-D420-4F65-B632-8F30D58260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94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Line 28">
              <a:extLst>
                <a:ext uri="{FF2B5EF4-FFF2-40B4-BE49-F238E27FC236}">
                  <a16:creationId xmlns:a16="http://schemas.microsoft.com/office/drawing/2014/main" id="{E4D67066-1C1F-4715-9497-4ECEE90BD0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56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Line 29">
              <a:extLst>
                <a:ext uri="{FF2B5EF4-FFF2-40B4-BE49-F238E27FC236}">
                  <a16:creationId xmlns:a16="http://schemas.microsoft.com/office/drawing/2014/main" id="{81D4A677-6EEF-4A32-86A1-C3F2CA4901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718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30">
              <a:extLst>
                <a:ext uri="{FF2B5EF4-FFF2-40B4-BE49-F238E27FC236}">
                  <a16:creationId xmlns:a16="http://schemas.microsoft.com/office/drawing/2014/main" id="{DC8818EE-A16E-45B6-9243-173CFFD624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480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Line 31">
              <a:extLst>
                <a:ext uri="{FF2B5EF4-FFF2-40B4-BE49-F238E27FC236}">
                  <a16:creationId xmlns:a16="http://schemas.microsoft.com/office/drawing/2014/main" id="{19408B95-14C0-4A63-9DA0-34CC49CF62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42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Line 32">
              <a:extLst>
                <a:ext uri="{FF2B5EF4-FFF2-40B4-BE49-F238E27FC236}">
                  <a16:creationId xmlns:a16="http://schemas.microsoft.com/office/drawing/2014/main" id="{2217EB0D-2629-4216-847E-BE3F44F788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4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Line 33">
              <a:extLst>
                <a:ext uri="{FF2B5EF4-FFF2-40B4-BE49-F238E27FC236}">
                  <a16:creationId xmlns:a16="http://schemas.microsoft.com/office/drawing/2014/main" id="{BD687E1D-7703-4AB9-A65D-CD2EB4DBF7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66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Line 34">
              <a:extLst>
                <a:ext uri="{FF2B5EF4-FFF2-40B4-BE49-F238E27FC236}">
                  <a16:creationId xmlns:a16="http://schemas.microsoft.com/office/drawing/2014/main" id="{038C870C-230F-41CE-87ED-8CF376426A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28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Line 35">
              <a:extLst>
                <a:ext uri="{FF2B5EF4-FFF2-40B4-BE49-F238E27FC236}">
                  <a16:creationId xmlns:a16="http://schemas.microsoft.com/office/drawing/2014/main" id="{AEA7203B-EA90-4CBE-9A1A-F4950D82A8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90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Line 36">
              <a:extLst>
                <a:ext uri="{FF2B5EF4-FFF2-40B4-BE49-F238E27FC236}">
                  <a16:creationId xmlns:a16="http://schemas.microsoft.com/office/drawing/2014/main" id="{A4ADB50A-CC02-40FD-BC17-1B821CB132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052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Line 37">
              <a:extLst>
                <a:ext uri="{FF2B5EF4-FFF2-40B4-BE49-F238E27FC236}">
                  <a16:creationId xmlns:a16="http://schemas.microsoft.com/office/drawing/2014/main" id="{334E1CA2-801A-429D-9D99-BD6B273478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14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Line 38">
              <a:extLst>
                <a:ext uri="{FF2B5EF4-FFF2-40B4-BE49-F238E27FC236}">
                  <a16:creationId xmlns:a16="http://schemas.microsoft.com/office/drawing/2014/main" id="{2BB9BB1C-D71B-4A93-83D5-5BAF32632C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76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Line 39">
              <a:extLst>
                <a:ext uri="{FF2B5EF4-FFF2-40B4-BE49-F238E27FC236}">
                  <a16:creationId xmlns:a16="http://schemas.microsoft.com/office/drawing/2014/main" id="{E48B5BD6-C184-4376-8377-86E1E06B6E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338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Line 40">
              <a:extLst>
                <a:ext uri="{FF2B5EF4-FFF2-40B4-BE49-F238E27FC236}">
                  <a16:creationId xmlns:a16="http://schemas.microsoft.com/office/drawing/2014/main" id="{2BB4AF21-0110-4AA6-A95F-FD4FA6C696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100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Line 41">
              <a:extLst>
                <a:ext uri="{FF2B5EF4-FFF2-40B4-BE49-F238E27FC236}">
                  <a16:creationId xmlns:a16="http://schemas.microsoft.com/office/drawing/2014/main" id="{15A3982F-3075-443F-8FC6-97B59AD623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862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Line 42">
              <a:extLst>
                <a:ext uri="{FF2B5EF4-FFF2-40B4-BE49-F238E27FC236}">
                  <a16:creationId xmlns:a16="http://schemas.microsoft.com/office/drawing/2014/main" id="{67BF532A-90A7-422D-A434-75042D9208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24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Line 43">
              <a:extLst>
                <a:ext uri="{FF2B5EF4-FFF2-40B4-BE49-F238E27FC236}">
                  <a16:creationId xmlns:a16="http://schemas.microsoft.com/office/drawing/2014/main" id="{CF56464D-BED2-4734-944F-EC2B1826C1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386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Line 44">
              <a:extLst>
                <a:ext uri="{FF2B5EF4-FFF2-40B4-BE49-F238E27FC236}">
                  <a16:creationId xmlns:a16="http://schemas.microsoft.com/office/drawing/2014/main" id="{41FB4526-2F9F-452E-A95B-671DBA91E4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48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Line 45">
              <a:extLst>
                <a:ext uri="{FF2B5EF4-FFF2-40B4-BE49-F238E27FC236}">
                  <a16:creationId xmlns:a16="http://schemas.microsoft.com/office/drawing/2014/main" id="{8BA3A87D-8C0E-41CC-8F4B-1A798D50CC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910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Line 46">
              <a:extLst>
                <a:ext uri="{FF2B5EF4-FFF2-40B4-BE49-F238E27FC236}">
                  <a16:creationId xmlns:a16="http://schemas.microsoft.com/office/drawing/2014/main" id="{4CE3353C-033B-4C45-88CC-F74335D0D1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672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Line 47">
              <a:extLst>
                <a:ext uri="{FF2B5EF4-FFF2-40B4-BE49-F238E27FC236}">
                  <a16:creationId xmlns:a16="http://schemas.microsoft.com/office/drawing/2014/main" id="{336EDC78-27EA-4162-9041-A46CB7FFA9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434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Line 48">
              <a:extLst>
                <a:ext uri="{FF2B5EF4-FFF2-40B4-BE49-F238E27FC236}">
                  <a16:creationId xmlns:a16="http://schemas.microsoft.com/office/drawing/2014/main" id="{286AD14A-60E5-4157-B488-D28654524A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196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Line 49">
              <a:extLst>
                <a:ext uri="{FF2B5EF4-FFF2-40B4-BE49-F238E27FC236}">
                  <a16:creationId xmlns:a16="http://schemas.microsoft.com/office/drawing/2014/main" id="{934BFA3A-5D9B-4C48-B5CF-3C2AF63CFE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58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Line 50">
              <a:extLst>
                <a:ext uri="{FF2B5EF4-FFF2-40B4-BE49-F238E27FC236}">
                  <a16:creationId xmlns:a16="http://schemas.microsoft.com/office/drawing/2014/main" id="{F65B0C02-793B-4464-81DB-62A7F78546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720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Line 51">
              <a:extLst>
                <a:ext uri="{FF2B5EF4-FFF2-40B4-BE49-F238E27FC236}">
                  <a16:creationId xmlns:a16="http://schemas.microsoft.com/office/drawing/2014/main" id="{B4DC33CA-7C24-41F5-AF5E-C4A61E38A8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482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Line 52">
              <a:extLst>
                <a:ext uri="{FF2B5EF4-FFF2-40B4-BE49-F238E27FC236}">
                  <a16:creationId xmlns:a16="http://schemas.microsoft.com/office/drawing/2014/main" id="{69E014D3-645A-4EB8-89F9-3B2F34268C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244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Line 53">
              <a:extLst>
                <a:ext uri="{FF2B5EF4-FFF2-40B4-BE49-F238E27FC236}">
                  <a16:creationId xmlns:a16="http://schemas.microsoft.com/office/drawing/2014/main" id="{694685A1-48CE-4F25-8900-A21A99807F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006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Line 54">
              <a:extLst>
                <a:ext uri="{FF2B5EF4-FFF2-40B4-BE49-F238E27FC236}">
                  <a16:creationId xmlns:a16="http://schemas.microsoft.com/office/drawing/2014/main" id="{42DC803C-1949-4148-82E0-10C912EC56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68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Line 55">
              <a:extLst>
                <a:ext uri="{FF2B5EF4-FFF2-40B4-BE49-F238E27FC236}">
                  <a16:creationId xmlns:a16="http://schemas.microsoft.com/office/drawing/2014/main" id="{E71E9950-43DD-4463-8DBC-5C7000B41A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530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Line 56">
              <a:extLst>
                <a:ext uri="{FF2B5EF4-FFF2-40B4-BE49-F238E27FC236}">
                  <a16:creationId xmlns:a16="http://schemas.microsoft.com/office/drawing/2014/main" id="{9C6E2030-5CF5-410D-BFA7-6F9353154D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292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Line 57">
              <a:extLst>
                <a:ext uri="{FF2B5EF4-FFF2-40B4-BE49-F238E27FC236}">
                  <a16:creationId xmlns:a16="http://schemas.microsoft.com/office/drawing/2014/main" id="{A43D392C-7DA0-4A4F-8EBA-E5B3EF34CF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054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Line 58">
              <a:extLst>
                <a:ext uri="{FF2B5EF4-FFF2-40B4-BE49-F238E27FC236}">
                  <a16:creationId xmlns:a16="http://schemas.microsoft.com/office/drawing/2014/main" id="{41C9CF1A-3239-45A2-80A1-F05EF931F5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816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Line 59">
              <a:extLst>
                <a:ext uri="{FF2B5EF4-FFF2-40B4-BE49-F238E27FC236}">
                  <a16:creationId xmlns:a16="http://schemas.microsoft.com/office/drawing/2014/main" id="{D73D5DE2-F5FE-4D6C-AADF-E175CFF926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578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Line 60">
              <a:extLst>
                <a:ext uri="{FF2B5EF4-FFF2-40B4-BE49-F238E27FC236}">
                  <a16:creationId xmlns:a16="http://schemas.microsoft.com/office/drawing/2014/main" id="{E8845E85-016E-4E7D-A684-38D47889DB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340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Line 61">
              <a:extLst>
                <a:ext uri="{FF2B5EF4-FFF2-40B4-BE49-F238E27FC236}">
                  <a16:creationId xmlns:a16="http://schemas.microsoft.com/office/drawing/2014/main" id="{98BB8395-85D5-4025-8B6D-443D5F773B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102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Line 62">
              <a:extLst>
                <a:ext uri="{FF2B5EF4-FFF2-40B4-BE49-F238E27FC236}">
                  <a16:creationId xmlns:a16="http://schemas.microsoft.com/office/drawing/2014/main" id="{7DCD46AE-A970-41B7-9306-8DE9F46531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864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Line 63">
              <a:extLst>
                <a:ext uri="{FF2B5EF4-FFF2-40B4-BE49-F238E27FC236}">
                  <a16:creationId xmlns:a16="http://schemas.microsoft.com/office/drawing/2014/main" id="{EE00207A-6028-43B3-98A1-437157935D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626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Line 64">
              <a:extLst>
                <a:ext uri="{FF2B5EF4-FFF2-40B4-BE49-F238E27FC236}">
                  <a16:creationId xmlns:a16="http://schemas.microsoft.com/office/drawing/2014/main" id="{955DC0AE-3E7D-4E2A-A1A2-077EBB9EDA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388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Line 65">
              <a:extLst>
                <a:ext uri="{FF2B5EF4-FFF2-40B4-BE49-F238E27FC236}">
                  <a16:creationId xmlns:a16="http://schemas.microsoft.com/office/drawing/2014/main" id="{8C012CF7-6530-48E8-8F66-A9EC8C5D1A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150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Line 66">
              <a:extLst>
                <a:ext uri="{FF2B5EF4-FFF2-40B4-BE49-F238E27FC236}">
                  <a16:creationId xmlns:a16="http://schemas.microsoft.com/office/drawing/2014/main" id="{046AB74C-0FB4-472F-86C8-1C6B1ABCD4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912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Line 67">
              <a:extLst>
                <a:ext uri="{FF2B5EF4-FFF2-40B4-BE49-F238E27FC236}">
                  <a16:creationId xmlns:a16="http://schemas.microsoft.com/office/drawing/2014/main" id="{CF6F637D-C7C2-4CA0-A416-46E88FC5A8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674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Line 68">
              <a:extLst>
                <a:ext uri="{FF2B5EF4-FFF2-40B4-BE49-F238E27FC236}">
                  <a16:creationId xmlns:a16="http://schemas.microsoft.com/office/drawing/2014/main" id="{6B7EA82D-9FB0-4085-B3DC-F5DE79C837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436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Line 69">
              <a:extLst>
                <a:ext uri="{FF2B5EF4-FFF2-40B4-BE49-F238E27FC236}">
                  <a16:creationId xmlns:a16="http://schemas.microsoft.com/office/drawing/2014/main" id="{5C60E65B-1DED-4070-8CBF-7AB0DDFDA4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198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Line 70">
              <a:extLst>
                <a:ext uri="{FF2B5EF4-FFF2-40B4-BE49-F238E27FC236}">
                  <a16:creationId xmlns:a16="http://schemas.microsoft.com/office/drawing/2014/main" id="{C33C345F-77A7-41DF-8387-2197A7CA92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960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Line 71">
              <a:extLst>
                <a:ext uri="{FF2B5EF4-FFF2-40B4-BE49-F238E27FC236}">
                  <a16:creationId xmlns:a16="http://schemas.microsoft.com/office/drawing/2014/main" id="{064CF086-5873-4B6E-93B7-6B8850D159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722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Line 72">
              <a:extLst>
                <a:ext uri="{FF2B5EF4-FFF2-40B4-BE49-F238E27FC236}">
                  <a16:creationId xmlns:a16="http://schemas.microsoft.com/office/drawing/2014/main" id="{8E9017CE-BC81-4A66-B362-FCD7AA10F9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484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Line 73">
              <a:extLst>
                <a:ext uri="{FF2B5EF4-FFF2-40B4-BE49-F238E27FC236}">
                  <a16:creationId xmlns:a16="http://schemas.microsoft.com/office/drawing/2014/main" id="{D8F81905-F934-4F49-A923-602F001D05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46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Line 74">
              <a:extLst>
                <a:ext uri="{FF2B5EF4-FFF2-40B4-BE49-F238E27FC236}">
                  <a16:creationId xmlns:a16="http://schemas.microsoft.com/office/drawing/2014/main" id="{0F32A124-2B7C-4D65-9D09-FB8FBC5A3C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00850" y="46974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Line 75">
              <a:extLst>
                <a:ext uri="{FF2B5EF4-FFF2-40B4-BE49-F238E27FC236}">
                  <a16:creationId xmlns:a16="http://schemas.microsoft.com/office/drawing/2014/main" id="{83EAD75C-9782-4246-A3A9-DCFE88247C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92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Line 76">
              <a:extLst>
                <a:ext uri="{FF2B5EF4-FFF2-40B4-BE49-F238E27FC236}">
                  <a16:creationId xmlns:a16="http://schemas.microsoft.com/office/drawing/2014/main" id="{2A57A562-DEE4-440F-8D3C-3789D69611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954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Line 77">
              <a:extLst>
                <a:ext uri="{FF2B5EF4-FFF2-40B4-BE49-F238E27FC236}">
                  <a16:creationId xmlns:a16="http://schemas.microsoft.com/office/drawing/2014/main" id="{391161A5-6053-4AEE-8B34-B6ECE618D7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16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Line 78">
              <a:extLst>
                <a:ext uri="{FF2B5EF4-FFF2-40B4-BE49-F238E27FC236}">
                  <a16:creationId xmlns:a16="http://schemas.microsoft.com/office/drawing/2014/main" id="{3EBCDBA8-F4F0-496D-94D4-7B22DEFAD5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478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Line 79">
              <a:extLst>
                <a:ext uri="{FF2B5EF4-FFF2-40B4-BE49-F238E27FC236}">
                  <a16:creationId xmlns:a16="http://schemas.microsoft.com/office/drawing/2014/main" id="{F87C45C1-3190-4123-B09E-031B6D2B5E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40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Line 80">
              <a:extLst>
                <a:ext uri="{FF2B5EF4-FFF2-40B4-BE49-F238E27FC236}">
                  <a16:creationId xmlns:a16="http://schemas.microsoft.com/office/drawing/2014/main" id="{2669BD23-16D5-4E9A-9B15-04681AD150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02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Line 81">
              <a:extLst>
                <a:ext uri="{FF2B5EF4-FFF2-40B4-BE49-F238E27FC236}">
                  <a16:creationId xmlns:a16="http://schemas.microsoft.com/office/drawing/2014/main" id="{4C3639FF-6E48-4CCE-A66F-383EAB40FC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64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Line 82">
              <a:extLst>
                <a:ext uri="{FF2B5EF4-FFF2-40B4-BE49-F238E27FC236}">
                  <a16:creationId xmlns:a16="http://schemas.microsoft.com/office/drawing/2014/main" id="{8683791F-0907-4D11-9491-525A5EDA84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526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Line 83">
              <a:extLst>
                <a:ext uri="{FF2B5EF4-FFF2-40B4-BE49-F238E27FC236}">
                  <a16:creationId xmlns:a16="http://schemas.microsoft.com/office/drawing/2014/main" id="{6B67F224-1330-41F2-AE8A-FFB57CDF3D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88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Line 84">
              <a:extLst>
                <a:ext uri="{FF2B5EF4-FFF2-40B4-BE49-F238E27FC236}">
                  <a16:creationId xmlns:a16="http://schemas.microsoft.com/office/drawing/2014/main" id="{6B4855AB-A0B7-4FFC-9320-900E4BEF4C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50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Line 85">
              <a:extLst>
                <a:ext uri="{FF2B5EF4-FFF2-40B4-BE49-F238E27FC236}">
                  <a16:creationId xmlns:a16="http://schemas.microsoft.com/office/drawing/2014/main" id="{C06FEBEA-1251-4DA3-BAE6-5893F3FA32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812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Line 86">
              <a:extLst>
                <a:ext uri="{FF2B5EF4-FFF2-40B4-BE49-F238E27FC236}">
                  <a16:creationId xmlns:a16="http://schemas.microsoft.com/office/drawing/2014/main" id="{0086E9FC-135C-408E-BBA9-0DAB122DDE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574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Line 87">
              <a:extLst>
                <a:ext uri="{FF2B5EF4-FFF2-40B4-BE49-F238E27FC236}">
                  <a16:creationId xmlns:a16="http://schemas.microsoft.com/office/drawing/2014/main" id="{0B3B65F7-FF29-4BEB-B975-ADE3E51818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336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Line 88">
              <a:extLst>
                <a:ext uri="{FF2B5EF4-FFF2-40B4-BE49-F238E27FC236}">
                  <a16:creationId xmlns:a16="http://schemas.microsoft.com/office/drawing/2014/main" id="{70DA8896-4303-49C8-BBA6-70FB46456D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98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Line 89">
              <a:extLst>
                <a:ext uri="{FF2B5EF4-FFF2-40B4-BE49-F238E27FC236}">
                  <a16:creationId xmlns:a16="http://schemas.microsoft.com/office/drawing/2014/main" id="{B8746ABA-9147-42EC-AD5F-6AE9560D40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60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Line 90">
              <a:extLst>
                <a:ext uri="{FF2B5EF4-FFF2-40B4-BE49-F238E27FC236}">
                  <a16:creationId xmlns:a16="http://schemas.microsoft.com/office/drawing/2014/main" id="{F8FA64B1-8E80-42AC-96C8-2DE2D1C71B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22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Line 91">
              <a:extLst>
                <a:ext uri="{FF2B5EF4-FFF2-40B4-BE49-F238E27FC236}">
                  <a16:creationId xmlns:a16="http://schemas.microsoft.com/office/drawing/2014/main" id="{1206D68B-2BD3-49F4-B5F5-E3F7ED696E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84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Line 92">
              <a:extLst>
                <a:ext uri="{FF2B5EF4-FFF2-40B4-BE49-F238E27FC236}">
                  <a16:creationId xmlns:a16="http://schemas.microsoft.com/office/drawing/2014/main" id="{16BC8530-EB96-42AC-9586-95C62842CA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46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Line 93">
              <a:extLst>
                <a:ext uri="{FF2B5EF4-FFF2-40B4-BE49-F238E27FC236}">
                  <a16:creationId xmlns:a16="http://schemas.microsoft.com/office/drawing/2014/main" id="{E959FE86-F1C3-405A-B63B-CF6EC45567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908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Line 94">
              <a:extLst>
                <a:ext uri="{FF2B5EF4-FFF2-40B4-BE49-F238E27FC236}">
                  <a16:creationId xmlns:a16="http://schemas.microsoft.com/office/drawing/2014/main" id="{CD2FAEE9-7F5F-4A84-AE15-C8DA78457B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70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Line 95">
              <a:extLst>
                <a:ext uri="{FF2B5EF4-FFF2-40B4-BE49-F238E27FC236}">
                  <a16:creationId xmlns:a16="http://schemas.microsoft.com/office/drawing/2014/main" id="{A25855E7-B48C-43B8-A091-11006CD4B5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432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Line 96">
              <a:extLst>
                <a:ext uri="{FF2B5EF4-FFF2-40B4-BE49-F238E27FC236}">
                  <a16:creationId xmlns:a16="http://schemas.microsoft.com/office/drawing/2014/main" id="{5AA7DC5C-9B0A-4E24-89BD-FD48BB4D75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94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Line 97">
              <a:extLst>
                <a:ext uri="{FF2B5EF4-FFF2-40B4-BE49-F238E27FC236}">
                  <a16:creationId xmlns:a16="http://schemas.microsoft.com/office/drawing/2014/main" id="{E2875D75-E169-4C45-AE8D-66A2FFA973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56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Line 98">
              <a:extLst>
                <a:ext uri="{FF2B5EF4-FFF2-40B4-BE49-F238E27FC236}">
                  <a16:creationId xmlns:a16="http://schemas.microsoft.com/office/drawing/2014/main" id="{58465977-DEE0-4B77-A19D-B248D46EDA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718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07" name="Line 99">
              <a:extLst>
                <a:ext uri="{FF2B5EF4-FFF2-40B4-BE49-F238E27FC236}">
                  <a16:creationId xmlns:a16="http://schemas.microsoft.com/office/drawing/2014/main" id="{5A673620-C4E7-4373-8109-0523F6803D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480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Line 100">
              <a:extLst>
                <a:ext uri="{FF2B5EF4-FFF2-40B4-BE49-F238E27FC236}">
                  <a16:creationId xmlns:a16="http://schemas.microsoft.com/office/drawing/2014/main" id="{6B0A6AC1-8F0B-4DB5-AAFE-E9782AA9B0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42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Line 101">
              <a:extLst>
                <a:ext uri="{FF2B5EF4-FFF2-40B4-BE49-F238E27FC236}">
                  <a16:creationId xmlns:a16="http://schemas.microsoft.com/office/drawing/2014/main" id="{4137D522-DA9E-4291-9B59-42785B4C78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4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Line 102">
              <a:extLst>
                <a:ext uri="{FF2B5EF4-FFF2-40B4-BE49-F238E27FC236}">
                  <a16:creationId xmlns:a16="http://schemas.microsoft.com/office/drawing/2014/main" id="{69D8994B-802A-4135-B00B-10038A4E4A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66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Line 103">
              <a:extLst>
                <a:ext uri="{FF2B5EF4-FFF2-40B4-BE49-F238E27FC236}">
                  <a16:creationId xmlns:a16="http://schemas.microsoft.com/office/drawing/2014/main" id="{1D4B6FD3-A17B-4D3B-B07D-331B7B6BC8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28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Line 104">
              <a:extLst>
                <a:ext uri="{FF2B5EF4-FFF2-40B4-BE49-F238E27FC236}">
                  <a16:creationId xmlns:a16="http://schemas.microsoft.com/office/drawing/2014/main" id="{C8D7A6F9-B103-4DC9-8706-9ADC579907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90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Line 105">
              <a:extLst>
                <a:ext uri="{FF2B5EF4-FFF2-40B4-BE49-F238E27FC236}">
                  <a16:creationId xmlns:a16="http://schemas.microsoft.com/office/drawing/2014/main" id="{7F7AF15F-E4E6-47C9-978F-C14331462D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052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4" name="Line 106">
              <a:extLst>
                <a:ext uri="{FF2B5EF4-FFF2-40B4-BE49-F238E27FC236}">
                  <a16:creationId xmlns:a16="http://schemas.microsoft.com/office/drawing/2014/main" id="{31C12668-3089-48AE-AE2C-0A05D686E3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14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5" name="Line 107">
              <a:extLst>
                <a:ext uri="{FF2B5EF4-FFF2-40B4-BE49-F238E27FC236}">
                  <a16:creationId xmlns:a16="http://schemas.microsoft.com/office/drawing/2014/main" id="{398B6E20-501F-4550-A301-E9C651417C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76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6" name="Line 108">
              <a:extLst>
                <a:ext uri="{FF2B5EF4-FFF2-40B4-BE49-F238E27FC236}">
                  <a16:creationId xmlns:a16="http://schemas.microsoft.com/office/drawing/2014/main" id="{4D4E1AC4-EB56-44A9-BA6F-23479D830F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338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7" name="Line 109">
              <a:extLst>
                <a:ext uri="{FF2B5EF4-FFF2-40B4-BE49-F238E27FC236}">
                  <a16:creationId xmlns:a16="http://schemas.microsoft.com/office/drawing/2014/main" id="{14459719-438A-4B9F-B2CF-2BD81CED16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100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8" name="Line 110">
              <a:extLst>
                <a:ext uri="{FF2B5EF4-FFF2-40B4-BE49-F238E27FC236}">
                  <a16:creationId xmlns:a16="http://schemas.microsoft.com/office/drawing/2014/main" id="{9624B7A3-F409-4813-AD19-2BB15A7BE1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862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9" name="Line 111">
              <a:extLst>
                <a:ext uri="{FF2B5EF4-FFF2-40B4-BE49-F238E27FC236}">
                  <a16:creationId xmlns:a16="http://schemas.microsoft.com/office/drawing/2014/main" id="{4BF0D008-BCDD-4260-AF05-829B3B289A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24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0" name="Line 112">
              <a:extLst>
                <a:ext uri="{FF2B5EF4-FFF2-40B4-BE49-F238E27FC236}">
                  <a16:creationId xmlns:a16="http://schemas.microsoft.com/office/drawing/2014/main" id="{A164CD22-830D-4794-A11E-578820E29E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386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1" name="Line 113">
              <a:extLst>
                <a:ext uri="{FF2B5EF4-FFF2-40B4-BE49-F238E27FC236}">
                  <a16:creationId xmlns:a16="http://schemas.microsoft.com/office/drawing/2014/main" id="{9238A5FC-F45B-4418-BB5D-DDDF8448BB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48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2" name="Line 114">
              <a:extLst>
                <a:ext uri="{FF2B5EF4-FFF2-40B4-BE49-F238E27FC236}">
                  <a16:creationId xmlns:a16="http://schemas.microsoft.com/office/drawing/2014/main" id="{0CDBD4DF-3BA8-42CB-8B12-25F29CE503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910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3" name="Line 115">
              <a:extLst>
                <a:ext uri="{FF2B5EF4-FFF2-40B4-BE49-F238E27FC236}">
                  <a16:creationId xmlns:a16="http://schemas.microsoft.com/office/drawing/2014/main" id="{3E429023-5213-4737-8A14-69228AE49C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672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4" name="Line 116">
              <a:extLst>
                <a:ext uri="{FF2B5EF4-FFF2-40B4-BE49-F238E27FC236}">
                  <a16:creationId xmlns:a16="http://schemas.microsoft.com/office/drawing/2014/main" id="{E999DB51-2E64-45CD-8A0E-80E7B6F5C0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434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5" name="Line 117">
              <a:extLst>
                <a:ext uri="{FF2B5EF4-FFF2-40B4-BE49-F238E27FC236}">
                  <a16:creationId xmlns:a16="http://schemas.microsoft.com/office/drawing/2014/main" id="{A69C38FE-89F6-4BF6-960F-92664B6150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196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6" name="Line 118">
              <a:extLst>
                <a:ext uri="{FF2B5EF4-FFF2-40B4-BE49-F238E27FC236}">
                  <a16:creationId xmlns:a16="http://schemas.microsoft.com/office/drawing/2014/main" id="{EA19609F-CE41-494E-91BA-F7A2370E18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58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7" name="Line 119">
              <a:extLst>
                <a:ext uri="{FF2B5EF4-FFF2-40B4-BE49-F238E27FC236}">
                  <a16:creationId xmlns:a16="http://schemas.microsoft.com/office/drawing/2014/main" id="{9E2A2575-94AA-4110-9139-0164FEFD1C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720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8" name="Line 120">
              <a:extLst>
                <a:ext uri="{FF2B5EF4-FFF2-40B4-BE49-F238E27FC236}">
                  <a16:creationId xmlns:a16="http://schemas.microsoft.com/office/drawing/2014/main" id="{D6E875E9-D17D-41E3-B8F7-A1B8A69827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482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9" name="Line 121">
              <a:extLst>
                <a:ext uri="{FF2B5EF4-FFF2-40B4-BE49-F238E27FC236}">
                  <a16:creationId xmlns:a16="http://schemas.microsoft.com/office/drawing/2014/main" id="{3922ED03-841B-442D-BD84-3A0F0ECCCA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244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0" name="Line 122">
              <a:extLst>
                <a:ext uri="{FF2B5EF4-FFF2-40B4-BE49-F238E27FC236}">
                  <a16:creationId xmlns:a16="http://schemas.microsoft.com/office/drawing/2014/main" id="{B8DD9D0D-F61B-4FED-B458-BA7459B950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006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1" name="Line 123">
              <a:extLst>
                <a:ext uri="{FF2B5EF4-FFF2-40B4-BE49-F238E27FC236}">
                  <a16:creationId xmlns:a16="http://schemas.microsoft.com/office/drawing/2014/main" id="{169A8A8D-C120-4745-8E82-E833227938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68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2" name="Line 124">
              <a:extLst>
                <a:ext uri="{FF2B5EF4-FFF2-40B4-BE49-F238E27FC236}">
                  <a16:creationId xmlns:a16="http://schemas.microsoft.com/office/drawing/2014/main" id="{D8CC56AD-624A-4FC3-ACA5-F634F10E3A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530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3" name="Line 125">
              <a:extLst>
                <a:ext uri="{FF2B5EF4-FFF2-40B4-BE49-F238E27FC236}">
                  <a16:creationId xmlns:a16="http://schemas.microsoft.com/office/drawing/2014/main" id="{500F1A17-AA20-494A-8A8E-4CCEDB2DD2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292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4" name="Line 126">
              <a:extLst>
                <a:ext uri="{FF2B5EF4-FFF2-40B4-BE49-F238E27FC236}">
                  <a16:creationId xmlns:a16="http://schemas.microsoft.com/office/drawing/2014/main" id="{53A5481F-71CB-4A7F-A468-BC101CE51E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054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5" name="Line 127">
              <a:extLst>
                <a:ext uri="{FF2B5EF4-FFF2-40B4-BE49-F238E27FC236}">
                  <a16:creationId xmlns:a16="http://schemas.microsoft.com/office/drawing/2014/main" id="{B10CA8BE-5F3A-4201-AB8D-187E010B1F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816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6" name="Line 128">
              <a:extLst>
                <a:ext uri="{FF2B5EF4-FFF2-40B4-BE49-F238E27FC236}">
                  <a16:creationId xmlns:a16="http://schemas.microsoft.com/office/drawing/2014/main" id="{942F01CA-9C5E-4D59-998B-231484CAA7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578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7" name="Line 129">
              <a:extLst>
                <a:ext uri="{FF2B5EF4-FFF2-40B4-BE49-F238E27FC236}">
                  <a16:creationId xmlns:a16="http://schemas.microsoft.com/office/drawing/2014/main" id="{9B98486D-1BE5-4EA1-907E-ECB2E21B89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340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8" name="Line 130">
              <a:extLst>
                <a:ext uri="{FF2B5EF4-FFF2-40B4-BE49-F238E27FC236}">
                  <a16:creationId xmlns:a16="http://schemas.microsoft.com/office/drawing/2014/main" id="{F9A9BB9B-2914-4925-AE9B-0152629C9A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102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9" name="Line 131">
              <a:extLst>
                <a:ext uri="{FF2B5EF4-FFF2-40B4-BE49-F238E27FC236}">
                  <a16:creationId xmlns:a16="http://schemas.microsoft.com/office/drawing/2014/main" id="{836460C2-7DE7-4DD1-A2FA-2026856A69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864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40" name="Line 132">
              <a:extLst>
                <a:ext uri="{FF2B5EF4-FFF2-40B4-BE49-F238E27FC236}">
                  <a16:creationId xmlns:a16="http://schemas.microsoft.com/office/drawing/2014/main" id="{E8E55439-A854-481A-86F9-C55D996B10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626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41" name="Line 133">
              <a:extLst>
                <a:ext uri="{FF2B5EF4-FFF2-40B4-BE49-F238E27FC236}">
                  <a16:creationId xmlns:a16="http://schemas.microsoft.com/office/drawing/2014/main" id="{85A4754F-F4F0-4F42-8075-776FD96D25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388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42" name="Line 134">
              <a:extLst>
                <a:ext uri="{FF2B5EF4-FFF2-40B4-BE49-F238E27FC236}">
                  <a16:creationId xmlns:a16="http://schemas.microsoft.com/office/drawing/2014/main" id="{432B2B33-4ECA-4CF4-97F4-3550164852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150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43" name="Line 135">
              <a:extLst>
                <a:ext uri="{FF2B5EF4-FFF2-40B4-BE49-F238E27FC236}">
                  <a16:creationId xmlns:a16="http://schemas.microsoft.com/office/drawing/2014/main" id="{FC5BCEA2-BA05-4410-ACD3-10E6265F1F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912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44" name="Line 136">
              <a:extLst>
                <a:ext uri="{FF2B5EF4-FFF2-40B4-BE49-F238E27FC236}">
                  <a16:creationId xmlns:a16="http://schemas.microsoft.com/office/drawing/2014/main" id="{A67C4583-FECE-4F50-A45A-5B901F5CF1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674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45" name="Line 137">
              <a:extLst>
                <a:ext uri="{FF2B5EF4-FFF2-40B4-BE49-F238E27FC236}">
                  <a16:creationId xmlns:a16="http://schemas.microsoft.com/office/drawing/2014/main" id="{04FF32B6-A369-44DA-AB39-7E05B98DB3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436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46" name="Line 138">
              <a:extLst>
                <a:ext uri="{FF2B5EF4-FFF2-40B4-BE49-F238E27FC236}">
                  <a16:creationId xmlns:a16="http://schemas.microsoft.com/office/drawing/2014/main" id="{B79359DA-1246-4289-83B6-A1E397C01F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198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47" name="Line 139">
              <a:extLst>
                <a:ext uri="{FF2B5EF4-FFF2-40B4-BE49-F238E27FC236}">
                  <a16:creationId xmlns:a16="http://schemas.microsoft.com/office/drawing/2014/main" id="{E6D6E9FC-4C73-4968-A64D-00A48B88AB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960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48" name="Line 140">
              <a:extLst>
                <a:ext uri="{FF2B5EF4-FFF2-40B4-BE49-F238E27FC236}">
                  <a16:creationId xmlns:a16="http://schemas.microsoft.com/office/drawing/2014/main" id="{0CC39601-9777-4008-9D92-ABA09ED414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722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49" name="Line 141">
              <a:extLst>
                <a:ext uri="{FF2B5EF4-FFF2-40B4-BE49-F238E27FC236}">
                  <a16:creationId xmlns:a16="http://schemas.microsoft.com/office/drawing/2014/main" id="{66F239D2-8C4B-4A3F-A08F-0C60F2B6EC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484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0" name="Line 142">
              <a:extLst>
                <a:ext uri="{FF2B5EF4-FFF2-40B4-BE49-F238E27FC236}">
                  <a16:creationId xmlns:a16="http://schemas.microsoft.com/office/drawing/2014/main" id="{3DD28CB6-CE80-4357-8A76-3D2384C9E6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46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1" name="Line 143">
              <a:extLst>
                <a:ext uri="{FF2B5EF4-FFF2-40B4-BE49-F238E27FC236}">
                  <a16:creationId xmlns:a16="http://schemas.microsoft.com/office/drawing/2014/main" id="{C2EBA944-3364-418C-9D67-E0A8565BDB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00850" y="37322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2" name="Line 144">
              <a:extLst>
                <a:ext uri="{FF2B5EF4-FFF2-40B4-BE49-F238E27FC236}">
                  <a16:creationId xmlns:a16="http://schemas.microsoft.com/office/drawing/2014/main" id="{FA9F3D6E-2CCE-4649-9519-243CC8391B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92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3" name="Line 145">
              <a:extLst>
                <a:ext uri="{FF2B5EF4-FFF2-40B4-BE49-F238E27FC236}">
                  <a16:creationId xmlns:a16="http://schemas.microsoft.com/office/drawing/2014/main" id="{51815391-8E18-4E85-A08A-4F78624265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954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4" name="Line 146">
              <a:extLst>
                <a:ext uri="{FF2B5EF4-FFF2-40B4-BE49-F238E27FC236}">
                  <a16:creationId xmlns:a16="http://schemas.microsoft.com/office/drawing/2014/main" id="{88C8BE64-C822-4DA0-B5C6-79108CE1D4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16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5" name="Line 147">
              <a:extLst>
                <a:ext uri="{FF2B5EF4-FFF2-40B4-BE49-F238E27FC236}">
                  <a16:creationId xmlns:a16="http://schemas.microsoft.com/office/drawing/2014/main" id="{AAEB6F55-6CFB-4D7D-9C11-96547D3446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478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6" name="Line 148">
              <a:extLst>
                <a:ext uri="{FF2B5EF4-FFF2-40B4-BE49-F238E27FC236}">
                  <a16:creationId xmlns:a16="http://schemas.microsoft.com/office/drawing/2014/main" id="{96EBC174-11AE-424A-AF58-C0568046BE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40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7" name="Line 149">
              <a:extLst>
                <a:ext uri="{FF2B5EF4-FFF2-40B4-BE49-F238E27FC236}">
                  <a16:creationId xmlns:a16="http://schemas.microsoft.com/office/drawing/2014/main" id="{84780D88-CF3B-4F72-B11C-CED15DD2E7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02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8" name="Line 150">
              <a:extLst>
                <a:ext uri="{FF2B5EF4-FFF2-40B4-BE49-F238E27FC236}">
                  <a16:creationId xmlns:a16="http://schemas.microsoft.com/office/drawing/2014/main" id="{25463121-15BD-4074-BD7B-83FB54BC42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64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9" name="Line 151">
              <a:extLst>
                <a:ext uri="{FF2B5EF4-FFF2-40B4-BE49-F238E27FC236}">
                  <a16:creationId xmlns:a16="http://schemas.microsoft.com/office/drawing/2014/main" id="{AF0A1561-C2A2-41EE-8C35-3217B94BDD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526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60" name="Line 152">
              <a:extLst>
                <a:ext uri="{FF2B5EF4-FFF2-40B4-BE49-F238E27FC236}">
                  <a16:creationId xmlns:a16="http://schemas.microsoft.com/office/drawing/2014/main" id="{853E60FA-B04E-44A9-93E4-CF94EAC185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88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61" name="Line 153">
              <a:extLst>
                <a:ext uri="{FF2B5EF4-FFF2-40B4-BE49-F238E27FC236}">
                  <a16:creationId xmlns:a16="http://schemas.microsoft.com/office/drawing/2014/main" id="{843D401C-1B83-45F5-B5FC-E7593AD7E5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50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62" name="Line 154">
              <a:extLst>
                <a:ext uri="{FF2B5EF4-FFF2-40B4-BE49-F238E27FC236}">
                  <a16:creationId xmlns:a16="http://schemas.microsoft.com/office/drawing/2014/main" id="{C9203E51-6FA8-41AE-9270-BDC9C4BA4C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812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63" name="Line 155">
              <a:extLst>
                <a:ext uri="{FF2B5EF4-FFF2-40B4-BE49-F238E27FC236}">
                  <a16:creationId xmlns:a16="http://schemas.microsoft.com/office/drawing/2014/main" id="{2DFA4CCA-3F0D-496D-B610-B17EB7D676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574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64" name="Line 156">
              <a:extLst>
                <a:ext uri="{FF2B5EF4-FFF2-40B4-BE49-F238E27FC236}">
                  <a16:creationId xmlns:a16="http://schemas.microsoft.com/office/drawing/2014/main" id="{F20612B8-E4EC-4B4D-A615-044CFF1CE7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336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65" name="Line 157">
              <a:extLst>
                <a:ext uri="{FF2B5EF4-FFF2-40B4-BE49-F238E27FC236}">
                  <a16:creationId xmlns:a16="http://schemas.microsoft.com/office/drawing/2014/main" id="{625A4B4A-6E80-4B41-BAB3-870F3BAD42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98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66" name="Line 158">
              <a:extLst>
                <a:ext uri="{FF2B5EF4-FFF2-40B4-BE49-F238E27FC236}">
                  <a16:creationId xmlns:a16="http://schemas.microsoft.com/office/drawing/2014/main" id="{0E5C2590-BC98-4811-BEF2-FDE59B02C2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60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67" name="Line 159">
              <a:extLst>
                <a:ext uri="{FF2B5EF4-FFF2-40B4-BE49-F238E27FC236}">
                  <a16:creationId xmlns:a16="http://schemas.microsoft.com/office/drawing/2014/main" id="{A46B82F8-EE8D-447B-8211-704D87F735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22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68" name="Line 160">
              <a:extLst>
                <a:ext uri="{FF2B5EF4-FFF2-40B4-BE49-F238E27FC236}">
                  <a16:creationId xmlns:a16="http://schemas.microsoft.com/office/drawing/2014/main" id="{F3B3421D-0E84-47D9-89AF-FB753BAB35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84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69" name="Line 161">
              <a:extLst>
                <a:ext uri="{FF2B5EF4-FFF2-40B4-BE49-F238E27FC236}">
                  <a16:creationId xmlns:a16="http://schemas.microsoft.com/office/drawing/2014/main" id="{AA5A3C1E-A5AC-4943-86B6-FB76C45BE9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46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70" name="Line 162">
              <a:extLst>
                <a:ext uri="{FF2B5EF4-FFF2-40B4-BE49-F238E27FC236}">
                  <a16:creationId xmlns:a16="http://schemas.microsoft.com/office/drawing/2014/main" id="{55591792-E7C8-418E-934A-572D3C389C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908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71" name="Line 163">
              <a:extLst>
                <a:ext uri="{FF2B5EF4-FFF2-40B4-BE49-F238E27FC236}">
                  <a16:creationId xmlns:a16="http://schemas.microsoft.com/office/drawing/2014/main" id="{4C43E5D5-50B6-45A9-9735-AA8C9CB70A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70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72" name="Line 164">
              <a:extLst>
                <a:ext uri="{FF2B5EF4-FFF2-40B4-BE49-F238E27FC236}">
                  <a16:creationId xmlns:a16="http://schemas.microsoft.com/office/drawing/2014/main" id="{5AAD5B4A-0704-4ACC-8917-D58C1BA71E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432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73" name="Line 165">
              <a:extLst>
                <a:ext uri="{FF2B5EF4-FFF2-40B4-BE49-F238E27FC236}">
                  <a16:creationId xmlns:a16="http://schemas.microsoft.com/office/drawing/2014/main" id="{0441E622-18AF-4B44-A919-14B69E4D10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94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74" name="Line 166">
              <a:extLst>
                <a:ext uri="{FF2B5EF4-FFF2-40B4-BE49-F238E27FC236}">
                  <a16:creationId xmlns:a16="http://schemas.microsoft.com/office/drawing/2014/main" id="{FE009F9E-E080-49FD-9312-DE3219433A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56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75" name="Line 167">
              <a:extLst>
                <a:ext uri="{FF2B5EF4-FFF2-40B4-BE49-F238E27FC236}">
                  <a16:creationId xmlns:a16="http://schemas.microsoft.com/office/drawing/2014/main" id="{8D067B46-DE7E-4A28-BD88-1598BEC2E9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718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76" name="Line 168">
              <a:extLst>
                <a:ext uri="{FF2B5EF4-FFF2-40B4-BE49-F238E27FC236}">
                  <a16:creationId xmlns:a16="http://schemas.microsoft.com/office/drawing/2014/main" id="{1C6DC3BB-7A58-439E-8D34-2D3DA3F81D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480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77" name="Line 169">
              <a:extLst>
                <a:ext uri="{FF2B5EF4-FFF2-40B4-BE49-F238E27FC236}">
                  <a16:creationId xmlns:a16="http://schemas.microsoft.com/office/drawing/2014/main" id="{09389425-CF72-44FA-88DB-10CDA081EC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42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78" name="Line 170">
              <a:extLst>
                <a:ext uri="{FF2B5EF4-FFF2-40B4-BE49-F238E27FC236}">
                  <a16:creationId xmlns:a16="http://schemas.microsoft.com/office/drawing/2014/main" id="{648E5EE6-E834-450C-8F65-C2C49C3BB8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4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79" name="Line 171">
              <a:extLst>
                <a:ext uri="{FF2B5EF4-FFF2-40B4-BE49-F238E27FC236}">
                  <a16:creationId xmlns:a16="http://schemas.microsoft.com/office/drawing/2014/main" id="{B402511B-D524-42FA-8980-86218E131A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66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80" name="Line 172">
              <a:extLst>
                <a:ext uri="{FF2B5EF4-FFF2-40B4-BE49-F238E27FC236}">
                  <a16:creationId xmlns:a16="http://schemas.microsoft.com/office/drawing/2014/main" id="{9125ACDE-0800-4CE2-ACA3-62F8CBC854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28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81" name="Line 173">
              <a:extLst>
                <a:ext uri="{FF2B5EF4-FFF2-40B4-BE49-F238E27FC236}">
                  <a16:creationId xmlns:a16="http://schemas.microsoft.com/office/drawing/2014/main" id="{049B3015-990F-40E6-B51B-E5BC41D53D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90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82" name="Line 174">
              <a:extLst>
                <a:ext uri="{FF2B5EF4-FFF2-40B4-BE49-F238E27FC236}">
                  <a16:creationId xmlns:a16="http://schemas.microsoft.com/office/drawing/2014/main" id="{9A84C603-5D2C-494F-A70F-0FF2D1F772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052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83" name="Line 175">
              <a:extLst>
                <a:ext uri="{FF2B5EF4-FFF2-40B4-BE49-F238E27FC236}">
                  <a16:creationId xmlns:a16="http://schemas.microsoft.com/office/drawing/2014/main" id="{EF2B86AF-1679-40F9-913D-89EB54DE39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14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84" name="Line 176">
              <a:extLst>
                <a:ext uri="{FF2B5EF4-FFF2-40B4-BE49-F238E27FC236}">
                  <a16:creationId xmlns:a16="http://schemas.microsoft.com/office/drawing/2014/main" id="{0C7C73BF-5811-47F4-B10C-35365D4413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76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85" name="Line 177">
              <a:extLst>
                <a:ext uri="{FF2B5EF4-FFF2-40B4-BE49-F238E27FC236}">
                  <a16:creationId xmlns:a16="http://schemas.microsoft.com/office/drawing/2014/main" id="{6E689776-0794-4331-8153-068351A561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338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86" name="Line 178">
              <a:extLst>
                <a:ext uri="{FF2B5EF4-FFF2-40B4-BE49-F238E27FC236}">
                  <a16:creationId xmlns:a16="http://schemas.microsoft.com/office/drawing/2014/main" id="{2B753A38-DC7C-4FF7-9C29-ABC9A99AA4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100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87" name="Line 179">
              <a:extLst>
                <a:ext uri="{FF2B5EF4-FFF2-40B4-BE49-F238E27FC236}">
                  <a16:creationId xmlns:a16="http://schemas.microsoft.com/office/drawing/2014/main" id="{E7AFF429-05E1-4B85-B343-58CAEE4BE9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862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88" name="Line 180">
              <a:extLst>
                <a:ext uri="{FF2B5EF4-FFF2-40B4-BE49-F238E27FC236}">
                  <a16:creationId xmlns:a16="http://schemas.microsoft.com/office/drawing/2014/main" id="{DF256736-F717-49A3-9115-1194E26AE2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24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89" name="Line 181">
              <a:extLst>
                <a:ext uri="{FF2B5EF4-FFF2-40B4-BE49-F238E27FC236}">
                  <a16:creationId xmlns:a16="http://schemas.microsoft.com/office/drawing/2014/main" id="{646BD8BB-B94F-4CA0-949B-D59DB57824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386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90" name="Line 182">
              <a:extLst>
                <a:ext uri="{FF2B5EF4-FFF2-40B4-BE49-F238E27FC236}">
                  <a16:creationId xmlns:a16="http://schemas.microsoft.com/office/drawing/2014/main" id="{1D70966A-91E8-4275-98C8-6007F28368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48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91" name="Line 183">
              <a:extLst>
                <a:ext uri="{FF2B5EF4-FFF2-40B4-BE49-F238E27FC236}">
                  <a16:creationId xmlns:a16="http://schemas.microsoft.com/office/drawing/2014/main" id="{CAA0B442-92AC-41A5-B591-A7CD955228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910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92" name="Line 184">
              <a:extLst>
                <a:ext uri="{FF2B5EF4-FFF2-40B4-BE49-F238E27FC236}">
                  <a16:creationId xmlns:a16="http://schemas.microsoft.com/office/drawing/2014/main" id="{6980DC9D-9B16-427F-B49E-FF02D33E78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672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93" name="Line 185">
              <a:extLst>
                <a:ext uri="{FF2B5EF4-FFF2-40B4-BE49-F238E27FC236}">
                  <a16:creationId xmlns:a16="http://schemas.microsoft.com/office/drawing/2014/main" id="{C27BF37C-0444-4BBE-90E8-BA3A330DDD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434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94" name="Line 186">
              <a:extLst>
                <a:ext uri="{FF2B5EF4-FFF2-40B4-BE49-F238E27FC236}">
                  <a16:creationId xmlns:a16="http://schemas.microsoft.com/office/drawing/2014/main" id="{49A8A7E0-B504-4414-AF4D-35DE5B3B8D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196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95" name="Line 187">
              <a:extLst>
                <a:ext uri="{FF2B5EF4-FFF2-40B4-BE49-F238E27FC236}">
                  <a16:creationId xmlns:a16="http://schemas.microsoft.com/office/drawing/2014/main" id="{62BD9B5C-16E4-4BAE-A7FC-71F1FF6F7D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58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96" name="Line 188">
              <a:extLst>
                <a:ext uri="{FF2B5EF4-FFF2-40B4-BE49-F238E27FC236}">
                  <a16:creationId xmlns:a16="http://schemas.microsoft.com/office/drawing/2014/main" id="{E6EC8F01-1890-45A9-9CF5-37752DE1BE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720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97" name="Line 189">
              <a:extLst>
                <a:ext uri="{FF2B5EF4-FFF2-40B4-BE49-F238E27FC236}">
                  <a16:creationId xmlns:a16="http://schemas.microsoft.com/office/drawing/2014/main" id="{AD61579A-40C0-428F-AB02-FC38FD051D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482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98" name="Line 190">
              <a:extLst>
                <a:ext uri="{FF2B5EF4-FFF2-40B4-BE49-F238E27FC236}">
                  <a16:creationId xmlns:a16="http://schemas.microsoft.com/office/drawing/2014/main" id="{6872BDF1-07AA-44E1-BFA9-5BCBF0F7DE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244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99" name="Line 191">
              <a:extLst>
                <a:ext uri="{FF2B5EF4-FFF2-40B4-BE49-F238E27FC236}">
                  <a16:creationId xmlns:a16="http://schemas.microsoft.com/office/drawing/2014/main" id="{1F6366ED-666A-4B31-9EF8-F2A0539FBB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006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00" name="Line 192">
              <a:extLst>
                <a:ext uri="{FF2B5EF4-FFF2-40B4-BE49-F238E27FC236}">
                  <a16:creationId xmlns:a16="http://schemas.microsoft.com/office/drawing/2014/main" id="{665BD30E-7FAC-420D-B048-F59FDE27E5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68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01" name="Line 193">
              <a:extLst>
                <a:ext uri="{FF2B5EF4-FFF2-40B4-BE49-F238E27FC236}">
                  <a16:creationId xmlns:a16="http://schemas.microsoft.com/office/drawing/2014/main" id="{19B2ACF7-DCA2-4A93-8B35-E86617D637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530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02" name="Line 194">
              <a:extLst>
                <a:ext uri="{FF2B5EF4-FFF2-40B4-BE49-F238E27FC236}">
                  <a16:creationId xmlns:a16="http://schemas.microsoft.com/office/drawing/2014/main" id="{56CDEA91-B9CF-49E5-9769-EF56A0FB42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292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03" name="Line 195">
              <a:extLst>
                <a:ext uri="{FF2B5EF4-FFF2-40B4-BE49-F238E27FC236}">
                  <a16:creationId xmlns:a16="http://schemas.microsoft.com/office/drawing/2014/main" id="{8EB50357-31D0-4FC9-B5C7-F130782720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054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04" name="Line 196">
              <a:extLst>
                <a:ext uri="{FF2B5EF4-FFF2-40B4-BE49-F238E27FC236}">
                  <a16:creationId xmlns:a16="http://schemas.microsoft.com/office/drawing/2014/main" id="{CE7AAA58-D2C0-4D94-A8F6-5FA112D9F2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816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05" name="Line 197">
              <a:extLst>
                <a:ext uri="{FF2B5EF4-FFF2-40B4-BE49-F238E27FC236}">
                  <a16:creationId xmlns:a16="http://schemas.microsoft.com/office/drawing/2014/main" id="{982F6AE3-EEE8-426F-A3EA-9938DBF220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578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06" name="Line 198">
              <a:extLst>
                <a:ext uri="{FF2B5EF4-FFF2-40B4-BE49-F238E27FC236}">
                  <a16:creationId xmlns:a16="http://schemas.microsoft.com/office/drawing/2014/main" id="{4D2135BE-1FD6-48D0-A943-681E69A455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340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07" name="Line 199">
              <a:extLst>
                <a:ext uri="{FF2B5EF4-FFF2-40B4-BE49-F238E27FC236}">
                  <a16:creationId xmlns:a16="http://schemas.microsoft.com/office/drawing/2014/main" id="{4FA347E5-BFD8-432F-A94A-6544056915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102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08" name="Line 200">
              <a:extLst>
                <a:ext uri="{FF2B5EF4-FFF2-40B4-BE49-F238E27FC236}">
                  <a16:creationId xmlns:a16="http://schemas.microsoft.com/office/drawing/2014/main" id="{8AEE1FB0-294D-41A4-893F-75B6660DFB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864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09" name="Line 201">
              <a:extLst>
                <a:ext uri="{FF2B5EF4-FFF2-40B4-BE49-F238E27FC236}">
                  <a16:creationId xmlns:a16="http://schemas.microsoft.com/office/drawing/2014/main" id="{C390210D-7AD4-40FB-99A4-33A3CE0960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626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10" name="Line 202">
              <a:extLst>
                <a:ext uri="{FF2B5EF4-FFF2-40B4-BE49-F238E27FC236}">
                  <a16:creationId xmlns:a16="http://schemas.microsoft.com/office/drawing/2014/main" id="{FC3FEE1F-EC5A-4733-9F73-B02430FAB2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388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11" name="Line 203">
              <a:extLst>
                <a:ext uri="{FF2B5EF4-FFF2-40B4-BE49-F238E27FC236}">
                  <a16:creationId xmlns:a16="http://schemas.microsoft.com/office/drawing/2014/main" id="{36F87B8B-C235-41AF-8AB7-5D01E75C9A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150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12" name="Line 204">
              <a:extLst>
                <a:ext uri="{FF2B5EF4-FFF2-40B4-BE49-F238E27FC236}">
                  <a16:creationId xmlns:a16="http://schemas.microsoft.com/office/drawing/2014/main" id="{7F8DC628-4218-4EBB-BC25-121090D9E9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912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13" name="Line 205">
              <a:extLst>
                <a:ext uri="{FF2B5EF4-FFF2-40B4-BE49-F238E27FC236}">
                  <a16:creationId xmlns:a16="http://schemas.microsoft.com/office/drawing/2014/main" id="{7F2D7D4E-F26A-43E2-A77D-821B1883F6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674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14" name="Line 206">
              <a:extLst>
                <a:ext uri="{FF2B5EF4-FFF2-40B4-BE49-F238E27FC236}">
                  <a16:creationId xmlns:a16="http://schemas.microsoft.com/office/drawing/2014/main" id="{17E6386B-4A25-4A87-8B6F-3969F8F170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436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15" name="Line 207">
              <a:extLst>
                <a:ext uri="{FF2B5EF4-FFF2-40B4-BE49-F238E27FC236}">
                  <a16:creationId xmlns:a16="http://schemas.microsoft.com/office/drawing/2014/main" id="{07FA6899-D3EF-4ABC-ABE7-5657B35DE2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198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16" name="Line 208">
              <a:extLst>
                <a:ext uri="{FF2B5EF4-FFF2-40B4-BE49-F238E27FC236}">
                  <a16:creationId xmlns:a16="http://schemas.microsoft.com/office/drawing/2014/main" id="{4230B6DA-E6FE-4E0C-BAC4-3DEEB79F0A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960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17" name="Line 209">
              <a:extLst>
                <a:ext uri="{FF2B5EF4-FFF2-40B4-BE49-F238E27FC236}">
                  <a16:creationId xmlns:a16="http://schemas.microsoft.com/office/drawing/2014/main" id="{F2448EA2-1676-48A5-B4B0-6DA5779CFB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722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18" name="Line 210">
              <a:extLst>
                <a:ext uri="{FF2B5EF4-FFF2-40B4-BE49-F238E27FC236}">
                  <a16:creationId xmlns:a16="http://schemas.microsoft.com/office/drawing/2014/main" id="{99A889C6-DA80-4FA2-88A2-B63E7F5AD2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484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19" name="Line 211">
              <a:extLst>
                <a:ext uri="{FF2B5EF4-FFF2-40B4-BE49-F238E27FC236}">
                  <a16:creationId xmlns:a16="http://schemas.microsoft.com/office/drawing/2014/main" id="{EA6682DE-26F7-4A7C-81AF-CFE722D9FD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46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20" name="Line 212">
              <a:extLst>
                <a:ext uri="{FF2B5EF4-FFF2-40B4-BE49-F238E27FC236}">
                  <a16:creationId xmlns:a16="http://schemas.microsoft.com/office/drawing/2014/main" id="{D8F3B040-DCC4-4190-8527-0CF32907C5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00850" y="2767012"/>
              <a:ext cx="25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21" name="Line 213">
              <a:extLst>
                <a:ext uri="{FF2B5EF4-FFF2-40B4-BE49-F238E27FC236}">
                  <a16:creationId xmlns:a16="http://schemas.microsoft.com/office/drawing/2014/main" id="{4D79738D-B722-4BA7-8E28-9B555A788F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73200" y="2760662"/>
              <a:ext cx="0" cy="2908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22" name="Line 214">
              <a:extLst>
                <a:ext uri="{FF2B5EF4-FFF2-40B4-BE49-F238E27FC236}">
                  <a16:creationId xmlns:a16="http://schemas.microsoft.com/office/drawing/2014/main" id="{30102990-2450-4A32-9230-5EFBE87DCC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28750" y="5675312"/>
              <a:ext cx="762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23" name="Line 215">
              <a:extLst>
                <a:ext uri="{FF2B5EF4-FFF2-40B4-BE49-F238E27FC236}">
                  <a16:creationId xmlns:a16="http://schemas.microsoft.com/office/drawing/2014/main" id="{9B82CD12-CABC-4016-AD57-D685CA8350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6850" y="5675312"/>
              <a:ext cx="53721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24" name="Line 216">
              <a:extLst>
                <a:ext uri="{FF2B5EF4-FFF2-40B4-BE49-F238E27FC236}">
                  <a16:creationId xmlns:a16="http://schemas.microsoft.com/office/drawing/2014/main" id="{8C83DAA2-1A5C-470D-A200-06AFB0F247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73200" y="5621337"/>
              <a:ext cx="0" cy="952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25" name="Line 217">
              <a:extLst>
                <a:ext uri="{FF2B5EF4-FFF2-40B4-BE49-F238E27FC236}">
                  <a16:creationId xmlns:a16="http://schemas.microsoft.com/office/drawing/2014/main" id="{2CCB30F2-52DB-4CD0-A94F-F7B3EFC347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39900" y="5621337"/>
              <a:ext cx="0" cy="952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26" name="Line 218">
              <a:extLst>
                <a:ext uri="{FF2B5EF4-FFF2-40B4-BE49-F238E27FC236}">
                  <a16:creationId xmlns:a16="http://schemas.microsoft.com/office/drawing/2014/main" id="{DD0A5823-B496-4832-9262-828D2160CB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19300" y="5621337"/>
              <a:ext cx="0" cy="952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27" name="Line 219">
              <a:extLst>
                <a:ext uri="{FF2B5EF4-FFF2-40B4-BE49-F238E27FC236}">
                  <a16:creationId xmlns:a16="http://schemas.microsoft.com/office/drawing/2014/main" id="{42BF6C79-3EAB-4A56-B167-CBBA6D9AF5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86000" y="5621337"/>
              <a:ext cx="0" cy="952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28" name="Line 220">
              <a:extLst>
                <a:ext uri="{FF2B5EF4-FFF2-40B4-BE49-F238E27FC236}">
                  <a16:creationId xmlns:a16="http://schemas.microsoft.com/office/drawing/2014/main" id="{4DC200CB-05BF-4F8F-A9DB-202BBBA896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52700" y="5621337"/>
              <a:ext cx="0" cy="952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29" name="Line 221">
              <a:extLst>
                <a:ext uri="{FF2B5EF4-FFF2-40B4-BE49-F238E27FC236}">
                  <a16:creationId xmlns:a16="http://schemas.microsoft.com/office/drawing/2014/main" id="{28DD214A-9F55-49DA-BFDA-27529F41B3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19400" y="5621337"/>
              <a:ext cx="0" cy="952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30" name="Line 222">
              <a:extLst>
                <a:ext uri="{FF2B5EF4-FFF2-40B4-BE49-F238E27FC236}">
                  <a16:creationId xmlns:a16="http://schemas.microsoft.com/office/drawing/2014/main" id="{1347A94A-0FBA-49ED-A57C-541C1D0D75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86100" y="5621337"/>
              <a:ext cx="0" cy="952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31" name="Line 223">
              <a:extLst>
                <a:ext uri="{FF2B5EF4-FFF2-40B4-BE49-F238E27FC236}">
                  <a16:creationId xmlns:a16="http://schemas.microsoft.com/office/drawing/2014/main" id="{AA6D6DB7-27A2-400A-B2E3-D96D64908D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52800" y="5621337"/>
              <a:ext cx="0" cy="952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32" name="Line 224">
              <a:extLst>
                <a:ext uri="{FF2B5EF4-FFF2-40B4-BE49-F238E27FC236}">
                  <a16:creationId xmlns:a16="http://schemas.microsoft.com/office/drawing/2014/main" id="{3B7BB2BE-448D-4FEE-89FE-5FEB8FCA4C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19500" y="5621337"/>
              <a:ext cx="0" cy="952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33" name="Line 225">
              <a:extLst>
                <a:ext uri="{FF2B5EF4-FFF2-40B4-BE49-F238E27FC236}">
                  <a16:creationId xmlns:a16="http://schemas.microsoft.com/office/drawing/2014/main" id="{93095801-218B-4A47-A7C4-458D445693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98900" y="5621337"/>
              <a:ext cx="0" cy="952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34" name="Line 226">
              <a:extLst>
                <a:ext uri="{FF2B5EF4-FFF2-40B4-BE49-F238E27FC236}">
                  <a16:creationId xmlns:a16="http://schemas.microsoft.com/office/drawing/2014/main" id="{D83DC53F-A868-4523-B42F-3E86E72D1B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65600" y="5621337"/>
              <a:ext cx="0" cy="952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35" name="Line 227">
              <a:extLst>
                <a:ext uri="{FF2B5EF4-FFF2-40B4-BE49-F238E27FC236}">
                  <a16:creationId xmlns:a16="http://schemas.microsoft.com/office/drawing/2014/main" id="{5AE230D2-F0B6-4810-870F-494D3BDD21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32300" y="5621337"/>
              <a:ext cx="0" cy="952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36" name="Line 228">
              <a:extLst>
                <a:ext uri="{FF2B5EF4-FFF2-40B4-BE49-F238E27FC236}">
                  <a16:creationId xmlns:a16="http://schemas.microsoft.com/office/drawing/2014/main" id="{C8FECBD3-704F-45A6-849A-0729ED5AA5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99000" y="5621337"/>
              <a:ext cx="0" cy="952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37" name="Line 229">
              <a:extLst>
                <a:ext uri="{FF2B5EF4-FFF2-40B4-BE49-F238E27FC236}">
                  <a16:creationId xmlns:a16="http://schemas.microsoft.com/office/drawing/2014/main" id="{A202EC1A-9172-4F7E-BE83-396486E72F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65700" y="5621337"/>
              <a:ext cx="0" cy="952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38" name="Line 230">
              <a:extLst>
                <a:ext uri="{FF2B5EF4-FFF2-40B4-BE49-F238E27FC236}">
                  <a16:creationId xmlns:a16="http://schemas.microsoft.com/office/drawing/2014/main" id="{93A150B3-DEFD-4643-98C4-4584A3B49E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32400" y="5621337"/>
              <a:ext cx="0" cy="952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39" name="Line 231">
              <a:extLst>
                <a:ext uri="{FF2B5EF4-FFF2-40B4-BE49-F238E27FC236}">
                  <a16:creationId xmlns:a16="http://schemas.microsoft.com/office/drawing/2014/main" id="{17D52D8A-26C3-43CD-8E9A-899B80F42A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99100" y="5621337"/>
              <a:ext cx="0" cy="952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40" name="Line 232">
              <a:extLst>
                <a:ext uri="{FF2B5EF4-FFF2-40B4-BE49-F238E27FC236}">
                  <a16:creationId xmlns:a16="http://schemas.microsoft.com/office/drawing/2014/main" id="{87B19F71-965A-4967-89AC-5BE2D4C0E4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78500" y="5621337"/>
              <a:ext cx="0" cy="952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41" name="Line 233">
              <a:extLst>
                <a:ext uri="{FF2B5EF4-FFF2-40B4-BE49-F238E27FC236}">
                  <a16:creationId xmlns:a16="http://schemas.microsoft.com/office/drawing/2014/main" id="{11D1F05A-8803-44D1-871B-27F2900BA3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045200" y="5621337"/>
              <a:ext cx="0" cy="952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42" name="Line 234">
              <a:extLst>
                <a:ext uri="{FF2B5EF4-FFF2-40B4-BE49-F238E27FC236}">
                  <a16:creationId xmlns:a16="http://schemas.microsoft.com/office/drawing/2014/main" id="{4072403C-929C-45AB-AB18-00A4AC0DC6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11900" y="5621337"/>
              <a:ext cx="0" cy="952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43" name="Line 235">
              <a:extLst>
                <a:ext uri="{FF2B5EF4-FFF2-40B4-BE49-F238E27FC236}">
                  <a16:creationId xmlns:a16="http://schemas.microsoft.com/office/drawing/2014/main" id="{47F868E1-BC24-46C0-8858-C2480D1A38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578600" y="5621337"/>
              <a:ext cx="0" cy="952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44" name="Line 236">
              <a:extLst>
                <a:ext uri="{FF2B5EF4-FFF2-40B4-BE49-F238E27FC236}">
                  <a16:creationId xmlns:a16="http://schemas.microsoft.com/office/drawing/2014/main" id="{5E70C702-4CD5-4203-BEA4-16895B64CA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845300" y="5621337"/>
              <a:ext cx="0" cy="952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45" name="Freeform 237">
              <a:extLst>
                <a:ext uri="{FF2B5EF4-FFF2-40B4-BE49-F238E27FC236}">
                  <a16:creationId xmlns:a16="http://schemas.microsoft.com/office/drawing/2014/main" id="{B9C829D8-5F2C-49BF-BC4D-C6732E9774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6850" y="2786062"/>
              <a:ext cx="5373688" cy="2884488"/>
            </a:xfrm>
            <a:custGeom>
              <a:avLst/>
              <a:gdLst/>
              <a:ahLst/>
              <a:cxnLst>
                <a:cxn ang="0">
                  <a:pos x="0" y="1816"/>
                </a:cxn>
                <a:cxn ang="0">
                  <a:pos x="189" y="1752"/>
                </a:cxn>
                <a:cxn ang="0">
                  <a:pos x="387" y="1696"/>
                </a:cxn>
                <a:cxn ang="0">
                  <a:pos x="576" y="1640"/>
                </a:cxn>
                <a:cxn ang="0">
                  <a:pos x="765" y="1576"/>
                </a:cxn>
                <a:cxn ang="0">
                  <a:pos x="954" y="1520"/>
                </a:cxn>
                <a:cxn ang="0">
                  <a:pos x="1143" y="1456"/>
                </a:cxn>
                <a:cxn ang="0">
                  <a:pos x="1332" y="1400"/>
                </a:cxn>
                <a:cxn ang="0">
                  <a:pos x="1521" y="1296"/>
                </a:cxn>
                <a:cxn ang="0">
                  <a:pos x="1719" y="1184"/>
                </a:cxn>
                <a:cxn ang="0">
                  <a:pos x="1908" y="1080"/>
                </a:cxn>
                <a:cxn ang="0">
                  <a:pos x="2097" y="968"/>
                </a:cxn>
                <a:cxn ang="0">
                  <a:pos x="2286" y="864"/>
                </a:cxn>
                <a:cxn ang="0">
                  <a:pos x="2475" y="752"/>
                </a:cxn>
                <a:cxn ang="0">
                  <a:pos x="2664" y="648"/>
                </a:cxn>
                <a:cxn ang="0">
                  <a:pos x="2853" y="536"/>
                </a:cxn>
                <a:cxn ang="0">
                  <a:pos x="3051" y="432"/>
                </a:cxn>
                <a:cxn ang="0">
                  <a:pos x="3240" y="328"/>
                </a:cxn>
                <a:cxn ang="0">
                  <a:pos x="3429" y="216"/>
                </a:cxn>
                <a:cxn ang="0">
                  <a:pos x="3618" y="112"/>
                </a:cxn>
                <a:cxn ang="0">
                  <a:pos x="3807" y="0"/>
                </a:cxn>
              </a:cxnLst>
              <a:rect l="0" t="0" r="r" b="b"/>
              <a:pathLst>
                <a:path w="3808" h="1817">
                  <a:moveTo>
                    <a:pt x="0" y="1816"/>
                  </a:moveTo>
                  <a:lnTo>
                    <a:pt x="189" y="1752"/>
                  </a:lnTo>
                  <a:lnTo>
                    <a:pt x="387" y="1696"/>
                  </a:lnTo>
                  <a:lnTo>
                    <a:pt x="576" y="1640"/>
                  </a:lnTo>
                  <a:lnTo>
                    <a:pt x="765" y="1576"/>
                  </a:lnTo>
                  <a:lnTo>
                    <a:pt x="954" y="1520"/>
                  </a:lnTo>
                  <a:lnTo>
                    <a:pt x="1143" y="1456"/>
                  </a:lnTo>
                  <a:lnTo>
                    <a:pt x="1332" y="1400"/>
                  </a:lnTo>
                  <a:lnTo>
                    <a:pt x="1521" y="1296"/>
                  </a:lnTo>
                  <a:lnTo>
                    <a:pt x="1719" y="1184"/>
                  </a:lnTo>
                  <a:lnTo>
                    <a:pt x="1908" y="1080"/>
                  </a:lnTo>
                  <a:lnTo>
                    <a:pt x="2097" y="968"/>
                  </a:lnTo>
                  <a:lnTo>
                    <a:pt x="2286" y="864"/>
                  </a:lnTo>
                  <a:lnTo>
                    <a:pt x="2475" y="752"/>
                  </a:lnTo>
                  <a:lnTo>
                    <a:pt x="2664" y="648"/>
                  </a:lnTo>
                  <a:lnTo>
                    <a:pt x="2853" y="536"/>
                  </a:lnTo>
                  <a:lnTo>
                    <a:pt x="3051" y="432"/>
                  </a:lnTo>
                  <a:lnTo>
                    <a:pt x="3240" y="328"/>
                  </a:lnTo>
                  <a:lnTo>
                    <a:pt x="3429" y="216"/>
                  </a:lnTo>
                  <a:lnTo>
                    <a:pt x="3618" y="112"/>
                  </a:lnTo>
                  <a:lnTo>
                    <a:pt x="3807" y="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46" name="Freeform 238">
              <a:extLst>
                <a:ext uri="{FF2B5EF4-FFF2-40B4-BE49-F238E27FC236}">
                  <a16:creationId xmlns:a16="http://schemas.microsoft.com/office/drawing/2014/main" id="{F91B14F9-8A4B-46A4-99C0-375B7E17D9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6850" y="5097462"/>
              <a:ext cx="5373688" cy="573088"/>
            </a:xfrm>
            <a:custGeom>
              <a:avLst/>
              <a:gdLst/>
              <a:ahLst/>
              <a:cxnLst>
                <a:cxn ang="0">
                  <a:pos x="0" y="360"/>
                </a:cxn>
                <a:cxn ang="0">
                  <a:pos x="189" y="344"/>
                </a:cxn>
                <a:cxn ang="0">
                  <a:pos x="387" y="320"/>
                </a:cxn>
                <a:cxn ang="0">
                  <a:pos x="576" y="304"/>
                </a:cxn>
                <a:cxn ang="0">
                  <a:pos x="765" y="288"/>
                </a:cxn>
                <a:cxn ang="0">
                  <a:pos x="954" y="272"/>
                </a:cxn>
                <a:cxn ang="0">
                  <a:pos x="1143" y="248"/>
                </a:cxn>
                <a:cxn ang="0">
                  <a:pos x="1332" y="232"/>
                </a:cxn>
                <a:cxn ang="0">
                  <a:pos x="1521" y="216"/>
                </a:cxn>
                <a:cxn ang="0">
                  <a:pos x="1719" y="200"/>
                </a:cxn>
                <a:cxn ang="0">
                  <a:pos x="1908" y="176"/>
                </a:cxn>
                <a:cxn ang="0">
                  <a:pos x="2097" y="160"/>
                </a:cxn>
                <a:cxn ang="0">
                  <a:pos x="2286" y="144"/>
                </a:cxn>
                <a:cxn ang="0">
                  <a:pos x="2475" y="128"/>
                </a:cxn>
                <a:cxn ang="0">
                  <a:pos x="2664" y="104"/>
                </a:cxn>
                <a:cxn ang="0">
                  <a:pos x="2853" y="88"/>
                </a:cxn>
                <a:cxn ang="0">
                  <a:pos x="3051" y="72"/>
                </a:cxn>
                <a:cxn ang="0">
                  <a:pos x="3240" y="56"/>
                </a:cxn>
                <a:cxn ang="0">
                  <a:pos x="3429" y="32"/>
                </a:cxn>
                <a:cxn ang="0">
                  <a:pos x="3618" y="16"/>
                </a:cxn>
                <a:cxn ang="0">
                  <a:pos x="3807" y="0"/>
                </a:cxn>
              </a:cxnLst>
              <a:rect l="0" t="0" r="r" b="b"/>
              <a:pathLst>
                <a:path w="3808" h="361">
                  <a:moveTo>
                    <a:pt x="0" y="360"/>
                  </a:moveTo>
                  <a:lnTo>
                    <a:pt x="189" y="344"/>
                  </a:lnTo>
                  <a:lnTo>
                    <a:pt x="387" y="320"/>
                  </a:lnTo>
                  <a:lnTo>
                    <a:pt x="576" y="304"/>
                  </a:lnTo>
                  <a:lnTo>
                    <a:pt x="765" y="288"/>
                  </a:lnTo>
                  <a:lnTo>
                    <a:pt x="954" y="272"/>
                  </a:lnTo>
                  <a:lnTo>
                    <a:pt x="1143" y="248"/>
                  </a:lnTo>
                  <a:lnTo>
                    <a:pt x="1332" y="232"/>
                  </a:lnTo>
                  <a:lnTo>
                    <a:pt x="1521" y="216"/>
                  </a:lnTo>
                  <a:lnTo>
                    <a:pt x="1719" y="200"/>
                  </a:lnTo>
                  <a:lnTo>
                    <a:pt x="1908" y="176"/>
                  </a:lnTo>
                  <a:lnTo>
                    <a:pt x="2097" y="160"/>
                  </a:lnTo>
                  <a:lnTo>
                    <a:pt x="2286" y="144"/>
                  </a:lnTo>
                  <a:lnTo>
                    <a:pt x="2475" y="128"/>
                  </a:lnTo>
                  <a:lnTo>
                    <a:pt x="2664" y="104"/>
                  </a:lnTo>
                  <a:lnTo>
                    <a:pt x="2853" y="88"/>
                  </a:lnTo>
                  <a:lnTo>
                    <a:pt x="3051" y="72"/>
                  </a:lnTo>
                  <a:lnTo>
                    <a:pt x="3240" y="56"/>
                  </a:lnTo>
                  <a:lnTo>
                    <a:pt x="3429" y="32"/>
                  </a:lnTo>
                  <a:lnTo>
                    <a:pt x="3618" y="16"/>
                  </a:lnTo>
                  <a:lnTo>
                    <a:pt x="3807" y="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47" name="Rectangle 239">
              <a:extLst>
                <a:ext uri="{FF2B5EF4-FFF2-40B4-BE49-F238E27FC236}">
                  <a16:creationId xmlns:a16="http://schemas.microsoft.com/office/drawing/2014/main" id="{DDC1D650-4BF2-439E-8C35-6A8640239E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5100" y="5629275"/>
              <a:ext cx="52388" cy="66675"/>
            </a:xfrm>
            <a:prstGeom prst="rect">
              <a:avLst/>
            </a:prstGeom>
            <a:solidFill>
              <a:srgbClr val="DD0806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8" name="Rectangle 240">
              <a:extLst>
                <a:ext uri="{FF2B5EF4-FFF2-40B4-BE49-F238E27FC236}">
                  <a16:creationId xmlns:a16="http://schemas.microsoft.com/office/drawing/2014/main" id="{BEE64D59-17D6-41E8-977F-5995A2D7C8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1800" y="5527675"/>
              <a:ext cx="52388" cy="66675"/>
            </a:xfrm>
            <a:prstGeom prst="rect">
              <a:avLst/>
            </a:prstGeom>
            <a:solidFill>
              <a:srgbClr val="DD0806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9" name="Rectangle 241">
              <a:extLst>
                <a:ext uri="{FF2B5EF4-FFF2-40B4-BE49-F238E27FC236}">
                  <a16:creationId xmlns:a16="http://schemas.microsoft.com/office/drawing/2014/main" id="{824DFB4E-6379-41F8-AE86-B1BA35C2FF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1200" y="5446712"/>
              <a:ext cx="52388" cy="50800"/>
            </a:xfrm>
            <a:prstGeom prst="rect">
              <a:avLst/>
            </a:prstGeom>
            <a:solidFill>
              <a:srgbClr val="DD0806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0" name="Rectangle 242">
              <a:extLst>
                <a:ext uri="{FF2B5EF4-FFF2-40B4-BE49-F238E27FC236}">
                  <a16:creationId xmlns:a16="http://schemas.microsoft.com/office/drawing/2014/main" id="{E8D08B75-D00C-429B-BD44-05916DAA5C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7900" y="5357812"/>
              <a:ext cx="52388" cy="50800"/>
            </a:xfrm>
            <a:prstGeom prst="rect">
              <a:avLst/>
            </a:prstGeom>
            <a:solidFill>
              <a:srgbClr val="DD0806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1" name="Rectangle 243">
              <a:extLst>
                <a:ext uri="{FF2B5EF4-FFF2-40B4-BE49-F238E27FC236}">
                  <a16:creationId xmlns:a16="http://schemas.microsoft.com/office/drawing/2014/main" id="{7E8DB4E1-994D-48B1-9405-B677253D17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4600" y="5256212"/>
              <a:ext cx="52388" cy="50800"/>
            </a:xfrm>
            <a:prstGeom prst="rect">
              <a:avLst/>
            </a:prstGeom>
            <a:solidFill>
              <a:srgbClr val="DD0806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2" name="Rectangle 244">
              <a:extLst>
                <a:ext uri="{FF2B5EF4-FFF2-40B4-BE49-F238E27FC236}">
                  <a16:creationId xmlns:a16="http://schemas.microsoft.com/office/drawing/2014/main" id="{7C9122F1-4D66-4D4F-B323-1DC425F4AF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1300" y="5167312"/>
              <a:ext cx="52388" cy="50800"/>
            </a:xfrm>
            <a:prstGeom prst="rect">
              <a:avLst/>
            </a:prstGeom>
            <a:solidFill>
              <a:srgbClr val="DD0806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3" name="Rectangle 245">
              <a:extLst>
                <a:ext uri="{FF2B5EF4-FFF2-40B4-BE49-F238E27FC236}">
                  <a16:creationId xmlns:a16="http://schemas.microsoft.com/office/drawing/2014/main" id="{5978EF0D-7A6C-404D-ACBC-BE49C19880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8000" y="5065712"/>
              <a:ext cx="52388" cy="50800"/>
            </a:xfrm>
            <a:prstGeom prst="rect">
              <a:avLst/>
            </a:prstGeom>
            <a:solidFill>
              <a:srgbClr val="DD0806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4" name="Rectangle 246">
              <a:extLst>
                <a:ext uri="{FF2B5EF4-FFF2-40B4-BE49-F238E27FC236}">
                  <a16:creationId xmlns:a16="http://schemas.microsoft.com/office/drawing/2014/main" id="{79AF182D-4D61-4187-A2CD-E6C7076018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4700" y="4976812"/>
              <a:ext cx="52388" cy="50800"/>
            </a:xfrm>
            <a:prstGeom prst="rect">
              <a:avLst/>
            </a:prstGeom>
            <a:solidFill>
              <a:srgbClr val="DD0806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5" name="Rectangle 247">
              <a:extLst>
                <a:ext uri="{FF2B5EF4-FFF2-40B4-BE49-F238E27FC236}">
                  <a16:creationId xmlns:a16="http://schemas.microsoft.com/office/drawing/2014/main" id="{F6A5CC4F-99C6-47BC-B171-2104D4EA9E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1400" y="4811712"/>
              <a:ext cx="52388" cy="50800"/>
            </a:xfrm>
            <a:prstGeom prst="rect">
              <a:avLst/>
            </a:prstGeom>
            <a:solidFill>
              <a:srgbClr val="DD0806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" name="Rectangle 248">
              <a:extLst>
                <a:ext uri="{FF2B5EF4-FFF2-40B4-BE49-F238E27FC236}">
                  <a16:creationId xmlns:a16="http://schemas.microsoft.com/office/drawing/2014/main" id="{A4B9EB33-9635-4B8C-B11F-204E8CB9B5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0800" y="4633912"/>
              <a:ext cx="52388" cy="50800"/>
            </a:xfrm>
            <a:prstGeom prst="rect">
              <a:avLst/>
            </a:prstGeom>
            <a:solidFill>
              <a:srgbClr val="DD0806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7" name="Rectangle 249">
              <a:extLst>
                <a:ext uri="{FF2B5EF4-FFF2-40B4-BE49-F238E27FC236}">
                  <a16:creationId xmlns:a16="http://schemas.microsoft.com/office/drawing/2014/main" id="{3F77C535-0587-42E6-B9D9-909D4FF036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7500" y="4468812"/>
              <a:ext cx="52388" cy="50800"/>
            </a:xfrm>
            <a:prstGeom prst="rect">
              <a:avLst/>
            </a:prstGeom>
            <a:solidFill>
              <a:srgbClr val="DD0806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8" name="Rectangle 250">
              <a:extLst>
                <a:ext uri="{FF2B5EF4-FFF2-40B4-BE49-F238E27FC236}">
                  <a16:creationId xmlns:a16="http://schemas.microsoft.com/office/drawing/2014/main" id="{42DEDEC1-A707-4C0B-BF44-617B47ED0F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4200" y="4291012"/>
              <a:ext cx="52388" cy="50800"/>
            </a:xfrm>
            <a:prstGeom prst="rect">
              <a:avLst/>
            </a:prstGeom>
            <a:solidFill>
              <a:srgbClr val="DD0806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9" name="Rectangle 251">
              <a:extLst>
                <a:ext uri="{FF2B5EF4-FFF2-40B4-BE49-F238E27FC236}">
                  <a16:creationId xmlns:a16="http://schemas.microsoft.com/office/drawing/2014/main" id="{2800F05B-568E-447B-B258-7EB3ACB80E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900" y="4125912"/>
              <a:ext cx="52388" cy="50800"/>
            </a:xfrm>
            <a:prstGeom prst="rect">
              <a:avLst/>
            </a:prstGeom>
            <a:solidFill>
              <a:srgbClr val="DD0806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0" name="Rectangle 252">
              <a:extLst>
                <a:ext uri="{FF2B5EF4-FFF2-40B4-BE49-F238E27FC236}">
                  <a16:creationId xmlns:a16="http://schemas.microsoft.com/office/drawing/2014/main" id="{5613BEFC-B007-420B-A44A-BE563929F6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7600" y="3948112"/>
              <a:ext cx="52388" cy="50800"/>
            </a:xfrm>
            <a:prstGeom prst="rect">
              <a:avLst/>
            </a:prstGeom>
            <a:solidFill>
              <a:srgbClr val="DD0806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1" name="Rectangle 253">
              <a:extLst>
                <a:ext uri="{FF2B5EF4-FFF2-40B4-BE49-F238E27FC236}">
                  <a16:creationId xmlns:a16="http://schemas.microsoft.com/office/drawing/2014/main" id="{AF8892BA-3520-43CA-B9FD-2463D7BCA1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4300" y="3783012"/>
              <a:ext cx="52388" cy="50800"/>
            </a:xfrm>
            <a:prstGeom prst="rect">
              <a:avLst/>
            </a:prstGeom>
            <a:solidFill>
              <a:srgbClr val="DD0806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2" name="Rectangle 254">
              <a:extLst>
                <a:ext uri="{FF2B5EF4-FFF2-40B4-BE49-F238E27FC236}">
                  <a16:creationId xmlns:a16="http://schemas.microsoft.com/office/drawing/2014/main" id="{2967BAF2-79F7-4F3E-A847-09CA6DCF33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61000" y="3605212"/>
              <a:ext cx="52388" cy="50800"/>
            </a:xfrm>
            <a:prstGeom prst="rect">
              <a:avLst/>
            </a:prstGeom>
            <a:solidFill>
              <a:srgbClr val="DD0806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3" name="Rectangle 255">
              <a:extLst>
                <a:ext uri="{FF2B5EF4-FFF2-40B4-BE49-F238E27FC236}">
                  <a16:creationId xmlns:a16="http://schemas.microsoft.com/office/drawing/2014/main" id="{AC4FDB87-9160-44E9-8CBD-898132844B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40400" y="3440112"/>
              <a:ext cx="52388" cy="50800"/>
            </a:xfrm>
            <a:prstGeom prst="rect">
              <a:avLst/>
            </a:prstGeom>
            <a:solidFill>
              <a:srgbClr val="DD0806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4" name="Rectangle 256">
              <a:extLst>
                <a:ext uri="{FF2B5EF4-FFF2-40B4-BE49-F238E27FC236}">
                  <a16:creationId xmlns:a16="http://schemas.microsoft.com/office/drawing/2014/main" id="{40872F63-D093-4C55-94A0-4FA44CFD30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7100" y="3275012"/>
              <a:ext cx="52388" cy="50800"/>
            </a:xfrm>
            <a:prstGeom prst="rect">
              <a:avLst/>
            </a:prstGeom>
            <a:solidFill>
              <a:srgbClr val="DD0806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5" name="Rectangle 257">
              <a:extLst>
                <a:ext uri="{FF2B5EF4-FFF2-40B4-BE49-F238E27FC236}">
                  <a16:creationId xmlns:a16="http://schemas.microsoft.com/office/drawing/2014/main" id="{A8B3FC71-8513-4AD3-9671-CAE74E07B8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73800" y="3097212"/>
              <a:ext cx="52388" cy="50800"/>
            </a:xfrm>
            <a:prstGeom prst="rect">
              <a:avLst/>
            </a:prstGeom>
            <a:solidFill>
              <a:srgbClr val="DD0806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" name="Rectangle 258">
              <a:extLst>
                <a:ext uri="{FF2B5EF4-FFF2-40B4-BE49-F238E27FC236}">
                  <a16:creationId xmlns:a16="http://schemas.microsoft.com/office/drawing/2014/main" id="{86118687-A8CC-403C-9D1D-E5AD7BBE41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40500" y="2932112"/>
              <a:ext cx="52388" cy="50800"/>
            </a:xfrm>
            <a:prstGeom prst="rect">
              <a:avLst/>
            </a:prstGeom>
            <a:solidFill>
              <a:srgbClr val="DD0806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7" name="Rectangle 259">
              <a:extLst>
                <a:ext uri="{FF2B5EF4-FFF2-40B4-BE49-F238E27FC236}">
                  <a16:creationId xmlns:a16="http://schemas.microsoft.com/office/drawing/2014/main" id="{FF7C4E51-F6D1-4952-8326-46AB8F9563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07200" y="2754312"/>
              <a:ext cx="52388" cy="50800"/>
            </a:xfrm>
            <a:prstGeom prst="rect">
              <a:avLst/>
            </a:prstGeom>
            <a:solidFill>
              <a:srgbClr val="DD0806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8" name="Rectangle 260">
              <a:extLst>
                <a:ext uri="{FF2B5EF4-FFF2-40B4-BE49-F238E27FC236}">
                  <a16:creationId xmlns:a16="http://schemas.microsoft.com/office/drawing/2014/main" id="{4BF9C0D8-69BB-4709-A113-3033933B12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5100" y="5629275"/>
              <a:ext cx="52388" cy="66675"/>
            </a:xfrm>
            <a:prstGeom prst="rect">
              <a:avLst/>
            </a:prstGeom>
            <a:solidFill>
              <a:srgbClr val="008011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9" name="Rectangle 261">
              <a:extLst>
                <a:ext uri="{FF2B5EF4-FFF2-40B4-BE49-F238E27FC236}">
                  <a16:creationId xmlns:a16="http://schemas.microsoft.com/office/drawing/2014/main" id="{3B60B3A3-881E-484E-98FA-030C14E590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1800" y="5603875"/>
              <a:ext cx="52388" cy="66675"/>
            </a:xfrm>
            <a:prstGeom prst="rect">
              <a:avLst/>
            </a:prstGeom>
            <a:solidFill>
              <a:srgbClr val="008011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0" name="Rectangle 262">
              <a:extLst>
                <a:ext uri="{FF2B5EF4-FFF2-40B4-BE49-F238E27FC236}">
                  <a16:creationId xmlns:a16="http://schemas.microsoft.com/office/drawing/2014/main" id="{15ED2341-7D01-402B-A6A9-41366251CF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1200" y="5565775"/>
              <a:ext cx="52388" cy="66675"/>
            </a:xfrm>
            <a:prstGeom prst="rect">
              <a:avLst/>
            </a:prstGeom>
            <a:solidFill>
              <a:srgbClr val="008011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1" name="Rectangle 263">
              <a:extLst>
                <a:ext uri="{FF2B5EF4-FFF2-40B4-BE49-F238E27FC236}">
                  <a16:creationId xmlns:a16="http://schemas.microsoft.com/office/drawing/2014/main" id="{2D0E3647-0836-4153-A3F2-511C4DD316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7900" y="5540375"/>
              <a:ext cx="52388" cy="66675"/>
            </a:xfrm>
            <a:prstGeom prst="rect">
              <a:avLst/>
            </a:prstGeom>
            <a:solidFill>
              <a:srgbClr val="008011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2" name="Rectangle 264">
              <a:extLst>
                <a:ext uri="{FF2B5EF4-FFF2-40B4-BE49-F238E27FC236}">
                  <a16:creationId xmlns:a16="http://schemas.microsoft.com/office/drawing/2014/main" id="{A6C497AA-030A-43E9-928A-ABE4209DB5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4600" y="5514975"/>
              <a:ext cx="52388" cy="66675"/>
            </a:xfrm>
            <a:prstGeom prst="rect">
              <a:avLst/>
            </a:prstGeom>
            <a:solidFill>
              <a:srgbClr val="008011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3" name="Rectangle 265">
              <a:extLst>
                <a:ext uri="{FF2B5EF4-FFF2-40B4-BE49-F238E27FC236}">
                  <a16:creationId xmlns:a16="http://schemas.microsoft.com/office/drawing/2014/main" id="{EF9D609E-2963-442B-8DD3-0C21A735F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1300" y="5489575"/>
              <a:ext cx="52388" cy="66675"/>
            </a:xfrm>
            <a:prstGeom prst="rect">
              <a:avLst/>
            </a:prstGeom>
            <a:solidFill>
              <a:srgbClr val="008011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4" name="Rectangle 266">
              <a:extLst>
                <a:ext uri="{FF2B5EF4-FFF2-40B4-BE49-F238E27FC236}">
                  <a16:creationId xmlns:a16="http://schemas.microsoft.com/office/drawing/2014/main" id="{50149E64-7932-416C-BD44-CFBCDC4242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8000" y="5451475"/>
              <a:ext cx="52388" cy="66675"/>
            </a:xfrm>
            <a:prstGeom prst="rect">
              <a:avLst/>
            </a:prstGeom>
            <a:solidFill>
              <a:srgbClr val="008011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5" name="Rectangle 267">
              <a:extLst>
                <a:ext uri="{FF2B5EF4-FFF2-40B4-BE49-F238E27FC236}">
                  <a16:creationId xmlns:a16="http://schemas.microsoft.com/office/drawing/2014/main" id="{3C602B25-627E-481F-8ED1-6EBA0D2174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4700" y="5434012"/>
              <a:ext cx="52388" cy="50800"/>
            </a:xfrm>
            <a:prstGeom prst="rect">
              <a:avLst/>
            </a:prstGeom>
            <a:solidFill>
              <a:srgbClr val="008011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" name="Rectangle 268">
              <a:extLst>
                <a:ext uri="{FF2B5EF4-FFF2-40B4-BE49-F238E27FC236}">
                  <a16:creationId xmlns:a16="http://schemas.microsoft.com/office/drawing/2014/main" id="{90498CF0-77AB-42B4-8B6F-3608CF933B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1400" y="5408612"/>
              <a:ext cx="52388" cy="50800"/>
            </a:xfrm>
            <a:prstGeom prst="rect">
              <a:avLst/>
            </a:prstGeom>
            <a:solidFill>
              <a:srgbClr val="008011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7" name="Rectangle 269">
              <a:extLst>
                <a:ext uri="{FF2B5EF4-FFF2-40B4-BE49-F238E27FC236}">
                  <a16:creationId xmlns:a16="http://schemas.microsoft.com/office/drawing/2014/main" id="{BCC2BF5E-EB85-4DAD-A1DA-7053C638E5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0800" y="5383212"/>
              <a:ext cx="52388" cy="50800"/>
            </a:xfrm>
            <a:prstGeom prst="rect">
              <a:avLst/>
            </a:prstGeom>
            <a:solidFill>
              <a:srgbClr val="008011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8" name="Rectangle 270">
              <a:extLst>
                <a:ext uri="{FF2B5EF4-FFF2-40B4-BE49-F238E27FC236}">
                  <a16:creationId xmlns:a16="http://schemas.microsoft.com/office/drawing/2014/main" id="{1D840CE5-DB07-49E7-A7B2-8C681C7BFB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7500" y="5345112"/>
              <a:ext cx="52388" cy="50800"/>
            </a:xfrm>
            <a:prstGeom prst="rect">
              <a:avLst/>
            </a:prstGeom>
            <a:solidFill>
              <a:srgbClr val="008011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9" name="Rectangle 271">
              <a:extLst>
                <a:ext uri="{FF2B5EF4-FFF2-40B4-BE49-F238E27FC236}">
                  <a16:creationId xmlns:a16="http://schemas.microsoft.com/office/drawing/2014/main" id="{47B904D5-C0C1-42B9-925D-E023FC5834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4200" y="5319712"/>
              <a:ext cx="52388" cy="50800"/>
            </a:xfrm>
            <a:prstGeom prst="rect">
              <a:avLst/>
            </a:prstGeom>
            <a:solidFill>
              <a:srgbClr val="008011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0" name="Rectangle 272">
              <a:extLst>
                <a:ext uri="{FF2B5EF4-FFF2-40B4-BE49-F238E27FC236}">
                  <a16:creationId xmlns:a16="http://schemas.microsoft.com/office/drawing/2014/main" id="{CC9576B9-F878-4BA7-9F60-D33E24292D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900" y="5294312"/>
              <a:ext cx="52388" cy="50800"/>
            </a:xfrm>
            <a:prstGeom prst="rect">
              <a:avLst/>
            </a:prstGeom>
            <a:solidFill>
              <a:srgbClr val="008011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1" name="Rectangle 273">
              <a:extLst>
                <a:ext uri="{FF2B5EF4-FFF2-40B4-BE49-F238E27FC236}">
                  <a16:creationId xmlns:a16="http://schemas.microsoft.com/office/drawing/2014/main" id="{2E074279-7221-4A08-836A-9B72F005C1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7600" y="5268912"/>
              <a:ext cx="52388" cy="50800"/>
            </a:xfrm>
            <a:prstGeom prst="rect">
              <a:avLst/>
            </a:prstGeom>
            <a:solidFill>
              <a:srgbClr val="008011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2" name="Rectangle 274">
              <a:extLst>
                <a:ext uri="{FF2B5EF4-FFF2-40B4-BE49-F238E27FC236}">
                  <a16:creationId xmlns:a16="http://schemas.microsoft.com/office/drawing/2014/main" id="{0C83156A-0EDB-4CD2-BC8D-BB846498F8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4300" y="5230812"/>
              <a:ext cx="52388" cy="50800"/>
            </a:xfrm>
            <a:prstGeom prst="rect">
              <a:avLst/>
            </a:prstGeom>
            <a:solidFill>
              <a:srgbClr val="008011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3" name="Rectangle 275">
              <a:extLst>
                <a:ext uri="{FF2B5EF4-FFF2-40B4-BE49-F238E27FC236}">
                  <a16:creationId xmlns:a16="http://schemas.microsoft.com/office/drawing/2014/main" id="{6BBF4746-7B99-44EE-AF79-FA501951FE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61000" y="5205412"/>
              <a:ext cx="52388" cy="50800"/>
            </a:xfrm>
            <a:prstGeom prst="rect">
              <a:avLst/>
            </a:prstGeom>
            <a:solidFill>
              <a:srgbClr val="008011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4" name="Rectangle 276">
              <a:extLst>
                <a:ext uri="{FF2B5EF4-FFF2-40B4-BE49-F238E27FC236}">
                  <a16:creationId xmlns:a16="http://schemas.microsoft.com/office/drawing/2014/main" id="{BA9D9104-C6F4-4BC1-A4C6-D352E9663F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40400" y="5180012"/>
              <a:ext cx="52388" cy="50800"/>
            </a:xfrm>
            <a:prstGeom prst="rect">
              <a:avLst/>
            </a:prstGeom>
            <a:solidFill>
              <a:srgbClr val="008011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5" name="Rectangle 277">
              <a:extLst>
                <a:ext uri="{FF2B5EF4-FFF2-40B4-BE49-F238E27FC236}">
                  <a16:creationId xmlns:a16="http://schemas.microsoft.com/office/drawing/2014/main" id="{3D16CA80-CB5B-41BC-9902-535F687D82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7100" y="5154612"/>
              <a:ext cx="52388" cy="50800"/>
            </a:xfrm>
            <a:prstGeom prst="rect">
              <a:avLst/>
            </a:prstGeom>
            <a:solidFill>
              <a:srgbClr val="008011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" name="Rectangle 278">
              <a:extLst>
                <a:ext uri="{FF2B5EF4-FFF2-40B4-BE49-F238E27FC236}">
                  <a16:creationId xmlns:a16="http://schemas.microsoft.com/office/drawing/2014/main" id="{538297E6-8710-4D5D-91E7-FA2EA762A3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73800" y="5116512"/>
              <a:ext cx="52388" cy="50800"/>
            </a:xfrm>
            <a:prstGeom prst="rect">
              <a:avLst/>
            </a:prstGeom>
            <a:solidFill>
              <a:srgbClr val="008011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" name="Rectangle 279">
              <a:extLst>
                <a:ext uri="{FF2B5EF4-FFF2-40B4-BE49-F238E27FC236}">
                  <a16:creationId xmlns:a16="http://schemas.microsoft.com/office/drawing/2014/main" id="{B9475951-4529-475C-B46F-ED1571454A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40500" y="5091112"/>
              <a:ext cx="52388" cy="50800"/>
            </a:xfrm>
            <a:prstGeom prst="rect">
              <a:avLst/>
            </a:prstGeom>
            <a:solidFill>
              <a:srgbClr val="008011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8" name="Rectangle 280">
              <a:extLst>
                <a:ext uri="{FF2B5EF4-FFF2-40B4-BE49-F238E27FC236}">
                  <a16:creationId xmlns:a16="http://schemas.microsoft.com/office/drawing/2014/main" id="{72EB4E32-AC02-472B-8A9D-2882A05337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07200" y="5065712"/>
              <a:ext cx="52388" cy="50800"/>
            </a:xfrm>
            <a:prstGeom prst="rect">
              <a:avLst/>
            </a:prstGeom>
            <a:solidFill>
              <a:srgbClr val="008011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9" name="Rectangle 281">
              <a:extLst>
                <a:ext uri="{FF2B5EF4-FFF2-40B4-BE49-F238E27FC236}">
                  <a16:creationId xmlns:a16="http://schemas.microsoft.com/office/drawing/2014/main" id="{F754919E-2CD3-4363-BEFD-11337B88FB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6800" y="5416550"/>
              <a:ext cx="354265" cy="4591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algn="r" eaLnBrk="0" hangingPunct="0"/>
              <a:r>
                <a:rPr lang="en-US" sz="2400" b="1" dirty="0">
                  <a:latin typeface="Geneva" charset="0"/>
                </a:rPr>
                <a:t>1</a:t>
              </a:r>
            </a:p>
          </p:txBody>
        </p:sp>
        <p:sp>
          <p:nvSpPr>
            <p:cNvPr id="290" name="Rectangle 282">
              <a:extLst>
                <a:ext uri="{FF2B5EF4-FFF2-40B4-BE49-F238E27FC236}">
                  <a16:creationId xmlns:a16="http://schemas.microsoft.com/office/drawing/2014/main" id="{E53942A9-46EF-4A2A-8AC0-E7A66FA5A3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8435" y="4451350"/>
              <a:ext cx="525786" cy="4591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algn="r" eaLnBrk="0" hangingPunct="0"/>
              <a:r>
                <a:rPr lang="en-US" sz="2400" b="1" dirty="0">
                  <a:latin typeface="Geneva" charset="0"/>
                </a:rPr>
                <a:t>10</a:t>
              </a:r>
            </a:p>
          </p:txBody>
        </p:sp>
        <p:sp>
          <p:nvSpPr>
            <p:cNvPr id="291" name="Rectangle 283">
              <a:extLst>
                <a:ext uri="{FF2B5EF4-FFF2-40B4-BE49-F238E27FC236}">
                  <a16:creationId xmlns:a16="http://schemas.microsoft.com/office/drawing/2014/main" id="{57E5C300-EEB3-47C5-98CF-9B1FF32134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335" y="3562350"/>
              <a:ext cx="697308" cy="4591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algn="r" eaLnBrk="0" hangingPunct="0"/>
              <a:r>
                <a:rPr lang="en-US" sz="2400" b="1" dirty="0">
                  <a:latin typeface="Geneva" charset="0"/>
                </a:rPr>
                <a:t>100</a:t>
              </a:r>
            </a:p>
          </p:txBody>
        </p:sp>
        <p:sp>
          <p:nvSpPr>
            <p:cNvPr id="292" name="Rectangle 284">
              <a:extLst>
                <a:ext uri="{FF2B5EF4-FFF2-40B4-BE49-F238E27FC236}">
                  <a16:creationId xmlns:a16="http://schemas.microsoft.com/office/drawing/2014/main" id="{0A59ED42-92E0-42D0-AC3F-A777F4823E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0" y="2508250"/>
              <a:ext cx="868829" cy="4591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algn="r" eaLnBrk="0" hangingPunct="0"/>
              <a:r>
                <a:rPr lang="en-US" sz="2400" b="1" dirty="0">
                  <a:latin typeface="Geneva" charset="0"/>
                </a:rPr>
                <a:t>1000</a:t>
              </a:r>
            </a:p>
          </p:txBody>
        </p:sp>
        <p:sp>
          <p:nvSpPr>
            <p:cNvPr id="293" name="Rectangle 285">
              <a:extLst>
                <a:ext uri="{FF2B5EF4-FFF2-40B4-BE49-F238E27FC236}">
                  <a16:creationId xmlns:a16="http://schemas.microsoft.com/office/drawing/2014/main" id="{4A0257D5-F09B-4C90-AF76-779FC78DA1D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165225" y="5740400"/>
              <a:ext cx="887413" cy="32543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488" tIns="44450" rIns="90488" bIns="44450">
              <a:spAutoFit/>
            </a:bodyPr>
            <a:lstStyle/>
            <a:p>
              <a:pPr algn="l" eaLnBrk="0" hangingPunct="0"/>
              <a:r>
                <a:rPr lang="en-US" sz="1800" b="1">
                  <a:latin typeface="Geneva" charset="0"/>
                </a:rPr>
                <a:t>1980</a:t>
              </a:r>
            </a:p>
          </p:txBody>
        </p:sp>
        <p:sp>
          <p:nvSpPr>
            <p:cNvPr id="294" name="Rectangle 286">
              <a:extLst>
                <a:ext uri="{FF2B5EF4-FFF2-40B4-BE49-F238E27FC236}">
                  <a16:creationId xmlns:a16="http://schemas.microsoft.com/office/drawing/2014/main" id="{CFCC8AAB-3378-49A1-878F-01B69D97E55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431925" y="5740400"/>
              <a:ext cx="887413" cy="32543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488" tIns="44450" rIns="90488" bIns="44450">
              <a:spAutoFit/>
            </a:bodyPr>
            <a:lstStyle/>
            <a:p>
              <a:pPr algn="l" eaLnBrk="0" hangingPunct="0"/>
              <a:r>
                <a:rPr lang="en-US" sz="1800" b="1">
                  <a:latin typeface="Geneva" charset="0"/>
                </a:rPr>
                <a:t>1981</a:t>
              </a:r>
            </a:p>
          </p:txBody>
        </p:sp>
        <p:sp>
          <p:nvSpPr>
            <p:cNvPr id="295" name="Rectangle 287">
              <a:extLst>
                <a:ext uri="{FF2B5EF4-FFF2-40B4-BE49-F238E27FC236}">
                  <a16:creationId xmlns:a16="http://schemas.microsoft.com/office/drawing/2014/main" id="{971B04AF-205A-46C7-93F9-D7C1A03DC5B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965325" y="5740400"/>
              <a:ext cx="887413" cy="32543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488" tIns="44450" rIns="90488" bIns="44450">
              <a:spAutoFit/>
            </a:bodyPr>
            <a:lstStyle/>
            <a:p>
              <a:pPr algn="l" eaLnBrk="0" hangingPunct="0"/>
              <a:r>
                <a:rPr lang="en-US" sz="1800" b="1">
                  <a:latin typeface="Geneva" charset="0"/>
                </a:rPr>
                <a:t>1983</a:t>
              </a:r>
            </a:p>
          </p:txBody>
        </p:sp>
        <p:sp>
          <p:nvSpPr>
            <p:cNvPr id="296" name="Rectangle 288">
              <a:extLst>
                <a:ext uri="{FF2B5EF4-FFF2-40B4-BE49-F238E27FC236}">
                  <a16:creationId xmlns:a16="http://schemas.microsoft.com/office/drawing/2014/main" id="{116E98B7-009C-430F-BBE2-22096D106FD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2232025" y="5740400"/>
              <a:ext cx="887413" cy="32543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488" tIns="44450" rIns="90488" bIns="44450">
              <a:spAutoFit/>
            </a:bodyPr>
            <a:lstStyle/>
            <a:p>
              <a:pPr algn="l" eaLnBrk="0" hangingPunct="0"/>
              <a:r>
                <a:rPr lang="en-US" sz="1800" b="1">
                  <a:latin typeface="Geneva" charset="0"/>
                </a:rPr>
                <a:t>1984</a:t>
              </a:r>
            </a:p>
          </p:txBody>
        </p:sp>
        <p:sp>
          <p:nvSpPr>
            <p:cNvPr id="297" name="Rectangle 289">
              <a:extLst>
                <a:ext uri="{FF2B5EF4-FFF2-40B4-BE49-F238E27FC236}">
                  <a16:creationId xmlns:a16="http://schemas.microsoft.com/office/drawing/2014/main" id="{A76033DF-1975-4584-AA58-B461EC043AC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2498725" y="5740400"/>
              <a:ext cx="887413" cy="32543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488" tIns="44450" rIns="90488" bIns="44450">
              <a:spAutoFit/>
            </a:bodyPr>
            <a:lstStyle/>
            <a:p>
              <a:pPr algn="l" eaLnBrk="0" hangingPunct="0"/>
              <a:r>
                <a:rPr lang="en-US" sz="1800" b="1">
                  <a:latin typeface="Geneva" charset="0"/>
                </a:rPr>
                <a:t>1985</a:t>
              </a:r>
            </a:p>
          </p:txBody>
        </p:sp>
        <p:sp>
          <p:nvSpPr>
            <p:cNvPr id="298" name="Rectangle 290">
              <a:extLst>
                <a:ext uri="{FF2B5EF4-FFF2-40B4-BE49-F238E27FC236}">
                  <a16:creationId xmlns:a16="http://schemas.microsoft.com/office/drawing/2014/main" id="{9C8F389C-BAA8-447E-BEFD-4A62409A4FD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2778125" y="5740400"/>
              <a:ext cx="887413" cy="32543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488" tIns="44450" rIns="90488" bIns="44450">
              <a:spAutoFit/>
            </a:bodyPr>
            <a:lstStyle/>
            <a:p>
              <a:pPr algn="l" eaLnBrk="0" hangingPunct="0"/>
              <a:r>
                <a:rPr lang="en-US" sz="1800" b="1">
                  <a:latin typeface="Geneva" charset="0"/>
                </a:rPr>
                <a:t>1986</a:t>
              </a:r>
            </a:p>
          </p:txBody>
        </p:sp>
        <p:sp>
          <p:nvSpPr>
            <p:cNvPr id="299" name="Rectangle 291">
              <a:extLst>
                <a:ext uri="{FF2B5EF4-FFF2-40B4-BE49-F238E27FC236}">
                  <a16:creationId xmlns:a16="http://schemas.microsoft.com/office/drawing/2014/main" id="{FEF66044-68E2-4DCC-B8A3-53A75683C2E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044825" y="5740400"/>
              <a:ext cx="887413" cy="32543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488" tIns="44450" rIns="90488" bIns="44450">
              <a:spAutoFit/>
            </a:bodyPr>
            <a:lstStyle/>
            <a:p>
              <a:pPr algn="l" eaLnBrk="0" hangingPunct="0"/>
              <a:r>
                <a:rPr lang="en-US" sz="1800" b="1">
                  <a:latin typeface="Geneva" charset="0"/>
                </a:rPr>
                <a:t>1987</a:t>
              </a:r>
            </a:p>
          </p:txBody>
        </p:sp>
        <p:sp>
          <p:nvSpPr>
            <p:cNvPr id="300" name="Rectangle 292">
              <a:extLst>
                <a:ext uri="{FF2B5EF4-FFF2-40B4-BE49-F238E27FC236}">
                  <a16:creationId xmlns:a16="http://schemas.microsoft.com/office/drawing/2014/main" id="{A97A5787-6DCF-46BB-8176-ADD8662750D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311525" y="5740400"/>
              <a:ext cx="887413" cy="32543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488" tIns="44450" rIns="90488" bIns="44450">
              <a:spAutoFit/>
            </a:bodyPr>
            <a:lstStyle/>
            <a:p>
              <a:pPr algn="l" eaLnBrk="0" hangingPunct="0"/>
              <a:r>
                <a:rPr lang="en-US" sz="1800" b="1">
                  <a:latin typeface="Geneva" charset="0"/>
                </a:rPr>
                <a:t>1988</a:t>
              </a:r>
            </a:p>
          </p:txBody>
        </p:sp>
        <p:sp>
          <p:nvSpPr>
            <p:cNvPr id="301" name="Rectangle 293">
              <a:extLst>
                <a:ext uri="{FF2B5EF4-FFF2-40B4-BE49-F238E27FC236}">
                  <a16:creationId xmlns:a16="http://schemas.microsoft.com/office/drawing/2014/main" id="{78292FF0-0D62-40D1-AA46-C0932AA91B6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578225" y="5740400"/>
              <a:ext cx="887413" cy="32543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488" tIns="44450" rIns="90488" bIns="44450">
              <a:spAutoFit/>
            </a:bodyPr>
            <a:lstStyle/>
            <a:p>
              <a:pPr algn="l" eaLnBrk="0" hangingPunct="0"/>
              <a:r>
                <a:rPr lang="en-US" sz="1800" b="1">
                  <a:latin typeface="Geneva" charset="0"/>
                </a:rPr>
                <a:t>1989</a:t>
              </a:r>
            </a:p>
          </p:txBody>
        </p:sp>
        <p:sp>
          <p:nvSpPr>
            <p:cNvPr id="302" name="Rectangle 294">
              <a:extLst>
                <a:ext uri="{FF2B5EF4-FFF2-40B4-BE49-F238E27FC236}">
                  <a16:creationId xmlns:a16="http://schemas.microsoft.com/office/drawing/2014/main" id="{B1C11718-A0C3-4465-B720-09BB8BD5FDE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844925" y="5740400"/>
              <a:ext cx="887413" cy="32543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488" tIns="44450" rIns="90488" bIns="44450">
              <a:spAutoFit/>
            </a:bodyPr>
            <a:lstStyle/>
            <a:p>
              <a:pPr algn="l" eaLnBrk="0" hangingPunct="0"/>
              <a:r>
                <a:rPr lang="en-US" sz="1800" b="1">
                  <a:latin typeface="Geneva" charset="0"/>
                </a:rPr>
                <a:t>1990</a:t>
              </a:r>
            </a:p>
          </p:txBody>
        </p:sp>
        <p:sp>
          <p:nvSpPr>
            <p:cNvPr id="303" name="Rectangle 295">
              <a:extLst>
                <a:ext uri="{FF2B5EF4-FFF2-40B4-BE49-F238E27FC236}">
                  <a16:creationId xmlns:a16="http://schemas.microsoft.com/office/drawing/2014/main" id="{AD7B4AA5-0786-4C8E-8321-96CF7C7C164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4111625" y="5740400"/>
              <a:ext cx="887413" cy="32543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488" tIns="44450" rIns="90488" bIns="44450">
              <a:spAutoFit/>
            </a:bodyPr>
            <a:lstStyle/>
            <a:p>
              <a:pPr algn="l" eaLnBrk="0" hangingPunct="0"/>
              <a:r>
                <a:rPr lang="en-US" sz="1800" b="1">
                  <a:latin typeface="Geneva" charset="0"/>
                </a:rPr>
                <a:t>1991</a:t>
              </a:r>
            </a:p>
          </p:txBody>
        </p:sp>
        <p:sp>
          <p:nvSpPr>
            <p:cNvPr id="304" name="Rectangle 296">
              <a:extLst>
                <a:ext uri="{FF2B5EF4-FFF2-40B4-BE49-F238E27FC236}">
                  <a16:creationId xmlns:a16="http://schemas.microsoft.com/office/drawing/2014/main" id="{FC2D75F9-B96E-482D-80B1-709B90A47B2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4391025" y="5740400"/>
              <a:ext cx="887413" cy="32543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488" tIns="44450" rIns="90488" bIns="44450">
              <a:spAutoFit/>
            </a:bodyPr>
            <a:lstStyle/>
            <a:p>
              <a:pPr algn="l" eaLnBrk="0" hangingPunct="0"/>
              <a:r>
                <a:rPr lang="en-US" sz="1800" b="1">
                  <a:latin typeface="Geneva" charset="0"/>
                </a:rPr>
                <a:t>1992</a:t>
              </a:r>
            </a:p>
          </p:txBody>
        </p:sp>
        <p:sp>
          <p:nvSpPr>
            <p:cNvPr id="305" name="Rectangle 297">
              <a:extLst>
                <a:ext uri="{FF2B5EF4-FFF2-40B4-BE49-F238E27FC236}">
                  <a16:creationId xmlns:a16="http://schemas.microsoft.com/office/drawing/2014/main" id="{427A8500-AB14-49C6-AB83-B048FAF6950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4657725" y="5740400"/>
              <a:ext cx="887413" cy="32543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488" tIns="44450" rIns="90488" bIns="44450">
              <a:spAutoFit/>
            </a:bodyPr>
            <a:lstStyle/>
            <a:p>
              <a:pPr algn="l" eaLnBrk="0" hangingPunct="0"/>
              <a:r>
                <a:rPr lang="en-US" sz="1800" b="1">
                  <a:latin typeface="Geneva" charset="0"/>
                </a:rPr>
                <a:t>1993</a:t>
              </a:r>
            </a:p>
          </p:txBody>
        </p:sp>
        <p:sp>
          <p:nvSpPr>
            <p:cNvPr id="306" name="Rectangle 298">
              <a:extLst>
                <a:ext uri="{FF2B5EF4-FFF2-40B4-BE49-F238E27FC236}">
                  <a16:creationId xmlns:a16="http://schemas.microsoft.com/office/drawing/2014/main" id="{4248FCBD-B4D9-467D-B383-5D85979F776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4924425" y="5740400"/>
              <a:ext cx="887413" cy="32543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488" tIns="44450" rIns="90488" bIns="44450">
              <a:spAutoFit/>
            </a:bodyPr>
            <a:lstStyle/>
            <a:p>
              <a:pPr algn="l" eaLnBrk="0" hangingPunct="0"/>
              <a:r>
                <a:rPr lang="en-US" sz="1800" b="1">
                  <a:latin typeface="Geneva" charset="0"/>
                </a:rPr>
                <a:t>1994</a:t>
              </a:r>
            </a:p>
          </p:txBody>
        </p:sp>
        <p:sp>
          <p:nvSpPr>
            <p:cNvPr id="307" name="Rectangle 299">
              <a:extLst>
                <a:ext uri="{FF2B5EF4-FFF2-40B4-BE49-F238E27FC236}">
                  <a16:creationId xmlns:a16="http://schemas.microsoft.com/office/drawing/2014/main" id="{A34D99EB-E886-4B82-9859-A9951964434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5191125" y="5740400"/>
              <a:ext cx="887413" cy="32543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488" tIns="44450" rIns="90488" bIns="44450">
              <a:spAutoFit/>
            </a:bodyPr>
            <a:lstStyle/>
            <a:p>
              <a:pPr algn="l" eaLnBrk="0" hangingPunct="0"/>
              <a:r>
                <a:rPr lang="en-US" sz="1800" b="1">
                  <a:latin typeface="Geneva" charset="0"/>
                </a:rPr>
                <a:t>1995</a:t>
              </a:r>
            </a:p>
          </p:txBody>
        </p:sp>
        <p:sp>
          <p:nvSpPr>
            <p:cNvPr id="308" name="Rectangle 300">
              <a:extLst>
                <a:ext uri="{FF2B5EF4-FFF2-40B4-BE49-F238E27FC236}">
                  <a16:creationId xmlns:a16="http://schemas.microsoft.com/office/drawing/2014/main" id="{1DDE313C-B509-4EFB-B595-C64229851FD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5457825" y="5740400"/>
              <a:ext cx="887413" cy="32543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488" tIns="44450" rIns="90488" bIns="44450">
              <a:spAutoFit/>
            </a:bodyPr>
            <a:lstStyle/>
            <a:p>
              <a:pPr algn="l" eaLnBrk="0" hangingPunct="0"/>
              <a:r>
                <a:rPr lang="en-US" sz="1800" b="1">
                  <a:latin typeface="Geneva" charset="0"/>
                </a:rPr>
                <a:t>1996</a:t>
              </a:r>
            </a:p>
          </p:txBody>
        </p:sp>
        <p:sp>
          <p:nvSpPr>
            <p:cNvPr id="309" name="Rectangle 301">
              <a:extLst>
                <a:ext uri="{FF2B5EF4-FFF2-40B4-BE49-F238E27FC236}">
                  <a16:creationId xmlns:a16="http://schemas.microsoft.com/office/drawing/2014/main" id="{8F531F5E-B27B-4B4B-B61F-DFCBB60E804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5724525" y="5740400"/>
              <a:ext cx="887413" cy="32543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488" tIns="44450" rIns="90488" bIns="44450">
              <a:spAutoFit/>
            </a:bodyPr>
            <a:lstStyle/>
            <a:p>
              <a:pPr algn="l" eaLnBrk="0" hangingPunct="0"/>
              <a:r>
                <a:rPr lang="en-US" sz="1800" b="1">
                  <a:latin typeface="Geneva" charset="0"/>
                </a:rPr>
                <a:t>1997</a:t>
              </a:r>
            </a:p>
          </p:txBody>
        </p:sp>
        <p:sp>
          <p:nvSpPr>
            <p:cNvPr id="310" name="Rectangle 302">
              <a:extLst>
                <a:ext uri="{FF2B5EF4-FFF2-40B4-BE49-F238E27FC236}">
                  <a16:creationId xmlns:a16="http://schemas.microsoft.com/office/drawing/2014/main" id="{62CF3456-F049-439B-B7EB-3DB38511AF1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5991225" y="5740400"/>
              <a:ext cx="887413" cy="32543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488" tIns="44450" rIns="90488" bIns="44450">
              <a:spAutoFit/>
            </a:bodyPr>
            <a:lstStyle/>
            <a:p>
              <a:pPr algn="l" eaLnBrk="0" hangingPunct="0"/>
              <a:r>
                <a:rPr lang="en-US" sz="1800" b="1">
                  <a:latin typeface="Geneva" charset="0"/>
                </a:rPr>
                <a:t>1998</a:t>
              </a:r>
            </a:p>
          </p:txBody>
        </p:sp>
        <p:sp>
          <p:nvSpPr>
            <p:cNvPr id="311" name="Rectangle 303">
              <a:extLst>
                <a:ext uri="{FF2B5EF4-FFF2-40B4-BE49-F238E27FC236}">
                  <a16:creationId xmlns:a16="http://schemas.microsoft.com/office/drawing/2014/main" id="{F4E794A2-0F30-4D20-AFB4-3727A22E9B3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6270625" y="5740400"/>
              <a:ext cx="887413" cy="32543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488" tIns="44450" rIns="90488" bIns="44450">
              <a:spAutoFit/>
            </a:bodyPr>
            <a:lstStyle/>
            <a:p>
              <a:pPr algn="l" eaLnBrk="0" hangingPunct="0"/>
              <a:r>
                <a:rPr lang="en-US" sz="1800" b="1">
                  <a:latin typeface="Geneva" charset="0"/>
                </a:rPr>
                <a:t>1999</a:t>
              </a:r>
            </a:p>
          </p:txBody>
        </p:sp>
        <p:sp>
          <p:nvSpPr>
            <p:cNvPr id="312" name="Rectangle 304">
              <a:extLst>
                <a:ext uri="{FF2B5EF4-FFF2-40B4-BE49-F238E27FC236}">
                  <a16:creationId xmlns:a16="http://schemas.microsoft.com/office/drawing/2014/main" id="{322BB808-F464-417C-863B-3DD648BEA66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6537325" y="5740400"/>
              <a:ext cx="887413" cy="32543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488" tIns="44450" rIns="90488" bIns="44450">
              <a:spAutoFit/>
            </a:bodyPr>
            <a:lstStyle/>
            <a:p>
              <a:pPr algn="l" eaLnBrk="0" hangingPunct="0"/>
              <a:r>
                <a:rPr lang="en-US" sz="1800" b="1">
                  <a:latin typeface="Geneva" charset="0"/>
                </a:rPr>
                <a:t>2000</a:t>
              </a:r>
            </a:p>
          </p:txBody>
        </p:sp>
        <p:sp>
          <p:nvSpPr>
            <p:cNvPr id="313" name="Rectangle 305">
              <a:extLst>
                <a:ext uri="{FF2B5EF4-FFF2-40B4-BE49-F238E27FC236}">
                  <a16:creationId xmlns:a16="http://schemas.microsoft.com/office/drawing/2014/main" id="{AF54AF63-FAC7-47E5-AB12-E4C2826D4F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32588" y="5191125"/>
              <a:ext cx="495300" cy="24447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lang="en-US" sz="1000">
                  <a:solidFill>
                    <a:srgbClr val="000000"/>
                  </a:solidFill>
                  <a:latin typeface="Arial" pitchFamily="34" charset="0"/>
                </a:rPr>
                <a:t>DRAM</a:t>
              </a:r>
            </a:p>
          </p:txBody>
        </p:sp>
        <p:sp>
          <p:nvSpPr>
            <p:cNvPr id="314" name="Rectangle 306">
              <a:extLst>
                <a:ext uri="{FF2B5EF4-FFF2-40B4-BE49-F238E27FC236}">
                  <a16:creationId xmlns:a16="http://schemas.microsoft.com/office/drawing/2014/main" id="{4234159B-24BB-4111-B258-896F106378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46888" y="2714625"/>
              <a:ext cx="377825" cy="24447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lang="en-US" sz="1000">
                  <a:solidFill>
                    <a:srgbClr val="000000"/>
                  </a:solidFill>
                  <a:latin typeface="Geneva" charset="0"/>
                </a:rPr>
                <a:t>CPU</a:t>
              </a:r>
            </a:p>
          </p:txBody>
        </p:sp>
        <p:sp>
          <p:nvSpPr>
            <p:cNvPr id="315" name="Rectangle 308">
              <a:extLst>
                <a:ext uri="{FF2B5EF4-FFF2-40B4-BE49-F238E27FC236}">
                  <a16:creationId xmlns:a16="http://schemas.microsoft.com/office/drawing/2014/main" id="{E32D2B35-5A40-4B39-8DC5-F2C64294BEB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736725" y="5740400"/>
              <a:ext cx="887413" cy="32543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488" tIns="44450" rIns="90488" bIns="44450">
              <a:spAutoFit/>
            </a:bodyPr>
            <a:lstStyle/>
            <a:p>
              <a:pPr algn="l" eaLnBrk="0" hangingPunct="0"/>
              <a:r>
                <a:rPr lang="en-US" sz="1800" b="1">
                  <a:latin typeface="Geneva" charset="0"/>
                </a:rPr>
                <a:t>1982</a:t>
              </a:r>
            </a:p>
          </p:txBody>
        </p:sp>
        <p:sp>
          <p:nvSpPr>
            <p:cNvPr id="316" name="Rectangle 311">
              <a:extLst>
                <a:ext uri="{FF2B5EF4-FFF2-40B4-BE49-F238E27FC236}">
                  <a16:creationId xmlns:a16="http://schemas.microsoft.com/office/drawing/2014/main" id="{24270463-13B9-4363-A5B9-2A8220F5507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-566737" y="4000499"/>
              <a:ext cx="2357437" cy="46196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lang="en-US" sz="2800" b="1" dirty="0">
                  <a:latin typeface="Arial" pitchFamily="34" charset="0"/>
                </a:rPr>
                <a:t>Performance</a:t>
              </a:r>
            </a:p>
          </p:txBody>
        </p:sp>
        <p:sp>
          <p:nvSpPr>
            <p:cNvPr id="317" name="Rectangle 312">
              <a:extLst>
                <a:ext uri="{FF2B5EF4-FFF2-40B4-BE49-F238E27FC236}">
                  <a16:creationId xmlns:a16="http://schemas.microsoft.com/office/drawing/2014/main" id="{6C29A0CA-290C-4F4E-A922-A72299C9ED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2800" y="5719762"/>
              <a:ext cx="1006475" cy="57943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lang="en-US" sz="3200" b="1" dirty="0">
                  <a:latin typeface="Arial" pitchFamily="34" charset="0"/>
                </a:rPr>
                <a:t>Time</a:t>
              </a:r>
            </a:p>
          </p:txBody>
        </p:sp>
        <p:sp>
          <p:nvSpPr>
            <p:cNvPr id="318" name="Rectangle 313">
              <a:extLst>
                <a:ext uri="{FF2B5EF4-FFF2-40B4-BE49-F238E27FC236}">
                  <a16:creationId xmlns:a16="http://schemas.microsoft.com/office/drawing/2014/main" id="{073DA27C-0C82-41CE-A04C-DFBF8AF159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3124200"/>
              <a:ext cx="2129623" cy="4591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/>
              <a:r>
                <a:rPr lang="en-US" sz="2400" dirty="0">
                  <a:solidFill>
                    <a:srgbClr val="0000FF"/>
                  </a:solidFill>
                  <a:latin typeface="Arial" pitchFamily="34" charset="0"/>
                </a:rPr>
                <a:t>“Moore’s Law”</a:t>
              </a:r>
            </a:p>
          </p:txBody>
        </p:sp>
      </p:grpSp>
      <p:sp>
        <p:nvSpPr>
          <p:cNvPr id="319" name="Rectangle 314">
            <a:extLst>
              <a:ext uri="{FF2B5EF4-FFF2-40B4-BE49-F238E27FC236}">
                <a16:creationId xmlns:a16="http://schemas.microsoft.com/office/drawing/2014/main" id="{41D3BADE-551D-42BD-8D43-8F4BD970DD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466" y="1231938"/>
            <a:ext cx="8493022" cy="120032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20000"/>
              </a:spcBef>
              <a:buClr>
                <a:srgbClr val="3333FF"/>
              </a:buClr>
              <a:buSzPct val="80000"/>
              <a:buFont typeface="Wingdings" pitchFamily="2" charset="2"/>
              <a:buNone/>
            </a:pPr>
            <a:r>
              <a:rPr lang="en-US" sz="2400" b="1" dirty="0">
                <a:solidFill>
                  <a:srgbClr val="C00000"/>
                </a:solidFill>
              </a:rPr>
              <a:t>Memory Wall:</a:t>
            </a:r>
          </a:p>
          <a:p>
            <a:pPr algn="l">
              <a:spcBef>
                <a:spcPct val="20000"/>
              </a:spcBef>
              <a:buClr>
                <a:srgbClr val="3333FF"/>
              </a:buClr>
              <a:buSzPct val="80000"/>
              <a:buFont typeface="Wingdings" pitchFamily="2" charset="2"/>
              <a:buNone/>
            </a:pPr>
            <a:r>
              <a:rPr lang="en-US" sz="2000" dirty="0"/>
              <a:t>1GHz Processor </a:t>
            </a:r>
            <a:r>
              <a:rPr lang="en-US" sz="2000" dirty="0">
                <a:sym typeface="Wingdings" pitchFamily="2" charset="2"/>
              </a:rPr>
              <a:t> </a:t>
            </a:r>
            <a:r>
              <a:rPr lang="en-US" sz="2000" dirty="0"/>
              <a:t>1 ns per clock cycle </a:t>
            </a:r>
          </a:p>
          <a:p>
            <a:pPr algn="l">
              <a:spcBef>
                <a:spcPct val="20000"/>
              </a:spcBef>
              <a:buClr>
                <a:srgbClr val="3333FF"/>
              </a:buClr>
              <a:buSzPct val="80000"/>
              <a:buFont typeface="Wingdings" pitchFamily="2" charset="2"/>
              <a:buNone/>
            </a:pPr>
            <a:r>
              <a:rPr lang="en-US" sz="2000" dirty="0"/>
              <a:t>50ns for DRAM access </a:t>
            </a:r>
            <a:r>
              <a:rPr lang="en-US" sz="2000" dirty="0">
                <a:sym typeface="Wingdings" pitchFamily="2" charset="2"/>
              </a:rPr>
              <a:t> </a:t>
            </a:r>
            <a:r>
              <a:rPr lang="en-US" sz="2000" dirty="0"/>
              <a:t>50 processor clock cycles per memory access!</a:t>
            </a:r>
            <a:endParaRPr lang="en-US" sz="1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E9E77D-DD35-4205-9A25-53924195D68B}"/>
              </a:ext>
            </a:extLst>
          </p:cNvPr>
          <p:cNvSpPr txBox="1"/>
          <p:nvPr/>
        </p:nvSpPr>
        <p:spPr>
          <a:xfrm>
            <a:off x="6556375" y="3110348"/>
            <a:ext cx="2342229" cy="181588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1600" dirty="0"/>
              <a:t>Gordon Moore noticed that the number of transistors per square inch on integrated circuits had doubled every year/18 months since their invention.</a:t>
            </a:r>
          </a:p>
        </p:txBody>
      </p:sp>
    </p:spTree>
    <p:extLst>
      <p:ext uri="{BB962C8B-B14F-4D97-AF65-F5344CB8AC3E}">
        <p14:creationId xmlns:p14="http://schemas.microsoft.com/office/powerpoint/2010/main" val="32700053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1. Faster Memory Technology: </a:t>
            </a:r>
            <a:r>
              <a:rPr lang="en-GB" sz="3600" b="1" dirty="0">
                <a:solidFill>
                  <a:srgbClr val="0000FF"/>
                </a:solidFill>
              </a:rPr>
              <a:t>SRAM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#22: Cache I: Direct Mapped Cache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8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grpSp>
        <p:nvGrpSpPr>
          <p:cNvPr id="320" name="Group 325">
            <a:extLst>
              <a:ext uri="{FF2B5EF4-FFF2-40B4-BE49-F238E27FC236}">
                <a16:creationId xmlns:a16="http://schemas.microsoft.com/office/drawing/2014/main" id="{059382ED-7533-4DB8-97A4-1E3015B77694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1422617"/>
            <a:ext cx="4343400" cy="2438400"/>
            <a:chOff x="96" y="720"/>
            <a:chExt cx="2736" cy="1536"/>
          </a:xfrm>
        </p:grpSpPr>
        <p:pic>
          <p:nvPicPr>
            <p:cNvPr id="321" name="Picture 320" descr="sram">
              <a:extLst>
                <a:ext uri="{FF2B5EF4-FFF2-40B4-BE49-F238E27FC236}">
                  <a16:creationId xmlns:a16="http://schemas.microsoft.com/office/drawing/2014/main" id="{1DBFD24A-33E3-4B80-85E0-5EE2F77A67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84" y="864"/>
              <a:ext cx="2400" cy="13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22" name="Rectangle 323">
              <a:extLst>
                <a:ext uri="{FF2B5EF4-FFF2-40B4-BE49-F238E27FC236}">
                  <a16:creationId xmlns:a16="http://schemas.microsoft.com/office/drawing/2014/main" id="{02E12A1F-ECC5-4C37-BC0A-C8DB4E607C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864"/>
              <a:ext cx="2448" cy="13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pic>
          <p:nvPicPr>
            <p:cNvPr id="323" name="Picture 316" descr="j0216858">
              <a:extLst>
                <a:ext uri="{FF2B5EF4-FFF2-40B4-BE49-F238E27FC236}">
                  <a16:creationId xmlns:a16="http://schemas.microsoft.com/office/drawing/2014/main" id="{740795F7-68A1-40EE-A606-B0EC373513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96" y="720"/>
              <a:ext cx="767" cy="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324" name="Group 326">
            <a:extLst>
              <a:ext uri="{FF2B5EF4-FFF2-40B4-BE49-F238E27FC236}">
                <a16:creationId xmlns:a16="http://schemas.microsoft.com/office/drawing/2014/main" id="{2C1592FD-609F-4A3E-B188-8DE0311F5489}"/>
              </a:ext>
            </a:extLst>
          </p:cNvPr>
          <p:cNvGrpSpPr>
            <a:grpSpLocks/>
          </p:cNvGrpSpPr>
          <p:nvPr/>
        </p:nvGrpSpPr>
        <p:grpSpPr bwMode="auto">
          <a:xfrm>
            <a:off x="4800600" y="1346417"/>
            <a:ext cx="4191000" cy="2514600"/>
            <a:chOff x="3024" y="672"/>
            <a:chExt cx="2640" cy="1584"/>
          </a:xfrm>
        </p:grpSpPr>
        <p:pic>
          <p:nvPicPr>
            <p:cNvPr id="325" name="Picture 321" descr="dramcell">
              <a:extLst>
                <a:ext uri="{FF2B5EF4-FFF2-40B4-BE49-F238E27FC236}">
                  <a16:creationId xmlns:a16="http://schemas.microsoft.com/office/drawing/2014/main" id="{3BF96DEE-D502-4A20-AF54-CA56A13872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3312" y="912"/>
              <a:ext cx="1794" cy="12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26" name="Rectangle 324">
              <a:extLst>
                <a:ext uri="{FF2B5EF4-FFF2-40B4-BE49-F238E27FC236}">
                  <a16:creationId xmlns:a16="http://schemas.microsoft.com/office/drawing/2014/main" id="{E0DD38AD-1062-44ED-8412-43389E665E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864"/>
              <a:ext cx="2448" cy="13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pic>
          <p:nvPicPr>
            <p:cNvPr id="327" name="Picture 317" descr="MCj03378420000[1]">
              <a:extLst>
                <a:ext uri="{FF2B5EF4-FFF2-40B4-BE49-F238E27FC236}">
                  <a16:creationId xmlns:a16="http://schemas.microsoft.com/office/drawing/2014/main" id="{B12BCEF7-38FE-4F79-9C6A-6D05E3E3EAA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4800" y="672"/>
              <a:ext cx="864" cy="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328" name="Rectangle 15">
            <a:extLst>
              <a:ext uri="{FF2B5EF4-FFF2-40B4-BE49-F238E27FC236}">
                <a16:creationId xmlns:a16="http://schemas.microsoft.com/office/drawing/2014/main" id="{BDA2E37C-23AE-43F7-8EDD-7FA5B22838F8}"/>
              </a:ext>
            </a:extLst>
          </p:cNvPr>
          <p:cNvSpPr txBox="1">
            <a:spLocks noChangeArrowheads="1"/>
          </p:cNvSpPr>
          <p:nvPr/>
        </p:nvSpPr>
        <p:spPr>
          <a:xfrm>
            <a:off x="833120" y="4089617"/>
            <a:ext cx="3738880" cy="2107983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None/>
              <a:tabLst/>
              <a:defRPr/>
            </a:pPr>
            <a:r>
              <a:rPr lang="en-US" sz="2400" b="1" dirty="0">
                <a:solidFill>
                  <a:srgbClr val="660066"/>
                </a:solidFill>
              </a:rPr>
              <a:t>SRAM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6 transistors per memory cell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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Low density</a:t>
            </a:r>
            <a:endParaRPr kumimoji="0" lang="en-US" sz="2000" b="0" i="0" u="sng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  <a:sym typeface="Wingdings" pitchFamily="2" charset="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+mn-lt"/>
                <a:ea typeface="+mn-ea"/>
                <a:cs typeface="Arial" pitchFamily="34" charset="0"/>
                <a:sym typeface="Wingdings" pitchFamily="2" charset="2"/>
              </a:rPr>
              <a:t>Fast access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latency of 0.5 – 5 ns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None/>
              <a:tabLst/>
              <a:defRPr/>
            </a:pPr>
            <a:r>
              <a:rPr lang="en-US" sz="2000" kern="0" dirty="0">
                <a:latin typeface="+mn-lt"/>
                <a:cs typeface="+mn-cs"/>
                <a:sym typeface="Wingdings" pitchFamily="2" charset="2"/>
              </a:rPr>
              <a:t>More costly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Uses flip-flops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itchFamily="66" charset="0"/>
              <a:ea typeface="+mn-ea"/>
              <a:cs typeface="+mn-cs"/>
            </a:endParaRPr>
          </a:p>
        </p:txBody>
      </p:sp>
      <p:sp>
        <p:nvSpPr>
          <p:cNvPr id="329" name="Rectangle 16">
            <a:extLst>
              <a:ext uri="{FF2B5EF4-FFF2-40B4-BE49-F238E27FC236}">
                <a16:creationId xmlns:a16="http://schemas.microsoft.com/office/drawing/2014/main" id="{8D1E0486-C2A5-4745-8944-2A33253077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4089617"/>
            <a:ext cx="4038600" cy="2324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algn="l">
              <a:spcBef>
                <a:spcPct val="20000"/>
              </a:spcBef>
              <a:buClr>
                <a:srgbClr val="3333FF"/>
              </a:buClr>
              <a:buSzPct val="80000"/>
            </a:pPr>
            <a:r>
              <a:rPr lang="en-US" sz="2400" b="1" dirty="0">
                <a:solidFill>
                  <a:srgbClr val="660066"/>
                </a:solidFill>
              </a:rPr>
              <a:t>DRAM</a:t>
            </a:r>
          </a:p>
          <a:p>
            <a:pPr marL="342900" indent="-342900" algn="l">
              <a:spcBef>
                <a:spcPct val="20000"/>
              </a:spcBef>
              <a:buClr>
                <a:srgbClr val="3333FF"/>
              </a:buClr>
              <a:buSzPct val="80000"/>
              <a:buFont typeface="Wingdings" pitchFamily="2" charset="2"/>
              <a:buNone/>
            </a:pPr>
            <a:r>
              <a:rPr lang="en-US" sz="2000" dirty="0"/>
              <a:t>1 transistor per memory cell </a:t>
            </a:r>
          </a:p>
          <a:p>
            <a:pPr marL="342900" indent="-342900" algn="l">
              <a:spcBef>
                <a:spcPct val="20000"/>
              </a:spcBef>
              <a:buClr>
                <a:srgbClr val="3333FF"/>
              </a:buClr>
              <a:buSzPct val="80000"/>
              <a:buFont typeface="Wingdings" pitchFamily="2" charset="2"/>
              <a:buNone/>
            </a:pPr>
            <a:r>
              <a:rPr lang="en-US" sz="2000" dirty="0">
                <a:sym typeface="Wingdings" pitchFamily="2" charset="2"/>
              </a:rPr>
              <a:t> </a:t>
            </a:r>
            <a:r>
              <a:rPr lang="en-US" sz="2000" b="1" dirty="0">
                <a:solidFill>
                  <a:srgbClr val="006600"/>
                </a:solidFill>
                <a:sym typeface="Wingdings" pitchFamily="2" charset="2"/>
              </a:rPr>
              <a:t>High density</a:t>
            </a:r>
            <a:endParaRPr lang="en-US" sz="2000" u="sng" dirty="0">
              <a:solidFill>
                <a:srgbClr val="FF0000"/>
              </a:solidFill>
              <a:sym typeface="Wingdings" pitchFamily="2" charset="2"/>
            </a:endParaRPr>
          </a:p>
          <a:p>
            <a:pPr marL="342900" indent="-342900" algn="l">
              <a:spcBef>
                <a:spcPct val="20000"/>
              </a:spcBef>
              <a:buClr>
                <a:srgbClr val="3333FF"/>
              </a:buClr>
              <a:buSzPct val="80000"/>
              <a:buFont typeface="Wingdings" pitchFamily="2" charset="2"/>
              <a:buNone/>
            </a:pPr>
            <a:r>
              <a:rPr lang="en-US" sz="2000" b="1" dirty="0">
                <a:solidFill>
                  <a:srgbClr val="C00000"/>
                </a:solidFill>
                <a:cs typeface="+mn-cs"/>
                <a:sym typeface="Wingdings" pitchFamily="2" charset="2"/>
              </a:rPr>
              <a:t>Slow access </a:t>
            </a:r>
            <a:r>
              <a:rPr lang="en-US" sz="2000" dirty="0">
                <a:sym typeface="Wingdings" pitchFamily="2" charset="2"/>
              </a:rPr>
              <a:t>latency of 50-70ns</a:t>
            </a:r>
          </a:p>
          <a:p>
            <a:pPr marL="342900" indent="-342900" algn="l">
              <a:spcBef>
                <a:spcPct val="20000"/>
              </a:spcBef>
              <a:buClr>
                <a:srgbClr val="3333FF"/>
              </a:buClr>
              <a:buSzPct val="80000"/>
              <a:buFont typeface="Wingdings" pitchFamily="2" charset="2"/>
              <a:buNone/>
            </a:pPr>
            <a:r>
              <a:rPr lang="en-US" sz="2000" dirty="0">
                <a:sym typeface="Wingdings" pitchFamily="2" charset="2"/>
              </a:rPr>
              <a:t>Less costly</a:t>
            </a:r>
          </a:p>
          <a:p>
            <a:pPr marL="342900" indent="-342900" algn="l">
              <a:spcBef>
                <a:spcPct val="20000"/>
              </a:spcBef>
              <a:buClr>
                <a:srgbClr val="3333FF"/>
              </a:buClr>
              <a:buSzPct val="80000"/>
              <a:buFont typeface="Wingdings" pitchFamily="2" charset="2"/>
              <a:buNone/>
            </a:pPr>
            <a:r>
              <a:rPr lang="en-US" sz="2000" dirty="0">
                <a:sym typeface="Wingdings" pitchFamily="2" charset="2"/>
              </a:rPr>
              <a:t>Used in main memory</a:t>
            </a:r>
          </a:p>
        </p:txBody>
      </p:sp>
      <p:sp>
        <p:nvSpPr>
          <p:cNvPr id="330" name="Text Box 10">
            <a:extLst>
              <a:ext uri="{FF2B5EF4-FFF2-40B4-BE49-F238E27FC236}">
                <a16:creationId xmlns:a16="http://schemas.microsoft.com/office/drawing/2014/main" id="{B9B0B92E-62F4-4D12-B248-F003CCE56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027" y="3556217"/>
            <a:ext cx="1232773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A SRAM Cell</a:t>
            </a:r>
          </a:p>
        </p:txBody>
      </p:sp>
    </p:spTree>
    <p:extLst>
      <p:ext uri="{BB962C8B-B14F-4D97-AF65-F5344CB8AC3E}">
        <p14:creationId xmlns:p14="http://schemas.microsoft.com/office/powerpoint/2010/main" val="33198455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/>
          </a:bodyPr>
          <a:lstStyle/>
          <a:p>
            <a:pPr marL="1976438" indent="-1976438"/>
            <a:r>
              <a:rPr lang="en-GB" sz="3400" dirty="0">
                <a:solidFill>
                  <a:srgbClr val="0000FF"/>
                </a:solidFill>
              </a:rPr>
              <a:t>1. Slow Memory Technology: </a:t>
            </a:r>
            <a:r>
              <a:rPr lang="en-GB" sz="3400" b="1" dirty="0">
                <a:solidFill>
                  <a:srgbClr val="0000FF"/>
                </a:solidFill>
              </a:rPr>
              <a:t>Magnetic Disk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#22: Cache I: Direct Mapped Cache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9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pic>
        <p:nvPicPr>
          <p:cNvPr id="17" name="Picture 6" descr="HDD7">
            <a:extLst>
              <a:ext uri="{FF2B5EF4-FFF2-40B4-BE49-F238E27FC236}">
                <a16:creationId xmlns:a16="http://schemas.microsoft.com/office/drawing/2014/main" id="{B40F1553-5E88-4606-8B23-8B7289A82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39012" y="1219200"/>
            <a:ext cx="4528738" cy="3561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Text Box 9">
            <a:extLst>
              <a:ext uri="{FF2B5EF4-FFF2-40B4-BE49-F238E27FC236}">
                <a16:creationId xmlns:a16="http://schemas.microsoft.com/office/drawing/2014/main" id="{4B12ECCF-1526-4F30-9E31-5AF23219F7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4495800"/>
            <a:ext cx="4038600" cy="156966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sz="2400" dirty="0"/>
              <a:t>Typical high-end hard disk:</a:t>
            </a:r>
          </a:p>
          <a:p>
            <a:pPr algn="l"/>
            <a:endParaRPr lang="en-US" sz="2400" dirty="0"/>
          </a:p>
          <a:p>
            <a:pPr algn="l"/>
            <a:r>
              <a:rPr lang="en-US" sz="2400" dirty="0"/>
              <a:t>Average Latency</a:t>
            </a:r>
            <a:r>
              <a:rPr lang="en-US" sz="2400" dirty="0">
                <a:solidFill>
                  <a:srgbClr val="C00000"/>
                </a:solidFill>
              </a:rPr>
              <a:t>: 4 - 10 ms</a:t>
            </a:r>
          </a:p>
          <a:p>
            <a:pPr algn="l"/>
            <a:r>
              <a:rPr lang="en-US" sz="2400" dirty="0"/>
              <a:t>Capacity: </a:t>
            </a:r>
            <a:r>
              <a:rPr lang="en-US" sz="2400" dirty="0">
                <a:solidFill>
                  <a:srgbClr val="C00000"/>
                </a:solidFill>
              </a:rPr>
              <a:t>500-2000GB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33AB6C5-DCA0-4C91-AFAD-ED181C7B1EE6}"/>
              </a:ext>
            </a:extLst>
          </p:cNvPr>
          <p:cNvGrpSpPr/>
          <p:nvPr/>
        </p:nvGrpSpPr>
        <p:grpSpPr>
          <a:xfrm>
            <a:off x="304800" y="1600200"/>
            <a:ext cx="3886200" cy="2362200"/>
            <a:chOff x="304800" y="1143000"/>
            <a:chExt cx="3886200" cy="2362200"/>
          </a:xfrm>
        </p:grpSpPr>
        <p:pic>
          <p:nvPicPr>
            <p:cNvPr id="20" name="Picture 5" descr="ibm hard disk recovery">
              <a:extLst>
                <a:ext uri="{FF2B5EF4-FFF2-40B4-BE49-F238E27FC236}">
                  <a16:creationId xmlns:a16="http://schemas.microsoft.com/office/drawing/2014/main" id="{7294026A-1090-48DF-9F82-912DF816E5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698871" y="1434683"/>
              <a:ext cx="1791303" cy="19943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" name="Rectangle 323">
              <a:extLst>
                <a:ext uri="{FF2B5EF4-FFF2-40B4-BE49-F238E27FC236}">
                  <a16:creationId xmlns:a16="http://schemas.microsoft.com/office/drawing/2014/main" id="{0D2038B0-BA5D-498E-8485-C00A8BA3F4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00" y="1371600"/>
              <a:ext cx="3200400" cy="2133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pic>
          <p:nvPicPr>
            <p:cNvPr id="22" name="Picture 8" descr="MCj03985530000[1]">
              <a:extLst>
                <a:ext uri="{FF2B5EF4-FFF2-40B4-BE49-F238E27FC236}">
                  <a16:creationId xmlns:a16="http://schemas.microsoft.com/office/drawing/2014/main" id="{9D4022C5-E365-426A-897B-BA6B5B2D2CA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304800" y="1143000"/>
              <a:ext cx="1143000" cy="5833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10165884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1. Quality vs Quantity</a:t>
            </a:r>
            <a:endParaRPr lang="en-GB" sz="3600" b="1" dirty="0">
              <a:solidFill>
                <a:srgbClr val="0000FF"/>
              </a:solidFill>
            </a:endParaRP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#22: Cache I: Direct Mapped Cache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10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grpSp>
        <p:nvGrpSpPr>
          <p:cNvPr id="13" name="Group 63">
            <a:extLst>
              <a:ext uri="{FF2B5EF4-FFF2-40B4-BE49-F238E27FC236}">
                <a16:creationId xmlns:a16="http://schemas.microsoft.com/office/drawing/2014/main" id="{5112455E-1E8C-43BB-8E22-8B67B475A1A8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3657600"/>
            <a:ext cx="1381125" cy="2151063"/>
            <a:chOff x="384" y="2256"/>
            <a:chExt cx="963" cy="1499"/>
          </a:xfrm>
        </p:grpSpPr>
        <p:pic>
          <p:nvPicPr>
            <p:cNvPr id="14" name="Picture 44" descr="j0216858">
              <a:extLst>
                <a:ext uri="{FF2B5EF4-FFF2-40B4-BE49-F238E27FC236}">
                  <a16:creationId xmlns:a16="http://schemas.microsoft.com/office/drawing/2014/main" id="{F4EE0318-2D0B-425E-8EFA-3CABC915CB9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28" y="2256"/>
              <a:ext cx="767" cy="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" name="Picture 45" descr="MCj03378420000[1]">
              <a:extLst>
                <a:ext uri="{FF2B5EF4-FFF2-40B4-BE49-F238E27FC236}">
                  <a16:creationId xmlns:a16="http://schemas.microsoft.com/office/drawing/2014/main" id="{2617CE8A-00D7-4714-8292-4686F4ACE2B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528" y="2736"/>
              <a:ext cx="768" cy="3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6" name="Picture 46" descr="MCj03985530000[1]">
              <a:extLst>
                <a:ext uri="{FF2B5EF4-FFF2-40B4-BE49-F238E27FC236}">
                  <a16:creationId xmlns:a16="http://schemas.microsoft.com/office/drawing/2014/main" id="{01392362-820A-4ACD-9482-8D87652262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384" y="3264"/>
              <a:ext cx="963" cy="4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aphicFrame>
        <p:nvGraphicFramePr>
          <p:cNvPr id="23" name="Group 82">
            <a:extLst>
              <a:ext uri="{FF2B5EF4-FFF2-40B4-BE49-F238E27FC236}">
                <a16:creationId xmlns:a16="http://schemas.microsoft.com/office/drawing/2014/main" id="{DE00E7BE-F184-47EA-BB91-8CDA45DC04A5}"/>
              </a:ext>
            </a:extLst>
          </p:cNvPr>
          <p:cNvGraphicFramePr>
            <a:graphicFrameLocks/>
          </p:cNvGraphicFramePr>
          <p:nvPr/>
        </p:nvGraphicFramePr>
        <p:xfrm>
          <a:off x="2057400" y="3352800"/>
          <a:ext cx="6324600" cy="2590800"/>
        </p:xfrm>
        <a:graphic>
          <a:graphicData uri="http://schemas.openxmlformats.org/drawingml/2006/table">
            <a:tbl>
              <a:tblPr/>
              <a:tblGrid>
                <a:gridCol w="1504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Capacity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Latency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Cost/GB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Register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100s Bytes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20 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ps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$$$$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SRAM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100s KB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0.5-5 ns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$$$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DRAM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100s MB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50-70 ns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$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Hard Disk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100s GB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5-20 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ms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Cents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Ideal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1 GB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1  ns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Cheap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24" name="Group 23">
            <a:extLst>
              <a:ext uri="{FF2B5EF4-FFF2-40B4-BE49-F238E27FC236}">
                <a16:creationId xmlns:a16="http://schemas.microsoft.com/office/drawing/2014/main" id="{2C706851-99C7-4478-91F6-2FDDF4CC5CC8}"/>
              </a:ext>
            </a:extLst>
          </p:cNvPr>
          <p:cNvGrpSpPr/>
          <p:nvPr/>
        </p:nvGrpSpPr>
        <p:grpSpPr>
          <a:xfrm>
            <a:off x="2445152" y="1497918"/>
            <a:ext cx="4724400" cy="1633954"/>
            <a:chOff x="3048000" y="1219200"/>
            <a:chExt cx="4724400" cy="1633954"/>
          </a:xfrm>
        </p:grpSpPr>
        <p:sp>
          <p:nvSpPr>
            <p:cNvPr id="25" name="Rectangle 96">
              <a:extLst>
                <a:ext uri="{FF2B5EF4-FFF2-40B4-BE49-F238E27FC236}">
                  <a16:creationId xmlns:a16="http://schemas.microsoft.com/office/drawing/2014/main" id="{357ED56E-2CF3-491A-8F14-25A7BF0CE3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5350" y="1219200"/>
              <a:ext cx="1390650" cy="1601821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2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>
              <a:noAutofit/>
            </a:bodyPr>
            <a:lstStyle/>
            <a:p>
              <a:pPr algn="ctr"/>
              <a:r>
                <a:rPr lang="en-US" sz="2000" b="1" dirty="0">
                  <a:solidFill>
                    <a:srgbClr val="C00000"/>
                  </a:solidFill>
                </a:rPr>
                <a:t>Memory</a:t>
              </a:r>
            </a:p>
            <a:p>
              <a:pPr algn="ctr"/>
              <a:r>
                <a:rPr lang="en-US" sz="2000" dirty="0">
                  <a:solidFill>
                    <a:srgbClr val="C00000"/>
                  </a:solidFill>
                </a:rPr>
                <a:t>(DRAM)</a:t>
              </a:r>
            </a:p>
          </p:txBody>
        </p:sp>
        <p:sp>
          <p:nvSpPr>
            <p:cNvPr id="26" name="Rectangle 97">
              <a:extLst>
                <a:ext uri="{FF2B5EF4-FFF2-40B4-BE49-F238E27FC236}">
                  <a16:creationId xmlns:a16="http://schemas.microsoft.com/office/drawing/2014/main" id="{7CFD46ED-654D-4F07-8FFF-D9B0C8C700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00800" y="1219200"/>
              <a:ext cx="1371600" cy="1600199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2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square" anchor="ctr">
              <a:noAutofit/>
            </a:bodyPr>
            <a:lstStyle/>
            <a:p>
              <a:endParaRPr lang="en-US" sz="1600"/>
            </a:p>
          </p:txBody>
        </p:sp>
        <p:sp>
          <p:nvSpPr>
            <p:cNvPr id="27" name="Text Box 103">
              <a:extLst>
                <a:ext uri="{FF2B5EF4-FFF2-40B4-BE49-F238E27FC236}">
                  <a16:creationId xmlns:a16="http://schemas.microsoft.com/office/drawing/2014/main" id="{D6FDBF61-A2DB-43D5-9332-6D26FC19A8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09399" y="1277566"/>
              <a:ext cx="1286801" cy="33857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latin typeface="Verdana" pitchFamily="34" charset="0"/>
                </a:rPr>
                <a:t>Devices</a:t>
              </a:r>
            </a:p>
          </p:txBody>
        </p:sp>
        <p:sp>
          <p:nvSpPr>
            <p:cNvPr id="28" name="AutoShape 104">
              <a:extLst>
                <a:ext uri="{FF2B5EF4-FFF2-40B4-BE49-F238E27FC236}">
                  <a16:creationId xmlns:a16="http://schemas.microsoft.com/office/drawing/2014/main" id="{934F651C-FFCE-4879-B7D8-4E9DB44591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8275" y="1600200"/>
              <a:ext cx="949325" cy="363166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algn="ctr">
              <a:solidFill>
                <a:schemeClr val="tx2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>
              <a:noAutofit/>
            </a:bodyPr>
            <a:lstStyle/>
            <a:p>
              <a:pPr algn="ctr"/>
              <a:r>
                <a:rPr lang="en-US" sz="1600" b="1" dirty="0"/>
                <a:t>Input</a:t>
              </a:r>
            </a:p>
          </p:txBody>
        </p:sp>
        <p:sp>
          <p:nvSpPr>
            <p:cNvPr id="29" name="AutoShape 105">
              <a:extLst>
                <a:ext uri="{FF2B5EF4-FFF2-40B4-BE49-F238E27FC236}">
                  <a16:creationId xmlns:a16="http://schemas.microsoft.com/office/drawing/2014/main" id="{FBC75DF5-1331-4D5A-83FD-BB40EA18E1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8275" y="2075234"/>
              <a:ext cx="949325" cy="363166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algn="ctr">
              <a:solidFill>
                <a:schemeClr val="tx2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>
              <a:noAutofit/>
            </a:bodyPr>
            <a:lstStyle/>
            <a:p>
              <a:pPr algn="ctr"/>
              <a:r>
                <a:rPr lang="en-US" sz="1600" b="1" dirty="0"/>
                <a:t>Output</a:t>
              </a:r>
            </a:p>
          </p:txBody>
        </p:sp>
        <p:grpSp>
          <p:nvGrpSpPr>
            <p:cNvPr id="30" name="Group 28">
              <a:extLst>
                <a:ext uri="{FF2B5EF4-FFF2-40B4-BE49-F238E27FC236}">
                  <a16:creationId xmlns:a16="http://schemas.microsoft.com/office/drawing/2014/main" id="{94CE26EA-C41E-4BA7-BB6E-DF038E28398D}"/>
                </a:ext>
              </a:extLst>
            </p:cNvPr>
            <p:cNvGrpSpPr/>
            <p:nvPr/>
          </p:nvGrpSpPr>
          <p:grpSpPr>
            <a:xfrm>
              <a:off x="3048000" y="1219200"/>
              <a:ext cx="1335749" cy="1601822"/>
              <a:chOff x="1371600" y="1963367"/>
              <a:chExt cx="1335749" cy="1543455"/>
            </a:xfrm>
          </p:grpSpPr>
          <p:sp>
            <p:nvSpPr>
              <p:cNvPr id="32" name="Rectangle 95">
                <a:extLst>
                  <a:ext uri="{FF2B5EF4-FFF2-40B4-BE49-F238E27FC236}">
                    <a16:creationId xmlns:a16="http://schemas.microsoft.com/office/drawing/2014/main" id="{CAFF5E34-7552-4CE8-825C-CCAEBC813D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2899" y="1963367"/>
                <a:ext cx="1314450" cy="1543455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chemeClr val="tx2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 wrap="none" anchor="ctr">
                <a:noAutofit/>
              </a:bodyPr>
              <a:lstStyle/>
              <a:p>
                <a:endParaRPr lang="en-US" sz="1600"/>
              </a:p>
            </p:txBody>
          </p:sp>
          <p:sp>
            <p:nvSpPr>
              <p:cNvPr id="33" name="Text Box 99">
                <a:extLst>
                  <a:ext uri="{FF2B5EF4-FFF2-40B4-BE49-F238E27FC236}">
                    <a16:creationId xmlns:a16="http://schemas.microsoft.com/office/drawing/2014/main" id="{D8495E9D-742E-4411-A312-9B3B2D31978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71600" y="1963367"/>
                <a:ext cx="1322057" cy="338577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 dirty="0">
                    <a:latin typeface="Verdana" pitchFamily="34" charset="0"/>
                  </a:rPr>
                  <a:t>Processor</a:t>
                </a:r>
              </a:p>
            </p:txBody>
          </p:sp>
          <p:sp>
            <p:nvSpPr>
              <p:cNvPr id="34" name="AutoShape 100">
                <a:extLst>
                  <a:ext uri="{FF2B5EF4-FFF2-40B4-BE49-F238E27FC236}">
                    <a16:creationId xmlns:a16="http://schemas.microsoft.com/office/drawing/2014/main" id="{A5E499B9-0BED-4924-95F6-52B77F1500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60248" y="2326533"/>
                <a:ext cx="1001051" cy="363166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9525" algn="ctr">
                <a:solidFill>
                  <a:schemeClr val="tx2"/>
                </a:solidFill>
                <a:round/>
                <a:headEnd/>
                <a:tailEnd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 wrap="none" anchor="ctr">
                <a:noAutofit/>
              </a:bodyPr>
              <a:lstStyle/>
              <a:p>
                <a:pPr algn="ctr"/>
                <a:r>
                  <a:rPr lang="en-US" sz="1600" b="1" dirty="0"/>
                  <a:t>Control</a:t>
                </a:r>
              </a:p>
            </p:txBody>
          </p:sp>
          <p:sp>
            <p:nvSpPr>
              <p:cNvPr id="35" name="AutoShape 108">
                <a:extLst>
                  <a:ext uri="{FF2B5EF4-FFF2-40B4-BE49-F238E27FC236}">
                    <a16:creationId xmlns:a16="http://schemas.microsoft.com/office/drawing/2014/main" id="{F6AB1C2C-E1BA-4356-A2A3-8358585C7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60248" y="2871282"/>
                <a:ext cx="1001051" cy="544749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9525" algn="ctr">
                <a:solidFill>
                  <a:schemeClr val="tx2"/>
                </a:solidFill>
                <a:round/>
                <a:headEnd/>
                <a:tailEnd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 wrap="none" anchor="ctr">
                <a:noAutofit/>
              </a:bodyPr>
              <a:lstStyle/>
              <a:p>
                <a:pPr algn="ctr"/>
                <a:r>
                  <a:rPr lang="en-US" sz="1600" b="1" dirty="0" err="1"/>
                  <a:t>Datapath</a:t>
                </a:r>
                <a:endParaRPr lang="en-US" sz="1600" b="1" dirty="0"/>
              </a:p>
              <a:p>
                <a:pPr algn="ctr"/>
                <a:r>
                  <a:rPr lang="en-US" sz="1600" b="1" dirty="0">
                    <a:solidFill>
                      <a:srgbClr val="C00000"/>
                    </a:solidFill>
                  </a:rPr>
                  <a:t>Registers</a:t>
                </a:r>
              </a:p>
            </p:txBody>
          </p:sp>
        </p:grpSp>
        <p:sp>
          <p:nvSpPr>
            <p:cNvPr id="31" name="Text Box 103">
              <a:extLst>
                <a:ext uri="{FF2B5EF4-FFF2-40B4-BE49-F238E27FC236}">
                  <a16:creationId xmlns:a16="http://schemas.microsoft.com/office/drawing/2014/main" id="{5C3A846F-380C-49AA-8319-AA2D882E07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24600" y="2514600"/>
              <a:ext cx="1447800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C00000"/>
                  </a:solidFill>
                  <a:latin typeface="Verdana" pitchFamily="34" charset="0"/>
                </a:rPr>
                <a:t>(</a:t>
              </a:r>
              <a:r>
                <a:rPr lang="en-US" sz="1600" b="1" dirty="0" err="1">
                  <a:solidFill>
                    <a:srgbClr val="C00000"/>
                  </a:solidFill>
                  <a:latin typeface="Verdana" pitchFamily="34" charset="0"/>
                </a:rPr>
                <a:t>Harddisk</a:t>
              </a:r>
              <a:r>
                <a:rPr lang="en-US" sz="1600" b="1" dirty="0">
                  <a:solidFill>
                    <a:srgbClr val="C00000"/>
                  </a:solidFill>
                  <a:latin typeface="Verdana" pitchFamily="34" charset="0"/>
                </a:rPr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863118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1. Best of Both Worlds</a:t>
            </a:r>
            <a:endParaRPr lang="en-GB" sz="3600" b="1" dirty="0">
              <a:solidFill>
                <a:srgbClr val="0000FF"/>
              </a:solidFill>
            </a:endParaRP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#22: Cache I: Direct Mapped Cache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11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36" name="Rectangle 3">
            <a:extLst>
              <a:ext uri="{FF2B5EF4-FFF2-40B4-BE49-F238E27FC236}">
                <a16:creationId xmlns:a16="http://schemas.microsoft.com/office/drawing/2014/main" id="{221C70A4-7BE1-4ED4-BE91-5116FAAC31EC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346416"/>
            <a:ext cx="8153400" cy="21587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indent="-266700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What we want: </a:t>
            </a:r>
          </a:p>
          <a:p>
            <a:pPr marL="625475" lvl="1" indent="-266700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A </a:t>
            </a:r>
            <a:r>
              <a:rPr lang="en-US" sz="2400" b="1" dirty="0">
                <a:solidFill>
                  <a:srgbClr val="006600"/>
                </a:solidFill>
              </a:rPr>
              <a:t>BIG</a:t>
            </a:r>
            <a:r>
              <a:rPr lang="en-US" sz="2400" dirty="0"/>
              <a:t> and </a:t>
            </a:r>
            <a:r>
              <a:rPr lang="en-US" sz="2400" b="1" dirty="0">
                <a:solidFill>
                  <a:srgbClr val="C00000"/>
                </a:solidFill>
              </a:rPr>
              <a:t>FAST</a:t>
            </a:r>
            <a:r>
              <a:rPr lang="en-US" sz="2400" dirty="0"/>
              <a:t> memory</a:t>
            </a:r>
          </a:p>
          <a:p>
            <a:pPr marL="625475" lvl="1" indent="-266700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Memory system should perform like 1GB of SRAM (1ns access time) but cost like 1GB of slow memory</a:t>
            </a:r>
          </a:p>
          <a:p>
            <a:pPr fontAlgn="auto">
              <a:spcAft>
                <a:spcPts val="0"/>
              </a:spcAft>
              <a:buFont typeface="Arial" pitchFamily="34" charset="0"/>
              <a:buNone/>
            </a:pPr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B8B4D90-9DCA-4650-8400-8A80F8871CEE}"/>
              </a:ext>
            </a:extLst>
          </p:cNvPr>
          <p:cNvSpPr/>
          <p:nvPr/>
        </p:nvSpPr>
        <p:spPr>
          <a:xfrm>
            <a:off x="495300" y="3430633"/>
            <a:ext cx="8077200" cy="2286000"/>
          </a:xfrm>
          <a:prstGeom prst="rect">
            <a:avLst/>
          </a:prstGeom>
          <a:solidFill>
            <a:srgbClr val="FFFFCC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/>
            <a:endParaRPr lang="en-US" dirty="0">
              <a:solidFill>
                <a:schemeClr val="tx1"/>
              </a:solidFill>
            </a:endParaRPr>
          </a:p>
          <a:p>
            <a:pPr marL="342900" lvl="0" indent="-342900" algn="ctr" eaLnBrk="0" hangingPunct="0">
              <a:spcBef>
                <a:spcPts val="0"/>
              </a:spcBef>
              <a:buClr>
                <a:srgbClr val="D16349"/>
              </a:buClr>
              <a:buSzPct val="65000"/>
            </a:pPr>
            <a:r>
              <a:rPr lang="en-US" sz="3000" b="1" kern="0" dirty="0">
                <a:solidFill>
                  <a:srgbClr val="C00000"/>
                </a:solidFill>
              </a:rPr>
              <a:t>Key concept: </a:t>
            </a:r>
          </a:p>
          <a:p>
            <a:pPr marL="342900" lvl="0" indent="-342900" eaLnBrk="0" hangingPunct="0">
              <a:spcBef>
                <a:spcPct val="20000"/>
              </a:spcBef>
              <a:buClr>
                <a:srgbClr val="D16349"/>
              </a:buClr>
              <a:buSzPct val="65000"/>
            </a:pPr>
            <a:r>
              <a:rPr lang="en-US" sz="2800" kern="0" dirty="0">
                <a:solidFill>
                  <a:prstClr val="black"/>
                </a:solidFill>
              </a:rPr>
              <a:t>Use a </a:t>
            </a:r>
            <a:r>
              <a:rPr lang="en-US" sz="2800" kern="0" dirty="0">
                <a:solidFill>
                  <a:srgbClr val="0000FF"/>
                </a:solidFill>
              </a:rPr>
              <a:t>hierarchy</a:t>
            </a:r>
            <a:r>
              <a:rPr lang="en-US" sz="2800" kern="0" dirty="0">
                <a:solidFill>
                  <a:prstClr val="black"/>
                </a:solidFill>
              </a:rPr>
              <a:t> of memory technologies:</a:t>
            </a:r>
          </a:p>
          <a:p>
            <a:pPr marL="669925" lvl="1" indent="-325438" eaLnBrk="0" hangingPunct="0">
              <a:spcBef>
                <a:spcPct val="20000"/>
              </a:spcBef>
              <a:buClr>
                <a:srgbClr val="C00000"/>
              </a:buClr>
              <a:buSzPct val="60000"/>
              <a:buFont typeface="Wingdings" pitchFamily="2" charset="2"/>
              <a:buChar char="v"/>
            </a:pPr>
            <a:r>
              <a:rPr lang="en-US" sz="2600" kern="0" dirty="0">
                <a:solidFill>
                  <a:prstClr val="black"/>
                </a:solidFill>
              </a:rPr>
              <a:t>Small but fast memory near CPU</a:t>
            </a:r>
          </a:p>
          <a:p>
            <a:pPr marL="669925" lvl="1" indent="-325438" eaLnBrk="0" hangingPunct="0">
              <a:spcBef>
                <a:spcPct val="20000"/>
              </a:spcBef>
              <a:buClr>
                <a:srgbClr val="C00000"/>
              </a:buClr>
              <a:buSzPct val="60000"/>
              <a:buFont typeface="Wingdings" pitchFamily="2" charset="2"/>
              <a:buChar char="v"/>
            </a:pPr>
            <a:r>
              <a:rPr lang="en-US" sz="2600" kern="0" dirty="0">
                <a:solidFill>
                  <a:prstClr val="black"/>
                </a:solidFill>
              </a:rPr>
              <a:t>Large but slow memory farther away from CPU</a:t>
            </a:r>
            <a:endParaRPr lang="en-US" kern="0" dirty="0">
              <a:solidFill>
                <a:prstClr val="black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1882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1. Memory Hierarchy</a:t>
            </a:r>
            <a:endParaRPr lang="en-GB" sz="3600" b="1" dirty="0">
              <a:solidFill>
                <a:srgbClr val="0000FF"/>
              </a:solidFill>
            </a:endParaRP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#22: Cache I: Direct Mapped Cache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12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8" name="Rectangle 56">
            <a:extLst>
              <a:ext uri="{FF2B5EF4-FFF2-40B4-BE49-F238E27FC236}">
                <a16:creationId xmlns:a16="http://schemas.microsoft.com/office/drawing/2014/main" id="{BA019BB8-C1EC-4D78-93C9-48B74406F9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4250" y="3460750"/>
            <a:ext cx="6638925" cy="650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D5F469B-591B-4CA2-9219-3ED8EB159924}"/>
              </a:ext>
            </a:extLst>
          </p:cNvPr>
          <p:cNvGrpSpPr/>
          <p:nvPr/>
        </p:nvGrpSpPr>
        <p:grpSpPr>
          <a:xfrm>
            <a:off x="1828800" y="4916376"/>
            <a:ext cx="4648200" cy="400110"/>
            <a:chOff x="1905000" y="4798983"/>
            <a:chExt cx="4648200" cy="400110"/>
          </a:xfrm>
        </p:grpSpPr>
        <p:sp>
          <p:nvSpPr>
            <p:cNvPr id="10" name="Text Box 65">
              <a:extLst>
                <a:ext uri="{FF2B5EF4-FFF2-40B4-BE49-F238E27FC236}">
                  <a16:creationId xmlns:a16="http://schemas.microsoft.com/office/drawing/2014/main" id="{579E8858-CB97-44A3-B397-F0B276ED75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0143" y="4798983"/>
              <a:ext cx="697627" cy="40011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2000" b="1" dirty="0">
                  <a:solidFill>
                    <a:srgbClr val="0066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Size</a:t>
              </a:r>
            </a:p>
          </p:txBody>
        </p:sp>
        <p:sp>
          <p:nvSpPr>
            <p:cNvPr id="11" name="Line 72">
              <a:extLst>
                <a:ext uri="{FF2B5EF4-FFF2-40B4-BE49-F238E27FC236}">
                  <a16:creationId xmlns:a16="http://schemas.microsoft.com/office/drawing/2014/main" id="{98AFEE30-75EC-4FCD-A648-212B0E78BD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05000" y="5029200"/>
              <a:ext cx="200342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lg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Line 73">
              <a:extLst>
                <a:ext uri="{FF2B5EF4-FFF2-40B4-BE49-F238E27FC236}">
                  <a16:creationId xmlns:a16="http://schemas.microsoft.com/office/drawing/2014/main" id="{C737C195-C5AD-4BF2-B6B2-EE21C9A5B0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24400" y="5029200"/>
              <a:ext cx="18288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lg" len="med"/>
            </a:ln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16" name="Text Box 78">
            <a:extLst>
              <a:ext uri="{FF2B5EF4-FFF2-40B4-BE49-F238E27FC236}">
                <a16:creationId xmlns:a16="http://schemas.microsoft.com/office/drawing/2014/main" id="{BF64E021-3A19-4832-8742-5EA4CE027F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2667000"/>
            <a:ext cx="78105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>
                <a:latin typeface="Comic Sans MS" pitchFamily="66" charset="0"/>
              </a:rPr>
              <a:t>SRAM</a:t>
            </a:r>
          </a:p>
        </p:txBody>
      </p:sp>
      <p:sp>
        <p:nvSpPr>
          <p:cNvPr id="17" name="Text Box 79">
            <a:extLst>
              <a:ext uri="{FF2B5EF4-FFF2-40B4-BE49-F238E27FC236}">
                <a16:creationId xmlns:a16="http://schemas.microsoft.com/office/drawing/2014/main" id="{09CA0A7D-98D3-48B3-9206-B814AF6C9B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3429000"/>
            <a:ext cx="785813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>
                <a:latin typeface="Comic Sans MS" pitchFamily="66" charset="0"/>
              </a:rPr>
              <a:t>DRAM</a:t>
            </a:r>
          </a:p>
        </p:txBody>
      </p:sp>
      <p:sp>
        <p:nvSpPr>
          <p:cNvPr id="18" name="Text Box 80">
            <a:extLst>
              <a:ext uri="{FF2B5EF4-FFF2-40B4-BE49-F238E27FC236}">
                <a16:creationId xmlns:a16="http://schemas.microsoft.com/office/drawing/2014/main" id="{6E2FF39D-D0B3-4F4B-A39C-44A9C40CDB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4267200"/>
            <a:ext cx="1055097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dirty="0" err="1">
                <a:latin typeface="Comic Sans MS" pitchFamily="66" charset="0"/>
              </a:rPr>
              <a:t>Harddisk</a:t>
            </a:r>
            <a:endParaRPr lang="en-US" sz="1600" dirty="0">
              <a:latin typeface="Comic Sans MS" pitchFamily="66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FDCC042-D0ED-4D81-8575-378936F2E19C}"/>
              </a:ext>
            </a:extLst>
          </p:cNvPr>
          <p:cNvGrpSpPr/>
          <p:nvPr/>
        </p:nvGrpSpPr>
        <p:grpSpPr>
          <a:xfrm>
            <a:off x="6400801" y="1981200"/>
            <a:ext cx="1018560" cy="2971800"/>
            <a:chOff x="6240464" y="2362200"/>
            <a:chExt cx="1018560" cy="2362200"/>
          </a:xfrm>
        </p:grpSpPr>
        <p:sp>
          <p:nvSpPr>
            <p:cNvPr id="20" name="Line 71">
              <a:extLst>
                <a:ext uri="{FF2B5EF4-FFF2-40B4-BE49-F238E27FC236}">
                  <a16:creationId xmlns:a16="http://schemas.microsoft.com/office/drawing/2014/main" id="{B251CA6C-8463-4AF0-B3F5-0867C9B9A4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81800" y="2362200"/>
              <a:ext cx="0" cy="23622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lg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Text Box 66">
              <a:extLst>
                <a:ext uri="{FF2B5EF4-FFF2-40B4-BE49-F238E27FC236}">
                  <a16:creationId xmlns:a16="http://schemas.microsoft.com/office/drawing/2014/main" id="{B2B93B30-89F5-47A0-8EE3-82B79A05F5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0464" y="3387456"/>
              <a:ext cx="1018560" cy="318036"/>
            </a:xfrm>
            <a:prstGeom prst="rect">
              <a:avLst/>
            </a:prstGeom>
            <a:solidFill>
              <a:schemeClr val="bg1"/>
            </a:solidFill>
            <a:ln w="19050">
              <a:noFill/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pPr algn="ctr" eaLnBrk="0" hangingPunct="0"/>
              <a:r>
                <a:rPr lang="en-US" sz="2000" b="1" dirty="0">
                  <a:solidFill>
                    <a:srgbClr val="66006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Speed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26C85F5-E931-4078-B0FD-EF3B09604E1B}"/>
              </a:ext>
            </a:extLst>
          </p:cNvPr>
          <p:cNvGrpSpPr/>
          <p:nvPr/>
        </p:nvGrpSpPr>
        <p:grpSpPr>
          <a:xfrm>
            <a:off x="1828800" y="1912488"/>
            <a:ext cx="4648199" cy="2974547"/>
            <a:chOff x="2362200" y="2217288"/>
            <a:chExt cx="4648199" cy="2974547"/>
          </a:xfrm>
        </p:grpSpPr>
        <p:sp>
          <p:nvSpPr>
            <p:cNvPr id="23" name="Trapezoid 22">
              <a:extLst>
                <a:ext uri="{FF2B5EF4-FFF2-40B4-BE49-F238E27FC236}">
                  <a16:creationId xmlns:a16="http://schemas.microsoft.com/office/drawing/2014/main" id="{6C97E2F7-57B7-4D55-BEE2-00EC7759F4DA}"/>
                </a:ext>
              </a:extLst>
            </p:cNvPr>
            <p:cNvSpPr/>
            <p:nvPr/>
          </p:nvSpPr>
          <p:spPr>
            <a:xfrm>
              <a:off x="2362200" y="4511550"/>
              <a:ext cx="4648199" cy="680285"/>
            </a:xfrm>
            <a:prstGeom prst="trapezoid">
              <a:avLst>
                <a:gd name="adj" fmla="val 80346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Trapezoid 23">
              <a:extLst>
                <a:ext uri="{FF2B5EF4-FFF2-40B4-BE49-F238E27FC236}">
                  <a16:creationId xmlns:a16="http://schemas.microsoft.com/office/drawing/2014/main" id="{1A2EF2B2-8782-4742-BF6B-E44933456D8C}"/>
                </a:ext>
              </a:extLst>
            </p:cNvPr>
            <p:cNvSpPr/>
            <p:nvPr/>
          </p:nvSpPr>
          <p:spPr>
            <a:xfrm>
              <a:off x="2905610" y="3586917"/>
              <a:ext cx="3561378" cy="914398"/>
            </a:xfrm>
            <a:prstGeom prst="trapezoid">
              <a:avLst>
                <a:gd name="adj" fmla="val 82233"/>
              </a:avLst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Trapezoid 24">
              <a:extLst>
                <a:ext uri="{FF2B5EF4-FFF2-40B4-BE49-F238E27FC236}">
                  <a16:creationId xmlns:a16="http://schemas.microsoft.com/office/drawing/2014/main" id="{882E2B0A-8899-4362-897E-800B46D71C0B}"/>
                </a:ext>
              </a:extLst>
            </p:cNvPr>
            <p:cNvSpPr/>
            <p:nvPr/>
          </p:nvSpPr>
          <p:spPr>
            <a:xfrm>
              <a:off x="3657600" y="2667000"/>
              <a:ext cx="2057400" cy="914400"/>
            </a:xfrm>
            <a:prstGeom prst="trapezoid">
              <a:avLst>
                <a:gd name="adj" fmla="val 82233"/>
              </a:avLst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Isosceles Triangle 25">
              <a:extLst>
                <a:ext uri="{FF2B5EF4-FFF2-40B4-BE49-F238E27FC236}">
                  <a16:creationId xmlns:a16="http://schemas.microsoft.com/office/drawing/2014/main" id="{ABEF015C-45A1-4B1A-A8A5-12804FB225AC}"/>
                </a:ext>
              </a:extLst>
            </p:cNvPr>
            <p:cNvSpPr/>
            <p:nvPr/>
          </p:nvSpPr>
          <p:spPr>
            <a:xfrm>
              <a:off x="4419599" y="2217288"/>
              <a:ext cx="533400" cy="432478"/>
            </a:xfrm>
            <a:prstGeom prst="triangle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F5B09D8-0548-480E-AA96-24DABFD605FF}"/>
              </a:ext>
            </a:extLst>
          </p:cNvPr>
          <p:cNvCxnSpPr/>
          <p:nvPr/>
        </p:nvCxnSpPr>
        <p:spPr>
          <a:xfrm>
            <a:off x="3352800" y="3429000"/>
            <a:ext cx="0" cy="609600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9434C44-E611-49D0-A48B-F1E56AD98F75}"/>
              </a:ext>
            </a:extLst>
          </p:cNvPr>
          <p:cNvCxnSpPr/>
          <p:nvPr/>
        </p:nvCxnSpPr>
        <p:spPr>
          <a:xfrm>
            <a:off x="4114800" y="3429000"/>
            <a:ext cx="0" cy="609600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044A453-44BE-4F2F-B6C8-7B5F7BBD19F6}"/>
              </a:ext>
            </a:extLst>
          </p:cNvPr>
          <p:cNvCxnSpPr/>
          <p:nvPr/>
        </p:nvCxnSpPr>
        <p:spPr>
          <a:xfrm>
            <a:off x="4876800" y="3429000"/>
            <a:ext cx="0" cy="609600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 Box 76">
            <a:extLst>
              <a:ext uri="{FF2B5EF4-FFF2-40B4-BE49-F238E27FC236}">
                <a16:creationId xmlns:a16="http://schemas.microsoft.com/office/drawing/2014/main" id="{81EF2553-1979-456B-9861-0C9B21FD02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4487" y="1912488"/>
            <a:ext cx="1089025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dirty="0">
                <a:latin typeface="Comic Sans MS" pitchFamily="66" charset="0"/>
              </a:rPr>
              <a:t>Registers</a:t>
            </a:r>
          </a:p>
        </p:txBody>
      </p:sp>
    </p:spTree>
    <p:extLst>
      <p:ext uri="{BB962C8B-B14F-4D97-AF65-F5344CB8AC3E}">
        <p14:creationId xmlns:p14="http://schemas.microsoft.com/office/powerpoint/2010/main" val="28759285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2. Cache: The Library Analogy</a:t>
            </a:r>
            <a:endParaRPr lang="en-GB" sz="3600" b="1" dirty="0">
              <a:solidFill>
                <a:srgbClr val="0000FF"/>
              </a:solidFill>
            </a:endParaRP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#22: Cache I: Direct Mapped Cache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13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pic>
        <p:nvPicPr>
          <p:cNvPr id="30" name="Picture 3">
            <a:extLst>
              <a:ext uri="{FF2B5EF4-FFF2-40B4-BE49-F238E27FC236}">
                <a16:creationId xmlns:a16="http://schemas.microsoft.com/office/drawing/2014/main" id="{8B13F7D8-5F22-489B-B165-DF6423C3AD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62200" y="1219200"/>
            <a:ext cx="6448425" cy="267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1" name="Picture 4" descr="C:\Documents and Settings\dcssooyj\Local Settings\Temporary Internet Files\Content.IE5\EO4JUT5O\MC900078718[1].wmf">
            <a:extLst>
              <a:ext uri="{FF2B5EF4-FFF2-40B4-BE49-F238E27FC236}">
                <a16:creationId xmlns:a16="http://schemas.microsoft.com/office/drawing/2014/main" id="{03445414-F4EB-42EF-BDC2-919A1BEBC4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7200" y="3657600"/>
            <a:ext cx="2084962" cy="2259013"/>
          </a:xfrm>
          <a:prstGeom prst="rect">
            <a:avLst/>
          </a:prstGeom>
          <a:noFill/>
        </p:spPr>
      </p:pic>
      <p:sp>
        <p:nvSpPr>
          <p:cNvPr id="32" name="Rounded Rectangle 14">
            <a:extLst>
              <a:ext uri="{FF2B5EF4-FFF2-40B4-BE49-F238E27FC236}">
                <a16:creationId xmlns:a16="http://schemas.microsoft.com/office/drawing/2014/main" id="{FA546712-76F1-4DEB-B89C-234A0B451B59}"/>
              </a:ext>
            </a:extLst>
          </p:cNvPr>
          <p:cNvSpPr/>
          <p:nvPr/>
        </p:nvSpPr>
        <p:spPr>
          <a:xfrm>
            <a:off x="3276600" y="4495800"/>
            <a:ext cx="5410200" cy="1447800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Imagine you are forced to put back a book to its bookshelf before taking another book…….</a:t>
            </a:r>
          </a:p>
        </p:txBody>
      </p:sp>
    </p:spTree>
    <p:extLst>
      <p:ext uri="{BB962C8B-B14F-4D97-AF65-F5344CB8AC3E}">
        <p14:creationId xmlns:p14="http://schemas.microsoft.com/office/powerpoint/2010/main" val="17442184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2. Solution: Book on the Desk!</a:t>
            </a:r>
            <a:endParaRPr lang="en-GB" sz="3600" b="1" dirty="0">
              <a:solidFill>
                <a:srgbClr val="0000FF"/>
              </a:solidFill>
            </a:endParaRP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#22: Cache I: Direct Mapped Cache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14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pic>
        <p:nvPicPr>
          <p:cNvPr id="30" name="Picture 3">
            <a:extLst>
              <a:ext uri="{FF2B5EF4-FFF2-40B4-BE49-F238E27FC236}">
                <a16:creationId xmlns:a16="http://schemas.microsoft.com/office/drawing/2014/main" id="{8B13F7D8-5F22-489B-B165-DF6423C3AD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62200" y="1219200"/>
            <a:ext cx="6448425" cy="267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2" descr="C:\Documents and Settings\dcssooyj\Local Settings\Temporary Internet Files\Content.IE5\WYO2ZBA1\MC900078735[1].wmf">
            <a:extLst>
              <a:ext uri="{FF2B5EF4-FFF2-40B4-BE49-F238E27FC236}">
                <a16:creationId xmlns:a16="http://schemas.microsoft.com/office/drawing/2014/main" id="{51E1CA68-1E7C-4D7B-8A48-2DEB9A6C95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33375" y="3630008"/>
            <a:ext cx="2514600" cy="2703336"/>
          </a:xfrm>
          <a:prstGeom prst="rect">
            <a:avLst/>
          </a:prstGeom>
          <a:noFill/>
        </p:spPr>
      </p:pic>
      <p:sp>
        <p:nvSpPr>
          <p:cNvPr id="11" name="Rounded Rectangle 7">
            <a:extLst>
              <a:ext uri="{FF2B5EF4-FFF2-40B4-BE49-F238E27FC236}">
                <a16:creationId xmlns:a16="http://schemas.microsoft.com/office/drawing/2014/main" id="{2B97A9BE-9A1C-4048-A017-600579A4FF53}"/>
              </a:ext>
            </a:extLst>
          </p:cNvPr>
          <p:cNvSpPr/>
          <p:nvPr/>
        </p:nvSpPr>
        <p:spPr>
          <a:xfrm>
            <a:off x="3141199" y="4382156"/>
            <a:ext cx="5867400" cy="1524000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What if you are allowed to take the books that are </a:t>
            </a:r>
            <a:r>
              <a:rPr lang="en-US" sz="2400" b="1" dirty="0">
                <a:solidFill>
                  <a:schemeClr val="tx1"/>
                </a:solidFill>
              </a:rPr>
              <a:t>likely to be needed soon </a:t>
            </a:r>
            <a:r>
              <a:rPr lang="en-US" sz="2400" dirty="0">
                <a:solidFill>
                  <a:schemeClr val="tx1"/>
                </a:solidFill>
              </a:rPr>
              <a:t>with you and place them nearby on the desk?</a:t>
            </a:r>
          </a:p>
        </p:txBody>
      </p:sp>
    </p:spTree>
    <p:extLst>
      <p:ext uri="{BB962C8B-B14F-4D97-AF65-F5344CB8AC3E}">
        <p14:creationId xmlns:p14="http://schemas.microsoft.com/office/powerpoint/2010/main" val="660454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2. Cache: The Basic Idea</a:t>
            </a:r>
            <a:endParaRPr lang="en-GB" sz="3600" b="1" dirty="0">
              <a:solidFill>
                <a:srgbClr val="0000FF"/>
              </a:solidFill>
            </a:endParaRP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#22: Cache I: Direct Mapped Cache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15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5B8E1D1C-81B9-4DE5-9CB0-1A58D0BF390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46416"/>
            <a:ext cx="8229600" cy="2920783"/>
          </a:xfrm>
        </p:spPr>
        <p:txBody>
          <a:bodyPr>
            <a:normAutofit/>
          </a:bodyPr>
          <a:lstStyle/>
          <a:p>
            <a:pPr marL="266700" indent="-266700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Keep the frequently and recently used data in </a:t>
            </a:r>
            <a:r>
              <a:rPr lang="en-US" sz="2800" b="1" dirty="0">
                <a:solidFill>
                  <a:srgbClr val="006600"/>
                </a:solidFill>
              </a:rPr>
              <a:t>smaller but faster </a:t>
            </a:r>
            <a:r>
              <a:rPr lang="en-US" sz="2800" dirty="0"/>
              <a:t>memory</a:t>
            </a:r>
          </a:p>
          <a:p>
            <a:pPr marL="266700" indent="-266700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Refer to bigger and slower memory:</a:t>
            </a:r>
          </a:p>
          <a:p>
            <a:pPr marL="625475" lvl="2" indent="-266700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sz="2200" dirty="0"/>
              <a:t>Only when you cannot find data/instruction in the faster memory</a:t>
            </a:r>
          </a:p>
          <a:p>
            <a:pPr marL="266700" indent="-266700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Why does it work? </a:t>
            </a:r>
            <a:endParaRPr lang="en-US" sz="2800" b="1" dirty="0">
              <a:solidFill>
                <a:srgbClr val="660066"/>
              </a:solidFill>
            </a:endParaRPr>
          </a:p>
        </p:txBody>
      </p:sp>
      <p:sp>
        <p:nvSpPr>
          <p:cNvPr id="13" name="AutoShape 4">
            <a:extLst>
              <a:ext uri="{FF2B5EF4-FFF2-40B4-BE49-F238E27FC236}">
                <a16:creationId xmlns:a16="http://schemas.microsoft.com/office/drawing/2014/main" id="{DC2A97A9-6832-4ECC-A97F-A2F636FC64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4267200"/>
            <a:ext cx="8558886" cy="1532334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19050" algn="ctr">
            <a:solidFill>
              <a:srgbClr val="C00000"/>
            </a:solidFill>
            <a:round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algn="ctr"/>
            <a:r>
              <a:rPr lang="en-US" sz="2800" b="1" dirty="0">
                <a:solidFill>
                  <a:srgbClr val="660066"/>
                </a:solidFill>
              </a:rPr>
              <a:t>Principle of Locality</a:t>
            </a:r>
            <a:endParaRPr lang="en-US" sz="2800" dirty="0"/>
          </a:p>
          <a:p>
            <a:pPr algn="ctr"/>
            <a:r>
              <a:rPr lang="en-US" sz="2800" dirty="0"/>
              <a:t>Program accesses only a small portion of the </a:t>
            </a:r>
          </a:p>
          <a:p>
            <a:pPr algn="ctr"/>
            <a:r>
              <a:rPr lang="en-US" sz="2800" dirty="0"/>
              <a:t>memory address space within a small time interval</a:t>
            </a:r>
          </a:p>
        </p:txBody>
      </p:sp>
    </p:spTree>
    <p:extLst>
      <p:ext uri="{BB962C8B-B14F-4D97-AF65-F5344CB8AC3E}">
        <p14:creationId xmlns:p14="http://schemas.microsoft.com/office/powerpoint/2010/main" val="3945152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2.1 Cache: Types of Locality</a:t>
            </a:r>
            <a:endParaRPr lang="en-GB" sz="3600" b="1" dirty="0">
              <a:solidFill>
                <a:srgbClr val="0000FF"/>
              </a:solidFill>
            </a:endParaRP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#22: Cache I: Direct Mapped Cache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16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pic>
        <p:nvPicPr>
          <p:cNvPr id="10" name="Picture 7">
            <a:extLst>
              <a:ext uri="{FF2B5EF4-FFF2-40B4-BE49-F238E27FC236}">
                <a16:creationId xmlns:a16="http://schemas.microsoft.com/office/drawing/2014/main" id="{4E57625D-475E-438B-9C8F-E7DD4E8870C6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4389700" y="1705768"/>
            <a:ext cx="4449500" cy="3726800"/>
          </a:xfrm>
          <a:noFill/>
          <a:ln/>
        </p:spPr>
      </p:pic>
      <p:sp>
        <p:nvSpPr>
          <p:cNvPr id="11" name="Rectangle 6">
            <a:extLst>
              <a:ext uri="{FF2B5EF4-FFF2-40B4-BE49-F238E27FC236}">
                <a16:creationId xmlns:a16="http://schemas.microsoft.com/office/drawing/2014/main" id="{C79BCB2A-4814-4E7F-936B-09C80C67014E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346417"/>
            <a:ext cx="3932500" cy="4648200"/>
          </a:xfrm>
          <a:prstGeom prst="rect">
            <a:avLst/>
          </a:prstGeom>
        </p:spPr>
        <p:txBody>
          <a:bodyPr/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indent="-266700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rgbClr val="660066"/>
                </a:solidFill>
              </a:rPr>
              <a:t>Temporal locality</a:t>
            </a:r>
          </a:p>
          <a:p>
            <a:pPr marL="625475" lvl="1" indent="-266700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If an item is referenced, it will tend to be referenced again soon</a:t>
            </a:r>
          </a:p>
          <a:p>
            <a:pPr marL="266700" indent="-266700" fontAlgn="auto">
              <a:spcBef>
                <a:spcPts val="18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rgbClr val="C00000"/>
                </a:solidFill>
              </a:rPr>
              <a:t>Spatial locality</a:t>
            </a:r>
          </a:p>
          <a:p>
            <a:pPr marL="625475" lvl="1" indent="-266700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If an item is referenced, nearby items will tend to be referenced soon </a:t>
            </a:r>
          </a:p>
          <a:p>
            <a:pPr marL="266700" indent="-266700" fontAlgn="auto">
              <a:spcBef>
                <a:spcPts val="18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Different locality for </a:t>
            </a:r>
          </a:p>
          <a:p>
            <a:pPr marL="625475" lvl="1" indent="-266700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Instructions</a:t>
            </a:r>
          </a:p>
          <a:p>
            <a:pPr marL="625475" lvl="1" indent="-266700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Data</a:t>
            </a:r>
          </a:p>
        </p:txBody>
      </p:sp>
    </p:spTree>
    <p:extLst>
      <p:ext uri="{BB962C8B-B14F-4D97-AF65-F5344CB8AC3E}">
        <p14:creationId xmlns:p14="http://schemas.microsoft.com/office/powerpoint/2010/main" val="9054997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DB1B-AA5E-5002-376B-07913214B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6B358B-B86F-A32A-94D0-0210704F06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1190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2.1 Working Set: Definition</a:t>
            </a:r>
            <a:endParaRPr lang="en-GB" sz="3600" b="1" dirty="0">
              <a:solidFill>
                <a:srgbClr val="0000FF"/>
              </a:solidFill>
            </a:endParaRP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#22: Cache I: Direct Mapped Cache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18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6E32B6CE-BC8A-4957-B82A-E93EAC93B660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4467225" y="1604671"/>
            <a:ext cx="4371975" cy="4435475"/>
          </a:xfrm>
          <a:noFill/>
        </p:spPr>
      </p:pic>
      <p:sp>
        <p:nvSpPr>
          <p:cNvPr id="13" name="Rectangle 6">
            <a:extLst>
              <a:ext uri="{FF2B5EF4-FFF2-40B4-BE49-F238E27FC236}">
                <a16:creationId xmlns:a16="http://schemas.microsoft.com/office/drawing/2014/main" id="{26F5DD40-C694-4147-AAF3-5047CA3DF168}"/>
              </a:ext>
            </a:extLst>
          </p:cNvPr>
          <p:cNvSpPr txBox="1">
            <a:spLocks noChangeArrowheads="1"/>
          </p:cNvSpPr>
          <p:nvPr/>
        </p:nvSpPr>
        <p:spPr>
          <a:xfrm>
            <a:off x="590321" y="1408044"/>
            <a:ext cx="4038600" cy="2700969"/>
          </a:xfrm>
          <a:prstGeom prst="rect">
            <a:avLst/>
          </a:prstGeom>
        </p:spPr>
        <p:txBody>
          <a:bodyPr/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indent="-266700" fontAlgn="auto">
              <a:spcBef>
                <a:spcPts val="18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b="1" dirty="0"/>
              <a:t>Set of locations accessed during </a:t>
            </a:r>
            <a:r>
              <a:rPr lang="en-US" b="1" dirty="0">
                <a:sym typeface="Symbol" pitchFamily="18" charset="2"/>
              </a:rPr>
              <a:t>t</a:t>
            </a:r>
          </a:p>
          <a:p>
            <a:pPr marL="266700" indent="-266700" fontAlgn="auto">
              <a:spcBef>
                <a:spcPts val="18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sym typeface="Symbol" pitchFamily="18" charset="2"/>
              </a:rPr>
              <a:t>Different phases of execution may use different working sets</a:t>
            </a:r>
          </a:p>
          <a:p>
            <a:pPr fontAlgn="auto">
              <a:spcAft>
                <a:spcPts val="0"/>
              </a:spcAft>
              <a:buFont typeface="Arial" pitchFamily="34" charset="0"/>
              <a:buNone/>
            </a:pPr>
            <a:endParaRPr lang="en-US" dirty="0">
              <a:sym typeface="Symbol" pitchFamily="18" charset="2"/>
            </a:endParaRPr>
          </a:p>
        </p:txBody>
      </p:sp>
      <p:sp>
        <p:nvSpPr>
          <p:cNvPr id="14" name="AutoShape 4">
            <a:extLst>
              <a:ext uri="{FF2B5EF4-FFF2-40B4-BE49-F238E27FC236}">
                <a16:creationId xmlns:a16="http://schemas.microsoft.com/office/drawing/2014/main" id="{9245003C-6B59-4D46-9357-FA5A9C3F26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321" y="3822409"/>
            <a:ext cx="3733800" cy="1736646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19050" algn="ctr">
            <a:solidFill>
              <a:srgbClr val="C00000"/>
            </a:solidFill>
            <a:round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algn="ctr"/>
            <a:r>
              <a:rPr lang="en-US" sz="2400" dirty="0">
                <a:sym typeface="Symbol" pitchFamily="18" charset="2"/>
              </a:rPr>
              <a:t>Our aim is to </a:t>
            </a:r>
            <a:r>
              <a:rPr lang="en-US" sz="2400" b="1" dirty="0">
                <a:sym typeface="Symbol" pitchFamily="18" charset="2"/>
              </a:rPr>
              <a:t>capture the working set and keep it in the memory closest to CPU</a:t>
            </a:r>
          </a:p>
        </p:txBody>
      </p:sp>
    </p:spTree>
    <p:extLst>
      <p:ext uri="{BB962C8B-B14F-4D97-AF65-F5344CB8AC3E}">
        <p14:creationId xmlns:p14="http://schemas.microsoft.com/office/powerpoint/2010/main" val="19874959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2.2 Two Aspects of Memory Access</a:t>
            </a:r>
            <a:endParaRPr lang="en-GB" sz="3600" b="1" dirty="0">
              <a:solidFill>
                <a:srgbClr val="0000FF"/>
              </a:solidFill>
            </a:endParaRP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#22: Cache I: Direct Mapped Cache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19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AD9896A1-4426-42B4-8585-8027D23339DA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3048000"/>
            <a:ext cx="8229600" cy="3533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5113" indent="-265113" fontAlgn="auto">
              <a:spcBef>
                <a:spcPts val="600"/>
              </a:spcBef>
              <a:spcAft>
                <a:spcPts val="0"/>
              </a:spcAft>
              <a:buClr>
                <a:srgbClr val="663300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0000"/>
                </a:solidFill>
                <a:latin typeface="Verdana"/>
              </a:rPr>
              <a:t>How to make SLOW main memory appear faster? </a:t>
            </a:r>
          </a:p>
          <a:p>
            <a:pPr marL="625475" lvl="1" indent="-265113" fontAlgn="auto">
              <a:spcBef>
                <a:spcPts val="600"/>
              </a:spcBef>
              <a:spcAft>
                <a:spcPts val="0"/>
              </a:spcAft>
              <a:buClr>
                <a:srgbClr val="CC3300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rgbClr val="C00000"/>
                </a:solidFill>
                <a:latin typeface="Verdana"/>
              </a:rPr>
              <a:t>Cache </a:t>
            </a:r>
            <a:r>
              <a:rPr lang="en-US" dirty="0">
                <a:solidFill>
                  <a:srgbClr val="000000"/>
                </a:solidFill>
                <a:latin typeface="Verdana"/>
              </a:rPr>
              <a:t>– a small but fast SRAM near CPU</a:t>
            </a:r>
          </a:p>
          <a:p>
            <a:pPr marL="625475" lvl="1" indent="-265113" fontAlgn="auto">
              <a:spcBef>
                <a:spcPts val="600"/>
              </a:spcBef>
              <a:spcAft>
                <a:spcPts val="0"/>
              </a:spcAft>
              <a:buClr>
                <a:srgbClr val="CC3300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rgbClr val="C00000"/>
                </a:solidFill>
                <a:latin typeface="Verdana"/>
              </a:rPr>
              <a:t>Hardware managed: </a:t>
            </a:r>
            <a:r>
              <a:rPr lang="en-US" dirty="0">
                <a:solidFill>
                  <a:srgbClr val="000000"/>
                </a:solidFill>
                <a:latin typeface="Verdana"/>
              </a:rPr>
              <a:t>Transparent to programmer</a:t>
            </a:r>
          </a:p>
          <a:p>
            <a:pPr marL="265113" indent="-265113" fontAlgn="auto">
              <a:spcBef>
                <a:spcPts val="1200"/>
              </a:spcBef>
              <a:spcAft>
                <a:spcPts val="0"/>
              </a:spcAft>
              <a:buClr>
                <a:srgbClr val="663300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0000"/>
                </a:solidFill>
                <a:latin typeface="Verdana"/>
              </a:rPr>
              <a:t>How to make SMALL main memory appear bigger than it is? </a:t>
            </a:r>
          </a:p>
          <a:p>
            <a:pPr marL="625475" lvl="1" indent="-265113" fontAlgn="auto">
              <a:spcBef>
                <a:spcPts val="600"/>
              </a:spcBef>
              <a:spcAft>
                <a:spcPts val="0"/>
              </a:spcAft>
              <a:buClr>
                <a:srgbClr val="CC3300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rgbClr val="660066"/>
                </a:solidFill>
                <a:latin typeface="Verdana"/>
              </a:rPr>
              <a:t>Virtual memory </a:t>
            </a:r>
          </a:p>
          <a:p>
            <a:pPr marL="625475" lvl="1" indent="-265113" fontAlgn="auto">
              <a:spcBef>
                <a:spcPts val="600"/>
              </a:spcBef>
              <a:spcAft>
                <a:spcPts val="0"/>
              </a:spcAft>
              <a:buClr>
                <a:srgbClr val="CC3300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rgbClr val="660066"/>
                </a:solidFill>
                <a:latin typeface="Verdana"/>
              </a:rPr>
              <a:t>OS managed: </a:t>
            </a:r>
            <a:r>
              <a:rPr lang="en-US" dirty="0">
                <a:solidFill>
                  <a:srgbClr val="000000"/>
                </a:solidFill>
                <a:latin typeface="Verdana"/>
              </a:rPr>
              <a:t>Transparent to programmer</a:t>
            </a:r>
          </a:p>
          <a:p>
            <a:pPr marL="625475" lvl="1" indent="-265113" fontAlgn="auto">
              <a:spcBef>
                <a:spcPts val="600"/>
              </a:spcBef>
              <a:spcAft>
                <a:spcPts val="0"/>
              </a:spcAft>
              <a:buClr>
                <a:srgbClr val="CC3300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0000"/>
                </a:solidFill>
                <a:latin typeface="Verdana"/>
              </a:rPr>
              <a:t>Not in the scope of this module (covered in CS2106)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CA3E96D-CE6B-4141-AB32-77EBB8E07DE2}"/>
              </a:ext>
            </a:extLst>
          </p:cNvPr>
          <p:cNvGrpSpPr/>
          <p:nvPr/>
        </p:nvGrpSpPr>
        <p:grpSpPr>
          <a:xfrm>
            <a:off x="1295400" y="1219200"/>
            <a:ext cx="6400800" cy="1601822"/>
            <a:chOff x="1219200" y="1905001"/>
            <a:chExt cx="6400800" cy="1601822"/>
          </a:xfrm>
        </p:grpSpPr>
        <p:sp>
          <p:nvSpPr>
            <p:cNvPr id="15" name="Rectangle 96">
              <a:extLst>
                <a:ext uri="{FF2B5EF4-FFF2-40B4-BE49-F238E27FC236}">
                  <a16:creationId xmlns:a16="http://schemas.microsoft.com/office/drawing/2014/main" id="{BE2BB3A5-8D90-4F8C-A530-405017F58C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9150" y="1963367"/>
              <a:ext cx="1314450" cy="154345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 algn="ctr">
              <a:solidFill>
                <a:schemeClr val="tx2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>
              <a:noAutofit/>
            </a:bodyPr>
            <a:lstStyle/>
            <a:p>
              <a:pPr algn="ctr"/>
              <a:r>
                <a:rPr lang="en-US" sz="2000" b="1" dirty="0">
                  <a:solidFill>
                    <a:srgbClr val="C00000"/>
                  </a:solidFill>
                </a:rPr>
                <a:t>Memory</a:t>
              </a:r>
            </a:p>
            <a:p>
              <a:pPr algn="ctr"/>
              <a:r>
                <a:rPr lang="en-US" sz="2000" dirty="0">
                  <a:solidFill>
                    <a:srgbClr val="C00000"/>
                  </a:solidFill>
                </a:rPr>
                <a:t>(DRAM)</a:t>
              </a:r>
            </a:p>
          </p:txBody>
        </p:sp>
        <p:sp>
          <p:nvSpPr>
            <p:cNvPr id="16" name="Rectangle 97">
              <a:extLst>
                <a:ext uri="{FF2B5EF4-FFF2-40B4-BE49-F238E27FC236}">
                  <a16:creationId xmlns:a16="http://schemas.microsoft.com/office/drawing/2014/main" id="{C8ED90CE-4861-4F0D-9341-65F3395B5D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24600" y="1981200"/>
              <a:ext cx="1295400" cy="1524000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2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square" anchor="ctr">
              <a:noAutofit/>
            </a:bodyPr>
            <a:lstStyle/>
            <a:p>
              <a:endParaRPr lang="en-US" sz="1600"/>
            </a:p>
          </p:txBody>
        </p:sp>
        <p:sp>
          <p:nvSpPr>
            <p:cNvPr id="17" name="Text Box 103">
              <a:extLst>
                <a:ext uri="{FF2B5EF4-FFF2-40B4-BE49-F238E27FC236}">
                  <a16:creationId xmlns:a16="http://schemas.microsoft.com/office/drawing/2014/main" id="{71762EE6-240B-47DD-9C89-22C4CEFF2E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33199" y="1963367"/>
              <a:ext cx="1286801" cy="33857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latin typeface="Verdana" pitchFamily="34" charset="0"/>
                </a:rPr>
                <a:t>Devices</a:t>
              </a:r>
            </a:p>
          </p:txBody>
        </p:sp>
        <p:sp>
          <p:nvSpPr>
            <p:cNvPr id="18" name="AutoShape 104">
              <a:extLst>
                <a:ext uri="{FF2B5EF4-FFF2-40B4-BE49-F238E27FC236}">
                  <a16:creationId xmlns:a16="http://schemas.microsoft.com/office/drawing/2014/main" id="{60D57CCB-2224-465E-BEC1-C5B05EDAA9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2075" y="2286001"/>
              <a:ext cx="949325" cy="363166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algn="ctr">
              <a:solidFill>
                <a:schemeClr val="tx2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>
              <a:noAutofit/>
            </a:bodyPr>
            <a:lstStyle/>
            <a:p>
              <a:pPr algn="ctr"/>
              <a:r>
                <a:rPr lang="en-US" sz="1600" b="1" dirty="0"/>
                <a:t>Input</a:t>
              </a:r>
            </a:p>
          </p:txBody>
        </p:sp>
        <p:sp>
          <p:nvSpPr>
            <p:cNvPr id="19" name="AutoShape 105">
              <a:extLst>
                <a:ext uri="{FF2B5EF4-FFF2-40B4-BE49-F238E27FC236}">
                  <a16:creationId xmlns:a16="http://schemas.microsoft.com/office/drawing/2014/main" id="{1DB6A37E-65B1-43EF-BBE8-9CD6BB54C7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2075" y="2761035"/>
              <a:ext cx="949325" cy="363166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algn="ctr">
              <a:solidFill>
                <a:schemeClr val="tx2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>
              <a:noAutofit/>
            </a:bodyPr>
            <a:lstStyle/>
            <a:p>
              <a:pPr algn="ctr"/>
              <a:r>
                <a:rPr lang="en-US" sz="1600" b="1" dirty="0"/>
                <a:t>Output</a:t>
              </a:r>
            </a:p>
          </p:txBody>
        </p:sp>
        <p:grpSp>
          <p:nvGrpSpPr>
            <p:cNvPr id="20" name="Group 28">
              <a:extLst>
                <a:ext uri="{FF2B5EF4-FFF2-40B4-BE49-F238E27FC236}">
                  <a16:creationId xmlns:a16="http://schemas.microsoft.com/office/drawing/2014/main" id="{0ACE79BC-D891-4345-B329-9D75F5160792}"/>
                </a:ext>
              </a:extLst>
            </p:cNvPr>
            <p:cNvGrpSpPr/>
            <p:nvPr/>
          </p:nvGrpSpPr>
          <p:grpSpPr>
            <a:xfrm>
              <a:off x="1219200" y="1905001"/>
              <a:ext cx="1335749" cy="1601822"/>
              <a:chOff x="1371600" y="1963367"/>
              <a:chExt cx="1335749" cy="1543455"/>
            </a:xfrm>
          </p:grpSpPr>
          <p:sp>
            <p:nvSpPr>
              <p:cNvPr id="25" name="Rectangle 95">
                <a:extLst>
                  <a:ext uri="{FF2B5EF4-FFF2-40B4-BE49-F238E27FC236}">
                    <a16:creationId xmlns:a16="http://schemas.microsoft.com/office/drawing/2014/main" id="{E56EF469-E78E-4ED0-92C7-378F75AD0C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2899" y="1963367"/>
                <a:ext cx="1314450" cy="1543455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chemeClr val="tx2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 wrap="none" anchor="ctr">
                <a:noAutofit/>
              </a:bodyPr>
              <a:lstStyle/>
              <a:p>
                <a:endParaRPr lang="en-US" sz="1600"/>
              </a:p>
            </p:txBody>
          </p:sp>
          <p:sp>
            <p:nvSpPr>
              <p:cNvPr id="26" name="Text Box 99">
                <a:extLst>
                  <a:ext uri="{FF2B5EF4-FFF2-40B4-BE49-F238E27FC236}">
                    <a16:creationId xmlns:a16="http://schemas.microsoft.com/office/drawing/2014/main" id="{1C86EFFF-0C3A-44C3-9379-B680559B35D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71600" y="1963367"/>
                <a:ext cx="1322057" cy="338577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 dirty="0">
                    <a:latin typeface="Verdana" pitchFamily="34" charset="0"/>
                  </a:rPr>
                  <a:t>Processor</a:t>
                </a:r>
              </a:p>
            </p:txBody>
          </p:sp>
          <p:sp>
            <p:nvSpPr>
              <p:cNvPr id="27" name="AutoShape 100">
                <a:extLst>
                  <a:ext uri="{FF2B5EF4-FFF2-40B4-BE49-F238E27FC236}">
                    <a16:creationId xmlns:a16="http://schemas.microsoft.com/office/drawing/2014/main" id="{B092CD2C-90BE-4286-8039-28781D2B8C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60248" y="2326533"/>
                <a:ext cx="1001051" cy="363166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9525" algn="ctr">
                <a:solidFill>
                  <a:schemeClr val="tx2"/>
                </a:solidFill>
                <a:round/>
                <a:headEnd/>
                <a:tailEnd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 wrap="none" anchor="ctr">
                <a:noAutofit/>
              </a:bodyPr>
              <a:lstStyle/>
              <a:p>
                <a:pPr algn="ctr"/>
                <a:r>
                  <a:rPr lang="en-US" sz="1600" b="1" dirty="0"/>
                  <a:t>Control</a:t>
                </a:r>
              </a:p>
            </p:txBody>
          </p:sp>
          <p:sp>
            <p:nvSpPr>
              <p:cNvPr id="28" name="AutoShape 108">
                <a:extLst>
                  <a:ext uri="{FF2B5EF4-FFF2-40B4-BE49-F238E27FC236}">
                    <a16:creationId xmlns:a16="http://schemas.microsoft.com/office/drawing/2014/main" id="{D9B8A4A7-5564-4E88-9CA2-26D094CC94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60248" y="2871282"/>
                <a:ext cx="1001051" cy="544749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9525" algn="ctr">
                <a:solidFill>
                  <a:schemeClr val="tx2"/>
                </a:solidFill>
                <a:round/>
                <a:headEnd/>
                <a:tailEnd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 wrap="none" anchor="ctr">
                <a:noAutofit/>
              </a:bodyPr>
              <a:lstStyle/>
              <a:p>
                <a:pPr algn="ctr"/>
                <a:r>
                  <a:rPr lang="en-US" sz="1600" b="1" dirty="0" err="1"/>
                  <a:t>Datapath</a:t>
                </a:r>
                <a:endParaRPr lang="en-US" sz="1600" b="1" dirty="0"/>
              </a:p>
              <a:p>
                <a:pPr algn="ctr"/>
                <a:r>
                  <a:rPr lang="en-US" sz="1600" b="1" dirty="0">
                    <a:solidFill>
                      <a:srgbClr val="C00000"/>
                    </a:solidFill>
                  </a:rPr>
                  <a:t>Registers</a:t>
                </a:r>
              </a:p>
            </p:txBody>
          </p:sp>
        </p:grpSp>
        <p:sp>
          <p:nvSpPr>
            <p:cNvPr id="21" name="Rectangle 95">
              <a:extLst>
                <a:ext uri="{FF2B5EF4-FFF2-40B4-BE49-F238E27FC236}">
                  <a16:creationId xmlns:a16="http://schemas.microsoft.com/office/drawing/2014/main" id="{AC26CD0E-120A-409E-B66E-C8CAFC8FBB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8000" y="2743201"/>
              <a:ext cx="1143000" cy="762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algn="ctr">
              <a:solidFill>
                <a:schemeClr val="tx2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>
              <a:noAutofit/>
            </a:bodyPr>
            <a:lstStyle/>
            <a:p>
              <a:pPr algn="ctr"/>
              <a:r>
                <a:rPr lang="en-US" sz="2000" b="1" dirty="0">
                  <a:solidFill>
                    <a:srgbClr val="006600"/>
                  </a:solidFill>
                </a:rPr>
                <a:t>Cache</a:t>
              </a:r>
            </a:p>
            <a:p>
              <a:pPr algn="ctr"/>
              <a:r>
                <a:rPr lang="en-US" sz="2000" dirty="0">
                  <a:solidFill>
                    <a:srgbClr val="006600"/>
                  </a:solidFill>
                </a:rPr>
                <a:t>(SRAM)</a:t>
              </a:r>
            </a:p>
          </p:txBody>
        </p:sp>
        <p:sp>
          <p:nvSpPr>
            <p:cNvPr id="22" name="AutoShape 21">
              <a:extLst>
                <a:ext uri="{FF2B5EF4-FFF2-40B4-BE49-F238E27FC236}">
                  <a16:creationId xmlns:a16="http://schemas.microsoft.com/office/drawing/2014/main" id="{5B185B79-CE65-4A64-A565-AA4BAF3534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7000" y="3048000"/>
              <a:ext cx="304800" cy="228600"/>
            </a:xfrm>
            <a:prstGeom prst="leftRightArrow">
              <a:avLst>
                <a:gd name="adj1" fmla="val 50000"/>
                <a:gd name="adj2" fmla="val 26667"/>
              </a:avLst>
            </a:prstGeom>
            <a:solidFill>
              <a:srgbClr val="3333FF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3" name="AutoShape 21">
              <a:extLst>
                <a:ext uri="{FF2B5EF4-FFF2-40B4-BE49-F238E27FC236}">
                  <a16:creationId xmlns:a16="http://schemas.microsoft.com/office/drawing/2014/main" id="{501FD1E9-6024-4EDD-A887-F0FD1AF10E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7200" y="3048000"/>
              <a:ext cx="304800" cy="228600"/>
            </a:xfrm>
            <a:prstGeom prst="leftRightArrow">
              <a:avLst>
                <a:gd name="adj1" fmla="val 50000"/>
                <a:gd name="adj2" fmla="val 26667"/>
              </a:avLst>
            </a:prstGeom>
            <a:solidFill>
              <a:srgbClr val="3333FF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4" name="AutoShape 21">
              <a:extLst>
                <a:ext uri="{FF2B5EF4-FFF2-40B4-BE49-F238E27FC236}">
                  <a16:creationId xmlns:a16="http://schemas.microsoft.com/office/drawing/2014/main" id="{971B8D89-CC24-4DFA-A98A-3C8905AE84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19800" y="3048000"/>
              <a:ext cx="304800" cy="228600"/>
            </a:xfrm>
            <a:prstGeom prst="leftRightArrow">
              <a:avLst>
                <a:gd name="adj1" fmla="val 50000"/>
                <a:gd name="adj2" fmla="val 26667"/>
              </a:avLst>
            </a:prstGeom>
            <a:solidFill>
              <a:srgbClr val="3333FF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29" name="Text Box 103">
            <a:extLst>
              <a:ext uri="{FF2B5EF4-FFF2-40B4-BE49-F238E27FC236}">
                <a16:creationId xmlns:a16="http://schemas.microsoft.com/office/drawing/2014/main" id="{9FFBF75B-894C-411D-A67A-41A0EB58A9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2514600"/>
            <a:ext cx="1286801" cy="3385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rgbClr val="660066"/>
                </a:solidFill>
                <a:latin typeface="Verdana" pitchFamily="34" charset="0"/>
              </a:rPr>
              <a:t>(</a:t>
            </a:r>
            <a:r>
              <a:rPr lang="en-US" sz="1600" dirty="0" err="1">
                <a:solidFill>
                  <a:srgbClr val="660066"/>
                </a:solidFill>
                <a:latin typeface="Verdana" pitchFamily="34" charset="0"/>
              </a:rPr>
              <a:t>Harddisk</a:t>
            </a:r>
            <a:r>
              <a:rPr lang="en-US" sz="1600" dirty="0">
                <a:solidFill>
                  <a:srgbClr val="660066"/>
                </a:solidFill>
                <a:latin typeface="Verdana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600074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2.2 Memory Access Time: </a:t>
            </a:r>
            <a:r>
              <a:rPr lang="en-GB" sz="3600" b="1" dirty="0">
                <a:solidFill>
                  <a:srgbClr val="0000FF"/>
                </a:solidFill>
              </a:rPr>
              <a:t>Terminology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#22: Cache I: Direct Mapped Cache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20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2429578-736B-430C-8561-B4BB45FEDB81}"/>
              </a:ext>
            </a:extLst>
          </p:cNvPr>
          <p:cNvGrpSpPr/>
          <p:nvPr/>
        </p:nvGrpSpPr>
        <p:grpSpPr>
          <a:xfrm>
            <a:off x="1676400" y="1269219"/>
            <a:ext cx="4724400" cy="1601822"/>
            <a:chOff x="1143000" y="2895600"/>
            <a:chExt cx="4724400" cy="1601822"/>
          </a:xfrm>
        </p:grpSpPr>
        <p:sp>
          <p:nvSpPr>
            <p:cNvPr id="31" name="Rectangle 96">
              <a:extLst>
                <a:ext uri="{FF2B5EF4-FFF2-40B4-BE49-F238E27FC236}">
                  <a16:creationId xmlns:a16="http://schemas.microsoft.com/office/drawing/2014/main" id="{EBBE00A1-02ED-452C-8905-56BB98A2AD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2950" y="2953966"/>
              <a:ext cx="1314450" cy="154345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 algn="ctr">
              <a:solidFill>
                <a:schemeClr val="tx2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>
              <a:noAutofit/>
            </a:bodyPr>
            <a:lstStyle/>
            <a:p>
              <a:pPr algn="ctr"/>
              <a:r>
                <a:rPr lang="en-US" sz="2000" b="1" dirty="0">
                  <a:solidFill>
                    <a:srgbClr val="C00000"/>
                  </a:solidFill>
                </a:rPr>
                <a:t>Memory</a:t>
              </a:r>
            </a:p>
            <a:p>
              <a:pPr algn="ctr"/>
              <a:endParaRPr lang="en-US" sz="2000" b="1" dirty="0">
                <a:solidFill>
                  <a:srgbClr val="C00000"/>
                </a:solidFill>
              </a:endParaRPr>
            </a:p>
            <a:p>
              <a:pPr algn="ctr"/>
              <a:endParaRPr lang="en-US" sz="2000" b="1" dirty="0">
                <a:solidFill>
                  <a:srgbClr val="C00000"/>
                </a:solidFill>
              </a:endParaRPr>
            </a:p>
            <a:p>
              <a:pPr algn="ctr"/>
              <a:endParaRPr lang="en-US" sz="2000" b="1" dirty="0">
                <a:solidFill>
                  <a:srgbClr val="C00000"/>
                </a:solidFill>
              </a:endParaRPr>
            </a:p>
          </p:txBody>
        </p:sp>
        <p:grpSp>
          <p:nvGrpSpPr>
            <p:cNvPr id="32" name="Group 28">
              <a:extLst>
                <a:ext uri="{FF2B5EF4-FFF2-40B4-BE49-F238E27FC236}">
                  <a16:creationId xmlns:a16="http://schemas.microsoft.com/office/drawing/2014/main" id="{34C4331F-5773-404B-B929-B0BDF64B7961}"/>
                </a:ext>
              </a:extLst>
            </p:cNvPr>
            <p:cNvGrpSpPr/>
            <p:nvPr/>
          </p:nvGrpSpPr>
          <p:grpSpPr>
            <a:xfrm>
              <a:off x="1143000" y="2895600"/>
              <a:ext cx="1335749" cy="1601822"/>
              <a:chOff x="1371600" y="1963367"/>
              <a:chExt cx="1335749" cy="1543455"/>
            </a:xfrm>
          </p:grpSpPr>
          <p:sp>
            <p:nvSpPr>
              <p:cNvPr id="42" name="Rectangle 95">
                <a:extLst>
                  <a:ext uri="{FF2B5EF4-FFF2-40B4-BE49-F238E27FC236}">
                    <a16:creationId xmlns:a16="http://schemas.microsoft.com/office/drawing/2014/main" id="{18EF0D2C-9317-44F6-8DE4-54DE055BCF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2899" y="1963367"/>
                <a:ext cx="1314450" cy="1543455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chemeClr val="tx2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 wrap="none" anchor="ctr">
                <a:noAutofit/>
              </a:bodyPr>
              <a:lstStyle/>
              <a:p>
                <a:endParaRPr lang="en-US" sz="1600"/>
              </a:p>
            </p:txBody>
          </p:sp>
          <p:sp>
            <p:nvSpPr>
              <p:cNvPr id="43" name="Text Box 99">
                <a:extLst>
                  <a:ext uri="{FF2B5EF4-FFF2-40B4-BE49-F238E27FC236}">
                    <a16:creationId xmlns:a16="http://schemas.microsoft.com/office/drawing/2014/main" id="{6A43FA00-0BD3-4728-B09F-C21B8483E49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71600" y="1963367"/>
                <a:ext cx="1322057" cy="338577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 dirty="0">
                    <a:latin typeface="Verdana" pitchFamily="34" charset="0"/>
                  </a:rPr>
                  <a:t>Processor</a:t>
                </a:r>
              </a:p>
            </p:txBody>
          </p:sp>
        </p:grpSp>
        <p:sp>
          <p:nvSpPr>
            <p:cNvPr id="33" name="Rectangle 95">
              <a:extLst>
                <a:ext uri="{FF2B5EF4-FFF2-40B4-BE49-F238E27FC236}">
                  <a16:creationId xmlns:a16="http://schemas.microsoft.com/office/drawing/2014/main" id="{6DC276CD-4939-4BBA-9FF7-F196C888CA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1800" y="3581400"/>
              <a:ext cx="1143000" cy="9144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algn="ctr">
              <a:solidFill>
                <a:schemeClr val="tx2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>
              <a:noAutofit/>
            </a:bodyPr>
            <a:lstStyle/>
            <a:p>
              <a:pPr algn="ctr"/>
              <a:r>
                <a:rPr lang="en-US" sz="2000" b="1" dirty="0">
                  <a:solidFill>
                    <a:srgbClr val="006600"/>
                  </a:solidFill>
                </a:rPr>
                <a:t>Cache</a:t>
              </a:r>
            </a:p>
            <a:p>
              <a:pPr algn="ctr"/>
              <a:endParaRPr lang="en-US" sz="2000" b="1" dirty="0">
                <a:solidFill>
                  <a:srgbClr val="006600"/>
                </a:solidFill>
              </a:endParaRPr>
            </a:p>
          </p:txBody>
        </p:sp>
        <p:sp>
          <p:nvSpPr>
            <p:cNvPr id="34" name="AutoShape 21">
              <a:extLst>
                <a:ext uri="{FF2B5EF4-FFF2-40B4-BE49-F238E27FC236}">
                  <a16:creationId xmlns:a16="http://schemas.microsoft.com/office/drawing/2014/main" id="{5D4BD983-72F4-4B0B-956F-EBA7C96A9D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0800" y="4038599"/>
              <a:ext cx="304800" cy="228600"/>
            </a:xfrm>
            <a:prstGeom prst="leftRightArrow">
              <a:avLst>
                <a:gd name="adj1" fmla="val 50000"/>
                <a:gd name="adj2" fmla="val 26667"/>
              </a:avLst>
            </a:prstGeom>
            <a:solidFill>
              <a:srgbClr val="0070C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5" name="AutoShape 21">
              <a:extLst>
                <a:ext uri="{FF2B5EF4-FFF2-40B4-BE49-F238E27FC236}">
                  <a16:creationId xmlns:a16="http://schemas.microsoft.com/office/drawing/2014/main" id="{69376C15-9592-4552-8584-277DDDEDB0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1000" y="4038599"/>
              <a:ext cx="304800" cy="228600"/>
            </a:xfrm>
            <a:prstGeom prst="leftRightArrow">
              <a:avLst>
                <a:gd name="adj1" fmla="val 50000"/>
                <a:gd name="adj2" fmla="val 26667"/>
              </a:avLst>
            </a:prstGeom>
            <a:solidFill>
              <a:srgbClr val="0070C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grpSp>
          <p:nvGrpSpPr>
            <p:cNvPr id="36" name="Group 23">
              <a:extLst>
                <a:ext uri="{FF2B5EF4-FFF2-40B4-BE49-F238E27FC236}">
                  <a16:creationId xmlns:a16="http://schemas.microsoft.com/office/drawing/2014/main" id="{AD9B3633-FC5A-4C7D-A0FC-CA5C7AF2E039}"/>
                </a:ext>
              </a:extLst>
            </p:cNvPr>
            <p:cNvGrpSpPr/>
            <p:nvPr/>
          </p:nvGrpSpPr>
          <p:grpSpPr>
            <a:xfrm>
              <a:off x="3124200" y="4038600"/>
              <a:ext cx="838200" cy="381000"/>
              <a:chOff x="3352800" y="1752600"/>
              <a:chExt cx="838200" cy="381000"/>
            </a:xfrm>
          </p:grpSpPr>
          <p:sp>
            <p:nvSpPr>
              <p:cNvPr id="40" name="Rectangle 14">
                <a:extLst>
                  <a:ext uri="{FF2B5EF4-FFF2-40B4-BE49-F238E27FC236}">
                    <a16:creationId xmlns:a16="http://schemas.microsoft.com/office/drawing/2014/main" id="{C8936F6E-4C1E-4A48-AD19-F550A663D1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0000" y="1752600"/>
                <a:ext cx="381000" cy="381000"/>
              </a:xfrm>
              <a:prstGeom prst="rect">
                <a:avLst/>
              </a:prstGeom>
              <a:solidFill>
                <a:srgbClr val="3333FF"/>
              </a:solidFill>
              <a:ln w="9525" algn="ctr">
                <a:solidFill>
                  <a:srgbClr val="002060"/>
                </a:solidFill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1" name="Text Box 16">
                <a:extLst>
                  <a:ext uri="{FF2B5EF4-FFF2-40B4-BE49-F238E27FC236}">
                    <a16:creationId xmlns:a16="http://schemas.microsoft.com/office/drawing/2014/main" id="{2C3DB592-314D-4FF2-8485-7FC230EB853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52800" y="1752600"/>
                <a:ext cx="457200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b="1">
                    <a:latin typeface="+mn-lt"/>
                  </a:rPr>
                  <a:t>X</a:t>
                </a:r>
              </a:p>
            </p:txBody>
          </p:sp>
        </p:grpSp>
        <p:grpSp>
          <p:nvGrpSpPr>
            <p:cNvPr id="37" name="Group 24">
              <a:extLst>
                <a:ext uri="{FF2B5EF4-FFF2-40B4-BE49-F238E27FC236}">
                  <a16:creationId xmlns:a16="http://schemas.microsoft.com/office/drawing/2014/main" id="{7912B9BE-3E8A-4BA0-9832-ED2ED2CDFED5}"/>
                </a:ext>
              </a:extLst>
            </p:cNvPr>
            <p:cNvGrpSpPr/>
            <p:nvPr/>
          </p:nvGrpSpPr>
          <p:grpSpPr>
            <a:xfrm>
              <a:off x="4800600" y="3962400"/>
              <a:ext cx="838200" cy="381000"/>
              <a:chOff x="3352800" y="1752600"/>
              <a:chExt cx="838200" cy="381000"/>
            </a:xfrm>
          </p:grpSpPr>
          <p:sp>
            <p:nvSpPr>
              <p:cNvPr id="38" name="Rectangle 14">
                <a:extLst>
                  <a:ext uri="{FF2B5EF4-FFF2-40B4-BE49-F238E27FC236}">
                    <a16:creationId xmlns:a16="http://schemas.microsoft.com/office/drawing/2014/main" id="{E8EBF755-8EC0-4CC9-8767-7D2629617E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0000" y="1752600"/>
                <a:ext cx="381000" cy="381000"/>
              </a:xfrm>
              <a:prstGeom prst="rect">
                <a:avLst/>
              </a:prstGeom>
              <a:solidFill>
                <a:srgbClr val="FF0000"/>
              </a:solidFill>
              <a:ln w="9525" algn="ctr">
                <a:solidFill>
                  <a:schemeClr val="accent6">
                    <a:lumMod val="50000"/>
                  </a:schemeClr>
                </a:solidFill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9" name="Text Box 16">
                <a:extLst>
                  <a:ext uri="{FF2B5EF4-FFF2-40B4-BE49-F238E27FC236}">
                    <a16:creationId xmlns:a16="http://schemas.microsoft.com/office/drawing/2014/main" id="{BA10A4A4-4D0A-410D-8192-3E021702EB1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52800" y="1752600"/>
                <a:ext cx="457200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b="1" dirty="0">
                    <a:latin typeface="+mn-lt"/>
                  </a:rPr>
                  <a:t>Y</a:t>
                </a:r>
              </a:p>
            </p:txBody>
          </p:sp>
        </p:grpSp>
      </p:grpSp>
      <p:sp>
        <p:nvSpPr>
          <p:cNvPr id="44" name="Content Placeholder 48">
            <a:extLst>
              <a:ext uri="{FF2B5EF4-FFF2-40B4-BE49-F238E27FC236}">
                <a16:creationId xmlns:a16="http://schemas.microsoft.com/office/drawing/2014/main" id="{2AC1FA93-A576-4AA4-AC75-72A85AB822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029392"/>
            <a:ext cx="8229600" cy="3310802"/>
          </a:xfrm>
        </p:spPr>
        <p:txBody>
          <a:bodyPr>
            <a:normAutofit lnSpcReduction="10000"/>
          </a:bodyPr>
          <a:lstStyle/>
          <a:p>
            <a:pPr marL="265113" indent="-265113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sz="2800" b="1" dirty="0">
                <a:solidFill>
                  <a:srgbClr val="006600"/>
                </a:solidFill>
              </a:rPr>
              <a:t>Hit</a:t>
            </a:r>
            <a:r>
              <a:rPr lang="en-US" sz="2800" dirty="0"/>
              <a:t>: Data is in cache (e.g., </a:t>
            </a:r>
            <a:r>
              <a:rPr lang="en-US" sz="2800" b="1" dirty="0"/>
              <a:t>X</a:t>
            </a:r>
            <a:r>
              <a:rPr lang="en-US" sz="2800" dirty="0"/>
              <a:t>)</a:t>
            </a:r>
          </a:p>
          <a:p>
            <a:pPr marL="625475" lvl="1" indent="-265113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6600"/>
                </a:solidFill>
              </a:rPr>
              <a:t>Hit rate</a:t>
            </a:r>
            <a:r>
              <a:rPr lang="en-US" sz="2400" dirty="0"/>
              <a:t>: Fraction of memory accesses that hit</a:t>
            </a:r>
          </a:p>
          <a:p>
            <a:pPr marL="625475" lvl="1" indent="-265113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6600"/>
                </a:solidFill>
              </a:rPr>
              <a:t>Hit time</a:t>
            </a:r>
            <a:r>
              <a:rPr lang="en-US" sz="2400" dirty="0"/>
              <a:t>: Time to access cache</a:t>
            </a:r>
          </a:p>
          <a:p>
            <a:pPr marL="265113" indent="-265113">
              <a:spcBef>
                <a:spcPts val="12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sz="2800" b="1" dirty="0">
                <a:solidFill>
                  <a:srgbClr val="C00000"/>
                </a:solidFill>
              </a:rPr>
              <a:t>Miss</a:t>
            </a:r>
            <a:r>
              <a:rPr lang="en-US" sz="2800" dirty="0"/>
              <a:t>: Data is not in cache (e.g., </a:t>
            </a:r>
            <a:r>
              <a:rPr lang="en-US" sz="2800" b="1" dirty="0"/>
              <a:t>Y</a:t>
            </a:r>
            <a:r>
              <a:rPr lang="en-US" sz="2800" dirty="0"/>
              <a:t>)</a:t>
            </a:r>
          </a:p>
          <a:p>
            <a:pPr marL="625475" lvl="1" indent="-265113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C00000"/>
                </a:solidFill>
              </a:rPr>
              <a:t>Miss rate </a:t>
            </a:r>
            <a:r>
              <a:rPr lang="en-US" sz="2400" dirty="0"/>
              <a:t>= 1 – Hit rate</a:t>
            </a:r>
          </a:p>
          <a:p>
            <a:pPr marL="625475" lvl="1" indent="-265113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C00000"/>
                </a:solidFill>
              </a:rPr>
              <a:t>Miss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>
                <a:solidFill>
                  <a:srgbClr val="C00000"/>
                </a:solidFill>
              </a:rPr>
              <a:t>penalty</a:t>
            </a:r>
            <a:r>
              <a:rPr lang="en-US" sz="2400" dirty="0"/>
              <a:t>: Time to replace cache block + hit time</a:t>
            </a:r>
          </a:p>
          <a:p>
            <a:pPr marL="265113" indent="-265113">
              <a:spcBef>
                <a:spcPts val="12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Hit time &lt; Miss penalty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728719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2.2 Memory Access Time: </a:t>
            </a:r>
            <a:r>
              <a:rPr lang="en-GB" sz="3600" b="1" dirty="0">
                <a:solidFill>
                  <a:srgbClr val="0000FF"/>
                </a:solidFill>
              </a:rPr>
              <a:t>Formula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#22: Cache I: Direct Mapped Cache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21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8A2DD7A1-5DCB-4D1C-AD2D-6F488AC62A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14121" y="1289582"/>
            <a:ext cx="8229600" cy="990600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>
            <a:normAutofit lnSpcReduction="10000"/>
          </a:bodyPr>
          <a:lstStyle/>
          <a:p>
            <a:pPr algn="ctr">
              <a:spcBef>
                <a:spcPts val="600"/>
              </a:spcBef>
              <a:buFont typeface="Wingdings" pitchFamily="2" charset="2"/>
              <a:buNone/>
            </a:pPr>
            <a:r>
              <a:rPr lang="en-US" sz="2800" b="1" dirty="0">
                <a:solidFill>
                  <a:srgbClr val="660066"/>
                </a:solidFill>
              </a:rPr>
              <a:t>Average Access Time </a:t>
            </a:r>
          </a:p>
          <a:p>
            <a:pPr algn="ctr">
              <a:spcBef>
                <a:spcPts val="600"/>
              </a:spcBef>
              <a:buFont typeface="Wingdings" pitchFamily="2" charset="2"/>
              <a:buNone/>
            </a:pPr>
            <a:r>
              <a:rPr lang="en-US" sz="2800" dirty="0"/>
              <a:t>= </a:t>
            </a:r>
            <a:r>
              <a:rPr lang="en-US" sz="2800" dirty="0">
                <a:solidFill>
                  <a:srgbClr val="006600"/>
                </a:solidFill>
              </a:rPr>
              <a:t>Hit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006600"/>
                </a:solidFill>
              </a:rPr>
              <a:t>rate</a:t>
            </a:r>
            <a:r>
              <a:rPr lang="en-US" sz="2800" dirty="0"/>
              <a:t> x </a:t>
            </a:r>
            <a:r>
              <a:rPr lang="en-US" sz="2800" dirty="0">
                <a:solidFill>
                  <a:srgbClr val="006600"/>
                </a:solidFill>
              </a:rPr>
              <a:t>Hit Time </a:t>
            </a:r>
            <a:r>
              <a:rPr lang="en-US" sz="2800" dirty="0"/>
              <a:t>+ </a:t>
            </a:r>
            <a:r>
              <a:rPr lang="en-US" sz="2800" dirty="0">
                <a:solidFill>
                  <a:srgbClr val="C00000"/>
                </a:solidFill>
              </a:rPr>
              <a:t>(1-Hit rate) </a:t>
            </a:r>
            <a:r>
              <a:rPr lang="en-US" sz="2800" dirty="0"/>
              <a:t>x </a:t>
            </a:r>
            <a:r>
              <a:rPr lang="en-US" sz="2800" dirty="0">
                <a:solidFill>
                  <a:srgbClr val="C00000"/>
                </a:solidFill>
              </a:rPr>
              <a:t>Miss penalty</a:t>
            </a:r>
          </a:p>
        </p:txBody>
      </p:sp>
      <p:sp>
        <p:nvSpPr>
          <p:cNvPr id="23" name="Text Box 8">
            <a:extLst>
              <a:ext uri="{FF2B5EF4-FFF2-40B4-BE49-F238E27FC236}">
                <a16:creationId xmlns:a16="http://schemas.microsoft.com/office/drawing/2014/main" id="{984303A3-1A9F-44D1-81C6-D12D91E7DD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121" y="2293547"/>
            <a:ext cx="8229600" cy="193899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sz="2400" dirty="0"/>
              <a:t>Example:</a:t>
            </a:r>
          </a:p>
          <a:p>
            <a:pPr marL="461963" indent="-290513" algn="l">
              <a:buFont typeface="Wingdings" panose="05000000000000000000" pitchFamily="2" charset="2"/>
              <a:buChar char="§"/>
            </a:pPr>
            <a:r>
              <a:rPr lang="en-US" sz="2400" dirty="0"/>
              <a:t>Suppose our on-chip SRAM (cache) has </a:t>
            </a:r>
            <a:r>
              <a:rPr lang="en-US" sz="2400" b="1" dirty="0">
                <a:solidFill>
                  <a:srgbClr val="C00000"/>
                </a:solidFill>
              </a:rPr>
              <a:t>0.8 ns </a:t>
            </a:r>
            <a:r>
              <a:rPr lang="en-US" sz="2400" dirty="0"/>
              <a:t>access time, but the fastest DRAM (main memory) we can get has an access time of </a:t>
            </a:r>
            <a:r>
              <a:rPr lang="en-US" sz="2400" b="1" dirty="0">
                <a:solidFill>
                  <a:srgbClr val="C00000"/>
                </a:solidFill>
              </a:rPr>
              <a:t>10ns</a:t>
            </a:r>
            <a:r>
              <a:rPr lang="en-US" sz="2400" dirty="0"/>
              <a:t>. </a:t>
            </a:r>
            <a:r>
              <a:rPr lang="en-US" sz="2400" b="1" dirty="0"/>
              <a:t>How high a hit rate </a:t>
            </a:r>
            <a:r>
              <a:rPr lang="en-US" sz="2400" dirty="0"/>
              <a:t>do we need to sustain an average access time of </a:t>
            </a:r>
            <a:r>
              <a:rPr lang="en-US" sz="2400" b="1" dirty="0">
                <a:solidFill>
                  <a:srgbClr val="C00000"/>
                </a:solidFill>
              </a:rPr>
              <a:t>1ns</a:t>
            </a:r>
            <a:r>
              <a:rPr lang="en-US" sz="2400" dirty="0"/>
              <a:t>?</a:t>
            </a:r>
            <a:endParaRPr lang="en-US" sz="2000" dirty="0"/>
          </a:p>
        </p:txBody>
      </p:sp>
      <p:sp>
        <p:nvSpPr>
          <p:cNvPr id="24" name="Text Box 78">
            <a:extLst>
              <a:ext uri="{FF2B5EF4-FFF2-40B4-BE49-F238E27FC236}">
                <a16:creationId xmlns:a16="http://schemas.microsoft.com/office/drawing/2014/main" id="{6F754B0D-2F3F-4CFF-8128-754A363BC1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6400800"/>
            <a:ext cx="304800" cy="201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" tIns="9144" rIns="9144" bIns="9144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200" dirty="0">
                <a:sym typeface="Wingdings 2" pitchFamily="18" charset="2"/>
              </a:rPr>
              <a:t>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FF65B0-6AF6-4FE7-8147-36A0E9808BF7}"/>
              </a:ext>
            </a:extLst>
          </p:cNvPr>
          <p:cNvSpPr txBox="1"/>
          <p:nvPr/>
        </p:nvSpPr>
        <p:spPr>
          <a:xfrm>
            <a:off x="2082790" y="4245904"/>
            <a:ext cx="5092261" cy="1938992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Let </a:t>
            </a:r>
            <a:r>
              <a:rPr lang="en-US" sz="2400" i="1" dirty="0"/>
              <a:t>h </a:t>
            </a:r>
            <a:r>
              <a:rPr lang="en-US" sz="2400" dirty="0"/>
              <a:t>be the desired hit rate.</a:t>
            </a:r>
          </a:p>
          <a:p>
            <a:r>
              <a:rPr lang="en-US" sz="2400" dirty="0"/>
              <a:t>1 = 0.8</a:t>
            </a:r>
            <a:r>
              <a:rPr lang="en-US" sz="2400" i="1" dirty="0"/>
              <a:t>h</a:t>
            </a:r>
            <a:r>
              <a:rPr lang="en-US" sz="2400" dirty="0"/>
              <a:t> + (1 – </a:t>
            </a:r>
            <a:r>
              <a:rPr lang="en-US" sz="2400" i="1" dirty="0"/>
              <a:t>h</a:t>
            </a:r>
            <a:r>
              <a:rPr lang="en-US" sz="2400" dirty="0"/>
              <a:t>) </a:t>
            </a:r>
            <a:r>
              <a:rPr lang="en-US" sz="2400" dirty="0">
                <a:sym typeface="Symbol"/>
              </a:rPr>
              <a:t> (10 + 0.8) </a:t>
            </a:r>
            <a:br>
              <a:rPr lang="en-US" sz="2400" dirty="0">
                <a:sym typeface="Symbol"/>
              </a:rPr>
            </a:br>
            <a:r>
              <a:rPr lang="en-US" sz="2400" dirty="0">
                <a:sym typeface="Symbol"/>
              </a:rPr>
              <a:t>   = 0.8</a:t>
            </a:r>
            <a:r>
              <a:rPr lang="en-US" sz="2400" i="1" dirty="0">
                <a:sym typeface="Symbol"/>
              </a:rPr>
              <a:t>h</a:t>
            </a:r>
            <a:r>
              <a:rPr lang="en-US" sz="2400" dirty="0">
                <a:sym typeface="Symbol"/>
              </a:rPr>
              <a:t> + 10.8 – 10.8</a:t>
            </a:r>
            <a:r>
              <a:rPr lang="en-US" sz="2400" i="1" dirty="0">
                <a:sym typeface="Symbol"/>
              </a:rPr>
              <a:t>h</a:t>
            </a:r>
          </a:p>
          <a:p>
            <a:r>
              <a:rPr lang="en-US" sz="2400" dirty="0">
                <a:sym typeface="Symbol"/>
              </a:rPr>
              <a:t>10</a:t>
            </a:r>
            <a:r>
              <a:rPr lang="en-US" sz="2400" i="1" dirty="0">
                <a:sym typeface="Symbol"/>
              </a:rPr>
              <a:t>h</a:t>
            </a:r>
            <a:r>
              <a:rPr lang="en-US" sz="2400" dirty="0">
                <a:sym typeface="Symbol"/>
              </a:rPr>
              <a:t> = 9.8 </a:t>
            </a:r>
            <a:r>
              <a:rPr lang="en-US" sz="2400" dirty="0">
                <a:sym typeface="Wingdings" panose="05000000000000000000" pitchFamily="2" charset="2"/>
              </a:rPr>
              <a:t></a:t>
            </a:r>
            <a:r>
              <a:rPr lang="en-US" sz="2400" dirty="0">
                <a:sym typeface="Symbol"/>
              </a:rPr>
              <a:t> </a:t>
            </a:r>
            <a:r>
              <a:rPr lang="en-US" sz="2400" i="1" dirty="0">
                <a:sym typeface="Symbol"/>
              </a:rPr>
              <a:t>h</a:t>
            </a:r>
            <a:r>
              <a:rPr lang="en-US" sz="2400" dirty="0">
                <a:sym typeface="Symbol"/>
              </a:rPr>
              <a:t> = 0.98 </a:t>
            </a:r>
          </a:p>
          <a:p>
            <a:r>
              <a:rPr lang="en-US" sz="2400" dirty="0">
                <a:sym typeface="Symbol"/>
              </a:rPr>
              <a:t>Hence we need a hit rate of </a:t>
            </a:r>
            <a:r>
              <a:rPr lang="en-US" sz="2400" b="1" dirty="0">
                <a:solidFill>
                  <a:srgbClr val="C00000"/>
                </a:solidFill>
                <a:sym typeface="Symbol"/>
              </a:rPr>
              <a:t>98%</a:t>
            </a:r>
            <a:r>
              <a:rPr lang="en-US" sz="2400" dirty="0">
                <a:sym typeface="Symbol"/>
              </a:rPr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74963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3. Memory to Cache Mapping (1/2)</a:t>
            </a:r>
            <a:endParaRPr lang="en-GB" sz="3600" b="1" dirty="0">
              <a:solidFill>
                <a:srgbClr val="0000FF"/>
              </a:solidFill>
            </a:endParaRP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#22: Cache I: Direct Mapped Cache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22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A69015D9-66C2-4F11-8739-96BBBBE297F8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346416"/>
            <a:ext cx="8229600" cy="48257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5113" indent="-265113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b="1" dirty="0">
                <a:solidFill>
                  <a:srgbClr val="660066"/>
                </a:solidFill>
              </a:rPr>
              <a:t>Cache Block/Line:</a:t>
            </a:r>
          </a:p>
          <a:p>
            <a:pPr marL="625475" lvl="1" indent="-265113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Unit of transfer between memory and cache</a:t>
            </a:r>
          </a:p>
          <a:p>
            <a:pPr marL="265113" indent="-265113" fontAlgn="auto">
              <a:spcBef>
                <a:spcPts val="18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Block size is typically one or more words</a:t>
            </a:r>
          </a:p>
          <a:p>
            <a:pPr marL="625475" lvl="1" indent="-265113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e.g.: 16-byte block </a:t>
            </a:r>
            <a:r>
              <a:rPr lang="en-US" sz="2400" dirty="0">
                <a:sym typeface="Symbol" pitchFamily="18" charset="2"/>
              </a:rPr>
              <a:t> 4-word block</a:t>
            </a:r>
          </a:p>
          <a:p>
            <a:pPr marL="625475" lvl="1" indent="-265113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sym typeface="Symbol" pitchFamily="18" charset="2"/>
              </a:rPr>
              <a:t>32-byte block  8-word block</a:t>
            </a:r>
          </a:p>
          <a:p>
            <a:pPr marL="265113" indent="-265113" fontAlgn="auto">
              <a:spcBef>
                <a:spcPts val="18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>
                <a:sym typeface="Symbol" pitchFamily="18" charset="2"/>
              </a:rPr>
              <a:t>Why is the block size bigger than word size?</a:t>
            </a:r>
          </a:p>
        </p:txBody>
      </p:sp>
    </p:spTree>
    <p:extLst>
      <p:ext uri="{BB962C8B-B14F-4D97-AF65-F5344CB8AC3E}">
        <p14:creationId xmlns:p14="http://schemas.microsoft.com/office/powerpoint/2010/main" val="24492147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3. Memory to Cache Mapping (2/2)</a:t>
            </a:r>
            <a:endParaRPr lang="en-GB" sz="3600" b="1" dirty="0">
              <a:solidFill>
                <a:srgbClr val="0000FF"/>
              </a:solidFill>
            </a:endParaRP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#22: Cache I: Direct Mapped Cache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23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078DE4E-35E8-4E4E-BAC1-76E4217CF9A8}"/>
              </a:ext>
            </a:extLst>
          </p:cNvPr>
          <p:cNvGrpSpPr/>
          <p:nvPr/>
        </p:nvGrpSpPr>
        <p:grpSpPr>
          <a:xfrm>
            <a:off x="271462" y="1346417"/>
            <a:ext cx="3772692" cy="5289550"/>
            <a:chOff x="271462" y="1346417"/>
            <a:chExt cx="3772692" cy="5289550"/>
          </a:xfrm>
        </p:grpSpPr>
        <p:sp>
          <p:nvSpPr>
            <p:cNvPr id="8" name="Rectangle 6">
              <a:extLst>
                <a:ext uri="{FF2B5EF4-FFF2-40B4-BE49-F238E27FC236}">
                  <a16:creationId xmlns:a16="http://schemas.microsoft.com/office/drawing/2014/main" id="{78234882-4095-4A3A-83C4-BA5EE4F49D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462" y="1651217"/>
              <a:ext cx="661988" cy="495300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9525" algn="ctr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08E5014-D160-4174-95F1-A28E881027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262" y="1727417"/>
              <a:ext cx="1066800" cy="1219200"/>
            </a:xfrm>
            <a:prstGeom prst="rect">
              <a:avLst/>
            </a:prstGeom>
            <a:solidFill>
              <a:srgbClr val="E2F96F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8D8CA12-7AD8-4F9E-8519-0FFEABC20A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262" y="2946617"/>
              <a:ext cx="1066800" cy="1219200"/>
            </a:xfrm>
            <a:prstGeom prst="rect">
              <a:avLst/>
            </a:prstGeom>
            <a:solidFill>
              <a:srgbClr val="339966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3" name="Rectangle 10">
              <a:extLst>
                <a:ext uri="{FF2B5EF4-FFF2-40B4-BE49-F238E27FC236}">
                  <a16:creationId xmlns:a16="http://schemas.microsoft.com/office/drawing/2014/main" id="{6250ED96-56A6-4866-AF74-3F754895D2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262" y="4165817"/>
              <a:ext cx="1066800" cy="1219200"/>
            </a:xfrm>
            <a:prstGeom prst="rect">
              <a:avLst/>
            </a:prstGeom>
            <a:solidFill>
              <a:srgbClr val="33CCCC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4" name="Rectangle 11">
              <a:extLst>
                <a:ext uri="{FF2B5EF4-FFF2-40B4-BE49-F238E27FC236}">
                  <a16:creationId xmlns:a16="http://schemas.microsoft.com/office/drawing/2014/main" id="{20A1294D-519D-4AC3-8EF8-4FDB24F3A7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262" y="5385017"/>
              <a:ext cx="1066800" cy="1219200"/>
            </a:xfrm>
            <a:prstGeom prst="rect">
              <a:avLst/>
            </a:prstGeom>
            <a:solidFill>
              <a:srgbClr val="C0C0C0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5" name="Rectangle 12">
              <a:extLst>
                <a:ext uri="{FF2B5EF4-FFF2-40B4-BE49-F238E27FC236}">
                  <a16:creationId xmlns:a16="http://schemas.microsoft.com/office/drawing/2014/main" id="{AF86D1B1-B591-4530-8451-EF8DB54C94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262" y="1727417"/>
              <a:ext cx="1066800" cy="3048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6" name="Rectangle 13">
              <a:extLst>
                <a:ext uri="{FF2B5EF4-FFF2-40B4-BE49-F238E27FC236}">
                  <a16:creationId xmlns:a16="http://schemas.microsoft.com/office/drawing/2014/main" id="{33F125D2-4649-4CBD-9227-60D2AD09F9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262" y="2032217"/>
              <a:ext cx="1066800" cy="3048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7" name="Rectangle 14">
              <a:extLst>
                <a:ext uri="{FF2B5EF4-FFF2-40B4-BE49-F238E27FC236}">
                  <a16:creationId xmlns:a16="http://schemas.microsoft.com/office/drawing/2014/main" id="{43F447CB-3074-4F16-B1D5-168F428CC8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262" y="2337017"/>
              <a:ext cx="1066800" cy="3048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8" name="Rectangle 15">
              <a:extLst>
                <a:ext uri="{FF2B5EF4-FFF2-40B4-BE49-F238E27FC236}">
                  <a16:creationId xmlns:a16="http://schemas.microsoft.com/office/drawing/2014/main" id="{3FF05B00-071B-44A7-816A-326105B280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262" y="2641817"/>
              <a:ext cx="1066800" cy="3048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9" name="Rectangle 16">
              <a:extLst>
                <a:ext uri="{FF2B5EF4-FFF2-40B4-BE49-F238E27FC236}">
                  <a16:creationId xmlns:a16="http://schemas.microsoft.com/office/drawing/2014/main" id="{449374BC-958E-4510-A8DC-BB2911AF1E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262" y="2946617"/>
              <a:ext cx="1066800" cy="3048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0" name="Rectangle 17">
              <a:extLst>
                <a:ext uri="{FF2B5EF4-FFF2-40B4-BE49-F238E27FC236}">
                  <a16:creationId xmlns:a16="http://schemas.microsoft.com/office/drawing/2014/main" id="{5E94E7EA-8F89-4748-98D1-4319D99C93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262" y="3251417"/>
              <a:ext cx="1066800" cy="3048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1" name="Rectangle 18">
              <a:extLst>
                <a:ext uri="{FF2B5EF4-FFF2-40B4-BE49-F238E27FC236}">
                  <a16:creationId xmlns:a16="http://schemas.microsoft.com/office/drawing/2014/main" id="{C33B6980-9CE1-41C1-B3DF-28300D0F75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262" y="3556217"/>
              <a:ext cx="1066800" cy="3048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2" name="Rectangle 19">
              <a:extLst>
                <a:ext uri="{FF2B5EF4-FFF2-40B4-BE49-F238E27FC236}">
                  <a16:creationId xmlns:a16="http://schemas.microsoft.com/office/drawing/2014/main" id="{C5C1AAC8-12FD-497F-9205-487A5A0BF2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262" y="3861017"/>
              <a:ext cx="1066800" cy="3048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3" name="Rectangle 20">
              <a:extLst>
                <a:ext uri="{FF2B5EF4-FFF2-40B4-BE49-F238E27FC236}">
                  <a16:creationId xmlns:a16="http://schemas.microsoft.com/office/drawing/2014/main" id="{386BCFC5-EAAE-4BBC-AB1B-A3F706BD8F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262" y="4165817"/>
              <a:ext cx="1066800" cy="3048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4" name="Rectangle 21">
              <a:extLst>
                <a:ext uri="{FF2B5EF4-FFF2-40B4-BE49-F238E27FC236}">
                  <a16:creationId xmlns:a16="http://schemas.microsoft.com/office/drawing/2014/main" id="{CE196172-7BD6-48F6-9D25-E3A739458E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262" y="4470617"/>
              <a:ext cx="1066800" cy="3048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5" name="Rectangle 22">
              <a:extLst>
                <a:ext uri="{FF2B5EF4-FFF2-40B4-BE49-F238E27FC236}">
                  <a16:creationId xmlns:a16="http://schemas.microsoft.com/office/drawing/2014/main" id="{A5F9445A-843E-444E-AA0E-3B7884EB54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262" y="4775417"/>
              <a:ext cx="1066800" cy="3048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6" name="Rectangle 23">
              <a:extLst>
                <a:ext uri="{FF2B5EF4-FFF2-40B4-BE49-F238E27FC236}">
                  <a16:creationId xmlns:a16="http://schemas.microsoft.com/office/drawing/2014/main" id="{754E2937-E76A-4155-8387-40F5A25AA1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262" y="5080217"/>
              <a:ext cx="1066800" cy="3048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7" name="Rectangle 24">
              <a:extLst>
                <a:ext uri="{FF2B5EF4-FFF2-40B4-BE49-F238E27FC236}">
                  <a16:creationId xmlns:a16="http://schemas.microsoft.com/office/drawing/2014/main" id="{ED1FB351-C141-4374-A674-3C55723B3A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262" y="5385017"/>
              <a:ext cx="1066800" cy="3048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8" name="Rectangle 25">
              <a:extLst>
                <a:ext uri="{FF2B5EF4-FFF2-40B4-BE49-F238E27FC236}">
                  <a16:creationId xmlns:a16="http://schemas.microsoft.com/office/drawing/2014/main" id="{D830FAFB-660D-4FAE-ABC5-0A2B8C9366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262" y="5689817"/>
              <a:ext cx="1066800" cy="3048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9" name="Rectangle 26">
              <a:extLst>
                <a:ext uri="{FF2B5EF4-FFF2-40B4-BE49-F238E27FC236}">
                  <a16:creationId xmlns:a16="http://schemas.microsoft.com/office/drawing/2014/main" id="{A0047948-FCA1-457F-A346-D15080BED0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262" y="5994617"/>
              <a:ext cx="1066800" cy="3048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0" name="Rectangle 27">
              <a:extLst>
                <a:ext uri="{FF2B5EF4-FFF2-40B4-BE49-F238E27FC236}">
                  <a16:creationId xmlns:a16="http://schemas.microsoft.com/office/drawing/2014/main" id="{9BDDBF60-7384-41CC-AB9C-DBDBB7D2E4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262" y="6299417"/>
              <a:ext cx="1066800" cy="3048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1" name="AutoShape 28">
              <a:extLst>
                <a:ext uri="{FF2B5EF4-FFF2-40B4-BE49-F238E27FC236}">
                  <a16:creationId xmlns:a16="http://schemas.microsoft.com/office/drawing/2014/main" id="{7E46CC4F-0777-4038-8765-4758CAFC65C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1262" y="1727417"/>
              <a:ext cx="304800" cy="2438400"/>
            </a:xfrm>
            <a:prstGeom prst="rightBrace">
              <a:avLst>
                <a:gd name="adj1" fmla="val 6666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2" name="AutoShape 29">
              <a:extLst>
                <a:ext uri="{FF2B5EF4-FFF2-40B4-BE49-F238E27FC236}">
                  <a16:creationId xmlns:a16="http://schemas.microsoft.com/office/drawing/2014/main" id="{713C2963-1402-466A-A316-5253719A1C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1262" y="4165817"/>
              <a:ext cx="304800" cy="2438400"/>
            </a:xfrm>
            <a:prstGeom prst="rightBrace">
              <a:avLst>
                <a:gd name="adj1" fmla="val 6666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3" name="Text Box 30">
              <a:extLst>
                <a:ext uri="{FF2B5EF4-FFF2-40B4-BE49-F238E27FC236}">
                  <a16:creationId xmlns:a16="http://schemas.microsoft.com/office/drawing/2014/main" id="{C98ED6A4-231E-4201-BDCA-0831D929C3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187" y="1740117"/>
              <a:ext cx="1039813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..00000</a:t>
              </a:r>
            </a:p>
          </p:txBody>
        </p:sp>
        <p:sp>
          <p:nvSpPr>
            <p:cNvPr id="34" name="Text Box 31">
              <a:extLst>
                <a:ext uri="{FF2B5EF4-FFF2-40B4-BE49-F238E27FC236}">
                  <a16:creationId xmlns:a16="http://schemas.microsoft.com/office/drawing/2014/main" id="{D97D7A12-38CF-4352-8BC0-AD3EC1A72C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187" y="2044917"/>
              <a:ext cx="1039813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>
                  <a:latin typeface="Courier New" pitchFamily="49" charset="0"/>
                  <a:cs typeface="Courier New" pitchFamily="49" charset="0"/>
                </a:rPr>
                <a:t>..00001</a:t>
              </a:r>
            </a:p>
          </p:txBody>
        </p:sp>
        <p:sp>
          <p:nvSpPr>
            <p:cNvPr id="35" name="Text Box 32">
              <a:extLst>
                <a:ext uri="{FF2B5EF4-FFF2-40B4-BE49-F238E27FC236}">
                  <a16:creationId xmlns:a16="http://schemas.microsoft.com/office/drawing/2014/main" id="{228CACE4-4935-4A03-AC12-5A0881A32A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187" y="2349717"/>
              <a:ext cx="1039813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>
                  <a:latin typeface="Courier New" pitchFamily="49" charset="0"/>
                  <a:cs typeface="Courier New" pitchFamily="49" charset="0"/>
                </a:rPr>
                <a:t>..00010</a:t>
              </a:r>
            </a:p>
          </p:txBody>
        </p:sp>
        <p:sp>
          <p:nvSpPr>
            <p:cNvPr id="36" name="Text Box 33">
              <a:extLst>
                <a:ext uri="{FF2B5EF4-FFF2-40B4-BE49-F238E27FC236}">
                  <a16:creationId xmlns:a16="http://schemas.microsoft.com/office/drawing/2014/main" id="{590DAA20-CE8F-4B17-AA40-289274E01D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187" y="2654517"/>
              <a:ext cx="1039813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>
                  <a:latin typeface="Courier New" pitchFamily="49" charset="0"/>
                  <a:cs typeface="Courier New" pitchFamily="49" charset="0"/>
                </a:rPr>
                <a:t>..00011</a:t>
              </a:r>
            </a:p>
          </p:txBody>
        </p:sp>
        <p:sp>
          <p:nvSpPr>
            <p:cNvPr id="37" name="Text Box 34">
              <a:extLst>
                <a:ext uri="{FF2B5EF4-FFF2-40B4-BE49-F238E27FC236}">
                  <a16:creationId xmlns:a16="http://schemas.microsoft.com/office/drawing/2014/main" id="{788848C1-F4EE-468A-ACD2-1A6F3179C6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187" y="2959317"/>
              <a:ext cx="1039813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>
                  <a:latin typeface="Courier New" pitchFamily="49" charset="0"/>
                  <a:cs typeface="Courier New" pitchFamily="49" charset="0"/>
                </a:rPr>
                <a:t>..00100</a:t>
              </a:r>
            </a:p>
          </p:txBody>
        </p:sp>
        <p:sp>
          <p:nvSpPr>
            <p:cNvPr id="38" name="Text Box 35">
              <a:extLst>
                <a:ext uri="{FF2B5EF4-FFF2-40B4-BE49-F238E27FC236}">
                  <a16:creationId xmlns:a16="http://schemas.microsoft.com/office/drawing/2014/main" id="{F309DD2D-6839-4E1C-9AE1-EB640F51D4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187" y="3264117"/>
              <a:ext cx="1039813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>
                  <a:latin typeface="Courier New" pitchFamily="49" charset="0"/>
                  <a:cs typeface="Courier New" pitchFamily="49" charset="0"/>
                </a:rPr>
                <a:t>..00101</a:t>
              </a:r>
            </a:p>
          </p:txBody>
        </p:sp>
        <p:sp>
          <p:nvSpPr>
            <p:cNvPr id="39" name="Text Box 36">
              <a:extLst>
                <a:ext uri="{FF2B5EF4-FFF2-40B4-BE49-F238E27FC236}">
                  <a16:creationId xmlns:a16="http://schemas.microsoft.com/office/drawing/2014/main" id="{9FD8D8C0-BFFF-4B3D-96B9-765672A102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187" y="3568917"/>
              <a:ext cx="1039813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..00110</a:t>
              </a:r>
            </a:p>
          </p:txBody>
        </p:sp>
        <p:sp>
          <p:nvSpPr>
            <p:cNvPr id="40" name="Text Box 37">
              <a:extLst>
                <a:ext uri="{FF2B5EF4-FFF2-40B4-BE49-F238E27FC236}">
                  <a16:creationId xmlns:a16="http://schemas.microsoft.com/office/drawing/2014/main" id="{6B24BCF3-4493-4D57-8F22-6A44D26694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187" y="3873717"/>
              <a:ext cx="1039813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>
                  <a:latin typeface="Courier New" pitchFamily="49" charset="0"/>
                  <a:cs typeface="Courier New" pitchFamily="49" charset="0"/>
                </a:rPr>
                <a:t>..00111</a:t>
              </a:r>
            </a:p>
          </p:txBody>
        </p:sp>
        <p:sp>
          <p:nvSpPr>
            <p:cNvPr id="41" name="Text Box 38">
              <a:extLst>
                <a:ext uri="{FF2B5EF4-FFF2-40B4-BE49-F238E27FC236}">
                  <a16:creationId xmlns:a16="http://schemas.microsoft.com/office/drawing/2014/main" id="{EFE75084-6098-4B03-8F61-A5475B5391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187" y="4178517"/>
              <a:ext cx="1039813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>
                  <a:latin typeface="Courier New" pitchFamily="49" charset="0"/>
                  <a:cs typeface="Courier New" pitchFamily="49" charset="0"/>
                </a:rPr>
                <a:t>..01000</a:t>
              </a:r>
            </a:p>
          </p:txBody>
        </p:sp>
        <p:sp>
          <p:nvSpPr>
            <p:cNvPr id="42" name="Text Box 39">
              <a:extLst>
                <a:ext uri="{FF2B5EF4-FFF2-40B4-BE49-F238E27FC236}">
                  <a16:creationId xmlns:a16="http://schemas.microsoft.com/office/drawing/2014/main" id="{AE4B3D15-584F-4D12-89F0-4CA8452E23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187" y="4483317"/>
              <a:ext cx="1039813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>
                  <a:latin typeface="Courier New" pitchFamily="49" charset="0"/>
                  <a:cs typeface="Courier New" pitchFamily="49" charset="0"/>
                </a:rPr>
                <a:t>..01001</a:t>
              </a:r>
            </a:p>
          </p:txBody>
        </p:sp>
        <p:sp>
          <p:nvSpPr>
            <p:cNvPr id="43" name="Text Box 40">
              <a:extLst>
                <a:ext uri="{FF2B5EF4-FFF2-40B4-BE49-F238E27FC236}">
                  <a16:creationId xmlns:a16="http://schemas.microsoft.com/office/drawing/2014/main" id="{6FBFE1AC-A674-4B71-A582-5D712A8158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187" y="4788117"/>
              <a:ext cx="1039813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>
                  <a:latin typeface="Courier New" pitchFamily="49" charset="0"/>
                  <a:cs typeface="Courier New" pitchFamily="49" charset="0"/>
                </a:rPr>
                <a:t>..01010</a:t>
              </a:r>
            </a:p>
          </p:txBody>
        </p:sp>
        <p:sp>
          <p:nvSpPr>
            <p:cNvPr id="44" name="Text Box 41">
              <a:extLst>
                <a:ext uri="{FF2B5EF4-FFF2-40B4-BE49-F238E27FC236}">
                  <a16:creationId xmlns:a16="http://schemas.microsoft.com/office/drawing/2014/main" id="{55F88985-7C48-47DD-B7C5-9A5CB81741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187" y="5092917"/>
              <a:ext cx="1039813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>
                  <a:latin typeface="Courier New" pitchFamily="49" charset="0"/>
                  <a:cs typeface="Courier New" pitchFamily="49" charset="0"/>
                </a:rPr>
                <a:t>..01011</a:t>
              </a:r>
            </a:p>
          </p:txBody>
        </p:sp>
        <p:sp>
          <p:nvSpPr>
            <p:cNvPr id="45" name="Text Box 42">
              <a:extLst>
                <a:ext uri="{FF2B5EF4-FFF2-40B4-BE49-F238E27FC236}">
                  <a16:creationId xmlns:a16="http://schemas.microsoft.com/office/drawing/2014/main" id="{01C9A52B-6D80-4B22-853E-F6F29C2A04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187" y="5397717"/>
              <a:ext cx="1039813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>
                  <a:latin typeface="Courier New" pitchFamily="49" charset="0"/>
                  <a:cs typeface="Courier New" pitchFamily="49" charset="0"/>
                </a:rPr>
                <a:t>..01100</a:t>
              </a:r>
            </a:p>
          </p:txBody>
        </p:sp>
        <p:sp>
          <p:nvSpPr>
            <p:cNvPr id="46" name="Text Box 43">
              <a:extLst>
                <a:ext uri="{FF2B5EF4-FFF2-40B4-BE49-F238E27FC236}">
                  <a16:creationId xmlns:a16="http://schemas.microsoft.com/office/drawing/2014/main" id="{B2EADE11-4605-4A79-B8CA-3A66F35B3E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187" y="5702517"/>
              <a:ext cx="1039813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>
                  <a:latin typeface="Courier New" pitchFamily="49" charset="0"/>
                  <a:cs typeface="Courier New" pitchFamily="49" charset="0"/>
                </a:rPr>
                <a:t>..01101</a:t>
              </a:r>
            </a:p>
          </p:txBody>
        </p:sp>
        <p:sp>
          <p:nvSpPr>
            <p:cNvPr id="47" name="Text Box 44">
              <a:extLst>
                <a:ext uri="{FF2B5EF4-FFF2-40B4-BE49-F238E27FC236}">
                  <a16:creationId xmlns:a16="http://schemas.microsoft.com/office/drawing/2014/main" id="{F122B220-5CC7-45E7-AF6E-37D28BB1B5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187" y="6007317"/>
              <a:ext cx="1039813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>
                  <a:latin typeface="Courier New" pitchFamily="49" charset="0"/>
                  <a:cs typeface="Courier New" pitchFamily="49" charset="0"/>
                </a:rPr>
                <a:t>..01110</a:t>
              </a:r>
            </a:p>
          </p:txBody>
        </p:sp>
        <p:sp>
          <p:nvSpPr>
            <p:cNvPr id="48" name="Text Box 45">
              <a:extLst>
                <a:ext uri="{FF2B5EF4-FFF2-40B4-BE49-F238E27FC236}">
                  <a16:creationId xmlns:a16="http://schemas.microsoft.com/office/drawing/2014/main" id="{BF41998F-7ED3-40F5-A353-FF35A740D6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7662" y="6299417"/>
              <a:ext cx="1039813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>
                  <a:latin typeface="Courier New" pitchFamily="49" charset="0"/>
                  <a:cs typeface="Courier New" pitchFamily="49" charset="0"/>
                </a:rPr>
                <a:t>..01111</a:t>
              </a:r>
            </a:p>
          </p:txBody>
        </p:sp>
        <p:sp>
          <p:nvSpPr>
            <p:cNvPr id="49" name="Text Box 46">
              <a:extLst>
                <a:ext uri="{FF2B5EF4-FFF2-40B4-BE49-F238E27FC236}">
                  <a16:creationId xmlns:a16="http://schemas.microsoft.com/office/drawing/2014/main" id="{70902334-CDA1-45A5-93F4-2357849E99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4712" y="1346417"/>
              <a:ext cx="1003801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latin typeface="+mn-lt"/>
                </a:rPr>
                <a:t>Address</a:t>
              </a:r>
            </a:p>
          </p:txBody>
        </p:sp>
        <p:sp>
          <p:nvSpPr>
            <p:cNvPr id="50" name="Text Box 47">
              <a:extLst>
                <a:ext uri="{FF2B5EF4-FFF2-40B4-BE49-F238E27FC236}">
                  <a16:creationId xmlns:a16="http://schemas.microsoft.com/office/drawing/2014/main" id="{5C35D028-C678-4EF1-B324-C9A4269988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00910" y="2140167"/>
              <a:ext cx="898644" cy="369332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990000"/>
                  </a:solidFill>
                  <a:latin typeface="+mn-lt"/>
                </a:rPr>
                <a:t>Word0</a:t>
              </a:r>
            </a:p>
          </p:txBody>
        </p:sp>
        <p:sp>
          <p:nvSpPr>
            <p:cNvPr id="51" name="Text Box 48">
              <a:extLst>
                <a:ext uri="{FF2B5EF4-FFF2-40B4-BE49-F238E27FC236}">
                  <a16:creationId xmlns:a16="http://schemas.microsoft.com/office/drawing/2014/main" id="{B547CED1-909C-4EDA-8AE0-323B62A245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00910" y="3359367"/>
              <a:ext cx="898644" cy="369332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800" b="1">
                  <a:solidFill>
                    <a:srgbClr val="990000"/>
                  </a:solidFill>
                  <a:latin typeface="+mn-lt"/>
                </a:rPr>
                <a:t>Word1</a:t>
              </a:r>
            </a:p>
          </p:txBody>
        </p:sp>
        <p:sp>
          <p:nvSpPr>
            <p:cNvPr id="52" name="Rectangle 49">
              <a:extLst>
                <a:ext uri="{FF2B5EF4-FFF2-40B4-BE49-F238E27FC236}">
                  <a16:creationId xmlns:a16="http://schemas.microsoft.com/office/drawing/2014/main" id="{5C2EC481-1D1D-41F2-B8F0-70D3F49B43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0910" y="4562176"/>
              <a:ext cx="898644" cy="369332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800" b="1">
                  <a:solidFill>
                    <a:srgbClr val="990000"/>
                  </a:solidFill>
                  <a:latin typeface="+mn-lt"/>
                </a:rPr>
                <a:t>Word2</a:t>
              </a:r>
            </a:p>
          </p:txBody>
        </p:sp>
        <p:sp>
          <p:nvSpPr>
            <p:cNvPr id="53" name="Text Box 50">
              <a:extLst>
                <a:ext uri="{FF2B5EF4-FFF2-40B4-BE49-F238E27FC236}">
                  <a16:creationId xmlns:a16="http://schemas.microsoft.com/office/drawing/2014/main" id="{16A6337F-AE74-49E8-8294-7916B82590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00910" y="5797767"/>
              <a:ext cx="898644" cy="369332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800" b="1">
                  <a:solidFill>
                    <a:srgbClr val="990000"/>
                  </a:solidFill>
                  <a:latin typeface="+mn-lt"/>
                </a:rPr>
                <a:t>Word3</a:t>
              </a:r>
            </a:p>
          </p:txBody>
        </p:sp>
        <p:sp>
          <p:nvSpPr>
            <p:cNvPr id="54" name="Text Box 51">
              <a:extLst>
                <a:ext uri="{FF2B5EF4-FFF2-40B4-BE49-F238E27FC236}">
                  <a16:creationId xmlns:a16="http://schemas.microsoft.com/office/drawing/2014/main" id="{406D1FE2-983A-44E2-A82F-7B544F3E59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64300" y="2794217"/>
              <a:ext cx="856325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latin typeface="+mn-lt"/>
                </a:rPr>
                <a:t>Block0</a:t>
              </a:r>
            </a:p>
          </p:txBody>
        </p:sp>
        <p:sp>
          <p:nvSpPr>
            <p:cNvPr id="55" name="Text Box 52">
              <a:extLst>
                <a:ext uri="{FF2B5EF4-FFF2-40B4-BE49-F238E27FC236}">
                  <a16:creationId xmlns:a16="http://schemas.microsoft.com/office/drawing/2014/main" id="{3F65A691-4799-41AF-BC95-9DD215CF64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48425" y="5232617"/>
              <a:ext cx="856325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latin typeface="+mn-lt"/>
                </a:rPr>
                <a:t>Block1</a:t>
              </a:r>
            </a:p>
          </p:txBody>
        </p:sp>
        <p:sp>
          <p:nvSpPr>
            <p:cNvPr id="56" name="Text Box 71">
              <a:extLst>
                <a:ext uri="{FF2B5EF4-FFF2-40B4-BE49-F238E27FC236}">
                  <a16:creationId xmlns:a16="http://schemas.microsoft.com/office/drawing/2014/main" id="{0B93B21A-CE55-448F-BF42-223FAB0F2E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84725" y="1422617"/>
              <a:ext cx="1659429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b="1" dirty="0">
                  <a:latin typeface="+mn-lt"/>
                </a:rPr>
                <a:t>8-byte blocks</a:t>
              </a:r>
            </a:p>
          </p:txBody>
        </p:sp>
      </p:grpSp>
      <p:sp>
        <p:nvSpPr>
          <p:cNvPr id="57" name="Text Box 70">
            <a:extLst>
              <a:ext uri="{FF2B5EF4-FFF2-40B4-BE49-F238E27FC236}">
                <a16:creationId xmlns:a16="http://schemas.microsoft.com/office/drawing/2014/main" id="{2AF55362-1BF3-4954-B64D-36AEE2D6DA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3137" y="3074036"/>
            <a:ext cx="6014575" cy="2123658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accent5">
                <a:lumMod val="20000"/>
                <a:lumOff val="80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ct val="15000"/>
              </a:spcBef>
            </a:pPr>
            <a:r>
              <a:rPr lang="en-US" sz="2000" b="1" dirty="0">
                <a:latin typeface="+mn-lt"/>
              </a:rPr>
              <a:t>Observations:</a:t>
            </a:r>
          </a:p>
          <a:p>
            <a:pPr marL="342900" indent="-342900">
              <a:spcBef>
                <a:spcPct val="15000"/>
              </a:spcBef>
              <a:buFontTx/>
              <a:buAutoNum type="arabicPeriod"/>
            </a:pPr>
            <a:r>
              <a:rPr lang="en-US" sz="2000" dirty="0">
                <a:latin typeface="+mn-lt"/>
              </a:rPr>
              <a:t>2</a:t>
            </a:r>
            <a:r>
              <a:rPr lang="en-US" sz="2000" baseline="30000" dirty="0">
                <a:latin typeface="+mn-lt"/>
              </a:rPr>
              <a:t>N</a:t>
            </a:r>
            <a:r>
              <a:rPr lang="en-US" sz="2000" dirty="0">
                <a:latin typeface="+mn-lt"/>
              </a:rPr>
              <a:t>-byte blocks are aligned at 2</a:t>
            </a:r>
            <a:r>
              <a:rPr lang="en-US" sz="2000" baseline="30000" dirty="0">
                <a:latin typeface="+mn-lt"/>
              </a:rPr>
              <a:t>N</a:t>
            </a:r>
            <a:r>
              <a:rPr lang="en-US" sz="2000" dirty="0">
                <a:latin typeface="+mn-lt"/>
              </a:rPr>
              <a:t>-byte boundaries</a:t>
            </a:r>
          </a:p>
          <a:p>
            <a:pPr marL="342900" indent="-342900">
              <a:spcBef>
                <a:spcPct val="15000"/>
              </a:spcBef>
              <a:buFontTx/>
              <a:buAutoNum type="arabicPeriod"/>
            </a:pPr>
            <a:r>
              <a:rPr lang="en-US" sz="2000" dirty="0">
                <a:latin typeface="+mn-lt"/>
              </a:rPr>
              <a:t>The addresses of words within a 2</a:t>
            </a:r>
            <a:r>
              <a:rPr lang="en-US" sz="2000" baseline="30000" dirty="0">
                <a:latin typeface="+mn-lt"/>
              </a:rPr>
              <a:t>N</a:t>
            </a:r>
            <a:r>
              <a:rPr lang="en-US" sz="2000" dirty="0">
                <a:latin typeface="+mn-lt"/>
              </a:rPr>
              <a:t>-byte block have identical (32-N) most significant bits (MSB). </a:t>
            </a:r>
          </a:p>
          <a:p>
            <a:pPr marL="342900" indent="-342900">
              <a:spcBef>
                <a:spcPct val="15000"/>
              </a:spcBef>
              <a:buFontTx/>
              <a:buAutoNum type="arabicPeriod" startAt="3"/>
            </a:pPr>
            <a:r>
              <a:rPr lang="en-US" sz="2000" dirty="0">
                <a:latin typeface="+mn-lt"/>
              </a:rPr>
              <a:t>Bits [31:N]   </a:t>
            </a:r>
            <a:r>
              <a:rPr lang="en-US" sz="2000" dirty="0">
                <a:latin typeface="+mn-lt"/>
                <a:sym typeface="Wingdings" pitchFamily="2" charset="2"/>
              </a:rPr>
              <a:t></a:t>
            </a:r>
            <a:r>
              <a:rPr lang="en-US" sz="2000" dirty="0">
                <a:latin typeface="+mn-lt"/>
              </a:rPr>
              <a:t> the </a:t>
            </a:r>
            <a:r>
              <a:rPr lang="en-US" sz="2000" b="1" dirty="0">
                <a:solidFill>
                  <a:srgbClr val="C00000"/>
                </a:solidFill>
                <a:latin typeface="+mn-lt"/>
              </a:rPr>
              <a:t>block number </a:t>
            </a:r>
          </a:p>
          <a:p>
            <a:pPr marL="342900" indent="-342900">
              <a:spcBef>
                <a:spcPct val="15000"/>
              </a:spcBef>
              <a:buFontTx/>
              <a:buAutoNum type="arabicPeriod" startAt="3"/>
            </a:pPr>
            <a:r>
              <a:rPr lang="en-US" sz="2000" dirty="0">
                <a:latin typeface="+mn-lt"/>
              </a:rPr>
              <a:t>Bits [N-1:0]  </a:t>
            </a:r>
            <a:r>
              <a:rPr lang="en-US" sz="2000" dirty="0">
                <a:latin typeface="+mn-lt"/>
                <a:sym typeface="Wingdings" pitchFamily="2" charset="2"/>
              </a:rPr>
              <a:t> </a:t>
            </a:r>
            <a:r>
              <a:rPr lang="en-US" sz="2000" dirty="0">
                <a:latin typeface="+mn-lt"/>
              </a:rPr>
              <a:t>the </a:t>
            </a:r>
            <a:r>
              <a:rPr lang="en-US" sz="2000" b="1" dirty="0">
                <a:solidFill>
                  <a:srgbClr val="C00000"/>
                </a:solidFill>
                <a:latin typeface="+mn-lt"/>
              </a:rPr>
              <a:t>byte offset </a:t>
            </a:r>
            <a:r>
              <a:rPr lang="en-US" sz="2000" dirty="0">
                <a:latin typeface="+mn-lt"/>
              </a:rPr>
              <a:t>within a block </a:t>
            </a:r>
            <a:endParaRPr lang="en-US" sz="1800" dirty="0">
              <a:latin typeface="+mn-lt"/>
            </a:endParaRPr>
          </a:p>
        </p:txBody>
      </p:sp>
      <p:grpSp>
        <p:nvGrpSpPr>
          <p:cNvPr id="58" name="Group 87">
            <a:extLst>
              <a:ext uri="{FF2B5EF4-FFF2-40B4-BE49-F238E27FC236}">
                <a16:creationId xmlns:a16="http://schemas.microsoft.com/office/drawing/2014/main" id="{84D771D5-CB6D-470C-A866-62038191FF31}"/>
              </a:ext>
            </a:extLst>
          </p:cNvPr>
          <p:cNvGrpSpPr/>
          <p:nvPr/>
        </p:nvGrpSpPr>
        <p:grpSpPr>
          <a:xfrm>
            <a:off x="3535477" y="5318344"/>
            <a:ext cx="5038496" cy="946150"/>
            <a:chOff x="984479" y="2330450"/>
            <a:chExt cx="5038496" cy="946150"/>
          </a:xfrm>
        </p:grpSpPr>
        <p:sp>
          <p:nvSpPr>
            <p:cNvPr id="59" name="Text Box 74">
              <a:extLst>
                <a:ext uri="{FF2B5EF4-FFF2-40B4-BE49-F238E27FC236}">
                  <a16:creationId xmlns:a16="http://schemas.microsoft.com/office/drawing/2014/main" id="{509AC8D3-E475-43C7-AAD5-64F8842960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63286" y="2330450"/>
              <a:ext cx="2048382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b="1" dirty="0">
                  <a:latin typeface="+mn-lt"/>
                </a:rPr>
                <a:t>Memory Address</a:t>
              </a:r>
            </a:p>
          </p:txBody>
        </p:sp>
        <p:sp>
          <p:nvSpPr>
            <p:cNvPr id="60" name="Text Box 78">
              <a:extLst>
                <a:ext uri="{FF2B5EF4-FFF2-40B4-BE49-F238E27FC236}">
                  <a16:creationId xmlns:a16="http://schemas.microsoft.com/office/drawing/2014/main" id="{436144CE-8201-49B8-B5F7-E12B1DD4CA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4479" y="2559050"/>
              <a:ext cx="412293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+mn-lt"/>
                </a:rPr>
                <a:t>31</a:t>
              </a:r>
            </a:p>
          </p:txBody>
        </p:sp>
        <p:sp>
          <p:nvSpPr>
            <p:cNvPr id="61" name="Text Box 79">
              <a:extLst>
                <a:ext uri="{FF2B5EF4-FFF2-40B4-BE49-F238E27FC236}">
                  <a16:creationId xmlns:a16="http://schemas.microsoft.com/office/drawing/2014/main" id="{313202DC-9B04-419E-8E35-E4FF87B3FD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15000" y="2559050"/>
              <a:ext cx="307975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+mn-lt"/>
                </a:rPr>
                <a:t>0</a:t>
              </a:r>
            </a:p>
          </p:txBody>
        </p:sp>
        <p:sp>
          <p:nvSpPr>
            <p:cNvPr id="62" name="Text Box 80">
              <a:extLst>
                <a:ext uri="{FF2B5EF4-FFF2-40B4-BE49-F238E27FC236}">
                  <a16:creationId xmlns:a16="http://schemas.microsoft.com/office/drawing/2014/main" id="{57C8C0BD-9195-451D-91C6-7351D7A118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3400" y="2559050"/>
              <a:ext cx="522288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+mn-lt"/>
                </a:rPr>
                <a:t>N-1</a:t>
              </a:r>
            </a:p>
          </p:txBody>
        </p:sp>
        <p:sp>
          <p:nvSpPr>
            <p:cNvPr id="63" name="Text Box 81">
              <a:extLst>
                <a:ext uri="{FF2B5EF4-FFF2-40B4-BE49-F238E27FC236}">
                  <a16:creationId xmlns:a16="http://schemas.microsoft.com/office/drawing/2014/main" id="{715BF355-D1BF-4B34-BFC8-BD1FCB0478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45566" y="2559050"/>
              <a:ext cx="332142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+mn-lt"/>
                </a:rPr>
                <a:t>N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992184AF-3ACA-460B-8420-146B844FA95B}"/>
                </a:ext>
              </a:extLst>
            </p:cNvPr>
            <p:cNvSpPr/>
            <p:nvPr/>
          </p:nvSpPr>
          <p:spPr>
            <a:xfrm>
              <a:off x="1066800" y="2819400"/>
              <a:ext cx="3352800" cy="4572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5E47E46F-5A5A-4D08-8094-425C666C9467}"/>
                </a:ext>
              </a:extLst>
            </p:cNvPr>
            <p:cNvSpPr/>
            <p:nvPr/>
          </p:nvSpPr>
          <p:spPr>
            <a:xfrm>
              <a:off x="4419600" y="2819400"/>
              <a:ext cx="1600200" cy="457200"/>
            </a:xfrm>
            <a:prstGeom prst="rect">
              <a:avLst/>
            </a:prstGeom>
            <a:solidFill>
              <a:srgbClr val="E2FFC5"/>
            </a:solidFill>
            <a:ln w="19050"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6" name="Group 28">
              <a:extLst>
                <a:ext uri="{FF2B5EF4-FFF2-40B4-BE49-F238E27FC236}">
                  <a16:creationId xmlns:a16="http://schemas.microsoft.com/office/drawing/2014/main" id="{749DEAE6-62CA-438A-8590-CD7EB06FD1B7}"/>
                </a:ext>
              </a:extLst>
            </p:cNvPr>
            <p:cNvGrpSpPr/>
            <p:nvPr/>
          </p:nvGrpSpPr>
          <p:grpSpPr>
            <a:xfrm>
              <a:off x="1066800" y="2852470"/>
              <a:ext cx="3352800" cy="369332"/>
              <a:chOff x="1219200" y="2014270"/>
              <a:chExt cx="3352800" cy="369332"/>
            </a:xfrm>
          </p:grpSpPr>
          <p:sp>
            <p:nvSpPr>
              <p:cNvPr id="70" name="Text Box 75">
                <a:extLst>
                  <a:ext uri="{FF2B5EF4-FFF2-40B4-BE49-F238E27FC236}">
                    <a16:creationId xmlns:a16="http://schemas.microsoft.com/office/drawing/2014/main" id="{240D3B10-C6FF-4A4F-A717-C9220329831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10834" y="2014270"/>
                <a:ext cx="1749197" cy="369332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C00000"/>
                    </a:solidFill>
                    <a:latin typeface="+mn-lt"/>
                  </a:rPr>
                  <a:t>Block Number</a:t>
                </a:r>
              </a:p>
            </p:txBody>
          </p:sp>
          <p:sp>
            <p:nvSpPr>
              <p:cNvPr id="71" name="Line 76">
                <a:extLst>
                  <a:ext uri="{FF2B5EF4-FFF2-40B4-BE49-F238E27FC236}">
                    <a16:creationId xmlns:a16="http://schemas.microsoft.com/office/drawing/2014/main" id="{B058A683-4C31-459B-80D8-27ACD43E14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57600" y="2209800"/>
                <a:ext cx="9144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square">
                <a:spAutoFit/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72" name="Line 77">
                <a:extLst>
                  <a:ext uri="{FF2B5EF4-FFF2-40B4-BE49-F238E27FC236}">
                    <a16:creationId xmlns:a16="http://schemas.microsoft.com/office/drawing/2014/main" id="{97389FA4-F0C1-445D-8697-B34F5A60F1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19200" y="2209800"/>
                <a:ext cx="7620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>
                <a:spAutoFit/>
              </a:bodyPr>
              <a:lstStyle/>
              <a:p>
                <a:endParaRPr lang="en-US">
                  <a:latin typeface="+mn-lt"/>
                </a:endParaRPr>
              </a:p>
            </p:txBody>
          </p:sp>
        </p:grpSp>
        <p:grpSp>
          <p:nvGrpSpPr>
            <p:cNvPr id="67" name="Group 32">
              <a:extLst>
                <a:ext uri="{FF2B5EF4-FFF2-40B4-BE49-F238E27FC236}">
                  <a16:creationId xmlns:a16="http://schemas.microsoft.com/office/drawing/2014/main" id="{0BD94B64-9BE7-4ECA-9FD4-B2D31EAE24D9}"/>
                </a:ext>
              </a:extLst>
            </p:cNvPr>
            <p:cNvGrpSpPr/>
            <p:nvPr/>
          </p:nvGrpSpPr>
          <p:grpSpPr>
            <a:xfrm>
              <a:off x="4428226" y="2871156"/>
              <a:ext cx="1591574" cy="369332"/>
              <a:chOff x="1600200" y="1988392"/>
              <a:chExt cx="2590800" cy="369332"/>
            </a:xfrm>
          </p:grpSpPr>
          <p:sp>
            <p:nvSpPr>
              <p:cNvPr id="68" name="Line 77">
                <a:extLst>
                  <a:ext uri="{FF2B5EF4-FFF2-40B4-BE49-F238E27FC236}">
                    <a16:creationId xmlns:a16="http://schemas.microsoft.com/office/drawing/2014/main" id="{B83A6DE3-ECE0-433E-9CA3-DBC49E54EC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600200" y="2166670"/>
                <a:ext cx="25908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triangle"/>
                <a:tailEnd type="triangle" w="med" len="med"/>
              </a:ln>
            </p:spPr>
            <p:txBody>
              <a:bodyPr wrap="square">
                <a:spAutoFit/>
              </a:bodyPr>
              <a:lstStyle/>
              <a:p>
                <a:endParaRPr lang="en-US" dirty="0">
                  <a:latin typeface="+mn-lt"/>
                </a:endParaRPr>
              </a:p>
            </p:txBody>
          </p:sp>
          <p:sp>
            <p:nvSpPr>
              <p:cNvPr id="69" name="Text Box 75">
                <a:extLst>
                  <a:ext uri="{FF2B5EF4-FFF2-40B4-BE49-F238E27FC236}">
                    <a16:creationId xmlns:a16="http://schemas.microsoft.com/office/drawing/2014/main" id="{3E4B24B9-0C76-4FB3-8F1B-603EF957E1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82319" y="1988392"/>
                <a:ext cx="1488479" cy="369332"/>
              </a:xfrm>
              <a:prstGeom prst="rect">
                <a:avLst/>
              </a:prstGeom>
              <a:solidFill>
                <a:srgbClr val="E2FFC5"/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006600"/>
                    </a:solidFill>
                    <a:latin typeface="+mn-lt"/>
                  </a:rPr>
                  <a:t>Offset</a:t>
                </a:r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96213F36-1E1D-4C0D-BFAD-A83FD99D6C37}"/>
              </a:ext>
            </a:extLst>
          </p:cNvPr>
          <p:cNvGrpSpPr/>
          <p:nvPr/>
        </p:nvGrpSpPr>
        <p:grpSpPr>
          <a:xfrm>
            <a:off x="4721225" y="1338525"/>
            <a:ext cx="3810000" cy="1676400"/>
            <a:chOff x="4800600" y="1530567"/>
            <a:chExt cx="3810000" cy="1676400"/>
          </a:xfrm>
        </p:grpSpPr>
        <p:grpSp>
          <p:nvGrpSpPr>
            <p:cNvPr id="73" name="Group 120">
              <a:extLst>
                <a:ext uri="{FF2B5EF4-FFF2-40B4-BE49-F238E27FC236}">
                  <a16:creationId xmlns:a16="http://schemas.microsoft.com/office/drawing/2014/main" id="{1BADB8EB-FA6F-4C82-9255-920EAE8784BC}"/>
                </a:ext>
              </a:extLst>
            </p:cNvPr>
            <p:cNvGrpSpPr/>
            <p:nvPr/>
          </p:nvGrpSpPr>
          <p:grpSpPr>
            <a:xfrm>
              <a:off x="5562600" y="1987767"/>
              <a:ext cx="3048000" cy="1219200"/>
              <a:chOff x="5410200" y="1600200"/>
              <a:chExt cx="3048000" cy="1219200"/>
            </a:xfrm>
          </p:grpSpPr>
          <p:sp>
            <p:nvSpPr>
              <p:cNvPr id="74" name="Rectangle 68">
                <a:extLst>
                  <a:ext uri="{FF2B5EF4-FFF2-40B4-BE49-F238E27FC236}">
                    <a16:creationId xmlns:a16="http://schemas.microsoft.com/office/drawing/2014/main" id="{23B7C72C-2439-4E18-B68C-359DB3C9FD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10200" y="1600200"/>
                <a:ext cx="381000" cy="3048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75" name="Rectangle 69">
                <a:extLst>
                  <a:ext uri="{FF2B5EF4-FFF2-40B4-BE49-F238E27FC236}">
                    <a16:creationId xmlns:a16="http://schemas.microsoft.com/office/drawing/2014/main" id="{FE98CCCA-BD4B-4B80-A827-9BADB57C35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91200" y="1600200"/>
                <a:ext cx="381000" cy="3048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76" name="Rectangle 70">
                <a:extLst>
                  <a:ext uri="{FF2B5EF4-FFF2-40B4-BE49-F238E27FC236}">
                    <a16:creationId xmlns:a16="http://schemas.microsoft.com/office/drawing/2014/main" id="{83475A32-8847-49B0-A505-080BD7E700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2200" y="1600200"/>
                <a:ext cx="381000" cy="3048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77" name="Rectangle 71">
                <a:extLst>
                  <a:ext uri="{FF2B5EF4-FFF2-40B4-BE49-F238E27FC236}">
                    <a16:creationId xmlns:a16="http://schemas.microsoft.com/office/drawing/2014/main" id="{6434E01B-0CE1-44AA-ABB9-68B8750823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53200" y="1600200"/>
                <a:ext cx="381000" cy="3048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78" name="Rectangle 72">
                <a:extLst>
                  <a:ext uri="{FF2B5EF4-FFF2-40B4-BE49-F238E27FC236}">
                    <a16:creationId xmlns:a16="http://schemas.microsoft.com/office/drawing/2014/main" id="{D0F7AB99-EE1E-41BD-A5E3-EE8A5F0F3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10200" y="1600200"/>
                <a:ext cx="1524000" cy="30480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79" name="Rectangle 73">
                <a:extLst>
                  <a:ext uri="{FF2B5EF4-FFF2-40B4-BE49-F238E27FC236}">
                    <a16:creationId xmlns:a16="http://schemas.microsoft.com/office/drawing/2014/main" id="{0446FE0C-35CD-4BE1-9E8E-2747E85A1C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34200" y="1600200"/>
                <a:ext cx="1524000" cy="3048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80" name="Rectangle 74">
                <a:extLst>
                  <a:ext uri="{FF2B5EF4-FFF2-40B4-BE49-F238E27FC236}">
                    <a16:creationId xmlns:a16="http://schemas.microsoft.com/office/drawing/2014/main" id="{442A6A43-A963-4C78-8A97-FEB3A490CC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10200" y="1905000"/>
                <a:ext cx="3048000" cy="3048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81" name="Rectangle 75">
                <a:extLst>
                  <a:ext uri="{FF2B5EF4-FFF2-40B4-BE49-F238E27FC236}">
                    <a16:creationId xmlns:a16="http://schemas.microsoft.com/office/drawing/2014/main" id="{334ADAF3-3378-4BA1-BD17-9686F5E1FB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10200" y="2209800"/>
                <a:ext cx="3048000" cy="3048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82" name="Rectangle 76">
                <a:extLst>
                  <a:ext uri="{FF2B5EF4-FFF2-40B4-BE49-F238E27FC236}">
                    <a16:creationId xmlns:a16="http://schemas.microsoft.com/office/drawing/2014/main" id="{62282827-2E0C-4775-9EB7-A000719A27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10200" y="2514600"/>
                <a:ext cx="3048000" cy="3048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noAutofit/>
              </a:bodyPr>
              <a:lstStyle/>
              <a:p>
                <a:endParaRPr lang="en-US"/>
              </a:p>
            </p:txBody>
          </p:sp>
        </p:grpSp>
        <p:sp>
          <p:nvSpPr>
            <p:cNvPr id="83" name="Text Box 78">
              <a:extLst>
                <a:ext uri="{FF2B5EF4-FFF2-40B4-BE49-F238E27FC236}">
                  <a16:creationId xmlns:a16="http://schemas.microsoft.com/office/drawing/2014/main" id="{295E1EBF-FCBF-491F-91B9-0B157DDBB6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29400" y="1530567"/>
              <a:ext cx="742511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 b="1" dirty="0"/>
                <a:t>Block</a:t>
              </a:r>
            </a:p>
          </p:txBody>
        </p:sp>
        <p:sp>
          <p:nvSpPr>
            <p:cNvPr id="84" name="Text Box 81">
              <a:extLst>
                <a:ext uri="{FF2B5EF4-FFF2-40B4-BE49-F238E27FC236}">
                  <a16:creationId xmlns:a16="http://schemas.microsoft.com/office/drawing/2014/main" id="{D944FA82-F848-4778-866C-E3D30F740D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3600" y="1682967"/>
              <a:ext cx="705129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 b="1" dirty="0"/>
                <a:t>Word</a:t>
              </a:r>
            </a:p>
          </p:txBody>
        </p:sp>
        <p:sp>
          <p:nvSpPr>
            <p:cNvPr id="85" name="Text Box 82">
              <a:extLst>
                <a:ext uri="{FF2B5EF4-FFF2-40B4-BE49-F238E27FC236}">
                  <a16:creationId xmlns:a16="http://schemas.microsoft.com/office/drawing/2014/main" id="{F892BBD3-E428-48AA-8104-7A9F2162CA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0600" y="1987767"/>
              <a:ext cx="628698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 b="1" dirty="0"/>
                <a:t>Byte</a:t>
              </a:r>
            </a:p>
          </p:txBody>
        </p:sp>
        <p:sp>
          <p:nvSpPr>
            <p:cNvPr id="86" name="Line 83">
              <a:extLst>
                <a:ext uri="{FF2B5EF4-FFF2-40B4-BE49-F238E27FC236}">
                  <a16:creationId xmlns:a16="http://schemas.microsoft.com/office/drawing/2014/main" id="{80C410F3-0E1D-423E-B84E-8DDC64ACFD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29400" y="1911567"/>
              <a:ext cx="457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87" name="Line 84">
              <a:extLst>
                <a:ext uri="{FF2B5EF4-FFF2-40B4-BE49-F238E27FC236}">
                  <a16:creationId xmlns:a16="http://schemas.microsoft.com/office/drawing/2014/main" id="{E16DD723-AC3F-4BC0-8BA3-774E02D20F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562600" y="1911567"/>
              <a:ext cx="457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88" name="Line 85">
              <a:extLst>
                <a:ext uri="{FF2B5EF4-FFF2-40B4-BE49-F238E27FC236}">
                  <a16:creationId xmlns:a16="http://schemas.microsoft.com/office/drawing/2014/main" id="{0B5C23C6-BCB9-4CB8-B8AA-629E0386BE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39000" y="1682967"/>
              <a:ext cx="1371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89" name="Line 86">
              <a:extLst>
                <a:ext uri="{FF2B5EF4-FFF2-40B4-BE49-F238E27FC236}">
                  <a16:creationId xmlns:a16="http://schemas.microsoft.com/office/drawing/2014/main" id="{372E88EE-83D7-4E48-93CA-16E9F67B49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562600" y="1682967"/>
              <a:ext cx="1066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90" name="Line 87">
              <a:extLst>
                <a:ext uri="{FF2B5EF4-FFF2-40B4-BE49-F238E27FC236}">
                  <a16:creationId xmlns:a16="http://schemas.microsoft.com/office/drawing/2014/main" id="{AF6FB155-86AD-405F-B37E-B4994E821C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10200" y="2140167"/>
              <a:ext cx="304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273272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4. Direct Mapping Analogy</a:t>
            </a:r>
            <a:endParaRPr lang="en-GB" sz="3600" b="1" dirty="0">
              <a:solidFill>
                <a:srgbClr val="0000FF"/>
              </a:solidFill>
            </a:endParaRP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#22: Cache I: Direct Mapped Cache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24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pic>
        <p:nvPicPr>
          <p:cNvPr id="91" name="Picture 3">
            <a:extLst>
              <a:ext uri="{FF2B5EF4-FFF2-40B4-BE49-F238E27FC236}">
                <a16:creationId xmlns:a16="http://schemas.microsoft.com/office/drawing/2014/main" id="{D68705DD-9ECB-4960-A46E-ACF561E16D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62200" y="1219200"/>
            <a:ext cx="6448425" cy="267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" name="Picture 2" descr="C:\Documents and Settings\dcssooyj\Local Settings\Temporary Internet Files\Content.IE5\WYO2ZBA1\MC900078735[1].wmf">
            <a:extLst>
              <a:ext uri="{FF2B5EF4-FFF2-40B4-BE49-F238E27FC236}">
                <a16:creationId xmlns:a16="http://schemas.microsoft.com/office/drawing/2014/main" id="{EEF2ED58-DCF5-471D-964E-0B1E1A36C3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4801" y="3314877"/>
            <a:ext cx="2514600" cy="2703336"/>
          </a:xfrm>
          <a:prstGeom prst="rect">
            <a:avLst/>
          </a:prstGeom>
          <a:noFill/>
        </p:spPr>
      </p:pic>
      <p:sp>
        <p:nvSpPr>
          <p:cNvPr id="93" name="Rounded Rectangle 7">
            <a:extLst>
              <a:ext uri="{FF2B5EF4-FFF2-40B4-BE49-F238E27FC236}">
                <a16:creationId xmlns:a16="http://schemas.microsoft.com/office/drawing/2014/main" id="{5EF3411E-E74F-453F-92AC-FDA30AF48267}"/>
              </a:ext>
            </a:extLst>
          </p:cNvPr>
          <p:cNvSpPr/>
          <p:nvPr/>
        </p:nvSpPr>
        <p:spPr>
          <a:xfrm>
            <a:off x="2971800" y="4267200"/>
            <a:ext cx="6019800" cy="1752600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Imagine there are 26 “locations” on the desk to store books. A book’s location is determined by the first letter of its title.</a:t>
            </a:r>
          </a:p>
          <a:p>
            <a:pPr algn="ctr"/>
            <a:r>
              <a:rPr lang="en-US" sz="2400" dirty="0">
                <a:solidFill>
                  <a:schemeClr val="tx1"/>
                </a:solidFill>
                <a:sym typeface="Wingdings" pitchFamily="2" charset="2"/>
              </a:rPr>
              <a:t> Each book </a:t>
            </a:r>
            <a:r>
              <a:rPr lang="en-US" sz="2400" b="1" dirty="0">
                <a:solidFill>
                  <a:schemeClr val="tx1"/>
                </a:solidFill>
                <a:sym typeface="Wingdings" pitchFamily="2" charset="2"/>
              </a:rPr>
              <a:t>has exactly one location. 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0191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4. Direct Mapped Cache: </a:t>
            </a:r>
            <a:r>
              <a:rPr lang="en-GB" sz="3600" b="1" dirty="0">
                <a:solidFill>
                  <a:srgbClr val="0000FF"/>
                </a:solidFill>
              </a:rPr>
              <a:t>Cache Index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#22: Cache I: Direct Mapped Cache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25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48" name="Line 51">
            <a:extLst>
              <a:ext uri="{FF2B5EF4-FFF2-40B4-BE49-F238E27FC236}">
                <a16:creationId xmlns:a16="http://schemas.microsoft.com/office/drawing/2014/main" id="{D857C81C-0979-486D-8CBB-106B1BF0320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19041" y="1626433"/>
            <a:ext cx="33528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49" name="Line 52">
            <a:extLst>
              <a:ext uri="{FF2B5EF4-FFF2-40B4-BE49-F238E27FC236}">
                <a16:creationId xmlns:a16="http://schemas.microsoft.com/office/drawing/2014/main" id="{6971D9AE-D4EE-4437-8EDD-0392B52C607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19041" y="1702633"/>
            <a:ext cx="3352800" cy="1244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50" name="Line 53">
            <a:extLst>
              <a:ext uri="{FF2B5EF4-FFF2-40B4-BE49-F238E27FC236}">
                <a16:creationId xmlns:a16="http://schemas.microsoft.com/office/drawing/2014/main" id="{489A326A-D1B5-4FCB-BC98-4EA25EC2DA1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19041" y="1702633"/>
            <a:ext cx="3352800" cy="248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51" name="Line 54">
            <a:extLst>
              <a:ext uri="{FF2B5EF4-FFF2-40B4-BE49-F238E27FC236}">
                <a16:creationId xmlns:a16="http://schemas.microsoft.com/office/drawing/2014/main" id="{48A1DBE8-2087-47C1-B296-CF80E60C78B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19041" y="1778833"/>
            <a:ext cx="3352800" cy="3657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57" name="Text Box 60">
            <a:extLst>
              <a:ext uri="{FF2B5EF4-FFF2-40B4-BE49-F238E27FC236}">
                <a16:creationId xmlns:a16="http://schemas.microsoft.com/office/drawing/2014/main" id="{42DBE9E2-1214-425F-910E-72512217F3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9116" y="2606615"/>
            <a:ext cx="3352800" cy="1200329"/>
          </a:xfrm>
          <a:prstGeom prst="rect">
            <a:avLst/>
          </a:prstGeom>
          <a:solidFill>
            <a:schemeClr val="bg1">
              <a:alpha val="80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6600"/>
                </a:solidFill>
                <a:latin typeface="+mn-lt"/>
              </a:rPr>
              <a:t>Mapping Function: </a:t>
            </a:r>
          </a:p>
          <a:p>
            <a:r>
              <a:rPr lang="en-US" b="1" dirty="0">
                <a:latin typeface="+mn-lt"/>
              </a:rPr>
              <a:t>Cache Index </a:t>
            </a:r>
          </a:p>
          <a:p>
            <a:r>
              <a:rPr lang="en-US" b="1" dirty="0">
                <a:latin typeface="+mn-lt"/>
              </a:rPr>
              <a:t> = (</a:t>
            </a:r>
            <a:r>
              <a:rPr lang="en-US" b="1" dirty="0" err="1">
                <a:latin typeface="+mn-lt"/>
              </a:rPr>
              <a:t>BlockNumber</a:t>
            </a:r>
            <a:r>
              <a:rPr lang="en-US" b="1" dirty="0">
                <a:latin typeface="+mn-lt"/>
              </a:rPr>
              <a:t>) modulo </a:t>
            </a:r>
          </a:p>
          <a:p>
            <a:r>
              <a:rPr lang="en-US" b="1" dirty="0">
                <a:latin typeface="+mn-lt"/>
              </a:rPr>
              <a:t>       (</a:t>
            </a:r>
            <a:r>
              <a:rPr lang="en-US" b="1" dirty="0" err="1">
                <a:latin typeface="+mn-lt"/>
              </a:rPr>
              <a:t>NumberOfCacheBlocks</a:t>
            </a:r>
            <a:r>
              <a:rPr lang="en-US" b="1" dirty="0">
                <a:latin typeface="+mn-lt"/>
              </a:rPr>
              <a:t>)</a:t>
            </a:r>
          </a:p>
        </p:txBody>
      </p:sp>
      <p:sp>
        <p:nvSpPr>
          <p:cNvPr id="58" name="Text Box 61">
            <a:extLst>
              <a:ext uri="{FF2B5EF4-FFF2-40B4-BE49-F238E27FC236}">
                <a16:creationId xmlns:a16="http://schemas.microsoft.com/office/drawing/2014/main" id="{47C8F709-5C66-4058-834C-1312AA8C46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3966" y="4968121"/>
            <a:ext cx="18415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endParaRPr lang="en-US" sz="1600">
              <a:latin typeface="Comic Sans MS" pitchFamily="66" charset="0"/>
            </a:endParaRPr>
          </a:p>
        </p:txBody>
      </p:sp>
      <p:sp>
        <p:nvSpPr>
          <p:cNvPr id="59" name="Text Box 62">
            <a:extLst>
              <a:ext uri="{FF2B5EF4-FFF2-40B4-BE49-F238E27FC236}">
                <a16:creationId xmlns:a16="http://schemas.microsoft.com/office/drawing/2014/main" id="{F3A5C3AA-E2D5-4E6D-8221-ABFDD21BE2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3841" y="4001363"/>
            <a:ext cx="6019800" cy="2160591"/>
          </a:xfrm>
          <a:prstGeom prst="rect">
            <a:avLst/>
          </a:prstGeom>
          <a:solidFill>
            <a:srgbClr val="FFFFCC">
              <a:alpha val="80000"/>
            </a:srgbClr>
          </a:solidFill>
          <a:ln w="9525" algn="ctr">
            <a:solidFill>
              <a:schemeClr val="accent5">
                <a:lumMod val="40000"/>
                <a:lumOff val="60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r>
              <a:rPr lang="en-US" sz="2000" b="1" dirty="0">
                <a:solidFill>
                  <a:srgbClr val="660066"/>
                </a:solidFill>
                <a:latin typeface="+mn-lt"/>
              </a:rPr>
              <a:t>Observation:</a:t>
            </a:r>
          </a:p>
          <a:p>
            <a:pPr>
              <a:spcBef>
                <a:spcPct val="20000"/>
              </a:spcBef>
            </a:pPr>
            <a:r>
              <a:rPr lang="en-US" sz="1800" dirty="0">
                <a:latin typeface="+mn-lt"/>
              </a:rPr>
              <a:t>If Number of Cache Blocks = 2</a:t>
            </a:r>
            <a:r>
              <a:rPr lang="en-US" sz="1800" baseline="30000" dirty="0">
                <a:latin typeface="+mn-lt"/>
              </a:rPr>
              <a:t>M</a:t>
            </a:r>
            <a:endParaRPr lang="en-US" sz="1800" dirty="0">
              <a:latin typeface="+mn-lt"/>
            </a:endParaRPr>
          </a:p>
          <a:p>
            <a:pPr>
              <a:spcBef>
                <a:spcPct val="20000"/>
              </a:spcBef>
            </a:pPr>
            <a:r>
              <a:rPr lang="en-US" sz="1800" dirty="0">
                <a:latin typeface="+mn-lt"/>
                <a:sym typeface="Wingdings" pitchFamily="2" charset="2"/>
              </a:rPr>
              <a:t></a:t>
            </a:r>
            <a:r>
              <a:rPr lang="en-US" sz="1800" dirty="0">
                <a:latin typeface="+mn-lt"/>
              </a:rPr>
              <a:t> the last M bits of the block number is the </a:t>
            </a:r>
            <a:r>
              <a:rPr lang="en-US" sz="1800" b="1" dirty="0">
                <a:solidFill>
                  <a:srgbClr val="C00000"/>
                </a:solidFill>
                <a:latin typeface="+mn-lt"/>
              </a:rPr>
              <a:t>cache index</a:t>
            </a:r>
            <a:endParaRPr lang="en-US" sz="1800" dirty="0">
              <a:latin typeface="+mn-lt"/>
            </a:endParaRPr>
          </a:p>
          <a:p>
            <a:pPr>
              <a:spcBef>
                <a:spcPct val="20000"/>
              </a:spcBef>
            </a:pPr>
            <a:r>
              <a:rPr lang="en-US" sz="2000" b="1" dirty="0">
                <a:latin typeface="+mn-lt"/>
              </a:rPr>
              <a:t>Example</a:t>
            </a:r>
            <a:r>
              <a:rPr lang="en-US" sz="2000" dirty="0">
                <a:latin typeface="+mn-lt"/>
              </a:rPr>
              <a:t>: </a:t>
            </a:r>
          </a:p>
          <a:p>
            <a:pPr>
              <a:spcBef>
                <a:spcPct val="20000"/>
              </a:spcBef>
            </a:pPr>
            <a:r>
              <a:rPr lang="en-US" sz="1800" dirty="0">
                <a:latin typeface="+mn-lt"/>
              </a:rPr>
              <a:t>Cache has 2</a:t>
            </a:r>
            <a:r>
              <a:rPr lang="en-US" sz="1800" baseline="30000" dirty="0">
                <a:latin typeface="+mn-lt"/>
              </a:rPr>
              <a:t>2 </a:t>
            </a:r>
            <a:r>
              <a:rPr lang="en-US" sz="1800" dirty="0">
                <a:latin typeface="+mn-lt"/>
              </a:rPr>
              <a:t>= 4 blocks</a:t>
            </a:r>
          </a:p>
          <a:p>
            <a:pPr>
              <a:spcBef>
                <a:spcPct val="20000"/>
              </a:spcBef>
            </a:pPr>
            <a:r>
              <a:rPr lang="en-US" sz="1800" dirty="0">
                <a:latin typeface="+mn-lt"/>
                <a:sym typeface="Wingdings" pitchFamily="2" charset="2"/>
              </a:rPr>
              <a:t> </a:t>
            </a:r>
            <a:r>
              <a:rPr lang="en-US" sz="1800" dirty="0">
                <a:latin typeface="+mn-lt"/>
              </a:rPr>
              <a:t>last 2 bits of the block number is the cache index.</a:t>
            </a:r>
          </a:p>
        </p:txBody>
      </p:sp>
      <p:grpSp>
        <p:nvGrpSpPr>
          <p:cNvPr id="60" name="Group 67">
            <a:extLst>
              <a:ext uri="{FF2B5EF4-FFF2-40B4-BE49-F238E27FC236}">
                <a16:creationId xmlns:a16="http://schemas.microsoft.com/office/drawing/2014/main" id="{C3F1C0F8-C509-457D-A76F-B1EF5B967234}"/>
              </a:ext>
            </a:extLst>
          </p:cNvPr>
          <p:cNvGrpSpPr>
            <a:grpSpLocks/>
          </p:cNvGrpSpPr>
          <p:nvPr/>
        </p:nvGrpSpPr>
        <p:grpSpPr bwMode="auto">
          <a:xfrm>
            <a:off x="120316" y="1778833"/>
            <a:ext cx="1203326" cy="414338"/>
            <a:chOff x="10" y="1104"/>
            <a:chExt cx="758" cy="261"/>
          </a:xfrm>
        </p:grpSpPr>
        <p:sp>
          <p:nvSpPr>
            <p:cNvPr id="61" name="Text Box 63">
              <a:extLst>
                <a:ext uri="{FF2B5EF4-FFF2-40B4-BE49-F238E27FC236}">
                  <a16:creationId xmlns:a16="http://schemas.microsoft.com/office/drawing/2014/main" id="{FB4B3E6A-392E-41DD-934E-3618B84893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" y="1152"/>
              <a:ext cx="454" cy="21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660066"/>
                  </a:solidFill>
                </a:rPr>
                <a:t>Index</a:t>
              </a:r>
              <a:endParaRPr lang="en-US" sz="1600" b="1" dirty="0">
                <a:solidFill>
                  <a:srgbClr val="C00000"/>
                </a:solidFill>
                <a:latin typeface="+mn-lt"/>
              </a:endParaRPr>
            </a:p>
          </p:txBody>
        </p:sp>
        <p:sp>
          <p:nvSpPr>
            <p:cNvPr id="62" name="Line 64">
              <a:extLst>
                <a:ext uri="{FF2B5EF4-FFF2-40B4-BE49-F238E27FC236}">
                  <a16:creationId xmlns:a16="http://schemas.microsoft.com/office/drawing/2014/main" id="{D0AEEA7D-6155-42FA-B7F5-A058975208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8" y="1104"/>
              <a:ext cx="480" cy="96"/>
            </a:xfrm>
            <a:prstGeom prst="line">
              <a:avLst/>
            </a:prstGeom>
            <a:noFill/>
            <a:ln w="9525">
              <a:solidFill>
                <a:srgbClr val="C00000"/>
              </a:solidFill>
              <a:round/>
              <a:headEnd/>
              <a:tailEnd type="triangle" w="med" len="med"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8215761-757A-4757-959B-F15F03FDBEA8}"/>
              </a:ext>
            </a:extLst>
          </p:cNvPr>
          <p:cNvGrpSpPr/>
          <p:nvPr/>
        </p:nvGrpSpPr>
        <p:grpSpPr>
          <a:xfrm>
            <a:off x="5832141" y="1245433"/>
            <a:ext cx="2284413" cy="1862554"/>
            <a:chOff x="5711825" y="1223241"/>
            <a:chExt cx="2284413" cy="1862554"/>
          </a:xfrm>
        </p:grpSpPr>
        <p:sp>
          <p:nvSpPr>
            <p:cNvPr id="52" name="Text Box 55">
              <a:extLst>
                <a:ext uri="{FF2B5EF4-FFF2-40B4-BE49-F238E27FC236}">
                  <a16:creationId xmlns:a16="http://schemas.microsoft.com/office/drawing/2014/main" id="{12461F66-3666-434F-A751-6605E8F9B1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96113" y="1540741"/>
              <a:ext cx="428625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>
                  <a:latin typeface="Courier New" pitchFamily="49" charset="0"/>
                  <a:cs typeface="Courier New" pitchFamily="49" charset="0"/>
                </a:rPr>
                <a:t>00</a:t>
              </a:r>
            </a:p>
          </p:txBody>
        </p:sp>
        <p:sp>
          <p:nvSpPr>
            <p:cNvPr id="53" name="Text Box 56">
              <a:extLst>
                <a:ext uri="{FF2B5EF4-FFF2-40B4-BE49-F238E27FC236}">
                  <a16:creationId xmlns:a16="http://schemas.microsoft.com/office/drawing/2014/main" id="{E4BB450E-265C-46DC-82C9-C1DAEEA746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80238" y="1845541"/>
              <a:ext cx="428625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>
                  <a:latin typeface="Courier New" pitchFamily="49" charset="0"/>
                  <a:cs typeface="Courier New" pitchFamily="49" charset="0"/>
                </a:rPr>
                <a:t>01</a:t>
              </a:r>
            </a:p>
          </p:txBody>
        </p:sp>
        <p:sp>
          <p:nvSpPr>
            <p:cNvPr id="54" name="Text Box 57">
              <a:extLst>
                <a:ext uri="{FF2B5EF4-FFF2-40B4-BE49-F238E27FC236}">
                  <a16:creationId xmlns:a16="http://schemas.microsoft.com/office/drawing/2014/main" id="{23CEF3C0-0A3C-4307-8EE2-6166A141BD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80238" y="2150341"/>
              <a:ext cx="428625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>
                  <a:latin typeface="Courier New" pitchFamily="49" charset="0"/>
                  <a:cs typeface="Courier New" pitchFamily="49" charset="0"/>
                </a:rPr>
                <a:t>10</a:t>
              </a:r>
            </a:p>
          </p:txBody>
        </p:sp>
        <p:sp>
          <p:nvSpPr>
            <p:cNvPr id="55" name="Text Box 58">
              <a:extLst>
                <a:ext uri="{FF2B5EF4-FFF2-40B4-BE49-F238E27FC236}">
                  <a16:creationId xmlns:a16="http://schemas.microsoft.com/office/drawing/2014/main" id="{4BD778DE-3014-4920-A877-D51BF3941B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64363" y="2455141"/>
              <a:ext cx="428625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>
                  <a:latin typeface="Courier New" pitchFamily="49" charset="0"/>
                  <a:cs typeface="Courier New" pitchFamily="49" charset="0"/>
                </a:rPr>
                <a:t>11</a:t>
              </a:r>
            </a:p>
          </p:txBody>
        </p:sp>
        <p:sp>
          <p:nvSpPr>
            <p:cNvPr id="56" name="Text Box 59">
              <a:extLst>
                <a:ext uri="{FF2B5EF4-FFF2-40B4-BE49-F238E27FC236}">
                  <a16:creationId xmlns:a16="http://schemas.microsoft.com/office/drawing/2014/main" id="{B7760DCE-FF7A-434A-9A49-64D53AB1B9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04000" y="1223241"/>
              <a:ext cx="1392238" cy="33813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660066"/>
                  </a:solidFill>
                  <a:latin typeface="+mn-lt"/>
                </a:rPr>
                <a:t>Cache Index</a:t>
              </a:r>
            </a:p>
          </p:txBody>
        </p:sp>
        <p:sp>
          <p:nvSpPr>
            <p:cNvPr id="64" name="Text Box 49">
              <a:extLst>
                <a:ext uri="{FF2B5EF4-FFF2-40B4-BE49-F238E27FC236}">
                  <a16:creationId xmlns:a16="http://schemas.microsoft.com/office/drawing/2014/main" id="{A764AE8B-577C-4E7F-A551-3178F13BBC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43508" y="2747241"/>
              <a:ext cx="798617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latin typeface="+mn-lt"/>
                </a:rPr>
                <a:t>Cache</a:t>
              </a:r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F6976444-0F57-4666-B157-1201F417CCFF}"/>
                </a:ext>
              </a:extLst>
            </p:cNvPr>
            <p:cNvGrpSpPr/>
            <p:nvPr/>
          </p:nvGrpSpPr>
          <p:grpSpPr>
            <a:xfrm>
              <a:off x="5851525" y="1528041"/>
              <a:ext cx="1143000" cy="1219200"/>
              <a:chOff x="5486400" y="1219200"/>
              <a:chExt cx="1524000" cy="1219200"/>
            </a:xfrm>
          </p:grpSpPr>
          <p:sp>
            <p:nvSpPr>
              <p:cNvPr id="66" name="Rectangle 45">
                <a:extLst>
                  <a:ext uri="{FF2B5EF4-FFF2-40B4-BE49-F238E27FC236}">
                    <a16:creationId xmlns:a16="http://schemas.microsoft.com/office/drawing/2014/main" id="{CE433A74-8EA4-4916-B75D-E1B7C75627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6400" y="1219200"/>
                <a:ext cx="1524000" cy="304800"/>
              </a:xfrm>
              <a:prstGeom prst="rect">
                <a:avLst/>
              </a:prstGeom>
              <a:solidFill>
                <a:srgbClr val="C00000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7" name="Rectangle 46">
                <a:extLst>
                  <a:ext uri="{FF2B5EF4-FFF2-40B4-BE49-F238E27FC236}">
                    <a16:creationId xmlns:a16="http://schemas.microsoft.com/office/drawing/2014/main" id="{740D3CA8-9D23-4628-A92C-514C580AEA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6400" y="1524000"/>
                <a:ext cx="1524000" cy="304800"/>
              </a:xfrm>
              <a:prstGeom prst="rect">
                <a:avLst/>
              </a:prstGeom>
              <a:solidFill>
                <a:srgbClr val="3333FF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8" name="Rectangle 47">
                <a:extLst>
                  <a:ext uri="{FF2B5EF4-FFF2-40B4-BE49-F238E27FC236}">
                    <a16:creationId xmlns:a16="http://schemas.microsoft.com/office/drawing/2014/main" id="{EDF9650A-59C0-4D92-8D04-2D8F5DDDF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6400" y="1828800"/>
                <a:ext cx="1524000" cy="304800"/>
              </a:xfrm>
              <a:prstGeom prst="rect">
                <a:avLst/>
              </a:prstGeom>
              <a:solidFill>
                <a:srgbClr val="99CC00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9" name="Rectangle 48">
                <a:extLst>
                  <a:ext uri="{FF2B5EF4-FFF2-40B4-BE49-F238E27FC236}">
                    <a16:creationId xmlns:a16="http://schemas.microsoft.com/office/drawing/2014/main" id="{5CF83CCD-B81C-464E-93D7-D748795EE4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6400" y="2133600"/>
                <a:ext cx="1524000" cy="304800"/>
              </a:xfrm>
              <a:prstGeom prst="rect">
                <a:avLst/>
              </a:prstGeom>
              <a:solidFill>
                <a:srgbClr val="E2F96F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2042AFC-DD6E-4EBC-BB4B-BE83A00716CD}"/>
                </a:ext>
              </a:extLst>
            </p:cNvPr>
            <p:cNvSpPr txBox="1"/>
            <p:nvPr/>
          </p:nvSpPr>
          <p:spPr>
            <a:xfrm>
              <a:off x="5711825" y="1505415"/>
              <a:ext cx="139223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1600" dirty="0">
                  <a:solidFill>
                    <a:schemeClr val="bg1"/>
                  </a:solidFill>
                </a:rPr>
                <a:t>One block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E4B1572E-4A10-42C8-A5FB-BE6437225FB8}"/>
              </a:ext>
            </a:extLst>
          </p:cNvPr>
          <p:cNvGrpSpPr/>
          <p:nvPr/>
        </p:nvGrpSpPr>
        <p:grpSpPr>
          <a:xfrm>
            <a:off x="251751" y="1169233"/>
            <a:ext cx="3002617" cy="5302250"/>
            <a:chOff x="131435" y="1147041"/>
            <a:chExt cx="3002617" cy="530225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6076448C-E661-4C8E-9B8C-A8C73ADA29CC}"/>
                </a:ext>
              </a:extLst>
            </p:cNvPr>
            <p:cNvGrpSpPr/>
            <p:nvPr/>
          </p:nvGrpSpPr>
          <p:grpSpPr>
            <a:xfrm>
              <a:off x="131435" y="1147041"/>
              <a:ext cx="3002617" cy="5302250"/>
              <a:chOff x="131435" y="1147041"/>
              <a:chExt cx="3002617" cy="5302250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5E11C8E3-47CC-4958-AF7F-8AAB6D95E3FA}"/>
                  </a:ext>
                </a:extLst>
              </p:cNvPr>
              <p:cNvGrpSpPr/>
              <p:nvPr/>
            </p:nvGrpSpPr>
            <p:grpSpPr>
              <a:xfrm>
                <a:off x="1431925" y="1528041"/>
                <a:ext cx="1066800" cy="4876800"/>
                <a:chOff x="1447800" y="1219200"/>
                <a:chExt cx="1524000" cy="4876800"/>
              </a:xfrm>
            </p:grpSpPr>
            <p:sp>
              <p:nvSpPr>
                <p:cNvPr id="16" name="Rectangle 12">
                  <a:extLst>
                    <a:ext uri="{FF2B5EF4-FFF2-40B4-BE49-F238E27FC236}">
                      <a16:creationId xmlns:a16="http://schemas.microsoft.com/office/drawing/2014/main" id="{252C16C4-34BE-4D4F-9C7C-B2E9E2390B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47800" y="1219200"/>
                  <a:ext cx="1524000" cy="304800"/>
                </a:xfrm>
                <a:prstGeom prst="rect">
                  <a:avLst/>
                </a:prstGeom>
                <a:solidFill>
                  <a:srgbClr val="C00000"/>
                </a:solidFill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" name="Rectangle 13">
                  <a:extLst>
                    <a:ext uri="{FF2B5EF4-FFF2-40B4-BE49-F238E27FC236}">
                      <a16:creationId xmlns:a16="http://schemas.microsoft.com/office/drawing/2014/main" id="{B9325929-3513-4652-9D62-91D08C3CA5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47800" y="1524000"/>
                  <a:ext cx="1524000" cy="304800"/>
                </a:xfrm>
                <a:prstGeom prst="rect">
                  <a:avLst/>
                </a:prstGeom>
                <a:solidFill>
                  <a:srgbClr val="3333FF"/>
                </a:solidFill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8" name="Rectangle 14">
                  <a:extLst>
                    <a:ext uri="{FF2B5EF4-FFF2-40B4-BE49-F238E27FC236}">
                      <a16:creationId xmlns:a16="http://schemas.microsoft.com/office/drawing/2014/main" id="{34C1D86B-051F-40BC-891F-8EB3A7E1E8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47800" y="1828800"/>
                  <a:ext cx="1524000" cy="304800"/>
                </a:xfrm>
                <a:prstGeom prst="rect">
                  <a:avLst/>
                </a:prstGeom>
                <a:solidFill>
                  <a:srgbClr val="99CC00"/>
                </a:solidFill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9" name="Rectangle 15">
                  <a:extLst>
                    <a:ext uri="{FF2B5EF4-FFF2-40B4-BE49-F238E27FC236}">
                      <a16:creationId xmlns:a16="http://schemas.microsoft.com/office/drawing/2014/main" id="{C659B0D9-D0B8-47F9-A07B-0E76DB4E16E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47800" y="2133600"/>
                  <a:ext cx="1524000" cy="304800"/>
                </a:xfrm>
                <a:prstGeom prst="rect">
                  <a:avLst/>
                </a:prstGeom>
                <a:solidFill>
                  <a:srgbClr val="E2F96F"/>
                </a:solidFill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0" name="Rectangle 17">
                  <a:extLst>
                    <a:ext uri="{FF2B5EF4-FFF2-40B4-BE49-F238E27FC236}">
                      <a16:creationId xmlns:a16="http://schemas.microsoft.com/office/drawing/2014/main" id="{D12FE1C7-3FF7-4E4E-8CF9-90686B559C7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47800" y="2438400"/>
                  <a:ext cx="1524000" cy="304800"/>
                </a:xfrm>
                <a:prstGeom prst="rect">
                  <a:avLst/>
                </a:prstGeom>
                <a:solidFill>
                  <a:srgbClr val="C00000"/>
                </a:solidFill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1" name="Rectangle 18">
                  <a:extLst>
                    <a:ext uri="{FF2B5EF4-FFF2-40B4-BE49-F238E27FC236}">
                      <a16:creationId xmlns:a16="http://schemas.microsoft.com/office/drawing/2014/main" id="{FA5C17F7-36A2-4722-AB30-334BF0858BD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47800" y="2743200"/>
                  <a:ext cx="1524000" cy="304800"/>
                </a:xfrm>
                <a:prstGeom prst="rect">
                  <a:avLst/>
                </a:prstGeom>
                <a:solidFill>
                  <a:srgbClr val="3333FF"/>
                </a:solidFill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2" name="Rectangle 19">
                  <a:extLst>
                    <a:ext uri="{FF2B5EF4-FFF2-40B4-BE49-F238E27FC236}">
                      <a16:creationId xmlns:a16="http://schemas.microsoft.com/office/drawing/2014/main" id="{89EFC9BA-A9AF-418E-8F37-78A24CCED1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47800" y="3048000"/>
                  <a:ext cx="1524000" cy="304800"/>
                </a:xfrm>
                <a:prstGeom prst="rect">
                  <a:avLst/>
                </a:prstGeom>
                <a:solidFill>
                  <a:srgbClr val="99CC00"/>
                </a:solidFill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3" name="Rectangle 20">
                  <a:extLst>
                    <a:ext uri="{FF2B5EF4-FFF2-40B4-BE49-F238E27FC236}">
                      <a16:creationId xmlns:a16="http://schemas.microsoft.com/office/drawing/2014/main" id="{E0A5E22B-F6BF-41CC-B907-000A8B8590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47800" y="3352800"/>
                  <a:ext cx="1524000" cy="304800"/>
                </a:xfrm>
                <a:prstGeom prst="rect">
                  <a:avLst/>
                </a:prstGeom>
                <a:solidFill>
                  <a:srgbClr val="E2F96F"/>
                </a:solidFill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4" name="Rectangle 21">
                  <a:extLst>
                    <a:ext uri="{FF2B5EF4-FFF2-40B4-BE49-F238E27FC236}">
                      <a16:creationId xmlns:a16="http://schemas.microsoft.com/office/drawing/2014/main" id="{81176065-A6EA-4033-B800-A316761C8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47800" y="3657600"/>
                  <a:ext cx="1524000" cy="304800"/>
                </a:xfrm>
                <a:prstGeom prst="rect">
                  <a:avLst/>
                </a:prstGeom>
                <a:solidFill>
                  <a:srgbClr val="C00000"/>
                </a:solidFill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5" name="Rectangle 22">
                  <a:extLst>
                    <a:ext uri="{FF2B5EF4-FFF2-40B4-BE49-F238E27FC236}">
                      <a16:creationId xmlns:a16="http://schemas.microsoft.com/office/drawing/2014/main" id="{41DADD82-8A92-45BD-9B7F-3381B48BE2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47800" y="3962400"/>
                  <a:ext cx="1524000" cy="304800"/>
                </a:xfrm>
                <a:prstGeom prst="rect">
                  <a:avLst/>
                </a:prstGeom>
                <a:solidFill>
                  <a:srgbClr val="3333FF"/>
                </a:solidFill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6" name="Rectangle 23">
                  <a:extLst>
                    <a:ext uri="{FF2B5EF4-FFF2-40B4-BE49-F238E27FC236}">
                      <a16:creationId xmlns:a16="http://schemas.microsoft.com/office/drawing/2014/main" id="{34748D40-DEEF-49CB-B9AA-48E554E4C58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47800" y="4267200"/>
                  <a:ext cx="1524000" cy="304800"/>
                </a:xfrm>
                <a:prstGeom prst="rect">
                  <a:avLst/>
                </a:prstGeom>
                <a:solidFill>
                  <a:srgbClr val="99CC00"/>
                </a:solidFill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7" name="Rectangle 24">
                  <a:extLst>
                    <a:ext uri="{FF2B5EF4-FFF2-40B4-BE49-F238E27FC236}">
                      <a16:creationId xmlns:a16="http://schemas.microsoft.com/office/drawing/2014/main" id="{95EA2B81-A39D-4CF3-8A75-189323C3B6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47800" y="4572000"/>
                  <a:ext cx="1524000" cy="304800"/>
                </a:xfrm>
                <a:prstGeom prst="rect">
                  <a:avLst/>
                </a:prstGeom>
                <a:solidFill>
                  <a:srgbClr val="E2F96F"/>
                </a:solidFill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8" name="Rectangle 25">
                  <a:extLst>
                    <a:ext uri="{FF2B5EF4-FFF2-40B4-BE49-F238E27FC236}">
                      <a16:creationId xmlns:a16="http://schemas.microsoft.com/office/drawing/2014/main" id="{FFF4ECC2-6895-410E-B746-05BCC694857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47800" y="4876800"/>
                  <a:ext cx="1524000" cy="304800"/>
                </a:xfrm>
                <a:prstGeom prst="rect">
                  <a:avLst/>
                </a:prstGeom>
                <a:solidFill>
                  <a:srgbClr val="C00000"/>
                </a:solidFill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9" name="Rectangle 26">
                  <a:extLst>
                    <a:ext uri="{FF2B5EF4-FFF2-40B4-BE49-F238E27FC236}">
                      <a16:creationId xmlns:a16="http://schemas.microsoft.com/office/drawing/2014/main" id="{E9C4CE2A-B4AD-46D2-87B5-0FA1280B847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47800" y="5181600"/>
                  <a:ext cx="1524000" cy="304800"/>
                </a:xfrm>
                <a:prstGeom prst="rect">
                  <a:avLst/>
                </a:prstGeom>
                <a:solidFill>
                  <a:srgbClr val="3333FF"/>
                </a:solidFill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30" name="Rectangle 27">
                  <a:extLst>
                    <a:ext uri="{FF2B5EF4-FFF2-40B4-BE49-F238E27FC236}">
                      <a16:creationId xmlns:a16="http://schemas.microsoft.com/office/drawing/2014/main" id="{8E395DA8-A1E2-45E2-90D1-C5ACE1A89EA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47800" y="5486400"/>
                  <a:ext cx="1524000" cy="304800"/>
                </a:xfrm>
                <a:prstGeom prst="rect">
                  <a:avLst/>
                </a:prstGeom>
                <a:solidFill>
                  <a:srgbClr val="99CC00"/>
                </a:solidFill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31" name="Rectangle 28">
                  <a:extLst>
                    <a:ext uri="{FF2B5EF4-FFF2-40B4-BE49-F238E27FC236}">
                      <a16:creationId xmlns:a16="http://schemas.microsoft.com/office/drawing/2014/main" id="{B00386B2-4430-4CDB-B6B4-8EE11605DCA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47800" y="5791200"/>
                  <a:ext cx="1524000" cy="304800"/>
                </a:xfrm>
                <a:prstGeom prst="rect">
                  <a:avLst/>
                </a:prstGeom>
                <a:solidFill>
                  <a:srgbClr val="E2F96F"/>
                </a:solidFill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2" name="Group 1">
                <a:extLst>
                  <a:ext uri="{FF2B5EF4-FFF2-40B4-BE49-F238E27FC236}">
                    <a16:creationId xmlns:a16="http://schemas.microsoft.com/office/drawing/2014/main" id="{6D7CB7E2-194C-4D5D-A2AF-A2454C154D2F}"/>
                  </a:ext>
                </a:extLst>
              </p:cNvPr>
              <p:cNvGrpSpPr/>
              <p:nvPr/>
            </p:nvGrpSpPr>
            <p:grpSpPr>
              <a:xfrm>
                <a:off x="441325" y="1528041"/>
                <a:ext cx="1087438" cy="4921250"/>
                <a:chOff x="441325" y="1528041"/>
                <a:chExt cx="1087438" cy="4921250"/>
              </a:xfrm>
            </p:grpSpPr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3EC4C289-7862-4A3B-A8CC-B3E49B8819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27125" y="3966441"/>
                  <a:ext cx="304800" cy="304800"/>
                </a:xfrm>
                <a:prstGeom prst="rect">
                  <a:avLst/>
                </a:prstGeom>
                <a:solidFill>
                  <a:srgbClr val="CCCCFF"/>
                </a:solidFill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F278AB14-204B-4CDE-8D17-F99BA740CEC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27125" y="2747241"/>
                  <a:ext cx="304800" cy="304800"/>
                </a:xfrm>
                <a:prstGeom prst="rect">
                  <a:avLst/>
                </a:prstGeom>
                <a:solidFill>
                  <a:srgbClr val="CCCCFF"/>
                </a:solidFill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5084BCED-784A-47B3-93E8-55305F1042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27125" y="1528041"/>
                  <a:ext cx="304800" cy="304800"/>
                </a:xfrm>
                <a:prstGeom prst="rect">
                  <a:avLst/>
                </a:prstGeom>
                <a:solidFill>
                  <a:srgbClr val="CCCCFF"/>
                </a:solidFill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3" name="Rectangle 11">
                  <a:extLst>
                    <a:ext uri="{FF2B5EF4-FFF2-40B4-BE49-F238E27FC236}">
                      <a16:creationId xmlns:a16="http://schemas.microsoft.com/office/drawing/2014/main" id="{C9B93D4E-F913-4983-B582-EEF7A05AB4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27125" y="5185641"/>
                  <a:ext cx="304800" cy="304800"/>
                </a:xfrm>
                <a:prstGeom prst="rect">
                  <a:avLst/>
                </a:prstGeom>
                <a:solidFill>
                  <a:srgbClr val="CCCCFF"/>
                </a:solidFill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4" name="Text Box 16">
                  <a:extLst>
                    <a:ext uri="{FF2B5EF4-FFF2-40B4-BE49-F238E27FC236}">
                      <a16:creationId xmlns:a16="http://schemas.microsoft.com/office/drawing/2014/main" id="{4A70AD41-D66F-4EC4-933E-02F22280CCA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41325" y="1528041"/>
                  <a:ext cx="1039813" cy="336550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sz="1600" b="1">
                      <a:latin typeface="Courier New" pitchFamily="49" charset="0"/>
                      <a:cs typeface="Courier New" pitchFamily="49" charset="0"/>
                    </a:rPr>
                    <a:t>..00000</a:t>
                  </a:r>
                </a:p>
              </p:txBody>
            </p:sp>
            <p:sp>
              <p:nvSpPr>
                <p:cNvPr id="32" name="Text Box 29">
                  <a:extLst>
                    <a:ext uri="{FF2B5EF4-FFF2-40B4-BE49-F238E27FC236}">
                      <a16:creationId xmlns:a16="http://schemas.microsoft.com/office/drawing/2014/main" id="{776A9385-E6CE-4382-939B-432D805772B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41325" y="1845541"/>
                  <a:ext cx="1039813" cy="336550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sz="1600" b="1">
                      <a:latin typeface="Courier New" pitchFamily="49" charset="0"/>
                      <a:cs typeface="Courier New" pitchFamily="49" charset="0"/>
                    </a:rPr>
                    <a:t>..00001</a:t>
                  </a:r>
                </a:p>
              </p:txBody>
            </p:sp>
            <p:sp>
              <p:nvSpPr>
                <p:cNvPr id="33" name="Text Box 30">
                  <a:extLst>
                    <a:ext uri="{FF2B5EF4-FFF2-40B4-BE49-F238E27FC236}">
                      <a16:creationId xmlns:a16="http://schemas.microsoft.com/office/drawing/2014/main" id="{0EFA8EEC-8606-4233-B9ED-F719788FD3B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41325" y="2150341"/>
                  <a:ext cx="1039813" cy="336550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sz="1600" b="1">
                      <a:latin typeface="Courier New" pitchFamily="49" charset="0"/>
                      <a:cs typeface="Courier New" pitchFamily="49" charset="0"/>
                    </a:rPr>
                    <a:t>..00010</a:t>
                  </a:r>
                </a:p>
              </p:txBody>
            </p:sp>
            <p:sp>
              <p:nvSpPr>
                <p:cNvPr id="34" name="Text Box 31">
                  <a:extLst>
                    <a:ext uri="{FF2B5EF4-FFF2-40B4-BE49-F238E27FC236}">
                      <a16:creationId xmlns:a16="http://schemas.microsoft.com/office/drawing/2014/main" id="{4D9DB106-C301-4396-99E2-4447E14CE84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7200" y="2455141"/>
                  <a:ext cx="1039813" cy="336550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sz="1600" b="1">
                      <a:latin typeface="Courier New" pitchFamily="49" charset="0"/>
                      <a:cs typeface="Courier New" pitchFamily="49" charset="0"/>
                    </a:rPr>
                    <a:t>..00011</a:t>
                  </a:r>
                </a:p>
              </p:txBody>
            </p:sp>
            <p:sp>
              <p:nvSpPr>
                <p:cNvPr id="35" name="Text Box 32">
                  <a:extLst>
                    <a:ext uri="{FF2B5EF4-FFF2-40B4-BE49-F238E27FC236}">
                      <a16:creationId xmlns:a16="http://schemas.microsoft.com/office/drawing/2014/main" id="{25B6CB28-A6A1-4C3E-A6DA-3390E999DBC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41325" y="2759941"/>
                  <a:ext cx="1039813" cy="336550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sz="1600" b="1">
                      <a:latin typeface="Courier New" pitchFamily="49" charset="0"/>
                      <a:cs typeface="Courier New" pitchFamily="49" charset="0"/>
                    </a:rPr>
                    <a:t>..00100</a:t>
                  </a:r>
                </a:p>
              </p:txBody>
            </p:sp>
            <p:sp>
              <p:nvSpPr>
                <p:cNvPr id="36" name="Text Box 33">
                  <a:extLst>
                    <a:ext uri="{FF2B5EF4-FFF2-40B4-BE49-F238E27FC236}">
                      <a16:creationId xmlns:a16="http://schemas.microsoft.com/office/drawing/2014/main" id="{953DC930-2D6D-4D97-98D4-09C1B808331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7200" y="3064741"/>
                  <a:ext cx="1039813" cy="336550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sz="1600" b="1">
                      <a:latin typeface="Courier New" pitchFamily="49" charset="0"/>
                      <a:cs typeface="Courier New" pitchFamily="49" charset="0"/>
                    </a:rPr>
                    <a:t>..00101</a:t>
                  </a:r>
                </a:p>
              </p:txBody>
            </p:sp>
            <p:sp>
              <p:nvSpPr>
                <p:cNvPr id="37" name="Text Box 34">
                  <a:extLst>
                    <a:ext uri="{FF2B5EF4-FFF2-40B4-BE49-F238E27FC236}">
                      <a16:creationId xmlns:a16="http://schemas.microsoft.com/office/drawing/2014/main" id="{AA5D1CD2-9A16-4325-A17F-0BD918BD994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7200" y="3369541"/>
                  <a:ext cx="1039813" cy="336550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sz="1600" b="1">
                      <a:latin typeface="Courier New" pitchFamily="49" charset="0"/>
                      <a:cs typeface="Courier New" pitchFamily="49" charset="0"/>
                    </a:rPr>
                    <a:t>..00110</a:t>
                  </a:r>
                </a:p>
              </p:txBody>
            </p:sp>
            <p:sp>
              <p:nvSpPr>
                <p:cNvPr id="38" name="Text Box 35">
                  <a:extLst>
                    <a:ext uri="{FF2B5EF4-FFF2-40B4-BE49-F238E27FC236}">
                      <a16:creationId xmlns:a16="http://schemas.microsoft.com/office/drawing/2014/main" id="{0E7BFCB0-D634-46EB-8D00-BAB71A7F968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73075" y="3674341"/>
                  <a:ext cx="1039813" cy="336550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sz="1600" b="1">
                      <a:latin typeface="Courier New" pitchFamily="49" charset="0"/>
                      <a:cs typeface="Courier New" pitchFamily="49" charset="0"/>
                    </a:rPr>
                    <a:t>..00111</a:t>
                  </a:r>
                </a:p>
              </p:txBody>
            </p:sp>
            <p:sp>
              <p:nvSpPr>
                <p:cNvPr id="39" name="Text Box 36">
                  <a:extLst>
                    <a:ext uri="{FF2B5EF4-FFF2-40B4-BE49-F238E27FC236}">
                      <a16:creationId xmlns:a16="http://schemas.microsoft.com/office/drawing/2014/main" id="{F962EC0E-C367-441C-9E7B-1FDC10E2BED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41325" y="3979141"/>
                  <a:ext cx="1039813" cy="336550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sz="1600" b="1">
                      <a:latin typeface="Courier New" pitchFamily="49" charset="0"/>
                      <a:cs typeface="Courier New" pitchFamily="49" charset="0"/>
                    </a:rPr>
                    <a:t>..01000</a:t>
                  </a:r>
                </a:p>
              </p:txBody>
            </p:sp>
            <p:sp>
              <p:nvSpPr>
                <p:cNvPr id="40" name="Text Box 37">
                  <a:extLst>
                    <a:ext uri="{FF2B5EF4-FFF2-40B4-BE49-F238E27FC236}">
                      <a16:creationId xmlns:a16="http://schemas.microsoft.com/office/drawing/2014/main" id="{5B5AF5DF-A9DC-4A5B-B6DB-5289F3234AF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7200" y="4283941"/>
                  <a:ext cx="1039813" cy="336550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sz="1600" b="1">
                      <a:latin typeface="Courier New" pitchFamily="49" charset="0"/>
                      <a:cs typeface="Courier New" pitchFamily="49" charset="0"/>
                    </a:rPr>
                    <a:t>..01001</a:t>
                  </a:r>
                </a:p>
              </p:txBody>
            </p:sp>
            <p:sp>
              <p:nvSpPr>
                <p:cNvPr id="41" name="Text Box 38">
                  <a:extLst>
                    <a:ext uri="{FF2B5EF4-FFF2-40B4-BE49-F238E27FC236}">
                      <a16:creationId xmlns:a16="http://schemas.microsoft.com/office/drawing/2014/main" id="{340DE5E8-FE4A-4702-BC1B-E920133037A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7200" y="4588741"/>
                  <a:ext cx="1039813" cy="336550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sz="1600" b="1">
                      <a:latin typeface="Courier New" pitchFamily="49" charset="0"/>
                      <a:cs typeface="Courier New" pitchFamily="49" charset="0"/>
                    </a:rPr>
                    <a:t>..01010</a:t>
                  </a:r>
                </a:p>
              </p:txBody>
            </p:sp>
            <p:sp>
              <p:nvSpPr>
                <p:cNvPr id="42" name="Text Box 39">
                  <a:extLst>
                    <a:ext uri="{FF2B5EF4-FFF2-40B4-BE49-F238E27FC236}">
                      <a16:creationId xmlns:a16="http://schemas.microsoft.com/office/drawing/2014/main" id="{19E8A0E0-09FF-4866-8675-3948EC55E08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73075" y="4893541"/>
                  <a:ext cx="1039813" cy="336550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sz="1600" b="1">
                      <a:latin typeface="Courier New" pitchFamily="49" charset="0"/>
                      <a:cs typeface="Courier New" pitchFamily="49" charset="0"/>
                    </a:rPr>
                    <a:t>..01011</a:t>
                  </a:r>
                </a:p>
              </p:txBody>
            </p:sp>
            <p:sp>
              <p:nvSpPr>
                <p:cNvPr id="43" name="Text Box 40">
                  <a:extLst>
                    <a:ext uri="{FF2B5EF4-FFF2-40B4-BE49-F238E27FC236}">
                      <a16:creationId xmlns:a16="http://schemas.microsoft.com/office/drawing/2014/main" id="{D620B935-DD9E-4B0C-9862-15BAE0626E9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7200" y="5198341"/>
                  <a:ext cx="1039813" cy="336550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sz="1600" b="1" dirty="0">
                      <a:latin typeface="Courier New" pitchFamily="49" charset="0"/>
                      <a:cs typeface="Courier New" pitchFamily="49" charset="0"/>
                    </a:rPr>
                    <a:t>..01100</a:t>
                  </a:r>
                </a:p>
              </p:txBody>
            </p:sp>
            <p:sp>
              <p:nvSpPr>
                <p:cNvPr id="44" name="Text Box 41">
                  <a:extLst>
                    <a:ext uri="{FF2B5EF4-FFF2-40B4-BE49-F238E27FC236}">
                      <a16:creationId xmlns:a16="http://schemas.microsoft.com/office/drawing/2014/main" id="{8CE77562-7B91-43CE-92E6-9729D3257DB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73075" y="5503141"/>
                  <a:ext cx="1039813" cy="336550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sz="1600" b="1">
                      <a:latin typeface="Courier New" pitchFamily="49" charset="0"/>
                      <a:cs typeface="Courier New" pitchFamily="49" charset="0"/>
                    </a:rPr>
                    <a:t>..01101</a:t>
                  </a:r>
                </a:p>
              </p:txBody>
            </p:sp>
            <p:sp>
              <p:nvSpPr>
                <p:cNvPr id="45" name="Text Box 42">
                  <a:extLst>
                    <a:ext uri="{FF2B5EF4-FFF2-40B4-BE49-F238E27FC236}">
                      <a16:creationId xmlns:a16="http://schemas.microsoft.com/office/drawing/2014/main" id="{F6C47311-5F1B-4CC9-90BE-E0C5BED3A2F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73075" y="5807941"/>
                  <a:ext cx="1039813" cy="336550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sz="1600" b="1">
                      <a:latin typeface="Courier New" pitchFamily="49" charset="0"/>
                      <a:cs typeface="Courier New" pitchFamily="49" charset="0"/>
                    </a:rPr>
                    <a:t>..01110</a:t>
                  </a:r>
                </a:p>
              </p:txBody>
            </p:sp>
            <p:sp>
              <p:nvSpPr>
                <p:cNvPr id="46" name="Text Box 43">
                  <a:extLst>
                    <a:ext uri="{FF2B5EF4-FFF2-40B4-BE49-F238E27FC236}">
                      <a16:creationId xmlns:a16="http://schemas.microsoft.com/office/drawing/2014/main" id="{624F1502-9727-4B09-AA37-5FB387149CA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88950" y="6112741"/>
                  <a:ext cx="1039813" cy="336550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sz="1600" b="1">
                      <a:latin typeface="Courier New" pitchFamily="49" charset="0"/>
                      <a:cs typeface="Courier New" pitchFamily="49" charset="0"/>
                    </a:rPr>
                    <a:t>..01111</a:t>
                  </a:r>
                </a:p>
              </p:txBody>
            </p:sp>
          </p:grpSp>
          <p:sp>
            <p:nvSpPr>
              <p:cNvPr id="47" name="Text Box 44">
                <a:extLst>
                  <a:ext uri="{FF2B5EF4-FFF2-40B4-BE49-F238E27FC236}">
                    <a16:creationId xmlns:a16="http://schemas.microsoft.com/office/drawing/2014/main" id="{752F6193-F42B-443B-ABFC-078EAC63FDC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1435" y="1147041"/>
                <a:ext cx="3002617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 dirty="0">
                    <a:solidFill>
                      <a:srgbClr val="0000CC"/>
                    </a:solidFill>
                    <a:latin typeface="+mn-lt"/>
                  </a:rPr>
                  <a:t>Block Number </a:t>
                </a:r>
                <a:r>
                  <a:rPr lang="en-US" sz="1600" dirty="0">
                    <a:solidFill>
                      <a:srgbClr val="C00000"/>
                    </a:solidFill>
                    <a:latin typeface="+mn-lt"/>
                  </a:rPr>
                  <a:t>(</a:t>
                </a:r>
                <a:r>
                  <a:rPr lang="en-US" sz="1600" u="sng" dirty="0">
                    <a:solidFill>
                      <a:srgbClr val="C00000"/>
                    </a:solidFill>
                    <a:latin typeface="+mn-lt"/>
                  </a:rPr>
                  <a:t>Not</a:t>
                </a:r>
                <a:r>
                  <a:rPr lang="en-US" sz="1600" dirty="0">
                    <a:solidFill>
                      <a:srgbClr val="C00000"/>
                    </a:solidFill>
                    <a:latin typeface="+mn-lt"/>
                  </a:rPr>
                  <a:t> Address!) </a:t>
                </a:r>
              </a:p>
            </p:txBody>
          </p:sp>
          <p:sp>
            <p:nvSpPr>
              <p:cNvPr id="63" name="Text Box 63">
                <a:extLst>
                  <a:ext uri="{FF2B5EF4-FFF2-40B4-BE49-F238E27FC236}">
                    <a16:creationId xmlns:a16="http://schemas.microsoft.com/office/drawing/2014/main" id="{BC4220B4-E54C-4D8D-9964-336689BACF3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5400000">
                <a:off x="-315683" y="3545983"/>
                <a:ext cx="1366080" cy="461665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400" b="1" dirty="0">
                    <a:latin typeface="+mn-lt"/>
                  </a:rPr>
                  <a:t>Memory</a:t>
                </a:r>
              </a:p>
            </p:txBody>
          </p:sp>
        </p:grp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F1C0BC7E-4B79-4EB2-A169-03585D556711}"/>
                </a:ext>
              </a:extLst>
            </p:cNvPr>
            <p:cNvSpPr txBox="1"/>
            <p:nvPr/>
          </p:nvSpPr>
          <p:spPr>
            <a:xfrm>
              <a:off x="1269206" y="1512581"/>
              <a:ext cx="139223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1600" dirty="0">
                  <a:solidFill>
                    <a:schemeClr val="bg1"/>
                  </a:solidFill>
                </a:rPr>
                <a:t>One block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67872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  <p:bldP spid="5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4. Direct Mapped Cache: </a:t>
            </a:r>
            <a:r>
              <a:rPr lang="en-GB" sz="3600" b="1" dirty="0">
                <a:solidFill>
                  <a:srgbClr val="0000FF"/>
                </a:solidFill>
              </a:rPr>
              <a:t>Cache Tag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#22: Cache I: Direct Mapped Cache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26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21" name="Line 51">
            <a:extLst>
              <a:ext uri="{FF2B5EF4-FFF2-40B4-BE49-F238E27FC236}">
                <a16:creationId xmlns:a16="http://schemas.microsoft.com/office/drawing/2014/main" id="{36AA9824-C7DD-457B-9342-FD031B135F4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10853" y="1626433"/>
            <a:ext cx="33528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122" name="Line 52">
            <a:extLst>
              <a:ext uri="{FF2B5EF4-FFF2-40B4-BE49-F238E27FC236}">
                <a16:creationId xmlns:a16="http://schemas.microsoft.com/office/drawing/2014/main" id="{82B40E6A-8CC1-4B16-8ED9-26C9B07C991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10853" y="1702633"/>
            <a:ext cx="3352800" cy="1244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123" name="Line 53">
            <a:extLst>
              <a:ext uri="{FF2B5EF4-FFF2-40B4-BE49-F238E27FC236}">
                <a16:creationId xmlns:a16="http://schemas.microsoft.com/office/drawing/2014/main" id="{11E6EFA2-6DDD-49CF-9D63-FCB8E0721E7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10853" y="1702633"/>
            <a:ext cx="3352800" cy="248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124" name="Line 54">
            <a:extLst>
              <a:ext uri="{FF2B5EF4-FFF2-40B4-BE49-F238E27FC236}">
                <a16:creationId xmlns:a16="http://schemas.microsoft.com/office/drawing/2014/main" id="{E9253A40-3968-44CC-94C6-50BC9AE06B4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10853" y="1778833"/>
            <a:ext cx="3352800" cy="3657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130" name="Text Box 60">
            <a:extLst>
              <a:ext uri="{FF2B5EF4-FFF2-40B4-BE49-F238E27FC236}">
                <a16:creationId xmlns:a16="http://schemas.microsoft.com/office/drawing/2014/main" id="{EDC1D642-6E35-4648-9BD3-699C6DBE0F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0928" y="2606615"/>
            <a:ext cx="3632325" cy="1200329"/>
          </a:xfrm>
          <a:prstGeom prst="rect">
            <a:avLst/>
          </a:prstGeom>
          <a:solidFill>
            <a:schemeClr val="bg1">
              <a:alpha val="80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6600"/>
                </a:solidFill>
              </a:rPr>
              <a:t>Mapping Function: </a:t>
            </a:r>
          </a:p>
          <a:p>
            <a:r>
              <a:rPr lang="en-US" b="1" dirty="0"/>
              <a:t>Cache Index </a:t>
            </a:r>
          </a:p>
          <a:p>
            <a:r>
              <a:rPr lang="en-US" b="1" dirty="0"/>
              <a:t> = (</a:t>
            </a:r>
            <a:r>
              <a:rPr lang="en-US" b="1" dirty="0" err="1"/>
              <a:t>BlockNumber</a:t>
            </a:r>
            <a:r>
              <a:rPr lang="en-US" b="1" dirty="0"/>
              <a:t>) modulo </a:t>
            </a:r>
          </a:p>
          <a:p>
            <a:r>
              <a:rPr lang="en-US" b="1" dirty="0"/>
              <a:t>       (</a:t>
            </a:r>
            <a:r>
              <a:rPr lang="en-US" b="1" dirty="0" err="1"/>
              <a:t>NumberOfCacheBlocks</a:t>
            </a:r>
            <a:r>
              <a:rPr lang="en-US" b="1" dirty="0"/>
              <a:t>)</a:t>
            </a:r>
            <a:endParaRPr lang="en-US" sz="1600" b="1" dirty="0"/>
          </a:p>
        </p:txBody>
      </p:sp>
      <p:sp>
        <p:nvSpPr>
          <p:cNvPr id="131" name="Text Box 61">
            <a:extLst>
              <a:ext uri="{FF2B5EF4-FFF2-40B4-BE49-F238E27FC236}">
                <a16:creationId xmlns:a16="http://schemas.microsoft.com/office/drawing/2014/main" id="{12F4C40A-EFD6-49CD-9DE0-A096785890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5778" y="4968121"/>
            <a:ext cx="18415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endParaRPr lang="en-US" sz="1600">
              <a:latin typeface="Comic Sans MS" pitchFamily="66" charset="0"/>
            </a:endParaRPr>
          </a:p>
        </p:txBody>
      </p:sp>
      <p:sp>
        <p:nvSpPr>
          <p:cNvPr id="132" name="Text Box 62">
            <a:extLst>
              <a:ext uri="{FF2B5EF4-FFF2-40B4-BE49-F238E27FC236}">
                <a16:creationId xmlns:a16="http://schemas.microsoft.com/office/drawing/2014/main" id="{AB87D8F9-F937-4084-97CA-4AAEA01F3B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7553" y="4049629"/>
            <a:ext cx="6172200" cy="1729704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accent5">
                <a:lumMod val="40000"/>
                <a:lumOff val="60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r>
              <a:rPr lang="en-US" sz="2000" b="1" dirty="0">
                <a:solidFill>
                  <a:srgbClr val="660066"/>
                </a:solidFill>
                <a:latin typeface="+mn-lt"/>
              </a:rPr>
              <a:t>Observation:</a:t>
            </a:r>
          </a:p>
          <a:p>
            <a:pPr>
              <a:spcBef>
                <a:spcPct val="20000"/>
              </a:spcBef>
            </a:pPr>
            <a:r>
              <a:rPr lang="en-SG" sz="1800" dirty="0">
                <a:latin typeface="+mn-lt"/>
              </a:rPr>
              <a:t>Multiple memory blocks can map to the same cache block</a:t>
            </a:r>
          </a:p>
          <a:p>
            <a:pPr>
              <a:spcBef>
                <a:spcPct val="20000"/>
              </a:spcBef>
            </a:pPr>
            <a:r>
              <a:rPr lang="en-US" sz="1800" dirty="0">
                <a:latin typeface="+mn-lt"/>
                <a:sym typeface="Wingdings" pitchFamily="2" charset="2"/>
              </a:rPr>
              <a:t> Same Cache Index</a:t>
            </a:r>
          </a:p>
          <a:p>
            <a:pPr>
              <a:spcBef>
                <a:spcPct val="20000"/>
              </a:spcBef>
            </a:pPr>
            <a:r>
              <a:rPr lang="en-US" sz="1800" dirty="0">
                <a:latin typeface="+mn-lt"/>
              </a:rPr>
              <a:t>However, they have unique </a:t>
            </a:r>
            <a:r>
              <a:rPr lang="en-US" sz="1800" b="1" dirty="0">
                <a:solidFill>
                  <a:srgbClr val="C00000"/>
                </a:solidFill>
                <a:latin typeface="+mn-lt"/>
              </a:rPr>
              <a:t>tag number</a:t>
            </a:r>
            <a:r>
              <a:rPr lang="en-US" sz="1800" b="1" dirty="0">
                <a:latin typeface="+mn-lt"/>
              </a:rPr>
              <a:t>:</a:t>
            </a:r>
            <a:endParaRPr lang="en-SG" sz="1800" dirty="0">
              <a:latin typeface="+mn-lt"/>
            </a:endParaRPr>
          </a:p>
          <a:p>
            <a:pPr>
              <a:spcBef>
                <a:spcPct val="20000"/>
              </a:spcBef>
            </a:pPr>
            <a:r>
              <a:rPr lang="en-SG" sz="1800" b="1" dirty="0">
                <a:latin typeface="+mn-lt"/>
              </a:rPr>
              <a:t>Tag = Block number / Number of Cache Blocks</a:t>
            </a:r>
          </a:p>
        </p:txBody>
      </p:sp>
      <p:grpSp>
        <p:nvGrpSpPr>
          <p:cNvPr id="14339" name="Group 14338">
            <a:extLst>
              <a:ext uri="{FF2B5EF4-FFF2-40B4-BE49-F238E27FC236}">
                <a16:creationId xmlns:a16="http://schemas.microsoft.com/office/drawing/2014/main" id="{264A759A-1F3B-43E8-9381-0D655D3E86E9}"/>
              </a:ext>
            </a:extLst>
          </p:cNvPr>
          <p:cNvGrpSpPr/>
          <p:nvPr/>
        </p:nvGrpSpPr>
        <p:grpSpPr>
          <a:xfrm>
            <a:off x="243563" y="1169233"/>
            <a:ext cx="3002617" cy="5302250"/>
            <a:chOff x="243563" y="1169233"/>
            <a:chExt cx="3002617" cy="5302250"/>
          </a:xfrm>
        </p:grpSpPr>
        <p:grpSp>
          <p:nvGrpSpPr>
            <p:cNvPr id="14337" name="Group 14336">
              <a:extLst>
                <a:ext uri="{FF2B5EF4-FFF2-40B4-BE49-F238E27FC236}">
                  <a16:creationId xmlns:a16="http://schemas.microsoft.com/office/drawing/2014/main" id="{DACA63B0-3C7E-4668-AEB8-1C8A3A0C8BE8}"/>
                </a:ext>
              </a:extLst>
            </p:cNvPr>
            <p:cNvGrpSpPr/>
            <p:nvPr/>
          </p:nvGrpSpPr>
          <p:grpSpPr>
            <a:xfrm>
              <a:off x="243563" y="1169233"/>
              <a:ext cx="3002617" cy="5302250"/>
              <a:chOff x="243563" y="1169233"/>
              <a:chExt cx="3002617" cy="5302250"/>
            </a:xfrm>
          </p:grpSpPr>
          <p:grpSp>
            <p:nvGrpSpPr>
              <p:cNvPr id="74" name="Group 127">
                <a:extLst>
                  <a:ext uri="{FF2B5EF4-FFF2-40B4-BE49-F238E27FC236}">
                    <a16:creationId xmlns:a16="http://schemas.microsoft.com/office/drawing/2014/main" id="{D94BCEAD-385C-43D8-9062-8C3640E9D49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4853" y="1550233"/>
                <a:ext cx="914400" cy="3962400"/>
                <a:chOff x="240" y="1008"/>
                <a:chExt cx="576" cy="2496"/>
              </a:xfrm>
            </p:grpSpPr>
            <p:sp>
              <p:nvSpPr>
                <p:cNvPr id="78" name="Rectangle 123">
                  <a:extLst>
                    <a:ext uri="{FF2B5EF4-FFF2-40B4-BE49-F238E27FC236}">
                      <a16:creationId xmlns:a16="http://schemas.microsoft.com/office/drawing/2014/main" id="{544A60A6-F420-4093-901B-13E56A7ECE1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0" y="3312"/>
                  <a:ext cx="576" cy="192"/>
                </a:xfrm>
                <a:prstGeom prst="rect">
                  <a:avLst/>
                </a:prstGeom>
                <a:solidFill>
                  <a:srgbClr val="CCFFCC"/>
                </a:solidFill>
                <a:ln w="9525" algn="ctr">
                  <a:noFill/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79" name="Rectangle 124">
                  <a:extLst>
                    <a:ext uri="{FF2B5EF4-FFF2-40B4-BE49-F238E27FC236}">
                      <a16:creationId xmlns:a16="http://schemas.microsoft.com/office/drawing/2014/main" id="{D8EA85C5-8AB3-489F-AC80-CF8F4FC0EE1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0" y="2544"/>
                  <a:ext cx="576" cy="192"/>
                </a:xfrm>
                <a:prstGeom prst="rect">
                  <a:avLst/>
                </a:prstGeom>
                <a:solidFill>
                  <a:srgbClr val="CCFFCC"/>
                </a:solidFill>
                <a:ln w="9525" algn="ctr">
                  <a:noFill/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80" name="Rectangle 125">
                  <a:extLst>
                    <a:ext uri="{FF2B5EF4-FFF2-40B4-BE49-F238E27FC236}">
                      <a16:creationId xmlns:a16="http://schemas.microsoft.com/office/drawing/2014/main" id="{59164466-2A85-4DE7-8DD8-2DD7F027786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0" y="1776"/>
                  <a:ext cx="576" cy="192"/>
                </a:xfrm>
                <a:prstGeom prst="rect">
                  <a:avLst/>
                </a:prstGeom>
                <a:solidFill>
                  <a:srgbClr val="CCFFCC"/>
                </a:solidFill>
                <a:ln w="9525" algn="ctr">
                  <a:noFill/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81" name="Rectangle 126">
                  <a:extLst>
                    <a:ext uri="{FF2B5EF4-FFF2-40B4-BE49-F238E27FC236}">
                      <a16:creationId xmlns:a16="http://schemas.microsoft.com/office/drawing/2014/main" id="{C5435995-F382-439D-815B-13FF540857F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0" y="1008"/>
                  <a:ext cx="576" cy="192"/>
                </a:xfrm>
                <a:prstGeom prst="rect">
                  <a:avLst/>
                </a:prstGeom>
                <a:solidFill>
                  <a:srgbClr val="CCFFCC"/>
                </a:solidFill>
                <a:ln w="9525" algn="ctr">
                  <a:noFill/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82" name="Text Box 63">
                <a:extLst>
                  <a:ext uri="{FF2B5EF4-FFF2-40B4-BE49-F238E27FC236}">
                    <a16:creationId xmlns:a16="http://schemas.microsoft.com/office/drawing/2014/main" id="{3141B3E3-0045-4B3F-A9CB-B2C077CD300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5400000">
                <a:off x="-203555" y="3568175"/>
                <a:ext cx="1366080" cy="461665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400" b="1" dirty="0">
                    <a:latin typeface="+mn-lt"/>
                  </a:rPr>
                  <a:t>Memory</a:t>
                </a:r>
              </a:p>
            </p:txBody>
          </p:sp>
          <p:sp>
            <p:nvSpPr>
              <p:cNvPr id="83" name="Rectangle 8">
                <a:extLst>
                  <a:ext uri="{FF2B5EF4-FFF2-40B4-BE49-F238E27FC236}">
                    <a16:creationId xmlns:a16="http://schemas.microsoft.com/office/drawing/2014/main" id="{852DA120-9D4F-41ED-A9D0-1CCA8D5637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9253" y="3988633"/>
                <a:ext cx="304800" cy="304800"/>
              </a:xfrm>
              <a:prstGeom prst="rect">
                <a:avLst/>
              </a:prstGeom>
              <a:solidFill>
                <a:srgbClr val="CCCCFF"/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84" name="Rectangle 9">
                <a:extLst>
                  <a:ext uri="{FF2B5EF4-FFF2-40B4-BE49-F238E27FC236}">
                    <a16:creationId xmlns:a16="http://schemas.microsoft.com/office/drawing/2014/main" id="{CF8D7FF8-53DA-4553-86CC-1C516703AC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9253" y="2769433"/>
                <a:ext cx="304800" cy="304800"/>
              </a:xfrm>
              <a:prstGeom prst="rect">
                <a:avLst/>
              </a:prstGeom>
              <a:solidFill>
                <a:srgbClr val="CCCCFF"/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85" name="Rectangle 10">
                <a:extLst>
                  <a:ext uri="{FF2B5EF4-FFF2-40B4-BE49-F238E27FC236}">
                    <a16:creationId xmlns:a16="http://schemas.microsoft.com/office/drawing/2014/main" id="{800FB549-212E-4471-BB82-AC714B405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9253" y="1550233"/>
                <a:ext cx="304800" cy="304800"/>
              </a:xfrm>
              <a:prstGeom prst="rect">
                <a:avLst/>
              </a:prstGeom>
              <a:solidFill>
                <a:srgbClr val="CCCCFF"/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86" name="Rectangle 11">
                <a:extLst>
                  <a:ext uri="{FF2B5EF4-FFF2-40B4-BE49-F238E27FC236}">
                    <a16:creationId xmlns:a16="http://schemas.microsoft.com/office/drawing/2014/main" id="{598ECB46-96BA-4874-B8DC-4B50F317CF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9253" y="5207833"/>
                <a:ext cx="304800" cy="304800"/>
              </a:xfrm>
              <a:prstGeom prst="rect">
                <a:avLst/>
              </a:prstGeom>
              <a:solidFill>
                <a:srgbClr val="CCCCFF"/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87" name="Text Box 16">
                <a:extLst>
                  <a:ext uri="{FF2B5EF4-FFF2-40B4-BE49-F238E27FC236}">
                    <a16:creationId xmlns:a16="http://schemas.microsoft.com/office/drawing/2014/main" id="{BD412E14-64E8-42F4-AD8F-28F1BEE91F8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3453" y="1550233"/>
                <a:ext cx="1039813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>
                    <a:latin typeface="Courier New" pitchFamily="49" charset="0"/>
                    <a:cs typeface="Courier New" pitchFamily="49" charset="0"/>
                  </a:rPr>
                  <a:t>..00000</a:t>
                </a:r>
              </a:p>
            </p:txBody>
          </p:sp>
          <p:grpSp>
            <p:nvGrpSpPr>
              <p:cNvPr id="88" name="Group 67">
                <a:extLst>
                  <a:ext uri="{FF2B5EF4-FFF2-40B4-BE49-F238E27FC236}">
                    <a16:creationId xmlns:a16="http://schemas.microsoft.com/office/drawing/2014/main" id="{12BAB940-3CFD-4B36-99E2-5BC95EB6BBF3}"/>
                  </a:ext>
                </a:extLst>
              </p:cNvPr>
              <p:cNvGrpSpPr/>
              <p:nvPr/>
            </p:nvGrpSpPr>
            <p:grpSpPr>
              <a:xfrm>
                <a:off x="1544053" y="1550233"/>
                <a:ext cx="1066800" cy="4876800"/>
                <a:chOff x="1447800" y="1219200"/>
                <a:chExt cx="1524000" cy="4876800"/>
              </a:xfrm>
            </p:grpSpPr>
            <p:sp>
              <p:nvSpPr>
                <p:cNvPr id="89" name="Rectangle 12">
                  <a:extLst>
                    <a:ext uri="{FF2B5EF4-FFF2-40B4-BE49-F238E27FC236}">
                      <a16:creationId xmlns:a16="http://schemas.microsoft.com/office/drawing/2014/main" id="{887C1730-906C-4B51-9FEC-820EF8901EF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47800" y="1219200"/>
                  <a:ext cx="1524000" cy="304800"/>
                </a:xfrm>
                <a:prstGeom prst="rect">
                  <a:avLst/>
                </a:prstGeom>
                <a:solidFill>
                  <a:srgbClr val="C00000"/>
                </a:solidFill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90" name="Rectangle 13">
                  <a:extLst>
                    <a:ext uri="{FF2B5EF4-FFF2-40B4-BE49-F238E27FC236}">
                      <a16:creationId xmlns:a16="http://schemas.microsoft.com/office/drawing/2014/main" id="{950631E5-6094-4555-879C-1C4A46A442E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47800" y="1524000"/>
                  <a:ext cx="1524000" cy="304800"/>
                </a:xfrm>
                <a:prstGeom prst="rect">
                  <a:avLst/>
                </a:prstGeom>
                <a:solidFill>
                  <a:srgbClr val="3333FF"/>
                </a:solidFill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91" name="Rectangle 14">
                  <a:extLst>
                    <a:ext uri="{FF2B5EF4-FFF2-40B4-BE49-F238E27FC236}">
                      <a16:creationId xmlns:a16="http://schemas.microsoft.com/office/drawing/2014/main" id="{CDF55359-E9F4-479E-8319-92B3F13BA0A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47800" y="1828800"/>
                  <a:ext cx="1524000" cy="304800"/>
                </a:xfrm>
                <a:prstGeom prst="rect">
                  <a:avLst/>
                </a:prstGeom>
                <a:solidFill>
                  <a:srgbClr val="99CC00"/>
                </a:solidFill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92" name="Rectangle 15">
                  <a:extLst>
                    <a:ext uri="{FF2B5EF4-FFF2-40B4-BE49-F238E27FC236}">
                      <a16:creationId xmlns:a16="http://schemas.microsoft.com/office/drawing/2014/main" id="{182F607A-C43B-454A-97DF-2D60AC817D4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47800" y="2133600"/>
                  <a:ext cx="1524000" cy="304800"/>
                </a:xfrm>
                <a:prstGeom prst="rect">
                  <a:avLst/>
                </a:prstGeom>
                <a:solidFill>
                  <a:srgbClr val="E2F96F"/>
                </a:solidFill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93" name="Rectangle 17">
                  <a:extLst>
                    <a:ext uri="{FF2B5EF4-FFF2-40B4-BE49-F238E27FC236}">
                      <a16:creationId xmlns:a16="http://schemas.microsoft.com/office/drawing/2014/main" id="{CF1763A4-BC2A-4AFB-8BE2-D7B643B6B0F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47800" y="2438400"/>
                  <a:ext cx="1524000" cy="304800"/>
                </a:xfrm>
                <a:prstGeom prst="rect">
                  <a:avLst/>
                </a:prstGeom>
                <a:solidFill>
                  <a:srgbClr val="C00000"/>
                </a:solidFill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94" name="Rectangle 18">
                  <a:extLst>
                    <a:ext uri="{FF2B5EF4-FFF2-40B4-BE49-F238E27FC236}">
                      <a16:creationId xmlns:a16="http://schemas.microsoft.com/office/drawing/2014/main" id="{6135EB8D-469D-4AA1-BA98-D492FCA911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47800" y="2743200"/>
                  <a:ext cx="1524000" cy="304800"/>
                </a:xfrm>
                <a:prstGeom prst="rect">
                  <a:avLst/>
                </a:prstGeom>
                <a:solidFill>
                  <a:srgbClr val="3333FF"/>
                </a:solidFill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95" name="Rectangle 19">
                  <a:extLst>
                    <a:ext uri="{FF2B5EF4-FFF2-40B4-BE49-F238E27FC236}">
                      <a16:creationId xmlns:a16="http://schemas.microsoft.com/office/drawing/2014/main" id="{F1A1BE12-C32C-477A-8E5E-900B214C6D4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47800" y="3048000"/>
                  <a:ext cx="1524000" cy="304800"/>
                </a:xfrm>
                <a:prstGeom prst="rect">
                  <a:avLst/>
                </a:prstGeom>
                <a:solidFill>
                  <a:srgbClr val="99CC00"/>
                </a:solidFill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96" name="Rectangle 20">
                  <a:extLst>
                    <a:ext uri="{FF2B5EF4-FFF2-40B4-BE49-F238E27FC236}">
                      <a16:creationId xmlns:a16="http://schemas.microsoft.com/office/drawing/2014/main" id="{6C3A3BC6-6CCE-4CA4-A683-F8C3FDD745A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47800" y="3352800"/>
                  <a:ext cx="1524000" cy="304800"/>
                </a:xfrm>
                <a:prstGeom prst="rect">
                  <a:avLst/>
                </a:prstGeom>
                <a:solidFill>
                  <a:srgbClr val="E2F96F"/>
                </a:solidFill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97" name="Rectangle 21">
                  <a:extLst>
                    <a:ext uri="{FF2B5EF4-FFF2-40B4-BE49-F238E27FC236}">
                      <a16:creationId xmlns:a16="http://schemas.microsoft.com/office/drawing/2014/main" id="{4127E948-CC6B-4008-A3B4-7D6D2948288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47800" y="3657600"/>
                  <a:ext cx="1524000" cy="304800"/>
                </a:xfrm>
                <a:prstGeom prst="rect">
                  <a:avLst/>
                </a:prstGeom>
                <a:solidFill>
                  <a:srgbClr val="C00000"/>
                </a:solidFill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98" name="Rectangle 22">
                  <a:extLst>
                    <a:ext uri="{FF2B5EF4-FFF2-40B4-BE49-F238E27FC236}">
                      <a16:creationId xmlns:a16="http://schemas.microsoft.com/office/drawing/2014/main" id="{B863FD4E-6524-44BC-971D-1FD20503D9C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47800" y="3962400"/>
                  <a:ext cx="1524000" cy="304800"/>
                </a:xfrm>
                <a:prstGeom prst="rect">
                  <a:avLst/>
                </a:prstGeom>
                <a:solidFill>
                  <a:srgbClr val="3333FF"/>
                </a:solidFill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99" name="Rectangle 23">
                  <a:extLst>
                    <a:ext uri="{FF2B5EF4-FFF2-40B4-BE49-F238E27FC236}">
                      <a16:creationId xmlns:a16="http://schemas.microsoft.com/office/drawing/2014/main" id="{0B197D6C-3C18-4B31-ABAD-8AD44993E7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47800" y="4267200"/>
                  <a:ext cx="1524000" cy="304800"/>
                </a:xfrm>
                <a:prstGeom prst="rect">
                  <a:avLst/>
                </a:prstGeom>
                <a:solidFill>
                  <a:srgbClr val="99CC00"/>
                </a:solidFill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00" name="Rectangle 24">
                  <a:extLst>
                    <a:ext uri="{FF2B5EF4-FFF2-40B4-BE49-F238E27FC236}">
                      <a16:creationId xmlns:a16="http://schemas.microsoft.com/office/drawing/2014/main" id="{AD2E6971-A31D-4EED-91F2-9099E483B58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47800" y="4572000"/>
                  <a:ext cx="1524000" cy="304800"/>
                </a:xfrm>
                <a:prstGeom prst="rect">
                  <a:avLst/>
                </a:prstGeom>
                <a:solidFill>
                  <a:srgbClr val="E2F96F"/>
                </a:solidFill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01" name="Rectangle 25">
                  <a:extLst>
                    <a:ext uri="{FF2B5EF4-FFF2-40B4-BE49-F238E27FC236}">
                      <a16:creationId xmlns:a16="http://schemas.microsoft.com/office/drawing/2014/main" id="{0AF74CED-DA60-4971-A291-71F0D8B6E69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47800" y="4876800"/>
                  <a:ext cx="1524000" cy="304800"/>
                </a:xfrm>
                <a:prstGeom prst="rect">
                  <a:avLst/>
                </a:prstGeom>
                <a:solidFill>
                  <a:srgbClr val="C00000"/>
                </a:solidFill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02" name="Rectangle 26">
                  <a:extLst>
                    <a:ext uri="{FF2B5EF4-FFF2-40B4-BE49-F238E27FC236}">
                      <a16:creationId xmlns:a16="http://schemas.microsoft.com/office/drawing/2014/main" id="{173FBF82-F71E-4FAE-BC06-BB2D0BB0534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47800" y="5181600"/>
                  <a:ext cx="1524000" cy="304800"/>
                </a:xfrm>
                <a:prstGeom prst="rect">
                  <a:avLst/>
                </a:prstGeom>
                <a:solidFill>
                  <a:srgbClr val="3333FF"/>
                </a:solidFill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03" name="Rectangle 27">
                  <a:extLst>
                    <a:ext uri="{FF2B5EF4-FFF2-40B4-BE49-F238E27FC236}">
                      <a16:creationId xmlns:a16="http://schemas.microsoft.com/office/drawing/2014/main" id="{96B8DE0B-FE07-47A8-90FE-25774483919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47800" y="5486400"/>
                  <a:ext cx="1524000" cy="304800"/>
                </a:xfrm>
                <a:prstGeom prst="rect">
                  <a:avLst/>
                </a:prstGeom>
                <a:solidFill>
                  <a:srgbClr val="99CC00"/>
                </a:solidFill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04" name="Rectangle 28">
                  <a:extLst>
                    <a:ext uri="{FF2B5EF4-FFF2-40B4-BE49-F238E27FC236}">
                      <a16:creationId xmlns:a16="http://schemas.microsoft.com/office/drawing/2014/main" id="{917DCB3B-F1FC-4982-BD14-438870B9DAB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47800" y="5791200"/>
                  <a:ext cx="1524000" cy="304800"/>
                </a:xfrm>
                <a:prstGeom prst="rect">
                  <a:avLst/>
                </a:prstGeom>
                <a:solidFill>
                  <a:srgbClr val="E2F96F"/>
                </a:solidFill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105" name="Text Box 29">
                <a:extLst>
                  <a:ext uri="{FF2B5EF4-FFF2-40B4-BE49-F238E27FC236}">
                    <a16:creationId xmlns:a16="http://schemas.microsoft.com/office/drawing/2014/main" id="{66036749-B659-403E-93C1-BDA5821FB6B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3453" y="1867733"/>
                <a:ext cx="1039813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>
                    <a:latin typeface="Courier New" pitchFamily="49" charset="0"/>
                    <a:cs typeface="Courier New" pitchFamily="49" charset="0"/>
                  </a:rPr>
                  <a:t>..00001</a:t>
                </a:r>
              </a:p>
            </p:txBody>
          </p:sp>
          <p:sp>
            <p:nvSpPr>
              <p:cNvPr id="106" name="Text Box 30">
                <a:extLst>
                  <a:ext uri="{FF2B5EF4-FFF2-40B4-BE49-F238E27FC236}">
                    <a16:creationId xmlns:a16="http://schemas.microsoft.com/office/drawing/2014/main" id="{671DF2E1-6F43-47E0-820B-CB1535464C0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3453" y="2172533"/>
                <a:ext cx="1039813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>
                    <a:latin typeface="Courier New" pitchFamily="49" charset="0"/>
                    <a:cs typeface="Courier New" pitchFamily="49" charset="0"/>
                  </a:rPr>
                  <a:t>..00010</a:t>
                </a:r>
              </a:p>
            </p:txBody>
          </p:sp>
          <p:sp>
            <p:nvSpPr>
              <p:cNvPr id="107" name="Text Box 31">
                <a:extLst>
                  <a:ext uri="{FF2B5EF4-FFF2-40B4-BE49-F238E27FC236}">
                    <a16:creationId xmlns:a16="http://schemas.microsoft.com/office/drawing/2014/main" id="{483EC472-0A26-44A0-A06F-8D3EE1D2427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69328" y="2477333"/>
                <a:ext cx="1039813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>
                    <a:latin typeface="Courier New" pitchFamily="49" charset="0"/>
                    <a:cs typeface="Courier New" pitchFamily="49" charset="0"/>
                  </a:rPr>
                  <a:t>..00011</a:t>
                </a:r>
              </a:p>
            </p:txBody>
          </p:sp>
          <p:sp>
            <p:nvSpPr>
              <p:cNvPr id="108" name="Text Box 32">
                <a:extLst>
                  <a:ext uri="{FF2B5EF4-FFF2-40B4-BE49-F238E27FC236}">
                    <a16:creationId xmlns:a16="http://schemas.microsoft.com/office/drawing/2014/main" id="{8CF54F82-1A9D-49C4-9E8D-9ACA03FE3C2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3453" y="2782133"/>
                <a:ext cx="1039813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>
                    <a:latin typeface="Courier New" pitchFamily="49" charset="0"/>
                    <a:cs typeface="Courier New" pitchFamily="49" charset="0"/>
                  </a:rPr>
                  <a:t>..00100</a:t>
                </a:r>
              </a:p>
            </p:txBody>
          </p:sp>
          <p:sp>
            <p:nvSpPr>
              <p:cNvPr id="109" name="Text Box 33">
                <a:extLst>
                  <a:ext uri="{FF2B5EF4-FFF2-40B4-BE49-F238E27FC236}">
                    <a16:creationId xmlns:a16="http://schemas.microsoft.com/office/drawing/2014/main" id="{FBCBFEC2-2CC1-46E6-976F-454ED681AA7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69328" y="3086933"/>
                <a:ext cx="1039813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>
                    <a:latin typeface="Courier New" pitchFamily="49" charset="0"/>
                    <a:cs typeface="Courier New" pitchFamily="49" charset="0"/>
                  </a:rPr>
                  <a:t>..00101</a:t>
                </a:r>
              </a:p>
            </p:txBody>
          </p:sp>
          <p:sp>
            <p:nvSpPr>
              <p:cNvPr id="110" name="Text Box 34">
                <a:extLst>
                  <a:ext uri="{FF2B5EF4-FFF2-40B4-BE49-F238E27FC236}">
                    <a16:creationId xmlns:a16="http://schemas.microsoft.com/office/drawing/2014/main" id="{C5F45CD9-70B9-43A8-9DBC-AD1FE36F1D6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69328" y="3391733"/>
                <a:ext cx="1039813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>
                    <a:latin typeface="Courier New" pitchFamily="49" charset="0"/>
                    <a:cs typeface="Courier New" pitchFamily="49" charset="0"/>
                  </a:rPr>
                  <a:t>..00110</a:t>
                </a:r>
              </a:p>
            </p:txBody>
          </p:sp>
          <p:sp>
            <p:nvSpPr>
              <p:cNvPr id="111" name="Text Box 35">
                <a:extLst>
                  <a:ext uri="{FF2B5EF4-FFF2-40B4-BE49-F238E27FC236}">
                    <a16:creationId xmlns:a16="http://schemas.microsoft.com/office/drawing/2014/main" id="{A392190F-43D3-44DA-917B-C0A48663B0F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5203" y="3696533"/>
                <a:ext cx="1039813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>
                    <a:latin typeface="Courier New" pitchFamily="49" charset="0"/>
                    <a:cs typeface="Courier New" pitchFamily="49" charset="0"/>
                  </a:rPr>
                  <a:t>..00111</a:t>
                </a:r>
              </a:p>
            </p:txBody>
          </p:sp>
          <p:sp>
            <p:nvSpPr>
              <p:cNvPr id="112" name="Text Box 36">
                <a:extLst>
                  <a:ext uri="{FF2B5EF4-FFF2-40B4-BE49-F238E27FC236}">
                    <a16:creationId xmlns:a16="http://schemas.microsoft.com/office/drawing/2014/main" id="{428F0E50-8C01-41A3-9D19-DA0C480C1F5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3453" y="4001333"/>
                <a:ext cx="1039813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>
                    <a:latin typeface="Courier New" pitchFamily="49" charset="0"/>
                    <a:cs typeface="Courier New" pitchFamily="49" charset="0"/>
                  </a:rPr>
                  <a:t>..01000</a:t>
                </a:r>
              </a:p>
            </p:txBody>
          </p:sp>
          <p:sp>
            <p:nvSpPr>
              <p:cNvPr id="113" name="Text Box 37">
                <a:extLst>
                  <a:ext uri="{FF2B5EF4-FFF2-40B4-BE49-F238E27FC236}">
                    <a16:creationId xmlns:a16="http://schemas.microsoft.com/office/drawing/2014/main" id="{10AFF115-4CFA-472E-8109-9516F7D6177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69328" y="4306133"/>
                <a:ext cx="1039813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>
                    <a:latin typeface="Courier New" pitchFamily="49" charset="0"/>
                    <a:cs typeface="Courier New" pitchFamily="49" charset="0"/>
                  </a:rPr>
                  <a:t>..01001</a:t>
                </a:r>
              </a:p>
            </p:txBody>
          </p:sp>
          <p:sp>
            <p:nvSpPr>
              <p:cNvPr id="114" name="Text Box 38">
                <a:extLst>
                  <a:ext uri="{FF2B5EF4-FFF2-40B4-BE49-F238E27FC236}">
                    <a16:creationId xmlns:a16="http://schemas.microsoft.com/office/drawing/2014/main" id="{95D43144-C4F8-46C8-A107-C4D037D0BE4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69328" y="4610933"/>
                <a:ext cx="1039813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>
                    <a:latin typeface="Courier New" pitchFamily="49" charset="0"/>
                    <a:cs typeface="Courier New" pitchFamily="49" charset="0"/>
                  </a:rPr>
                  <a:t>..01010</a:t>
                </a:r>
              </a:p>
            </p:txBody>
          </p:sp>
          <p:sp>
            <p:nvSpPr>
              <p:cNvPr id="115" name="Text Box 39">
                <a:extLst>
                  <a:ext uri="{FF2B5EF4-FFF2-40B4-BE49-F238E27FC236}">
                    <a16:creationId xmlns:a16="http://schemas.microsoft.com/office/drawing/2014/main" id="{6A9580D4-C176-4247-9365-248020FA608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5203" y="4915733"/>
                <a:ext cx="1039813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>
                    <a:latin typeface="Courier New" pitchFamily="49" charset="0"/>
                    <a:cs typeface="Courier New" pitchFamily="49" charset="0"/>
                  </a:rPr>
                  <a:t>..01011</a:t>
                </a:r>
              </a:p>
            </p:txBody>
          </p:sp>
          <p:sp>
            <p:nvSpPr>
              <p:cNvPr id="116" name="Text Box 40">
                <a:extLst>
                  <a:ext uri="{FF2B5EF4-FFF2-40B4-BE49-F238E27FC236}">
                    <a16:creationId xmlns:a16="http://schemas.microsoft.com/office/drawing/2014/main" id="{9E28B8D9-9F95-4A2C-8D98-FBEC916298A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69328" y="5220533"/>
                <a:ext cx="1039813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>
                    <a:latin typeface="Courier New" pitchFamily="49" charset="0"/>
                    <a:cs typeface="Courier New" pitchFamily="49" charset="0"/>
                  </a:rPr>
                  <a:t>..01100</a:t>
                </a:r>
              </a:p>
            </p:txBody>
          </p:sp>
          <p:sp>
            <p:nvSpPr>
              <p:cNvPr id="117" name="Text Box 41">
                <a:extLst>
                  <a:ext uri="{FF2B5EF4-FFF2-40B4-BE49-F238E27FC236}">
                    <a16:creationId xmlns:a16="http://schemas.microsoft.com/office/drawing/2014/main" id="{F5BF4ACA-F39F-400D-8859-7E69720198E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5203" y="5525333"/>
                <a:ext cx="1039813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>
                    <a:latin typeface="Courier New" pitchFamily="49" charset="0"/>
                    <a:cs typeface="Courier New" pitchFamily="49" charset="0"/>
                  </a:rPr>
                  <a:t>..01101</a:t>
                </a:r>
              </a:p>
            </p:txBody>
          </p:sp>
          <p:sp>
            <p:nvSpPr>
              <p:cNvPr id="118" name="Text Box 42">
                <a:extLst>
                  <a:ext uri="{FF2B5EF4-FFF2-40B4-BE49-F238E27FC236}">
                    <a16:creationId xmlns:a16="http://schemas.microsoft.com/office/drawing/2014/main" id="{4D84284C-A9EA-4BE7-8F55-264ADFDDE20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5203" y="5830133"/>
                <a:ext cx="1039813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>
                    <a:latin typeface="Courier New" pitchFamily="49" charset="0"/>
                    <a:cs typeface="Courier New" pitchFamily="49" charset="0"/>
                  </a:rPr>
                  <a:t>..01110</a:t>
                </a:r>
              </a:p>
            </p:txBody>
          </p:sp>
          <p:sp>
            <p:nvSpPr>
              <p:cNvPr id="119" name="Text Box 43">
                <a:extLst>
                  <a:ext uri="{FF2B5EF4-FFF2-40B4-BE49-F238E27FC236}">
                    <a16:creationId xmlns:a16="http://schemas.microsoft.com/office/drawing/2014/main" id="{8DE54BB3-4B56-4C0D-B414-E2EA7825242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1078" y="6134933"/>
                <a:ext cx="1039813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>
                    <a:latin typeface="Courier New" pitchFamily="49" charset="0"/>
                    <a:cs typeface="Courier New" pitchFamily="49" charset="0"/>
                  </a:rPr>
                  <a:t>..01111</a:t>
                </a:r>
              </a:p>
            </p:txBody>
          </p:sp>
          <p:sp>
            <p:nvSpPr>
              <p:cNvPr id="120" name="Text Box 44">
                <a:extLst>
                  <a:ext uri="{FF2B5EF4-FFF2-40B4-BE49-F238E27FC236}">
                    <a16:creationId xmlns:a16="http://schemas.microsoft.com/office/drawing/2014/main" id="{F1780303-5558-42A6-9CDC-B011DCC5C38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3563" y="1169233"/>
                <a:ext cx="3002617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 dirty="0">
                    <a:solidFill>
                      <a:srgbClr val="0000CC"/>
                    </a:solidFill>
                    <a:latin typeface="+mn-lt"/>
                  </a:rPr>
                  <a:t>Block Number </a:t>
                </a:r>
                <a:r>
                  <a:rPr lang="en-US" sz="1600" dirty="0">
                    <a:solidFill>
                      <a:srgbClr val="C00000"/>
                    </a:solidFill>
                    <a:latin typeface="+mn-lt"/>
                  </a:rPr>
                  <a:t>(Not Address!) </a:t>
                </a:r>
              </a:p>
            </p:txBody>
          </p:sp>
        </p:grp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66AD23F3-11C6-424B-B302-23C2817C960D}"/>
                </a:ext>
              </a:extLst>
            </p:cNvPr>
            <p:cNvSpPr txBox="1"/>
            <p:nvPr/>
          </p:nvSpPr>
          <p:spPr>
            <a:xfrm>
              <a:off x="1389522" y="1534773"/>
              <a:ext cx="139223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1600" dirty="0">
                  <a:solidFill>
                    <a:schemeClr val="bg1"/>
                  </a:solidFill>
                </a:rPr>
                <a:t>One block</a:t>
              </a:r>
            </a:p>
          </p:txBody>
        </p:sp>
      </p:grpSp>
      <p:grpSp>
        <p:nvGrpSpPr>
          <p:cNvPr id="14341" name="Group 14340">
            <a:extLst>
              <a:ext uri="{FF2B5EF4-FFF2-40B4-BE49-F238E27FC236}">
                <a16:creationId xmlns:a16="http://schemas.microsoft.com/office/drawing/2014/main" id="{38892D53-4052-4450-85F9-79DBAF4A36B8}"/>
              </a:ext>
            </a:extLst>
          </p:cNvPr>
          <p:cNvGrpSpPr/>
          <p:nvPr/>
        </p:nvGrpSpPr>
        <p:grpSpPr>
          <a:xfrm>
            <a:off x="5832141" y="1245433"/>
            <a:ext cx="2276225" cy="1862554"/>
            <a:chOff x="5832141" y="1245433"/>
            <a:chExt cx="2276225" cy="1862554"/>
          </a:xfrm>
        </p:grpSpPr>
        <p:grpSp>
          <p:nvGrpSpPr>
            <p:cNvPr id="14336" name="Group 14335">
              <a:extLst>
                <a:ext uri="{FF2B5EF4-FFF2-40B4-BE49-F238E27FC236}">
                  <a16:creationId xmlns:a16="http://schemas.microsoft.com/office/drawing/2014/main" id="{3FD1A0DD-9961-4C9A-863E-9A49EEA4FD85}"/>
                </a:ext>
              </a:extLst>
            </p:cNvPr>
            <p:cNvGrpSpPr/>
            <p:nvPr/>
          </p:nvGrpSpPr>
          <p:grpSpPr>
            <a:xfrm>
              <a:off x="5963653" y="1245433"/>
              <a:ext cx="2144713" cy="1862554"/>
              <a:chOff x="5987716" y="1174640"/>
              <a:chExt cx="2144713" cy="1862554"/>
            </a:xfrm>
          </p:grpSpPr>
          <p:sp>
            <p:nvSpPr>
              <p:cNvPr id="125" name="Text Box 55">
                <a:extLst>
                  <a:ext uri="{FF2B5EF4-FFF2-40B4-BE49-F238E27FC236}">
                    <a16:creationId xmlns:a16="http://schemas.microsoft.com/office/drawing/2014/main" id="{B89AC81F-AE61-4E13-B5BD-52BF2AF41AE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132304" y="1492140"/>
                <a:ext cx="428625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>
                    <a:latin typeface="Courier New" pitchFamily="49" charset="0"/>
                    <a:cs typeface="Courier New" pitchFamily="49" charset="0"/>
                  </a:rPr>
                  <a:t>00</a:t>
                </a:r>
              </a:p>
            </p:txBody>
          </p:sp>
          <p:sp>
            <p:nvSpPr>
              <p:cNvPr id="126" name="Text Box 56">
                <a:extLst>
                  <a:ext uri="{FF2B5EF4-FFF2-40B4-BE49-F238E27FC236}">
                    <a16:creationId xmlns:a16="http://schemas.microsoft.com/office/drawing/2014/main" id="{2AED8C50-C27A-4CD2-A352-AB5B9758B63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116429" y="1796940"/>
                <a:ext cx="428625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>
                    <a:latin typeface="Courier New" pitchFamily="49" charset="0"/>
                    <a:cs typeface="Courier New" pitchFamily="49" charset="0"/>
                  </a:rPr>
                  <a:t>01</a:t>
                </a:r>
              </a:p>
            </p:txBody>
          </p:sp>
          <p:sp>
            <p:nvSpPr>
              <p:cNvPr id="127" name="Text Box 57">
                <a:extLst>
                  <a:ext uri="{FF2B5EF4-FFF2-40B4-BE49-F238E27FC236}">
                    <a16:creationId xmlns:a16="http://schemas.microsoft.com/office/drawing/2014/main" id="{109C24C7-3848-4E14-B5A4-E24728098B2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116429" y="2101740"/>
                <a:ext cx="428625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>
                    <a:latin typeface="Courier New" pitchFamily="49" charset="0"/>
                    <a:cs typeface="Courier New" pitchFamily="49" charset="0"/>
                  </a:rPr>
                  <a:t>10</a:t>
                </a:r>
              </a:p>
            </p:txBody>
          </p:sp>
          <p:sp>
            <p:nvSpPr>
              <p:cNvPr id="128" name="Text Box 58">
                <a:extLst>
                  <a:ext uri="{FF2B5EF4-FFF2-40B4-BE49-F238E27FC236}">
                    <a16:creationId xmlns:a16="http://schemas.microsoft.com/office/drawing/2014/main" id="{327901B4-74A3-4C98-AA70-002582D8FAE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100554" y="2406540"/>
                <a:ext cx="428625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>
                    <a:latin typeface="Courier New" pitchFamily="49" charset="0"/>
                    <a:cs typeface="Courier New" pitchFamily="49" charset="0"/>
                  </a:rPr>
                  <a:t>11</a:t>
                </a:r>
              </a:p>
            </p:txBody>
          </p:sp>
          <p:sp>
            <p:nvSpPr>
              <p:cNvPr id="129" name="Text Box 59">
                <a:extLst>
                  <a:ext uri="{FF2B5EF4-FFF2-40B4-BE49-F238E27FC236}">
                    <a16:creationId xmlns:a16="http://schemas.microsoft.com/office/drawing/2014/main" id="{B9EDC6EB-3D56-4959-86FC-8F60A0010A9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40191" y="1174640"/>
                <a:ext cx="1392238" cy="338138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 dirty="0">
                    <a:solidFill>
                      <a:srgbClr val="660066"/>
                    </a:solidFill>
                    <a:latin typeface="+mn-lt"/>
                  </a:rPr>
                  <a:t>Cache Index</a:t>
                </a:r>
              </a:p>
            </p:txBody>
          </p:sp>
          <p:sp>
            <p:nvSpPr>
              <p:cNvPr id="133" name="Text Box 49">
                <a:extLst>
                  <a:ext uri="{FF2B5EF4-FFF2-40B4-BE49-F238E27FC236}">
                    <a16:creationId xmlns:a16="http://schemas.microsoft.com/office/drawing/2014/main" id="{A1121982-C812-4912-BA30-BF108C5C34C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79699" y="2698640"/>
                <a:ext cx="798617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 dirty="0">
                    <a:latin typeface="+mn-lt"/>
                  </a:rPr>
                  <a:t>Cache</a:t>
                </a:r>
              </a:p>
            </p:txBody>
          </p:sp>
          <p:grpSp>
            <p:nvGrpSpPr>
              <p:cNvPr id="134" name="Group 68">
                <a:extLst>
                  <a:ext uri="{FF2B5EF4-FFF2-40B4-BE49-F238E27FC236}">
                    <a16:creationId xmlns:a16="http://schemas.microsoft.com/office/drawing/2014/main" id="{3AD70463-631F-400C-8E5A-4B3E27D0A9DF}"/>
                  </a:ext>
                </a:extLst>
              </p:cNvPr>
              <p:cNvGrpSpPr/>
              <p:nvPr/>
            </p:nvGrpSpPr>
            <p:grpSpPr>
              <a:xfrm>
                <a:off x="5987716" y="1479440"/>
                <a:ext cx="1143000" cy="1219200"/>
                <a:chOff x="5486400" y="1219200"/>
                <a:chExt cx="1524000" cy="1219200"/>
              </a:xfrm>
            </p:grpSpPr>
            <p:sp>
              <p:nvSpPr>
                <p:cNvPr id="135" name="Rectangle 45">
                  <a:extLst>
                    <a:ext uri="{FF2B5EF4-FFF2-40B4-BE49-F238E27FC236}">
                      <a16:creationId xmlns:a16="http://schemas.microsoft.com/office/drawing/2014/main" id="{BAF17FFB-1DF7-4ECD-810A-8DFDAC6E91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486400" y="1219200"/>
                  <a:ext cx="1524000" cy="304800"/>
                </a:xfrm>
                <a:prstGeom prst="rect">
                  <a:avLst/>
                </a:prstGeom>
                <a:solidFill>
                  <a:srgbClr val="C00000"/>
                </a:solidFill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36" name="Rectangle 46">
                  <a:extLst>
                    <a:ext uri="{FF2B5EF4-FFF2-40B4-BE49-F238E27FC236}">
                      <a16:creationId xmlns:a16="http://schemas.microsoft.com/office/drawing/2014/main" id="{CA776C87-4C58-4A40-80E6-5D9BE4EB1DF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486400" y="1524000"/>
                  <a:ext cx="1524000" cy="304800"/>
                </a:xfrm>
                <a:prstGeom prst="rect">
                  <a:avLst/>
                </a:prstGeom>
                <a:solidFill>
                  <a:srgbClr val="3333FF"/>
                </a:solidFill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37" name="Rectangle 47">
                  <a:extLst>
                    <a:ext uri="{FF2B5EF4-FFF2-40B4-BE49-F238E27FC236}">
                      <a16:creationId xmlns:a16="http://schemas.microsoft.com/office/drawing/2014/main" id="{6DB88445-2D32-46F5-97BE-4BFCD7A103D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486400" y="1828800"/>
                  <a:ext cx="1524000" cy="304800"/>
                </a:xfrm>
                <a:prstGeom prst="rect">
                  <a:avLst/>
                </a:prstGeom>
                <a:solidFill>
                  <a:srgbClr val="99CC00"/>
                </a:solidFill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38" name="Rectangle 48">
                  <a:extLst>
                    <a:ext uri="{FF2B5EF4-FFF2-40B4-BE49-F238E27FC236}">
                      <a16:creationId xmlns:a16="http://schemas.microsoft.com/office/drawing/2014/main" id="{3703FE47-D86D-43D2-A6A5-04E38B96248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486400" y="2133600"/>
                  <a:ext cx="1524000" cy="304800"/>
                </a:xfrm>
                <a:prstGeom prst="rect">
                  <a:avLst/>
                </a:prstGeom>
                <a:solidFill>
                  <a:srgbClr val="E2F96F"/>
                </a:solidFill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</p:grpSp>
        </p:grp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4F44E924-8FEF-4C6D-9FC4-6A85C3443208}"/>
                </a:ext>
              </a:extLst>
            </p:cNvPr>
            <p:cNvSpPr txBox="1"/>
            <p:nvPr/>
          </p:nvSpPr>
          <p:spPr>
            <a:xfrm>
              <a:off x="5832141" y="1527607"/>
              <a:ext cx="139223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1600" dirty="0">
                  <a:solidFill>
                    <a:schemeClr val="bg1"/>
                  </a:solidFill>
                </a:rPr>
                <a:t>One block</a:t>
              </a:r>
            </a:p>
          </p:txBody>
        </p:sp>
      </p:grpSp>
      <p:grpSp>
        <p:nvGrpSpPr>
          <p:cNvPr id="75" name="Group 128">
            <a:extLst>
              <a:ext uri="{FF2B5EF4-FFF2-40B4-BE49-F238E27FC236}">
                <a16:creationId xmlns:a16="http://schemas.microsoft.com/office/drawing/2014/main" id="{31065795-E329-46E5-9B97-A29DB6CB2F6C}"/>
              </a:ext>
            </a:extLst>
          </p:cNvPr>
          <p:cNvGrpSpPr>
            <a:grpSpLocks/>
          </p:cNvGrpSpPr>
          <p:nvPr/>
        </p:nvGrpSpPr>
        <p:grpSpPr bwMode="auto">
          <a:xfrm>
            <a:off x="49422" y="1733044"/>
            <a:ext cx="534988" cy="714375"/>
            <a:chOff x="2928" y="338"/>
            <a:chExt cx="337" cy="450"/>
          </a:xfrm>
        </p:grpSpPr>
        <p:sp>
          <p:nvSpPr>
            <p:cNvPr id="76" name="Text Box 65">
              <a:extLst>
                <a:ext uri="{FF2B5EF4-FFF2-40B4-BE49-F238E27FC236}">
                  <a16:creationId xmlns:a16="http://schemas.microsoft.com/office/drawing/2014/main" id="{9444662B-E7DB-4CB1-861B-0B92615A7F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" y="576"/>
              <a:ext cx="337" cy="21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C00000"/>
                  </a:solidFill>
                  <a:latin typeface="+mn-lt"/>
                </a:rPr>
                <a:t>Tag</a:t>
              </a:r>
            </a:p>
          </p:txBody>
        </p:sp>
        <p:sp>
          <p:nvSpPr>
            <p:cNvPr id="77" name="Line 66">
              <a:extLst>
                <a:ext uri="{FF2B5EF4-FFF2-40B4-BE49-F238E27FC236}">
                  <a16:creationId xmlns:a16="http://schemas.microsoft.com/office/drawing/2014/main" id="{713D5B85-E5F5-49C7-8ABC-69B4768853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20" y="338"/>
              <a:ext cx="125" cy="286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endParaRPr lang="en-US">
                <a:solidFill>
                  <a:srgbClr val="C00000"/>
                </a:solidFill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47132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" grpId="0" animBg="1"/>
      <p:bldP spid="13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3A81D-F427-9868-4BBB-2C014F000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62A4BA-3B75-1E46-3FD0-B61F51303E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4499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4. Direct Mapped Cache: </a:t>
            </a:r>
            <a:r>
              <a:rPr lang="en-GB" sz="3600" b="1" dirty="0">
                <a:solidFill>
                  <a:srgbClr val="0000FF"/>
                </a:solidFill>
              </a:rPr>
              <a:t>Mapping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#22: Cache I: Direct Mapped Cache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28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39" name="Text Box 27">
            <a:extLst>
              <a:ext uri="{FF2B5EF4-FFF2-40B4-BE49-F238E27FC236}">
                <a16:creationId xmlns:a16="http://schemas.microsoft.com/office/drawing/2014/main" id="{0CA2518B-0EBC-434B-ADBC-21616114EC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9840" y="4491976"/>
            <a:ext cx="3655573" cy="175432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10000"/>
              </a:spcBef>
            </a:pPr>
            <a:r>
              <a:rPr lang="en-US" sz="2000" dirty="0">
                <a:latin typeface="+mn-lt"/>
              </a:rPr>
              <a:t>Cache Block size = 2</a:t>
            </a:r>
            <a:r>
              <a:rPr lang="en-US" sz="2000" baseline="30000" dirty="0">
                <a:latin typeface="+mn-lt"/>
              </a:rPr>
              <a:t>N</a:t>
            </a:r>
            <a:r>
              <a:rPr lang="en-US" sz="2000" dirty="0">
                <a:latin typeface="+mn-lt"/>
              </a:rPr>
              <a:t> bytes</a:t>
            </a:r>
          </a:p>
          <a:p>
            <a:pPr>
              <a:spcBef>
                <a:spcPct val="10000"/>
              </a:spcBef>
            </a:pPr>
            <a:r>
              <a:rPr lang="en-US" sz="2000" dirty="0">
                <a:latin typeface="+mn-lt"/>
              </a:rPr>
              <a:t>Number of cache blocks = 2</a:t>
            </a:r>
            <a:r>
              <a:rPr lang="en-US" sz="2000" baseline="30000" dirty="0">
                <a:latin typeface="+mn-lt"/>
              </a:rPr>
              <a:t>M</a:t>
            </a:r>
          </a:p>
          <a:p>
            <a:pPr>
              <a:spcBef>
                <a:spcPct val="10000"/>
              </a:spcBef>
            </a:pPr>
            <a:r>
              <a:rPr lang="en-US" sz="2000" b="1" dirty="0">
                <a:latin typeface="+mn-lt"/>
              </a:rPr>
              <a:t>Offset</a:t>
            </a:r>
            <a:r>
              <a:rPr lang="en-US" sz="2000" dirty="0">
                <a:latin typeface="+mn-lt"/>
              </a:rPr>
              <a:t> =  </a:t>
            </a:r>
            <a:r>
              <a:rPr lang="en-US" sz="2000" b="1" dirty="0">
                <a:solidFill>
                  <a:srgbClr val="006600"/>
                </a:solidFill>
                <a:latin typeface="+mn-lt"/>
              </a:rPr>
              <a:t>N bits</a:t>
            </a:r>
          </a:p>
          <a:p>
            <a:pPr>
              <a:spcBef>
                <a:spcPct val="10000"/>
              </a:spcBef>
            </a:pPr>
            <a:r>
              <a:rPr lang="en-US" sz="2000" b="1" dirty="0">
                <a:latin typeface="+mn-lt"/>
              </a:rPr>
              <a:t>Index</a:t>
            </a:r>
            <a:r>
              <a:rPr lang="en-US" sz="2000" dirty="0">
                <a:latin typeface="+mn-lt"/>
              </a:rPr>
              <a:t>  = 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M bits</a:t>
            </a:r>
          </a:p>
          <a:p>
            <a:pPr>
              <a:spcBef>
                <a:spcPct val="10000"/>
              </a:spcBef>
            </a:pPr>
            <a:r>
              <a:rPr lang="en-US" sz="2000" b="1" dirty="0">
                <a:latin typeface="+mn-lt"/>
              </a:rPr>
              <a:t>Tag </a:t>
            </a:r>
            <a:r>
              <a:rPr lang="en-US" sz="2000" dirty="0">
                <a:latin typeface="+mn-lt"/>
              </a:rPr>
              <a:t>    =  </a:t>
            </a:r>
            <a:r>
              <a:rPr lang="en-US" sz="2000" b="1" dirty="0">
                <a:solidFill>
                  <a:srgbClr val="C00000"/>
                </a:solidFill>
                <a:latin typeface="+mn-lt"/>
              </a:rPr>
              <a:t>32 – (N + M) bits</a:t>
            </a:r>
            <a:endParaRPr lang="en-US" sz="1800" b="1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140" name="Text Box 16">
            <a:extLst>
              <a:ext uri="{FF2B5EF4-FFF2-40B4-BE49-F238E27FC236}">
                <a16:creationId xmlns:a16="http://schemas.microsoft.com/office/drawing/2014/main" id="{FDFF2D6A-1623-4672-AF15-3EEB019892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3494" y="2424885"/>
            <a:ext cx="4495800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+mn-lt"/>
              </a:rPr>
              <a:t>Cache Block size = 2</a:t>
            </a:r>
            <a:r>
              <a:rPr lang="en-US" sz="2000" baseline="30000" dirty="0">
                <a:latin typeface="+mn-lt"/>
              </a:rPr>
              <a:t>N</a:t>
            </a:r>
            <a:r>
              <a:rPr lang="en-US" sz="2000" dirty="0">
                <a:latin typeface="+mn-lt"/>
              </a:rPr>
              <a:t> bytes</a:t>
            </a:r>
          </a:p>
        </p:txBody>
      </p: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3DE1DF0E-911F-4360-B766-31D4A3DD9145}"/>
              </a:ext>
            </a:extLst>
          </p:cNvPr>
          <p:cNvGrpSpPr/>
          <p:nvPr/>
        </p:nvGrpSpPr>
        <p:grpSpPr>
          <a:xfrm>
            <a:off x="1788694" y="1346417"/>
            <a:ext cx="5105400" cy="1034018"/>
            <a:chOff x="984479" y="2242582"/>
            <a:chExt cx="5105400" cy="1034018"/>
          </a:xfrm>
        </p:grpSpPr>
        <p:sp>
          <p:nvSpPr>
            <p:cNvPr id="144" name="Text Box 74">
              <a:extLst>
                <a:ext uri="{FF2B5EF4-FFF2-40B4-BE49-F238E27FC236}">
                  <a16:creationId xmlns:a16="http://schemas.microsoft.com/office/drawing/2014/main" id="{2A27E2DA-C134-4F22-9FCA-C5ECF8DE2A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63286" y="2242582"/>
              <a:ext cx="2048382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b="1" dirty="0">
                  <a:latin typeface="+mn-lt"/>
                </a:rPr>
                <a:t>Memory Address</a:t>
              </a:r>
            </a:p>
          </p:txBody>
        </p:sp>
        <p:sp>
          <p:nvSpPr>
            <p:cNvPr id="145" name="Text Box 78">
              <a:extLst>
                <a:ext uri="{FF2B5EF4-FFF2-40B4-BE49-F238E27FC236}">
                  <a16:creationId xmlns:a16="http://schemas.microsoft.com/office/drawing/2014/main" id="{77F68206-D357-4C0C-98B2-6B52BFBC2B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4479" y="2547382"/>
              <a:ext cx="412293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+mn-lt"/>
                </a:rPr>
                <a:t>31</a:t>
              </a:r>
            </a:p>
          </p:txBody>
        </p:sp>
        <p:sp>
          <p:nvSpPr>
            <p:cNvPr id="146" name="Text Box 79">
              <a:extLst>
                <a:ext uri="{FF2B5EF4-FFF2-40B4-BE49-F238E27FC236}">
                  <a16:creationId xmlns:a16="http://schemas.microsoft.com/office/drawing/2014/main" id="{64145D1F-31DA-4D6E-B9E4-EF2000103C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81904" y="2547382"/>
              <a:ext cx="307975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+mn-lt"/>
                </a:rPr>
                <a:t>0</a:t>
              </a:r>
            </a:p>
          </p:txBody>
        </p:sp>
        <p:sp>
          <p:nvSpPr>
            <p:cNvPr id="147" name="Text Box 80">
              <a:extLst>
                <a:ext uri="{FF2B5EF4-FFF2-40B4-BE49-F238E27FC236}">
                  <a16:creationId xmlns:a16="http://schemas.microsoft.com/office/drawing/2014/main" id="{26A3B1A6-05D9-433F-A495-CA4F8983B3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37279" y="2547382"/>
              <a:ext cx="522288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+mn-lt"/>
                </a:rPr>
                <a:t>N-1</a:t>
              </a:r>
            </a:p>
          </p:txBody>
        </p:sp>
        <p:sp>
          <p:nvSpPr>
            <p:cNvPr id="148" name="Text Box 81">
              <a:extLst>
                <a:ext uri="{FF2B5EF4-FFF2-40B4-BE49-F238E27FC236}">
                  <a16:creationId xmlns:a16="http://schemas.microsoft.com/office/drawing/2014/main" id="{92AD0A3C-0F68-476E-8227-C6FD8165F0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1337" y="2547382"/>
              <a:ext cx="332142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+mn-lt"/>
                </a:rPr>
                <a:t>N</a:t>
              </a:r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77C4C579-4C00-4FB3-8853-1413D4B8D080}"/>
                </a:ext>
              </a:extLst>
            </p:cNvPr>
            <p:cNvSpPr/>
            <p:nvPr/>
          </p:nvSpPr>
          <p:spPr>
            <a:xfrm>
              <a:off x="1066800" y="2819400"/>
              <a:ext cx="3352800" cy="4572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9B242CF1-B598-4B8D-A234-BFED570FB7D2}"/>
                </a:ext>
              </a:extLst>
            </p:cNvPr>
            <p:cNvSpPr/>
            <p:nvPr/>
          </p:nvSpPr>
          <p:spPr>
            <a:xfrm>
              <a:off x="4419600" y="2819400"/>
              <a:ext cx="1600200" cy="4572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1" name="Group 28">
              <a:extLst>
                <a:ext uri="{FF2B5EF4-FFF2-40B4-BE49-F238E27FC236}">
                  <a16:creationId xmlns:a16="http://schemas.microsoft.com/office/drawing/2014/main" id="{96FDC352-F858-4664-A325-3910965C7F00}"/>
                </a:ext>
              </a:extLst>
            </p:cNvPr>
            <p:cNvGrpSpPr/>
            <p:nvPr/>
          </p:nvGrpSpPr>
          <p:grpSpPr>
            <a:xfrm>
              <a:off x="1066800" y="2852470"/>
              <a:ext cx="3352800" cy="369332"/>
              <a:chOff x="1219200" y="2014270"/>
              <a:chExt cx="3352800" cy="369332"/>
            </a:xfrm>
          </p:grpSpPr>
          <p:sp>
            <p:nvSpPr>
              <p:cNvPr id="155" name="Text Box 75">
                <a:extLst>
                  <a:ext uri="{FF2B5EF4-FFF2-40B4-BE49-F238E27FC236}">
                    <a16:creationId xmlns:a16="http://schemas.microsoft.com/office/drawing/2014/main" id="{160017C6-FF79-4708-8167-A5B95C1E700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10834" y="2014270"/>
                <a:ext cx="1749197" cy="369332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C00000"/>
                    </a:solidFill>
                    <a:latin typeface="+mn-lt"/>
                  </a:rPr>
                  <a:t>Block Number</a:t>
                </a:r>
              </a:p>
            </p:txBody>
          </p:sp>
          <p:sp>
            <p:nvSpPr>
              <p:cNvPr id="156" name="Line 76">
                <a:extLst>
                  <a:ext uri="{FF2B5EF4-FFF2-40B4-BE49-F238E27FC236}">
                    <a16:creationId xmlns:a16="http://schemas.microsoft.com/office/drawing/2014/main" id="{C9043DA2-0C4F-4F86-9711-62C7D27A9B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57600" y="2209800"/>
                <a:ext cx="9144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square">
                <a:spAutoFit/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157" name="Line 77">
                <a:extLst>
                  <a:ext uri="{FF2B5EF4-FFF2-40B4-BE49-F238E27FC236}">
                    <a16:creationId xmlns:a16="http://schemas.microsoft.com/office/drawing/2014/main" id="{CF16B903-42CF-4F12-ABB5-A20DC63873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19200" y="2209800"/>
                <a:ext cx="7620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>
                <a:spAutoFit/>
              </a:bodyPr>
              <a:lstStyle/>
              <a:p>
                <a:endParaRPr lang="en-US">
                  <a:latin typeface="+mn-lt"/>
                </a:endParaRPr>
              </a:p>
            </p:txBody>
          </p:sp>
        </p:grpSp>
        <p:grpSp>
          <p:nvGrpSpPr>
            <p:cNvPr id="152" name="Group 32">
              <a:extLst>
                <a:ext uri="{FF2B5EF4-FFF2-40B4-BE49-F238E27FC236}">
                  <a16:creationId xmlns:a16="http://schemas.microsoft.com/office/drawing/2014/main" id="{17C5F8F0-693F-4176-8AA7-45E7E7F5EBEB}"/>
                </a:ext>
              </a:extLst>
            </p:cNvPr>
            <p:cNvGrpSpPr/>
            <p:nvPr/>
          </p:nvGrpSpPr>
          <p:grpSpPr>
            <a:xfrm>
              <a:off x="4428226" y="2871156"/>
              <a:ext cx="1591574" cy="369332"/>
              <a:chOff x="1600200" y="1988392"/>
              <a:chExt cx="2590800" cy="369332"/>
            </a:xfrm>
          </p:grpSpPr>
          <p:sp>
            <p:nvSpPr>
              <p:cNvPr id="153" name="Line 77">
                <a:extLst>
                  <a:ext uri="{FF2B5EF4-FFF2-40B4-BE49-F238E27FC236}">
                    <a16:creationId xmlns:a16="http://schemas.microsoft.com/office/drawing/2014/main" id="{3394B5A4-5766-49FB-9255-96A6DF4191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600200" y="2166670"/>
                <a:ext cx="25908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triangle"/>
                <a:tailEnd type="triangle" w="med" len="med"/>
              </a:ln>
            </p:spPr>
            <p:txBody>
              <a:bodyPr wrap="square">
                <a:spAutoFit/>
              </a:bodyPr>
              <a:lstStyle/>
              <a:p>
                <a:endParaRPr lang="en-US" dirty="0">
                  <a:latin typeface="+mn-lt"/>
                </a:endParaRPr>
              </a:p>
            </p:txBody>
          </p:sp>
          <p:sp>
            <p:nvSpPr>
              <p:cNvPr id="154" name="Text Box 75">
                <a:extLst>
                  <a:ext uri="{FF2B5EF4-FFF2-40B4-BE49-F238E27FC236}">
                    <a16:creationId xmlns:a16="http://schemas.microsoft.com/office/drawing/2014/main" id="{5C104018-9D44-4410-B414-007C4DC17F1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82319" y="1988392"/>
                <a:ext cx="1488479" cy="36933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006600"/>
                    </a:solidFill>
                    <a:latin typeface="+mn-lt"/>
                  </a:rPr>
                  <a:t>Offset</a:t>
                </a:r>
              </a:p>
            </p:txBody>
          </p:sp>
        </p:grpSp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B3785760-B6D9-43AA-AD51-DC0B6BA1DC5D}"/>
              </a:ext>
            </a:extLst>
          </p:cNvPr>
          <p:cNvGrpSpPr/>
          <p:nvPr/>
        </p:nvGrpSpPr>
        <p:grpSpPr>
          <a:xfrm>
            <a:off x="1785519" y="3348976"/>
            <a:ext cx="5038496" cy="1066800"/>
            <a:chOff x="3124200" y="3429000"/>
            <a:chExt cx="5038496" cy="1066800"/>
          </a:xfrm>
        </p:grpSpPr>
        <p:sp>
          <p:nvSpPr>
            <p:cNvPr id="159" name="Text Box 38">
              <a:extLst>
                <a:ext uri="{FF2B5EF4-FFF2-40B4-BE49-F238E27FC236}">
                  <a16:creationId xmlns:a16="http://schemas.microsoft.com/office/drawing/2014/main" id="{BE472765-4B8B-4C41-A314-6A2E5E0EF8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2500" y="3702050"/>
              <a:ext cx="800100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>
                  <a:latin typeface="+mn-lt"/>
                </a:rPr>
                <a:t>N+M-1</a:t>
              </a:r>
            </a:p>
          </p:txBody>
        </p:sp>
        <p:sp>
          <p:nvSpPr>
            <p:cNvPr id="160" name="Text Box 74">
              <a:extLst>
                <a:ext uri="{FF2B5EF4-FFF2-40B4-BE49-F238E27FC236}">
                  <a16:creationId xmlns:a16="http://schemas.microsoft.com/office/drawing/2014/main" id="{9CB0452E-8D88-4EA3-932F-A181179D26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3007" y="3429000"/>
              <a:ext cx="2048382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b="1" dirty="0">
                  <a:latin typeface="+mn-lt"/>
                </a:rPr>
                <a:t>Memory Address</a:t>
              </a:r>
            </a:p>
          </p:txBody>
        </p:sp>
        <p:sp>
          <p:nvSpPr>
            <p:cNvPr id="161" name="Text Box 78">
              <a:extLst>
                <a:ext uri="{FF2B5EF4-FFF2-40B4-BE49-F238E27FC236}">
                  <a16:creationId xmlns:a16="http://schemas.microsoft.com/office/drawing/2014/main" id="{DC56DE43-B935-47AF-B6BA-288D672119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4200" y="3733800"/>
              <a:ext cx="412293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+mn-lt"/>
                </a:rPr>
                <a:t>31</a:t>
              </a:r>
            </a:p>
          </p:txBody>
        </p:sp>
        <p:sp>
          <p:nvSpPr>
            <p:cNvPr id="162" name="Text Box 79">
              <a:extLst>
                <a:ext uri="{FF2B5EF4-FFF2-40B4-BE49-F238E27FC236}">
                  <a16:creationId xmlns:a16="http://schemas.microsoft.com/office/drawing/2014/main" id="{578AAD15-100C-45E4-B433-285A4D1626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54721" y="3733800"/>
              <a:ext cx="307975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+mn-lt"/>
                </a:rPr>
                <a:t>0</a:t>
              </a:r>
            </a:p>
          </p:txBody>
        </p:sp>
        <p:sp>
          <p:nvSpPr>
            <p:cNvPr id="163" name="Text Box 80">
              <a:extLst>
                <a:ext uri="{FF2B5EF4-FFF2-40B4-BE49-F238E27FC236}">
                  <a16:creationId xmlns:a16="http://schemas.microsoft.com/office/drawing/2014/main" id="{A617ADC8-1119-49B2-993C-225557418F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53200" y="3733800"/>
              <a:ext cx="522288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+mn-lt"/>
                </a:rPr>
                <a:t>N-1</a:t>
              </a:r>
            </a:p>
          </p:txBody>
        </p:sp>
        <p:sp>
          <p:nvSpPr>
            <p:cNvPr id="164" name="Text Box 81">
              <a:extLst>
                <a:ext uri="{FF2B5EF4-FFF2-40B4-BE49-F238E27FC236}">
                  <a16:creationId xmlns:a16="http://schemas.microsoft.com/office/drawing/2014/main" id="{142E27B3-02A9-4DDD-A2A8-9A3D5FC07C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21058" y="3733800"/>
              <a:ext cx="332142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+mn-lt"/>
                </a:rPr>
                <a:t>N</a:t>
              </a:r>
            </a:p>
          </p:txBody>
        </p: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BA7A568B-5B01-4051-985A-4E70D646B7CA}"/>
                </a:ext>
              </a:extLst>
            </p:cNvPr>
            <p:cNvSpPr/>
            <p:nvPr/>
          </p:nvSpPr>
          <p:spPr>
            <a:xfrm>
              <a:off x="3206521" y="4038600"/>
              <a:ext cx="1594079" cy="4572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048BEE4D-CE30-4419-ADA0-23393A289E89}"/>
                </a:ext>
              </a:extLst>
            </p:cNvPr>
            <p:cNvSpPr/>
            <p:nvPr/>
          </p:nvSpPr>
          <p:spPr>
            <a:xfrm>
              <a:off x="6559321" y="4038600"/>
              <a:ext cx="1600200" cy="4572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7" name="Group 28">
              <a:extLst>
                <a:ext uri="{FF2B5EF4-FFF2-40B4-BE49-F238E27FC236}">
                  <a16:creationId xmlns:a16="http://schemas.microsoft.com/office/drawing/2014/main" id="{6B1D4896-4656-4E61-8B41-C775CC13BB1D}"/>
                </a:ext>
              </a:extLst>
            </p:cNvPr>
            <p:cNvGrpSpPr/>
            <p:nvPr/>
          </p:nvGrpSpPr>
          <p:grpSpPr>
            <a:xfrm>
              <a:off x="3200401" y="4083050"/>
              <a:ext cx="1600199" cy="369332"/>
              <a:chOff x="1219200" y="2014270"/>
              <a:chExt cx="3352800" cy="369332"/>
            </a:xfrm>
          </p:grpSpPr>
          <p:sp>
            <p:nvSpPr>
              <p:cNvPr id="176" name="Text Box 75">
                <a:extLst>
                  <a:ext uri="{FF2B5EF4-FFF2-40B4-BE49-F238E27FC236}">
                    <a16:creationId xmlns:a16="http://schemas.microsoft.com/office/drawing/2014/main" id="{22FBBD76-6A0D-4585-AF7D-7DB8ADC175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30051" y="2014270"/>
                <a:ext cx="910765" cy="369332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C00000"/>
                    </a:solidFill>
                    <a:latin typeface="+mn-lt"/>
                  </a:rPr>
                  <a:t>Tag</a:t>
                </a:r>
              </a:p>
            </p:txBody>
          </p:sp>
          <p:sp>
            <p:nvSpPr>
              <p:cNvPr id="177" name="Line 76">
                <a:extLst>
                  <a:ext uri="{FF2B5EF4-FFF2-40B4-BE49-F238E27FC236}">
                    <a16:creationId xmlns:a16="http://schemas.microsoft.com/office/drawing/2014/main" id="{B4ADB9D3-0FD9-48E5-9727-EDCF228006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57600" y="2209800"/>
                <a:ext cx="9144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square">
                <a:spAutoFit/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178" name="Line 77">
                <a:extLst>
                  <a:ext uri="{FF2B5EF4-FFF2-40B4-BE49-F238E27FC236}">
                    <a16:creationId xmlns:a16="http://schemas.microsoft.com/office/drawing/2014/main" id="{D4C2712D-5C4F-4C55-8CC5-19F88F6121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19200" y="2209800"/>
                <a:ext cx="7620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>
                <a:spAutoFit/>
              </a:bodyPr>
              <a:lstStyle/>
              <a:p>
                <a:endParaRPr lang="en-US">
                  <a:latin typeface="+mn-lt"/>
                </a:endParaRPr>
              </a:p>
            </p:txBody>
          </p:sp>
        </p:grpSp>
        <p:grpSp>
          <p:nvGrpSpPr>
            <p:cNvPr id="168" name="Group 32">
              <a:extLst>
                <a:ext uri="{FF2B5EF4-FFF2-40B4-BE49-F238E27FC236}">
                  <a16:creationId xmlns:a16="http://schemas.microsoft.com/office/drawing/2014/main" id="{2995ECD2-2322-4F92-9F3A-28C61EED51E4}"/>
                </a:ext>
              </a:extLst>
            </p:cNvPr>
            <p:cNvGrpSpPr/>
            <p:nvPr/>
          </p:nvGrpSpPr>
          <p:grpSpPr>
            <a:xfrm>
              <a:off x="6567947" y="4090356"/>
              <a:ext cx="1591574" cy="369332"/>
              <a:chOff x="1600200" y="1988392"/>
              <a:chExt cx="2590800" cy="369332"/>
            </a:xfrm>
          </p:grpSpPr>
          <p:sp>
            <p:nvSpPr>
              <p:cNvPr id="174" name="Line 77">
                <a:extLst>
                  <a:ext uri="{FF2B5EF4-FFF2-40B4-BE49-F238E27FC236}">
                    <a16:creationId xmlns:a16="http://schemas.microsoft.com/office/drawing/2014/main" id="{55750ABA-09CA-423D-87BC-583B29590F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600200" y="2166670"/>
                <a:ext cx="25908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triangle"/>
                <a:tailEnd type="triangle" w="med" len="med"/>
              </a:ln>
            </p:spPr>
            <p:txBody>
              <a:bodyPr wrap="square">
                <a:spAutoFit/>
              </a:bodyPr>
              <a:lstStyle/>
              <a:p>
                <a:endParaRPr lang="en-US" dirty="0">
                  <a:latin typeface="+mn-lt"/>
                </a:endParaRPr>
              </a:p>
            </p:txBody>
          </p:sp>
          <p:sp>
            <p:nvSpPr>
              <p:cNvPr id="175" name="Text Box 75">
                <a:extLst>
                  <a:ext uri="{FF2B5EF4-FFF2-40B4-BE49-F238E27FC236}">
                    <a16:creationId xmlns:a16="http://schemas.microsoft.com/office/drawing/2014/main" id="{1F569FBF-C081-409C-AA05-722E48FC152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82319" y="1988392"/>
                <a:ext cx="1488479" cy="36933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006600"/>
                    </a:solidFill>
                    <a:latin typeface="+mn-lt"/>
                  </a:rPr>
                  <a:t>Offset</a:t>
                </a:r>
              </a:p>
            </p:txBody>
          </p:sp>
        </p:grpSp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CB80FBE0-DE71-432B-BBDF-4C11AB0D480F}"/>
                </a:ext>
              </a:extLst>
            </p:cNvPr>
            <p:cNvSpPr/>
            <p:nvPr/>
          </p:nvSpPr>
          <p:spPr>
            <a:xfrm>
              <a:off x="4806721" y="4038600"/>
              <a:ext cx="1746479" cy="4572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70" name="Group 28">
              <a:extLst>
                <a:ext uri="{FF2B5EF4-FFF2-40B4-BE49-F238E27FC236}">
                  <a16:creationId xmlns:a16="http://schemas.microsoft.com/office/drawing/2014/main" id="{E1902741-C8B1-4118-B7E7-BA03AF27392E}"/>
                </a:ext>
              </a:extLst>
            </p:cNvPr>
            <p:cNvGrpSpPr/>
            <p:nvPr/>
          </p:nvGrpSpPr>
          <p:grpSpPr>
            <a:xfrm>
              <a:off x="4800600" y="4083050"/>
              <a:ext cx="1746479" cy="369332"/>
              <a:chOff x="898660" y="2014270"/>
              <a:chExt cx="3673340" cy="369332"/>
            </a:xfrm>
          </p:grpSpPr>
          <p:sp>
            <p:nvSpPr>
              <p:cNvPr id="171" name="Text Box 75">
                <a:extLst>
                  <a:ext uri="{FF2B5EF4-FFF2-40B4-BE49-F238E27FC236}">
                    <a16:creationId xmlns:a16="http://schemas.microsoft.com/office/drawing/2014/main" id="{407ED10B-1259-4D31-AB19-1A321DDCD4E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57377" y="2014270"/>
                <a:ext cx="1656117" cy="369332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chemeClr val="accent6">
                        <a:lumMod val="50000"/>
                      </a:schemeClr>
                    </a:solidFill>
                    <a:latin typeface="+mn-lt"/>
                  </a:rPr>
                  <a:t>Index</a:t>
                </a:r>
              </a:p>
            </p:txBody>
          </p:sp>
          <p:sp>
            <p:nvSpPr>
              <p:cNvPr id="172" name="Line 76">
                <a:extLst>
                  <a:ext uri="{FF2B5EF4-FFF2-40B4-BE49-F238E27FC236}">
                    <a16:creationId xmlns:a16="http://schemas.microsoft.com/office/drawing/2014/main" id="{462F036C-1C29-48AE-A231-D13CF827BB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57600" y="2209800"/>
                <a:ext cx="9144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square">
                <a:spAutoFit/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173" name="Line 77">
                <a:extLst>
                  <a:ext uri="{FF2B5EF4-FFF2-40B4-BE49-F238E27FC236}">
                    <a16:creationId xmlns:a16="http://schemas.microsoft.com/office/drawing/2014/main" id="{E0ADF4A8-DF2F-414E-A3E2-C138D38E7F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898660" y="2198420"/>
                <a:ext cx="1082539" cy="1138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square">
                <a:spAutoFit/>
              </a:bodyPr>
              <a:lstStyle/>
              <a:p>
                <a:endParaRPr lang="en-US">
                  <a:latin typeface="+mn-lt"/>
                </a:endParaRPr>
              </a:p>
            </p:txBody>
          </p:sp>
        </p:grpSp>
      </p:grp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39CDAF33-EDEC-4DF3-97AA-2976EEE8CA39}"/>
              </a:ext>
            </a:extLst>
          </p:cNvPr>
          <p:cNvCxnSpPr/>
          <p:nvPr/>
        </p:nvCxnSpPr>
        <p:spPr>
          <a:xfrm>
            <a:off x="571500" y="3086985"/>
            <a:ext cx="8001000" cy="0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1810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4. Direct Mapped Cache: </a:t>
            </a:r>
            <a:r>
              <a:rPr lang="en-GB" sz="3600" b="1" dirty="0">
                <a:solidFill>
                  <a:srgbClr val="0000FF"/>
                </a:solidFill>
              </a:rPr>
              <a:t>Cache Structure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#22: Cache I: Direct Mapped Cache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29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70" name="Rectangle 5">
            <a:extLst>
              <a:ext uri="{FF2B5EF4-FFF2-40B4-BE49-F238E27FC236}">
                <a16:creationId xmlns:a16="http://schemas.microsoft.com/office/drawing/2014/main" id="{A8A5BE57-8FFC-480F-BC8D-53670DB0E1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7476" y="1651217"/>
            <a:ext cx="1524000" cy="304800"/>
          </a:xfrm>
          <a:prstGeom prst="rect">
            <a:avLst/>
          </a:prstGeom>
          <a:solidFill>
            <a:srgbClr val="CCCC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noAutofit/>
          </a:bodyPr>
          <a:lstStyle/>
          <a:p>
            <a:endParaRPr lang="en-US"/>
          </a:p>
        </p:txBody>
      </p:sp>
      <p:sp>
        <p:nvSpPr>
          <p:cNvPr id="71" name="Rectangle 6">
            <a:extLst>
              <a:ext uri="{FF2B5EF4-FFF2-40B4-BE49-F238E27FC236}">
                <a16:creationId xmlns:a16="http://schemas.microsoft.com/office/drawing/2014/main" id="{BF9CD09A-8A88-47E7-8A2B-4B566CF5EF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7476" y="1956017"/>
            <a:ext cx="1524000" cy="304800"/>
          </a:xfrm>
          <a:prstGeom prst="rect">
            <a:avLst/>
          </a:prstGeom>
          <a:solidFill>
            <a:srgbClr val="CCCC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noAutofit/>
          </a:bodyPr>
          <a:lstStyle/>
          <a:p>
            <a:endParaRPr lang="en-US"/>
          </a:p>
        </p:txBody>
      </p:sp>
      <p:sp>
        <p:nvSpPr>
          <p:cNvPr id="72" name="Rectangle 7">
            <a:extLst>
              <a:ext uri="{FF2B5EF4-FFF2-40B4-BE49-F238E27FC236}">
                <a16:creationId xmlns:a16="http://schemas.microsoft.com/office/drawing/2014/main" id="{8B297780-ECE4-4857-B67C-F407060A41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7476" y="2260817"/>
            <a:ext cx="1524000" cy="304800"/>
          </a:xfrm>
          <a:prstGeom prst="rect">
            <a:avLst/>
          </a:prstGeom>
          <a:solidFill>
            <a:srgbClr val="CCCC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noAutofit/>
          </a:bodyPr>
          <a:lstStyle/>
          <a:p>
            <a:endParaRPr lang="en-US"/>
          </a:p>
        </p:txBody>
      </p:sp>
      <p:sp>
        <p:nvSpPr>
          <p:cNvPr id="73" name="Rectangle 8">
            <a:extLst>
              <a:ext uri="{FF2B5EF4-FFF2-40B4-BE49-F238E27FC236}">
                <a16:creationId xmlns:a16="http://schemas.microsoft.com/office/drawing/2014/main" id="{CB0AEE61-03D9-4648-B02F-D67D7F126C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7476" y="2565617"/>
            <a:ext cx="1524000" cy="304800"/>
          </a:xfrm>
          <a:prstGeom prst="rect">
            <a:avLst/>
          </a:prstGeom>
          <a:solidFill>
            <a:srgbClr val="CCCC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noAutofit/>
          </a:bodyPr>
          <a:lstStyle/>
          <a:p>
            <a:endParaRPr lang="en-US"/>
          </a:p>
        </p:txBody>
      </p:sp>
      <p:sp>
        <p:nvSpPr>
          <p:cNvPr id="74" name="Text Box 9">
            <a:extLst>
              <a:ext uri="{FF2B5EF4-FFF2-40B4-BE49-F238E27FC236}">
                <a16:creationId xmlns:a16="http://schemas.microsoft.com/office/drawing/2014/main" id="{4CAB6678-7D9E-4357-8904-235971ADB4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1125" y="1636592"/>
            <a:ext cx="1112921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2400" dirty="0"/>
              <a:t>Cache</a:t>
            </a:r>
          </a:p>
        </p:txBody>
      </p:sp>
      <p:sp>
        <p:nvSpPr>
          <p:cNvPr id="75" name="Text Box 10">
            <a:extLst>
              <a:ext uri="{FF2B5EF4-FFF2-40B4-BE49-F238E27FC236}">
                <a16:creationId xmlns:a16="http://schemas.microsoft.com/office/drawing/2014/main" id="{6394C4A3-C04F-468A-A19B-5D41C687DF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1476" y="1616292"/>
            <a:ext cx="43180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noAutofit/>
          </a:bodyPr>
          <a:lstStyle/>
          <a:p>
            <a:r>
              <a:rPr lang="en-US" sz="2000" dirty="0"/>
              <a:t>00</a:t>
            </a:r>
          </a:p>
        </p:txBody>
      </p:sp>
      <p:sp>
        <p:nvSpPr>
          <p:cNvPr id="76" name="Text Box 11">
            <a:extLst>
              <a:ext uri="{FF2B5EF4-FFF2-40B4-BE49-F238E27FC236}">
                <a16:creationId xmlns:a16="http://schemas.microsoft.com/office/drawing/2014/main" id="{3BAA2504-2C9C-40D2-9423-BCF7BC4C80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1476" y="1921092"/>
            <a:ext cx="40005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noAutofit/>
          </a:bodyPr>
          <a:lstStyle/>
          <a:p>
            <a:r>
              <a:rPr lang="en-US" sz="2000"/>
              <a:t>01</a:t>
            </a:r>
          </a:p>
        </p:txBody>
      </p:sp>
      <p:sp>
        <p:nvSpPr>
          <p:cNvPr id="77" name="Text Box 12">
            <a:extLst>
              <a:ext uri="{FF2B5EF4-FFF2-40B4-BE49-F238E27FC236}">
                <a16:creationId xmlns:a16="http://schemas.microsoft.com/office/drawing/2014/main" id="{B77FF098-8DB3-47C7-9C06-735ABA83CC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1476" y="2225892"/>
            <a:ext cx="40005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noAutofit/>
          </a:bodyPr>
          <a:lstStyle/>
          <a:p>
            <a:r>
              <a:rPr lang="en-US" sz="2000" dirty="0"/>
              <a:t>10</a:t>
            </a:r>
          </a:p>
        </p:txBody>
      </p:sp>
      <p:sp>
        <p:nvSpPr>
          <p:cNvPr id="78" name="Text Box 13">
            <a:extLst>
              <a:ext uri="{FF2B5EF4-FFF2-40B4-BE49-F238E27FC236}">
                <a16:creationId xmlns:a16="http://schemas.microsoft.com/office/drawing/2014/main" id="{F24A28CC-2795-4BE3-9016-583E46D721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1476" y="2530692"/>
            <a:ext cx="36830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noAutofit/>
          </a:bodyPr>
          <a:lstStyle/>
          <a:p>
            <a:r>
              <a:rPr lang="en-US" sz="2000"/>
              <a:t>11</a:t>
            </a:r>
          </a:p>
        </p:txBody>
      </p:sp>
      <p:sp>
        <p:nvSpPr>
          <p:cNvPr id="79" name="Text Box 14">
            <a:extLst>
              <a:ext uri="{FF2B5EF4-FFF2-40B4-BE49-F238E27FC236}">
                <a16:creationId xmlns:a16="http://schemas.microsoft.com/office/drawing/2014/main" id="{CE635D64-CC06-4977-8F61-0B471A8EAB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9076" y="1346417"/>
            <a:ext cx="81280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noAutofit/>
          </a:bodyPr>
          <a:lstStyle/>
          <a:p>
            <a:r>
              <a:rPr lang="en-US" sz="1800" b="1" dirty="0"/>
              <a:t> Index</a:t>
            </a:r>
          </a:p>
        </p:txBody>
      </p:sp>
      <p:sp>
        <p:nvSpPr>
          <p:cNvPr id="80" name="Text Box 15">
            <a:extLst>
              <a:ext uri="{FF2B5EF4-FFF2-40B4-BE49-F238E27FC236}">
                <a16:creationId xmlns:a16="http://schemas.microsoft.com/office/drawing/2014/main" id="{3975336A-ED39-4C9C-B171-3B48E1017A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8476" y="1346417"/>
            <a:ext cx="63500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noAutofit/>
          </a:bodyPr>
          <a:lstStyle/>
          <a:p>
            <a:r>
              <a:rPr lang="en-US" sz="1800" b="1" dirty="0"/>
              <a:t>Data</a:t>
            </a: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4A17B73E-7F3E-4C0B-A637-AE2ACC487362}"/>
              </a:ext>
            </a:extLst>
          </p:cNvPr>
          <p:cNvGrpSpPr/>
          <p:nvPr/>
        </p:nvGrpSpPr>
        <p:grpSpPr>
          <a:xfrm>
            <a:off x="3146876" y="1346417"/>
            <a:ext cx="762000" cy="1524000"/>
            <a:chOff x="3276600" y="1406525"/>
            <a:chExt cx="762000" cy="1524000"/>
          </a:xfrm>
        </p:grpSpPr>
        <p:sp>
          <p:nvSpPr>
            <p:cNvPr id="82" name="Rectangle 17">
              <a:extLst>
                <a:ext uri="{FF2B5EF4-FFF2-40B4-BE49-F238E27FC236}">
                  <a16:creationId xmlns:a16="http://schemas.microsoft.com/office/drawing/2014/main" id="{9ECFE593-9EAA-418C-A7DF-F1602440B6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6600" y="1711325"/>
              <a:ext cx="762000" cy="3048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>
              <a:noAutofit/>
            </a:bodyPr>
            <a:lstStyle/>
            <a:p>
              <a:endParaRPr lang="en-US" sz="1800"/>
            </a:p>
          </p:txBody>
        </p:sp>
        <p:sp>
          <p:nvSpPr>
            <p:cNvPr id="83" name="Rectangle 18">
              <a:extLst>
                <a:ext uri="{FF2B5EF4-FFF2-40B4-BE49-F238E27FC236}">
                  <a16:creationId xmlns:a16="http://schemas.microsoft.com/office/drawing/2014/main" id="{B2067A6F-0F02-43BE-BF40-4DA1B61C10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6600" y="2016125"/>
              <a:ext cx="762000" cy="3048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>
              <a:noAutofit/>
            </a:bodyPr>
            <a:lstStyle/>
            <a:p>
              <a:endParaRPr lang="en-US" sz="1800"/>
            </a:p>
          </p:txBody>
        </p:sp>
        <p:sp>
          <p:nvSpPr>
            <p:cNvPr id="84" name="Rectangle 19">
              <a:extLst>
                <a:ext uri="{FF2B5EF4-FFF2-40B4-BE49-F238E27FC236}">
                  <a16:creationId xmlns:a16="http://schemas.microsoft.com/office/drawing/2014/main" id="{A5D0DB16-485F-42D3-AF63-5E941A62AD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6600" y="2320925"/>
              <a:ext cx="762000" cy="3048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>
              <a:noAutofit/>
            </a:bodyPr>
            <a:lstStyle/>
            <a:p>
              <a:endParaRPr lang="en-US" sz="1800"/>
            </a:p>
          </p:txBody>
        </p:sp>
        <p:sp>
          <p:nvSpPr>
            <p:cNvPr id="85" name="Rectangle 20">
              <a:extLst>
                <a:ext uri="{FF2B5EF4-FFF2-40B4-BE49-F238E27FC236}">
                  <a16:creationId xmlns:a16="http://schemas.microsoft.com/office/drawing/2014/main" id="{E8509452-820F-4D65-BF75-87E5339367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6600" y="2625725"/>
              <a:ext cx="762000" cy="3048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>
              <a:noAutofit/>
            </a:bodyPr>
            <a:lstStyle/>
            <a:p>
              <a:endParaRPr lang="en-US" sz="1800"/>
            </a:p>
          </p:txBody>
        </p:sp>
        <p:sp>
          <p:nvSpPr>
            <p:cNvPr id="86" name="Text Box 25">
              <a:extLst>
                <a:ext uri="{FF2B5EF4-FFF2-40B4-BE49-F238E27FC236}">
                  <a16:creationId xmlns:a16="http://schemas.microsoft.com/office/drawing/2014/main" id="{8DD8C920-76FF-4987-8434-324D10CD3A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1418" y="1406525"/>
              <a:ext cx="550152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noAutofit/>
            </a:bodyPr>
            <a:lstStyle/>
            <a:p>
              <a:r>
                <a:rPr lang="en-US" sz="1800" b="1" dirty="0">
                  <a:solidFill>
                    <a:srgbClr val="660066"/>
                  </a:solidFill>
                </a:rPr>
                <a:t>Tag</a:t>
              </a:r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62919752-0D75-4F5E-B211-6841911114A5}"/>
              </a:ext>
            </a:extLst>
          </p:cNvPr>
          <p:cNvGrpSpPr/>
          <p:nvPr/>
        </p:nvGrpSpPr>
        <p:grpSpPr>
          <a:xfrm>
            <a:off x="2552700" y="1346417"/>
            <a:ext cx="670376" cy="1524000"/>
            <a:chOff x="2682424" y="1406525"/>
            <a:chExt cx="670376" cy="1524000"/>
          </a:xfrm>
        </p:grpSpPr>
        <p:sp>
          <p:nvSpPr>
            <p:cNvPr id="88" name="Rectangle 21">
              <a:extLst>
                <a:ext uri="{FF2B5EF4-FFF2-40B4-BE49-F238E27FC236}">
                  <a16:creationId xmlns:a16="http://schemas.microsoft.com/office/drawing/2014/main" id="{D0D1CA2F-F05E-4FA4-B39D-72C8ECEE50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9400" y="1711325"/>
              <a:ext cx="457200" cy="304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noAutofit/>
            </a:bodyPr>
            <a:lstStyle/>
            <a:p>
              <a:endParaRPr lang="en-US" sz="1800"/>
            </a:p>
          </p:txBody>
        </p:sp>
        <p:sp>
          <p:nvSpPr>
            <p:cNvPr id="89" name="Rectangle 22">
              <a:extLst>
                <a:ext uri="{FF2B5EF4-FFF2-40B4-BE49-F238E27FC236}">
                  <a16:creationId xmlns:a16="http://schemas.microsoft.com/office/drawing/2014/main" id="{ED806C7B-EAA6-4CAA-922F-60B863F65A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9400" y="2016125"/>
              <a:ext cx="457200" cy="304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noAutofit/>
            </a:bodyPr>
            <a:lstStyle/>
            <a:p>
              <a:endParaRPr lang="en-US" sz="1800"/>
            </a:p>
          </p:txBody>
        </p:sp>
        <p:sp>
          <p:nvSpPr>
            <p:cNvPr id="90" name="Rectangle 23">
              <a:extLst>
                <a:ext uri="{FF2B5EF4-FFF2-40B4-BE49-F238E27FC236}">
                  <a16:creationId xmlns:a16="http://schemas.microsoft.com/office/drawing/2014/main" id="{07208DA3-AA55-4921-AF7F-3DEBE928B4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9400" y="2320925"/>
              <a:ext cx="457200" cy="304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noAutofit/>
            </a:bodyPr>
            <a:lstStyle/>
            <a:p>
              <a:endParaRPr lang="en-US" sz="1800"/>
            </a:p>
          </p:txBody>
        </p:sp>
        <p:sp>
          <p:nvSpPr>
            <p:cNvPr id="91" name="Rectangle 24">
              <a:extLst>
                <a:ext uri="{FF2B5EF4-FFF2-40B4-BE49-F238E27FC236}">
                  <a16:creationId xmlns:a16="http://schemas.microsoft.com/office/drawing/2014/main" id="{D3A1DA15-EEF6-47C4-80CE-37EA16F6EF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9400" y="2625725"/>
              <a:ext cx="457200" cy="304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noAutofit/>
            </a:bodyPr>
            <a:lstStyle/>
            <a:p>
              <a:endParaRPr lang="en-US" sz="1800"/>
            </a:p>
          </p:txBody>
        </p:sp>
        <p:sp>
          <p:nvSpPr>
            <p:cNvPr id="92" name="Text Box 26">
              <a:extLst>
                <a:ext uri="{FF2B5EF4-FFF2-40B4-BE49-F238E27FC236}">
                  <a16:creationId xmlns:a16="http://schemas.microsoft.com/office/drawing/2014/main" id="{19CB1F94-908F-4F75-9EF0-88FB18C0DA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2424" y="1406525"/>
              <a:ext cx="670376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noAutofit/>
            </a:bodyPr>
            <a:lstStyle/>
            <a:p>
              <a:r>
                <a:rPr lang="en-US" sz="1800" b="1" dirty="0">
                  <a:solidFill>
                    <a:srgbClr val="006600"/>
                  </a:solidFill>
                </a:rPr>
                <a:t>Valid</a:t>
              </a:r>
            </a:p>
          </p:txBody>
        </p:sp>
      </p:grpSp>
      <p:sp>
        <p:nvSpPr>
          <p:cNvPr id="93" name="Text Box 27">
            <a:extLst>
              <a:ext uri="{FF2B5EF4-FFF2-40B4-BE49-F238E27FC236}">
                <a16:creationId xmlns:a16="http://schemas.microsoft.com/office/drawing/2014/main" id="{803DAC74-74DA-4380-B186-2E5709BC4B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746" y="3030684"/>
            <a:ext cx="7988350" cy="1938992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accent5">
                <a:lumMod val="20000"/>
                <a:lumOff val="80000"/>
              </a:schemeClr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sz="2400" dirty="0">
                <a:latin typeface="+mn-lt"/>
              </a:rPr>
              <a:t>Along with a data block (line), cache also contains the following administrative information (overheads):</a:t>
            </a:r>
          </a:p>
          <a:p>
            <a:pPr marL="722313" indent="-342900" algn="l">
              <a:buFontTx/>
              <a:buAutoNum type="arabicPeriod"/>
            </a:pPr>
            <a:r>
              <a:rPr lang="en-US" sz="2400" b="1" dirty="0">
                <a:solidFill>
                  <a:srgbClr val="660066"/>
                </a:solidFill>
                <a:latin typeface="+mn-lt"/>
              </a:rPr>
              <a:t>Tag</a:t>
            </a:r>
            <a:r>
              <a:rPr lang="en-US" sz="2400" dirty="0">
                <a:solidFill>
                  <a:srgbClr val="660066"/>
                </a:solidFill>
                <a:latin typeface="+mn-lt"/>
              </a:rPr>
              <a:t> </a:t>
            </a:r>
            <a:r>
              <a:rPr lang="en-US" sz="2400" dirty="0">
                <a:latin typeface="+mn-lt"/>
              </a:rPr>
              <a:t>of the memory block</a:t>
            </a:r>
          </a:p>
          <a:p>
            <a:pPr marL="722313" indent="-342900" algn="l">
              <a:buFontTx/>
              <a:buAutoNum type="arabicPeriod"/>
            </a:pPr>
            <a:r>
              <a:rPr lang="en-US" sz="2400" b="1" dirty="0">
                <a:solidFill>
                  <a:srgbClr val="006600"/>
                </a:solidFill>
                <a:latin typeface="+mn-lt"/>
              </a:rPr>
              <a:t>Valid bit </a:t>
            </a:r>
            <a:r>
              <a:rPr lang="en-US" sz="2400" dirty="0">
                <a:latin typeface="+mn-lt"/>
              </a:rPr>
              <a:t>indicating whether the cache line contains valid data</a:t>
            </a:r>
            <a:endParaRPr lang="en-US" dirty="0">
              <a:latin typeface="+mn-lt"/>
            </a:endParaRPr>
          </a:p>
        </p:txBody>
      </p:sp>
      <p:sp>
        <p:nvSpPr>
          <p:cNvPr id="94" name="Rectangle 29">
            <a:extLst>
              <a:ext uri="{FF2B5EF4-FFF2-40B4-BE49-F238E27FC236}">
                <a16:creationId xmlns:a16="http://schemas.microsoft.com/office/drawing/2014/main" id="{223D8874-7FA9-406C-9843-6FCA1624B0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2821" y="4944029"/>
            <a:ext cx="6172200" cy="126188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  <a:latin typeface="+mn-lt"/>
              </a:rPr>
              <a:t>When is there a cache hit? </a:t>
            </a:r>
          </a:p>
          <a:p>
            <a:pPr algn="ctr"/>
            <a:r>
              <a:rPr lang="en-US" sz="2400" dirty="0"/>
              <a:t>( Valid[index] = TRUE ) </a:t>
            </a:r>
            <a:r>
              <a:rPr lang="en-US" sz="2400" b="1" dirty="0">
                <a:latin typeface="+mn-lt"/>
              </a:rPr>
              <a:t>AND</a:t>
            </a:r>
            <a:r>
              <a:rPr lang="en-US" dirty="0"/>
              <a:t> </a:t>
            </a:r>
            <a:br>
              <a:rPr lang="en-US" dirty="0"/>
            </a:br>
            <a:r>
              <a:rPr lang="en-US" sz="2400" dirty="0"/>
              <a:t>( Tag[ index ] = Tag[ memory address ] ) </a:t>
            </a:r>
            <a:endParaRPr lang="en-US" sz="2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19978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4. Cache Mapping: </a:t>
            </a:r>
            <a:r>
              <a:rPr lang="en-GB" sz="3600" b="1" dirty="0">
                <a:solidFill>
                  <a:srgbClr val="0000FF"/>
                </a:solidFill>
              </a:rPr>
              <a:t>Example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#22: Cache I: Direct Mapped Cache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30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90190D4-4A79-4044-AAB5-403F0013ADE5}"/>
              </a:ext>
            </a:extLst>
          </p:cNvPr>
          <p:cNvSpPr/>
          <p:nvPr/>
        </p:nvSpPr>
        <p:spPr>
          <a:xfrm>
            <a:off x="609600" y="1498817"/>
            <a:ext cx="1524000" cy="22098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Memory</a:t>
            </a:r>
          </a:p>
          <a:p>
            <a:pPr algn="ctr"/>
            <a:r>
              <a:rPr lang="en-US" sz="2400" dirty="0"/>
              <a:t>4GB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F93297E-1E77-4B2B-8427-1894F640E44C}"/>
              </a:ext>
            </a:extLst>
          </p:cNvPr>
          <p:cNvGrpSpPr/>
          <p:nvPr/>
        </p:nvGrpSpPr>
        <p:grpSpPr>
          <a:xfrm>
            <a:off x="3429000" y="1346417"/>
            <a:ext cx="5105400" cy="1034018"/>
            <a:chOff x="984479" y="2242582"/>
            <a:chExt cx="5105400" cy="1034018"/>
          </a:xfrm>
        </p:grpSpPr>
        <p:sp>
          <p:nvSpPr>
            <p:cNvPr id="33" name="Text Box 74">
              <a:extLst>
                <a:ext uri="{FF2B5EF4-FFF2-40B4-BE49-F238E27FC236}">
                  <a16:creationId xmlns:a16="http://schemas.microsoft.com/office/drawing/2014/main" id="{E74008FC-8CD0-4CFF-8C0A-5352FA8D28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63286" y="2242582"/>
              <a:ext cx="2048382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b="1" dirty="0">
                  <a:latin typeface="+mn-lt"/>
                </a:rPr>
                <a:t>Memory Address</a:t>
              </a:r>
            </a:p>
          </p:txBody>
        </p:sp>
        <p:sp>
          <p:nvSpPr>
            <p:cNvPr id="34" name="Text Box 78">
              <a:extLst>
                <a:ext uri="{FF2B5EF4-FFF2-40B4-BE49-F238E27FC236}">
                  <a16:creationId xmlns:a16="http://schemas.microsoft.com/office/drawing/2014/main" id="{49FE24AE-7A46-4056-9410-03A9367DF4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4479" y="2547382"/>
              <a:ext cx="412293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+mn-lt"/>
                </a:rPr>
                <a:t>31</a:t>
              </a:r>
            </a:p>
          </p:txBody>
        </p:sp>
        <p:sp>
          <p:nvSpPr>
            <p:cNvPr id="35" name="Text Box 79">
              <a:extLst>
                <a:ext uri="{FF2B5EF4-FFF2-40B4-BE49-F238E27FC236}">
                  <a16:creationId xmlns:a16="http://schemas.microsoft.com/office/drawing/2014/main" id="{4522305D-2AED-4AE7-AE39-5B08907522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81904" y="2547382"/>
              <a:ext cx="307975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+mn-lt"/>
                </a:rPr>
                <a:t>0</a:t>
              </a:r>
            </a:p>
          </p:txBody>
        </p:sp>
        <p:sp>
          <p:nvSpPr>
            <p:cNvPr id="36" name="Text Box 80">
              <a:extLst>
                <a:ext uri="{FF2B5EF4-FFF2-40B4-BE49-F238E27FC236}">
                  <a16:creationId xmlns:a16="http://schemas.microsoft.com/office/drawing/2014/main" id="{EA92F13E-CFF6-482C-A0C4-8B28733F7E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37279" y="2547382"/>
              <a:ext cx="522288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+mn-lt"/>
                </a:rPr>
                <a:t>N-1</a:t>
              </a:r>
            </a:p>
          </p:txBody>
        </p:sp>
        <p:sp>
          <p:nvSpPr>
            <p:cNvPr id="37" name="Text Box 81">
              <a:extLst>
                <a:ext uri="{FF2B5EF4-FFF2-40B4-BE49-F238E27FC236}">
                  <a16:creationId xmlns:a16="http://schemas.microsoft.com/office/drawing/2014/main" id="{F41BA94A-A252-4507-8BF6-A278BC37C3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1337" y="2547382"/>
              <a:ext cx="332142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+mn-lt"/>
                </a:rPr>
                <a:t>N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04C93D71-2CDE-4ECE-A348-AD9545BEE849}"/>
                </a:ext>
              </a:extLst>
            </p:cNvPr>
            <p:cNvSpPr/>
            <p:nvPr/>
          </p:nvSpPr>
          <p:spPr>
            <a:xfrm>
              <a:off x="1066800" y="2819400"/>
              <a:ext cx="3352800" cy="4572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1203BF66-586B-438E-AFF4-25DE082A7BE9}"/>
                </a:ext>
              </a:extLst>
            </p:cNvPr>
            <p:cNvSpPr/>
            <p:nvPr/>
          </p:nvSpPr>
          <p:spPr>
            <a:xfrm>
              <a:off x="4419600" y="2819400"/>
              <a:ext cx="1600200" cy="4572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0" name="Group 28">
              <a:extLst>
                <a:ext uri="{FF2B5EF4-FFF2-40B4-BE49-F238E27FC236}">
                  <a16:creationId xmlns:a16="http://schemas.microsoft.com/office/drawing/2014/main" id="{97EED235-D84C-45AB-9973-F60150370538}"/>
                </a:ext>
              </a:extLst>
            </p:cNvPr>
            <p:cNvGrpSpPr/>
            <p:nvPr/>
          </p:nvGrpSpPr>
          <p:grpSpPr>
            <a:xfrm>
              <a:off x="1066800" y="2852470"/>
              <a:ext cx="3352800" cy="369332"/>
              <a:chOff x="1219200" y="2014270"/>
              <a:chExt cx="3352800" cy="369332"/>
            </a:xfrm>
          </p:grpSpPr>
          <p:sp>
            <p:nvSpPr>
              <p:cNvPr id="44" name="Text Box 75">
                <a:extLst>
                  <a:ext uri="{FF2B5EF4-FFF2-40B4-BE49-F238E27FC236}">
                    <a16:creationId xmlns:a16="http://schemas.microsoft.com/office/drawing/2014/main" id="{63CB3264-8119-480A-8E4E-22B54946967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10834" y="2014270"/>
                <a:ext cx="1749197" cy="369332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C00000"/>
                    </a:solidFill>
                    <a:latin typeface="+mn-lt"/>
                  </a:rPr>
                  <a:t>Block Number</a:t>
                </a:r>
              </a:p>
            </p:txBody>
          </p:sp>
          <p:sp>
            <p:nvSpPr>
              <p:cNvPr id="45" name="Line 76">
                <a:extLst>
                  <a:ext uri="{FF2B5EF4-FFF2-40B4-BE49-F238E27FC236}">
                    <a16:creationId xmlns:a16="http://schemas.microsoft.com/office/drawing/2014/main" id="{8708FBBB-A78B-45F8-87AF-C07C30BB6B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57600" y="2209800"/>
                <a:ext cx="9144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square">
                <a:spAutoFit/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46" name="Line 77">
                <a:extLst>
                  <a:ext uri="{FF2B5EF4-FFF2-40B4-BE49-F238E27FC236}">
                    <a16:creationId xmlns:a16="http://schemas.microsoft.com/office/drawing/2014/main" id="{29A0B3FA-CFF6-40C1-8B0A-C392EB48DD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19200" y="2209800"/>
                <a:ext cx="7620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>
                <a:spAutoFit/>
              </a:bodyPr>
              <a:lstStyle/>
              <a:p>
                <a:endParaRPr lang="en-US">
                  <a:latin typeface="+mn-lt"/>
                </a:endParaRPr>
              </a:p>
            </p:txBody>
          </p:sp>
        </p:grpSp>
        <p:grpSp>
          <p:nvGrpSpPr>
            <p:cNvPr id="41" name="Group 32">
              <a:extLst>
                <a:ext uri="{FF2B5EF4-FFF2-40B4-BE49-F238E27FC236}">
                  <a16:creationId xmlns:a16="http://schemas.microsoft.com/office/drawing/2014/main" id="{37554324-D328-4AFF-B3A1-633DF86281DE}"/>
                </a:ext>
              </a:extLst>
            </p:cNvPr>
            <p:cNvGrpSpPr/>
            <p:nvPr/>
          </p:nvGrpSpPr>
          <p:grpSpPr>
            <a:xfrm>
              <a:off x="4428226" y="2871156"/>
              <a:ext cx="1591574" cy="369332"/>
              <a:chOff x="1600200" y="1988392"/>
              <a:chExt cx="2590800" cy="369332"/>
            </a:xfrm>
          </p:grpSpPr>
          <p:sp>
            <p:nvSpPr>
              <p:cNvPr id="42" name="Line 77">
                <a:extLst>
                  <a:ext uri="{FF2B5EF4-FFF2-40B4-BE49-F238E27FC236}">
                    <a16:creationId xmlns:a16="http://schemas.microsoft.com/office/drawing/2014/main" id="{DE0D0573-335E-4244-8A8C-B836C3E786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600200" y="2166670"/>
                <a:ext cx="25908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triangle"/>
                <a:tailEnd type="triangle" w="med" len="med"/>
              </a:ln>
            </p:spPr>
            <p:txBody>
              <a:bodyPr wrap="square">
                <a:spAutoFit/>
              </a:bodyPr>
              <a:lstStyle/>
              <a:p>
                <a:endParaRPr lang="en-US" dirty="0">
                  <a:latin typeface="+mn-lt"/>
                </a:endParaRPr>
              </a:p>
            </p:txBody>
          </p:sp>
          <p:sp>
            <p:nvSpPr>
              <p:cNvPr id="43" name="Text Box 75">
                <a:extLst>
                  <a:ext uri="{FF2B5EF4-FFF2-40B4-BE49-F238E27FC236}">
                    <a16:creationId xmlns:a16="http://schemas.microsoft.com/office/drawing/2014/main" id="{C80FDF8E-0559-4B2E-ADA0-814E3F5DCE0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82319" y="1988392"/>
                <a:ext cx="1488479" cy="36933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006600"/>
                    </a:solidFill>
                    <a:latin typeface="+mn-lt"/>
                  </a:rPr>
                  <a:t>Offset</a:t>
                </a:r>
              </a:p>
            </p:txBody>
          </p:sp>
        </p:grpSp>
      </p:grpSp>
      <p:sp>
        <p:nvSpPr>
          <p:cNvPr id="47" name="Rectangle 46">
            <a:extLst>
              <a:ext uri="{FF2B5EF4-FFF2-40B4-BE49-F238E27FC236}">
                <a16:creationId xmlns:a16="http://schemas.microsoft.com/office/drawing/2014/main" id="{AFDB90C0-1F72-4706-82FE-148FF84C1011}"/>
              </a:ext>
            </a:extLst>
          </p:cNvPr>
          <p:cNvSpPr/>
          <p:nvPr/>
        </p:nvSpPr>
        <p:spPr>
          <a:xfrm>
            <a:off x="609600" y="3022817"/>
            <a:ext cx="1524000" cy="685800"/>
          </a:xfrm>
          <a:prstGeom prst="rect">
            <a:avLst/>
          </a:prstGeom>
          <a:solidFill>
            <a:schemeClr val="tx2">
              <a:lumMod val="20000"/>
              <a:lumOff val="80000"/>
              <a:alpha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1 Block </a:t>
            </a:r>
          </a:p>
          <a:p>
            <a:pPr algn="ctr"/>
            <a:r>
              <a:rPr lang="en-US" sz="1800" dirty="0">
                <a:solidFill>
                  <a:schemeClr val="tx1"/>
                </a:solidFill>
              </a:rPr>
              <a:t>= 16 bytes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A5CBF64-FF72-4E1B-B97F-A4318E143667}"/>
              </a:ext>
            </a:extLst>
          </p:cNvPr>
          <p:cNvSpPr/>
          <p:nvPr/>
        </p:nvSpPr>
        <p:spPr>
          <a:xfrm>
            <a:off x="609600" y="4292019"/>
            <a:ext cx="1524000" cy="1600200"/>
          </a:xfrm>
          <a:prstGeom prst="rect">
            <a:avLst/>
          </a:prstGeom>
          <a:solidFill>
            <a:srgbClr val="006600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dirty="0"/>
            </a:br>
            <a:r>
              <a:rPr lang="en-US" sz="2400" dirty="0"/>
              <a:t>Cache</a:t>
            </a:r>
          </a:p>
          <a:p>
            <a:pPr algn="ctr"/>
            <a:r>
              <a:rPr lang="en-US" sz="2400" dirty="0"/>
              <a:t>16KB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642ACF2-99DC-430D-8FC1-6BDC65B3E502}"/>
              </a:ext>
            </a:extLst>
          </p:cNvPr>
          <p:cNvSpPr/>
          <p:nvPr/>
        </p:nvSpPr>
        <p:spPr>
          <a:xfrm>
            <a:off x="609600" y="5206419"/>
            <a:ext cx="1524000" cy="685800"/>
          </a:xfrm>
          <a:prstGeom prst="rect">
            <a:avLst/>
          </a:prstGeom>
          <a:solidFill>
            <a:srgbClr val="E2FFC5">
              <a:alpha val="15000"/>
            </a:srgb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1 Block </a:t>
            </a:r>
          </a:p>
          <a:p>
            <a:pPr algn="ctr"/>
            <a:r>
              <a:rPr lang="en-US" sz="1800" dirty="0">
                <a:solidFill>
                  <a:schemeClr val="tx1"/>
                </a:solidFill>
              </a:rPr>
              <a:t>= 16 bytes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679921AD-E18A-42B4-B891-9767F9459C49}"/>
              </a:ext>
            </a:extLst>
          </p:cNvPr>
          <p:cNvGrpSpPr/>
          <p:nvPr/>
        </p:nvGrpSpPr>
        <p:grpSpPr>
          <a:xfrm>
            <a:off x="3429000" y="3903713"/>
            <a:ext cx="5038496" cy="793750"/>
            <a:chOff x="3124200" y="3702050"/>
            <a:chExt cx="5038496" cy="793750"/>
          </a:xfrm>
        </p:grpSpPr>
        <p:sp>
          <p:nvSpPr>
            <p:cNvPr id="51" name="Text Box 38">
              <a:extLst>
                <a:ext uri="{FF2B5EF4-FFF2-40B4-BE49-F238E27FC236}">
                  <a16:creationId xmlns:a16="http://schemas.microsoft.com/office/drawing/2014/main" id="{602BAD7C-CEFF-4015-88FD-D13946EDE7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2500" y="3702050"/>
              <a:ext cx="800100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>
                  <a:latin typeface="+mn-lt"/>
                </a:rPr>
                <a:t>N+M-1</a:t>
              </a:r>
            </a:p>
          </p:txBody>
        </p:sp>
        <p:sp>
          <p:nvSpPr>
            <p:cNvPr id="52" name="Text Box 78">
              <a:extLst>
                <a:ext uri="{FF2B5EF4-FFF2-40B4-BE49-F238E27FC236}">
                  <a16:creationId xmlns:a16="http://schemas.microsoft.com/office/drawing/2014/main" id="{F9EE424C-F2C7-4A2E-BF62-4F5E956DBF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4200" y="3733800"/>
              <a:ext cx="412293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+mn-lt"/>
                </a:rPr>
                <a:t>31</a:t>
              </a:r>
            </a:p>
          </p:txBody>
        </p:sp>
        <p:sp>
          <p:nvSpPr>
            <p:cNvPr id="53" name="Text Box 79">
              <a:extLst>
                <a:ext uri="{FF2B5EF4-FFF2-40B4-BE49-F238E27FC236}">
                  <a16:creationId xmlns:a16="http://schemas.microsoft.com/office/drawing/2014/main" id="{CDD1D61B-0EFF-4B2F-AD47-BF2F51EC4A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54721" y="3733800"/>
              <a:ext cx="307975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+mn-lt"/>
                </a:rPr>
                <a:t>0</a:t>
              </a:r>
            </a:p>
          </p:txBody>
        </p:sp>
        <p:sp>
          <p:nvSpPr>
            <p:cNvPr id="54" name="Text Box 80">
              <a:extLst>
                <a:ext uri="{FF2B5EF4-FFF2-40B4-BE49-F238E27FC236}">
                  <a16:creationId xmlns:a16="http://schemas.microsoft.com/office/drawing/2014/main" id="{B1BD7559-3961-4346-988A-88FDF4378A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53200" y="3733800"/>
              <a:ext cx="522288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+mn-lt"/>
                </a:rPr>
                <a:t>N-1</a:t>
              </a:r>
            </a:p>
          </p:txBody>
        </p:sp>
        <p:sp>
          <p:nvSpPr>
            <p:cNvPr id="55" name="Text Box 81">
              <a:extLst>
                <a:ext uri="{FF2B5EF4-FFF2-40B4-BE49-F238E27FC236}">
                  <a16:creationId xmlns:a16="http://schemas.microsoft.com/office/drawing/2014/main" id="{71293827-A655-436A-BE2E-BB494BE677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21058" y="3733800"/>
              <a:ext cx="332142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+mn-lt"/>
                </a:rPr>
                <a:t>N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30DC4821-A13E-42B5-98D1-135BA55218AA}"/>
                </a:ext>
              </a:extLst>
            </p:cNvPr>
            <p:cNvSpPr/>
            <p:nvPr/>
          </p:nvSpPr>
          <p:spPr>
            <a:xfrm>
              <a:off x="3206521" y="4038600"/>
              <a:ext cx="1594079" cy="4572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90712835-13B4-42E9-85FE-9F9EAEB0D88A}"/>
                </a:ext>
              </a:extLst>
            </p:cNvPr>
            <p:cNvSpPr/>
            <p:nvPr/>
          </p:nvSpPr>
          <p:spPr>
            <a:xfrm>
              <a:off x="6559321" y="4038600"/>
              <a:ext cx="1600200" cy="4572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8" name="Group 28">
              <a:extLst>
                <a:ext uri="{FF2B5EF4-FFF2-40B4-BE49-F238E27FC236}">
                  <a16:creationId xmlns:a16="http://schemas.microsoft.com/office/drawing/2014/main" id="{EF961824-A1A2-4298-B250-229FF51BAF12}"/>
                </a:ext>
              </a:extLst>
            </p:cNvPr>
            <p:cNvGrpSpPr/>
            <p:nvPr/>
          </p:nvGrpSpPr>
          <p:grpSpPr>
            <a:xfrm>
              <a:off x="3200401" y="4083050"/>
              <a:ext cx="1600199" cy="369332"/>
              <a:chOff x="1219200" y="2014270"/>
              <a:chExt cx="3352800" cy="369332"/>
            </a:xfrm>
          </p:grpSpPr>
          <p:sp>
            <p:nvSpPr>
              <p:cNvPr id="67" name="Text Box 75">
                <a:extLst>
                  <a:ext uri="{FF2B5EF4-FFF2-40B4-BE49-F238E27FC236}">
                    <a16:creationId xmlns:a16="http://schemas.microsoft.com/office/drawing/2014/main" id="{91161077-AF61-4D9E-A1AC-899AC2D34A2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30051" y="2014270"/>
                <a:ext cx="910765" cy="369332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C00000"/>
                    </a:solidFill>
                    <a:latin typeface="+mn-lt"/>
                  </a:rPr>
                  <a:t>Tag</a:t>
                </a:r>
              </a:p>
            </p:txBody>
          </p:sp>
          <p:sp>
            <p:nvSpPr>
              <p:cNvPr id="68" name="Line 76">
                <a:extLst>
                  <a:ext uri="{FF2B5EF4-FFF2-40B4-BE49-F238E27FC236}">
                    <a16:creationId xmlns:a16="http://schemas.microsoft.com/office/drawing/2014/main" id="{44A4A642-9C75-4178-912A-9D4953AF43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57600" y="2209800"/>
                <a:ext cx="9144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square">
                <a:spAutoFit/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69" name="Line 77">
                <a:extLst>
                  <a:ext uri="{FF2B5EF4-FFF2-40B4-BE49-F238E27FC236}">
                    <a16:creationId xmlns:a16="http://schemas.microsoft.com/office/drawing/2014/main" id="{075AE9B3-FCA6-4F93-9935-4CD1F67CEA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19200" y="2209800"/>
                <a:ext cx="7620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>
                <a:spAutoFit/>
              </a:bodyPr>
              <a:lstStyle/>
              <a:p>
                <a:endParaRPr lang="en-US">
                  <a:latin typeface="+mn-lt"/>
                </a:endParaRPr>
              </a:p>
            </p:txBody>
          </p:sp>
        </p:grpSp>
        <p:grpSp>
          <p:nvGrpSpPr>
            <p:cNvPr id="59" name="Group 32">
              <a:extLst>
                <a:ext uri="{FF2B5EF4-FFF2-40B4-BE49-F238E27FC236}">
                  <a16:creationId xmlns:a16="http://schemas.microsoft.com/office/drawing/2014/main" id="{8062302D-B641-410B-9378-64407EE3A3BF}"/>
                </a:ext>
              </a:extLst>
            </p:cNvPr>
            <p:cNvGrpSpPr/>
            <p:nvPr/>
          </p:nvGrpSpPr>
          <p:grpSpPr>
            <a:xfrm>
              <a:off x="6567947" y="4090356"/>
              <a:ext cx="1591574" cy="369332"/>
              <a:chOff x="1600200" y="1988392"/>
              <a:chExt cx="2590800" cy="369332"/>
            </a:xfrm>
          </p:grpSpPr>
          <p:sp>
            <p:nvSpPr>
              <p:cNvPr id="65" name="Line 77">
                <a:extLst>
                  <a:ext uri="{FF2B5EF4-FFF2-40B4-BE49-F238E27FC236}">
                    <a16:creationId xmlns:a16="http://schemas.microsoft.com/office/drawing/2014/main" id="{3F8112B2-24B4-404A-A234-EB04BB614B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600200" y="2166670"/>
                <a:ext cx="25908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triangle"/>
                <a:tailEnd type="triangle" w="med" len="med"/>
              </a:ln>
            </p:spPr>
            <p:txBody>
              <a:bodyPr wrap="square">
                <a:spAutoFit/>
              </a:bodyPr>
              <a:lstStyle/>
              <a:p>
                <a:endParaRPr lang="en-US" dirty="0">
                  <a:latin typeface="+mn-lt"/>
                </a:endParaRPr>
              </a:p>
            </p:txBody>
          </p:sp>
          <p:sp>
            <p:nvSpPr>
              <p:cNvPr id="66" name="Text Box 75">
                <a:extLst>
                  <a:ext uri="{FF2B5EF4-FFF2-40B4-BE49-F238E27FC236}">
                    <a16:creationId xmlns:a16="http://schemas.microsoft.com/office/drawing/2014/main" id="{83914A03-1ABD-4CAC-8A4F-EFA8654E430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82319" y="1988392"/>
                <a:ext cx="1488479" cy="36933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006600"/>
                    </a:solidFill>
                    <a:latin typeface="+mn-lt"/>
                  </a:rPr>
                  <a:t>Offset</a:t>
                </a:r>
              </a:p>
            </p:txBody>
          </p:sp>
        </p:grp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7AD9ED81-937C-4A84-BEB1-1112F61BD18B}"/>
                </a:ext>
              </a:extLst>
            </p:cNvPr>
            <p:cNvSpPr/>
            <p:nvPr/>
          </p:nvSpPr>
          <p:spPr>
            <a:xfrm>
              <a:off x="4806721" y="4038600"/>
              <a:ext cx="1746479" cy="4572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1" name="Group 28">
              <a:extLst>
                <a:ext uri="{FF2B5EF4-FFF2-40B4-BE49-F238E27FC236}">
                  <a16:creationId xmlns:a16="http://schemas.microsoft.com/office/drawing/2014/main" id="{4FE6B71B-3F28-4502-A70F-0B6B30B8D5A1}"/>
                </a:ext>
              </a:extLst>
            </p:cNvPr>
            <p:cNvGrpSpPr/>
            <p:nvPr/>
          </p:nvGrpSpPr>
          <p:grpSpPr>
            <a:xfrm>
              <a:off x="4800600" y="4083050"/>
              <a:ext cx="1746479" cy="369332"/>
              <a:chOff x="898660" y="2014270"/>
              <a:chExt cx="3673340" cy="369332"/>
            </a:xfrm>
          </p:grpSpPr>
          <p:sp>
            <p:nvSpPr>
              <p:cNvPr id="62" name="Text Box 75">
                <a:extLst>
                  <a:ext uri="{FF2B5EF4-FFF2-40B4-BE49-F238E27FC236}">
                    <a16:creationId xmlns:a16="http://schemas.microsoft.com/office/drawing/2014/main" id="{205CDE34-8039-4355-8B3A-7DD0BAA26DB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57377" y="2014270"/>
                <a:ext cx="1656117" cy="369332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chemeClr val="accent6">
                        <a:lumMod val="50000"/>
                      </a:schemeClr>
                    </a:solidFill>
                    <a:latin typeface="+mn-lt"/>
                  </a:rPr>
                  <a:t>Index</a:t>
                </a:r>
              </a:p>
            </p:txBody>
          </p:sp>
          <p:sp>
            <p:nvSpPr>
              <p:cNvPr id="63" name="Line 76">
                <a:extLst>
                  <a:ext uri="{FF2B5EF4-FFF2-40B4-BE49-F238E27FC236}">
                    <a16:creationId xmlns:a16="http://schemas.microsoft.com/office/drawing/2014/main" id="{FDD4B119-8152-4C98-9A8B-FF2B5C7FF3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57600" y="2209800"/>
                <a:ext cx="9144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square">
                <a:spAutoFit/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64" name="Line 77">
                <a:extLst>
                  <a:ext uri="{FF2B5EF4-FFF2-40B4-BE49-F238E27FC236}">
                    <a16:creationId xmlns:a16="http://schemas.microsoft.com/office/drawing/2014/main" id="{52E1F028-EF32-450F-9AA9-1C7FAC5326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898660" y="2198420"/>
                <a:ext cx="1082539" cy="1138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square">
                <a:spAutoFit/>
              </a:bodyPr>
              <a:lstStyle/>
              <a:p>
                <a:endParaRPr lang="en-US">
                  <a:latin typeface="+mn-lt"/>
                </a:endParaRPr>
              </a:p>
            </p:txBody>
          </p:sp>
        </p:grpSp>
      </p:grpSp>
      <p:sp>
        <p:nvSpPr>
          <p:cNvPr id="95" name="Text Box 16">
            <a:extLst>
              <a:ext uri="{FF2B5EF4-FFF2-40B4-BE49-F238E27FC236}">
                <a16:creationId xmlns:a16="http://schemas.microsoft.com/office/drawing/2014/main" id="{D6C61C64-C23F-4856-B32B-273B3506FA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2489417"/>
            <a:ext cx="4495800" cy="10156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 b="1" dirty="0">
                <a:latin typeface="+mn-lt"/>
              </a:rPr>
              <a:t>Offset, </a:t>
            </a:r>
            <a:r>
              <a:rPr lang="en-US" sz="2000" b="1" dirty="0">
                <a:solidFill>
                  <a:srgbClr val="006600"/>
                </a:solidFill>
                <a:latin typeface="+mn-lt"/>
              </a:rPr>
              <a:t>N</a:t>
            </a:r>
            <a:r>
              <a:rPr lang="en-US" sz="2000" dirty="0">
                <a:latin typeface="+mn-lt"/>
              </a:rPr>
              <a:t> = </a:t>
            </a:r>
            <a:r>
              <a:rPr lang="en-US" sz="2000" b="1" dirty="0">
                <a:latin typeface="+mn-lt"/>
              </a:rPr>
              <a:t>4 bits</a:t>
            </a:r>
          </a:p>
          <a:p>
            <a:r>
              <a:rPr lang="en-US" sz="2000" b="1" dirty="0">
                <a:solidFill>
                  <a:srgbClr val="C00000"/>
                </a:solidFill>
                <a:latin typeface="+mn-lt"/>
              </a:rPr>
              <a:t>Block Number </a:t>
            </a:r>
            <a:r>
              <a:rPr lang="en-US" sz="2000" dirty="0">
                <a:latin typeface="+mn-lt"/>
              </a:rPr>
              <a:t>= 32 – 4 = </a:t>
            </a:r>
            <a:r>
              <a:rPr lang="en-US" sz="2000" b="1" dirty="0">
                <a:latin typeface="+mn-lt"/>
              </a:rPr>
              <a:t>28 bits</a:t>
            </a:r>
          </a:p>
          <a:p>
            <a:r>
              <a:rPr lang="en-US" sz="2000" dirty="0">
                <a:latin typeface="+mn-lt"/>
              </a:rPr>
              <a:t>Check: Number of Blocks = </a:t>
            </a:r>
            <a:r>
              <a:rPr lang="en-US" sz="2000" b="1" dirty="0">
                <a:latin typeface="+mn-lt"/>
              </a:rPr>
              <a:t>2</a:t>
            </a:r>
            <a:r>
              <a:rPr lang="en-US" sz="2000" b="1" baseline="30000" dirty="0">
                <a:latin typeface="+mn-lt"/>
              </a:rPr>
              <a:t>28</a:t>
            </a:r>
            <a:r>
              <a:rPr lang="en-US" sz="2000" b="1" dirty="0">
                <a:latin typeface="+mn-lt"/>
              </a:rPr>
              <a:t> </a:t>
            </a:r>
            <a:r>
              <a:rPr lang="en-US" sz="2000" dirty="0">
                <a:latin typeface="+mn-lt"/>
              </a:rPr>
              <a:t> </a:t>
            </a:r>
          </a:p>
        </p:txBody>
      </p:sp>
      <p:sp>
        <p:nvSpPr>
          <p:cNvPr id="96" name="Text Box 16">
            <a:extLst>
              <a:ext uri="{FF2B5EF4-FFF2-40B4-BE49-F238E27FC236}">
                <a16:creationId xmlns:a16="http://schemas.microsoft.com/office/drawing/2014/main" id="{3B7585CC-DA02-4836-B8CA-7906DB6371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4849863"/>
            <a:ext cx="4876800" cy="132343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 b="1" dirty="0">
                <a:latin typeface="+mn-lt"/>
              </a:rPr>
              <a:t>Number of Cache Blocks </a:t>
            </a:r>
          </a:p>
          <a:p>
            <a:r>
              <a:rPr lang="en-US" sz="2000" dirty="0">
                <a:latin typeface="+mn-lt"/>
              </a:rPr>
              <a:t>= 16KB / 16bytes = 1024 =</a:t>
            </a:r>
            <a:r>
              <a:rPr lang="en-US" sz="2000" b="1" dirty="0">
                <a:latin typeface="+mn-lt"/>
              </a:rPr>
              <a:t> 2</a:t>
            </a:r>
            <a:r>
              <a:rPr lang="en-US" sz="2000" b="1" baseline="30000" dirty="0">
                <a:latin typeface="+mn-lt"/>
              </a:rPr>
              <a:t>10</a:t>
            </a:r>
            <a:endParaRPr lang="en-US" sz="2000" baseline="30000" dirty="0">
              <a:latin typeface="+mn-lt"/>
            </a:endParaRPr>
          </a:p>
          <a:p>
            <a:r>
              <a:rPr lang="en-US" sz="2000" b="1" dirty="0">
                <a:latin typeface="+mn-lt"/>
              </a:rPr>
              <a:t>Cache Index,</a:t>
            </a:r>
            <a:r>
              <a:rPr lang="en-US" sz="2000" b="1" dirty="0">
                <a:solidFill>
                  <a:srgbClr val="663300"/>
                </a:solidFill>
                <a:latin typeface="+mn-lt"/>
              </a:rPr>
              <a:t> M </a:t>
            </a:r>
            <a:r>
              <a:rPr lang="en-US" sz="2000" dirty="0">
                <a:latin typeface="+mn-lt"/>
              </a:rPr>
              <a:t>= </a:t>
            </a:r>
            <a:r>
              <a:rPr lang="en-US" sz="2000" b="1" dirty="0">
                <a:latin typeface="+mn-lt"/>
              </a:rPr>
              <a:t>10bits</a:t>
            </a:r>
          </a:p>
          <a:p>
            <a:r>
              <a:rPr lang="en-US" sz="2000" b="1" dirty="0">
                <a:solidFill>
                  <a:srgbClr val="C00000"/>
                </a:solidFill>
                <a:latin typeface="+mn-lt"/>
              </a:rPr>
              <a:t>Cache Tag </a:t>
            </a:r>
            <a:r>
              <a:rPr lang="en-US" sz="2000" dirty="0">
                <a:latin typeface="+mn-lt"/>
              </a:rPr>
              <a:t>= 32 – 10 – 4 = </a:t>
            </a:r>
            <a:r>
              <a:rPr lang="en-US" sz="2000" b="1" dirty="0">
                <a:latin typeface="+mn-lt"/>
              </a:rPr>
              <a:t>18 bits</a:t>
            </a:r>
          </a:p>
        </p:txBody>
      </p:sp>
    </p:spTree>
    <p:extLst>
      <p:ext uri="{BB962C8B-B14F-4D97-AF65-F5344CB8AC3E}">
        <p14:creationId xmlns:p14="http://schemas.microsoft.com/office/powerpoint/2010/main" val="361656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4. Cache Circuitry: </a:t>
            </a:r>
            <a:r>
              <a:rPr lang="en-GB" sz="3600" b="1" dirty="0">
                <a:solidFill>
                  <a:srgbClr val="0000FF"/>
                </a:solidFill>
              </a:rPr>
              <a:t>Example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#22: Cache I: Direct Mapped Cache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31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grpSp>
        <p:nvGrpSpPr>
          <p:cNvPr id="75" name="Group 165">
            <a:extLst>
              <a:ext uri="{FF2B5EF4-FFF2-40B4-BE49-F238E27FC236}">
                <a16:creationId xmlns:a16="http://schemas.microsoft.com/office/drawing/2014/main" id="{9EED9071-6A6B-45DF-9367-6D8E198402ED}"/>
              </a:ext>
            </a:extLst>
          </p:cNvPr>
          <p:cNvGrpSpPr>
            <a:grpSpLocks/>
          </p:cNvGrpSpPr>
          <p:nvPr/>
        </p:nvGrpSpPr>
        <p:grpSpPr bwMode="auto">
          <a:xfrm>
            <a:off x="902368" y="2286000"/>
            <a:ext cx="3733800" cy="1524000"/>
            <a:chOff x="576" y="1248"/>
            <a:chExt cx="2352" cy="1152"/>
          </a:xfrm>
        </p:grpSpPr>
        <p:grpSp>
          <p:nvGrpSpPr>
            <p:cNvPr id="76" name="Group 166">
              <a:extLst>
                <a:ext uri="{FF2B5EF4-FFF2-40B4-BE49-F238E27FC236}">
                  <a16:creationId xmlns:a16="http://schemas.microsoft.com/office/drawing/2014/main" id="{89A5A06E-0C6D-4436-9830-AB9224814B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6" y="1248"/>
              <a:ext cx="2352" cy="1152"/>
              <a:chOff x="576" y="1248"/>
              <a:chExt cx="2352" cy="1152"/>
            </a:xfrm>
          </p:grpSpPr>
          <p:sp>
            <p:nvSpPr>
              <p:cNvPr id="78" name="Line 167">
                <a:extLst>
                  <a:ext uri="{FF2B5EF4-FFF2-40B4-BE49-F238E27FC236}">
                    <a16:creationId xmlns:a16="http://schemas.microsoft.com/office/drawing/2014/main" id="{80812F70-BEB4-4958-A2E3-6B9E114092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84" y="1421"/>
                <a:ext cx="148" cy="57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" name="Text Box 168">
                <a:extLst>
                  <a:ext uri="{FF2B5EF4-FFF2-40B4-BE49-F238E27FC236}">
                    <a16:creationId xmlns:a16="http://schemas.microsoft.com/office/drawing/2014/main" id="{5F81AD84-669D-4CE4-B348-05407FFD18B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88" y="1248"/>
                <a:ext cx="240" cy="19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sz="1400" dirty="0"/>
                  <a:t>10</a:t>
                </a:r>
              </a:p>
            </p:txBody>
          </p:sp>
          <p:sp>
            <p:nvSpPr>
              <p:cNvPr id="80" name="Text Box 169">
                <a:extLst>
                  <a:ext uri="{FF2B5EF4-FFF2-40B4-BE49-F238E27FC236}">
                    <a16:creationId xmlns:a16="http://schemas.microsoft.com/office/drawing/2014/main" id="{C9542226-39C9-44AE-B3FC-23083791831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08" y="1423"/>
                <a:ext cx="454" cy="21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sz="1600" b="1" dirty="0">
                    <a:solidFill>
                      <a:schemeClr val="accent6">
                        <a:lumMod val="50000"/>
                      </a:schemeClr>
                    </a:solidFill>
                  </a:rPr>
                  <a:t>Index</a:t>
                </a:r>
              </a:p>
            </p:txBody>
          </p:sp>
          <p:sp>
            <p:nvSpPr>
              <p:cNvPr id="81" name="Line 170">
                <a:extLst>
                  <a:ext uri="{FF2B5EF4-FFF2-40B4-BE49-F238E27FC236}">
                    <a16:creationId xmlns:a16="http://schemas.microsoft.com/office/drawing/2014/main" id="{D1F69696-7727-42D9-88E1-0D43FAAE06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6" y="1248"/>
                <a:ext cx="0" cy="384"/>
              </a:xfrm>
              <a:prstGeom prst="line">
                <a:avLst/>
              </a:prstGeom>
              <a:noFill/>
              <a:ln w="28575">
                <a:solidFill>
                  <a:schemeClr val="accent6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" name="Line 171">
                <a:extLst>
                  <a:ext uri="{FF2B5EF4-FFF2-40B4-BE49-F238E27FC236}">
                    <a16:creationId xmlns:a16="http://schemas.microsoft.com/office/drawing/2014/main" id="{5FD15A4F-8E13-4EFB-9FEE-C7601A465B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1632"/>
                <a:ext cx="2160" cy="0"/>
              </a:xfrm>
              <a:prstGeom prst="line">
                <a:avLst/>
              </a:prstGeom>
              <a:noFill/>
              <a:ln w="38100">
                <a:solidFill>
                  <a:schemeClr val="accent6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" name="Line 172">
                <a:extLst>
                  <a:ext uri="{FF2B5EF4-FFF2-40B4-BE49-F238E27FC236}">
                    <a16:creationId xmlns:a16="http://schemas.microsoft.com/office/drawing/2014/main" id="{679E0CBE-BE0C-4E02-9683-8AB6877533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1632"/>
                <a:ext cx="0" cy="768"/>
              </a:xfrm>
              <a:prstGeom prst="line">
                <a:avLst/>
              </a:prstGeom>
              <a:noFill/>
              <a:ln w="28575">
                <a:solidFill>
                  <a:schemeClr val="accent6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7" name="Line 173">
              <a:extLst>
                <a:ext uri="{FF2B5EF4-FFF2-40B4-BE49-F238E27FC236}">
                  <a16:creationId xmlns:a16="http://schemas.microsoft.com/office/drawing/2014/main" id="{4F481825-A989-4522-8D22-01697709FB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2400"/>
              <a:ext cx="240" cy="0"/>
            </a:xfrm>
            <a:prstGeom prst="line">
              <a:avLst/>
            </a:prstGeom>
            <a:noFill/>
            <a:ln w="28575">
              <a:solidFill>
                <a:schemeClr val="accent6">
                  <a:lumMod val="50000"/>
                </a:schemeClr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8" name="Group 208">
            <a:extLst>
              <a:ext uri="{FF2B5EF4-FFF2-40B4-BE49-F238E27FC236}">
                <a16:creationId xmlns:a16="http://schemas.microsoft.com/office/drawing/2014/main" id="{FD5D5E95-6DD7-4697-96F5-8541096F41D9}"/>
              </a:ext>
            </a:extLst>
          </p:cNvPr>
          <p:cNvGrpSpPr>
            <a:grpSpLocks/>
          </p:cNvGrpSpPr>
          <p:nvPr/>
        </p:nvGrpSpPr>
        <p:grpSpPr bwMode="auto">
          <a:xfrm>
            <a:off x="749968" y="2286000"/>
            <a:ext cx="2971800" cy="3424238"/>
            <a:chOff x="480" y="1248"/>
            <a:chExt cx="1872" cy="2157"/>
          </a:xfrm>
        </p:grpSpPr>
        <p:grpSp>
          <p:nvGrpSpPr>
            <p:cNvPr id="89" name="Group 209">
              <a:extLst>
                <a:ext uri="{FF2B5EF4-FFF2-40B4-BE49-F238E27FC236}">
                  <a16:creationId xmlns:a16="http://schemas.microsoft.com/office/drawing/2014/main" id="{5884FE7D-1592-4720-A293-65D2712D6A6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0" y="1248"/>
              <a:ext cx="1872" cy="2064"/>
              <a:chOff x="432" y="1248"/>
              <a:chExt cx="1872" cy="2064"/>
            </a:xfrm>
          </p:grpSpPr>
          <p:sp>
            <p:nvSpPr>
              <p:cNvPr id="92" name="Line 210">
                <a:extLst>
                  <a:ext uri="{FF2B5EF4-FFF2-40B4-BE49-F238E27FC236}">
                    <a16:creationId xmlns:a16="http://schemas.microsoft.com/office/drawing/2014/main" id="{721EE5E5-1F83-4E0F-BABA-5B4953FF96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6" y="1344"/>
                <a:ext cx="145" cy="55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" name="Text Box 211">
                <a:extLst>
                  <a:ext uri="{FF2B5EF4-FFF2-40B4-BE49-F238E27FC236}">
                    <a16:creationId xmlns:a16="http://schemas.microsoft.com/office/drawing/2014/main" id="{576F4A5A-E30B-4401-8ED3-440CD87EF8D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64" y="1248"/>
                <a:ext cx="240" cy="19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sz="1400"/>
                  <a:t>18</a:t>
                </a:r>
              </a:p>
            </p:txBody>
          </p:sp>
          <p:sp>
            <p:nvSpPr>
              <p:cNvPr id="94" name="Text Box 212">
                <a:extLst>
                  <a:ext uri="{FF2B5EF4-FFF2-40B4-BE49-F238E27FC236}">
                    <a16:creationId xmlns:a16="http://schemas.microsoft.com/office/drawing/2014/main" id="{C7A79715-347B-4285-A0B7-CC64959A84A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2" y="1279"/>
                <a:ext cx="336" cy="21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sz="1600" b="1" dirty="0">
                    <a:solidFill>
                      <a:srgbClr val="C00000"/>
                    </a:solidFill>
                  </a:rPr>
                  <a:t>Tag</a:t>
                </a:r>
              </a:p>
            </p:txBody>
          </p:sp>
          <p:sp>
            <p:nvSpPr>
              <p:cNvPr id="97" name="Line 213">
                <a:extLst>
                  <a:ext uri="{FF2B5EF4-FFF2-40B4-BE49-F238E27FC236}">
                    <a16:creationId xmlns:a16="http://schemas.microsoft.com/office/drawing/2014/main" id="{4F5BBA80-A2D9-4221-8B1A-5D92CF7133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12" y="1248"/>
                <a:ext cx="0" cy="240"/>
              </a:xfrm>
              <a:prstGeom prst="line">
                <a:avLst/>
              </a:prstGeom>
              <a:noFill/>
              <a:ln w="28575">
                <a:solidFill>
                  <a:srgbClr val="C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" name="Line 214">
                <a:extLst>
                  <a:ext uri="{FF2B5EF4-FFF2-40B4-BE49-F238E27FC236}">
                    <a16:creationId xmlns:a16="http://schemas.microsoft.com/office/drawing/2014/main" id="{8A33C876-E89F-439D-B24F-B4A05AB17C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" y="1488"/>
                <a:ext cx="1680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" name="Line 215">
                <a:extLst>
                  <a:ext uri="{FF2B5EF4-FFF2-40B4-BE49-F238E27FC236}">
                    <a16:creationId xmlns:a16="http://schemas.microsoft.com/office/drawing/2014/main" id="{CC27EF49-AEF3-42D6-9F27-111E111FD0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" y="1488"/>
                <a:ext cx="0" cy="1824"/>
              </a:xfrm>
              <a:prstGeom prst="line">
                <a:avLst/>
              </a:prstGeom>
              <a:noFill/>
              <a:ln w="28575">
                <a:solidFill>
                  <a:srgbClr val="C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" name="Line 216">
                <a:extLst>
                  <a:ext uri="{FF2B5EF4-FFF2-40B4-BE49-F238E27FC236}">
                    <a16:creationId xmlns:a16="http://schemas.microsoft.com/office/drawing/2014/main" id="{AEF6BFB2-600C-4158-85BD-B641D35094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" y="3312"/>
                <a:ext cx="720" cy="0"/>
              </a:xfrm>
              <a:prstGeom prst="line">
                <a:avLst/>
              </a:prstGeom>
              <a:noFill/>
              <a:ln w="28575">
                <a:solidFill>
                  <a:srgbClr val="C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90" name="Freeform 217">
              <a:extLst>
                <a:ext uri="{FF2B5EF4-FFF2-40B4-BE49-F238E27FC236}">
                  <a16:creationId xmlns:a16="http://schemas.microsoft.com/office/drawing/2014/main" id="{34C18D67-4046-4A6B-9E79-A3F63D8646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0" y="3216"/>
              <a:ext cx="231" cy="189"/>
            </a:xfrm>
            <a:custGeom>
              <a:avLst/>
              <a:gdLst>
                <a:gd name="T0" fmla="*/ 125 w 249"/>
                <a:gd name="T1" fmla="*/ 162 h 165"/>
                <a:gd name="T2" fmla="*/ 145 w 249"/>
                <a:gd name="T3" fmla="*/ 162 h 165"/>
                <a:gd name="T4" fmla="*/ 165 w 249"/>
                <a:gd name="T5" fmla="*/ 160 h 165"/>
                <a:gd name="T6" fmla="*/ 182 w 249"/>
                <a:gd name="T7" fmla="*/ 154 h 165"/>
                <a:gd name="T8" fmla="*/ 199 w 249"/>
                <a:gd name="T9" fmla="*/ 147 h 165"/>
                <a:gd name="T10" fmla="*/ 216 w 249"/>
                <a:gd name="T11" fmla="*/ 140 h 165"/>
                <a:gd name="T12" fmla="*/ 226 w 249"/>
                <a:gd name="T13" fmla="*/ 130 h 165"/>
                <a:gd name="T14" fmla="*/ 236 w 249"/>
                <a:gd name="T15" fmla="*/ 121 h 165"/>
                <a:gd name="T16" fmla="*/ 246 w 249"/>
                <a:gd name="T17" fmla="*/ 108 h 165"/>
                <a:gd name="T18" fmla="*/ 249 w 249"/>
                <a:gd name="T19" fmla="*/ 94 h 165"/>
                <a:gd name="T20" fmla="*/ 249 w 249"/>
                <a:gd name="T21" fmla="*/ 81 h 165"/>
                <a:gd name="T22" fmla="*/ 249 w 249"/>
                <a:gd name="T23" fmla="*/ 68 h 165"/>
                <a:gd name="T24" fmla="*/ 246 w 249"/>
                <a:gd name="T25" fmla="*/ 57 h 165"/>
                <a:gd name="T26" fmla="*/ 236 w 249"/>
                <a:gd name="T27" fmla="*/ 44 h 165"/>
                <a:gd name="T28" fmla="*/ 226 w 249"/>
                <a:gd name="T29" fmla="*/ 35 h 165"/>
                <a:gd name="T30" fmla="*/ 216 w 249"/>
                <a:gd name="T31" fmla="*/ 24 h 165"/>
                <a:gd name="T32" fmla="*/ 199 w 249"/>
                <a:gd name="T33" fmla="*/ 15 h 165"/>
                <a:gd name="T34" fmla="*/ 182 w 249"/>
                <a:gd name="T35" fmla="*/ 9 h 165"/>
                <a:gd name="T36" fmla="*/ 165 w 249"/>
                <a:gd name="T37" fmla="*/ 4 h 165"/>
                <a:gd name="T38" fmla="*/ 145 w 249"/>
                <a:gd name="T39" fmla="*/ 2 h 165"/>
                <a:gd name="T40" fmla="*/ 125 w 249"/>
                <a:gd name="T41" fmla="*/ 0 h 165"/>
                <a:gd name="T42" fmla="*/ 105 w 249"/>
                <a:gd name="T43" fmla="*/ 2 h 165"/>
                <a:gd name="T44" fmla="*/ 88 w 249"/>
                <a:gd name="T45" fmla="*/ 4 h 165"/>
                <a:gd name="T46" fmla="*/ 68 w 249"/>
                <a:gd name="T47" fmla="*/ 9 h 165"/>
                <a:gd name="T48" fmla="*/ 51 w 249"/>
                <a:gd name="T49" fmla="*/ 15 h 165"/>
                <a:gd name="T50" fmla="*/ 37 w 249"/>
                <a:gd name="T51" fmla="*/ 24 h 165"/>
                <a:gd name="T52" fmla="*/ 24 w 249"/>
                <a:gd name="T53" fmla="*/ 35 h 165"/>
                <a:gd name="T54" fmla="*/ 14 w 249"/>
                <a:gd name="T55" fmla="*/ 44 h 165"/>
                <a:gd name="T56" fmla="*/ 7 w 249"/>
                <a:gd name="T57" fmla="*/ 57 h 165"/>
                <a:gd name="T58" fmla="*/ 4 w 249"/>
                <a:gd name="T59" fmla="*/ 68 h 165"/>
                <a:gd name="T60" fmla="*/ 0 w 249"/>
                <a:gd name="T61" fmla="*/ 81 h 165"/>
                <a:gd name="T62" fmla="*/ 4 w 249"/>
                <a:gd name="T63" fmla="*/ 94 h 165"/>
                <a:gd name="T64" fmla="*/ 7 w 249"/>
                <a:gd name="T65" fmla="*/ 108 h 165"/>
                <a:gd name="T66" fmla="*/ 14 w 249"/>
                <a:gd name="T67" fmla="*/ 121 h 165"/>
                <a:gd name="T68" fmla="*/ 24 w 249"/>
                <a:gd name="T69" fmla="*/ 130 h 165"/>
                <a:gd name="T70" fmla="*/ 37 w 249"/>
                <a:gd name="T71" fmla="*/ 140 h 165"/>
                <a:gd name="T72" fmla="*/ 51 w 249"/>
                <a:gd name="T73" fmla="*/ 147 h 165"/>
                <a:gd name="T74" fmla="*/ 68 w 249"/>
                <a:gd name="T75" fmla="*/ 154 h 165"/>
                <a:gd name="T76" fmla="*/ 88 w 249"/>
                <a:gd name="T77" fmla="*/ 160 h 165"/>
                <a:gd name="T78" fmla="*/ 105 w 249"/>
                <a:gd name="T79" fmla="*/ 162 h 165"/>
                <a:gd name="T80" fmla="*/ 125 w 249"/>
                <a:gd name="T81" fmla="*/ 165 h 165"/>
                <a:gd name="T82" fmla="*/ 125 w 249"/>
                <a:gd name="T83" fmla="*/ 165 h 165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49"/>
                <a:gd name="T127" fmla="*/ 0 h 165"/>
                <a:gd name="T128" fmla="*/ 249 w 249"/>
                <a:gd name="T129" fmla="*/ 165 h 165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49" h="165">
                  <a:moveTo>
                    <a:pt x="125" y="162"/>
                  </a:moveTo>
                  <a:lnTo>
                    <a:pt x="145" y="162"/>
                  </a:lnTo>
                  <a:lnTo>
                    <a:pt x="165" y="160"/>
                  </a:lnTo>
                  <a:lnTo>
                    <a:pt x="182" y="154"/>
                  </a:lnTo>
                  <a:lnTo>
                    <a:pt x="199" y="147"/>
                  </a:lnTo>
                  <a:lnTo>
                    <a:pt x="216" y="140"/>
                  </a:lnTo>
                  <a:lnTo>
                    <a:pt x="226" y="130"/>
                  </a:lnTo>
                  <a:lnTo>
                    <a:pt x="236" y="121"/>
                  </a:lnTo>
                  <a:lnTo>
                    <a:pt x="246" y="108"/>
                  </a:lnTo>
                  <a:lnTo>
                    <a:pt x="249" y="94"/>
                  </a:lnTo>
                  <a:lnTo>
                    <a:pt x="249" y="81"/>
                  </a:lnTo>
                  <a:lnTo>
                    <a:pt x="249" y="68"/>
                  </a:lnTo>
                  <a:lnTo>
                    <a:pt x="246" y="57"/>
                  </a:lnTo>
                  <a:lnTo>
                    <a:pt x="236" y="44"/>
                  </a:lnTo>
                  <a:lnTo>
                    <a:pt x="226" y="35"/>
                  </a:lnTo>
                  <a:lnTo>
                    <a:pt x="216" y="24"/>
                  </a:lnTo>
                  <a:lnTo>
                    <a:pt x="199" y="15"/>
                  </a:lnTo>
                  <a:lnTo>
                    <a:pt x="182" y="9"/>
                  </a:lnTo>
                  <a:lnTo>
                    <a:pt x="165" y="4"/>
                  </a:lnTo>
                  <a:lnTo>
                    <a:pt x="145" y="2"/>
                  </a:lnTo>
                  <a:lnTo>
                    <a:pt x="125" y="0"/>
                  </a:lnTo>
                  <a:lnTo>
                    <a:pt x="105" y="2"/>
                  </a:lnTo>
                  <a:lnTo>
                    <a:pt x="88" y="4"/>
                  </a:lnTo>
                  <a:lnTo>
                    <a:pt x="68" y="9"/>
                  </a:lnTo>
                  <a:lnTo>
                    <a:pt x="51" y="15"/>
                  </a:lnTo>
                  <a:lnTo>
                    <a:pt x="37" y="24"/>
                  </a:lnTo>
                  <a:lnTo>
                    <a:pt x="24" y="35"/>
                  </a:lnTo>
                  <a:lnTo>
                    <a:pt x="14" y="44"/>
                  </a:lnTo>
                  <a:lnTo>
                    <a:pt x="7" y="57"/>
                  </a:lnTo>
                  <a:lnTo>
                    <a:pt x="4" y="68"/>
                  </a:lnTo>
                  <a:lnTo>
                    <a:pt x="0" y="81"/>
                  </a:lnTo>
                  <a:lnTo>
                    <a:pt x="4" y="94"/>
                  </a:lnTo>
                  <a:lnTo>
                    <a:pt x="7" y="108"/>
                  </a:lnTo>
                  <a:lnTo>
                    <a:pt x="14" y="121"/>
                  </a:lnTo>
                  <a:lnTo>
                    <a:pt x="24" y="130"/>
                  </a:lnTo>
                  <a:lnTo>
                    <a:pt x="37" y="140"/>
                  </a:lnTo>
                  <a:lnTo>
                    <a:pt x="51" y="147"/>
                  </a:lnTo>
                  <a:lnTo>
                    <a:pt x="68" y="154"/>
                  </a:lnTo>
                  <a:lnTo>
                    <a:pt x="88" y="160"/>
                  </a:lnTo>
                  <a:lnTo>
                    <a:pt x="105" y="162"/>
                  </a:lnTo>
                  <a:lnTo>
                    <a:pt x="125" y="165"/>
                  </a:lnTo>
                </a:path>
              </a:pathLst>
            </a:custGeom>
            <a:noFill/>
            <a:ln w="206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Freeform 218">
              <a:extLst>
                <a:ext uri="{FF2B5EF4-FFF2-40B4-BE49-F238E27FC236}">
                  <a16:creationId xmlns:a16="http://schemas.microsoft.com/office/drawing/2014/main" id="{E810E83F-F905-4DD1-A3AD-D8989A97C66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0" y="3312"/>
              <a:ext cx="74" cy="25"/>
            </a:xfrm>
            <a:custGeom>
              <a:avLst/>
              <a:gdLst>
                <a:gd name="T0" fmla="*/ 0 w 74"/>
                <a:gd name="T1" fmla="*/ 0 h 25"/>
                <a:gd name="T2" fmla="*/ 74 w 74"/>
                <a:gd name="T3" fmla="*/ 0 h 25"/>
                <a:gd name="T4" fmla="*/ 74 w 74"/>
                <a:gd name="T5" fmla="*/ 7 h 25"/>
                <a:gd name="T6" fmla="*/ 3 w 74"/>
                <a:gd name="T7" fmla="*/ 7 h 25"/>
                <a:gd name="T8" fmla="*/ 3 w 74"/>
                <a:gd name="T9" fmla="*/ 0 h 25"/>
                <a:gd name="T10" fmla="*/ 3 w 74"/>
                <a:gd name="T11" fmla="*/ 0 h 25"/>
                <a:gd name="T12" fmla="*/ 0 w 74"/>
                <a:gd name="T13" fmla="*/ 0 h 25"/>
                <a:gd name="T14" fmla="*/ 3 w 74"/>
                <a:gd name="T15" fmla="*/ 18 h 25"/>
                <a:gd name="T16" fmla="*/ 74 w 74"/>
                <a:gd name="T17" fmla="*/ 18 h 25"/>
                <a:gd name="T18" fmla="*/ 74 w 74"/>
                <a:gd name="T19" fmla="*/ 25 h 25"/>
                <a:gd name="T20" fmla="*/ 3 w 74"/>
                <a:gd name="T21" fmla="*/ 25 h 25"/>
                <a:gd name="T22" fmla="*/ 3 w 74"/>
                <a:gd name="T23" fmla="*/ 18 h 25"/>
                <a:gd name="T24" fmla="*/ 3 w 74"/>
                <a:gd name="T25" fmla="*/ 18 h 2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74"/>
                <a:gd name="T40" fmla="*/ 0 h 25"/>
                <a:gd name="T41" fmla="*/ 74 w 74"/>
                <a:gd name="T42" fmla="*/ 25 h 25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74" h="25">
                  <a:moveTo>
                    <a:pt x="0" y="0"/>
                  </a:moveTo>
                  <a:lnTo>
                    <a:pt x="74" y="0"/>
                  </a:lnTo>
                  <a:lnTo>
                    <a:pt x="74" y="7"/>
                  </a:lnTo>
                  <a:lnTo>
                    <a:pt x="3" y="7"/>
                  </a:lnTo>
                  <a:lnTo>
                    <a:pt x="3" y="0"/>
                  </a:lnTo>
                  <a:lnTo>
                    <a:pt x="0" y="0"/>
                  </a:lnTo>
                  <a:close/>
                  <a:moveTo>
                    <a:pt x="3" y="18"/>
                  </a:moveTo>
                  <a:lnTo>
                    <a:pt x="74" y="18"/>
                  </a:lnTo>
                  <a:lnTo>
                    <a:pt x="74" y="25"/>
                  </a:lnTo>
                  <a:lnTo>
                    <a:pt x="3" y="25"/>
                  </a:lnTo>
                  <a:lnTo>
                    <a:pt x="3" y="1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1" name="Freeform 220">
            <a:extLst>
              <a:ext uri="{FF2B5EF4-FFF2-40B4-BE49-F238E27FC236}">
                <a16:creationId xmlns:a16="http://schemas.microsoft.com/office/drawing/2014/main" id="{3DFBDFF1-D6BE-4DB6-9C91-24C9C6883048}"/>
              </a:ext>
            </a:extLst>
          </p:cNvPr>
          <p:cNvSpPr>
            <a:spLocks/>
          </p:cNvSpPr>
          <p:nvPr/>
        </p:nvSpPr>
        <p:spPr bwMode="auto">
          <a:xfrm>
            <a:off x="1435768" y="5943599"/>
            <a:ext cx="352425" cy="338511"/>
          </a:xfrm>
          <a:custGeom>
            <a:avLst/>
            <a:gdLst>
              <a:gd name="T0" fmla="*/ 0 w 222"/>
              <a:gd name="T1" fmla="*/ 101 h 172"/>
              <a:gd name="T2" fmla="*/ 3 w 222"/>
              <a:gd name="T3" fmla="*/ 114 h 172"/>
              <a:gd name="T4" fmla="*/ 7 w 222"/>
              <a:gd name="T5" fmla="*/ 125 h 172"/>
              <a:gd name="T6" fmla="*/ 13 w 222"/>
              <a:gd name="T7" fmla="*/ 134 h 172"/>
              <a:gd name="T8" fmla="*/ 23 w 222"/>
              <a:gd name="T9" fmla="*/ 143 h 172"/>
              <a:gd name="T10" fmla="*/ 33 w 222"/>
              <a:gd name="T11" fmla="*/ 152 h 172"/>
              <a:gd name="T12" fmla="*/ 47 w 222"/>
              <a:gd name="T13" fmla="*/ 158 h 172"/>
              <a:gd name="T14" fmla="*/ 60 w 222"/>
              <a:gd name="T15" fmla="*/ 165 h 172"/>
              <a:gd name="T16" fmla="*/ 77 w 222"/>
              <a:gd name="T17" fmla="*/ 169 h 172"/>
              <a:gd name="T18" fmla="*/ 94 w 222"/>
              <a:gd name="T19" fmla="*/ 172 h 172"/>
              <a:gd name="T20" fmla="*/ 111 w 222"/>
              <a:gd name="T21" fmla="*/ 172 h 172"/>
              <a:gd name="T22" fmla="*/ 131 w 222"/>
              <a:gd name="T23" fmla="*/ 172 h 172"/>
              <a:gd name="T24" fmla="*/ 148 w 222"/>
              <a:gd name="T25" fmla="*/ 169 h 172"/>
              <a:gd name="T26" fmla="*/ 161 w 222"/>
              <a:gd name="T27" fmla="*/ 165 h 172"/>
              <a:gd name="T28" fmla="*/ 178 w 222"/>
              <a:gd name="T29" fmla="*/ 158 h 172"/>
              <a:gd name="T30" fmla="*/ 188 w 222"/>
              <a:gd name="T31" fmla="*/ 152 h 172"/>
              <a:gd name="T32" fmla="*/ 202 w 222"/>
              <a:gd name="T33" fmla="*/ 143 h 172"/>
              <a:gd name="T34" fmla="*/ 208 w 222"/>
              <a:gd name="T35" fmla="*/ 134 h 172"/>
              <a:gd name="T36" fmla="*/ 215 w 222"/>
              <a:gd name="T37" fmla="*/ 125 h 172"/>
              <a:gd name="T38" fmla="*/ 222 w 222"/>
              <a:gd name="T39" fmla="*/ 114 h 172"/>
              <a:gd name="T40" fmla="*/ 222 w 222"/>
              <a:gd name="T41" fmla="*/ 104 h 172"/>
              <a:gd name="T42" fmla="*/ 222 w 222"/>
              <a:gd name="T43" fmla="*/ 0 h 172"/>
              <a:gd name="T44" fmla="*/ 3 w 222"/>
              <a:gd name="T45" fmla="*/ 0 h 172"/>
              <a:gd name="T46" fmla="*/ 3 w 222"/>
              <a:gd name="T47" fmla="*/ 104 h 172"/>
              <a:gd name="T48" fmla="*/ 3 w 222"/>
              <a:gd name="T49" fmla="*/ 104 h 17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222"/>
              <a:gd name="T76" fmla="*/ 0 h 172"/>
              <a:gd name="T77" fmla="*/ 222 w 222"/>
              <a:gd name="T78" fmla="*/ 172 h 17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222" h="172">
                <a:moveTo>
                  <a:pt x="0" y="101"/>
                </a:moveTo>
                <a:lnTo>
                  <a:pt x="3" y="114"/>
                </a:lnTo>
                <a:lnTo>
                  <a:pt x="7" y="125"/>
                </a:lnTo>
                <a:lnTo>
                  <a:pt x="13" y="134"/>
                </a:lnTo>
                <a:lnTo>
                  <a:pt x="23" y="143"/>
                </a:lnTo>
                <a:lnTo>
                  <a:pt x="33" y="152"/>
                </a:lnTo>
                <a:lnTo>
                  <a:pt x="47" y="158"/>
                </a:lnTo>
                <a:lnTo>
                  <a:pt x="60" y="165"/>
                </a:lnTo>
                <a:lnTo>
                  <a:pt x="77" y="169"/>
                </a:lnTo>
                <a:lnTo>
                  <a:pt x="94" y="172"/>
                </a:lnTo>
                <a:lnTo>
                  <a:pt x="111" y="172"/>
                </a:lnTo>
                <a:lnTo>
                  <a:pt x="131" y="172"/>
                </a:lnTo>
                <a:lnTo>
                  <a:pt x="148" y="169"/>
                </a:lnTo>
                <a:lnTo>
                  <a:pt x="161" y="165"/>
                </a:lnTo>
                <a:lnTo>
                  <a:pt x="178" y="158"/>
                </a:lnTo>
                <a:lnTo>
                  <a:pt x="188" y="152"/>
                </a:lnTo>
                <a:lnTo>
                  <a:pt x="202" y="143"/>
                </a:lnTo>
                <a:lnTo>
                  <a:pt x="208" y="134"/>
                </a:lnTo>
                <a:lnTo>
                  <a:pt x="215" y="125"/>
                </a:lnTo>
                <a:lnTo>
                  <a:pt x="222" y="114"/>
                </a:lnTo>
                <a:lnTo>
                  <a:pt x="222" y="104"/>
                </a:lnTo>
                <a:lnTo>
                  <a:pt x="222" y="0"/>
                </a:lnTo>
                <a:lnTo>
                  <a:pt x="3" y="0"/>
                </a:lnTo>
                <a:lnTo>
                  <a:pt x="3" y="104"/>
                </a:lnTo>
              </a:path>
            </a:pathLst>
          </a:custGeom>
          <a:noFill/>
          <a:ln w="20638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2" name="Freeform 222">
            <a:extLst>
              <a:ext uri="{FF2B5EF4-FFF2-40B4-BE49-F238E27FC236}">
                <a16:creationId xmlns:a16="http://schemas.microsoft.com/office/drawing/2014/main" id="{1B4970A0-9161-48EF-B38D-8623B7F5ADF7}"/>
              </a:ext>
            </a:extLst>
          </p:cNvPr>
          <p:cNvSpPr>
            <a:spLocks/>
          </p:cNvSpPr>
          <p:nvPr/>
        </p:nvSpPr>
        <p:spPr bwMode="auto">
          <a:xfrm>
            <a:off x="1662781" y="5710237"/>
            <a:ext cx="400050" cy="233359"/>
          </a:xfrm>
          <a:custGeom>
            <a:avLst/>
            <a:gdLst>
              <a:gd name="T0" fmla="*/ 248 w 252"/>
              <a:gd name="T1" fmla="*/ 0 h 136"/>
              <a:gd name="T2" fmla="*/ 252 w 252"/>
              <a:gd name="T3" fmla="*/ 68 h 136"/>
              <a:gd name="T4" fmla="*/ 0 w 252"/>
              <a:gd name="T5" fmla="*/ 68 h 136"/>
              <a:gd name="T6" fmla="*/ 0 w 252"/>
              <a:gd name="T7" fmla="*/ 136 h 136"/>
              <a:gd name="T8" fmla="*/ 0 60000 65536"/>
              <a:gd name="T9" fmla="*/ 0 60000 65536"/>
              <a:gd name="T10" fmla="*/ 0 60000 65536"/>
              <a:gd name="T11" fmla="*/ 0 60000 65536"/>
              <a:gd name="T12" fmla="*/ 0 w 252"/>
              <a:gd name="T13" fmla="*/ 0 h 136"/>
              <a:gd name="T14" fmla="*/ 252 w 252"/>
              <a:gd name="T15" fmla="*/ 136 h 1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52" h="136">
                <a:moveTo>
                  <a:pt x="248" y="0"/>
                </a:moveTo>
                <a:lnTo>
                  <a:pt x="252" y="68"/>
                </a:lnTo>
                <a:lnTo>
                  <a:pt x="0" y="68"/>
                </a:lnTo>
                <a:lnTo>
                  <a:pt x="0" y="136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FC5A689-63F4-4E48-A8F0-B6B283143006}"/>
              </a:ext>
            </a:extLst>
          </p:cNvPr>
          <p:cNvGrpSpPr/>
          <p:nvPr/>
        </p:nvGrpSpPr>
        <p:grpSpPr>
          <a:xfrm>
            <a:off x="216568" y="1828800"/>
            <a:ext cx="1410510" cy="4620638"/>
            <a:chOff x="216568" y="1828800"/>
            <a:chExt cx="1410510" cy="4620638"/>
          </a:xfrm>
        </p:grpSpPr>
        <p:sp>
          <p:nvSpPr>
            <p:cNvPr id="103" name="Text Box 223">
              <a:extLst>
                <a:ext uri="{FF2B5EF4-FFF2-40B4-BE49-F238E27FC236}">
                  <a16:creationId xmlns:a16="http://schemas.microsoft.com/office/drawing/2014/main" id="{571FE06E-91D2-40CA-9F36-89BA71A4DC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568" y="1828800"/>
              <a:ext cx="526106" cy="4001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2000" b="1" dirty="0">
                  <a:solidFill>
                    <a:srgbClr val="660066"/>
                  </a:solidFill>
                </a:rPr>
                <a:t>Hit</a:t>
              </a:r>
            </a:p>
          </p:txBody>
        </p:sp>
        <p:sp>
          <p:nvSpPr>
            <p:cNvPr id="104" name="Line 224">
              <a:extLst>
                <a:ext uri="{FF2B5EF4-FFF2-40B4-BE49-F238E27FC236}">
                  <a16:creationId xmlns:a16="http://schemas.microsoft.com/office/drawing/2014/main" id="{A3680D53-2C14-4339-A13C-190E97C13E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7078" y="6265288"/>
              <a:ext cx="0" cy="1841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Line 225">
              <a:extLst>
                <a:ext uri="{FF2B5EF4-FFF2-40B4-BE49-F238E27FC236}">
                  <a16:creationId xmlns:a16="http://schemas.microsoft.com/office/drawing/2014/main" id="{8D9D0121-9D64-41DA-AB3C-01A31D9128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5168" y="6439710"/>
              <a:ext cx="118191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Line 226">
              <a:extLst>
                <a:ext uri="{FF2B5EF4-FFF2-40B4-BE49-F238E27FC236}">
                  <a16:creationId xmlns:a16="http://schemas.microsoft.com/office/drawing/2014/main" id="{A1A37279-D15C-4681-B6C3-4C27985069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5168" y="2209800"/>
              <a:ext cx="0" cy="422991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D2DE31A-23AD-4372-97B1-DCC1F757DEF3}"/>
              </a:ext>
            </a:extLst>
          </p:cNvPr>
          <p:cNvGrpSpPr/>
          <p:nvPr/>
        </p:nvGrpSpPr>
        <p:grpSpPr>
          <a:xfrm>
            <a:off x="5321968" y="1828800"/>
            <a:ext cx="3647054" cy="4724400"/>
            <a:chOff x="5321968" y="1828800"/>
            <a:chExt cx="3647054" cy="4724400"/>
          </a:xfrm>
        </p:grpSpPr>
        <p:sp>
          <p:nvSpPr>
            <p:cNvPr id="107" name="Line 228">
              <a:extLst>
                <a:ext uri="{FF2B5EF4-FFF2-40B4-BE49-F238E27FC236}">
                  <a16:creationId xmlns:a16="http://schemas.microsoft.com/office/drawing/2014/main" id="{2EFFBA66-9D5B-4C12-8077-AD7D9E76A3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60168" y="6172200"/>
              <a:ext cx="228600" cy="152400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Text Box 229">
              <a:extLst>
                <a:ext uri="{FF2B5EF4-FFF2-40B4-BE49-F238E27FC236}">
                  <a16:creationId xmlns:a16="http://schemas.microsoft.com/office/drawing/2014/main" id="{384AAA8D-7823-407F-976A-82F330EF82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28114" y="1828800"/>
              <a:ext cx="740908" cy="4001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2000" b="1" dirty="0">
                  <a:solidFill>
                    <a:srgbClr val="660066"/>
                  </a:solidFill>
                </a:rPr>
                <a:t>Data</a:t>
              </a:r>
            </a:p>
          </p:txBody>
        </p:sp>
        <p:sp>
          <p:nvSpPr>
            <p:cNvPr id="109" name="Text Box 230">
              <a:extLst>
                <a:ext uri="{FF2B5EF4-FFF2-40B4-BE49-F238E27FC236}">
                  <a16:creationId xmlns:a16="http://schemas.microsoft.com/office/drawing/2014/main" id="{2EDCD518-A64D-42DE-92AC-B90F0A44D6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83968" y="6248400"/>
              <a:ext cx="381000" cy="3048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1400" dirty="0"/>
                <a:t>32</a:t>
              </a:r>
            </a:p>
          </p:txBody>
        </p:sp>
        <p:sp>
          <p:nvSpPr>
            <p:cNvPr id="111" name="Line 232">
              <a:extLst>
                <a:ext uri="{FF2B5EF4-FFF2-40B4-BE49-F238E27FC236}">
                  <a16:creationId xmlns:a16="http://schemas.microsoft.com/office/drawing/2014/main" id="{833803C2-A97B-43B5-B14A-2FBA19910A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98568" y="2209800"/>
              <a:ext cx="0" cy="40386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8" name="Line 250">
              <a:extLst>
                <a:ext uri="{FF2B5EF4-FFF2-40B4-BE49-F238E27FC236}">
                  <a16:creationId xmlns:a16="http://schemas.microsoft.com/office/drawing/2014/main" id="{9A04AC56-9781-4CF4-8431-865EF1619A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1968" y="6019800"/>
              <a:ext cx="0" cy="2286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9" name="Line 251">
              <a:extLst>
                <a:ext uri="{FF2B5EF4-FFF2-40B4-BE49-F238E27FC236}">
                  <a16:creationId xmlns:a16="http://schemas.microsoft.com/office/drawing/2014/main" id="{41EE952D-CB1B-4F53-82EF-E707C6D10E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1968" y="6248400"/>
              <a:ext cx="32766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0" name="Text Box 253">
            <a:extLst>
              <a:ext uri="{FF2B5EF4-FFF2-40B4-BE49-F238E27FC236}">
                <a16:creationId xmlns:a16="http://schemas.microsoft.com/office/drawing/2014/main" id="{EB22538D-A64A-41F6-A75D-B65C62E24A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6236" y="1154388"/>
            <a:ext cx="2998405" cy="707886"/>
          </a:xfrm>
          <a:prstGeom prst="rect">
            <a:avLst/>
          </a:prstGeom>
          <a:solidFill>
            <a:srgbClr val="FFFFCC"/>
          </a:solidFill>
          <a:ln w="12700">
            <a:solidFill>
              <a:schemeClr val="accent5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 b="1" dirty="0"/>
              <a:t>16-KB cache: </a:t>
            </a:r>
            <a:br>
              <a:rPr lang="en-US" sz="2000" dirty="0"/>
            </a:br>
            <a:r>
              <a:rPr lang="en-US" sz="2000" b="1" dirty="0"/>
              <a:t>4-word</a:t>
            </a:r>
            <a:r>
              <a:rPr lang="en-US" sz="2000" dirty="0"/>
              <a:t> (16-byte) blocks</a:t>
            </a:r>
          </a:p>
        </p:txBody>
      </p: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D71ADE33-9670-462C-95FF-8F1D3B93A83A}"/>
              </a:ext>
            </a:extLst>
          </p:cNvPr>
          <p:cNvGrpSpPr/>
          <p:nvPr/>
        </p:nvGrpSpPr>
        <p:grpSpPr>
          <a:xfrm>
            <a:off x="2654968" y="1847429"/>
            <a:ext cx="2641122" cy="481113"/>
            <a:chOff x="2616678" y="2152229"/>
            <a:chExt cx="2641122" cy="481113"/>
          </a:xfrm>
        </p:grpSpPr>
        <p:sp>
          <p:nvSpPr>
            <p:cNvPr id="132" name="Text Box 200">
              <a:extLst>
                <a:ext uri="{FF2B5EF4-FFF2-40B4-BE49-F238E27FC236}">
                  <a16:creationId xmlns:a16="http://schemas.microsoft.com/office/drawing/2014/main" id="{0CC2FA2D-DD5F-4416-B886-635FEE15D5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16678" y="2152229"/>
              <a:ext cx="2641122" cy="24622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0" hangingPunct="0"/>
              <a:r>
                <a:rPr lang="en-US" sz="1000" b="1" dirty="0"/>
                <a:t>31 30    . . .        15 14 </a:t>
              </a:r>
              <a:r>
                <a:rPr lang="en-US" sz="1000" b="1" dirty="0">
                  <a:solidFill>
                    <a:srgbClr val="0000FF"/>
                  </a:solidFill>
                </a:rPr>
                <a:t>13  . . . 5  4 </a:t>
              </a:r>
              <a:r>
                <a:rPr lang="en-US" sz="1000" b="1" dirty="0">
                  <a:solidFill>
                    <a:srgbClr val="006600"/>
                  </a:solidFill>
                </a:rPr>
                <a:t>3  2  1  0</a:t>
              </a:r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ABAF214A-1A6F-4B71-B7A2-033328EC2768}"/>
                </a:ext>
              </a:extLst>
            </p:cNvPr>
            <p:cNvSpPr/>
            <p:nvPr/>
          </p:nvSpPr>
          <p:spPr>
            <a:xfrm>
              <a:off x="2667000" y="2362199"/>
              <a:ext cx="1292255" cy="27114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rgbClr val="C00000"/>
                  </a:solidFill>
                </a:rPr>
                <a:t>Tag</a:t>
              </a:r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B53B43E1-5BCA-4FCA-8D76-A7FCC6F18667}"/>
                </a:ext>
              </a:extLst>
            </p:cNvPr>
            <p:cNvSpPr/>
            <p:nvPr/>
          </p:nvSpPr>
          <p:spPr>
            <a:xfrm>
              <a:off x="3959256" y="2362199"/>
              <a:ext cx="688944" cy="26469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accent6">
                      <a:lumMod val="50000"/>
                    </a:schemeClr>
                  </a:solidFill>
                </a:rPr>
                <a:t>Index</a:t>
              </a:r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865919A1-B5CD-4E2A-99C9-92B848E6942E}"/>
                </a:ext>
              </a:extLst>
            </p:cNvPr>
            <p:cNvSpPr/>
            <p:nvPr/>
          </p:nvSpPr>
          <p:spPr>
            <a:xfrm>
              <a:off x="4616462" y="2362199"/>
              <a:ext cx="529554" cy="26468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solidFill>
                    <a:srgbClr val="006600"/>
                  </a:solidFill>
                </a:rPr>
                <a:t>Ofst</a:t>
              </a:r>
              <a:endParaRPr lang="en-US" sz="1400" dirty="0">
                <a:solidFill>
                  <a:srgbClr val="006600"/>
                </a:solidFill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1E88C06-605F-42C8-BDA1-15515117AA2D}"/>
              </a:ext>
            </a:extLst>
          </p:cNvPr>
          <p:cNvGrpSpPr/>
          <p:nvPr/>
        </p:nvGrpSpPr>
        <p:grpSpPr>
          <a:xfrm>
            <a:off x="978568" y="2819400"/>
            <a:ext cx="7391400" cy="2209800"/>
            <a:chOff x="978568" y="2819400"/>
            <a:chExt cx="7391400" cy="2209800"/>
          </a:xfrm>
        </p:grpSpPr>
        <p:sp>
          <p:nvSpPr>
            <p:cNvPr id="136" name="Rectangle 12">
              <a:extLst>
                <a:ext uri="{FF2B5EF4-FFF2-40B4-BE49-F238E27FC236}">
                  <a16:creationId xmlns:a16="http://schemas.microsoft.com/office/drawing/2014/main" id="{254B74D2-862A-4E85-88AB-F3E615508A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8837" y="3274122"/>
              <a:ext cx="861235" cy="216527"/>
            </a:xfrm>
            <a:prstGeom prst="rect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1400" b="1">
                <a:latin typeface="+mn-lt"/>
              </a:endParaRPr>
            </a:p>
          </p:txBody>
        </p:sp>
        <p:sp>
          <p:nvSpPr>
            <p:cNvPr id="137" name="Rectangle 13">
              <a:extLst>
                <a:ext uri="{FF2B5EF4-FFF2-40B4-BE49-F238E27FC236}">
                  <a16:creationId xmlns:a16="http://schemas.microsoft.com/office/drawing/2014/main" id="{387513DE-EB8B-4E36-AA9A-AFE84C4561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0091" y="3274122"/>
              <a:ext cx="198746" cy="216527"/>
            </a:xfrm>
            <a:prstGeom prst="rect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1400" b="1" dirty="0">
                <a:latin typeface="+mn-lt"/>
              </a:endParaRPr>
            </a:p>
          </p:txBody>
        </p:sp>
        <p:sp>
          <p:nvSpPr>
            <p:cNvPr id="138" name="Rectangle 14">
              <a:extLst>
                <a:ext uri="{FF2B5EF4-FFF2-40B4-BE49-F238E27FC236}">
                  <a16:creationId xmlns:a16="http://schemas.microsoft.com/office/drawing/2014/main" id="{53001109-7CE7-4D59-A5F9-5C878A88B5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0072" y="3274122"/>
              <a:ext cx="1457474" cy="216527"/>
            </a:xfrm>
            <a:prstGeom prst="rect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1400" b="1">
                <a:latin typeface="+mn-lt"/>
              </a:endParaRPr>
            </a:p>
          </p:txBody>
        </p:sp>
        <p:sp>
          <p:nvSpPr>
            <p:cNvPr id="139" name="Rectangle 15">
              <a:extLst>
                <a:ext uri="{FF2B5EF4-FFF2-40B4-BE49-F238E27FC236}">
                  <a16:creationId xmlns:a16="http://schemas.microsoft.com/office/drawing/2014/main" id="{867940C0-6AEE-4E69-9455-52D7DD3139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7546" y="3274122"/>
              <a:ext cx="1457474" cy="216527"/>
            </a:xfrm>
            <a:prstGeom prst="rect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1400" b="1">
                <a:latin typeface="+mn-lt"/>
              </a:endParaRPr>
            </a:p>
          </p:txBody>
        </p:sp>
        <p:sp>
          <p:nvSpPr>
            <p:cNvPr id="140" name="Rectangle 16">
              <a:extLst>
                <a:ext uri="{FF2B5EF4-FFF2-40B4-BE49-F238E27FC236}">
                  <a16:creationId xmlns:a16="http://schemas.microsoft.com/office/drawing/2014/main" id="{C4D93C3A-1942-4AE6-85CF-CAC1610405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55020" y="3274122"/>
              <a:ext cx="1457474" cy="216527"/>
            </a:xfrm>
            <a:prstGeom prst="rect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1400" b="1">
                <a:latin typeface="+mn-lt"/>
              </a:endParaRPr>
            </a:p>
          </p:txBody>
        </p:sp>
        <p:sp>
          <p:nvSpPr>
            <p:cNvPr id="141" name="Rectangle 17">
              <a:extLst>
                <a:ext uri="{FF2B5EF4-FFF2-40B4-BE49-F238E27FC236}">
                  <a16:creationId xmlns:a16="http://schemas.microsoft.com/office/drawing/2014/main" id="{70C0AEF8-7996-4376-B267-A9FC4C4F92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12494" y="3274122"/>
              <a:ext cx="1457474" cy="216527"/>
            </a:xfrm>
            <a:prstGeom prst="rect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1400" b="1">
                <a:latin typeface="+mn-lt"/>
              </a:endParaRPr>
            </a:p>
          </p:txBody>
        </p:sp>
        <p:sp>
          <p:nvSpPr>
            <p:cNvPr id="142" name="Rectangle 18">
              <a:extLst>
                <a:ext uri="{FF2B5EF4-FFF2-40B4-BE49-F238E27FC236}">
                  <a16:creationId xmlns:a16="http://schemas.microsoft.com/office/drawing/2014/main" id="{99E04FA5-5B71-47CB-B816-474047685D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8837" y="3490649"/>
              <a:ext cx="861235" cy="216527"/>
            </a:xfrm>
            <a:prstGeom prst="rect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1400" b="1">
                <a:latin typeface="+mn-lt"/>
              </a:endParaRPr>
            </a:p>
          </p:txBody>
        </p:sp>
        <p:sp>
          <p:nvSpPr>
            <p:cNvPr id="143" name="Rectangle 19">
              <a:extLst>
                <a:ext uri="{FF2B5EF4-FFF2-40B4-BE49-F238E27FC236}">
                  <a16:creationId xmlns:a16="http://schemas.microsoft.com/office/drawing/2014/main" id="{1B0B94B6-5D50-40F3-B6C0-BA2EE864D1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0091" y="3490649"/>
              <a:ext cx="198746" cy="216527"/>
            </a:xfrm>
            <a:prstGeom prst="rect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1400" b="1" dirty="0">
                <a:latin typeface="+mn-lt"/>
              </a:endParaRPr>
            </a:p>
          </p:txBody>
        </p:sp>
        <p:sp>
          <p:nvSpPr>
            <p:cNvPr id="144" name="Rectangle 20">
              <a:extLst>
                <a:ext uri="{FF2B5EF4-FFF2-40B4-BE49-F238E27FC236}">
                  <a16:creationId xmlns:a16="http://schemas.microsoft.com/office/drawing/2014/main" id="{26824D30-38D1-4C6F-8FA0-5E50EE0606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0072" y="3490649"/>
              <a:ext cx="1457474" cy="216527"/>
            </a:xfrm>
            <a:prstGeom prst="rect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1400" b="1">
                <a:latin typeface="+mn-lt"/>
              </a:endParaRPr>
            </a:p>
          </p:txBody>
        </p:sp>
        <p:sp>
          <p:nvSpPr>
            <p:cNvPr id="145" name="Rectangle 21">
              <a:extLst>
                <a:ext uri="{FF2B5EF4-FFF2-40B4-BE49-F238E27FC236}">
                  <a16:creationId xmlns:a16="http://schemas.microsoft.com/office/drawing/2014/main" id="{4D1FC582-FED0-45A8-BECA-5A40750932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7546" y="3490649"/>
              <a:ext cx="1457474" cy="216527"/>
            </a:xfrm>
            <a:prstGeom prst="rect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1400" b="1">
                <a:latin typeface="+mn-lt"/>
              </a:endParaRPr>
            </a:p>
          </p:txBody>
        </p:sp>
        <p:sp>
          <p:nvSpPr>
            <p:cNvPr id="146" name="Rectangle 22">
              <a:extLst>
                <a:ext uri="{FF2B5EF4-FFF2-40B4-BE49-F238E27FC236}">
                  <a16:creationId xmlns:a16="http://schemas.microsoft.com/office/drawing/2014/main" id="{09B639BA-6F1B-4704-8F91-06BD6FF943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55020" y="3490649"/>
              <a:ext cx="1457474" cy="216527"/>
            </a:xfrm>
            <a:prstGeom prst="rect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1400" b="1">
                <a:latin typeface="+mn-lt"/>
              </a:endParaRPr>
            </a:p>
          </p:txBody>
        </p:sp>
        <p:sp>
          <p:nvSpPr>
            <p:cNvPr id="147" name="Rectangle 23">
              <a:extLst>
                <a:ext uri="{FF2B5EF4-FFF2-40B4-BE49-F238E27FC236}">
                  <a16:creationId xmlns:a16="http://schemas.microsoft.com/office/drawing/2014/main" id="{2F42F4C5-103C-4B05-AED4-F03BF92FF6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12494" y="3490649"/>
              <a:ext cx="1457474" cy="216527"/>
            </a:xfrm>
            <a:prstGeom prst="rect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1400" b="1">
                <a:latin typeface="+mn-lt"/>
              </a:endParaRPr>
            </a:p>
          </p:txBody>
        </p:sp>
        <p:sp>
          <p:nvSpPr>
            <p:cNvPr id="70" name="Rectangle 26">
              <a:extLst>
                <a:ext uri="{FF2B5EF4-FFF2-40B4-BE49-F238E27FC236}">
                  <a16:creationId xmlns:a16="http://schemas.microsoft.com/office/drawing/2014/main" id="{F5F5A9FA-056D-40F8-AC38-511574370E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0072" y="3707175"/>
              <a:ext cx="1457474" cy="216527"/>
            </a:xfrm>
            <a:prstGeom prst="rect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1400" b="1">
                <a:latin typeface="+mn-lt"/>
              </a:endParaRPr>
            </a:p>
          </p:txBody>
        </p:sp>
        <p:sp>
          <p:nvSpPr>
            <p:cNvPr id="71" name="Rectangle 27">
              <a:extLst>
                <a:ext uri="{FF2B5EF4-FFF2-40B4-BE49-F238E27FC236}">
                  <a16:creationId xmlns:a16="http://schemas.microsoft.com/office/drawing/2014/main" id="{D0EB8DAA-3D24-4FF4-8394-DBB63680BB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7546" y="3707175"/>
              <a:ext cx="1457474" cy="216527"/>
            </a:xfrm>
            <a:prstGeom prst="rect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1400" b="1">
                <a:latin typeface="+mn-lt"/>
              </a:endParaRPr>
            </a:p>
          </p:txBody>
        </p:sp>
        <p:sp>
          <p:nvSpPr>
            <p:cNvPr id="72" name="Rectangle 28">
              <a:extLst>
                <a:ext uri="{FF2B5EF4-FFF2-40B4-BE49-F238E27FC236}">
                  <a16:creationId xmlns:a16="http://schemas.microsoft.com/office/drawing/2014/main" id="{077E4675-E100-451D-AF94-4D53FE0786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55020" y="3707175"/>
              <a:ext cx="1457474" cy="216527"/>
            </a:xfrm>
            <a:prstGeom prst="rect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1400" b="1">
                <a:latin typeface="+mn-lt"/>
              </a:endParaRPr>
            </a:p>
          </p:txBody>
        </p:sp>
        <p:sp>
          <p:nvSpPr>
            <p:cNvPr id="73" name="Rectangle 29">
              <a:extLst>
                <a:ext uri="{FF2B5EF4-FFF2-40B4-BE49-F238E27FC236}">
                  <a16:creationId xmlns:a16="http://schemas.microsoft.com/office/drawing/2014/main" id="{DB38A466-8C62-44A0-B8DE-2749F28BD6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12494" y="3707175"/>
              <a:ext cx="1457474" cy="216527"/>
            </a:xfrm>
            <a:prstGeom prst="rect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1400" b="1">
                <a:latin typeface="+mn-lt"/>
              </a:endParaRPr>
            </a:p>
          </p:txBody>
        </p:sp>
        <p:sp>
          <p:nvSpPr>
            <p:cNvPr id="74" name="Rectangle 24">
              <a:extLst>
                <a:ext uri="{FF2B5EF4-FFF2-40B4-BE49-F238E27FC236}">
                  <a16:creationId xmlns:a16="http://schemas.microsoft.com/office/drawing/2014/main" id="{6F28E95E-786F-4B85-B41C-2897F39BE0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8837" y="3707175"/>
              <a:ext cx="861235" cy="216527"/>
            </a:xfrm>
            <a:prstGeom prst="rect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1400" b="1">
                <a:latin typeface="+mn-lt"/>
              </a:endParaRPr>
            </a:p>
          </p:txBody>
        </p:sp>
        <p:sp>
          <p:nvSpPr>
            <p:cNvPr id="148" name="Rectangle 25">
              <a:extLst>
                <a:ext uri="{FF2B5EF4-FFF2-40B4-BE49-F238E27FC236}">
                  <a16:creationId xmlns:a16="http://schemas.microsoft.com/office/drawing/2014/main" id="{CFDB8C7A-3B4A-44FE-98BA-58A9A252C1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0091" y="3707175"/>
              <a:ext cx="198746" cy="216527"/>
            </a:xfrm>
            <a:prstGeom prst="rect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1400" b="1" dirty="0">
                <a:latin typeface="+mn-lt"/>
              </a:endParaRPr>
            </a:p>
          </p:txBody>
        </p:sp>
        <p:sp>
          <p:nvSpPr>
            <p:cNvPr id="149" name="Rectangle 30">
              <a:extLst>
                <a:ext uri="{FF2B5EF4-FFF2-40B4-BE49-F238E27FC236}">
                  <a16:creationId xmlns:a16="http://schemas.microsoft.com/office/drawing/2014/main" id="{C56282E5-4E69-41A4-8F67-49E19D892A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8837" y="3923702"/>
              <a:ext cx="861235" cy="216527"/>
            </a:xfrm>
            <a:prstGeom prst="rect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1400" b="1">
                <a:latin typeface="+mn-lt"/>
              </a:endParaRPr>
            </a:p>
          </p:txBody>
        </p:sp>
        <p:sp>
          <p:nvSpPr>
            <p:cNvPr id="150" name="Rectangle 31">
              <a:extLst>
                <a:ext uri="{FF2B5EF4-FFF2-40B4-BE49-F238E27FC236}">
                  <a16:creationId xmlns:a16="http://schemas.microsoft.com/office/drawing/2014/main" id="{9D507FF5-304C-48A8-8577-52362382B9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0091" y="3923702"/>
              <a:ext cx="198746" cy="216527"/>
            </a:xfrm>
            <a:prstGeom prst="rect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1400" b="1" dirty="0">
                <a:latin typeface="+mn-lt"/>
              </a:endParaRPr>
            </a:p>
          </p:txBody>
        </p:sp>
        <p:sp>
          <p:nvSpPr>
            <p:cNvPr id="151" name="Rectangle 32">
              <a:extLst>
                <a:ext uri="{FF2B5EF4-FFF2-40B4-BE49-F238E27FC236}">
                  <a16:creationId xmlns:a16="http://schemas.microsoft.com/office/drawing/2014/main" id="{61DBDEBB-F371-4F59-8746-5CA58A6F7F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0072" y="3923702"/>
              <a:ext cx="1457474" cy="216527"/>
            </a:xfrm>
            <a:prstGeom prst="rect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1400" b="1">
                <a:latin typeface="+mn-lt"/>
              </a:endParaRPr>
            </a:p>
          </p:txBody>
        </p:sp>
        <p:sp>
          <p:nvSpPr>
            <p:cNvPr id="152" name="Rectangle 33">
              <a:extLst>
                <a:ext uri="{FF2B5EF4-FFF2-40B4-BE49-F238E27FC236}">
                  <a16:creationId xmlns:a16="http://schemas.microsoft.com/office/drawing/2014/main" id="{0740E7D7-8A48-4460-91BA-C27F15D9F6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7546" y="3923702"/>
              <a:ext cx="1457474" cy="216527"/>
            </a:xfrm>
            <a:prstGeom prst="rect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1400" b="1">
                <a:latin typeface="+mn-lt"/>
              </a:endParaRPr>
            </a:p>
          </p:txBody>
        </p:sp>
        <p:sp>
          <p:nvSpPr>
            <p:cNvPr id="153" name="Rectangle 34">
              <a:extLst>
                <a:ext uri="{FF2B5EF4-FFF2-40B4-BE49-F238E27FC236}">
                  <a16:creationId xmlns:a16="http://schemas.microsoft.com/office/drawing/2014/main" id="{AE372CB6-F371-4190-B584-56CB435F91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55020" y="3923702"/>
              <a:ext cx="1457474" cy="216527"/>
            </a:xfrm>
            <a:prstGeom prst="rect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1400" b="1">
                <a:latin typeface="+mn-lt"/>
              </a:endParaRPr>
            </a:p>
          </p:txBody>
        </p:sp>
        <p:sp>
          <p:nvSpPr>
            <p:cNvPr id="154" name="Rectangle 35">
              <a:extLst>
                <a:ext uri="{FF2B5EF4-FFF2-40B4-BE49-F238E27FC236}">
                  <a16:creationId xmlns:a16="http://schemas.microsoft.com/office/drawing/2014/main" id="{E68562F4-1989-483F-A457-4C957F77FF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12494" y="3923702"/>
              <a:ext cx="1457474" cy="216527"/>
            </a:xfrm>
            <a:prstGeom prst="rect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1400" b="1">
                <a:latin typeface="+mn-lt"/>
              </a:endParaRPr>
            </a:p>
          </p:txBody>
        </p:sp>
        <p:sp>
          <p:nvSpPr>
            <p:cNvPr id="155" name="Rectangle 36">
              <a:extLst>
                <a:ext uri="{FF2B5EF4-FFF2-40B4-BE49-F238E27FC236}">
                  <a16:creationId xmlns:a16="http://schemas.microsoft.com/office/drawing/2014/main" id="{3FF01AEB-26CF-4186-AC4F-10A127FDE5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8837" y="4140228"/>
              <a:ext cx="861235" cy="216527"/>
            </a:xfrm>
            <a:prstGeom prst="rect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1400" b="1">
                <a:latin typeface="+mn-lt"/>
              </a:endParaRPr>
            </a:p>
          </p:txBody>
        </p:sp>
        <p:sp>
          <p:nvSpPr>
            <p:cNvPr id="156" name="Rectangle 37">
              <a:extLst>
                <a:ext uri="{FF2B5EF4-FFF2-40B4-BE49-F238E27FC236}">
                  <a16:creationId xmlns:a16="http://schemas.microsoft.com/office/drawing/2014/main" id="{F547A6BF-5AB2-4D9E-AB6C-6BC11BC118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0091" y="4140228"/>
              <a:ext cx="198746" cy="216527"/>
            </a:xfrm>
            <a:prstGeom prst="rect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1400" b="1" dirty="0">
                <a:latin typeface="+mn-lt"/>
              </a:endParaRPr>
            </a:p>
          </p:txBody>
        </p:sp>
        <p:sp>
          <p:nvSpPr>
            <p:cNvPr id="157" name="Rectangle 38">
              <a:extLst>
                <a:ext uri="{FF2B5EF4-FFF2-40B4-BE49-F238E27FC236}">
                  <a16:creationId xmlns:a16="http://schemas.microsoft.com/office/drawing/2014/main" id="{B2B6C172-970F-40B2-B934-FE6686E0BA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0072" y="4140228"/>
              <a:ext cx="1457474" cy="216527"/>
            </a:xfrm>
            <a:prstGeom prst="rect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1400" b="1">
                <a:latin typeface="+mn-lt"/>
              </a:endParaRPr>
            </a:p>
          </p:txBody>
        </p:sp>
        <p:sp>
          <p:nvSpPr>
            <p:cNvPr id="158" name="Rectangle 39">
              <a:extLst>
                <a:ext uri="{FF2B5EF4-FFF2-40B4-BE49-F238E27FC236}">
                  <a16:creationId xmlns:a16="http://schemas.microsoft.com/office/drawing/2014/main" id="{FF210BDC-888A-4A5F-ACBB-F62FCF8806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7546" y="4140228"/>
              <a:ext cx="1457474" cy="216527"/>
            </a:xfrm>
            <a:prstGeom prst="rect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1400" b="1">
                <a:latin typeface="+mn-lt"/>
              </a:endParaRPr>
            </a:p>
          </p:txBody>
        </p:sp>
        <p:sp>
          <p:nvSpPr>
            <p:cNvPr id="159" name="Rectangle 40">
              <a:extLst>
                <a:ext uri="{FF2B5EF4-FFF2-40B4-BE49-F238E27FC236}">
                  <a16:creationId xmlns:a16="http://schemas.microsoft.com/office/drawing/2014/main" id="{9BBA6D81-9F13-4266-9998-20B59D89FF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55020" y="4140228"/>
              <a:ext cx="1457474" cy="216527"/>
            </a:xfrm>
            <a:prstGeom prst="rect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1400" b="1">
                <a:latin typeface="+mn-lt"/>
              </a:endParaRPr>
            </a:p>
          </p:txBody>
        </p:sp>
        <p:sp>
          <p:nvSpPr>
            <p:cNvPr id="160" name="Rectangle 41">
              <a:extLst>
                <a:ext uri="{FF2B5EF4-FFF2-40B4-BE49-F238E27FC236}">
                  <a16:creationId xmlns:a16="http://schemas.microsoft.com/office/drawing/2014/main" id="{179D3823-DB82-4B71-B5C4-2A341490A8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12494" y="4140228"/>
              <a:ext cx="1457474" cy="216527"/>
            </a:xfrm>
            <a:prstGeom prst="rect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1400" b="1">
                <a:latin typeface="+mn-lt"/>
              </a:endParaRPr>
            </a:p>
          </p:txBody>
        </p:sp>
        <p:sp>
          <p:nvSpPr>
            <p:cNvPr id="161" name="Rectangle 42">
              <a:extLst>
                <a:ext uri="{FF2B5EF4-FFF2-40B4-BE49-F238E27FC236}">
                  <a16:creationId xmlns:a16="http://schemas.microsoft.com/office/drawing/2014/main" id="{E6EC7152-D83B-4E77-9681-E7EA3FDE7D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8837" y="4356755"/>
              <a:ext cx="861235" cy="216527"/>
            </a:xfrm>
            <a:prstGeom prst="rect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1400" b="1">
                <a:latin typeface="+mn-lt"/>
              </a:endParaRPr>
            </a:p>
          </p:txBody>
        </p:sp>
        <p:sp>
          <p:nvSpPr>
            <p:cNvPr id="162" name="Rectangle 43">
              <a:extLst>
                <a:ext uri="{FF2B5EF4-FFF2-40B4-BE49-F238E27FC236}">
                  <a16:creationId xmlns:a16="http://schemas.microsoft.com/office/drawing/2014/main" id="{065CAB05-3112-4960-9983-92F60BAD84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0091" y="4356755"/>
              <a:ext cx="198746" cy="216527"/>
            </a:xfrm>
            <a:prstGeom prst="rect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1400" b="1" dirty="0">
                <a:latin typeface="+mn-lt"/>
              </a:endParaRPr>
            </a:p>
          </p:txBody>
        </p:sp>
        <p:sp>
          <p:nvSpPr>
            <p:cNvPr id="163" name="Rectangle 44">
              <a:extLst>
                <a:ext uri="{FF2B5EF4-FFF2-40B4-BE49-F238E27FC236}">
                  <a16:creationId xmlns:a16="http://schemas.microsoft.com/office/drawing/2014/main" id="{10EB4BE7-959A-4267-BB1F-08E4514BC8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0072" y="4356755"/>
              <a:ext cx="1457474" cy="216527"/>
            </a:xfrm>
            <a:prstGeom prst="rect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1400" b="1">
                <a:latin typeface="+mn-lt"/>
              </a:endParaRPr>
            </a:p>
          </p:txBody>
        </p:sp>
        <p:sp>
          <p:nvSpPr>
            <p:cNvPr id="164" name="Rectangle 45">
              <a:extLst>
                <a:ext uri="{FF2B5EF4-FFF2-40B4-BE49-F238E27FC236}">
                  <a16:creationId xmlns:a16="http://schemas.microsoft.com/office/drawing/2014/main" id="{4A699F06-9A96-4550-BB56-6199C6D8C1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7546" y="4356755"/>
              <a:ext cx="1457474" cy="216527"/>
            </a:xfrm>
            <a:prstGeom prst="rect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1400" b="1">
                <a:latin typeface="+mn-lt"/>
              </a:endParaRPr>
            </a:p>
          </p:txBody>
        </p:sp>
        <p:sp>
          <p:nvSpPr>
            <p:cNvPr id="165" name="Rectangle 46">
              <a:extLst>
                <a:ext uri="{FF2B5EF4-FFF2-40B4-BE49-F238E27FC236}">
                  <a16:creationId xmlns:a16="http://schemas.microsoft.com/office/drawing/2014/main" id="{E9720E39-8BA0-4628-96FC-01E1C9C609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55020" y="4356755"/>
              <a:ext cx="1457474" cy="216527"/>
            </a:xfrm>
            <a:prstGeom prst="rect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1400" b="1">
                <a:latin typeface="+mn-lt"/>
              </a:endParaRPr>
            </a:p>
          </p:txBody>
        </p:sp>
        <p:sp>
          <p:nvSpPr>
            <p:cNvPr id="166" name="Rectangle 47">
              <a:extLst>
                <a:ext uri="{FF2B5EF4-FFF2-40B4-BE49-F238E27FC236}">
                  <a16:creationId xmlns:a16="http://schemas.microsoft.com/office/drawing/2014/main" id="{A5356BC8-4787-46CC-AD40-FC90FF0BE7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12494" y="4356755"/>
              <a:ext cx="1457474" cy="216527"/>
            </a:xfrm>
            <a:prstGeom prst="rect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1400" b="1">
                <a:latin typeface="+mn-lt"/>
              </a:endParaRPr>
            </a:p>
          </p:txBody>
        </p:sp>
        <p:sp>
          <p:nvSpPr>
            <p:cNvPr id="167" name="Rectangle 48">
              <a:extLst>
                <a:ext uri="{FF2B5EF4-FFF2-40B4-BE49-F238E27FC236}">
                  <a16:creationId xmlns:a16="http://schemas.microsoft.com/office/drawing/2014/main" id="{323C72AE-55F3-482A-8173-826E85689E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8837" y="4573282"/>
              <a:ext cx="861235" cy="216527"/>
            </a:xfrm>
            <a:prstGeom prst="rect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1400" b="1">
                <a:latin typeface="+mn-lt"/>
              </a:endParaRPr>
            </a:p>
          </p:txBody>
        </p:sp>
        <p:sp>
          <p:nvSpPr>
            <p:cNvPr id="168" name="Rectangle 49">
              <a:extLst>
                <a:ext uri="{FF2B5EF4-FFF2-40B4-BE49-F238E27FC236}">
                  <a16:creationId xmlns:a16="http://schemas.microsoft.com/office/drawing/2014/main" id="{41208EA0-9E4F-4AF7-908B-6CC068B47D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0091" y="4573282"/>
              <a:ext cx="198746" cy="216527"/>
            </a:xfrm>
            <a:prstGeom prst="rect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1400" b="1" dirty="0">
                <a:latin typeface="+mn-lt"/>
              </a:endParaRPr>
            </a:p>
          </p:txBody>
        </p:sp>
        <p:sp>
          <p:nvSpPr>
            <p:cNvPr id="169" name="Rectangle 50">
              <a:extLst>
                <a:ext uri="{FF2B5EF4-FFF2-40B4-BE49-F238E27FC236}">
                  <a16:creationId xmlns:a16="http://schemas.microsoft.com/office/drawing/2014/main" id="{C6BECF16-900A-49F7-B23A-BDE2793F04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0072" y="4573282"/>
              <a:ext cx="1457474" cy="216527"/>
            </a:xfrm>
            <a:prstGeom prst="rect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1400" b="1">
                <a:latin typeface="+mn-lt"/>
              </a:endParaRPr>
            </a:p>
          </p:txBody>
        </p:sp>
        <p:sp>
          <p:nvSpPr>
            <p:cNvPr id="170" name="Rectangle 51">
              <a:extLst>
                <a:ext uri="{FF2B5EF4-FFF2-40B4-BE49-F238E27FC236}">
                  <a16:creationId xmlns:a16="http://schemas.microsoft.com/office/drawing/2014/main" id="{5AC1FA80-0294-4E36-947A-82B67AB175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7546" y="4573282"/>
              <a:ext cx="1457474" cy="216527"/>
            </a:xfrm>
            <a:prstGeom prst="rect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1400" b="1">
                <a:latin typeface="+mn-lt"/>
              </a:endParaRPr>
            </a:p>
          </p:txBody>
        </p:sp>
        <p:sp>
          <p:nvSpPr>
            <p:cNvPr id="171" name="Rectangle 52">
              <a:extLst>
                <a:ext uri="{FF2B5EF4-FFF2-40B4-BE49-F238E27FC236}">
                  <a16:creationId xmlns:a16="http://schemas.microsoft.com/office/drawing/2014/main" id="{957DEC82-E4EF-467D-9582-9F6F552FD8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55020" y="4573282"/>
              <a:ext cx="1457474" cy="216527"/>
            </a:xfrm>
            <a:prstGeom prst="rect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1400" b="1">
                <a:latin typeface="+mn-lt"/>
              </a:endParaRPr>
            </a:p>
          </p:txBody>
        </p:sp>
        <p:sp>
          <p:nvSpPr>
            <p:cNvPr id="172" name="Rectangle 53">
              <a:extLst>
                <a:ext uri="{FF2B5EF4-FFF2-40B4-BE49-F238E27FC236}">
                  <a16:creationId xmlns:a16="http://schemas.microsoft.com/office/drawing/2014/main" id="{E0B00010-647D-48D2-96FC-60031CE59E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12494" y="4573282"/>
              <a:ext cx="1457474" cy="216527"/>
            </a:xfrm>
            <a:prstGeom prst="rect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1400" b="1">
                <a:latin typeface="+mn-lt"/>
              </a:endParaRPr>
            </a:p>
          </p:txBody>
        </p:sp>
        <p:sp>
          <p:nvSpPr>
            <p:cNvPr id="173" name="Rectangle 54">
              <a:extLst>
                <a:ext uri="{FF2B5EF4-FFF2-40B4-BE49-F238E27FC236}">
                  <a16:creationId xmlns:a16="http://schemas.microsoft.com/office/drawing/2014/main" id="{DD757CB9-4754-467E-9BE2-00AB9540B4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8837" y="4789808"/>
              <a:ext cx="861235" cy="216527"/>
            </a:xfrm>
            <a:prstGeom prst="rect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1400" b="1">
                <a:latin typeface="+mn-lt"/>
              </a:endParaRPr>
            </a:p>
          </p:txBody>
        </p:sp>
        <p:sp>
          <p:nvSpPr>
            <p:cNvPr id="174" name="Rectangle 55">
              <a:extLst>
                <a:ext uri="{FF2B5EF4-FFF2-40B4-BE49-F238E27FC236}">
                  <a16:creationId xmlns:a16="http://schemas.microsoft.com/office/drawing/2014/main" id="{1BA61C20-32AD-4C6F-9D2B-C9F8762FF5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0091" y="4789808"/>
              <a:ext cx="198746" cy="216527"/>
            </a:xfrm>
            <a:prstGeom prst="rect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1400" b="1" dirty="0">
                <a:latin typeface="+mn-lt"/>
              </a:endParaRPr>
            </a:p>
          </p:txBody>
        </p:sp>
        <p:sp>
          <p:nvSpPr>
            <p:cNvPr id="175" name="Rectangle 56">
              <a:extLst>
                <a:ext uri="{FF2B5EF4-FFF2-40B4-BE49-F238E27FC236}">
                  <a16:creationId xmlns:a16="http://schemas.microsoft.com/office/drawing/2014/main" id="{E85656D5-761E-4460-8E3D-549BF08DCB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0072" y="4789808"/>
              <a:ext cx="1457474" cy="216527"/>
            </a:xfrm>
            <a:prstGeom prst="rect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1400" b="1">
                <a:latin typeface="+mn-lt"/>
              </a:endParaRPr>
            </a:p>
          </p:txBody>
        </p:sp>
        <p:sp>
          <p:nvSpPr>
            <p:cNvPr id="176" name="Rectangle 57">
              <a:extLst>
                <a:ext uri="{FF2B5EF4-FFF2-40B4-BE49-F238E27FC236}">
                  <a16:creationId xmlns:a16="http://schemas.microsoft.com/office/drawing/2014/main" id="{CE0B0394-C997-4FD6-8880-34C386022D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7546" y="4789808"/>
              <a:ext cx="1457474" cy="216527"/>
            </a:xfrm>
            <a:prstGeom prst="rect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1400" b="1">
                <a:latin typeface="+mn-lt"/>
              </a:endParaRPr>
            </a:p>
          </p:txBody>
        </p:sp>
        <p:sp>
          <p:nvSpPr>
            <p:cNvPr id="177" name="Rectangle 58">
              <a:extLst>
                <a:ext uri="{FF2B5EF4-FFF2-40B4-BE49-F238E27FC236}">
                  <a16:creationId xmlns:a16="http://schemas.microsoft.com/office/drawing/2014/main" id="{A8F05BB4-C36B-46D5-BE64-557077E99F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55020" y="4789808"/>
              <a:ext cx="1457474" cy="216527"/>
            </a:xfrm>
            <a:prstGeom prst="rect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1400" b="1">
                <a:latin typeface="+mn-lt"/>
              </a:endParaRPr>
            </a:p>
          </p:txBody>
        </p:sp>
        <p:sp>
          <p:nvSpPr>
            <p:cNvPr id="178" name="Rectangle 59">
              <a:extLst>
                <a:ext uri="{FF2B5EF4-FFF2-40B4-BE49-F238E27FC236}">
                  <a16:creationId xmlns:a16="http://schemas.microsoft.com/office/drawing/2014/main" id="{C9667858-B7FC-489F-9356-3C9891696D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12494" y="4789808"/>
              <a:ext cx="1457474" cy="216527"/>
            </a:xfrm>
            <a:prstGeom prst="rect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1400" b="1">
                <a:latin typeface="+mn-lt"/>
              </a:endParaRPr>
            </a:p>
          </p:txBody>
        </p:sp>
        <p:sp>
          <p:nvSpPr>
            <p:cNvPr id="179" name="Text Box 61">
              <a:extLst>
                <a:ext uri="{FF2B5EF4-FFF2-40B4-BE49-F238E27FC236}">
                  <a16:creationId xmlns:a16="http://schemas.microsoft.com/office/drawing/2014/main" id="{660C3B86-35E6-406F-A91D-653C640697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22734" y="3274122"/>
              <a:ext cx="246957" cy="23939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400" b="1" dirty="0">
                  <a:latin typeface="+mn-lt"/>
                </a:rPr>
                <a:t>0</a:t>
              </a:r>
            </a:p>
          </p:txBody>
        </p:sp>
        <p:sp>
          <p:nvSpPr>
            <p:cNvPr id="180" name="Text Box 62">
              <a:extLst>
                <a:ext uri="{FF2B5EF4-FFF2-40B4-BE49-F238E27FC236}">
                  <a16:creationId xmlns:a16="http://schemas.microsoft.com/office/drawing/2014/main" id="{46FD9BB7-2CEE-4E50-81B4-77E5F57D1E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8933" y="3490649"/>
              <a:ext cx="246957" cy="23939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400" b="1" dirty="0">
                  <a:latin typeface="+mn-lt"/>
                </a:rPr>
                <a:t>1</a:t>
              </a:r>
            </a:p>
          </p:txBody>
        </p:sp>
        <p:sp>
          <p:nvSpPr>
            <p:cNvPr id="181" name="Text Box 63">
              <a:extLst>
                <a:ext uri="{FF2B5EF4-FFF2-40B4-BE49-F238E27FC236}">
                  <a16:creationId xmlns:a16="http://schemas.microsoft.com/office/drawing/2014/main" id="{BF0B498E-9D43-4682-9622-3AD8532CCD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22734" y="3707175"/>
              <a:ext cx="246957" cy="23939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400" b="1">
                  <a:latin typeface="+mn-lt"/>
                </a:rPr>
                <a:t>2</a:t>
              </a:r>
            </a:p>
          </p:txBody>
        </p:sp>
        <p:sp>
          <p:nvSpPr>
            <p:cNvPr id="182" name="Text Box 64">
              <a:extLst>
                <a:ext uri="{FF2B5EF4-FFF2-40B4-BE49-F238E27FC236}">
                  <a16:creationId xmlns:a16="http://schemas.microsoft.com/office/drawing/2014/main" id="{A055C863-1534-4BE7-8FB6-B997343A20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4335" y="3923702"/>
              <a:ext cx="203753" cy="23939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400" b="1" dirty="0">
                  <a:latin typeface="+mn-lt"/>
                </a:rPr>
                <a:t>.</a:t>
              </a:r>
            </a:p>
          </p:txBody>
        </p:sp>
        <p:sp>
          <p:nvSpPr>
            <p:cNvPr id="183" name="Text Box 65">
              <a:extLst>
                <a:ext uri="{FF2B5EF4-FFF2-40B4-BE49-F238E27FC236}">
                  <a16:creationId xmlns:a16="http://schemas.microsoft.com/office/drawing/2014/main" id="{333E923F-8316-4BA4-9AAD-32447B8D76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4335" y="4140228"/>
              <a:ext cx="203753" cy="23939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400" b="1" dirty="0">
                  <a:latin typeface="+mn-lt"/>
                </a:rPr>
                <a:t>.</a:t>
              </a:r>
            </a:p>
          </p:txBody>
        </p:sp>
        <p:sp>
          <p:nvSpPr>
            <p:cNvPr id="184" name="Text Box 66">
              <a:extLst>
                <a:ext uri="{FF2B5EF4-FFF2-40B4-BE49-F238E27FC236}">
                  <a16:creationId xmlns:a16="http://schemas.microsoft.com/office/drawing/2014/main" id="{690D5424-5551-453D-872D-F0DA3D5034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4335" y="4356755"/>
              <a:ext cx="203753" cy="23939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400" b="1" dirty="0">
                  <a:latin typeface="+mn-lt"/>
                </a:rPr>
                <a:t>.</a:t>
              </a:r>
            </a:p>
          </p:txBody>
        </p:sp>
        <p:sp>
          <p:nvSpPr>
            <p:cNvPr id="185" name="Text Box 67">
              <a:extLst>
                <a:ext uri="{FF2B5EF4-FFF2-40B4-BE49-F238E27FC236}">
                  <a16:creationId xmlns:a16="http://schemas.microsoft.com/office/drawing/2014/main" id="{349EEBD2-5E6C-4F39-A7FA-A3ECA03868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8568" y="4573282"/>
              <a:ext cx="506178" cy="23939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400" b="1" dirty="0">
                  <a:latin typeface="+mn-lt"/>
                </a:rPr>
                <a:t>1022</a:t>
              </a:r>
            </a:p>
          </p:txBody>
        </p:sp>
        <p:sp>
          <p:nvSpPr>
            <p:cNvPr id="186" name="Text Box 68">
              <a:extLst>
                <a:ext uri="{FF2B5EF4-FFF2-40B4-BE49-F238E27FC236}">
                  <a16:creationId xmlns:a16="http://schemas.microsoft.com/office/drawing/2014/main" id="{61E79E2D-B3B4-49FB-962A-14BA7ED8C1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8568" y="4789808"/>
              <a:ext cx="506178" cy="23939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400" b="1">
                  <a:latin typeface="+mn-lt"/>
                </a:rPr>
                <a:t>1023</a:t>
              </a:r>
            </a:p>
          </p:txBody>
        </p:sp>
        <p:sp>
          <p:nvSpPr>
            <p:cNvPr id="187" name="Text Box 70">
              <a:extLst>
                <a:ext uri="{FF2B5EF4-FFF2-40B4-BE49-F238E27FC236}">
                  <a16:creationId xmlns:a16="http://schemas.microsoft.com/office/drawing/2014/main" id="{5BEFC215-5E52-4843-AD57-CC30DFE722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59568" y="3014653"/>
              <a:ext cx="524073" cy="23939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400" b="1" dirty="0">
                  <a:latin typeface="+mn-lt"/>
                </a:rPr>
                <a:t>Valid</a:t>
              </a:r>
            </a:p>
          </p:txBody>
        </p:sp>
        <p:sp>
          <p:nvSpPr>
            <p:cNvPr id="188" name="Text Box 71">
              <a:extLst>
                <a:ext uri="{FF2B5EF4-FFF2-40B4-BE49-F238E27FC236}">
                  <a16:creationId xmlns:a16="http://schemas.microsoft.com/office/drawing/2014/main" id="{0F51FFD2-EF1E-4934-8FA2-80CB1032B9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2968" y="3014653"/>
              <a:ext cx="424900" cy="23939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400" b="1" dirty="0">
                  <a:latin typeface="+mn-lt"/>
                </a:rPr>
                <a:t>Tag</a:t>
              </a:r>
            </a:p>
          </p:txBody>
        </p:sp>
        <p:grpSp>
          <p:nvGrpSpPr>
            <p:cNvPr id="189" name="Group 80">
              <a:extLst>
                <a:ext uri="{FF2B5EF4-FFF2-40B4-BE49-F238E27FC236}">
                  <a16:creationId xmlns:a16="http://schemas.microsoft.com/office/drawing/2014/main" id="{40C9F366-8475-4F45-B279-62714837B703}"/>
                </a:ext>
              </a:extLst>
            </p:cNvPr>
            <p:cNvGrpSpPr/>
            <p:nvPr/>
          </p:nvGrpSpPr>
          <p:grpSpPr>
            <a:xfrm>
              <a:off x="2540072" y="2819400"/>
              <a:ext cx="5763647" cy="239392"/>
              <a:chOff x="2209800" y="2438400"/>
              <a:chExt cx="6629400" cy="336987"/>
            </a:xfrm>
          </p:grpSpPr>
          <p:sp>
            <p:nvSpPr>
              <p:cNvPr id="190" name="Text Box 72">
                <a:extLst>
                  <a:ext uri="{FF2B5EF4-FFF2-40B4-BE49-F238E27FC236}">
                    <a16:creationId xmlns:a16="http://schemas.microsoft.com/office/drawing/2014/main" id="{E67687DB-852B-4C5F-9121-4E8939652B4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79403" y="2438400"/>
                <a:ext cx="572593" cy="336987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400" b="1" dirty="0">
                    <a:latin typeface="+mn-lt"/>
                  </a:rPr>
                  <a:t>Data</a:t>
                </a:r>
              </a:p>
            </p:txBody>
          </p:sp>
          <p:sp>
            <p:nvSpPr>
              <p:cNvPr id="191" name="Line 73">
                <a:extLst>
                  <a:ext uri="{FF2B5EF4-FFF2-40B4-BE49-F238E27FC236}">
                    <a16:creationId xmlns:a16="http://schemas.microsoft.com/office/drawing/2014/main" id="{57B7104E-3811-445E-A42A-631541E419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209800" y="2590800"/>
                <a:ext cx="24384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>
                <a:spAutoFit/>
              </a:bodyPr>
              <a:lstStyle/>
              <a:p>
                <a:endParaRPr lang="en-US" sz="1400">
                  <a:latin typeface="+mn-lt"/>
                </a:endParaRPr>
              </a:p>
            </p:txBody>
          </p:sp>
          <p:sp>
            <p:nvSpPr>
              <p:cNvPr id="192" name="Line 74">
                <a:extLst>
                  <a:ext uri="{FF2B5EF4-FFF2-40B4-BE49-F238E27FC236}">
                    <a16:creationId xmlns:a16="http://schemas.microsoft.com/office/drawing/2014/main" id="{E02DFF58-BE4F-4FD8-83B1-62755266D2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57800" y="2590800"/>
                <a:ext cx="35814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>
                <a:spAutoFit/>
              </a:bodyPr>
              <a:lstStyle/>
              <a:p>
                <a:endParaRPr lang="en-US" sz="1400">
                  <a:latin typeface="+mn-lt"/>
                </a:endParaRPr>
              </a:p>
            </p:txBody>
          </p:sp>
        </p:grpSp>
        <p:sp>
          <p:nvSpPr>
            <p:cNvPr id="193" name="Text Box 75">
              <a:extLst>
                <a:ext uri="{FF2B5EF4-FFF2-40B4-BE49-F238E27FC236}">
                  <a16:creationId xmlns:a16="http://schemas.microsoft.com/office/drawing/2014/main" id="{47EF61AE-F227-400A-AF62-FE9B37A065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3797" y="3037208"/>
              <a:ext cx="642700" cy="23939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400" b="1" dirty="0">
                  <a:latin typeface="+mn-lt"/>
                </a:rPr>
                <a:t>Word0</a:t>
              </a:r>
            </a:p>
          </p:txBody>
        </p:sp>
        <p:sp>
          <p:nvSpPr>
            <p:cNvPr id="194" name="Text Box 76">
              <a:extLst>
                <a:ext uri="{FF2B5EF4-FFF2-40B4-BE49-F238E27FC236}">
                  <a16:creationId xmlns:a16="http://schemas.microsoft.com/office/drawing/2014/main" id="{EE3E1C68-7143-43AA-BCAE-988634F104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9967" y="3037208"/>
              <a:ext cx="642700" cy="23939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400" b="1" dirty="0">
                  <a:latin typeface="+mn-lt"/>
                </a:rPr>
                <a:t>Word1</a:t>
              </a:r>
            </a:p>
          </p:txBody>
        </p:sp>
        <p:sp>
          <p:nvSpPr>
            <p:cNvPr id="195" name="Text Box 77">
              <a:extLst>
                <a:ext uri="{FF2B5EF4-FFF2-40B4-BE49-F238E27FC236}">
                  <a16:creationId xmlns:a16="http://schemas.microsoft.com/office/drawing/2014/main" id="{485AA76A-A91B-44C3-A1C8-C2B51C73A9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31243" y="3037208"/>
              <a:ext cx="642700" cy="23939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400" b="1" dirty="0">
                  <a:latin typeface="+mn-lt"/>
                </a:rPr>
                <a:t>Word2</a:t>
              </a:r>
            </a:p>
          </p:txBody>
        </p:sp>
        <p:sp>
          <p:nvSpPr>
            <p:cNvPr id="196" name="Text Box 78">
              <a:extLst>
                <a:ext uri="{FF2B5EF4-FFF2-40B4-BE49-F238E27FC236}">
                  <a16:creationId xmlns:a16="http://schemas.microsoft.com/office/drawing/2014/main" id="{96713103-D165-4A56-9E04-2B68407656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22468" y="3037208"/>
              <a:ext cx="642700" cy="23939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400" b="1" dirty="0">
                  <a:latin typeface="+mn-lt"/>
                </a:rPr>
                <a:t>Word3</a:t>
              </a:r>
            </a:p>
          </p:txBody>
        </p:sp>
      </p:grpSp>
      <p:sp>
        <p:nvSpPr>
          <p:cNvPr id="199" name="Snip Single Corner Rectangle 169">
            <a:extLst>
              <a:ext uri="{FF2B5EF4-FFF2-40B4-BE49-F238E27FC236}">
                <a16:creationId xmlns:a16="http://schemas.microsoft.com/office/drawing/2014/main" id="{60E5EDFD-93A7-4FC2-8CE1-00AD5E7A89A0}"/>
              </a:ext>
            </a:extLst>
          </p:cNvPr>
          <p:cNvSpPr/>
          <p:nvPr/>
        </p:nvSpPr>
        <p:spPr>
          <a:xfrm>
            <a:off x="2350168" y="5702926"/>
            <a:ext cx="1846262" cy="850261"/>
          </a:xfrm>
          <a:prstGeom prst="snip1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Cache Hit = 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[Tag Matches] AND [Valid]</a:t>
            </a:r>
          </a:p>
        </p:txBody>
      </p: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B223FB98-D62A-4D46-9936-AAFDDB61CDCA}"/>
              </a:ext>
            </a:extLst>
          </p:cNvPr>
          <p:cNvGrpSpPr/>
          <p:nvPr/>
        </p:nvGrpSpPr>
        <p:grpSpPr>
          <a:xfrm>
            <a:off x="1480091" y="3703369"/>
            <a:ext cx="6889877" cy="216527"/>
            <a:chOff x="1480091" y="3707175"/>
            <a:chExt cx="6889877" cy="216527"/>
          </a:xfrm>
        </p:grpSpPr>
        <p:sp>
          <p:nvSpPr>
            <p:cNvPr id="201" name="Rectangle 26">
              <a:extLst>
                <a:ext uri="{FF2B5EF4-FFF2-40B4-BE49-F238E27FC236}">
                  <a16:creationId xmlns:a16="http://schemas.microsoft.com/office/drawing/2014/main" id="{63BEF1E9-0E1B-40F3-BC47-B1872C94E3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0072" y="3707175"/>
              <a:ext cx="1457474" cy="216527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1400" b="1">
                <a:latin typeface="+mn-lt"/>
              </a:endParaRPr>
            </a:p>
          </p:txBody>
        </p:sp>
        <p:sp>
          <p:nvSpPr>
            <p:cNvPr id="202" name="Rectangle 27">
              <a:extLst>
                <a:ext uri="{FF2B5EF4-FFF2-40B4-BE49-F238E27FC236}">
                  <a16:creationId xmlns:a16="http://schemas.microsoft.com/office/drawing/2014/main" id="{14E21505-040D-4ACE-8816-5E588D1941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7546" y="3707175"/>
              <a:ext cx="1457474" cy="216527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1400" b="1">
                <a:latin typeface="+mn-lt"/>
              </a:endParaRPr>
            </a:p>
          </p:txBody>
        </p:sp>
        <p:sp>
          <p:nvSpPr>
            <p:cNvPr id="203" name="Rectangle 28">
              <a:extLst>
                <a:ext uri="{FF2B5EF4-FFF2-40B4-BE49-F238E27FC236}">
                  <a16:creationId xmlns:a16="http://schemas.microsoft.com/office/drawing/2014/main" id="{C670E369-384D-47CC-9156-8DBA9E3DF9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55020" y="3707175"/>
              <a:ext cx="1457474" cy="216527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1400" b="1">
                <a:latin typeface="+mn-lt"/>
              </a:endParaRPr>
            </a:p>
          </p:txBody>
        </p:sp>
        <p:sp>
          <p:nvSpPr>
            <p:cNvPr id="204" name="Rectangle 29">
              <a:extLst>
                <a:ext uri="{FF2B5EF4-FFF2-40B4-BE49-F238E27FC236}">
                  <a16:creationId xmlns:a16="http://schemas.microsoft.com/office/drawing/2014/main" id="{3DEEB6A4-2AD6-4866-8766-AA2310013A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12494" y="3707175"/>
              <a:ext cx="1457474" cy="216527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1400" b="1">
                <a:latin typeface="+mn-lt"/>
              </a:endParaRPr>
            </a:p>
          </p:txBody>
        </p:sp>
        <p:sp>
          <p:nvSpPr>
            <p:cNvPr id="205" name="Rectangle 24">
              <a:extLst>
                <a:ext uri="{FF2B5EF4-FFF2-40B4-BE49-F238E27FC236}">
                  <a16:creationId xmlns:a16="http://schemas.microsoft.com/office/drawing/2014/main" id="{35C0450A-B13C-4747-9121-12465CD8BC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8837" y="3707175"/>
              <a:ext cx="861235" cy="21652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1400" b="1">
                <a:latin typeface="+mn-lt"/>
              </a:endParaRPr>
            </a:p>
          </p:txBody>
        </p:sp>
        <p:sp>
          <p:nvSpPr>
            <p:cNvPr id="206" name="Rectangle 25">
              <a:extLst>
                <a:ext uri="{FF2B5EF4-FFF2-40B4-BE49-F238E27FC236}">
                  <a16:creationId xmlns:a16="http://schemas.microsoft.com/office/drawing/2014/main" id="{0C5476F1-3489-4459-8706-402A9D18BA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0091" y="3707175"/>
              <a:ext cx="198746" cy="216527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1400" b="1" dirty="0">
                <a:latin typeface="+mn-lt"/>
              </a:endParaRPr>
            </a:p>
          </p:txBody>
        </p:sp>
      </p:grpSp>
      <p:sp>
        <p:nvSpPr>
          <p:cNvPr id="197" name="Line 221">
            <a:extLst>
              <a:ext uri="{FF2B5EF4-FFF2-40B4-BE49-F238E27FC236}">
                <a16:creationId xmlns:a16="http://schemas.microsoft.com/office/drawing/2014/main" id="{0782AA5C-BD76-48AB-A4A1-55F71795ACC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88168" y="3810000"/>
            <a:ext cx="0" cy="2133601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 type="oval" w="sm" len="sm"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84" name="Group 204">
            <a:extLst>
              <a:ext uri="{FF2B5EF4-FFF2-40B4-BE49-F238E27FC236}">
                <a16:creationId xmlns:a16="http://schemas.microsoft.com/office/drawing/2014/main" id="{2709A1F8-EFFD-4410-92A4-88A14279E640}"/>
              </a:ext>
            </a:extLst>
          </p:cNvPr>
          <p:cNvGrpSpPr>
            <a:grpSpLocks/>
          </p:cNvGrpSpPr>
          <p:nvPr/>
        </p:nvGrpSpPr>
        <p:grpSpPr bwMode="auto">
          <a:xfrm>
            <a:off x="1892971" y="3810000"/>
            <a:ext cx="482601" cy="1600729"/>
            <a:chOff x="1181" y="2400"/>
            <a:chExt cx="304" cy="825"/>
          </a:xfrm>
        </p:grpSpPr>
        <p:sp>
          <p:nvSpPr>
            <p:cNvPr id="85" name="Line 205">
              <a:extLst>
                <a:ext uri="{FF2B5EF4-FFF2-40B4-BE49-F238E27FC236}">
                  <a16:creationId xmlns:a16="http://schemas.microsoft.com/office/drawing/2014/main" id="{7658C016-321B-4178-A888-7938BC8C49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1" y="3092"/>
              <a:ext cx="196" cy="54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Text Box 206">
              <a:extLst>
                <a:ext uri="{FF2B5EF4-FFF2-40B4-BE49-F238E27FC236}">
                  <a16:creationId xmlns:a16="http://schemas.microsoft.com/office/drawing/2014/main" id="{0CFA11C9-8059-4F93-A4CA-98A896872A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5" y="2998"/>
              <a:ext cx="240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1400" dirty="0"/>
                <a:t>18</a:t>
              </a:r>
            </a:p>
          </p:txBody>
        </p:sp>
        <p:sp>
          <p:nvSpPr>
            <p:cNvPr id="87" name="Line 207">
              <a:extLst>
                <a:ext uri="{FF2B5EF4-FFF2-40B4-BE49-F238E27FC236}">
                  <a16:creationId xmlns:a16="http://schemas.microsoft.com/office/drawing/2014/main" id="{0E32C68B-481F-4638-8ECB-DAD9FE10B8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77" y="2400"/>
              <a:ext cx="0" cy="8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sm" len="sm"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2430383C-8ED2-4989-9145-ADA657976FF9}"/>
              </a:ext>
            </a:extLst>
          </p:cNvPr>
          <p:cNvGrpSpPr/>
          <p:nvPr/>
        </p:nvGrpSpPr>
        <p:grpSpPr>
          <a:xfrm>
            <a:off x="3112168" y="3810000"/>
            <a:ext cx="4419600" cy="1981200"/>
            <a:chOff x="3112168" y="3810000"/>
            <a:chExt cx="4419600" cy="1981200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6E64336C-DB11-45BA-9722-AEA0728AE762}"/>
                </a:ext>
              </a:extLst>
            </p:cNvPr>
            <p:cNvGrpSpPr/>
            <p:nvPr/>
          </p:nvGrpSpPr>
          <p:grpSpPr>
            <a:xfrm>
              <a:off x="5931568" y="3810000"/>
              <a:ext cx="1600200" cy="1981200"/>
              <a:chOff x="5931568" y="3810000"/>
              <a:chExt cx="1600200" cy="1981200"/>
            </a:xfrm>
          </p:grpSpPr>
          <p:sp>
            <p:nvSpPr>
              <p:cNvPr id="115" name="Line 237">
                <a:extLst>
                  <a:ext uri="{FF2B5EF4-FFF2-40B4-BE49-F238E27FC236}">
                    <a16:creationId xmlns:a16="http://schemas.microsoft.com/office/drawing/2014/main" id="{9461662C-E01E-4B1C-ACA5-11D18C1F9E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531768" y="3810000"/>
                <a:ext cx="0" cy="167640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oval" w="sm" len="sm"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" name="Line 239">
                <a:extLst>
                  <a:ext uri="{FF2B5EF4-FFF2-40B4-BE49-F238E27FC236}">
                    <a16:creationId xmlns:a16="http://schemas.microsoft.com/office/drawing/2014/main" id="{08C9554B-370C-497E-AEB9-F992347F0E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931568" y="5486400"/>
                <a:ext cx="160020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" name="Line 244">
                <a:extLst>
                  <a:ext uri="{FF2B5EF4-FFF2-40B4-BE49-F238E27FC236}">
                    <a16:creationId xmlns:a16="http://schemas.microsoft.com/office/drawing/2014/main" id="{4B072571-511B-43B1-9C31-9945894AC5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931568" y="5486400"/>
                <a:ext cx="0" cy="30480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5248215-AFAC-4DB6-B553-10BAC03C355F}"/>
                </a:ext>
              </a:extLst>
            </p:cNvPr>
            <p:cNvGrpSpPr/>
            <p:nvPr/>
          </p:nvGrpSpPr>
          <p:grpSpPr>
            <a:xfrm>
              <a:off x="5550568" y="3810000"/>
              <a:ext cx="533400" cy="1981200"/>
              <a:chOff x="5550568" y="3810000"/>
              <a:chExt cx="533400" cy="1981200"/>
            </a:xfrm>
          </p:grpSpPr>
          <p:sp>
            <p:nvSpPr>
              <p:cNvPr id="114" name="Line 236">
                <a:extLst>
                  <a:ext uri="{FF2B5EF4-FFF2-40B4-BE49-F238E27FC236}">
                    <a16:creationId xmlns:a16="http://schemas.microsoft.com/office/drawing/2014/main" id="{1900FB8F-878B-4729-AB25-60B97470CB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83968" y="3810000"/>
                <a:ext cx="0" cy="152400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oval" w="sm" len="sm"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" name="Line 240">
                <a:extLst>
                  <a:ext uri="{FF2B5EF4-FFF2-40B4-BE49-F238E27FC236}">
                    <a16:creationId xmlns:a16="http://schemas.microsoft.com/office/drawing/2014/main" id="{23525050-027F-44F8-B03B-DC4CCD92E3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550568" y="5334000"/>
                <a:ext cx="53340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" name="Line 243">
                <a:extLst>
                  <a:ext uri="{FF2B5EF4-FFF2-40B4-BE49-F238E27FC236}">
                    <a16:creationId xmlns:a16="http://schemas.microsoft.com/office/drawing/2014/main" id="{32FCAC97-2901-4468-A6A2-969DE3D016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550568" y="5334000"/>
                <a:ext cx="0" cy="45720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D247AAD-043B-4EF9-B916-CBDEF7C7FFE9}"/>
                </a:ext>
              </a:extLst>
            </p:cNvPr>
            <p:cNvGrpSpPr/>
            <p:nvPr/>
          </p:nvGrpSpPr>
          <p:grpSpPr>
            <a:xfrm>
              <a:off x="4636168" y="3810000"/>
              <a:ext cx="533400" cy="1981200"/>
              <a:chOff x="4636168" y="3810000"/>
              <a:chExt cx="533400" cy="1981200"/>
            </a:xfrm>
          </p:grpSpPr>
          <p:sp>
            <p:nvSpPr>
              <p:cNvPr id="113" name="Line 235">
                <a:extLst>
                  <a:ext uri="{FF2B5EF4-FFF2-40B4-BE49-F238E27FC236}">
                    <a16:creationId xmlns:a16="http://schemas.microsoft.com/office/drawing/2014/main" id="{3A5F732A-0823-493C-890B-614C02622B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36168" y="3810000"/>
                <a:ext cx="0" cy="152400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oval" w="sm" len="sm"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" name="Line 241">
                <a:extLst>
                  <a:ext uri="{FF2B5EF4-FFF2-40B4-BE49-F238E27FC236}">
                    <a16:creationId xmlns:a16="http://schemas.microsoft.com/office/drawing/2014/main" id="{1FE43736-6EF4-4ABF-AA29-BB665FCDD2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36168" y="5334000"/>
                <a:ext cx="53340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" name="Line 242">
                <a:extLst>
                  <a:ext uri="{FF2B5EF4-FFF2-40B4-BE49-F238E27FC236}">
                    <a16:creationId xmlns:a16="http://schemas.microsoft.com/office/drawing/2014/main" id="{412E0C31-3DEF-4678-B4F0-F73E9E5547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69568" y="5334000"/>
                <a:ext cx="0" cy="45720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BCEA1F52-03C9-4A59-B1FC-84F49E96665C}"/>
                </a:ext>
              </a:extLst>
            </p:cNvPr>
            <p:cNvGrpSpPr/>
            <p:nvPr/>
          </p:nvGrpSpPr>
          <p:grpSpPr>
            <a:xfrm>
              <a:off x="3112168" y="3810000"/>
              <a:ext cx="1676400" cy="1981200"/>
              <a:chOff x="3112168" y="3810000"/>
              <a:chExt cx="1676400" cy="1981200"/>
            </a:xfrm>
          </p:grpSpPr>
          <p:sp>
            <p:nvSpPr>
              <p:cNvPr id="112" name="Line 234">
                <a:extLst>
                  <a:ext uri="{FF2B5EF4-FFF2-40B4-BE49-F238E27FC236}">
                    <a16:creationId xmlns:a16="http://schemas.microsoft.com/office/drawing/2014/main" id="{DADDBEB9-723B-4792-8CE5-5DB95A7948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12168" y="3810000"/>
                <a:ext cx="0" cy="167640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oval" w="sm" len="sm"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" name="Line 238">
                <a:extLst>
                  <a:ext uri="{FF2B5EF4-FFF2-40B4-BE49-F238E27FC236}">
                    <a16:creationId xmlns:a16="http://schemas.microsoft.com/office/drawing/2014/main" id="{B4B9AB77-F012-47F7-91C8-A1CA924DD5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12168" y="5486400"/>
                <a:ext cx="167640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" name="Line 245">
                <a:extLst>
                  <a:ext uri="{FF2B5EF4-FFF2-40B4-BE49-F238E27FC236}">
                    <a16:creationId xmlns:a16="http://schemas.microsoft.com/office/drawing/2014/main" id="{5BAC7D96-5448-42F3-96A0-F487F5BFA3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88568" y="5486400"/>
                <a:ext cx="0" cy="30480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BEA4313-B94F-42C2-B3A5-2412DCE4C194}"/>
              </a:ext>
            </a:extLst>
          </p:cNvPr>
          <p:cNvGrpSpPr/>
          <p:nvPr/>
        </p:nvGrpSpPr>
        <p:grpSpPr>
          <a:xfrm>
            <a:off x="4636168" y="5765649"/>
            <a:ext cx="1447800" cy="338554"/>
            <a:chOff x="4636168" y="5765649"/>
            <a:chExt cx="1447800" cy="338554"/>
          </a:xfrm>
        </p:grpSpPr>
        <p:sp>
          <p:nvSpPr>
            <p:cNvPr id="198" name="Trapezoid 197">
              <a:extLst>
                <a:ext uri="{FF2B5EF4-FFF2-40B4-BE49-F238E27FC236}">
                  <a16:creationId xmlns:a16="http://schemas.microsoft.com/office/drawing/2014/main" id="{F9936114-C7AE-44A9-8AEF-0034970D3CE6}"/>
                </a:ext>
              </a:extLst>
            </p:cNvPr>
            <p:cNvSpPr/>
            <p:nvPr/>
          </p:nvSpPr>
          <p:spPr>
            <a:xfrm rot="10800000">
              <a:off x="4636168" y="5791200"/>
              <a:ext cx="1447800" cy="304800"/>
            </a:xfrm>
            <a:prstGeom prst="trapezoid">
              <a:avLst>
                <a:gd name="adj" fmla="val 47641"/>
              </a:avLst>
            </a:prstGeom>
            <a:solidFill>
              <a:srgbClr val="FFFFCC"/>
            </a:solidFill>
            <a:ln w="19050">
              <a:solidFill>
                <a:srgbClr val="6600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F2F3C5F-7063-465F-91C2-D78479043743}"/>
                </a:ext>
              </a:extLst>
            </p:cNvPr>
            <p:cNvSpPr txBox="1"/>
            <p:nvPr/>
          </p:nvSpPr>
          <p:spPr>
            <a:xfrm>
              <a:off x="4972321" y="5765649"/>
              <a:ext cx="77549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1600" dirty="0"/>
                <a:t>MUX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A12F154-B534-4964-82B7-B0BA39760D03}"/>
              </a:ext>
            </a:extLst>
          </p:cNvPr>
          <p:cNvGrpSpPr/>
          <p:nvPr/>
        </p:nvGrpSpPr>
        <p:grpSpPr>
          <a:xfrm>
            <a:off x="4812418" y="2286000"/>
            <a:ext cx="3633750" cy="3657600"/>
            <a:chOff x="4812418" y="2286000"/>
            <a:chExt cx="3633750" cy="3657600"/>
          </a:xfrm>
        </p:grpSpPr>
        <p:sp>
          <p:nvSpPr>
            <p:cNvPr id="110" name="Text Box 231">
              <a:extLst>
                <a:ext uri="{FF2B5EF4-FFF2-40B4-BE49-F238E27FC236}">
                  <a16:creationId xmlns:a16="http://schemas.microsoft.com/office/drawing/2014/main" id="{2368A8AF-9869-4451-9F77-8CA8FDAC34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91617" y="2286000"/>
              <a:ext cx="1414701" cy="33655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0" hangingPunct="0"/>
              <a:r>
                <a:rPr lang="en-US" sz="1600" b="1" dirty="0">
                  <a:solidFill>
                    <a:srgbClr val="006600"/>
                  </a:solidFill>
                </a:rPr>
                <a:t>Block offset</a:t>
              </a:r>
            </a:p>
          </p:txBody>
        </p:sp>
        <p:sp>
          <p:nvSpPr>
            <p:cNvPr id="124" name="Line 246">
              <a:extLst>
                <a:ext uri="{FF2B5EF4-FFF2-40B4-BE49-F238E27FC236}">
                  <a16:creationId xmlns:a16="http://schemas.microsoft.com/office/drawing/2014/main" id="{56AA4756-BD22-460F-8D03-3DF06CEB60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0968" y="2286000"/>
              <a:ext cx="0" cy="304800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5" name="Line 247">
              <a:extLst>
                <a:ext uri="{FF2B5EF4-FFF2-40B4-BE49-F238E27FC236}">
                  <a16:creationId xmlns:a16="http://schemas.microsoft.com/office/drawing/2014/main" id="{D2D6E393-3B25-45ED-B6FD-1A50D9D246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0968" y="2590800"/>
              <a:ext cx="3505200" cy="0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6" name="Line 248">
              <a:extLst>
                <a:ext uri="{FF2B5EF4-FFF2-40B4-BE49-F238E27FC236}">
                  <a16:creationId xmlns:a16="http://schemas.microsoft.com/office/drawing/2014/main" id="{F0E119F2-CD8C-472C-8EAA-3B1EA8DC36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46168" y="2590800"/>
              <a:ext cx="0" cy="3352800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7" name="Line 249">
              <a:extLst>
                <a:ext uri="{FF2B5EF4-FFF2-40B4-BE49-F238E27FC236}">
                  <a16:creationId xmlns:a16="http://schemas.microsoft.com/office/drawing/2014/main" id="{4FC17773-B63D-433F-8425-CCB3CB5BAE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007768" y="5943600"/>
              <a:ext cx="2438400" cy="0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7" name="Line 167">
              <a:extLst>
                <a:ext uri="{FF2B5EF4-FFF2-40B4-BE49-F238E27FC236}">
                  <a16:creationId xmlns:a16="http://schemas.microsoft.com/office/drawing/2014/main" id="{E23AC777-8630-429D-85C2-2A9FFEAE40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12418" y="2425084"/>
              <a:ext cx="234950" cy="75406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8" name="Text Box 168">
              <a:extLst>
                <a:ext uri="{FF2B5EF4-FFF2-40B4-BE49-F238E27FC236}">
                  <a16:creationId xmlns:a16="http://schemas.microsoft.com/office/drawing/2014/main" id="{75B53DBE-26DE-4ABB-A9E9-E4A47115D8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71013" y="2302113"/>
              <a:ext cx="1222254" cy="30777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0" hangingPunct="0"/>
              <a:r>
                <a:rPr lang="en-US" sz="1400" dirty="0"/>
                <a:t>2 (</a:t>
              </a:r>
              <a:r>
                <a:rPr lang="en-US" sz="1400" dirty="0" err="1"/>
                <a:t>Addr</a:t>
              </a:r>
              <a:r>
                <a:rPr lang="en-US" sz="1400" dirty="0"/>
                <a:t>[3:2])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62111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" grpId="0" animBg="1"/>
      <p:bldP spid="19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5. Reading Data: </a:t>
            </a:r>
            <a:r>
              <a:rPr lang="en-GB" sz="3600" b="1" dirty="0">
                <a:solidFill>
                  <a:srgbClr val="0000FF"/>
                </a:solidFill>
              </a:rPr>
              <a:t>Setup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#22: Cache I: Direct Mapped Cache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32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209" name="Content Placeholder 9">
            <a:extLst>
              <a:ext uri="{FF2B5EF4-FFF2-40B4-BE49-F238E27FC236}">
                <a16:creationId xmlns:a16="http://schemas.microsoft.com/office/drawing/2014/main" id="{413789F2-30E8-4222-BDC3-97D9AD1B04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1188"/>
            <a:ext cx="8229600" cy="1793012"/>
          </a:xfrm>
        </p:spPr>
        <p:txBody>
          <a:bodyPr>
            <a:normAutofit/>
          </a:bodyPr>
          <a:lstStyle/>
          <a:p>
            <a:pPr marL="265113" indent="-265113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SG" sz="2800" dirty="0"/>
              <a:t>Given a direct mapped 16KB cache:</a:t>
            </a:r>
          </a:p>
          <a:p>
            <a:pPr marL="625475" lvl="1" indent="-265113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SG" sz="2400" dirty="0"/>
              <a:t>16-byte blocks x 1024 cache blocks</a:t>
            </a:r>
            <a:endParaRPr lang="en-US" sz="2400" dirty="0"/>
          </a:p>
          <a:p>
            <a:pPr marL="265113" indent="-265113">
              <a:spcBef>
                <a:spcPts val="12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Trace the following memory accesses:</a:t>
            </a:r>
            <a:endParaRPr lang="en-SG" sz="2800" dirty="0"/>
          </a:p>
          <a:p>
            <a:endParaRPr lang="en-SG" dirty="0"/>
          </a:p>
        </p:txBody>
      </p:sp>
      <p:sp>
        <p:nvSpPr>
          <p:cNvPr id="210" name="Text Box 38">
            <a:extLst>
              <a:ext uri="{FF2B5EF4-FFF2-40B4-BE49-F238E27FC236}">
                <a16:creationId xmlns:a16="http://schemas.microsoft.com/office/drawing/2014/main" id="{A9A39E9B-EFC2-4AF3-8ACB-B7F6128281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3448110"/>
            <a:ext cx="412293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dirty="0">
                <a:latin typeface="+mn-lt"/>
              </a:rPr>
              <a:t>13</a:t>
            </a:r>
          </a:p>
        </p:txBody>
      </p:sp>
      <p:sp>
        <p:nvSpPr>
          <p:cNvPr id="211" name="Text Box 78">
            <a:extLst>
              <a:ext uri="{FF2B5EF4-FFF2-40B4-BE49-F238E27FC236}">
                <a16:creationId xmlns:a16="http://schemas.microsoft.com/office/drawing/2014/main" id="{6BBBE8E1-84F1-49B6-A061-7665D834D3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3448110"/>
            <a:ext cx="412293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dirty="0">
                <a:latin typeface="+mn-lt"/>
              </a:rPr>
              <a:t>31</a:t>
            </a:r>
          </a:p>
        </p:txBody>
      </p:sp>
      <p:sp>
        <p:nvSpPr>
          <p:cNvPr id="212" name="Text Box 79">
            <a:extLst>
              <a:ext uri="{FF2B5EF4-FFF2-40B4-BE49-F238E27FC236}">
                <a16:creationId xmlns:a16="http://schemas.microsoft.com/office/drawing/2014/main" id="{D1FCF3A2-13C6-4317-B34D-D4BE260107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9625" y="3448110"/>
            <a:ext cx="307975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dirty="0">
                <a:latin typeface="+mn-lt"/>
              </a:rPr>
              <a:t>0</a:t>
            </a:r>
          </a:p>
        </p:txBody>
      </p:sp>
      <p:sp>
        <p:nvSpPr>
          <p:cNvPr id="213" name="Text Box 80">
            <a:extLst>
              <a:ext uri="{FF2B5EF4-FFF2-40B4-BE49-F238E27FC236}">
                <a16:creationId xmlns:a16="http://schemas.microsoft.com/office/drawing/2014/main" id="{2CB3C400-4782-4A46-9690-029CA0BE83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3448110"/>
            <a:ext cx="29847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dirty="0">
                <a:latin typeface="+mn-lt"/>
              </a:rPr>
              <a:t>3</a:t>
            </a:r>
          </a:p>
        </p:txBody>
      </p:sp>
      <p:sp>
        <p:nvSpPr>
          <p:cNvPr id="214" name="Text Box 81">
            <a:extLst>
              <a:ext uri="{FF2B5EF4-FFF2-40B4-BE49-F238E27FC236}">
                <a16:creationId xmlns:a16="http://schemas.microsoft.com/office/drawing/2014/main" id="{7868560B-0A6E-4A85-856E-45C65981AB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3448110"/>
            <a:ext cx="29847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dirty="0">
                <a:latin typeface="+mn-lt"/>
              </a:rPr>
              <a:t>4</a:t>
            </a:r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0E3F5DDE-4449-43B0-BEA1-F9D2FB85E4B4}"/>
              </a:ext>
            </a:extLst>
          </p:cNvPr>
          <p:cNvSpPr/>
          <p:nvPr/>
        </p:nvSpPr>
        <p:spPr>
          <a:xfrm>
            <a:off x="1219200" y="3733800"/>
            <a:ext cx="3352801" cy="36189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>
              <a:spcBef>
                <a:spcPct val="50000"/>
              </a:spcBef>
            </a:pPr>
            <a:r>
              <a:rPr lang="en-US" sz="2400" dirty="0">
                <a:solidFill>
                  <a:srgbClr val="C00000"/>
                </a:solidFill>
              </a:rPr>
              <a:t>000000000000000000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A1F62170-1D26-41E7-AAEA-411BBC38BA2A}"/>
              </a:ext>
            </a:extLst>
          </p:cNvPr>
          <p:cNvSpPr/>
          <p:nvPr/>
        </p:nvSpPr>
        <p:spPr>
          <a:xfrm>
            <a:off x="6553200" y="3733800"/>
            <a:ext cx="911224" cy="36189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>
              <a:spcBef>
                <a:spcPct val="50000"/>
              </a:spcBef>
            </a:pPr>
            <a:r>
              <a:rPr lang="en-US" sz="2400" dirty="0">
                <a:solidFill>
                  <a:srgbClr val="006600"/>
                </a:solidFill>
              </a:rPr>
              <a:t>0100</a:t>
            </a:r>
          </a:p>
        </p:txBody>
      </p:sp>
      <p:sp>
        <p:nvSpPr>
          <p:cNvPr id="217" name="Text Box 75">
            <a:extLst>
              <a:ext uri="{FF2B5EF4-FFF2-40B4-BE49-F238E27FC236}">
                <a16:creationId xmlns:a16="http://schemas.microsoft.com/office/drawing/2014/main" id="{213490AC-64D3-43A2-BB3D-B896BD1943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5999" y="3110180"/>
            <a:ext cx="869493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+mn-lt"/>
              </a:rPr>
              <a:t>Tag</a:t>
            </a:r>
          </a:p>
        </p:txBody>
      </p:sp>
      <p:sp>
        <p:nvSpPr>
          <p:cNvPr id="218" name="Text Box 75">
            <a:extLst>
              <a:ext uri="{FF2B5EF4-FFF2-40B4-BE49-F238E27FC236}">
                <a16:creationId xmlns:a16="http://schemas.microsoft.com/office/drawing/2014/main" id="{E0D310C6-9659-460A-BC7C-3C10138E7A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3110180"/>
            <a:ext cx="1066800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006600"/>
                </a:solidFill>
                <a:latin typeface="+mn-lt"/>
              </a:rPr>
              <a:t>Offset</a:t>
            </a:r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9A3659B0-D959-4043-866A-934E649458CC}"/>
              </a:ext>
            </a:extLst>
          </p:cNvPr>
          <p:cNvSpPr/>
          <p:nvPr/>
        </p:nvSpPr>
        <p:spPr>
          <a:xfrm>
            <a:off x="4572000" y="3733800"/>
            <a:ext cx="1981200" cy="36189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>
              <a:spcBef>
                <a:spcPct val="50000"/>
              </a:spcBef>
            </a:pPr>
            <a:r>
              <a:rPr lang="en-US" sz="2400" dirty="0">
                <a:solidFill>
                  <a:schemeClr val="accent6">
                    <a:lumMod val="50000"/>
                  </a:schemeClr>
                </a:solidFill>
              </a:rPr>
              <a:t>0000000001</a:t>
            </a:r>
          </a:p>
        </p:txBody>
      </p:sp>
      <p:sp>
        <p:nvSpPr>
          <p:cNvPr id="220" name="Text Box 75">
            <a:extLst>
              <a:ext uri="{FF2B5EF4-FFF2-40B4-BE49-F238E27FC236}">
                <a16:creationId xmlns:a16="http://schemas.microsoft.com/office/drawing/2014/main" id="{796940E1-D608-4BC3-B7B4-A0F3E05CDA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7034" y="3110180"/>
            <a:ext cx="997177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Index</a:t>
            </a:r>
          </a:p>
        </p:txBody>
      </p:sp>
      <p:sp>
        <p:nvSpPr>
          <p:cNvPr id="221" name="Text Box 38">
            <a:extLst>
              <a:ext uri="{FF2B5EF4-FFF2-40B4-BE49-F238E27FC236}">
                <a16:creationId xmlns:a16="http://schemas.microsoft.com/office/drawing/2014/main" id="{6ED37C6C-1987-4BBB-8B35-DE473244B7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3448110"/>
            <a:ext cx="412293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dirty="0">
                <a:latin typeface="+mn-lt"/>
              </a:rPr>
              <a:t>14</a:t>
            </a:r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48D16C8E-9C05-44AB-82E1-18784AE3EC61}"/>
              </a:ext>
            </a:extLst>
          </p:cNvPr>
          <p:cNvSpPr/>
          <p:nvPr/>
        </p:nvSpPr>
        <p:spPr>
          <a:xfrm>
            <a:off x="1219200" y="4191000"/>
            <a:ext cx="3352801" cy="36189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>
              <a:spcBef>
                <a:spcPct val="50000"/>
              </a:spcBef>
            </a:pPr>
            <a:r>
              <a:rPr lang="en-US" sz="2400" dirty="0">
                <a:solidFill>
                  <a:srgbClr val="C00000"/>
                </a:solidFill>
              </a:rPr>
              <a:t>000000000000000000</a:t>
            </a:r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3CA02A0E-5FE5-4333-8927-15E4E01560B9}"/>
              </a:ext>
            </a:extLst>
          </p:cNvPr>
          <p:cNvSpPr/>
          <p:nvPr/>
        </p:nvSpPr>
        <p:spPr>
          <a:xfrm>
            <a:off x="6553200" y="4191000"/>
            <a:ext cx="911224" cy="36189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>
              <a:spcBef>
                <a:spcPct val="50000"/>
              </a:spcBef>
            </a:pPr>
            <a:r>
              <a:rPr lang="en-US" sz="2400" dirty="0">
                <a:solidFill>
                  <a:srgbClr val="006600"/>
                </a:solidFill>
              </a:rPr>
              <a:t>1100</a:t>
            </a:r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48F4EF5D-3221-4322-89A7-908B6282486A}"/>
              </a:ext>
            </a:extLst>
          </p:cNvPr>
          <p:cNvSpPr/>
          <p:nvPr/>
        </p:nvSpPr>
        <p:spPr>
          <a:xfrm>
            <a:off x="4572000" y="4191000"/>
            <a:ext cx="1981200" cy="36189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>
              <a:spcBef>
                <a:spcPct val="50000"/>
              </a:spcBef>
            </a:pPr>
            <a:r>
              <a:rPr lang="en-US" sz="2400" dirty="0">
                <a:solidFill>
                  <a:schemeClr val="accent6">
                    <a:lumMod val="50000"/>
                  </a:schemeClr>
                </a:solidFill>
              </a:rPr>
              <a:t>0000000001</a:t>
            </a:r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1F54F7F3-A0AD-4CFC-85FE-7C4745B9C447}"/>
              </a:ext>
            </a:extLst>
          </p:cNvPr>
          <p:cNvSpPr/>
          <p:nvPr/>
        </p:nvSpPr>
        <p:spPr>
          <a:xfrm>
            <a:off x="1222376" y="4648200"/>
            <a:ext cx="3352801" cy="36189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>
              <a:spcBef>
                <a:spcPct val="50000"/>
              </a:spcBef>
            </a:pPr>
            <a:r>
              <a:rPr lang="en-US" sz="2400" dirty="0">
                <a:solidFill>
                  <a:srgbClr val="C00000"/>
                </a:solidFill>
              </a:rPr>
              <a:t>000000000000000000</a:t>
            </a:r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2C69348F-7B76-4E85-B632-10CDCFB9904F}"/>
              </a:ext>
            </a:extLst>
          </p:cNvPr>
          <p:cNvSpPr/>
          <p:nvPr/>
        </p:nvSpPr>
        <p:spPr>
          <a:xfrm>
            <a:off x="6556376" y="4648200"/>
            <a:ext cx="911224" cy="36189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>
              <a:spcBef>
                <a:spcPct val="50000"/>
              </a:spcBef>
            </a:pPr>
            <a:r>
              <a:rPr lang="en-US" sz="2400" dirty="0">
                <a:solidFill>
                  <a:srgbClr val="006600"/>
                </a:solidFill>
              </a:rPr>
              <a:t>0100</a:t>
            </a:r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73F21A51-A5B2-47F2-89FB-227246B335A3}"/>
              </a:ext>
            </a:extLst>
          </p:cNvPr>
          <p:cNvSpPr/>
          <p:nvPr/>
        </p:nvSpPr>
        <p:spPr>
          <a:xfrm>
            <a:off x="4575176" y="4648200"/>
            <a:ext cx="1981200" cy="36189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>
              <a:spcBef>
                <a:spcPct val="50000"/>
              </a:spcBef>
            </a:pPr>
            <a:r>
              <a:rPr lang="en-US" sz="2400" dirty="0">
                <a:solidFill>
                  <a:schemeClr val="accent6">
                    <a:lumMod val="50000"/>
                  </a:schemeClr>
                </a:solidFill>
              </a:rPr>
              <a:t>0000000011</a:t>
            </a:r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B09EC153-2664-48C3-944C-F331060041C9}"/>
              </a:ext>
            </a:extLst>
          </p:cNvPr>
          <p:cNvSpPr/>
          <p:nvPr/>
        </p:nvSpPr>
        <p:spPr>
          <a:xfrm>
            <a:off x="1219200" y="5105400"/>
            <a:ext cx="3352801" cy="36189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>
              <a:spcBef>
                <a:spcPct val="50000"/>
              </a:spcBef>
            </a:pPr>
            <a:r>
              <a:rPr lang="en-US" sz="2400" dirty="0">
                <a:solidFill>
                  <a:srgbClr val="C00000"/>
                </a:solidFill>
              </a:rPr>
              <a:t>000000000000000010</a:t>
            </a:r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027A0C9F-005B-4B20-BACF-7A6C934ECBBF}"/>
              </a:ext>
            </a:extLst>
          </p:cNvPr>
          <p:cNvSpPr/>
          <p:nvPr/>
        </p:nvSpPr>
        <p:spPr>
          <a:xfrm>
            <a:off x="6553200" y="5105400"/>
            <a:ext cx="911224" cy="36189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>
              <a:spcBef>
                <a:spcPct val="50000"/>
              </a:spcBef>
            </a:pPr>
            <a:r>
              <a:rPr lang="en-US" sz="2400" dirty="0">
                <a:solidFill>
                  <a:srgbClr val="006600"/>
                </a:solidFill>
              </a:rPr>
              <a:t>1000</a:t>
            </a:r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A7265C42-5DCB-4602-A6B1-25F19C1E65B3}"/>
              </a:ext>
            </a:extLst>
          </p:cNvPr>
          <p:cNvSpPr/>
          <p:nvPr/>
        </p:nvSpPr>
        <p:spPr>
          <a:xfrm>
            <a:off x="4572000" y="5105400"/>
            <a:ext cx="1981200" cy="36189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>
              <a:spcBef>
                <a:spcPct val="50000"/>
              </a:spcBef>
            </a:pPr>
            <a:r>
              <a:rPr lang="en-US" sz="2400" dirty="0">
                <a:solidFill>
                  <a:schemeClr val="accent6">
                    <a:lumMod val="50000"/>
                  </a:schemeClr>
                </a:solidFill>
              </a:rPr>
              <a:t>0000000001</a:t>
            </a:r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443C7C78-A6EE-4E2D-AA64-70E32B6C49CE}"/>
              </a:ext>
            </a:extLst>
          </p:cNvPr>
          <p:cNvSpPr/>
          <p:nvPr/>
        </p:nvSpPr>
        <p:spPr>
          <a:xfrm>
            <a:off x="1219200" y="5562600"/>
            <a:ext cx="3352801" cy="36189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>
              <a:spcBef>
                <a:spcPct val="50000"/>
              </a:spcBef>
            </a:pPr>
            <a:r>
              <a:rPr lang="en-US" sz="2400" dirty="0">
                <a:solidFill>
                  <a:srgbClr val="C00000"/>
                </a:solidFill>
              </a:rPr>
              <a:t>000000000000000000</a:t>
            </a:r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5CC194CD-5435-4BDC-938D-5EC38399A20C}"/>
              </a:ext>
            </a:extLst>
          </p:cNvPr>
          <p:cNvSpPr/>
          <p:nvPr/>
        </p:nvSpPr>
        <p:spPr>
          <a:xfrm>
            <a:off x="6553200" y="5562600"/>
            <a:ext cx="911224" cy="36189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>
              <a:spcBef>
                <a:spcPct val="50000"/>
              </a:spcBef>
            </a:pPr>
            <a:r>
              <a:rPr lang="en-US" sz="2400" dirty="0">
                <a:solidFill>
                  <a:srgbClr val="006600"/>
                </a:solidFill>
              </a:rPr>
              <a:t>0000</a:t>
            </a:r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2A7C2F2A-08C2-4919-BF8B-29B336684A0B}"/>
              </a:ext>
            </a:extLst>
          </p:cNvPr>
          <p:cNvSpPr/>
          <p:nvPr/>
        </p:nvSpPr>
        <p:spPr>
          <a:xfrm>
            <a:off x="4572000" y="5562600"/>
            <a:ext cx="1981200" cy="36189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>
              <a:spcBef>
                <a:spcPct val="50000"/>
              </a:spcBef>
            </a:pPr>
            <a:r>
              <a:rPr lang="en-US" sz="2400" dirty="0">
                <a:solidFill>
                  <a:schemeClr val="accent6">
                    <a:lumMod val="50000"/>
                  </a:schemeClr>
                </a:solidFill>
              </a:rPr>
              <a:t>0000000001</a:t>
            </a:r>
          </a:p>
        </p:txBody>
      </p:sp>
    </p:spTree>
    <p:extLst>
      <p:ext uri="{BB962C8B-B14F-4D97-AF65-F5344CB8AC3E}">
        <p14:creationId xmlns:p14="http://schemas.microsoft.com/office/powerpoint/2010/main" val="3442023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5. Reading Data: </a:t>
            </a:r>
            <a:r>
              <a:rPr lang="en-GB" sz="3600" b="1" dirty="0">
                <a:solidFill>
                  <a:srgbClr val="0000FF"/>
                </a:solidFill>
              </a:rPr>
              <a:t>Initial State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#22: Cache I: Direct Mapped Cache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33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209" name="Content Placeholder 9">
            <a:extLst>
              <a:ext uri="{FF2B5EF4-FFF2-40B4-BE49-F238E27FC236}">
                <a16:creationId xmlns:a16="http://schemas.microsoft.com/office/drawing/2014/main" id="{413789F2-30E8-4222-BDC3-97D9AD1B04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1188"/>
            <a:ext cx="8229600" cy="957231"/>
          </a:xfrm>
        </p:spPr>
        <p:txBody>
          <a:bodyPr>
            <a:normAutofit lnSpcReduction="10000"/>
          </a:bodyPr>
          <a:lstStyle/>
          <a:p>
            <a:pPr marL="265113" indent="-265113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SG" sz="2800" dirty="0" err="1"/>
              <a:t>Intially</a:t>
            </a:r>
            <a:r>
              <a:rPr lang="en-SG" sz="2800" dirty="0"/>
              <a:t> cache is empty</a:t>
            </a:r>
          </a:p>
          <a:p>
            <a:pPr marL="360362" lvl="1" indent="0">
              <a:spcBef>
                <a:spcPts val="600"/>
              </a:spcBef>
              <a:buSzPct val="100000"/>
              <a:buNone/>
            </a:pPr>
            <a:r>
              <a:rPr lang="en-SG" sz="2400" dirty="0">
                <a:sym typeface="Wingdings" pitchFamily="2" charset="2"/>
              </a:rPr>
              <a:t> All </a:t>
            </a:r>
            <a:r>
              <a:rPr lang="en-SG" sz="2400" b="1" i="1" dirty="0">
                <a:sym typeface="Wingdings" pitchFamily="2" charset="2"/>
              </a:rPr>
              <a:t>v</a:t>
            </a:r>
            <a:r>
              <a:rPr lang="en-SG" sz="2400" b="1" i="1" dirty="0"/>
              <a:t>alid </a:t>
            </a:r>
            <a:r>
              <a:rPr lang="en-SG" sz="2400" dirty="0"/>
              <a:t>bits are zeroes (false)</a:t>
            </a:r>
            <a:endParaRPr lang="en-SG" sz="2800" dirty="0"/>
          </a:p>
          <a:p>
            <a:endParaRPr lang="en-SG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EA77796C-1C67-4AD9-BA3B-3D18827524AD}"/>
              </a:ext>
            </a:extLst>
          </p:cNvPr>
          <p:cNvSpPr/>
          <p:nvPr/>
        </p:nvSpPr>
        <p:spPr>
          <a:xfrm>
            <a:off x="837406" y="3140075"/>
            <a:ext cx="381000" cy="3048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CCF5512-76FC-4E7D-B5FD-E12370C26B5A}"/>
              </a:ext>
            </a:extLst>
          </p:cNvPr>
          <p:cNvGrpSpPr/>
          <p:nvPr/>
        </p:nvGrpSpPr>
        <p:grpSpPr>
          <a:xfrm>
            <a:off x="152400" y="2482850"/>
            <a:ext cx="8686800" cy="3568700"/>
            <a:chOff x="152400" y="2482850"/>
            <a:chExt cx="8686800" cy="3568700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AEDBB554-7B8A-4796-B3C7-6AEA4DB50313}"/>
                </a:ext>
              </a:extLst>
            </p:cNvPr>
            <p:cNvGrpSpPr/>
            <p:nvPr/>
          </p:nvGrpSpPr>
          <p:grpSpPr>
            <a:xfrm>
              <a:off x="304800" y="2482850"/>
              <a:ext cx="8534400" cy="3568700"/>
              <a:chOff x="304800" y="2482850"/>
              <a:chExt cx="8534400" cy="3568700"/>
            </a:xfrm>
          </p:grpSpPr>
          <p:sp>
            <p:nvSpPr>
              <p:cNvPr id="32" name="Rectangle 12">
                <a:extLst>
                  <a:ext uri="{FF2B5EF4-FFF2-40B4-BE49-F238E27FC236}">
                    <a16:creationId xmlns:a16="http://schemas.microsoft.com/office/drawing/2014/main" id="{314A30EC-6A8B-482D-9997-56AB37280B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3000" y="3276600"/>
                <a:ext cx="990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33" name="Rectangle 13">
                <a:extLst>
                  <a:ext uri="{FF2B5EF4-FFF2-40B4-BE49-F238E27FC236}">
                    <a16:creationId xmlns:a16="http://schemas.microsoft.com/office/drawing/2014/main" id="{691F5BD8-D060-4A1E-86A5-C615B668A7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400" y="3276600"/>
                <a:ext cx="228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0</a:t>
                </a:r>
              </a:p>
            </p:txBody>
          </p:sp>
          <p:sp>
            <p:nvSpPr>
              <p:cNvPr id="34" name="Rectangle 14">
                <a:extLst>
                  <a:ext uri="{FF2B5EF4-FFF2-40B4-BE49-F238E27FC236}">
                    <a16:creationId xmlns:a16="http://schemas.microsoft.com/office/drawing/2014/main" id="{62E567CE-A5BC-48DB-8D68-01FF7AFC44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3600" y="32766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35" name="Rectangle 15">
                <a:extLst>
                  <a:ext uri="{FF2B5EF4-FFF2-40B4-BE49-F238E27FC236}">
                    <a16:creationId xmlns:a16="http://schemas.microsoft.com/office/drawing/2014/main" id="{72243EFE-DB98-4138-A334-E6E11899D0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0000" y="32766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36" name="Rectangle 16">
                <a:extLst>
                  <a:ext uri="{FF2B5EF4-FFF2-40B4-BE49-F238E27FC236}">
                    <a16:creationId xmlns:a16="http://schemas.microsoft.com/office/drawing/2014/main" id="{3A352E08-21CF-4A8F-82A4-082B218EE7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6400" y="32766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37" name="Rectangle 17">
                <a:extLst>
                  <a:ext uri="{FF2B5EF4-FFF2-40B4-BE49-F238E27FC236}">
                    <a16:creationId xmlns:a16="http://schemas.microsoft.com/office/drawing/2014/main" id="{10F8AB95-943C-4939-9E01-E106A860DC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62800" y="32766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38" name="Rectangle 18">
                <a:extLst>
                  <a:ext uri="{FF2B5EF4-FFF2-40B4-BE49-F238E27FC236}">
                    <a16:creationId xmlns:a16="http://schemas.microsoft.com/office/drawing/2014/main" id="{13A00A34-900D-4E7E-84E9-A4E6E8253F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3000" y="3581400"/>
                <a:ext cx="990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39" name="Rectangle 19">
                <a:extLst>
                  <a:ext uri="{FF2B5EF4-FFF2-40B4-BE49-F238E27FC236}">
                    <a16:creationId xmlns:a16="http://schemas.microsoft.com/office/drawing/2014/main" id="{6D509C70-E615-44F7-9146-22A80C2238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400" y="3581400"/>
                <a:ext cx="228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0</a:t>
                </a:r>
              </a:p>
            </p:txBody>
          </p:sp>
          <p:sp>
            <p:nvSpPr>
              <p:cNvPr id="40" name="Rectangle 20">
                <a:extLst>
                  <a:ext uri="{FF2B5EF4-FFF2-40B4-BE49-F238E27FC236}">
                    <a16:creationId xmlns:a16="http://schemas.microsoft.com/office/drawing/2014/main" id="{398925AB-EFB5-49ED-8C55-925FB0AF23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3600" y="35814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41" name="Rectangle 21">
                <a:extLst>
                  <a:ext uri="{FF2B5EF4-FFF2-40B4-BE49-F238E27FC236}">
                    <a16:creationId xmlns:a16="http://schemas.microsoft.com/office/drawing/2014/main" id="{2467EB23-0FA3-45FC-BF16-53FD398278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0000" y="35814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42" name="Rectangle 22">
                <a:extLst>
                  <a:ext uri="{FF2B5EF4-FFF2-40B4-BE49-F238E27FC236}">
                    <a16:creationId xmlns:a16="http://schemas.microsoft.com/office/drawing/2014/main" id="{31CBBA31-E50C-423C-B200-20E9C58517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6400" y="35814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43" name="Rectangle 23">
                <a:extLst>
                  <a:ext uri="{FF2B5EF4-FFF2-40B4-BE49-F238E27FC236}">
                    <a16:creationId xmlns:a16="http://schemas.microsoft.com/office/drawing/2014/main" id="{A4D33BBA-9B45-403E-ABFC-3804370A97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62800" y="35814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44" name="Rectangle 24">
                <a:extLst>
                  <a:ext uri="{FF2B5EF4-FFF2-40B4-BE49-F238E27FC236}">
                    <a16:creationId xmlns:a16="http://schemas.microsoft.com/office/drawing/2014/main" id="{968E6045-6007-4759-AE02-59D0D444BA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3000" y="3886200"/>
                <a:ext cx="990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45" name="Rectangle 25">
                <a:extLst>
                  <a:ext uri="{FF2B5EF4-FFF2-40B4-BE49-F238E27FC236}">
                    <a16:creationId xmlns:a16="http://schemas.microsoft.com/office/drawing/2014/main" id="{CB2C2468-04D2-423B-A967-243E82ED46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400" y="3886200"/>
                <a:ext cx="228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0</a:t>
                </a:r>
              </a:p>
            </p:txBody>
          </p:sp>
          <p:sp>
            <p:nvSpPr>
              <p:cNvPr id="46" name="Rectangle 26">
                <a:extLst>
                  <a:ext uri="{FF2B5EF4-FFF2-40B4-BE49-F238E27FC236}">
                    <a16:creationId xmlns:a16="http://schemas.microsoft.com/office/drawing/2014/main" id="{5505CA83-A6AA-4DD9-9FDE-1CFE1EDAB7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3600" y="38862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47" name="Rectangle 27">
                <a:extLst>
                  <a:ext uri="{FF2B5EF4-FFF2-40B4-BE49-F238E27FC236}">
                    <a16:creationId xmlns:a16="http://schemas.microsoft.com/office/drawing/2014/main" id="{5B97E62B-8742-4658-8B41-E2718E2FD1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0000" y="38862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48" name="Rectangle 28">
                <a:extLst>
                  <a:ext uri="{FF2B5EF4-FFF2-40B4-BE49-F238E27FC236}">
                    <a16:creationId xmlns:a16="http://schemas.microsoft.com/office/drawing/2014/main" id="{94A7E16B-E330-4646-85B4-4B5E9AFDA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6400" y="38862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49" name="Rectangle 29">
                <a:extLst>
                  <a:ext uri="{FF2B5EF4-FFF2-40B4-BE49-F238E27FC236}">
                    <a16:creationId xmlns:a16="http://schemas.microsoft.com/office/drawing/2014/main" id="{EAC42DC6-239C-401F-9059-F34D94B538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62800" y="38862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50" name="Rectangle 30">
                <a:extLst>
                  <a:ext uri="{FF2B5EF4-FFF2-40B4-BE49-F238E27FC236}">
                    <a16:creationId xmlns:a16="http://schemas.microsoft.com/office/drawing/2014/main" id="{EF2D191B-11BC-4979-A36A-A785E9E60C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3000" y="4191000"/>
                <a:ext cx="990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51" name="Rectangle 31">
                <a:extLst>
                  <a:ext uri="{FF2B5EF4-FFF2-40B4-BE49-F238E27FC236}">
                    <a16:creationId xmlns:a16="http://schemas.microsoft.com/office/drawing/2014/main" id="{AA420F10-CEFD-4B65-8E4F-0B414CD038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400" y="4191000"/>
                <a:ext cx="228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0</a:t>
                </a:r>
              </a:p>
            </p:txBody>
          </p:sp>
          <p:sp>
            <p:nvSpPr>
              <p:cNvPr id="52" name="Rectangle 32">
                <a:extLst>
                  <a:ext uri="{FF2B5EF4-FFF2-40B4-BE49-F238E27FC236}">
                    <a16:creationId xmlns:a16="http://schemas.microsoft.com/office/drawing/2014/main" id="{93AE53FD-1967-4FD6-8E6D-8DE344184A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3600" y="41910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53" name="Rectangle 33">
                <a:extLst>
                  <a:ext uri="{FF2B5EF4-FFF2-40B4-BE49-F238E27FC236}">
                    <a16:creationId xmlns:a16="http://schemas.microsoft.com/office/drawing/2014/main" id="{5DB95634-57B3-4D6A-8E92-84202EB678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0000" y="41910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54" name="Rectangle 34">
                <a:extLst>
                  <a:ext uri="{FF2B5EF4-FFF2-40B4-BE49-F238E27FC236}">
                    <a16:creationId xmlns:a16="http://schemas.microsoft.com/office/drawing/2014/main" id="{7A01E370-2568-4EE5-A833-F13E679DBF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6400" y="41910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55" name="Rectangle 35">
                <a:extLst>
                  <a:ext uri="{FF2B5EF4-FFF2-40B4-BE49-F238E27FC236}">
                    <a16:creationId xmlns:a16="http://schemas.microsoft.com/office/drawing/2014/main" id="{FBCD979E-A432-4146-8BDF-E6DA5F7BED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62800" y="41910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56" name="Rectangle 36">
                <a:extLst>
                  <a:ext uri="{FF2B5EF4-FFF2-40B4-BE49-F238E27FC236}">
                    <a16:creationId xmlns:a16="http://schemas.microsoft.com/office/drawing/2014/main" id="{F6466652-20C4-49EC-B61A-2B7068CC19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3000" y="4495800"/>
                <a:ext cx="990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57" name="Rectangle 37">
                <a:extLst>
                  <a:ext uri="{FF2B5EF4-FFF2-40B4-BE49-F238E27FC236}">
                    <a16:creationId xmlns:a16="http://schemas.microsoft.com/office/drawing/2014/main" id="{4125D2ED-B590-4E04-BF8A-EB7E47DB55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400" y="4495800"/>
                <a:ext cx="228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0</a:t>
                </a:r>
              </a:p>
            </p:txBody>
          </p:sp>
          <p:sp>
            <p:nvSpPr>
              <p:cNvPr id="58" name="Rectangle 38">
                <a:extLst>
                  <a:ext uri="{FF2B5EF4-FFF2-40B4-BE49-F238E27FC236}">
                    <a16:creationId xmlns:a16="http://schemas.microsoft.com/office/drawing/2014/main" id="{B5526375-317C-4E21-9AFE-3A4C3CC1B4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3600" y="44958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59" name="Rectangle 39">
                <a:extLst>
                  <a:ext uri="{FF2B5EF4-FFF2-40B4-BE49-F238E27FC236}">
                    <a16:creationId xmlns:a16="http://schemas.microsoft.com/office/drawing/2014/main" id="{E254CB7B-55C5-45EF-B8FC-54F2FC5C0D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0000" y="44958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60" name="Rectangle 40">
                <a:extLst>
                  <a:ext uri="{FF2B5EF4-FFF2-40B4-BE49-F238E27FC236}">
                    <a16:creationId xmlns:a16="http://schemas.microsoft.com/office/drawing/2014/main" id="{3C8F271A-0146-493D-91C3-1805A9891D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6400" y="44958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61" name="Rectangle 41">
                <a:extLst>
                  <a:ext uri="{FF2B5EF4-FFF2-40B4-BE49-F238E27FC236}">
                    <a16:creationId xmlns:a16="http://schemas.microsoft.com/office/drawing/2014/main" id="{C83B910F-971C-44E9-9FAE-B17BE66206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62800" y="44958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62" name="Rectangle 42">
                <a:extLst>
                  <a:ext uri="{FF2B5EF4-FFF2-40B4-BE49-F238E27FC236}">
                    <a16:creationId xmlns:a16="http://schemas.microsoft.com/office/drawing/2014/main" id="{6866AAB7-A2C9-4061-8B1D-F99DF9B3AB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3000" y="4800600"/>
                <a:ext cx="990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63" name="Rectangle 43">
                <a:extLst>
                  <a:ext uri="{FF2B5EF4-FFF2-40B4-BE49-F238E27FC236}">
                    <a16:creationId xmlns:a16="http://schemas.microsoft.com/office/drawing/2014/main" id="{3807AA78-2FE8-4CCE-83B2-48FB294ACF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400" y="4800600"/>
                <a:ext cx="228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0</a:t>
                </a:r>
              </a:p>
            </p:txBody>
          </p:sp>
          <p:sp>
            <p:nvSpPr>
              <p:cNvPr id="64" name="Rectangle 44">
                <a:extLst>
                  <a:ext uri="{FF2B5EF4-FFF2-40B4-BE49-F238E27FC236}">
                    <a16:creationId xmlns:a16="http://schemas.microsoft.com/office/drawing/2014/main" id="{56D8FADA-3A73-4477-9EFE-95C441C59B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3600" y="48006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65" name="Rectangle 45">
                <a:extLst>
                  <a:ext uri="{FF2B5EF4-FFF2-40B4-BE49-F238E27FC236}">
                    <a16:creationId xmlns:a16="http://schemas.microsoft.com/office/drawing/2014/main" id="{E72C7ED3-AF5D-4708-A53C-00832F521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0000" y="48006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66" name="Rectangle 46">
                <a:extLst>
                  <a:ext uri="{FF2B5EF4-FFF2-40B4-BE49-F238E27FC236}">
                    <a16:creationId xmlns:a16="http://schemas.microsoft.com/office/drawing/2014/main" id="{4F522246-3C38-4468-80B6-459D2329B1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6400" y="48006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67" name="Rectangle 47">
                <a:extLst>
                  <a:ext uri="{FF2B5EF4-FFF2-40B4-BE49-F238E27FC236}">
                    <a16:creationId xmlns:a16="http://schemas.microsoft.com/office/drawing/2014/main" id="{D43C2F6F-35BF-4355-91EB-01ABF7E661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62800" y="48006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68" name="Rectangle 48">
                <a:extLst>
                  <a:ext uri="{FF2B5EF4-FFF2-40B4-BE49-F238E27FC236}">
                    <a16:creationId xmlns:a16="http://schemas.microsoft.com/office/drawing/2014/main" id="{FB416675-B08A-4194-97E0-4EDE7BEF98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3000" y="5410200"/>
                <a:ext cx="990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69" name="Rectangle 49">
                <a:extLst>
                  <a:ext uri="{FF2B5EF4-FFF2-40B4-BE49-F238E27FC236}">
                    <a16:creationId xmlns:a16="http://schemas.microsoft.com/office/drawing/2014/main" id="{9E0FB55D-12E0-4EA6-BE6C-535DF416B1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400" y="5410200"/>
                <a:ext cx="228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0</a:t>
                </a:r>
              </a:p>
            </p:txBody>
          </p:sp>
          <p:sp>
            <p:nvSpPr>
              <p:cNvPr id="70" name="Rectangle 50">
                <a:extLst>
                  <a:ext uri="{FF2B5EF4-FFF2-40B4-BE49-F238E27FC236}">
                    <a16:creationId xmlns:a16="http://schemas.microsoft.com/office/drawing/2014/main" id="{523B57CA-AF87-4EDB-9F8D-EEACD36D6D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3600" y="54102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71" name="Rectangle 51">
                <a:extLst>
                  <a:ext uri="{FF2B5EF4-FFF2-40B4-BE49-F238E27FC236}">
                    <a16:creationId xmlns:a16="http://schemas.microsoft.com/office/drawing/2014/main" id="{ACC793C6-2595-477E-855D-BE8683521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0000" y="54102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72" name="Rectangle 52">
                <a:extLst>
                  <a:ext uri="{FF2B5EF4-FFF2-40B4-BE49-F238E27FC236}">
                    <a16:creationId xmlns:a16="http://schemas.microsoft.com/office/drawing/2014/main" id="{DFB54C04-81A9-4D8B-9A8A-FC35A0894F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6400" y="54102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73" name="Rectangle 53">
                <a:extLst>
                  <a:ext uri="{FF2B5EF4-FFF2-40B4-BE49-F238E27FC236}">
                    <a16:creationId xmlns:a16="http://schemas.microsoft.com/office/drawing/2014/main" id="{2A780A0A-6E02-4370-9E85-2D68066DF5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62800" y="54102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74" name="Rectangle 54">
                <a:extLst>
                  <a:ext uri="{FF2B5EF4-FFF2-40B4-BE49-F238E27FC236}">
                    <a16:creationId xmlns:a16="http://schemas.microsoft.com/office/drawing/2014/main" id="{9632E1B5-9344-4045-9E5E-741757F105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3000" y="5715000"/>
                <a:ext cx="990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 dirty="0">
                  <a:latin typeface="+mn-lt"/>
                </a:endParaRPr>
              </a:p>
            </p:txBody>
          </p:sp>
          <p:sp>
            <p:nvSpPr>
              <p:cNvPr id="75" name="Rectangle 55">
                <a:extLst>
                  <a:ext uri="{FF2B5EF4-FFF2-40B4-BE49-F238E27FC236}">
                    <a16:creationId xmlns:a16="http://schemas.microsoft.com/office/drawing/2014/main" id="{D429DC56-E0D9-4C5A-A266-4064CEC355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400" y="5715000"/>
                <a:ext cx="228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0</a:t>
                </a:r>
              </a:p>
            </p:txBody>
          </p:sp>
          <p:sp>
            <p:nvSpPr>
              <p:cNvPr id="76" name="Rectangle 56">
                <a:extLst>
                  <a:ext uri="{FF2B5EF4-FFF2-40B4-BE49-F238E27FC236}">
                    <a16:creationId xmlns:a16="http://schemas.microsoft.com/office/drawing/2014/main" id="{F22B144B-60EA-4CC5-8AE0-DAC332F9DE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3600" y="57150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77" name="Rectangle 57">
                <a:extLst>
                  <a:ext uri="{FF2B5EF4-FFF2-40B4-BE49-F238E27FC236}">
                    <a16:creationId xmlns:a16="http://schemas.microsoft.com/office/drawing/2014/main" id="{E123BF79-C4A3-4E56-BFF8-D9E657D00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0000" y="57150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78" name="Rectangle 58">
                <a:extLst>
                  <a:ext uri="{FF2B5EF4-FFF2-40B4-BE49-F238E27FC236}">
                    <a16:creationId xmlns:a16="http://schemas.microsoft.com/office/drawing/2014/main" id="{969083ED-04AB-4270-ADD7-2CE16F4DDC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6400" y="57150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79" name="Rectangle 59">
                <a:extLst>
                  <a:ext uri="{FF2B5EF4-FFF2-40B4-BE49-F238E27FC236}">
                    <a16:creationId xmlns:a16="http://schemas.microsoft.com/office/drawing/2014/main" id="{F5E40440-D8B6-4575-B636-BB20361A19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62800" y="57150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80" name="Text Box 60">
                <a:extLst>
                  <a:ext uri="{FF2B5EF4-FFF2-40B4-BE49-F238E27FC236}">
                    <a16:creationId xmlns:a16="http://schemas.microsoft.com/office/drawing/2014/main" id="{B8EE2D79-75E8-40EC-8C76-114C3F459C6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86000" y="4960203"/>
                <a:ext cx="5029200" cy="830997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eaLnBrk="0" hangingPunct="0"/>
                <a:r>
                  <a:rPr lang="en-US" b="1" dirty="0">
                    <a:latin typeface="+mn-lt"/>
                  </a:rPr>
                  <a:t>...    </a:t>
                </a:r>
                <a:r>
                  <a:rPr lang="en-US" b="1" dirty="0"/>
                  <a:t>...    ...    …   …   …   …   …</a:t>
                </a:r>
                <a:endParaRPr lang="en-US" dirty="0"/>
              </a:p>
              <a:p>
                <a:pPr eaLnBrk="0" hangingPunct="0"/>
                <a:endParaRPr lang="en-US" dirty="0"/>
              </a:p>
            </p:txBody>
          </p:sp>
          <p:sp>
            <p:nvSpPr>
              <p:cNvPr id="81" name="Text Box 61">
                <a:extLst>
                  <a:ext uri="{FF2B5EF4-FFF2-40B4-BE49-F238E27FC236}">
                    <a16:creationId xmlns:a16="http://schemas.microsoft.com/office/drawing/2014/main" id="{4801544A-0F39-43EE-8574-1719E978973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3400" y="3276600"/>
                <a:ext cx="307975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dirty="0">
                    <a:latin typeface="+mn-lt"/>
                  </a:rPr>
                  <a:t>0</a:t>
                </a:r>
              </a:p>
            </p:txBody>
          </p:sp>
          <p:sp>
            <p:nvSpPr>
              <p:cNvPr id="82" name="Text Box 62">
                <a:extLst>
                  <a:ext uri="{FF2B5EF4-FFF2-40B4-BE49-F238E27FC236}">
                    <a16:creationId xmlns:a16="http://schemas.microsoft.com/office/drawing/2014/main" id="{F10F09A2-12DA-4DAA-936E-41E1BBAB4F6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2273" y="3581400"/>
                <a:ext cx="298480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>
                    <a:latin typeface="+mn-lt"/>
                  </a:rPr>
                  <a:t>1</a:t>
                </a:r>
              </a:p>
            </p:txBody>
          </p:sp>
          <p:sp>
            <p:nvSpPr>
              <p:cNvPr id="83" name="Text Box 63">
                <a:extLst>
                  <a:ext uri="{FF2B5EF4-FFF2-40B4-BE49-F238E27FC236}">
                    <a16:creationId xmlns:a16="http://schemas.microsoft.com/office/drawing/2014/main" id="{6682B343-E676-4142-8F1F-3C87F723935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3400" y="3886200"/>
                <a:ext cx="307975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>
                    <a:latin typeface="+mn-lt"/>
                  </a:rPr>
                  <a:t>2</a:t>
                </a:r>
              </a:p>
            </p:txBody>
          </p:sp>
          <p:sp>
            <p:nvSpPr>
              <p:cNvPr id="84" name="Text Box 64">
                <a:extLst>
                  <a:ext uri="{FF2B5EF4-FFF2-40B4-BE49-F238E27FC236}">
                    <a16:creationId xmlns:a16="http://schemas.microsoft.com/office/drawing/2014/main" id="{949429C3-2F7E-4794-94C8-1CDA345FCCE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3400" y="4191000"/>
                <a:ext cx="307975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>
                    <a:latin typeface="+mn-lt"/>
                  </a:rPr>
                  <a:t>3</a:t>
                </a:r>
              </a:p>
            </p:txBody>
          </p:sp>
          <p:sp>
            <p:nvSpPr>
              <p:cNvPr id="85" name="Text Box 65">
                <a:extLst>
                  <a:ext uri="{FF2B5EF4-FFF2-40B4-BE49-F238E27FC236}">
                    <a16:creationId xmlns:a16="http://schemas.microsoft.com/office/drawing/2014/main" id="{89E69151-0CD2-41ED-A184-6D89BF34F4E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3400" y="4495800"/>
                <a:ext cx="307975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>
                    <a:latin typeface="+mn-lt"/>
                  </a:rPr>
                  <a:t>4</a:t>
                </a:r>
              </a:p>
            </p:txBody>
          </p:sp>
          <p:sp>
            <p:nvSpPr>
              <p:cNvPr id="86" name="Text Box 66">
                <a:extLst>
                  <a:ext uri="{FF2B5EF4-FFF2-40B4-BE49-F238E27FC236}">
                    <a16:creationId xmlns:a16="http://schemas.microsoft.com/office/drawing/2014/main" id="{D0579B2F-9DC9-43FC-8F31-36363321C0F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3400" y="4800600"/>
                <a:ext cx="307975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>
                    <a:latin typeface="+mn-lt"/>
                  </a:rPr>
                  <a:t>5</a:t>
                </a:r>
              </a:p>
            </p:txBody>
          </p:sp>
          <p:sp>
            <p:nvSpPr>
              <p:cNvPr id="87" name="Text Box 67">
                <a:extLst>
                  <a:ext uri="{FF2B5EF4-FFF2-40B4-BE49-F238E27FC236}">
                    <a16:creationId xmlns:a16="http://schemas.microsoft.com/office/drawing/2014/main" id="{9DAD71E2-0EA6-40A7-88A7-2C4DDC31532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4800" y="5410200"/>
                <a:ext cx="647700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>
                    <a:latin typeface="+mn-lt"/>
                  </a:rPr>
                  <a:t>1022</a:t>
                </a:r>
              </a:p>
            </p:txBody>
          </p:sp>
          <p:sp>
            <p:nvSpPr>
              <p:cNvPr id="88" name="Text Box 68">
                <a:extLst>
                  <a:ext uri="{FF2B5EF4-FFF2-40B4-BE49-F238E27FC236}">
                    <a16:creationId xmlns:a16="http://schemas.microsoft.com/office/drawing/2014/main" id="{7B2CCFCB-9B24-4DCA-9D39-D081BC90D91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4800" y="5715000"/>
                <a:ext cx="647700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>
                    <a:latin typeface="+mn-lt"/>
                  </a:rPr>
                  <a:t>1023</a:t>
                </a:r>
              </a:p>
            </p:txBody>
          </p:sp>
          <p:sp>
            <p:nvSpPr>
              <p:cNvPr id="89" name="Text Box 70">
                <a:extLst>
                  <a:ext uri="{FF2B5EF4-FFF2-40B4-BE49-F238E27FC236}">
                    <a16:creationId xmlns:a16="http://schemas.microsoft.com/office/drawing/2014/main" id="{E0D2F534-325C-4B6C-9FB2-A0677103499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56314" y="2971800"/>
                <a:ext cx="663836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 dirty="0">
                    <a:latin typeface="+mn-lt"/>
                  </a:rPr>
                  <a:t>Valid</a:t>
                </a:r>
              </a:p>
            </p:txBody>
          </p:sp>
          <p:sp>
            <p:nvSpPr>
              <p:cNvPr id="90" name="Text Box 71">
                <a:extLst>
                  <a:ext uri="{FF2B5EF4-FFF2-40B4-BE49-F238E27FC236}">
                    <a16:creationId xmlns:a16="http://schemas.microsoft.com/office/drawing/2014/main" id="{480FB423-DC24-44C9-9DDD-E2972CF6963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47800" y="2971800"/>
                <a:ext cx="534988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 dirty="0">
                    <a:latin typeface="+mn-lt"/>
                  </a:rPr>
                  <a:t>Tag</a:t>
                </a:r>
              </a:p>
            </p:txBody>
          </p:sp>
          <p:grpSp>
            <p:nvGrpSpPr>
              <p:cNvPr id="91" name="Group 90">
                <a:extLst>
                  <a:ext uri="{FF2B5EF4-FFF2-40B4-BE49-F238E27FC236}">
                    <a16:creationId xmlns:a16="http://schemas.microsoft.com/office/drawing/2014/main" id="{F399E9A1-D16E-4529-AE7B-0AF91D93D03A}"/>
                  </a:ext>
                </a:extLst>
              </p:cNvPr>
              <p:cNvGrpSpPr/>
              <p:nvPr/>
            </p:nvGrpSpPr>
            <p:grpSpPr>
              <a:xfrm>
                <a:off x="2133600" y="2482850"/>
                <a:ext cx="6629400" cy="336550"/>
                <a:chOff x="2209800" y="2438400"/>
                <a:chExt cx="6629400" cy="336550"/>
              </a:xfrm>
            </p:grpSpPr>
            <p:sp>
              <p:nvSpPr>
                <p:cNvPr id="92" name="Text Box 72">
                  <a:extLst>
                    <a:ext uri="{FF2B5EF4-FFF2-40B4-BE49-F238E27FC236}">
                      <a16:creationId xmlns:a16="http://schemas.microsoft.com/office/drawing/2014/main" id="{347E2DF6-91A7-450E-83B7-E40B12D50CA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648200" y="2438400"/>
                  <a:ext cx="635000" cy="336550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sz="1600" b="1" dirty="0">
                      <a:latin typeface="+mn-lt"/>
                    </a:rPr>
                    <a:t>Data</a:t>
                  </a:r>
                </a:p>
              </p:txBody>
            </p:sp>
            <p:sp>
              <p:nvSpPr>
                <p:cNvPr id="93" name="Line 73">
                  <a:extLst>
                    <a:ext uri="{FF2B5EF4-FFF2-40B4-BE49-F238E27FC236}">
                      <a16:creationId xmlns:a16="http://schemas.microsoft.com/office/drawing/2014/main" id="{58D577B7-AD50-4793-83ED-B4D47D443E0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209800" y="2590800"/>
                  <a:ext cx="243840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>
                  <a:spAutoFit/>
                </a:bodyPr>
                <a:lstStyle/>
                <a:p>
                  <a:endParaRPr lang="en-US">
                    <a:latin typeface="+mn-lt"/>
                  </a:endParaRPr>
                </a:p>
              </p:txBody>
            </p:sp>
            <p:sp>
              <p:nvSpPr>
                <p:cNvPr id="94" name="Line 74">
                  <a:extLst>
                    <a:ext uri="{FF2B5EF4-FFF2-40B4-BE49-F238E27FC236}">
                      <a16:creationId xmlns:a16="http://schemas.microsoft.com/office/drawing/2014/main" id="{0A7A1729-F42D-430E-B07F-88B80388FA4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57800" y="2590800"/>
                  <a:ext cx="358140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 wrap="none">
                  <a:spAutoFit/>
                </a:bodyPr>
                <a:lstStyle/>
                <a:p>
                  <a:endParaRPr lang="en-US">
                    <a:latin typeface="+mn-lt"/>
                  </a:endParaRPr>
                </a:p>
              </p:txBody>
            </p:sp>
          </p:grpSp>
          <p:sp>
            <p:nvSpPr>
              <p:cNvPr id="95" name="Text Box 75">
                <a:extLst>
                  <a:ext uri="{FF2B5EF4-FFF2-40B4-BE49-F238E27FC236}">
                    <a16:creationId xmlns:a16="http://schemas.microsoft.com/office/drawing/2014/main" id="{1D8D7B6B-D3ED-4E80-877E-C2575C02653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44072" y="2743200"/>
                <a:ext cx="818942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 dirty="0">
                    <a:latin typeface="+mn-lt"/>
                  </a:rPr>
                  <a:t>Word0</a:t>
                </a:r>
              </a:p>
            </p:txBody>
          </p:sp>
          <p:sp>
            <p:nvSpPr>
              <p:cNvPr id="96" name="Text Box 76">
                <a:extLst>
                  <a:ext uri="{FF2B5EF4-FFF2-40B4-BE49-F238E27FC236}">
                    <a16:creationId xmlns:a16="http://schemas.microsoft.com/office/drawing/2014/main" id="{B50BBA3B-3CAE-4D7F-81F8-2DEBA1266A6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60862" y="2743200"/>
                <a:ext cx="811213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 dirty="0">
                    <a:latin typeface="+mn-lt"/>
                  </a:rPr>
                  <a:t>Word1</a:t>
                </a:r>
              </a:p>
            </p:txBody>
          </p:sp>
          <p:sp>
            <p:nvSpPr>
              <p:cNvPr id="97" name="Text Box 77">
                <a:extLst>
                  <a:ext uri="{FF2B5EF4-FFF2-40B4-BE49-F238E27FC236}">
                    <a16:creationId xmlns:a16="http://schemas.microsoft.com/office/drawing/2014/main" id="{98782DF5-57EF-49CE-A723-76448A7EEE8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49272" y="2743200"/>
                <a:ext cx="818942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 dirty="0">
                    <a:latin typeface="+mn-lt"/>
                  </a:rPr>
                  <a:t>Word2</a:t>
                </a:r>
              </a:p>
            </p:txBody>
          </p:sp>
          <p:sp>
            <p:nvSpPr>
              <p:cNvPr id="98" name="Text Box 78">
                <a:extLst>
                  <a:ext uri="{FF2B5EF4-FFF2-40B4-BE49-F238E27FC236}">
                    <a16:creationId xmlns:a16="http://schemas.microsoft.com/office/drawing/2014/main" id="{62D2B8DE-3B3D-47AC-92ED-47E66052EE9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49472" y="2743200"/>
                <a:ext cx="818942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 dirty="0">
                    <a:latin typeface="+mn-lt"/>
                  </a:rPr>
                  <a:t>Word3</a:t>
                </a:r>
              </a:p>
            </p:txBody>
          </p:sp>
          <p:sp>
            <p:nvSpPr>
              <p:cNvPr id="99" name="Text Box 79">
                <a:extLst>
                  <a:ext uri="{FF2B5EF4-FFF2-40B4-BE49-F238E27FC236}">
                    <a16:creationId xmlns:a16="http://schemas.microsoft.com/office/drawing/2014/main" id="{7CE78175-8570-4D42-A89E-8F75666038B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08548" y="2971800"/>
                <a:ext cx="1051891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dirty="0">
                    <a:latin typeface="+mn-lt"/>
                  </a:rPr>
                  <a:t>Bytes 0-3</a:t>
                </a:r>
              </a:p>
            </p:txBody>
          </p:sp>
          <p:sp>
            <p:nvSpPr>
              <p:cNvPr id="100" name="Text Box 80">
                <a:extLst>
                  <a:ext uri="{FF2B5EF4-FFF2-40B4-BE49-F238E27FC236}">
                    <a16:creationId xmlns:a16="http://schemas.microsoft.com/office/drawing/2014/main" id="{843259C1-D6AB-4F34-8DD4-E90D365757A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37348" y="2971800"/>
                <a:ext cx="1051891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dirty="0">
                    <a:latin typeface="+mn-lt"/>
                  </a:rPr>
                  <a:t>Bytes 4-7</a:t>
                </a:r>
              </a:p>
            </p:txBody>
          </p:sp>
          <p:sp>
            <p:nvSpPr>
              <p:cNvPr id="101" name="Text Box 81">
                <a:extLst>
                  <a:ext uri="{FF2B5EF4-FFF2-40B4-BE49-F238E27FC236}">
                    <a16:creationId xmlns:a16="http://schemas.microsoft.com/office/drawing/2014/main" id="{1C55DA9D-89CF-4579-AC3E-949410C8687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48597" y="2971800"/>
                <a:ext cx="1150444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dirty="0">
                    <a:latin typeface="+mn-lt"/>
                  </a:rPr>
                  <a:t>Bytes 8-11</a:t>
                </a:r>
              </a:p>
            </p:txBody>
          </p:sp>
          <p:sp>
            <p:nvSpPr>
              <p:cNvPr id="102" name="Text Box 82">
                <a:extLst>
                  <a:ext uri="{FF2B5EF4-FFF2-40B4-BE49-F238E27FC236}">
                    <a16:creationId xmlns:a16="http://schemas.microsoft.com/office/drawing/2014/main" id="{0D2B0972-045C-4C64-B839-92BFF3B4690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46173" y="2971800"/>
                <a:ext cx="1279517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dirty="0">
                    <a:latin typeface="+mn-lt"/>
                  </a:rPr>
                  <a:t>Bytes 12-15</a:t>
                </a:r>
              </a:p>
            </p:txBody>
          </p:sp>
        </p:grpSp>
        <p:sp>
          <p:nvSpPr>
            <p:cNvPr id="103" name="Text Box 69">
              <a:extLst>
                <a:ext uri="{FF2B5EF4-FFF2-40B4-BE49-F238E27FC236}">
                  <a16:creationId xmlns:a16="http://schemas.microsoft.com/office/drawing/2014/main" id="{74ADD46F-A14D-4A0F-B5D4-01BC481B35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400" y="2971800"/>
              <a:ext cx="720069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latin typeface="+mn-lt"/>
                </a:rPr>
                <a:t>Index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10332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A201C9F-0B6A-4C1E-934A-7F53D4EB990F}"/>
              </a:ext>
            </a:extLst>
          </p:cNvPr>
          <p:cNvGrpSpPr/>
          <p:nvPr/>
        </p:nvGrpSpPr>
        <p:grpSpPr>
          <a:xfrm>
            <a:off x="152400" y="2482850"/>
            <a:ext cx="8686800" cy="3568700"/>
            <a:chOff x="152400" y="2482850"/>
            <a:chExt cx="8686800" cy="3568700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AEDBB554-7B8A-4796-B3C7-6AEA4DB50313}"/>
                </a:ext>
              </a:extLst>
            </p:cNvPr>
            <p:cNvGrpSpPr/>
            <p:nvPr/>
          </p:nvGrpSpPr>
          <p:grpSpPr>
            <a:xfrm>
              <a:off x="304800" y="2482850"/>
              <a:ext cx="8534400" cy="3568700"/>
              <a:chOff x="304800" y="2482850"/>
              <a:chExt cx="8534400" cy="3568700"/>
            </a:xfrm>
          </p:grpSpPr>
          <p:sp>
            <p:nvSpPr>
              <p:cNvPr id="32" name="Rectangle 12">
                <a:extLst>
                  <a:ext uri="{FF2B5EF4-FFF2-40B4-BE49-F238E27FC236}">
                    <a16:creationId xmlns:a16="http://schemas.microsoft.com/office/drawing/2014/main" id="{314A30EC-6A8B-482D-9997-56AB37280B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3000" y="3276600"/>
                <a:ext cx="990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33" name="Rectangle 13">
                <a:extLst>
                  <a:ext uri="{FF2B5EF4-FFF2-40B4-BE49-F238E27FC236}">
                    <a16:creationId xmlns:a16="http://schemas.microsoft.com/office/drawing/2014/main" id="{691F5BD8-D060-4A1E-86A5-C615B668A7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400" y="3276600"/>
                <a:ext cx="228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0</a:t>
                </a:r>
              </a:p>
            </p:txBody>
          </p:sp>
          <p:sp>
            <p:nvSpPr>
              <p:cNvPr id="34" name="Rectangle 14">
                <a:extLst>
                  <a:ext uri="{FF2B5EF4-FFF2-40B4-BE49-F238E27FC236}">
                    <a16:creationId xmlns:a16="http://schemas.microsoft.com/office/drawing/2014/main" id="{62E567CE-A5BC-48DB-8D68-01FF7AFC44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3600" y="32766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35" name="Rectangle 15">
                <a:extLst>
                  <a:ext uri="{FF2B5EF4-FFF2-40B4-BE49-F238E27FC236}">
                    <a16:creationId xmlns:a16="http://schemas.microsoft.com/office/drawing/2014/main" id="{72243EFE-DB98-4138-A334-E6E11899D0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0000" y="32766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36" name="Rectangle 16">
                <a:extLst>
                  <a:ext uri="{FF2B5EF4-FFF2-40B4-BE49-F238E27FC236}">
                    <a16:creationId xmlns:a16="http://schemas.microsoft.com/office/drawing/2014/main" id="{3A352E08-21CF-4A8F-82A4-082B218EE7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6400" y="32766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37" name="Rectangle 17">
                <a:extLst>
                  <a:ext uri="{FF2B5EF4-FFF2-40B4-BE49-F238E27FC236}">
                    <a16:creationId xmlns:a16="http://schemas.microsoft.com/office/drawing/2014/main" id="{10F8AB95-943C-4939-9E01-E106A860DC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62800" y="32766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38" name="Rectangle 18">
                <a:extLst>
                  <a:ext uri="{FF2B5EF4-FFF2-40B4-BE49-F238E27FC236}">
                    <a16:creationId xmlns:a16="http://schemas.microsoft.com/office/drawing/2014/main" id="{13A00A34-900D-4E7E-84E9-A4E6E8253F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3000" y="3581400"/>
                <a:ext cx="990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39" name="Rectangle 19">
                <a:extLst>
                  <a:ext uri="{FF2B5EF4-FFF2-40B4-BE49-F238E27FC236}">
                    <a16:creationId xmlns:a16="http://schemas.microsoft.com/office/drawing/2014/main" id="{6D509C70-E615-44F7-9146-22A80C2238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400" y="3581400"/>
                <a:ext cx="228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0</a:t>
                </a:r>
              </a:p>
            </p:txBody>
          </p:sp>
          <p:sp>
            <p:nvSpPr>
              <p:cNvPr id="40" name="Rectangle 20">
                <a:extLst>
                  <a:ext uri="{FF2B5EF4-FFF2-40B4-BE49-F238E27FC236}">
                    <a16:creationId xmlns:a16="http://schemas.microsoft.com/office/drawing/2014/main" id="{398925AB-EFB5-49ED-8C55-925FB0AF23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3600" y="35814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41" name="Rectangle 21">
                <a:extLst>
                  <a:ext uri="{FF2B5EF4-FFF2-40B4-BE49-F238E27FC236}">
                    <a16:creationId xmlns:a16="http://schemas.microsoft.com/office/drawing/2014/main" id="{2467EB23-0FA3-45FC-BF16-53FD398278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0000" y="35814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42" name="Rectangle 22">
                <a:extLst>
                  <a:ext uri="{FF2B5EF4-FFF2-40B4-BE49-F238E27FC236}">
                    <a16:creationId xmlns:a16="http://schemas.microsoft.com/office/drawing/2014/main" id="{31CBBA31-E50C-423C-B200-20E9C58517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6400" y="35814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43" name="Rectangle 23">
                <a:extLst>
                  <a:ext uri="{FF2B5EF4-FFF2-40B4-BE49-F238E27FC236}">
                    <a16:creationId xmlns:a16="http://schemas.microsoft.com/office/drawing/2014/main" id="{A4D33BBA-9B45-403E-ABFC-3804370A97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62800" y="35814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44" name="Rectangle 24">
                <a:extLst>
                  <a:ext uri="{FF2B5EF4-FFF2-40B4-BE49-F238E27FC236}">
                    <a16:creationId xmlns:a16="http://schemas.microsoft.com/office/drawing/2014/main" id="{968E6045-6007-4759-AE02-59D0D444BA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3000" y="3886200"/>
                <a:ext cx="990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45" name="Rectangle 25">
                <a:extLst>
                  <a:ext uri="{FF2B5EF4-FFF2-40B4-BE49-F238E27FC236}">
                    <a16:creationId xmlns:a16="http://schemas.microsoft.com/office/drawing/2014/main" id="{CB2C2468-04D2-423B-A967-243E82ED46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400" y="3886200"/>
                <a:ext cx="228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0</a:t>
                </a:r>
              </a:p>
            </p:txBody>
          </p:sp>
          <p:sp>
            <p:nvSpPr>
              <p:cNvPr id="46" name="Rectangle 26">
                <a:extLst>
                  <a:ext uri="{FF2B5EF4-FFF2-40B4-BE49-F238E27FC236}">
                    <a16:creationId xmlns:a16="http://schemas.microsoft.com/office/drawing/2014/main" id="{5505CA83-A6AA-4DD9-9FDE-1CFE1EDAB7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3600" y="38862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47" name="Rectangle 27">
                <a:extLst>
                  <a:ext uri="{FF2B5EF4-FFF2-40B4-BE49-F238E27FC236}">
                    <a16:creationId xmlns:a16="http://schemas.microsoft.com/office/drawing/2014/main" id="{5B97E62B-8742-4658-8B41-E2718E2FD1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0000" y="38862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48" name="Rectangle 28">
                <a:extLst>
                  <a:ext uri="{FF2B5EF4-FFF2-40B4-BE49-F238E27FC236}">
                    <a16:creationId xmlns:a16="http://schemas.microsoft.com/office/drawing/2014/main" id="{94A7E16B-E330-4646-85B4-4B5E9AFDA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6400" y="38862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49" name="Rectangle 29">
                <a:extLst>
                  <a:ext uri="{FF2B5EF4-FFF2-40B4-BE49-F238E27FC236}">
                    <a16:creationId xmlns:a16="http://schemas.microsoft.com/office/drawing/2014/main" id="{EAC42DC6-239C-401F-9059-F34D94B538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62800" y="38862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50" name="Rectangle 30">
                <a:extLst>
                  <a:ext uri="{FF2B5EF4-FFF2-40B4-BE49-F238E27FC236}">
                    <a16:creationId xmlns:a16="http://schemas.microsoft.com/office/drawing/2014/main" id="{EF2D191B-11BC-4979-A36A-A785E9E60C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3000" y="4191000"/>
                <a:ext cx="990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51" name="Rectangle 31">
                <a:extLst>
                  <a:ext uri="{FF2B5EF4-FFF2-40B4-BE49-F238E27FC236}">
                    <a16:creationId xmlns:a16="http://schemas.microsoft.com/office/drawing/2014/main" id="{AA420F10-CEFD-4B65-8E4F-0B414CD038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400" y="4191000"/>
                <a:ext cx="228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0</a:t>
                </a:r>
              </a:p>
            </p:txBody>
          </p:sp>
          <p:sp>
            <p:nvSpPr>
              <p:cNvPr id="52" name="Rectangle 32">
                <a:extLst>
                  <a:ext uri="{FF2B5EF4-FFF2-40B4-BE49-F238E27FC236}">
                    <a16:creationId xmlns:a16="http://schemas.microsoft.com/office/drawing/2014/main" id="{93AE53FD-1967-4FD6-8E6D-8DE344184A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3600" y="41910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53" name="Rectangle 33">
                <a:extLst>
                  <a:ext uri="{FF2B5EF4-FFF2-40B4-BE49-F238E27FC236}">
                    <a16:creationId xmlns:a16="http://schemas.microsoft.com/office/drawing/2014/main" id="{5DB95634-57B3-4D6A-8E92-84202EB678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0000" y="41910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54" name="Rectangle 34">
                <a:extLst>
                  <a:ext uri="{FF2B5EF4-FFF2-40B4-BE49-F238E27FC236}">
                    <a16:creationId xmlns:a16="http://schemas.microsoft.com/office/drawing/2014/main" id="{7A01E370-2568-4EE5-A833-F13E679DBF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6400" y="41910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55" name="Rectangle 35">
                <a:extLst>
                  <a:ext uri="{FF2B5EF4-FFF2-40B4-BE49-F238E27FC236}">
                    <a16:creationId xmlns:a16="http://schemas.microsoft.com/office/drawing/2014/main" id="{FBCD979E-A432-4146-8BDF-E6DA5F7BED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62800" y="41910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56" name="Rectangle 36">
                <a:extLst>
                  <a:ext uri="{FF2B5EF4-FFF2-40B4-BE49-F238E27FC236}">
                    <a16:creationId xmlns:a16="http://schemas.microsoft.com/office/drawing/2014/main" id="{F6466652-20C4-49EC-B61A-2B7068CC19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3000" y="4495800"/>
                <a:ext cx="990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57" name="Rectangle 37">
                <a:extLst>
                  <a:ext uri="{FF2B5EF4-FFF2-40B4-BE49-F238E27FC236}">
                    <a16:creationId xmlns:a16="http://schemas.microsoft.com/office/drawing/2014/main" id="{4125D2ED-B590-4E04-BF8A-EB7E47DB55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400" y="4495800"/>
                <a:ext cx="228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0</a:t>
                </a:r>
              </a:p>
            </p:txBody>
          </p:sp>
          <p:sp>
            <p:nvSpPr>
              <p:cNvPr id="58" name="Rectangle 38">
                <a:extLst>
                  <a:ext uri="{FF2B5EF4-FFF2-40B4-BE49-F238E27FC236}">
                    <a16:creationId xmlns:a16="http://schemas.microsoft.com/office/drawing/2014/main" id="{B5526375-317C-4E21-9AFE-3A4C3CC1B4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3600" y="44958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59" name="Rectangle 39">
                <a:extLst>
                  <a:ext uri="{FF2B5EF4-FFF2-40B4-BE49-F238E27FC236}">
                    <a16:creationId xmlns:a16="http://schemas.microsoft.com/office/drawing/2014/main" id="{E254CB7B-55C5-45EF-B8FC-54F2FC5C0D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0000" y="44958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60" name="Rectangle 40">
                <a:extLst>
                  <a:ext uri="{FF2B5EF4-FFF2-40B4-BE49-F238E27FC236}">
                    <a16:creationId xmlns:a16="http://schemas.microsoft.com/office/drawing/2014/main" id="{3C8F271A-0146-493D-91C3-1805A9891D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6400" y="44958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61" name="Rectangle 41">
                <a:extLst>
                  <a:ext uri="{FF2B5EF4-FFF2-40B4-BE49-F238E27FC236}">
                    <a16:creationId xmlns:a16="http://schemas.microsoft.com/office/drawing/2014/main" id="{C83B910F-971C-44E9-9FAE-B17BE66206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62800" y="44958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62" name="Rectangle 42">
                <a:extLst>
                  <a:ext uri="{FF2B5EF4-FFF2-40B4-BE49-F238E27FC236}">
                    <a16:creationId xmlns:a16="http://schemas.microsoft.com/office/drawing/2014/main" id="{6866AAB7-A2C9-4061-8B1D-F99DF9B3AB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3000" y="4800600"/>
                <a:ext cx="990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63" name="Rectangle 43">
                <a:extLst>
                  <a:ext uri="{FF2B5EF4-FFF2-40B4-BE49-F238E27FC236}">
                    <a16:creationId xmlns:a16="http://schemas.microsoft.com/office/drawing/2014/main" id="{3807AA78-2FE8-4CCE-83B2-48FB294ACF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400" y="4800600"/>
                <a:ext cx="228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0</a:t>
                </a:r>
              </a:p>
            </p:txBody>
          </p:sp>
          <p:sp>
            <p:nvSpPr>
              <p:cNvPr id="64" name="Rectangle 44">
                <a:extLst>
                  <a:ext uri="{FF2B5EF4-FFF2-40B4-BE49-F238E27FC236}">
                    <a16:creationId xmlns:a16="http://schemas.microsoft.com/office/drawing/2014/main" id="{56D8FADA-3A73-4477-9EFE-95C441C59B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3600" y="48006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65" name="Rectangle 45">
                <a:extLst>
                  <a:ext uri="{FF2B5EF4-FFF2-40B4-BE49-F238E27FC236}">
                    <a16:creationId xmlns:a16="http://schemas.microsoft.com/office/drawing/2014/main" id="{E72C7ED3-AF5D-4708-A53C-00832F521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0000" y="48006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66" name="Rectangle 46">
                <a:extLst>
                  <a:ext uri="{FF2B5EF4-FFF2-40B4-BE49-F238E27FC236}">
                    <a16:creationId xmlns:a16="http://schemas.microsoft.com/office/drawing/2014/main" id="{4F522246-3C38-4468-80B6-459D2329B1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6400" y="48006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67" name="Rectangle 47">
                <a:extLst>
                  <a:ext uri="{FF2B5EF4-FFF2-40B4-BE49-F238E27FC236}">
                    <a16:creationId xmlns:a16="http://schemas.microsoft.com/office/drawing/2014/main" id="{D43C2F6F-35BF-4355-91EB-01ABF7E661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62800" y="48006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68" name="Rectangle 48">
                <a:extLst>
                  <a:ext uri="{FF2B5EF4-FFF2-40B4-BE49-F238E27FC236}">
                    <a16:creationId xmlns:a16="http://schemas.microsoft.com/office/drawing/2014/main" id="{FB416675-B08A-4194-97E0-4EDE7BEF98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3000" y="5410200"/>
                <a:ext cx="990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69" name="Rectangle 49">
                <a:extLst>
                  <a:ext uri="{FF2B5EF4-FFF2-40B4-BE49-F238E27FC236}">
                    <a16:creationId xmlns:a16="http://schemas.microsoft.com/office/drawing/2014/main" id="{9E0FB55D-12E0-4EA6-BE6C-535DF416B1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400" y="5410200"/>
                <a:ext cx="228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0</a:t>
                </a:r>
              </a:p>
            </p:txBody>
          </p:sp>
          <p:sp>
            <p:nvSpPr>
              <p:cNvPr id="70" name="Rectangle 50">
                <a:extLst>
                  <a:ext uri="{FF2B5EF4-FFF2-40B4-BE49-F238E27FC236}">
                    <a16:creationId xmlns:a16="http://schemas.microsoft.com/office/drawing/2014/main" id="{523B57CA-AF87-4EDB-9F8D-EEACD36D6D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3600" y="54102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71" name="Rectangle 51">
                <a:extLst>
                  <a:ext uri="{FF2B5EF4-FFF2-40B4-BE49-F238E27FC236}">
                    <a16:creationId xmlns:a16="http://schemas.microsoft.com/office/drawing/2014/main" id="{ACC793C6-2595-477E-855D-BE8683521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0000" y="54102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72" name="Rectangle 52">
                <a:extLst>
                  <a:ext uri="{FF2B5EF4-FFF2-40B4-BE49-F238E27FC236}">
                    <a16:creationId xmlns:a16="http://schemas.microsoft.com/office/drawing/2014/main" id="{DFB54C04-81A9-4D8B-9A8A-FC35A0894F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6400" y="54102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73" name="Rectangle 53">
                <a:extLst>
                  <a:ext uri="{FF2B5EF4-FFF2-40B4-BE49-F238E27FC236}">
                    <a16:creationId xmlns:a16="http://schemas.microsoft.com/office/drawing/2014/main" id="{2A780A0A-6E02-4370-9E85-2D68066DF5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62800" y="54102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74" name="Rectangle 54">
                <a:extLst>
                  <a:ext uri="{FF2B5EF4-FFF2-40B4-BE49-F238E27FC236}">
                    <a16:creationId xmlns:a16="http://schemas.microsoft.com/office/drawing/2014/main" id="{9632E1B5-9344-4045-9E5E-741757F105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3000" y="5715000"/>
                <a:ext cx="990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 dirty="0">
                  <a:latin typeface="+mn-lt"/>
                </a:endParaRPr>
              </a:p>
            </p:txBody>
          </p:sp>
          <p:sp>
            <p:nvSpPr>
              <p:cNvPr id="75" name="Rectangle 55">
                <a:extLst>
                  <a:ext uri="{FF2B5EF4-FFF2-40B4-BE49-F238E27FC236}">
                    <a16:creationId xmlns:a16="http://schemas.microsoft.com/office/drawing/2014/main" id="{D429DC56-E0D9-4C5A-A266-4064CEC355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400" y="5715000"/>
                <a:ext cx="228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0</a:t>
                </a:r>
              </a:p>
            </p:txBody>
          </p:sp>
          <p:sp>
            <p:nvSpPr>
              <p:cNvPr id="76" name="Rectangle 56">
                <a:extLst>
                  <a:ext uri="{FF2B5EF4-FFF2-40B4-BE49-F238E27FC236}">
                    <a16:creationId xmlns:a16="http://schemas.microsoft.com/office/drawing/2014/main" id="{F22B144B-60EA-4CC5-8AE0-DAC332F9DE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3600" y="57150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77" name="Rectangle 57">
                <a:extLst>
                  <a:ext uri="{FF2B5EF4-FFF2-40B4-BE49-F238E27FC236}">
                    <a16:creationId xmlns:a16="http://schemas.microsoft.com/office/drawing/2014/main" id="{E123BF79-C4A3-4E56-BFF8-D9E657D00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0000" y="57150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78" name="Rectangle 58">
                <a:extLst>
                  <a:ext uri="{FF2B5EF4-FFF2-40B4-BE49-F238E27FC236}">
                    <a16:creationId xmlns:a16="http://schemas.microsoft.com/office/drawing/2014/main" id="{969083ED-04AB-4270-ADD7-2CE16F4DDC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6400" y="57150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79" name="Rectangle 59">
                <a:extLst>
                  <a:ext uri="{FF2B5EF4-FFF2-40B4-BE49-F238E27FC236}">
                    <a16:creationId xmlns:a16="http://schemas.microsoft.com/office/drawing/2014/main" id="{F5E40440-D8B6-4575-B636-BB20361A19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62800" y="57150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80" name="Text Box 60">
                <a:extLst>
                  <a:ext uri="{FF2B5EF4-FFF2-40B4-BE49-F238E27FC236}">
                    <a16:creationId xmlns:a16="http://schemas.microsoft.com/office/drawing/2014/main" id="{B8EE2D79-75E8-40EC-8C76-114C3F459C6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86000" y="4960203"/>
                <a:ext cx="5029200" cy="738664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eaLnBrk="0" hangingPunct="0"/>
                <a:r>
                  <a:rPr lang="en-US" sz="2400" b="1" dirty="0">
                    <a:latin typeface="+mn-lt"/>
                  </a:rPr>
                  <a:t>...    </a:t>
                </a:r>
                <a:r>
                  <a:rPr lang="en-US" sz="2400" b="1" dirty="0"/>
                  <a:t>...    ...    …   …   …   …   …</a:t>
                </a:r>
                <a:endParaRPr lang="en-US" sz="2400" dirty="0"/>
              </a:p>
              <a:p>
                <a:pPr eaLnBrk="0" hangingPunct="0"/>
                <a:endParaRPr lang="en-US" dirty="0"/>
              </a:p>
            </p:txBody>
          </p:sp>
          <p:sp>
            <p:nvSpPr>
              <p:cNvPr id="81" name="Text Box 61">
                <a:extLst>
                  <a:ext uri="{FF2B5EF4-FFF2-40B4-BE49-F238E27FC236}">
                    <a16:creationId xmlns:a16="http://schemas.microsoft.com/office/drawing/2014/main" id="{4801544A-0F39-43EE-8574-1719E978973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3400" y="3276600"/>
                <a:ext cx="307975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dirty="0">
                    <a:latin typeface="+mn-lt"/>
                  </a:rPr>
                  <a:t>0</a:t>
                </a:r>
              </a:p>
            </p:txBody>
          </p:sp>
          <p:sp>
            <p:nvSpPr>
              <p:cNvPr id="82" name="Text Box 62">
                <a:extLst>
                  <a:ext uri="{FF2B5EF4-FFF2-40B4-BE49-F238E27FC236}">
                    <a16:creationId xmlns:a16="http://schemas.microsoft.com/office/drawing/2014/main" id="{F10F09A2-12DA-4DAA-936E-41E1BBAB4F6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2273" y="3581400"/>
                <a:ext cx="298480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>
                    <a:latin typeface="+mn-lt"/>
                  </a:rPr>
                  <a:t>1</a:t>
                </a:r>
              </a:p>
            </p:txBody>
          </p:sp>
          <p:sp>
            <p:nvSpPr>
              <p:cNvPr id="83" name="Text Box 63">
                <a:extLst>
                  <a:ext uri="{FF2B5EF4-FFF2-40B4-BE49-F238E27FC236}">
                    <a16:creationId xmlns:a16="http://schemas.microsoft.com/office/drawing/2014/main" id="{6682B343-E676-4142-8F1F-3C87F723935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3400" y="3886200"/>
                <a:ext cx="307975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>
                    <a:latin typeface="+mn-lt"/>
                  </a:rPr>
                  <a:t>2</a:t>
                </a:r>
              </a:p>
            </p:txBody>
          </p:sp>
          <p:sp>
            <p:nvSpPr>
              <p:cNvPr id="84" name="Text Box 64">
                <a:extLst>
                  <a:ext uri="{FF2B5EF4-FFF2-40B4-BE49-F238E27FC236}">
                    <a16:creationId xmlns:a16="http://schemas.microsoft.com/office/drawing/2014/main" id="{949429C3-2F7E-4794-94C8-1CDA345FCCE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3400" y="4191000"/>
                <a:ext cx="307975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>
                    <a:latin typeface="+mn-lt"/>
                  </a:rPr>
                  <a:t>3</a:t>
                </a:r>
              </a:p>
            </p:txBody>
          </p:sp>
          <p:sp>
            <p:nvSpPr>
              <p:cNvPr id="85" name="Text Box 65">
                <a:extLst>
                  <a:ext uri="{FF2B5EF4-FFF2-40B4-BE49-F238E27FC236}">
                    <a16:creationId xmlns:a16="http://schemas.microsoft.com/office/drawing/2014/main" id="{89E69151-0CD2-41ED-A184-6D89BF34F4E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3400" y="4495800"/>
                <a:ext cx="307975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>
                    <a:latin typeface="+mn-lt"/>
                  </a:rPr>
                  <a:t>4</a:t>
                </a:r>
              </a:p>
            </p:txBody>
          </p:sp>
          <p:sp>
            <p:nvSpPr>
              <p:cNvPr id="86" name="Text Box 66">
                <a:extLst>
                  <a:ext uri="{FF2B5EF4-FFF2-40B4-BE49-F238E27FC236}">
                    <a16:creationId xmlns:a16="http://schemas.microsoft.com/office/drawing/2014/main" id="{D0579B2F-9DC9-43FC-8F31-36363321C0F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3400" y="4800600"/>
                <a:ext cx="307975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>
                    <a:latin typeface="+mn-lt"/>
                  </a:rPr>
                  <a:t>5</a:t>
                </a:r>
              </a:p>
            </p:txBody>
          </p:sp>
          <p:sp>
            <p:nvSpPr>
              <p:cNvPr id="87" name="Text Box 67">
                <a:extLst>
                  <a:ext uri="{FF2B5EF4-FFF2-40B4-BE49-F238E27FC236}">
                    <a16:creationId xmlns:a16="http://schemas.microsoft.com/office/drawing/2014/main" id="{9DAD71E2-0EA6-40A7-88A7-2C4DDC31532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4800" y="5410200"/>
                <a:ext cx="647700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>
                    <a:latin typeface="+mn-lt"/>
                  </a:rPr>
                  <a:t>1022</a:t>
                </a:r>
              </a:p>
            </p:txBody>
          </p:sp>
          <p:sp>
            <p:nvSpPr>
              <p:cNvPr id="88" name="Text Box 68">
                <a:extLst>
                  <a:ext uri="{FF2B5EF4-FFF2-40B4-BE49-F238E27FC236}">
                    <a16:creationId xmlns:a16="http://schemas.microsoft.com/office/drawing/2014/main" id="{7B2CCFCB-9B24-4DCA-9D39-D081BC90D91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4800" y="5715000"/>
                <a:ext cx="647700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>
                    <a:latin typeface="+mn-lt"/>
                  </a:rPr>
                  <a:t>1023</a:t>
                </a:r>
              </a:p>
            </p:txBody>
          </p:sp>
          <p:sp>
            <p:nvSpPr>
              <p:cNvPr id="89" name="Text Box 70">
                <a:extLst>
                  <a:ext uri="{FF2B5EF4-FFF2-40B4-BE49-F238E27FC236}">
                    <a16:creationId xmlns:a16="http://schemas.microsoft.com/office/drawing/2014/main" id="{E0D2F534-325C-4B6C-9FB2-A0677103499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56314" y="2971800"/>
                <a:ext cx="663836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 dirty="0">
                    <a:latin typeface="+mn-lt"/>
                  </a:rPr>
                  <a:t>Valid</a:t>
                </a:r>
              </a:p>
            </p:txBody>
          </p:sp>
          <p:sp>
            <p:nvSpPr>
              <p:cNvPr id="90" name="Text Box 71">
                <a:extLst>
                  <a:ext uri="{FF2B5EF4-FFF2-40B4-BE49-F238E27FC236}">
                    <a16:creationId xmlns:a16="http://schemas.microsoft.com/office/drawing/2014/main" id="{480FB423-DC24-44C9-9DDD-E2972CF6963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47800" y="2971800"/>
                <a:ext cx="534988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 dirty="0">
                    <a:latin typeface="+mn-lt"/>
                  </a:rPr>
                  <a:t>Tag</a:t>
                </a:r>
              </a:p>
            </p:txBody>
          </p:sp>
          <p:grpSp>
            <p:nvGrpSpPr>
              <p:cNvPr id="91" name="Group 90">
                <a:extLst>
                  <a:ext uri="{FF2B5EF4-FFF2-40B4-BE49-F238E27FC236}">
                    <a16:creationId xmlns:a16="http://schemas.microsoft.com/office/drawing/2014/main" id="{F399E9A1-D16E-4529-AE7B-0AF91D93D03A}"/>
                  </a:ext>
                </a:extLst>
              </p:cNvPr>
              <p:cNvGrpSpPr/>
              <p:nvPr/>
            </p:nvGrpSpPr>
            <p:grpSpPr>
              <a:xfrm>
                <a:off x="2133600" y="2482850"/>
                <a:ext cx="6629400" cy="336550"/>
                <a:chOff x="2209800" y="2438400"/>
                <a:chExt cx="6629400" cy="336550"/>
              </a:xfrm>
            </p:grpSpPr>
            <p:sp>
              <p:nvSpPr>
                <p:cNvPr id="92" name="Text Box 72">
                  <a:extLst>
                    <a:ext uri="{FF2B5EF4-FFF2-40B4-BE49-F238E27FC236}">
                      <a16:creationId xmlns:a16="http://schemas.microsoft.com/office/drawing/2014/main" id="{347E2DF6-91A7-450E-83B7-E40B12D50CA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648200" y="2438400"/>
                  <a:ext cx="635000" cy="336550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sz="1600" b="1" dirty="0">
                      <a:latin typeface="+mn-lt"/>
                    </a:rPr>
                    <a:t>Data</a:t>
                  </a:r>
                </a:p>
              </p:txBody>
            </p:sp>
            <p:sp>
              <p:nvSpPr>
                <p:cNvPr id="93" name="Line 73">
                  <a:extLst>
                    <a:ext uri="{FF2B5EF4-FFF2-40B4-BE49-F238E27FC236}">
                      <a16:creationId xmlns:a16="http://schemas.microsoft.com/office/drawing/2014/main" id="{58D577B7-AD50-4793-83ED-B4D47D443E0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209800" y="2590800"/>
                  <a:ext cx="243840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>
                  <a:spAutoFit/>
                </a:bodyPr>
                <a:lstStyle/>
                <a:p>
                  <a:endParaRPr lang="en-US">
                    <a:latin typeface="+mn-lt"/>
                  </a:endParaRPr>
                </a:p>
              </p:txBody>
            </p:sp>
            <p:sp>
              <p:nvSpPr>
                <p:cNvPr id="94" name="Line 74">
                  <a:extLst>
                    <a:ext uri="{FF2B5EF4-FFF2-40B4-BE49-F238E27FC236}">
                      <a16:creationId xmlns:a16="http://schemas.microsoft.com/office/drawing/2014/main" id="{0A7A1729-F42D-430E-B07F-88B80388FA4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57800" y="2590800"/>
                  <a:ext cx="358140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 wrap="none">
                  <a:spAutoFit/>
                </a:bodyPr>
                <a:lstStyle/>
                <a:p>
                  <a:endParaRPr lang="en-US">
                    <a:latin typeface="+mn-lt"/>
                  </a:endParaRPr>
                </a:p>
              </p:txBody>
            </p:sp>
          </p:grpSp>
          <p:sp>
            <p:nvSpPr>
              <p:cNvPr id="95" name="Text Box 75">
                <a:extLst>
                  <a:ext uri="{FF2B5EF4-FFF2-40B4-BE49-F238E27FC236}">
                    <a16:creationId xmlns:a16="http://schemas.microsoft.com/office/drawing/2014/main" id="{1D8D7B6B-D3ED-4E80-877E-C2575C02653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44072" y="2743200"/>
                <a:ext cx="818942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 dirty="0">
                    <a:latin typeface="+mn-lt"/>
                  </a:rPr>
                  <a:t>Word0</a:t>
                </a:r>
              </a:p>
            </p:txBody>
          </p:sp>
          <p:sp>
            <p:nvSpPr>
              <p:cNvPr id="96" name="Text Box 76">
                <a:extLst>
                  <a:ext uri="{FF2B5EF4-FFF2-40B4-BE49-F238E27FC236}">
                    <a16:creationId xmlns:a16="http://schemas.microsoft.com/office/drawing/2014/main" id="{B50BBA3B-3CAE-4D7F-81F8-2DEBA1266A6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60862" y="2743200"/>
                <a:ext cx="811213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 dirty="0">
                    <a:latin typeface="+mn-lt"/>
                  </a:rPr>
                  <a:t>Word1</a:t>
                </a:r>
              </a:p>
            </p:txBody>
          </p:sp>
          <p:sp>
            <p:nvSpPr>
              <p:cNvPr id="97" name="Text Box 77">
                <a:extLst>
                  <a:ext uri="{FF2B5EF4-FFF2-40B4-BE49-F238E27FC236}">
                    <a16:creationId xmlns:a16="http://schemas.microsoft.com/office/drawing/2014/main" id="{98782DF5-57EF-49CE-A723-76448A7EEE8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49272" y="2743200"/>
                <a:ext cx="818942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 dirty="0">
                    <a:latin typeface="+mn-lt"/>
                  </a:rPr>
                  <a:t>Word2</a:t>
                </a:r>
              </a:p>
            </p:txBody>
          </p:sp>
          <p:sp>
            <p:nvSpPr>
              <p:cNvPr id="98" name="Text Box 78">
                <a:extLst>
                  <a:ext uri="{FF2B5EF4-FFF2-40B4-BE49-F238E27FC236}">
                    <a16:creationId xmlns:a16="http://schemas.microsoft.com/office/drawing/2014/main" id="{62D2B8DE-3B3D-47AC-92ED-47E66052EE9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49472" y="2743200"/>
                <a:ext cx="818942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 dirty="0">
                    <a:latin typeface="+mn-lt"/>
                  </a:rPr>
                  <a:t>Word3</a:t>
                </a:r>
              </a:p>
            </p:txBody>
          </p:sp>
          <p:sp>
            <p:nvSpPr>
              <p:cNvPr id="99" name="Text Box 79">
                <a:extLst>
                  <a:ext uri="{FF2B5EF4-FFF2-40B4-BE49-F238E27FC236}">
                    <a16:creationId xmlns:a16="http://schemas.microsoft.com/office/drawing/2014/main" id="{7CE78175-8570-4D42-A89E-8F75666038B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08548" y="2971800"/>
                <a:ext cx="1051891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dirty="0">
                    <a:latin typeface="+mn-lt"/>
                  </a:rPr>
                  <a:t>Bytes 0-3</a:t>
                </a:r>
              </a:p>
            </p:txBody>
          </p:sp>
          <p:sp>
            <p:nvSpPr>
              <p:cNvPr id="100" name="Text Box 80">
                <a:extLst>
                  <a:ext uri="{FF2B5EF4-FFF2-40B4-BE49-F238E27FC236}">
                    <a16:creationId xmlns:a16="http://schemas.microsoft.com/office/drawing/2014/main" id="{843259C1-D6AB-4F34-8DD4-E90D365757A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37348" y="2971800"/>
                <a:ext cx="1051891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dirty="0">
                    <a:latin typeface="+mn-lt"/>
                  </a:rPr>
                  <a:t>Bytes 4-7</a:t>
                </a:r>
              </a:p>
            </p:txBody>
          </p:sp>
          <p:sp>
            <p:nvSpPr>
              <p:cNvPr id="101" name="Text Box 81">
                <a:extLst>
                  <a:ext uri="{FF2B5EF4-FFF2-40B4-BE49-F238E27FC236}">
                    <a16:creationId xmlns:a16="http://schemas.microsoft.com/office/drawing/2014/main" id="{1C55DA9D-89CF-4579-AC3E-949410C8687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48597" y="2971800"/>
                <a:ext cx="1150444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dirty="0">
                    <a:latin typeface="+mn-lt"/>
                  </a:rPr>
                  <a:t>Bytes 8-11</a:t>
                </a:r>
              </a:p>
            </p:txBody>
          </p:sp>
          <p:sp>
            <p:nvSpPr>
              <p:cNvPr id="102" name="Text Box 82">
                <a:extLst>
                  <a:ext uri="{FF2B5EF4-FFF2-40B4-BE49-F238E27FC236}">
                    <a16:creationId xmlns:a16="http://schemas.microsoft.com/office/drawing/2014/main" id="{0D2B0972-045C-4C64-B839-92BFF3B4690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46173" y="2971800"/>
                <a:ext cx="1279517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dirty="0">
                    <a:latin typeface="+mn-lt"/>
                  </a:rPr>
                  <a:t>Bytes 12-15</a:t>
                </a:r>
              </a:p>
            </p:txBody>
          </p:sp>
        </p:grpSp>
        <p:sp>
          <p:nvSpPr>
            <p:cNvPr id="103" name="Text Box 69">
              <a:extLst>
                <a:ext uri="{FF2B5EF4-FFF2-40B4-BE49-F238E27FC236}">
                  <a16:creationId xmlns:a16="http://schemas.microsoft.com/office/drawing/2014/main" id="{9268C180-7805-47B6-97D7-757D8F1B93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400" y="2971800"/>
              <a:ext cx="720069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latin typeface="+mn-lt"/>
                </a:rPr>
                <a:t>Index</a:t>
              </a:r>
            </a:p>
          </p:txBody>
        </p:sp>
      </p:grpSp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5. Reading Data: </a:t>
            </a:r>
            <a:r>
              <a:rPr lang="en-GB" sz="3600" b="1" dirty="0">
                <a:solidFill>
                  <a:srgbClr val="0000FF"/>
                </a:solidFill>
              </a:rPr>
              <a:t>Load #1-1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#22: Cache I: Direct Mapped Cache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34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05" name="Content Placeholder 2">
            <a:extLst>
              <a:ext uri="{FF2B5EF4-FFF2-40B4-BE49-F238E27FC236}">
                <a16:creationId xmlns:a16="http://schemas.microsoft.com/office/drawing/2014/main" id="{F42D869D-777C-4A19-87AD-D73DCB7B3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789" y="1463676"/>
            <a:ext cx="8229600" cy="958849"/>
          </a:xfrm>
        </p:spPr>
        <p:txBody>
          <a:bodyPr>
            <a:normAutofit/>
          </a:bodyPr>
          <a:lstStyle/>
          <a:p>
            <a:pPr marL="265113" indent="-265113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SG" sz="2400" dirty="0"/>
              <a:t>Load from</a:t>
            </a:r>
          </a:p>
          <a:p>
            <a:pPr>
              <a:spcBef>
                <a:spcPts val="600"/>
              </a:spcBef>
              <a:buNone/>
            </a:pPr>
            <a:r>
              <a:rPr lang="en-US" b="1" dirty="0"/>
              <a:t>Step 1</a:t>
            </a:r>
            <a:r>
              <a:rPr lang="en-US" dirty="0"/>
              <a:t>. </a:t>
            </a:r>
            <a:r>
              <a:rPr lang="en-US" sz="2200" dirty="0"/>
              <a:t>Check Cache Block at index </a:t>
            </a:r>
            <a:r>
              <a:rPr lang="en-US" sz="2200" b="1" dirty="0"/>
              <a:t>1</a:t>
            </a:r>
            <a:endParaRPr lang="en-SG" sz="2200" b="1" dirty="0"/>
          </a:p>
          <a:p>
            <a:endParaRPr lang="en-SG" sz="2400" dirty="0"/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575C97EF-ADFD-486A-A59A-B43D3E9EDBEF}"/>
              </a:ext>
            </a:extLst>
          </p:cNvPr>
          <p:cNvSpPr/>
          <p:nvPr/>
        </p:nvSpPr>
        <p:spPr>
          <a:xfrm>
            <a:off x="522273" y="3596273"/>
            <a:ext cx="304800" cy="304800"/>
          </a:xfrm>
          <a:prstGeom prst="ellipse">
            <a:avLst/>
          </a:prstGeom>
          <a:solidFill>
            <a:srgbClr val="EFE9E1">
              <a:alpha val="32157"/>
            </a:srgbClr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F79D12AF-480C-4552-88AA-23103501BE5B}"/>
              </a:ext>
            </a:extLst>
          </p:cNvPr>
          <p:cNvGrpSpPr/>
          <p:nvPr/>
        </p:nvGrpSpPr>
        <p:grpSpPr>
          <a:xfrm>
            <a:off x="2362201" y="1095376"/>
            <a:ext cx="5257799" cy="762000"/>
            <a:chOff x="2362201" y="914400"/>
            <a:chExt cx="5257799" cy="762000"/>
          </a:xfrm>
        </p:grpSpPr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3ADEB99F-7526-4800-93FB-68071C373046}"/>
                </a:ext>
              </a:extLst>
            </p:cNvPr>
            <p:cNvSpPr/>
            <p:nvPr/>
          </p:nvSpPr>
          <p:spPr>
            <a:xfrm>
              <a:off x="2362201" y="1295400"/>
              <a:ext cx="2743199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dirty="0">
                  <a:solidFill>
                    <a:srgbClr val="C00000"/>
                  </a:solidFill>
                </a:rPr>
                <a:t>000000000000000000</a:t>
              </a: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63F33081-71DE-4216-A404-17AFE49F1B46}"/>
                </a:ext>
              </a:extLst>
            </p:cNvPr>
            <p:cNvSpPr/>
            <p:nvPr/>
          </p:nvSpPr>
          <p:spPr>
            <a:xfrm>
              <a:off x="6705600" y="1295400"/>
              <a:ext cx="838200" cy="381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dirty="0">
                  <a:solidFill>
                    <a:srgbClr val="006600"/>
                  </a:solidFill>
                </a:rPr>
                <a:t>0100</a:t>
              </a:r>
            </a:p>
          </p:txBody>
        </p:sp>
        <p:sp>
          <p:nvSpPr>
            <p:cNvPr id="110" name="Text Box 75">
              <a:extLst>
                <a:ext uri="{FF2B5EF4-FFF2-40B4-BE49-F238E27FC236}">
                  <a16:creationId xmlns:a16="http://schemas.microsoft.com/office/drawing/2014/main" id="{1C436AB2-65A7-47B1-A984-D266382BA4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9000" y="914400"/>
              <a:ext cx="726226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C00000"/>
                  </a:solidFill>
                  <a:latin typeface="+mn-lt"/>
                </a:rPr>
                <a:t>Tag</a:t>
              </a:r>
            </a:p>
          </p:txBody>
        </p:sp>
        <p:sp>
          <p:nvSpPr>
            <p:cNvPr id="111" name="Text Box 75">
              <a:extLst>
                <a:ext uri="{FF2B5EF4-FFF2-40B4-BE49-F238E27FC236}">
                  <a16:creationId xmlns:a16="http://schemas.microsoft.com/office/drawing/2014/main" id="{B5D4DA04-2759-4E95-9345-23DD0EE458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53200" y="914400"/>
              <a:ext cx="1066800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006600"/>
                  </a:solidFill>
                  <a:latin typeface="+mn-lt"/>
                </a:rPr>
                <a:t>Offset</a:t>
              </a: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0BAEB268-7595-4B11-BE85-B7EF92481650}"/>
                </a:ext>
              </a:extLst>
            </p:cNvPr>
            <p:cNvSpPr/>
            <p:nvPr/>
          </p:nvSpPr>
          <p:spPr>
            <a:xfrm>
              <a:off x="5105400" y="1295400"/>
              <a:ext cx="1600200" cy="381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dirty="0">
                  <a:solidFill>
                    <a:schemeClr val="accent6">
                      <a:lumMod val="50000"/>
                    </a:schemeClr>
                  </a:solidFill>
                </a:rPr>
                <a:t>0000000001</a:t>
              </a:r>
            </a:p>
          </p:txBody>
        </p:sp>
        <p:sp>
          <p:nvSpPr>
            <p:cNvPr id="113" name="Text Box 75">
              <a:extLst>
                <a:ext uri="{FF2B5EF4-FFF2-40B4-BE49-F238E27FC236}">
                  <a16:creationId xmlns:a16="http://schemas.microsoft.com/office/drawing/2014/main" id="{226367A3-BC7A-4DF9-8D7F-4DF639AF96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10200" y="914400"/>
              <a:ext cx="997177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6">
                      <a:lumMod val="50000"/>
                    </a:schemeClr>
                  </a:solidFill>
                  <a:latin typeface="+mn-lt"/>
                </a:rPr>
                <a:t>Index</a:t>
              </a:r>
            </a:p>
          </p:txBody>
        </p:sp>
      </p:grpSp>
      <p:sp>
        <p:nvSpPr>
          <p:cNvPr id="106" name="Left Arrow 86">
            <a:extLst>
              <a:ext uri="{FF2B5EF4-FFF2-40B4-BE49-F238E27FC236}">
                <a16:creationId xmlns:a16="http://schemas.microsoft.com/office/drawing/2014/main" id="{E43DA762-75F9-4529-B400-F16CFFA7AFF7}"/>
              </a:ext>
            </a:extLst>
          </p:cNvPr>
          <p:cNvSpPr/>
          <p:nvPr/>
        </p:nvSpPr>
        <p:spPr>
          <a:xfrm rot="5400000">
            <a:off x="5829300" y="1743076"/>
            <a:ext cx="228600" cy="304800"/>
          </a:xfrm>
          <a:prstGeom prst="leftArrow">
            <a:avLst/>
          </a:prstGeom>
          <a:solidFill>
            <a:srgbClr val="FF0000"/>
          </a:solidFill>
          <a:ln>
            <a:solidFill>
              <a:srgbClr val="66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81030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" grpId="0" animBg="1"/>
      <p:bldP spid="106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5. Reading Data: </a:t>
            </a:r>
            <a:r>
              <a:rPr lang="en-GB" sz="3600" b="1" dirty="0">
                <a:solidFill>
                  <a:srgbClr val="0000FF"/>
                </a:solidFill>
              </a:rPr>
              <a:t>Load #1-2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#22: Cache I: Direct Mapped Cache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35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05" name="Content Placeholder 2">
            <a:extLst>
              <a:ext uri="{FF2B5EF4-FFF2-40B4-BE49-F238E27FC236}">
                <a16:creationId xmlns:a16="http://schemas.microsoft.com/office/drawing/2014/main" id="{F42D869D-777C-4A19-87AD-D73DCB7B3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788" y="1463676"/>
            <a:ext cx="8462211" cy="1019174"/>
          </a:xfrm>
        </p:spPr>
        <p:txBody>
          <a:bodyPr>
            <a:normAutofit/>
          </a:bodyPr>
          <a:lstStyle/>
          <a:p>
            <a:pPr marL="265113" indent="-265113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SG" dirty="0"/>
              <a:t>Load from</a:t>
            </a:r>
          </a:p>
          <a:p>
            <a:pPr>
              <a:spcBef>
                <a:spcPts val="600"/>
              </a:spcBef>
              <a:buNone/>
            </a:pPr>
            <a:r>
              <a:rPr lang="en-US" b="1" dirty="0"/>
              <a:t>Step 2</a:t>
            </a:r>
            <a:r>
              <a:rPr lang="en-US" dirty="0"/>
              <a:t>.</a:t>
            </a:r>
            <a:r>
              <a:rPr lang="en-US" sz="2600" dirty="0"/>
              <a:t> </a:t>
            </a:r>
            <a:r>
              <a:rPr lang="en-US" sz="2200" dirty="0"/>
              <a:t>Data in block 1 is </a:t>
            </a:r>
            <a:r>
              <a:rPr lang="en-US" sz="2200" b="1" dirty="0"/>
              <a:t>invalid </a:t>
            </a:r>
            <a:r>
              <a:rPr lang="en-US" sz="2200" b="1" dirty="0">
                <a:solidFill>
                  <a:srgbClr val="660066"/>
                </a:solidFill>
              </a:rPr>
              <a:t>[Cold/Compulsory Miss]</a:t>
            </a:r>
            <a:endParaRPr lang="en-SG" sz="2200" b="1" dirty="0">
              <a:solidFill>
                <a:srgbClr val="660066"/>
              </a:solidFill>
            </a:endParaRPr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575C97EF-ADFD-486A-A59A-B43D3E9EDBEF}"/>
              </a:ext>
            </a:extLst>
          </p:cNvPr>
          <p:cNvSpPr/>
          <p:nvPr/>
        </p:nvSpPr>
        <p:spPr>
          <a:xfrm>
            <a:off x="876300" y="3581400"/>
            <a:ext cx="304800" cy="304800"/>
          </a:xfrm>
          <a:prstGeom prst="ellipse">
            <a:avLst/>
          </a:prstGeom>
          <a:solidFill>
            <a:srgbClr val="EFE9E1">
              <a:alpha val="32157"/>
            </a:srgbClr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F79D12AF-480C-4552-88AA-23103501BE5B}"/>
              </a:ext>
            </a:extLst>
          </p:cNvPr>
          <p:cNvGrpSpPr/>
          <p:nvPr/>
        </p:nvGrpSpPr>
        <p:grpSpPr>
          <a:xfrm>
            <a:off x="2362201" y="1095376"/>
            <a:ext cx="5257799" cy="762000"/>
            <a:chOff x="2362201" y="914400"/>
            <a:chExt cx="5257799" cy="762000"/>
          </a:xfrm>
        </p:grpSpPr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3ADEB99F-7526-4800-93FB-68071C373046}"/>
                </a:ext>
              </a:extLst>
            </p:cNvPr>
            <p:cNvSpPr/>
            <p:nvPr/>
          </p:nvSpPr>
          <p:spPr>
            <a:xfrm>
              <a:off x="2362201" y="1295400"/>
              <a:ext cx="2743199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dirty="0">
                  <a:solidFill>
                    <a:srgbClr val="C00000"/>
                  </a:solidFill>
                </a:rPr>
                <a:t>000000000000000000</a:t>
              </a: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63F33081-71DE-4216-A404-17AFE49F1B46}"/>
                </a:ext>
              </a:extLst>
            </p:cNvPr>
            <p:cNvSpPr/>
            <p:nvPr/>
          </p:nvSpPr>
          <p:spPr>
            <a:xfrm>
              <a:off x="6705600" y="1295400"/>
              <a:ext cx="838200" cy="381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dirty="0">
                  <a:solidFill>
                    <a:srgbClr val="006600"/>
                  </a:solidFill>
                </a:rPr>
                <a:t>0100</a:t>
              </a:r>
            </a:p>
          </p:txBody>
        </p:sp>
        <p:sp>
          <p:nvSpPr>
            <p:cNvPr id="110" name="Text Box 75">
              <a:extLst>
                <a:ext uri="{FF2B5EF4-FFF2-40B4-BE49-F238E27FC236}">
                  <a16:creationId xmlns:a16="http://schemas.microsoft.com/office/drawing/2014/main" id="{1C436AB2-65A7-47B1-A984-D266382BA4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9000" y="914400"/>
              <a:ext cx="726226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C00000"/>
                  </a:solidFill>
                  <a:latin typeface="+mn-lt"/>
                </a:rPr>
                <a:t>Tag</a:t>
              </a:r>
            </a:p>
          </p:txBody>
        </p:sp>
        <p:sp>
          <p:nvSpPr>
            <p:cNvPr id="111" name="Text Box 75">
              <a:extLst>
                <a:ext uri="{FF2B5EF4-FFF2-40B4-BE49-F238E27FC236}">
                  <a16:creationId xmlns:a16="http://schemas.microsoft.com/office/drawing/2014/main" id="{B5D4DA04-2759-4E95-9345-23DD0EE458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53200" y="914400"/>
              <a:ext cx="1066800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006600"/>
                  </a:solidFill>
                  <a:latin typeface="+mn-lt"/>
                </a:rPr>
                <a:t>Offset</a:t>
              </a: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0BAEB268-7595-4B11-BE85-B7EF92481650}"/>
                </a:ext>
              </a:extLst>
            </p:cNvPr>
            <p:cNvSpPr/>
            <p:nvPr/>
          </p:nvSpPr>
          <p:spPr>
            <a:xfrm>
              <a:off x="5105400" y="1295400"/>
              <a:ext cx="1600200" cy="381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dirty="0">
                  <a:solidFill>
                    <a:schemeClr val="accent6">
                      <a:lumMod val="50000"/>
                    </a:schemeClr>
                  </a:solidFill>
                </a:rPr>
                <a:t>0000000001</a:t>
              </a:r>
            </a:p>
          </p:txBody>
        </p:sp>
        <p:sp>
          <p:nvSpPr>
            <p:cNvPr id="113" name="Text Box 75">
              <a:extLst>
                <a:ext uri="{FF2B5EF4-FFF2-40B4-BE49-F238E27FC236}">
                  <a16:creationId xmlns:a16="http://schemas.microsoft.com/office/drawing/2014/main" id="{226367A3-BC7A-4DF9-8D7F-4DF639AF96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10200" y="914400"/>
              <a:ext cx="997177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6">
                      <a:lumMod val="50000"/>
                    </a:schemeClr>
                  </a:solidFill>
                  <a:latin typeface="+mn-lt"/>
                </a:rPr>
                <a:t>Index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8C4C9F81-DEC6-4746-840F-695D00E6B206}"/>
              </a:ext>
            </a:extLst>
          </p:cNvPr>
          <p:cNvGrpSpPr/>
          <p:nvPr/>
        </p:nvGrpSpPr>
        <p:grpSpPr>
          <a:xfrm>
            <a:off x="152400" y="2482850"/>
            <a:ext cx="8686800" cy="3568700"/>
            <a:chOff x="152400" y="2482850"/>
            <a:chExt cx="8686800" cy="3568700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AEDBB554-7B8A-4796-B3C7-6AEA4DB50313}"/>
                </a:ext>
              </a:extLst>
            </p:cNvPr>
            <p:cNvGrpSpPr/>
            <p:nvPr/>
          </p:nvGrpSpPr>
          <p:grpSpPr>
            <a:xfrm>
              <a:off x="304800" y="2482850"/>
              <a:ext cx="8534400" cy="3568700"/>
              <a:chOff x="304800" y="2482850"/>
              <a:chExt cx="8534400" cy="3568700"/>
            </a:xfrm>
          </p:grpSpPr>
          <p:sp>
            <p:nvSpPr>
              <p:cNvPr id="32" name="Rectangle 12">
                <a:extLst>
                  <a:ext uri="{FF2B5EF4-FFF2-40B4-BE49-F238E27FC236}">
                    <a16:creationId xmlns:a16="http://schemas.microsoft.com/office/drawing/2014/main" id="{314A30EC-6A8B-482D-9997-56AB37280B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3000" y="3276600"/>
                <a:ext cx="990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33" name="Rectangle 13">
                <a:extLst>
                  <a:ext uri="{FF2B5EF4-FFF2-40B4-BE49-F238E27FC236}">
                    <a16:creationId xmlns:a16="http://schemas.microsoft.com/office/drawing/2014/main" id="{691F5BD8-D060-4A1E-86A5-C615B668A7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400" y="3276600"/>
                <a:ext cx="228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0</a:t>
                </a:r>
              </a:p>
            </p:txBody>
          </p:sp>
          <p:sp>
            <p:nvSpPr>
              <p:cNvPr id="34" name="Rectangle 14">
                <a:extLst>
                  <a:ext uri="{FF2B5EF4-FFF2-40B4-BE49-F238E27FC236}">
                    <a16:creationId xmlns:a16="http://schemas.microsoft.com/office/drawing/2014/main" id="{62E567CE-A5BC-48DB-8D68-01FF7AFC44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3600" y="32766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35" name="Rectangle 15">
                <a:extLst>
                  <a:ext uri="{FF2B5EF4-FFF2-40B4-BE49-F238E27FC236}">
                    <a16:creationId xmlns:a16="http://schemas.microsoft.com/office/drawing/2014/main" id="{72243EFE-DB98-4138-A334-E6E11899D0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0000" y="32766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36" name="Rectangle 16">
                <a:extLst>
                  <a:ext uri="{FF2B5EF4-FFF2-40B4-BE49-F238E27FC236}">
                    <a16:creationId xmlns:a16="http://schemas.microsoft.com/office/drawing/2014/main" id="{3A352E08-21CF-4A8F-82A4-082B218EE7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6400" y="32766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37" name="Rectangle 17">
                <a:extLst>
                  <a:ext uri="{FF2B5EF4-FFF2-40B4-BE49-F238E27FC236}">
                    <a16:creationId xmlns:a16="http://schemas.microsoft.com/office/drawing/2014/main" id="{10F8AB95-943C-4939-9E01-E106A860DC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62800" y="32766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38" name="Rectangle 18">
                <a:extLst>
                  <a:ext uri="{FF2B5EF4-FFF2-40B4-BE49-F238E27FC236}">
                    <a16:creationId xmlns:a16="http://schemas.microsoft.com/office/drawing/2014/main" id="{13A00A34-900D-4E7E-84E9-A4E6E8253F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3000" y="3581400"/>
                <a:ext cx="990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39" name="Rectangle 19">
                <a:extLst>
                  <a:ext uri="{FF2B5EF4-FFF2-40B4-BE49-F238E27FC236}">
                    <a16:creationId xmlns:a16="http://schemas.microsoft.com/office/drawing/2014/main" id="{6D509C70-E615-44F7-9146-22A80C2238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400" y="3581400"/>
                <a:ext cx="228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0</a:t>
                </a:r>
              </a:p>
            </p:txBody>
          </p:sp>
          <p:sp>
            <p:nvSpPr>
              <p:cNvPr id="40" name="Rectangle 20">
                <a:extLst>
                  <a:ext uri="{FF2B5EF4-FFF2-40B4-BE49-F238E27FC236}">
                    <a16:creationId xmlns:a16="http://schemas.microsoft.com/office/drawing/2014/main" id="{398925AB-EFB5-49ED-8C55-925FB0AF23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3600" y="35814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41" name="Rectangle 21">
                <a:extLst>
                  <a:ext uri="{FF2B5EF4-FFF2-40B4-BE49-F238E27FC236}">
                    <a16:creationId xmlns:a16="http://schemas.microsoft.com/office/drawing/2014/main" id="{2467EB23-0FA3-45FC-BF16-53FD398278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0000" y="35814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42" name="Rectangle 22">
                <a:extLst>
                  <a:ext uri="{FF2B5EF4-FFF2-40B4-BE49-F238E27FC236}">
                    <a16:creationId xmlns:a16="http://schemas.microsoft.com/office/drawing/2014/main" id="{31CBBA31-E50C-423C-B200-20E9C58517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6400" y="35814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43" name="Rectangle 23">
                <a:extLst>
                  <a:ext uri="{FF2B5EF4-FFF2-40B4-BE49-F238E27FC236}">
                    <a16:creationId xmlns:a16="http://schemas.microsoft.com/office/drawing/2014/main" id="{A4D33BBA-9B45-403E-ABFC-3804370A97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62800" y="35814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44" name="Rectangle 24">
                <a:extLst>
                  <a:ext uri="{FF2B5EF4-FFF2-40B4-BE49-F238E27FC236}">
                    <a16:creationId xmlns:a16="http://schemas.microsoft.com/office/drawing/2014/main" id="{968E6045-6007-4759-AE02-59D0D444BA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3000" y="3886200"/>
                <a:ext cx="990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45" name="Rectangle 25">
                <a:extLst>
                  <a:ext uri="{FF2B5EF4-FFF2-40B4-BE49-F238E27FC236}">
                    <a16:creationId xmlns:a16="http://schemas.microsoft.com/office/drawing/2014/main" id="{CB2C2468-04D2-423B-A967-243E82ED46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400" y="3886200"/>
                <a:ext cx="228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0</a:t>
                </a:r>
              </a:p>
            </p:txBody>
          </p:sp>
          <p:sp>
            <p:nvSpPr>
              <p:cNvPr id="46" name="Rectangle 26">
                <a:extLst>
                  <a:ext uri="{FF2B5EF4-FFF2-40B4-BE49-F238E27FC236}">
                    <a16:creationId xmlns:a16="http://schemas.microsoft.com/office/drawing/2014/main" id="{5505CA83-A6AA-4DD9-9FDE-1CFE1EDAB7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3600" y="38862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47" name="Rectangle 27">
                <a:extLst>
                  <a:ext uri="{FF2B5EF4-FFF2-40B4-BE49-F238E27FC236}">
                    <a16:creationId xmlns:a16="http://schemas.microsoft.com/office/drawing/2014/main" id="{5B97E62B-8742-4658-8B41-E2718E2FD1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0000" y="38862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48" name="Rectangle 28">
                <a:extLst>
                  <a:ext uri="{FF2B5EF4-FFF2-40B4-BE49-F238E27FC236}">
                    <a16:creationId xmlns:a16="http://schemas.microsoft.com/office/drawing/2014/main" id="{94A7E16B-E330-4646-85B4-4B5E9AFDA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6400" y="38862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49" name="Rectangle 29">
                <a:extLst>
                  <a:ext uri="{FF2B5EF4-FFF2-40B4-BE49-F238E27FC236}">
                    <a16:creationId xmlns:a16="http://schemas.microsoft.com/office/drawing/2014/main" id="{EAC42DC6-239C-401F-9059-F34D94B538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62800" y="38862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50" name="Rectangle 30">
                <a:extLst>
                  <a:ext uri="{FF2B5EF4-FFF2-40B4-BE49-F238E27FC236}">
                    <a16:creationId xmlns:a16="http://schemas.microsoft.com/office/drawing/2014/main" id="{EF2D191B-11BC-4979-A36A-A785E9E60C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3000" y="4191000"/>
                <a:ext cx="990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51" name="Rectangle 31">
                <a:extLst>
                  <a:ext uri="{FF2B5EF4-FFF2-40B4-BE49-F238E27FC236}">
                    <a16:creationId xmlns:a16="http://schemas.microsoft.com/office/drawing/2014/main" id="{AA420F10-CEFD-4B65-8E4F-0B414CD038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400" y="4191000"/>
                <a:ext cx="228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0</a:t>
                </a:r>
              </a:p>
            </p:txBody>
          </p:sp>
          <p:sp>
            <p:nvSpPr>
              <p:cNvPr id="52" name="Rectangle 32">
                <a:extLst>
                  <a:ext uri="{FF2B5EF4-FFF2-40B4-BE49-F238E27FC236}">
                    <a16:creationId xmlns:a16="http://schemas.microsoft.com/office/drawing/2014/main" id="{93AE53FD-1967-4FD6-8E6D-8DE344184A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3600" y="41910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53" name="Rectangle 33">
                <a:extLst>
                  <a:ext uri="{FF2B5EF4-FFF2-40B4-BE49-F238E27FC236}">
                    <a16:creationId xmlns:a16="http://schemas.microsoft.com/office/drawing/2014/main" id="{5DB95634-57B3-4D6A-8E92-84202EB678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0000" y="41910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54" name="Rectangle 34">
                <a:extLst>
                  <a:ext uri="{FF2B5EF4-FFF2-40B4-BE49-F238E27FC236}">
                    <a16:creationId xmlns:a16="http://schemas.microsoft.com/office/drawing/2014/main" id="{7A01E370-2568-4EE5-A833-F13E679DBF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6400" y="41910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55" name="Rectangle 35">
                <a:extLst>
                  <a:ext uri="{FF2B5EF4-FFF2-40B4-BE49-F238E27FC236}">
                    <a16:creationId xmlns:a16="http://schemas.microsoft.com/office/drawing/2014/main" id="{FBCD979E-A432-4146-8BDF-E6DA5F7BED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62800" y="41910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56" name="Rectangle 36">
                <a:extLst>
                  <a:ext uri="{FF2B5EF4-FFF2-40B4-BE49-F238E27FC236}">
                    <a16:creationId xmlns:a16="http://schemas.microsoft.com/office/drawing/2014/main" id="{F6466652-20C4-49EC-B61A-2B7068CC19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3000" y="4495800"/>
                <a:ext cx="990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57" name="Rectangle 37">
                <a:extLst>
                  <a:ext uri="{FF2B5EF4-FFF2-40B4-BE49-F238E27FC236}">
                    <a16:creationId xmlns:a16="http://schemas.microsoft.com/office/drawing/2014/main" id="{4125D2ED-B590-4E04-BF8A-EB7E47DB55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400" y="4495800"/>
                <a:ext cx="228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0</a:t>
                </a:r>
              </a:p>
            </p:txBody>
          </p:sp>
          <p:sp>
            <p:nvSpPr>
              <p:cNvPr id="58" name="Rectangle 38">
                <a:extLst>
                  <a:ext uri="{FF2B5EF4-FFF2-40B4-BE49-F238E27FC236}">
                    <a16:creationId xmlns:a16="http://schemas.microsoft.com/office/drawing/2014/main" id="{B5526375-317C-4E21-9AFE-3A4C3CC1B4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3600" y="44958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59" name="Rectangle 39">
                <a:extLst>
                  <a:ext uri="{FF2B5EF4-FFF2-40B4-BE49-F238E27FC236}">
                    <a16:creationId xmlns:a16="http://schemas.microsoft.com/office/drawing/2014/main" id="{E254CB7B-55C5-45EF-B8FC-54F2FC5C0D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0000" y="44958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60" name="Rectangle 40">
                <a:extLst>
                  <a:ext uri="{FF2B5EF4-FFF2-40B4-BE49-F238E27FC236}">
                    <a16:creationId xmlns:a16="http://schemas.microsoft.com/office/drawing/2014/main" id="{3C8F271A-0146-493D-91C3-1805A9891D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6400" y="44958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61" name="Rectangle 41">
                <a:extLst>
                  <a:ext uri="{FF2B5EF4-FFF2-40B4-BE49-F238E27FC236}">
                    <a16:creationId xmlns:a16="http://schemas.microsoft.com/office/drawing/2014/main" id="{C83B910F-971C-44E9-9FAE-B17BE66206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62800" y="44958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62" name="Rectangle 42">
                <a:extLst>
                  <a:ext uri="{FF2B5EF4-FFF2-40B4-BE49-F238E27FC236}">
                    <a16:creationId xmlns:a16="http://schemas.microsoft.com/office/drawing/2014/main" id="{6866AAB7-A2C9-4061-8B1D-F99DF9B3AB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3000" y="4800600"/>
                <a:ext cx="990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63" name="Rectangle 43">
                <a:extLst>
                  <a:ext uri="{FF2B5EF4-FFF2-40B4-BE49-F238E27FC236}">
                    <a16:creationId xmlns:a16="http://schemas.microsoft.com/office/drawing/2014/main" id="{3807AA78-2FE8-4CCE-83B2-48FB294ACF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400" y="4800600"/>
                <a:ext cx="228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0</a:t>
                </a:r>
              </a:p>
            </p:txBody>
          </p:sp>
          <p:sp>
            <p:nvSpPr>
              <p:cNvPr id="64" name="Rectangle 44">
                <a:extLst>
                  <a:ext uri="{FF2B5EF4-FFF2-40B4-BE49-F238E27FC236}">
                    <a16:creationId xmlns:a16="http://schemas.microsoft.com/office/drawing/2014/main" id="{56D8FADA-3A73-4477-9EFE-95C441C59B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3600" y="48006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65" name="Rectangle 45">
                <a:extLst>
                  <a:ext uri="{FF2B5EF4-FFF2-40B4-BE49-F238E27FC236}">
                    <a16:creationId xmlns:a16="http://schemas.microsoft.com/office/drawing/2014/main" id="{E72C7ED3-AF5D-4708-A53C-00832F521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0000" y="48006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66" name="Rectangle 46">
                <a:extLst>
                  <a:ext uri="{FF2B5EF4-FFF2-40B4-BE49-F238E27FC236}">
                    <a16:creationId xmlns:a16="http://schemas.microsoft.com/office/drawing/2014/main" id="{4F522246-3C38-4468-80B6-459D2329B1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6400" y="48006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67" name="Rectangle 47">
                <a:extLst>
                  <a:ext uri="{FF2B5EF4-FFF2-40B4-BE49-F238E27FC236}">
                    <a16:creationId xmlns:a16="http://schemas.microsoft.com/office/drawing/2014/main" id="{D43C2F6F-35BF-4355-91EB-01ABF7E661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62800" y="48006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68" name="Rectangle 48">
                <a:extLst>
                  <a:ext uri="{FF2B5EF4-FFF2-40B4-BE49-F238E27FC236}">
                    <a16:creationId xmlns:a16="http://schemas.microsoft.com/office/drawing/2014/main" id="{FB416675-B08A-4194-97E0-4EDE7BEF98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3000" y="5410200"/>
                <a:ext cx="990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69" name="Rectangle 49">
                <a:extLst>
                  <a:ext uri="{FF2B5EF4-FFF2-40B4-BE49-F238E27FC236}">
                    <a16:creationId xmlns:a16="http://schemas.microsoft.com/office/drawing/2014/main" id="{9E0FB55D-12E0-4EA6-BE6C-535DF416B1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400" y="5410200"/>
                <a:ext cx="228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0</a:t>
                </a:r>
              </a:p>
            </p:txBody>
          </p:sp>
          <p:sp>
            <p:nvSpPr>
              <p:cNvPr id="70" name="Rectangle 50">
                <a:extLst>
                  <a:ext uri="{FF2B5EF4-FFF2-40B4-BE49-F238E27FC236}">
                    <a16:creationId xmlns:a16="http://schemas.microsoft.com/office/drawing/2014/main" id="{523B57CA-AF87-4EDB-9F8D-EEACD36D6D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3600" y="54102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71" name="Rectangle 51">
                <a:extLst>
                  <a:ext uri="{FF2B5EF4-FFF2-40B4-BE49-F238E27FC236}">
                    <a16:creationId xmlns:a16="http://schemas.microsoft.com/office/drawing/2014/main" id="{ACC793C6-2595-477E-855D-BE8683521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0000" y="54102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72" name="Rectangle 52">
                <a:extLst>
                  <a:ext uri="{FF2B5EF4-FFF2-40B4-BE49-F238E27FC236}">
                    <a16:creationId xmlns:a16="http://schemas.microsoft.com/office/drawing/2014/main" id="{DFB54C04-81A9-4D8B-9A8A-FC35A0894F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6400" y="54102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73" name="Rectangle 53">
                <a:extLst>
                  <a:ext uri="{FF2B5EF4-FFF2-40B4-BE49-F238E27FC236}">
                    <a16:creationId xmlns:a16="http://schemas.microsoft.com/office/drawing/2014/main" id="{2A780A0A-6E02-4370-9E85-2D68066DF5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62800" y="54102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74" name="Rectangle 54">
                <a:extLst>
                  <a:ext uri="{FF2B5EF4-FFF2-40B4-BE49-F238E27FC236}">
                    <a16:creationId xmlns:a16="http://schemas.microsoft.com/office/drawing/2014/main" id="{9632E1B5-9344-4045-9E5E-741757F105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3000" y="5715000"/>
                <a:ext cx="990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 dirty="0">
                  <a:latin typeface="+mn-lt"/>
                </a:endParaRPr>
              </a:p>
            </p:txBody>
          </p:sp>
          <p:sp>
            <p:nvSpPr>
              <p:cNvPr id="75" name="Rectangle 55">
                <a:extLst>
                  <a:ext uri="{FF2B5EF4-FFF2-40B4-BE49-F238E27FC236}">
                    <a16:creationId xmlns:a16="http://schemas.microsoft.com/office/drawing/2014/main" id="{D429DC56-E0D9-4C5A-A266-4064CEC355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400" y="5715000"/>
                <a:ext cx="228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0</a:t>
                </a:r>
              </a:p>
            </p:txBody>
          </p:sp>
          <p:sp>
            <p:nvSpPr>
              <p:cNvPr id="76" name="Rectangle 56">
                <a:extLst>
                  <a:ext uri="{FF2B5EF4-FFF2-40B4-BE49-F238E27FC236}">
                    <a16:creationId xmlns:a16="http://schemas.microsoft.com/office/drawing/2014/main" id="{F22B144B-60EA-4CC5-8AE0-DAC332F9DE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3600" y="57150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77" name="Rectangle 57">
                <a:extLst>
                  <a:ext uri="{FF2B5EF4-FFF2-40B4-BE49-F238E27FC236}">
                    <a16:creationId xmlns:a16="http://schemas.microsoft.com/office/drawing/2014/main" id="{E123BF79-C4A3-4E56-BFF8-D9E657D00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0000" y="57150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78" name="Rectangle 58">
                <a:extLst>
                  <a:ext uri="{FF2B5EF4-FFF2-40B4-BE49-F238E27FC236}">
                    <a16:creationId xmlns:a16="http://schemas.microsoft.com/office/drawing/2014/main" id="{969083ED-04AB-4270-ADD7-2CE16F4DDC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6400" y="57150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79" name="Rectangle 59">
                <a:extLst>
                  <a:ext uri="{FF2B5EF4-FFF2-40B4-BE49-F238E27FC236}">
                    <a16:creationId xmlns:a16="http://schemas.microsoft.com/office/drawing/2014/main" id="{F5E40440-D8B6-4575-B636-BB20361A19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62800" y="57150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80" name="Text Box 60">
                <a:extLst>
                  <a:ext uri="{FF2B5EF4-FFF2-40B4-BE49-F238E27FC236}">
                    <a16:creationId xmlns:a16="http://schemas.microsoft.com/office/drawing/2014/main" id="{B8EE2D79-75E8-40EC-8C76-114C3F459C6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86000" y="4960203"/>
                <a:ext cx="5029200" cy="738664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eaLnBrk="0" hangingPunct="0"/>
                <a:r>
                  <a:rPr lang="en-US" sz="2400" b="1" dirty="0">
                    <a:latin typeface="+mn-lt"/>
                  </a:rPr>
                  <a:t>...    </a:t>
                </a:r>
                <a:r>
                  <a:rPr lang="en-US" sz="2400" b="1" dirty="0"/>
                  <a:t>...    ...    …   …   …   …   …</a:t>
                </a:r>
                <a:endParaRPr lang="en-US" sz="2400" dirty="0"/>
              </a:p>
              <a:p>
                <a:pPr eaLnBrk="0" hangingPunct="0"/>
                <a:endParaRPr lang="en-US" dirty="0"/>
              </a:p>
            </p:txBody>
          </p:sp>
          <p:sp>
            <p:nvSpPr>
              <p:cNvPr id="81" name="Text Box 61">
                <a:extLst>
                  <a:ext uri="{FF2B5EF4-FFF2-40B4-BE49-F238E27FC236}">
                    <a16:creationId xmlns:a16="http://schemas.microsoft.com/office/drawing/2014/main" id="{4801544A-0F39-43EE-8574-1719E978973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3400" y="3276600"/>
                <a:ext cx="307975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dirty="0">
                    <a:latin typeface="+mn-lt"/>
                  </a:rPr>
                  <a:t>0</a:t>
                </a:r>
              </a:p>
            </p:txBody>
          </p:sp>
          <p:sp>
            <p:nvSpPr>
              <p:cNvPr id="82" name="Text Box 62">
                <a:extLst>
                  <a:ext uri="{FF2B5EF4-FFF2-40B4-BE49-F238E27FC236}">
                    <a16:creationId xmlns:a16="http://schemas.microsoft.com/office/drawing/2014/main" id="{F10F09A2-12DA-4DAA-936E-41E1BBAB4F6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2273" y="3581400"/>
                <a:ext cx="298480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>
                    <a:latin typeface="+mn-lt"/>
                  </a:rPr>
                  <a:t>1</a:t>
                </a:r>
              </a:p>
            </p:txBody>
          </p:sp>
          <p:sp>
            <p:nvSpPr>
              <p:cNvPr id="83" name="Text Box 63">
                <a:extLst>
                  <a:ext uri="{FF2B5EF4-FFF2-40B4-BE49-F238E27FC236}">
                    <a16:creationId xmlns:a16="http://schemas.microsoft.com/office/drawing/2014/main" id="{6682B343-E676-4142-8F1F-3C87F723935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3400" y="3886200"/>
                <a:ext cx="307975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>
                    <a:latin typeface="+mn-lt"/>
                  </a:rPr>
                  <a:t>2</a:t>
                </a:r>
              </a:p>
            </p:txBody>
          </p:sp>
          <p:sp>
            <p:nvSpPr>
              <p:cNvPr id="84" name="Text Box 64">
                <a:extLst>
                  <a:ext uri="{FF2B5EF4-FFF2-40B4-BE49-F238E27FC236}">
                    <a16:creationId xmlns:a16="http://schemas.microsoft.com/office/drawing/2014/main" id="{949429C3-2F7E-4794-94C8-1CDA345FCCE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3400" y="4191000"/>
                <a:ext cx="307975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>
                    <a:latin typeface="+mn-lt"/>
                  </a:rPr>
                  <a:t>3</a:t>
                </a:r>
              </a:p>
            </p:txBody>
          </p:sp>
          <p:sp>
            <p:nvSpPr>
              <p:cNvPr id="85" name="Text Box 65">
                <a:extLst>
                  <a:ext uri="{FF2B5EF4-FFF2-40B4-BE49-F238E27FC236}">
                    <a16:creationId xmlns:a16="http://schemas.microsoft.com/office/drawing/2014/main" id="{89E69151-0CD2-41ED-A184-6D89BF34F4E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3400" y="4495800"/>
                <a:ext cx="307975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>
                    <a:latin typeface="+mn-lt"/>
                  </a:rPr>
                  <a:t>4</a:t>
                </a:r>
              </a:p>
            </p:txBody>
          </p:sp>
          <p:sp>
            <p:nvSpPr>
              <p:cNvPr id="86" name="Text Box 66">
                <a:extLst>
                  <a:ext uri="{FF2B5EF4-FFF2-40B4-BE49-F238E27FC236}">
                    <a16:creationId xmlns:a16="http://schemas.microsoft.com/office/drawing/2014/main" id="{D0579B2F-9DC9-43FC-8F31-36363321C0F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3400" y="4800600"/>
                <a:ext cx="307975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>
                    <a:latin typeface="+mn-lt"/>
                  </a:rPr>
                  <a:t>5</a:t>
                </a:r>
              </a:p>
            </p:txBody>
          </p:sp>
          <p:sp>
            <p:nvSpPr>
              <p:cNvPr id="87" name="Text Box 67">
                <a:extLst>
                  <a:ext uri="{FF2B5EF4-FFF2-40B4-BE49-F238E27FC236}">
                    <a16:creationId xmlns:a16="http://schemas.microsoft.com/office/drawing/2014/main" id="{9DAD71E2-0EA6-40A7-88A7-2C4DDC31532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4800" y="5410200"/>
                <a:ext cx="647700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>
                    <a:latin typeface="+mn-lt"/>
                  </a:rPr>
                  <a:t>1022</a:t>
                </a:r>
              </a:p>
            </p:txBody>
          </p:sp>
          <p:sp>
            <p:nvSpPr>
              <p:cNvPr id="88" name="Text Box 68">
                <a:extLst>
                  <a:ext uri="{FF2B5EF4-FFF2-40B4-BE49-F238E27FC236}">
                    <a16:creationId xmlns:a16="http://schemas.microsoft.com/office/drawing/2014/main" id="{7B2CCFCB-9B24-4DCA-9D39-D081BC90D91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4800" y="5715000"/>
                <a:ext cx="647700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>
                    <a:latin typeface="+mn-lt"/>
                  </a:rPr>
                  <a:t>1023</a:t>
                </a:r>
              </a:p>
            </p:txBody>
          </p:sp>
          <p:sp>
            <p:nvSpPr>
              <p:cNvPr id="89" name="Text Box 70">
                <a:extLst>
                  <a:ext uri="{FF2B5EF4-FFF2-40B4-BE49-F238E27FC236}">
                    <a16:creationId xmlns:a16="http://schemas.microsoft.com/office/drawing/2014/main" id="{E0D2F534-325C-4B6C-9FB2-A0677103499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56314" y="2971800"/>
                <a:ext cx="663836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 dirty="0">
                    <a:latin typeface="+mn-lt"/>
                  </a:rPr>
                  <a:t>Valid</a:t>
                </a:r>
              </a:p>
            </p:txBody>
          </p:sp>
          <p:sp>
            <p:nvSpPr>
              <p:cNvPr id="90" name="Text Box 71">
                <a:extLst>
                  <a:ext uri="{FF2B5EF4-FFF2-40B4-BE49-F238E27FC236}">
                    <a16:creationId xmlns:a16="http://schemas.microsoft.com/office/drawing/2014/main" id="{480FB423-DC24-44C9-9DDD-E2972CF6963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47800" y="2971800"/>
                <a:ext cx="534988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 dirty="0">
                    <a:latin typeface="+mn-lt"/>
                  </a:rPr>
                  <a:t>Tag</a:t>
                </a:r>
              </a:p>
            </p:txBody>
          </p:sp>
          <p:grpSp>
            <p:nvGrpSpPr>
              <p:cNvPr id="91" name="Group 90">
                <a:extLst>
                  <a:ext uri="{FF2B5EF4-FFF2-40B4-BE49-F238E27FC236}">
                    <a16:creationId xmlns:a16="http://schemas.microsoft.com/office/drawing/2014/main" id="{F399E9A1-D16E-4529-AE7B-0AF91D93D03A}"/>
                  </a:ext>
                </a:extLst>
              </p:cNvPr>
              <p:cNvGrpSpPr/>
              <p:nvPr/>
            </p:nvGrpSpPr>
            <p:grpSpPr>
              <a:xfrm>
                <a:off x="2133600" y="2482850"/>
                <a:ext cx="6629400" cy="336550"/>
                <a:chOff x="2209800" y="2438400"/>
                <a:chExt cx="6629400" cy="336550"/>
              </a:xfrm>
            </p:grpSpPr>
            <p:sp>
              <p:nvSpPr>
                <p:cNvPr id="92" name="Text Box 72">
                  <a:extLst>
                    <a:ext uri="{FF2B5EF4-FFF2-40B4-BE49-F238E27FC236}">
                      <a16:creationId xmlns:a16="http://schemas.microsoft.com/office/drawing/2014/main" id="{347E2DF6-91A7-450E-83B7-E40B12D50CA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648200" y="2438400"/>
                  <a:ext cx="635000" cy="336550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sz="1600" b="1" dirty="0">
                      <a:latin typeface="+mn-lt"/>
                    </a:rPr>
                    <a:t>Data</a:t>
                  </a:r>
                </a:p>
              </p:txBody>
            </p:sp>
            <p:sp>
              <p:nvSpPr>
                <p:cNvPr id="93" name="Line 73">
                  <a:extLst>
                    <a:ext uri="{FF2B5EF4-FFF2-40B4-BE49-F238E27FC236}">
                      <a16:creationId xmlns:a16="http://schemas.microsoft.com/office/drawing/2014/main" id="{58D577B7-AD50-4793-83ED-B4D47D443E0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209800" y="2590800"/>
                  <a:ext cx="243840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>
                  <a:spAutoFit/>
                </a:bodyPr>
                <a:lstStyle/>
                <a:p>
                  <a:endParaRPr lang="en-US">
                    <a:latin typeface="+mn-lt"/>
                  </a:endParaRPr>
                </a:p>
              </p:txBody>
            </p:sp>
            <p:sp>
              <p:nvSpPr>
                <p:cNvPr id="94" name="Line 74">
                  <a:extLst>
                    <a:ext uri="{FF2B5EF4-FFF2-40B4-BE49-F238E27FC236}">
                      <a16:creationId xmlns:a16="http://schemas.microsoft.com/office/drawing/2014/main" id="{0A7A1729-F42D-430E-B07F-88B80388FA4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57800" y="2590800"/>
                  <a:ext cx="358140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 wrap="none">
                  <a:spAutoFit/>
                </a:bodyPr>
                <a:lstStyle/>
                <a:p>
                  <a:endParaRPr lang="en-US">
                    <a:latin typeface="+mn-lt"/>
                  </a:endParaRPr>
                </a:p>
              </p:txBody>
            </p:sp>
          </p:grpSp>
          <p:sp>
            <p:nvSpPr>
              <p:cNvPr id="95" name="Text Box 75">
                <a:extLst>
                  <a:ext uri="{FF2B5EF4-FFF2-40B4-BE49-F238E27FC236}">
                    <a16:creationId xmlns:a16="http://schemas.microsoft.com/office/drawing/2014/main" id="{1D8D7B6B-D3ED-4E80-877E-C2575C02653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44072" y="2743200"/>
                <a:ext cx="818942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 dirty="0">
                    <a:latin typeface="+mn-lt"/>
                  </a:rPr>
                  <a:t>Word0</a:t>
                </a:r>
              </a:p>
            </p:txBody>
          </p:sp>
          <p:sp>
            <p:nvSpPr>
              <p:cNvPr id="96" name="Text Box 76">
                <a:extLst>
                  <a:ext uri="{FF2B5EF4-FFF2-40B4-BE49-F238E27FC236}">
                    <a16:creationId xmlns:a16="http://schemas.microsoft.com/office/drawing/2014/main" id="{B50BBA3B-3CAE-4D7F-81F8-2DEBA1266A6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60862" y="2743200"/>
                <a:ext cx="811213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 dirty="0">
                    <a:latin typeface="+mn-lt"/>
                  </a:rPr>
                  <a:t>Word1</a:t>
                </a:r>
              </a:p>
            </p:txBody>
          </p:sp>
          <p:sp>
            <p:nvSpPr>
              <p:cNvPr id="97" name="Text Box 77">
                <a:extLst>
                  <a:ext uri="{FF2B5EF4-FFF2-40B4-BE49-F238E27FC236}">
                    <a16:creationId xmlns:a16="http://schemas.microsoft.com/office/drawing/2014/main" id="{98782DF5-57EF-49CE-A723-76448A7EEE8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49272" y="2743200"/>
                <a:ext cx="818942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 dirty="0">
                    <a:latin typeface="+mn-lt"/>
                  </a:rPr>
                  <a:t>Word2</a:t>
                </a:r>
              </a:p>
            </p:txBody>
          </p:sp>
          <p:sp>
            <p:nvSpPr>
              <p:cNvPr id="98" name="Text Box 78">
                <a:extLst>
                  <a:ext uri="{FF2B5EF4-FFF2-40B4-BE49-F238E27FC236}">
                    <a16:creationId xmlns:a16="http://schemas.microsoft.com/office/drawing/2014/main" id="{62D2B8DE-3B3D-47AC-92ED-47E66052EE9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49472" y="2743200"/>
                <a:ext cx="818942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 dirty="0">
                    <a:latin typeface="+mn-lt"/>
                  </a:rPr>
                  <a:t>Word3</a:t>
                </a:r>
              </a:p>
            </p:txBody>
          </p:sp>
          <p:sp>
            <p:nvSpPr>
              <p:cNvPr id="99" name="Text Box 79">
                <a:extLst>
                  <a:ext uri="{FF2B5EF4-FFF2-40B4-BE49-F238E27FC236}">
                    <a16:creationId xmlns:a16="http://schemas.microsoft.com/office/drawing/2014/main" id="{7CE78175-8570-4D42-A89E-8F75666038B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08548" y="2971800"/>
                <a:ext cx="1051891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dirty="0">
                    <a:latin typeface="+mn-lt"/>
                  </a:rPr>
                  <a:t>Bytes 0-3</a:t>
                </a:r>
              </a:p>
            </p:txBody>
          </p:sp>
          <p:sp>
            <p:nvSpPr>
              <p:cNvPr id="100" name="Text Box 80">
                <a:extLst>
                  <a:ext uri="{FF2B5EF4-FFF2-40B4-BE49-F238E27FC236}">
                    <a16:creationId xmlns:a16="http://schemas.microsoft.com/office/drawing/2014/main" id="{843259C1-D6AB-4F34-8DD4-E90D365757A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37348" y="2971800"/>
                <a:ext cx="1051891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dirty="0">
                    <a:latin typeface="+mn-lt"/>
                  </a:rPr>
                  <a:t>Bytes 4-7</a:t>
                </a:r>
              </a:p>
            </p:txBody>
          </p:sp>
          <p:sp>
            <p:nvSpPr>
              <p:cNvPr id="101" name="Text Box 81">
                <a:extLst>
                  <a:ext uri="{FF2B5EF4-FFF2-40B4-BE49-F238E27FC236}">
                    <a16:creationId xmlns:a16="http://schemas.microsoft.com/office/drawing/2014/main" id="{1C55DA9D-89CF-4579-AC3E-949410C8687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48597" y="2971800"/>
                <a:ext cx="1150444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dirty="0">
                    <a:latin typeface="+mn-lt"/>
                  </a:rPr>
                  <a:t>Bytes 8-11</a:t>
                </a:r>
              </a:p>
            </p:txBody>
          </p:sp>
          <p:sp>
            <p:nvSpPr>
              <p:cNvPr id="102" name="Text Box 82">
                <a:extLst>
                  <a:ext uri="{FF2B5EF4-FFF2-40B4-BE49-F238E27FC236}">
                    <a16:creationId xmlns:a16="http://schemas.microsoft.com/office/drawing/2014/main" id="{0D2B0972-045C-4C64-B839-92BFF3B4690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46173" y="2971800"/>
                <a:ext cx="1279517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dirty="0">
                    <a:latin typeface="+mn-lt"/>
                  </a:rPr>
                  <a:t>Bytes 12-15</a:t>
                </a:r>
              </a:p>
            </p:txBody>
          </p:sp>
        </p:grpSp>
        <p:sp>
          <p:nvSpPr>
            <p:cNvPr id="103" name="Text Box 69">
              <a:extLst>
                <a:ext uri="{FF2B5EF4-FFF2-40B4-BE49-F238E27FC236}">
                  <a16:creationId xmlns:a16="http://schemas.microsoft.com/office/drawing/2014/main" id="{F4DC9BA4-7B26-4586-8378-58E6CDED5B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400" y="2971800"/>
              <a:ext cx="720069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latin typeface="+mn-lt"/>
                </a:rPr>
                <a:t>Index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0678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5. Reading Data: </a:t>
            </a:r>
            <a:r>
              <a:rPr lang="en-GB" sz="3600" b="1" dirty="0">
                <a:solidFill>
                  <a:srgbClr val="0000FF"/>
                </a:solidFill>
              </a:rPr>
              <a:t>Load #1-3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#22: Cache I: Direct Mapped Cache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36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05" name="Content Placeholder 2">
            <a:extLst>
              <a:ext uri="{FF2B5EF4-FFF2-40B4-BE49-F238E27FC236}">
                <a16:creationId xmlns:a16="http://schemas.microsoft.com/office/drawing/2014/main" id="{F42D869D-777C-4A19-87AD-D73DCB7B3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789" y="1463676"/>
            <a:ext cx="8229600" cy="958849"/>
          </a:xfrm>
        </p:spPr>
        <p:txBody>
          <a:bodyPr>
            <a:normAutofit/>
          </a:bodyPr>
          <a:lstStyle/>
          <a:p>
            <a:pPr marL="265113" indent="-265113">
              <a:buSzPct val="100000"/>
              <a:buFont typeface="Wingdings" panose="05000000000000000000" pitchFamily="2" charset="2"/>
              <a:buChar char="§"/>
            </a:pPr>
            <a:r>
              <a:rPr lang="en-SG" sz="2400" dirty="0"/>
              <a:t>Load from</a:t>
            </a:r>
            <a:endParaRPr lang="en-SG" sz="2200" dirty="0"/>
          </a:p>
          <a:p>
            <a:pPr>
              <a:buNone/>
            </a:pPr>
            <a:r>
              <a:rPr lang="en-US" b="1" dirty="0"/>
              <a:t>Step 3</a:t>
            </a:r>
            <a:r>
              <a:rPr lang="en-US" dirty="0"/>
              <a:t>.</a:t>
            </a:r>
            <a:r>
              <a:rPr lang="en-US" sz="2200" dirty="0"/>
              <a:t> Load 16 bytes from memory; Set </a:t>
            </a:r>
            <a:r>
              <a:rPr lang="en-US" sz="2200" b="1" dirty="0"/>
              <a:t>Tag</a:t>
            </a:r>
            <a:r>
              <a:rPr lang="en-US" sz="2200" dirty="0"/>
              <a:t> and </a:t>
            </a:r>
            <a:r>
              <a:rPr lang="en-US" sz="2200" b="1" dirty="0"/>
              <a:t>Valid</a:t>
            </a:r>
            <a:r>
              <a:rPr lang="en-US" sz="2200" dirty="0"/>
              <a:t> bit</a:t>
            </a:r>
            <a:endParaRPr lang="en-SG" sz="2200" b="1" dirty="0">
              <a:solidFill>
                <a:srgbClr val="660066"/>
              </a:solidFill>
            </a:endParaRP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F79D12AF-480C-4552-88AA-23103501BE5B}"/>
              </a:ext>
            </a:extLst>
          </p:cNvPr>
          <p:cNvGrpSpPr/>
          <p:nvPr/>
        </p:nvGrpSpPr>
        <p:grpSpPr>
          <a:xfrm>
            <a:off x="2362201" y="1095376"/>
            <a:ext cx="5257799" cy="762000"/>
            <a:chOff x="2362201" y="914400"/>
            <a:chExt cx="5257799" cy="762000"/>
          </a:xfrm>
        </p:grpSpPr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3ADEB99F-7526-4800-93FB-68071C373046}"/>
                </a:ext>
              </a:extLst>
            </p:cNvPr>
            <p:cNvSpPr/>
            <p:nvPr/>
          </p:nvSpPr>
          <p:spPr>
            <a:xfrm>
              <a:off x="2362201" y="1295400"/>
              <a:ext cx="2743199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dirty="0">
                  <a:solidFill>
                    <a:srgbClr val="C00000"/>
                  </a:solidFill>
                </a:rPr>
                <a:t>000000000000000000</a:t>
              </a: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63F33081-71DE-4216-A404-17AFE49F1B46}"/>
                </a:ext>
              </a:extLst>
            </p:cNvPr>
            <p:cNvSpPr/>
            <p:nvPr/>
          </p:nvSpPr>
          <p:spPr>
            <a:xfrm>
              <a:off x="6705600" y="1295400"/>
              <a:ext cx="838200" cy="381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dirty="0">
                  <a:solidFill>
                    <a:srgbClr val="006600"/>
                  </a:solidFill>
                </a:rPr>
                <a:t>0100</a:t>
              </a:r>
            </a:p>
          </p:txBody>
        </p:sp>
        <p:sp>
          <p:nvSpPr>
            <p:cNvPr id="110" name="Text Box 75">
              <a:extLst>
                <a:ext uri="{FF2B5EF4-FFF2-40B4-BE49-F238E27FC236}">
                  <a16:creationId xmlns:a16="http://schemas.microsoft.com/office/drawing/2014/main" id="{1C436AB2-65A7-47B1-A984-D266382BA4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9000" y="914400"/>
              <a:ext cx="726226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C00000"/>
                  </a:solidFill>
                  <a:latin typeface="+mn-lt"/>
                </a:rPr>
                <a:t>Tag</a:t>
              </a:r>
            </a:p>
          </p:txBody>
        </p:sp>
        <p:sp>
          <p:nvSpPr>
            <p:cNvPr id="111" name="Text Box 75">
              <a:extLst>
                <a:ext uri="{FF2B5EF4-FFF2-40B4-BE49-F238E27FC236}">
                  <a16:creationId xmlns:a16="http://schemas.microsoft.com/office/drawing/2014/main" id="{B5D4DA04-2759-4E95-9345-23DD0EE458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53200" y="914400"/>
              <a:ext cx="1066800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006600"/>
                  </a:solidFill>
                  <a:latin typeface="+mn-lt"/>
                </a:rPr>
                <a:t>Offset</a:t>
              </a: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0BAEB268-7595-4B11-BE85-B7EF92481650}"/>
                </a:ext>
              </a:extLst>
            </p:cNvPr>
            <p:cNvSpPr/>
            <p:nvPr/>
          </p:nvSpPr>
          <p:spPr>
            <a:xfrm>
              <a:off x="5105400" y="1295400"/>
              <a:ext cx="1600200" cy="381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dirty="0">
                  <a:solidFill>
                    <a:schemeClr val="accent6">
                      <a:lumMod val="50000"/>
                    </a:schemeClr>
                  </a:solidFill>
                </a:rPr>
                <a:t>0000000001</a:t>
              </a:r>
            </a:p>
          </p:txBody>
        </p:sp>
        <p:sp>
          <p:nvSpPr>
            <p:cNvPr id="113" name="Text Box 75">
              <a:extLst>
                <a:ext uri="{FF2B5EF4-FFF2-40B4-BE49-F238E27FC236}">
                  <a16:creationId xmlns:a16="http://schemas.microsoft.com/office/drawing/2014/main" id="{226367A3-BC7A-4DF9-8D7F-4DF639AF96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10200" y="914400"/>
              <a:ext cx="997177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6">
                      <a:lumMod val="50000"/>
                    </a:schemeClr>
                  </a:solidFill>
                  <a:latin typeface="+mn-lt"/>
                </a:rPr>
                <a:t>Index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2383B59-1D6A-4CC1-BED9-EBBB7AFD2B0F}"/>
              </a:ext>
            </a:extLst>
          </p:cNvPr>
          <p:cNvGrpSpPr/>
          <p:nvPr/>
        </p:nvGrpSpPr>
        <p:grpSpPr>
          <a:xfrm>
            <a:off x="152400" y="2482850"/>
            <a:ext cx="8686800" cy="3568700"/>
            <a:chOff x="152400" y="2482850"/>
            <a:chExt cx="8686800" cy="356870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600056CB-C885-4CBC-908B-A047CEBCDC9C}"/>
                </a:ext>
              </a:extLst>
            </p:cNvPr>
            <p:cNvGrpSpPr/>
            <p:nvPr/>
          </p:nvGrpSpPr>
          <p:grpSpPr>
            <a:xfrm>
              <a:off x="304800" y="2482850"/>
              <a:ext cx="8534400" cy="3568700"/>
              <a:chOff x="304800" y="2482850"/>
              <a:chExt cx="8534400" cy="3568700"/>
            </a:xfrm>
          </p:grpSpPr>
          <p:sp>
            <p:nvSpPr>
              <p:cNvPr id="103" name="Rectangle 12">
                <a:extLst>
                  <a:ext uri="{FF2B5EF4-FFF2-40B4-BE49-F238E27FC236}">
                    <a16:creationId xmlns:a16="http://schemas.microsoft.com/office/drawing/2014/main" id="{B145FEA4-161C-49EA-BACC-9636FB107E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3000" y="3276600"/>
                <a:ext cx="990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04" name="Rectangle 13">
                <a:extLst>
                  <a:ext uri="{FF2B5EF4-FFF2-40B4-BE49-F238E27FC236}">
                    <a16:creationId xmlns:a16="http://schemas.microsoft.com/office/drawing/2014/main" id="{D6F061BB-EE02-45F2-A957-68D8C1CA14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400" y="3276600"/>
                <a:ext cx="228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0</a:t>
                </a:r>
              </a:p>
            </p:txBody>
          </p:sp>
          <p:sp>
            <p:nvSpPr>
              <p:cNvPr id="106" name="Rectangle 14">
                <a:extLst>
                  <a:ext uri="{FF2B5EF4-FFF2-40B4-BE49-F238E27FC236}">
                    <a16:creationId xmlns:a16="http://schemas.microsoft.com/office/drawing/2014/main" id="{D1D3AF2A-7812-4C43-B517-4DE029E7D1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3600" y="32766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14" name="Rectangle 15">
                <a:extLst>
                  <a:ext uri="{FF2B5EF4-FFF2-40B4-BE49-F238E27FC236}">
                    <a16:creationId xmlns:a16="http://schemas.microsoft.com/office/drawing/2014/main" id="{71D3ECE2-E3BF-41AD-BC36-7D06258511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0000" y="32766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15" name="Rectangle 16">
                <a:extLst>
                  <a:ext uri="{FF2B5EF4-FFF2-40B4-BE49-F238E27FC236}">
                    <a16:creationId xmlns:a16="http://schemas.microsoft.com/office/drawing/2014/main" id="{CE36E9FA-B430-45A9-B429-341031B1D0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6400" y="32766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17" name="Rectangle 17">
                <a:extLst>
                  <a:ext uri="{FF2B5EF4-FFF2-40B4-BE49-F238E27FC236}">
                    <a16:creationId xmlns:a16="http://schemas.microsoft.com/office/drawing/2014/main" id="{8D044D16-8DF1-4891-9FA3-484244C4D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62800" y="32766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18" name="Rectangle 18">
                <a:extLst>
                  <a:ext uri="{FF2B5EF4-FFF2-40B4-BE49-F238E27FC236}">
                    <a16:creationId xmlns:a16="http://schemas.microsoft.com/office/drawing/2014/main" id="{FABF1531-0AB0-4D14-A667-CADA95FDDF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3000" y="3581400"/>
                <a:ext cx="990600" cy="30480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solidFill>
                      <a:srgbClr val="C00000"/>
                    </a:solidFill>
                    <a:latin typeface="+mn-lt"/>
                  </a:rPr>
                  <a:t>0</a:t>
                </a:r>
              </a:p>
            </p:txBody>
          </p:sp>
          <p:sp>
            <p:nvSpPr>
              <p:cNvPr id="119" name="Rectangle 19">
                <a:extLst>
                  <a:ext uri="{FF2B5EF4-FFF2-40B4-BE49-F238E27FC236}">
                    <a16:creationId xmlns:a16="http://schemas.microsoft.com/office/drawing/2014/main" id="{6007E558-4FC7-4606-93E1-D003959183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400" y="3581400"/>
                <a:ext cx="228600" cy="30480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solidFill>
                      <a:srgbClr val="C00000"/>
                    </a:solidFill>
                    <a:latin typeface="+mn-lt"/>
                  </a:rPr>
                  <a:t>1</a:t>
                </a:r>
              </a:p>
            </p:txBody>
          </p:sp>
          <p:sp>
            <p:nvSpPr>
              <p:cNvPr id="120" name="Rectangle 20">
                <a:extLst>
                  <a:ext uri="{FF2B5EF4-FFF2-40B4-BE49-F238E27FC236}">
                    <a16:creationId xmlns:a16="http://schemas.microsoft.com/office/drawing/2014/main" id="{712F6FF7-47CD-42B9-BC74-FC05D403A9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3600" y="3581400"/>
                <a:ext cx="1676400" cy="30480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solidFill>
                      <a:srgbClr val="C00000"/>
                    </a:solidFill>
                    <a:latin typeface="+mn-lt"/>
                  </a:rPr>
                  <a:t>A</a:t>
                </a:r>
              </a:p>
            </p:txBody>
          </p:sp>
          <p:sp>
            <p:nvSpPr>
              <p:cNvPr id="121" name="Rectangle 21">
                <a:extLst>
                  <a:ext uri="{FF2B5EF4-FFF2-40B4-BE49-F238E27FC236}">
                    <a16:creationId xmlns:a16="http://schemas.microsoft.com/office/drawing/2014/main" id="{9335F7A1-B98C-4E48-8473-A68477FCD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0000" y="3581400"/>
                <a:ext cx="1676400" cy="30480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solidFill>
                      <a:srgbClr val="C00000"/>
                    </a:solidFill>
                    <a:latin typeface="+mn-lt"/>
                  </a:rPr>
                  <a:t>B</a:t>
                </a:r>
              </a:p>
            </p:txBody>
          </p:sp>
          <p:sp>
            <p:nvSpPr>
              <p:cNvPr id="122" name="Rectangle 22">
                <a:extLst>
                  <a:ext uri="{FF2B5EF4-FFF2-40B4-BE49-F238E27FC236}">
                    <a16:creationId xmlns:a16="http://schemas.microsoft.com/office/drawing/2014/main" id="{37B53A77-4B6C-4328-896D-6BDE9BB54E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6400" y="3581400"/>
                <a:ext cx="1676400" cy="30480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solidFill>
                      <a:srgbClr val="C00000"/>
                    </a:solidFill>
                    <a:latin typeface="+mn-lt"/>
                  </a:rPr>
                  <a:t>C</a:t>
                </a:r>
              </a:p>
            </p:txBody>
          </p:sp>
          <p:sp>
            <p:nvSpPr>
              <p:cNvPr id="123" name="Rectangle 23">
                <a:extLst>
                  <a:ext uri="{FF2B5EF4-FFF2-40B4-BE49-F238E27FC236}">
                    <a16:creationId xmlns:a16="http://schemas.microsoft.com/office/drawing/2014/main" id="{51D39A61-2614-44C5-810B-36E7C9E67C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62800" y="3581400"/>
                <a:ext cx="1676400" cy="30480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solidFill>
                      <a:srgbClr val="C00000"/>
                    </a:solidFill>
                    <a:latin typeface="+mn-lt"/>
                  </a:rPr>
                  <a:t>D</a:t>
                </a:r>
              </a:p>
            </p:txBody>
          </p:sp>
          <p:sp>
            <p:nvSpPr>
              <p:cNvPr id="124" name="Rectangle 24">
                <a:extLst>
                  <a:ext uri="{FF2B5EF4-FFF2-40B4-BE49-F238E27FC236}">
                    <a16:creationId xmlns:a16="http://schemas.microsoft.com/office/drawing/2014/main" id="{1E5FF318-2EF8-4DDA-8409-D6327A77A3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3000" y="3886200"/>
                <a:ext cx="990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25" name="Rectangle 25">
                <a:extLst>
                  <a:ext uri="{FF2B5EF4-FFF2-40B4-BE49-F238E27FC236}">
                    <a16:creationId xmlns:a16="http://schemas.microsoft.com/office/drawing/2014/main" id="{A13CDAA0-16EC-417C-B4F8-FA58B2F7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400" y="3886200"/>
                <a:ext cx="228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0</a:t>
                </a:r>
              </a:p>
            </p:txBody>
          </p:sp>
          <p:sp>
            <p:nvSpPr>
              <p:cNvPr id="126" name="Rectangle 26">
                <a:extLst>
                  <a:ext uri="{FF2B5EF4-FFF2-40B4-BE49-F238E27FC236}">
                    <a16:creationId xmlns:a16="http://schemas.microsoft.com/office/drawing/2014/main" id="{F403507A-0E1E-489A-89D1-B038EDDF76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3600" y="38862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27" name="Rectangle 27">
                <a:extLst>
                  <a:ext uri="{FF2B5EF4-FFF2-40B4-BE49-F238E27FC236}">
                    <a16:creationId xmlns:a16="http://schemas.microsoft.com/office/drawing/2014/main" id="{D5540AE2-0137-4708-99DC-9AA253963D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0000" y="38862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28" name="Rectangle 28">
                <a:extLst>
                  <a:ext uri="{FF2B5EF4-FFF2-40B4-BE49-F238E27FC236}">
                    <a16:creationId xmlns:a16="http://schemas.microsoft.com/office/drawing/2014/main" id="{7B6FE451-15AE-4A94-A507-ED474958EB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6400" y="38862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29" name="Rectangle 29">
                <a:extLst>
                  <a:ext uri="{FF2B5EF4-FFF2-40B4-BE49-F238E27FC236}">
                    <a16:creationId xmlns:a16="http://schemas.microsoft.com/office/drawing/2014/main" id="{B2B2652B-CC40-49B0-8C6B-9BB6D6C718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62800" y="38862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30" name="Rectangle 30">
                <a:extLst>
                  <a:ext uri="{FF2B5EF4-FFF2-40B4-BE49-F238E27FC236}">
                    <a16:creationId xmlns:a16="http://schemas.microsoft.com/office/drawing/2014/main" id="{B52E327D-81D7-48FC-A580-08D91A927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3000" y="4191000"/>
                <a:ext cx="990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31" name="Rectangle 31">
                <a:extLst>
                  <a:ext uri="{FF2B5EF4-FFF2-40B4-BE49-F238E27FC236}">
                    <a16:creationId xmlns:a16="http://schemas.microsoft.com/office/drawing/2014/main" id="{96DD3725-6D89-41A5-8BE9-9C3EADF6EB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400" y="4191000"/>
                <a:ext cx="228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0</a:t>
                </a:r>
              </a:p>
            </p:txBody>
          </p:sp>
          <p:sp>
            <p:nvSpPr>
              <p:cNvPr id="132" name="Rectangle 32">
                <a:extLst>
                  <a:ext uri="{FF2B5EF4-FFF2-40B4-BE49-F238E27FC236}">
                    <a16:creationId xmlns:a16="http://schemas.microsoft.com/office/drawing/2014/main" id="{E7F6A94F-E689-4858-8C8C-8A22203A10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3600" y="41910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33" name="Rectangle 33">
                <a:extLst>
                  <a:ext uri="{FF2B5EF4-FFF2-40B4-BE49-F238E27FC236}">
                    <a16:creationId xmlns:a16="http://schemas.microsoft.com/office/drawing/2014/main" id="{0E5BD2EE-35F8-4F78-B2D8-02FEE1A961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0000" y="41910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34" name="Rectangle 34">
                <a:extLst>
                  <a:ext uri="{FF2B5EF4-FFF2-40B4-BE49-F238E27FC236}">
                    <a16:creationId xmlns:a16="http://schemas.microsoft.com/office/drawing/2014/main" id="{B0634A88-DE4E-4D51-9F07-BA2B57F55B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6400" y="41910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35" name="Rectangle 35">
                <a:extLst>
                  <a:ext uri="{FF2B5EF4-FFF2-40B4-BE49-F238E27FC236}">
                    <a16:creationId xmlns:a16="http://schemas.microsoft.com/office/drawing/2014/main" id="{7731F9E3-4DE2-4E7E-BA51-4B001765A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62800" y="41910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36" name="Rectangle 36">
                <a:extLst>
                  <a:ext uri="{FF2B5EF4-FFF2-40B4-BE49-F238E27FC236}">
                    <a16:creationId xmlns:a16="http://schemas.microsoft.com/office/drawing/2014/main" id="{5E75CF91-ED93-403F-9EBA-EF54D4975D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3000" y="4495800"/>
                <a:ext cx="990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37" name="Rectangle 37">
                <a:extLst>
                  <a:ext uri="{FF2B5EF4-FFF2-40B4-BE49-F238E27FC236}">
                    <a16:creationId xmlns:a16="http://schemas.microsoft.com/office/drawing/2014/main" id="{3A3CC617-E19E-45B4-ACDC-3E35C5681C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400" y="4495800"/>
                <a:ext cx="228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0</a:t>
                </a:r>
              </a:p>
            </p:txBody>
          </p:sp>
          <p:sp>
            <p:nvSpPr>
              <p:cNvPr id="138" name="Rectangle 38">
                <a:extLst>
                  <a:ext uri="{FF2B5EF4-FFF2-40B4-BE49-F238E27FC236}">
                    <a16:creationId xmlns:a16="http://schemas.microsoft.com/office/drawing/2014/main" id="{EE2D5E62-D865-4B75-9403-19E8D7AF48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3600" y="44958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39" name="Rectangle 39">
                <a:extLst>
                  <a:ext uri="{FF2B5EF4-FFF2-40B4-BE49-F238E27FC236}">
                    <a16:creationId xmlns:a16="http://schemas.microsoft.com/office/drawing/2014/main" id="{22FC60D9-C2B6-4983-9C13-0252D29709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0000" y="44958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40" name="Rectangle 40">
                <a:extLst>
                  <a:ext uri="{FF2B5EF4-FFF2-40B4-BE49-F238E27FC236}">
                    <a16:creationId xmlns:a16="http://schemas.microsoft.com/office/drawing/2014/main" id="{A2012475-EEC6-48A7-9BCB-9CF63DA4DC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6400" y="44958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41" name="Rectangle 41">
                <a:extLst>
                  <a:ext uri="{FF2B5EF4-FFF2-40B4-BE49-F238E27FC236}">
                    <a16:creationId xmlns:a16="http://schemas.microsoft.com/office/drawing/2014/main" id="{17AB8261-BC7E-4D5F-B129-66B8C69C0A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62800" y="44958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42" name="Rectangle 42">
                <a:extLst>
                  <a:ext uri="{FF2B5EF4-FFF2-40B4-BE49-F238E27FC236}">
                    <a16:creationId xmlns:a16="http://schemas.microsoft.com/office/drawing/2014/main" id="{06F0B933-53D2-472A-A09F-0C0A257D7F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3000" y="4800600"/>
                <a:ext cx="990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43" name="Rectangle 43">
                <a:extLst>
                  <a:ext uri="{FF2B5EF4-FFF2-40B4-BE49-F238E27FC236}">
                    <a16:creationId xmlns:a16="http://schemas.microsoft.com/office/drawing/2014/main" id="{E152B7F9-71A1-47AD-BAC1-3E596A7424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400" y="4800600"/>
                <a:ext cx="228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0</a:t>
                </a:r>
              </a:p>
            </p:txBody>
          </p:sp>
          <p:sp>
            <p:nvSpPr>
              <p:cNvPr id="144" name="Rectangle 44">
                <a:extLst>
                  <a:ext uri="{FF2B5EF4-FFF2-40B4-BE49-F238E27FC236}">
                    <a16:creationId xmlns:a16="http://schemas.microsoft.com/office/drawing/2014/main" id="{A02F1FCD-094E-41D2-8334-3FD5941D7F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3600" y="48006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45" name="Rectangle 45">
                <a:extLst>
                  <a:ext uri="{FF2B5EF4-FFF2-40B4-BE49-F238E27FC236}">
                    <a16:creationId xmlns:a16="http://schemas.microsoft.com/office/drawing/2014/main" id="{1354137D-A3A0-454C-A452-584839D8DB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0000" y="48006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46" name="Rectangle 46">
                <a:extLst>
                  <a:ext uri="{FF2B5EF4-FFF2-40B4-BE49-F238E27FC236}">
                    <a16:creationId xmlns:a16="http://schemas.microsoft.com/office/drawing/2014/main" id="{D75AB377-8CE9-49A4-9263-6EF13802CB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6400" y="48006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47" name="Rectangle 47">
                <a:extLst>
                  <a:ext uri="{FF2B5EF4-FFF2-40B4-BE49-F238E27FC236}">
                    <a16:creationId xmlns:a16="http://schemas.microsoft.com/office/drawing/2014/main" id="{BEEF1CEA-7ACD-4475-9BFB-D33554F591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62800" y="48006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48" name="Rectangle 48">
                <a:extLst>
                  <a:ext uri="{FF2B5EF4-FFF2-40B4-BE49-F238E27FC236}">
                    <a16:creationId xmlns:a16="http://schemas.microsoft.com/office/drawing/2014/main" id="{A83D5556-A35F-4365-A545-B770A26A3E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3000" y="5410200"/>
                <a:ext cx="990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49" name="Rectangle 49">
                <a:extLst>
                  <a:ext uri="{FF2B5EF4-FFF2-40B4-BE49-F238E27FC236}">
                    <a16:creationId xmlns:a16="http://schemas.microsoft.com/office/drawing/2014/main" id="{915EC05A-0D56-4901-B378-94D01B2500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400" y="5410200"/>
                <a:ext cx="228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0</a:t>
                </a:r>
              </a:p>
            </p:txBody>
          </p:sp>
          <p:sp>
            <p:nvSpPr>
              <p:cNvPr id="150" name="Rectangle 50">
                <a:extLst>
                  <a:ext uri="{FF2B5EF4-FFF2-40B4-BE49-F238E27FC236}">
                    <a16:creationId xmlns:a16="http://schemas.microsoft.com/office/drawing/2014/main" id="{B9C9490C-E22B-40EC-94BE-94A349AA23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3600" y="54102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51" name="Rectangle 51">
                <a:extLst>
                  <a:ext uri="{FF2B5EF4-FFF2-40B4-BE49-F238E27FC236}">
                    <a16:creationId xmlns:a16="http://schemas.microsoft.com/office/drawing/2014/main" id="{8AF5D80A-08C7-4E73-A088-1AC8753AD9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0000" y="54102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52" name="Rectangle 52">
                <a:extLst>
                  <a:ext uri="{FF2B5EF4-FFF2-40B4-BE49-F238E27FC236}">
                    <a16:creationId xmlns:a16="http://schemas.microsoft.com/office/drawing/2014/main" id="{42E9DFB2-4F32-4C37-9CB5-8BB1FF6ED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6400" y="54102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53" name="Rectangle 53">
                <a:extLst>
                  <a:ext uri="{FF2B5EF4-FFF2-40B4-BE49-F238E27FC236}">
                    <a16:creationId xmlns:a16="http://schemas.microsoft.com/office/drawing/2014/main" id="{D8A8461E-C4C0-4C0A-A682-B0935A6F7D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62800" y="54102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54" name="Rectangle 54">
                <a:extLst>
                  <a:ext uri="{FF2B5EF4-FFF2-40B4-BE49-F238E27FC236}">
                    <a16:creationId xmlns:a16="http://schemas.microsoft.com/office/drawing/2014/main" id="{B5470C8D-CBE8-4986-B5B7-D33EB43F4A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3000" y="5715000"/>
                <a:ext cx="990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55" name="Rectangle 55">
                <a:extLst>
                  <a:ext uri="{FF2B5EF4-FFF2-40B4-BE49-F238E27FC236}">
                    <a16:creationId xmlns:a16="http://schemas.microsoft.com/office/drawing/2014/main" id="{179C9D65-ED8D-4270-96DB-0166B37CC6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400" y="5715000"/>
                <a:ext cx="228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0</a:t>
                </a:r>
              </a:p>
            </p:txBody>
          </p:sp>
          <p:sp>
            <p:nvSpPr>
              <p:cNvPr id="156" name="Rectangle 56">
                <a:extLst>
                  <a:ext uri="{FF2B5EF4-FFF2-40B4-BE49-F238E27FC236}">
                    <a16:creationId xmlns:a16="http://schemas.microsoft.com/office/drawing/2014/main" id="{8FA3F269-F6F9-4D8C-BD50-834B9C1C2D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3600" y="57150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57" name="Rectangle 57">
                <a:extLst>
                  <a:ext uri="{FF2B5EF4-FFF2-40B4-BE49-F238E27FC236}">
                    <a16:creationId xmlns:a16="http://schemas.microsoft.com/office/drawing/2014/main" id="{B2736331-EA8C-4D2B-911F-2C47F8E08F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0000" y="57150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58" name="Rectangle 58">
                <a:extLst>
                  <a:ext uri="{FF2B5EF4-FFF2-40B4-BE49-F238E27FC236}">
                    <a16:creationId xmlns:a16="http://schemas.microsoft.com/office/drawing/2014/main" id="{475E4477-D818-4539-8C43-16264999F3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6400" y="57150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59" name="Rectangle 59">
                <a:extLst>
                  <a:ext uri="{FF2B5EF4-FFF2-40B4-BE49-F238E27FC236}">
                    <a16:creationId xmlns:a16="http://schemas.microsoft.com/office/drawing/2014/main" id="{EB6C6119-1E77-419C-842F-D757461A5E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62800" y="57150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60" name="Text Box 60">
                <a:extLst>
                  <a:ext uri="{FF2B5EF4-FFF2-40B4-BE49-F238E27FC236}">
                    <a16:creationId xmlns:a16="http://schemas.microsoft.com/office/drawing/2014/main" id="{E179067C-A457-4C72-A7A6-678A56BD556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86000" y="4960203"/>
                <a:ext cx="5029200" cy="738664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eaLnBrk="0" hangingPunct="0"/>
                <a:r>
                  <a:rPr lang="en-US" sz="2400" b="1" dirty="0">
                    <a:latin typeface="+mn-lt"/>
                  </a:rPr>
                  <a:t>...    </a:t>
                </a:r>
                <a:r>
                  <a:rPr lang="en-US" sz="2400" b="1" dirty="0"/>
                  <a:t>...    ...    …   …   …   …   …</a:t>
                </a:r>
                <a:endParaRPr lang="en-US" sz="2400" dirty="0"/>
              </a:p>
              <a:p>
                <a:pPr eaLnBrk="0" hangingPunct="0"/>
                <a:endParaRPr lang="en-US" dirty="0"/>
              </a:p>
            </p:txBody>
          </p:sp>
          <p:sp>
            <p:nvSpPr>
              <p:cNvPr id="161" name="Text Box 61">
                <a:extLst>
                  <a:ext uri="{FF2B5EF4-FFF2-40B4-BE49-F238E27FC236}">
                    <a16:creationId xmlns:a16="http://schemas.microsoft.com/office/drawing/2014/main" id="{F763934D-8464-44E6-95BB-5DDCFBB26C4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3400" y="3276600"/>
                <a:ext cx="307975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dirty="0">
                    <a:latin typeface="+mn-lt"/>
                  </a:rPr>
                  <a:t>0</a:t>
                </a:r>
              </a:p>
            </p:txBody>
          </p:sp>
          <p:sp>
            <p:nvSpPr>
              <p:cNvPr id="162" name="Text Box 62">
                <a:extLst>
                  <a:ext uri="{FF2B5EF4-FFF2-40B4-BE49-F238E27FC236}">
                    <a16:creationId xmlns:a16="http://schemas.microsoft.com/office/drawing/2014/main" id="{05FF7976-56BD-4E07-8B19-D92729B10FA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2273" y="3581400"/>
                <a:ext cx="298480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>
                    <a:latin typeface="+mn-lt"/>
                  </a:rPr>
                  <a:t>1</a:t>
                </a:r>
              </a:p>
            </p:txBody>
          </p:sp>
          <p:sp>
            <p:nvSpPr>
              <p:cNvPr id="163" name="Text Box 63">
                <a:extLst>
                  <a:ext uri="{FF2B5EF4-FFF2-40B4-BE49-F238E27FC236}">
                    <a16:creationId xmlns:a16="http://schemas.microsoft.com/office/drawing/2014/main" id="{02B3F9D3-4E0C-4870-82B0-814473BAF5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3400" y="3886200"/>
                <a:ext cx="307975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>
                    <a:latin typeface="+mn-lt"/>
                  </a:rPr>
                  <a:t>2</a:t>
                </a:r>
              </a:p>
            </p:txBody>
          </p:sp>
          <p:sp>
            <p:nvSpPr>
              <p:cNvPr id="164" name="Text Box 64">
                <a:extLst>
                  <a:ext uri="{FF2B5EF4-FFF2-40B4-BE49-F238E27FC236}">
                    <a16:creationId xmlns:a16="http://schemas.microsoft.com/office/drawing/2014/main" id="{AAE54627-1E3C-4D28-AB1B-627CD71AF10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3400" y="4191000"/>
                <a:ext cx="307975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>
                    <a:latin typeface="+mn-lt"/>
                  </a:rPr>
                  <a:t>3</a:t>
                </a:r>
              </a:p>
            </p:txBody>
          </p:sp>
          <p:sp>
            <p:nvSpPr>
              <p:cNvPr id="165" name="Text Box 65">
                <a:extLst>
                  <a:ext uri="{FF2B5EF4-FFF2-40B4-BE49-F238E27FC236}">
                    <a16:creationId xmlns:a16="http://schemas.microsoft.com/office/drawing/2014/main" id="{1692934C-576B-4EF6-967D-07BAA00B65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3400" y="4495800"/>
                <a:ext cx="307975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>
                    <a:latin typeface="+mn-lt"/>
                  </a:rPr>
                  <a:t>4</a:t>
                </a:r>
              </a:p>
            </p:txBody>
          </p:sp>
          <p:sp>
            <p:nvSpPr>
              <p:cNvPr id="166" name="Text Box 66">
                <a:extLst>
                  <a:ext uri="{FF2B5EF4-FFF2-40B4-BE49-F238E27FC236}">
                    <a16:creationId xmlns:a16="http://schemas.microsoft.com/office/drawing/2014/main" id="{04CC81B6-FBEE-4BA7-B273-C04E325089B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3400" y="4800600"/>
                <a:ext cx="307975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>
                    <a:latin typeface="+mn-lt"/>
                  </a:rPr>
                  <a:t>5</a:t>
                </a:r>
              </a:p>
            </p:txBody>
          </p:sp>
          <p:sp>
            <p:nvSpPr>
              <p:cNvPr id="167" name="Text Box 67">
                <a:extLst>
                  <a:ext uri="{FF2B5EF4-FFF2-40B4-BE49-F238E27FC236}">
                    <a16:creationId xmlns:a16="http://schemas.microsoft.com/office/drawing/2014/main" id="{2F255B41-C836-4883-B5D0-19B1FFEBA71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4800" y="5410200"/>
                <a:ext cx="647700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>
                    <a:latin typeface="+mn-lt"/>
                  </a:rPr>
                  <a:t>1022</a:t>
                </a:r>
              </a:p>
            </p:txBody>
          </p:sp>
          <p:sp>
            <p:nvSpPr>
              <p:cNvPr id="168" name="Text Box 68">
                <a:extLst>
                  <a:ext uri="{FF2B5EF4-FFF2-40B4-BE49-F238E27FC236}">
                    <a16:creationId xmlns:a16="http://schemas.microsoft.com/office/drawing/2014/main" id="{3CC72AEA-E6AA-49CD-BD53-8ECEF01CE13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4800" y="5715000"/>
                <a:ext cx="647700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>
                    <a:latin typeface="+mn-lt"/>
                  </a:rPr>
                  <a:t>1023</a:t>
                </a:r>
              </a:p>
            </p:txBody>
          </p:sp>
          <p:sp>
            <p:nvSpPr>
              <p:cNvPr id="169" name="Text Box 70">
                <a:extLst>
                  <a:ext uri="{FF2B5EF4-FFF2-40B4-BE49-F238E27FC236}">
                    <a16:creationId xmlns:a16="http://schemas.microsoft.com/office/drawing/2014/main" id="{CC294C67-ADC5-4981-AB79-4E42E2F4DA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56314" y="2971800"/>
                <a:ext cx="663836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 dirty="0">
                    <a:latin typeface="+mn-lt"/>
                  </a:rPr>
                  <a:t>Valid</a:t>
                </a:r>
              </a:p>
            </p:txBody>
          </p:sp>
          <p:sp>
            <p:nvSpPr>
              <p:cNvPr id="170" name="Text Box 71">
                <a:extLst>
                  <a:ext uri="{FF2B5EF4-FFF2-40B4-BE49-F238E27FC236}">
                    <a16:creationId xmlns:a16="http://schemas.microsoft.com/office/drawing/2014/main" id="{D8BB064E-21F1-496B-BBCD-F3EC1EC6712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47800" y="2971800"/>
                <a:ext cx="534988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 dirty="0">
                    <a:latin typeface="+mn-lt"/>
                  </a:rPr>
                  <a:t>Tag</a:t>
                </a:r>
              </a:p>
            </p:txBody>
          </p:sp>
          <p:grpSp>
            <p:nvGrpSpPr>
              <p:cNvPr id="171" name="Group 170">
                <a:extLst>
                  <a:ext uri="{FF2B5EF4-FFF2-40B4-BE49-F238E27FC236}">
                    <a16:creationId xmlns:a16="http://schemas.microsoft.com/office/drawing/2014/main" id="{3A232E08-38B7-453E-9029-80D2FC9ADBC1}"/>
                  </a:ext>
                </a:extLst>
              </p:cNvPr>
              <p:cNvGrpSpPr/>
              <p:nvPr/>
            </p:nvGrpSpPr>
            <p:grpSpPr>
              <a:xfrm>
                <a:off x="2133600" y="2482850"/>
                <a:ext cx="6629400" cy="336550"/>
                <a:chOff x="2209800" y="2438400"/>
                <a:chExt cx="6629400" cy="336550"/>
              </a:xfrm>
            </p:grpSpPr>
            <p:sp>
              <p:nvSpPr>
                <p:cNvPr id="172" name="Text Box 72">
                  <a:extLst>
                    <a:ext uri="{FF2B5EF4-FFF2-40B4-BE49-F238E27FC236}">
                      <a16:creationId xmlns:a16="http://schemas.microsoft.com/office/drawing/2014/main" id="{4FBB43BF-77A0-4C7E-97B9-E81A3F51357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648200" y="2438400"/>
                  <a:ext cx="635000" cy="336550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sz="1600" b="1" dirty="0">
                      <a:latin typeface="+mn-lt"/>
                    </a:rPr>
                    <a:t>Data</a:t>
                  </a:r>
                </a:p>
              </p:txBody>
            </p:sp>
            <p:sp>
              <p:nvSpPr>
                <p:cNvPr id="173" name="Line 73">
                  <a:extLst>
                    <a:ext uri="{FF2B5EF4-FFF2-40B4-BE49-F238E27FC236}">
                      <a16:creationId xmlns:a16="http://schemas.microsoft.com/office/drawing/2014/main" id="{FCEC574D-2840-4272-8295-4AFF43A51E0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209800" y="2590800"/>
                  <a:ext cx="243840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>
                  <a:spAutoFit/>
                </a:bodyPr>
                <a:lstStyle/>
                <a:p>
                  <a:endParaRPr lang="en-US">
                    <a:latin typeface="+mn-lt"/>
                  </a:endParaRPr>
                </a:p>
              </p:txBody>
            </p:sp>
            <p:sp>
              <p:nvSpPr>
                <p:cNvPr id="174" name="Line 74">
                  <a:extLst>
                    <a:ext uri="{FF2B5EF4-FFF2-40B4-BE49-F238E27FC236}">
                      <a16:creationId xmlns:a16="http://schemas.microsoft.com/office/drawing/2014/main" id="{642500F6-AB56-445B-86D1-5A2D13E4579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57800" y="2590800"/>
                  <a:ext cx="358140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 wrap="none">
                  <a:spAutoFit/>
                </a:bodyPr>
                <a:lstStyle/>
                <a:p>
                  <a:endParaRPr lang="en-US">
                    <a:latin typeface="+mn-lt"/>
                  </a:endParaRPr>
                </a:p>
              </p:txBody>
            </p:sp>
          </p:grpSp>
          <p:sp>
            <p:nvSpPr>
              <p:cNvPr id="175" name="Text Box 75">
                <a:extLst>
                  <a:ext uri="{FF2B5EF4-FFF2-40B4-BE49-F238E27FC236}">
                    <a16:creationId xmlns:a16="http://schemas.microsoft.com/office/drawing/2014/main" id="{A57F1217-E125-40D2-9C64-0624C19AB66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44072" y="2743200"/>
                <a:ext cx="818942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 dirty="0">
                    <a:latin typeface="+mn-lt"/>
                  </a:rPr>
                  <a:t>Word0</a:t>
                </a:r>
              </a:p>
            </p:txBody>
          </p:sp>
          <p:sp>
            <p:nvSpPr>
              <p:cNvPr id="176" name="Text Box 76">
                <a:extLst>
                  <a:ext uri="{FF2B5EF4-FFF2-40B4-BE49-F238E27FC236}">
                    <a16:creationId xmlns:a16="http://schemas.microsoft.com/office/drawing/2014/main" id="{AFF67471-2366-4D26-B9FF-2AD96183BB9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60862" y="2743200"/>
                <a:ext cx="811213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 dirty="0">
                    <a:latin typeface="+mn-lt"/>
                  </a:rPr>
                  <a:t>Word1</a:t>
                </a:r>
              </a:p>
            </p:txBody>
          </p:sp>
          <p:sp>
            <p:nvSpPr>
              <p:cNvPr id="177" name="Text Box 77">
                <a:extLst>
                  <a:ext uri="{FF2B5EF4-FFF2-40B4-BE49-F238E27FC236}">
                    <a16:creationId xmlns:a16="http://schemas.microsoft.com/office/drawing/2014/main" id="{A385F1F8-BC56-4A10-A6BB-F0634E191AB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49272" y="2743200"/>
                <a:ext cx="818942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 dirty="0">
                    <a:latin typeface="+mn-lt"/>
                  </a:rPr>
                  <a:t>Word2</a:t>
                </a:r>
              </a:p>
            </p:txBody>
          </p:sp>
          <p:sp>
            <p:nvSpPr>
              <p:cNvPr id="178" name="Text Box 78">
                <a:extLst>
                  <a:ext uri="{FF2B5EF4-FFF2-40B4-BE49-F238E27FC236}">
                    <a16:creationId xmlns:a16="http://schemas.microsoft.com/office/drawing/2014/main" id="{45589EB9-883C-4B88-9B41-641DA71F91F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49472" y="2743200"/>
                <a:ext cx="818942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 dirty="0">
                    <a:latin typeface="+mn-lt"/>
                  </a:rPr>
                  <a:t>Word3</a:t>
                </a:r>
              </a:p>
            </p:txBody>
          </p:sp>
          <p:sp>
            <p:nvSpPr>
              <p:cNvPr id="179" name="Text Box 79">
                <a:extLst>
                  <a:ext uri="{FF2B5EF4-FFF2-40B4-BE49-F238E27FC236}">
                    <a16:creationId xmlns:a16="http://schemas.microsoft.com/office/drawing/2014/main" id="{F5A18A55-8132-4A57-BF25-F1AD8886F40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08548" y="2971800"/>
                <a:ext cx="1051891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dirty="0">
                    <a:latin typeface="+mn-lt"/>
                  </a:rPr>
                  <a:t>Bytes 0-3</a:t>
                </a:r>
              </a:p>
            </p:txBody>
          </p:sp>
          <p:sp>
            <p:nvSpPr>
              <p:cNvPr id="180" name="Text Box 80">
                <a:extLst>
                  <a:ext uri="{FF2B5EF4-FFF2-40B4-BE49-F238E27FC236}">
                    <a16:creationId xmlns:a16="http://schemas.microsoft.com/office/drawing/2014/main" id="{D8B0617E-403B-435C-9D5C-251D506658A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37348" y="2971800"/>
                <a:ext cx="1051891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dirty="0">
                    <a:latin typeface="+mn-lt"/>
                  </a:rPr>
                  <a:t>Bytes 4-7</a:t>
                </a:r>
              </a:p>
            </p:txBody>
          </p:sp>
          <p:sp>
            <p:nvSpPr>
              <p:cNvPr id="181" name="Text Box 81">
                <a:extLst>
                  <a:ext uri="{FF2B5EF4-FFF2-40B4-BE49-F238E27FC236}">
                    <a16:creationId xmlns:a16="http://schemas.microsoft.com/office/drawing/2014/main" id="{5AEA3639-604E-4BC6-8CBB-1BFD18FD781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48597" y="2971800"/>
                <a:ext cx="1150444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dirty="0">
                    <a:latin typeface="+mn-lt"/>
                  </a:rPr>
                  <a:t>Bytes 8-11</a:t>
                </a:r>
              </a:p>
            </p:txBody>
          </p:sp>
          <p:sp>
            <p:nvSpPr>
              <p:cNvPr id="182" name="Text Box 82">
                <a:extLst>
                  <a:ext uri="{FF2B5EF4-FFF2-40B4-BE49-F238E27FC236}">
                    <a16:creationId xmlns:a16="http://schemas.microsoft.com/office/drawing/2014/main" id="{D91310A5-BB51-4036-BB85-C14078F6E3D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46173" y="2971800"/>
                <a:ext cx="1279517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dirty="0">
                    <a:latin typeface="+mn-lt"/>
                  </a:rPr>
                  <a:t>Bytes 12-15</a:t>
                </a:r>
              </a:p>
            </p:txBody>
          </p:sp>
        </p:grpSp>
        <p:sp>
          <p:nvSpPr>
            <p:cNvPr id="185" name="Text Box 69">
              <a:extLst>
                <a:ext uri="{FF2B5EF4-FFF2-40B4-BE49-F238E27FC236}">
                  <a16:creationId xmlns:a16="http://schemas.microsoft.com/office/drawing/2014/main" id="{5DBBACA2-5C46-4D73-9B8F-D90F66C36B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400" y="2971800"/>
              <a:ext cx="720069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latin typeface="+mn-lt"/>
                </a:rPr>
                <a:t>Index</a:t>
              </a:r>
            </a:p>
          </p:txBody>
        </p:sp>
      </p:grp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48C82E4-CBF3-4892-BC89-1B8041337782}"/>
              </a:ext>
            </a:extLst>
          </p:cNvPr>
          <p:cNvCxnSpPr/>
          <p:nvPr/>
        </p:nvCxnSpPr>
        <p:spPr>
          <a:xfrm flipH="1">
            <a:off x="1828800" y="1857376"/>
            <a:ext cx="1720516" cy="184835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6981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5. Reading Data: </a:t>
            </a:r>
            <a:r>
              <a:rPr lang="en-GB" sz="3600" b="1" dirty="0">
                <a:solidFill>
                  <a:srgbClr val="0000FF"/>
                </a:solidFill>
              </a:rPr>
              <a:t>Load #1-4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#22: Cache I: Direct Mapped Cache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37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05" name="Content Placeholder 2">
            <a:extLst>
              <a:ext uri="{FF2B5EF4-FFF2-40B4-BE49-F238E27FC236}">
                <a16:creationId xmlns:a16="http://schemas.microsoft.com/office/drawing/2014/main" id="{F42D869D-777C-4A19-87AD-D73DCB7B3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789" y="1463676"/>
            <a:ext cx="8229600" cy="958849"/>
          </a:xfrm>
        </p:spPr>
        <p:txBody>
          <a:bodyPr>
            <a:normAutofit/>
          </a:bodyPr>
          <a:lstStyle/>
          <a:p>
            <a:pPr marL="265113" indent="-265113">
              <a:buSzPct val="100000"/>
              <a:buFont typeface="Wingdings" panose="05000000000000000000" pitchFamily="2" charset="2"/>
              <a:buChar char="§"/>
            </a:pPr>
            <a:r>
              <a:rPr lang="en-SG" sz="2400" dirty="0"/>
              <a:t>Load from</a:t>
            </a:r>
            <a:endParaRPr lang="en-SG" sz="2200" dirty="0"/>
          </a:p>
          <a:p>
            <a:pPr>
              <a:buNone/>
            </a:pPr>
            <a:r>
              <a:rPr lang="en-US" b="1" dirty="0"/>
              <a:t>Step 4</a:t>
            </a:r>
            <a:r>
              <a:rPr lang="en-US" dirty="0"/>
              <a:t>.</a:t>
            </a:r>
            <a:r>
              <a:rPr lang="en-US" sz="2200" dirty="0"/>
              <a:t> Return </a:t>
            </a:r>
            <a:r>
              <a:rPr lang="en-US" sz="2200" b="1" dirty="0"/>
              <a:t>Word1</a:t>
            </a:r>
            <a:r>
              <a:rPr lang="en-US" sz="2200" dirty="0"/>
              <a:t> (byte offset = 4) to Register</a:t>
            </a:r>
            <a:endParaRPr lang="en-SG" sz="2200" b="1" dirty="0">
              <a:solidFill>
                <a:srgbClr val="660066"/>
              </a:solidFill>
            </a:endParaRP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F79D12AF-480C-4552-88AA-23103501BE5B}"/>
              </a:ext>
            </a:extLst>
          </p:cNvPr>
          <p:cNvGrpSpPr/>
          <p:nvPr/>
        </p:nvGrpSpPr>
        <p:grpSpPr>
          <a:xfrm>
            <a:off x="2362201" y="1095376"/>
            <a:ext cx="5257799" cy="762000"/>
            <a:chOff x="2362201" y="914400"/>
            <a:chExt cx="5257799" cy="762000"/>
          </a:xfrm>
        </p:grpSpPr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3ADEB99F-7526-4800-93FB-68071C373046}"/>
                </a:ext>
              </a:extLst>
            </p:cNvPr>
            <p:cNvSpPr/>
            <p:nvPr/>
          </p:nvSpPr>
          <p:spPr>
            <a:xfrm>
              <a:off x="2362201" y="1295400"/>
              <a:ext cx="2743199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dirty="0">
                  <a:solidFill>
                    <a:srgbClr val="C00000"/>
                  </a:solidFill>
                </a:rPr>
                <a:t>000000000000000000</a:t>
              </a: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63F33081-71DE-4216-A404-17AFE49F1B46}"/>
                </a:ext>
              </a:extLst>
            </p:cNvPr>
            <p:cNvSpPr/>
            <p:nvPr/>
          </p:nvSpPr>
          <p:spPr>
            <a:xfrm>
              <a:off x="6705600" y="1295400"/>
              <a:ext cx="838200" cy="381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dirty="0">
                  <a:solidFill>
                    <a:srgbClr val="006600"/>
                  </a:solidFill>
                </a:rPr>
                <a:t>0100</a:t>
              </a:r>
            </a:p>
          </p:txBody>
        </p:sp>
        <p:sp>
          <p:nvSpPr>
            <p:cNvPr id="110" name="Text Box 75">
              <a:extLst>
                <a:ext uri="{FF2B5EF4-FFF2-40B4-BE49-F238E27FC236}">
                  <a16:creationId xmlns:a16="http://schemas.microsoft.com/office/drawing/2014/main" id="{1C436AB2-65A7-47B1-A984-D266382BA4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9000" y="914400"/>
              <a:ext cx="726226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C00000"/>
                  </a:solidFill>
                  <a:latin typeface="+mn-lt"/>
                </a:rPr>
                <a:t>Tag</a:t>
              </a:r>
            </a:p>
          </p:txBody>
        </p:sp>
        <p:sp>
          <p:nvSpPr>
            <p:cNvPr id="111" name="Text Box 75">
              <a:extLst>
                <a:ext uri="{FF2B5EF4-FFF2-40B4-BE49-F238E27FC236}">
                  <a16:creationId xmlns:a16="http://schemas.microsoft.com/office/drawing/2014/main" id="{B5D4DA04-2759-4E95-9345-23DD0EE458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53200" y="914400"/>
              <a:ext cx="1066800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006600"/>
                  </a:solidFill>
                  <a:latin typeface="+mn-lt"/>
                </a:rPr>
                <a:t>Offset</a:t>
              </a: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0BAEB268-7595-4B11-BE85-B7EF92481650}"/>
                </a:ext>
              </a:extLst>
            </p:cNvPr>
            <p:cNvSpPr/>
            <p:nvPr/>
          </p:nvSpPr>
          <p:spPr>
            <a:xfrm>
              <a:off x="5105400" y="1295400"/>
              <a:ext cx="1600200" cy="381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dirty="0">
                  <a:solidFill>
                    <a:schemeClr val="accent6">
                      <a:lumMod val="50000"/>
                    </a:schemeClr>
                  </a:solidFill>
                </a:rPr>
                <a:t>0000000001</a:t>
              </a:r>
            </a:p>
          </p:txBody>
        </p:sp>
        <p:sp>
          <p:nvSpPr>
            <p:cNvPr id="113" name="Text Box 75">
              <a:extLst>
                <a:ext uri="{FF2B5EF4-FFF2-40B4-BE49-F238E27FC236}">
                  <a16:creationId xmlns:a16="http://schemas.microsoft.com/office/drawing/2014/main" id="{226367A3-BC7A-4DF9-8D7F-4DF639AF96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10200" y="914400"/>
              <a:ext cx="997177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6">
                      <a:lumMod val="50000"/>
                    </a:schemeClr>
                  </a:solidFill>
                  <a:latin typeface="+mn-lt"/>
                </a:rPr>
                <a:t>Index</a:t>
              </a:r>
            </a:p>
          </p:txBody>
        </p:sp>
      </p:grpSp>
      <p:sp>
        <p:nvSpPr>
          <p:cNvPr id="87" name="Left Arrow 86">
            <a:extLst>
              <a:ext uri="{FF2B5EF4-FFF2-40B4-BE49-F238E27FC236}">
                <a16:creationId xmlns:a16="http://schemas.microsoft.com/office/drawing/2014/main" id="{5AC761F4-F559-4D90-B686-FC74BA216C07}"/>
              </a:ext>
            </a:extLst>
          </p:cNvPr>
          <p:cNvSpPr/>
          <p:nvPr/>
        </p:nvSpPr>
        <p:spPr>
          <a:xfrm rot="5400000">
            <a:off x="7037141" y="1765717"/>
            <a:ext cx="228600" cy="304800"/>
          </a:xfrm>
          <a:prstGeom prst="leftArrow">
            <a:avLst/>
          </a:prstGeom>
          <a:solidFill>
            <a:srgbClr val="FF0000"/>
          </a:solidFill>
          <a:ln>
            <a:solidFill>
              <a:srgbClr val="66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E937AA5-84E7-4573-BD16-157B0C979505}"/>
              </a:ext>
            </a:extLst>
          </p:cNvPr>
          <p:cNvGrpSpPr/>
          <p:nvPr/>
        </p:nvGrpSpPr>
        <p:grpSpPr>
          <a:xfrm>
            <a:off x="152400" y="2482850"/>
            <a:ext cx="8686800" cy="3568700"/>
            <a:chOff x="152400" y="2482850"/>
            <a:chExt cx="8686800" cy="356870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600056CB-C885-4CBC-908B-A047CEBCDC9C}"/>
                </a:ext>
              </a:extLst>
            </p:cNvPr>
            <p:cNvGrpSpPr/>
            <p:nvPr/>
          </p:nvGrpSpPr>
          <p:grpSpPr>
            <a:xfrm>
              <a:off x="304800" y="2482850"/>
              <a:ext cx="8534400" cy="3568700"/>
              <a:chOff x="304800" y="2482850"/>
              <a:chExt cx="8534400" cy="3568700"/>
            </a:xfrm>
          </p:grpSpPr>
          <p:sp>
            <p:nvSpPr>
              <p:cNvPr id="103" name="Rectangle 12">
                <a:extLst>
                  <a:ext uri="{FF2B5EF4-FFF2-40B4-BE49-F238E27FC236}">
                    <a16:creationId xmlns:a16="http://schemas.microsoft.com/office/drawing/2014/main" id="{B145FEA4-161C-49EA-BACC-9636FB107E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3000" y="3276600"/>
                <a:ext cx="990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04" name="Rectangle 13">
                <a:extLst>
                  <a:ext uri="{FF2B5EF4-FFF2-40B4-BE49-F238E27FC236}">
                    <a16:creationId xmlns:a16="http://schemas.microsoft.com/office/drawing/2014/main" id="{D6F061BB-EE02-45F2-A957-68D8C1CA14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400" y="3276600"/>
                <a:ext cx="228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0</a:t>
                </a:r>
              </a:p>
            </p:txBody>
          </p:sp>
          <p:sp>
            <p:nvSpPr>
              <p:cNvPr id="106" name="Rectangle 14">
                <a:extLst>
                  <a:ext uri="{FF2B5EF4-FFF2-40B4-BE49-F238E27FC236}">
                    <a16:creationId xmlns:a16="http://schemas.microsoft.com/office/drawing/2014/main" id="{D1D3AF2A-7812-4C43-B517-4DE029E7D1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3600" y="32766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14" name="Rectangle 15">
                <a:extLst>
                  <a:ext uri="{FF2B5EF4-FFF2-40B4-BE49-F238E27FC236}">
                    <a16:creationId xmlns:a16="http://schemas.microsoft.com/office/drawing/2014/main" id="{71D3ECE2-E3BF-41AD-BC36-7D06258511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0000" y="32766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15" name="Rectangle 16">
                <a:extLst>
                  <a:ext uri="{FF2B5EF4-FFF2-40B4-BE49-F238E27FC236}">
                    <a16:creationId xmlns:a16="http://schemas.microsoft.com/office/drawing/2014/main" id="{CE36E9FA-B430-45A9-B429-341031B1D0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6400" y="32766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17" name="Rectangle 17">
                <a:extLst>
                  <a:ext uri="{FF2B5EF4-FFF2-40B4-BE49-F238E27FC236}">
                    <a16:creationId xmlns:a16="http://schemas.microsoft.com/office/drawing/2014/main" id="{8D044D16-8DF1-4891-9FA3-484244C4D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62800" y="32766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18" name="Rectangle 18">
                <a:extLst>
                  <a:ext uri="{FF2B5EF4-FFF2-40B4-BE49-F238E27FC236}">
                    <a16:creationId xmlns:a16="http://schemas.microsoft.com/office/drawing/2014/main" id="{FABF1531-0AB0-4D14-A667-CADA95FDDF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3000" y="3581400"/>
                <a:ext cx="990600" cy="304800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0</a:t>
                </a:r>
              </a:p>
            </p:txBody>
          </p:sp>
          <p:sp>
            <p:nvSpPr>
              <p:cNvPr id="119" name="Rectangle 19">
                <a:extLst>
                  <a:ext uri="{FF2B5EF4-FFF2-40B4-BE49-F238E27FC236}">
                    <a16:creationId xmlns:a16="http://schemas.microsoft.com/office/drawing/2014/main" id="{6007E558-4FC7-4606-93E1-D003959183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400" y="3581400"/>
                <a:ext cx="228600" cy="304800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1</a:t>
                </a:r>
              </a:p>
            </p:txBody>
          </p:sp>
          <p:sp>
            <p:nvSpPr>
              <p:cNvPr id="120" name="Rectangle 20">
                <a:extLst>
                  <a:ext uri="{FF2B5EF4-FFF2-40B4-BE49-F238E27FC236}">
                    <a16:creationId xmlns:a16="http://schemas.microsoft.com/office/drawing/2014/main" id="{712F6FF7-47CD-42B9-BC74-FC05D403A9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3600" y="3581400"/>
                <a:ext cx="1676400" cy="304800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A</a:t>
                </a:r>
              </a:p>
            </p:txBody>
          </p:sp>
          <p:sp>
            <p:nvSpPr>
              <p:cNvPr id="121" name="Rectangle 21">
                <a:extLst>
                  <a:ext uri="{FF2B5EF4-FFF2-40B4-BE49-F238E27FC236}">
                    <a16:creationId xmlns:a16="http://schemas.microsoft.com/office/drawing/2014/main" id="{9335F7A1-B98C-4E48-8473-A68477FCD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0000" y="3581400"/>
                <a:ext cx="1676400" cy="304800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B</a:t>
                </a:r>
              </a:p>
            </p:txBody>
          </p:sp>
          <p:sp>
            <p:nvSpPr>
              <p:cNvPr id="122" name="Rectangle 22">
                <a:extLst>
                  <a:ext uri="{FF2B5EF4-FFF2-40B4-BE49-F238E27FC236}">
                    <a16:creationId xmlns:a16="http://schemas.microsoft.com/office/drawing/2014/main" id="{37B53A77-4B6C-4328-896D-6BDE9BB54E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6400" y="3581400"/>
                <a:ext cx="1676400" cy="304800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C</a:t>
                </a:r>
              </a:p>
            </p:txBody>
          </p:sp>
          <p:sp>
            <p:nvSpPr>
              <p:cNvPr id="123" name="Rectangle 23">
                <a:extLst>
                  <a:ext uri="{FF2B5EF4-FFF2-40B4-BE49-F238E27FC236}">
                    <a16:creationId xmlns:a16="http://schemas.microsoft.com/office/drawing/2014/main" id="{51D39A61-2614-44C5-810B-36E7C9E67C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62800" y="3581400"/>
                <a:ext cx="1676400" cy="304800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D</a:t>
                </a:r>
              </a:p>
            </p:txBody>
          </p:sp>
          <p:sp>
            <p:nvSpPr>
              <p:cNvPr id="124" name="Rectangle 24">
                <a:extLst>
                  <a:ext uri="{FF2B5EF4-FFF2-40B4-BE49-F238E27FC236}">
                    <a16:creationId xmlns:a16="http://schemas.microsoft.com/office/drawing/2014/main" id="{1E5FF318-2EF8-4DDA-8409-D6327A77A3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3000" y="3886200"/>
                <a:ext cx="990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25" name="Rectangle 25">
                <a:extLst>
                  <a:ext uri="{FF2B5EF4-FFF2-40B4-BE49-F238E27FC236}">
                    <a16:creationId xmlns:a16="http://schemas.microsoft.com/office/drawing/2014/main" id="{A13CDAA0-16EC-417C-B4F8-FA58B2F7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400" y="3886200"/>
                <a:ext cx="228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0</a:t>
                </a:r>
              </a:p>
            </p:txBody>
          </p:sp>
          <p:sp>
            <p:nvSpPr>
              <p:cNvPr id="126" name="Rectangle 26">
                <a:extLst>
                  <a:ext uri="{FF2B5EF4-FFF2-40B4-BE49-F238E27FC236}">
                    <a16:creationId xmlns:a16="http://schemas.microsoft.com/office/drawing/2014/main" id="{F403507A-0E1E-489A-89D1-B038EDDF76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3600" y="38862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27" name="Rectangle 27">
                <a:extLst>
                  <a:ext uri="{FF2B5EF4-FFF2-40B4-BE49-F238E27FC236}">
                    <a16:creationId xmlns:a16="http://schemas.microsoft.com/office/drawing/2014/main" id="{D5540AE2-0137-4708-99DC-9AA253963D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0000" y="38862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28" name="Rectangle 28">
                <a:extLst>
                  <a:ext uri="{FF2B5EF4-FFF2-40B4-BE49-F238E27FC236}">
                    <a16:creationId xmlns:a16="http://schemas.microsoft.com/office/drawing/2014/main" id="{7B6FE451-15AE-4A94-A507-ED474958EB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6400" y="38862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29" name="Rectangle 29">
                <a:extLst>
                  <a:ext uri="{FF2B5EF4-FFF2-40B4-BE49-F238E27FC236}">
                    <a16:creationId xmlns:a16="http://schemas.microsoft.com/office/drawing/2014/main" id="{B2B2652B-CC40-49B0-8C6B-9BB6D6C718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62800" y="38862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30" name="Rectangle 30">
                <a:extLst>
                  <a:ext uri="{FF2B5EF4-FFF2-40B4-BE49-F238E27FC236}">
                    <a16:creationId xmlns:a16="http://schemas.microsoft.com/office/drawing/2014/main" id="{B52E327D-81D7-48FC-A580-08D91A927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3000" y="4191000"/>
                <a:ext cx="990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31" name="Rectangle 31">
                <a:extLst>
                  <a:ext uri="{FF2B5EF4-FFF2-40B4-BE49-F238E27FC236}">
                    <a16:creationId xmlns:a16="http://schemas.microsoft.com/office/drawing/2014/main" id="{96DD3725-6D89-41A5-8BE9-9C3EADF6EB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400" y="4191000"/>
                <a:ext cx="228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0</a:t>
                </a:r>
              </a:p>
            </p:txBody>
          </p:sp>
          <p:sp>
            <p:nvSpPr>
              <p:cNvPr id="132" name="Rectangle 32">
                <a:extLst>
                  <a:ext uri="{FF2B5EF4-FFF2-40B4-BE49-F238E27FC236}">
                    <a16:creationId xmlns:a16="http://schemas.microsoft.com/office/drawing/2014/main" id="{E7F6A94F-E689-4858-8C8C-8A22203A10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3600" y="41910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33" name="Rectangle 33">
                <a:extLst>
                  <a:ext uri="{FF2B5EF4-FFF2-40B4-BE49-F238E27FC236}">
                    <a16:creationId xmlns:a16="http://schemas.microsoft.com/office/drawing/2014/main" id="{0E5BD2EE-35F8-4F78-B2D8-02FEE1A961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0000" y="41910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34" name="Rectangle 34">
                <a:extLst>
                  <a:ext uri="{FF2B5EF4-FFF2-40B4-BE49-F238E27FC236}">
                    <a16:creationId xmlns:a16="http://schemas.microsoft.com/office/drawing/2014/main" id="{B0634A88-DE4E-4D51-9F07-BA2B57F55B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6400" y="41910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35" name="Rectangle 35">
                <a:extLst>
                  <a:ext uri="{FF2B5EF4-FFF2-40B4-BE49-F238E27FC236}">
                    <a16:creationId xmlns:a16="http://schemas.microsoft.com/office/drawing/2014/main" id="{7731F9E3-4DE2-4E7E-BA51-4B001765A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62800" y="41910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36" name="Rectangle 36">
                <a:extLst>
                  <a:ext uri="{FF2B5EF4-FFF2-40B4-BE49-F238E27FC236}">
                    <a16:creationId xmlns:a16="http://schemas.microsoft.com/office/drawing/2014/main" id="{5E75CF91-ED93-403F-9EBA-EF54D4975D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3000" y="4495800"/>
                <a:ext cx="990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37" name="Rectangle 37">
                <a:extLst>
                  <a:ext uri="{FF2B5EF4-FFF2-40B4-BE49-F238E27FC236}">
                    <a16:creationId xmlns:a16="http://schemas.microsoft.com/office/drawing/2014/main" id="{3A3CC617-E19E-45B4-ACDC-3E35C5681C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400" y="4495800"/>
                <a:ext cx="228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0</a:t>
                </a:r>
              </a:p>
            </p:txBody>
          </p:sp>
          <p:sp>
            <p:nvSpPr>
              <p:cNvPr id="138" name="Rectangle 38">
                <a:extLst>
                  <a:ext uri="{FF2B5EF4-FFF2-40B4-BE49-F238E27FC236}">
                    <a16:creationId xmlns:a16="http://schemas.microsoft.com/office/drawing/2014/main" id="{EE2D5E62-D865-4B75-9403-19E8D7AF48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3600" y="44958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39" name="Rectangle 39">
                <a:extLst>
                  <a:ext uri="{FF2B5EF4-FFF2-40B4-BE49-F238E27FC236}">
                    <a16:creationId xmlns:a16="http://schemas.microsoft.com/office/drawing/2014/main" id="{22FC60D9-C2B6-4983-9C13-0252D29709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0000" y="44958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40" name="Rectangle 40">
                <a:extLst>
                  <a:ext uri="{FF2B5EF4-FFF2-40B4-BE49-F238E27FC236}">
                    <a16:creationId xmlns:a16="http://schemas.microsoft.com/office/drawing/2014/main" id="{A2012475-EEC6-48A7-9BCB-9CF63DA4DC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6400" y="44958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41" name="Rectangle 41">
                <a:extLst>
                  <a:ext uri="{FF2B5EF4-FFF2-40B4-BE49-F238E27FC236}">
                    <a16:creationId xmlns:a16="http://schemas.microsoft.com/office/drawing/2014/main" id="{17AB8261-BC7E-4D5F-B129-66B8C69C0A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62800" y="44958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42" name="Rectangle 42">
                <a:extLst>
                  <a:ext uri="{FF2B5EF4-FFF2-40B4-BE49-F238E27FC236}">
                    <a16:creationId xmlns:a16="http://schemas.microsoft.com/office/drawing/2014/main" id="{06F0B933-53D2-472A-A09F-0C0A257D7F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3000" y="4800600"/>
                <a:ext cx="990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43" name="Rectangle 43">
                <a:extLst>
                  <a:ext uri="{FF2B5EF4-FFF2-40B4-BE49-F238E27FC236}">
                    <a16:creationId xmlns:a16="http://schemas.microsoft.com/office/drawing/2014/main" id="{E152B7F9-71A1-47AD-BAC1-3E596A7424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400" y="4800600"/>
                <a:ext cx="228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0</a:t>
                </a:r>
              </a:p>
            </p:txBody>
          </p:sp>
          <p:sp>
            <p:nvSpPr>
              <p:cNvPr id="144" name="Rectangle 44">
                <a:extLst>
                  <a:ext uri="{FF2B5EF4-FFF2-40B4-BE49-F238E27FC236}">
                    <a16:creationId xmlns:a16="http://schemas.microsoft.com/office/drawing/2014/main" id="{A02F1FCD-094E-41D2-8334-3FD5941D7F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3600" y="48006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45" name="Rectangle 45">
                <a:extLst>
                  <a:ext uri="{FF2B5EF4-FFF2-40B4-BE49-F238E27FC236}">
                    <a16:creationId xmlns:a16="http://schemas.microsoft.com/office/drawing/2014/main" id="{1354137D-A3A0-454C-A452-584839D8DB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0000" y="48006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46" name="Rectangle 46">
                <a:extLst>
                  <a:ext uri="{FF2B5EF4-FFF2-40B4-BE49-F238E27FC236}">
                    <a16:creationId xmlns:a16="http://schemas.microsoft.com/office/drawing/2014/main" id="{D75AB377-8CE9-49A4-9263-6EF13802CB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6400" y="48006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47" name="Rectangle 47">
                <a:extLst>
                  <a:ext uri="{FF2B5EF4-FFF2-40B4-BE49-F238E27FC236}">
                    <a16:creationId xmlns:a16="http://schemas.microsoft.com/office/drawing/2014/main" id="{BEEF1CEA-7ACD-4475-9BFB-D33554F591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62800" y="48006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48" name="Rectangle 48">
                <a:extLst>
                  <a:ext uri="{FF2B5EF4-FFF2-40B4-BE49-F238E27FC236}">
                    <a16:creationId xmlns:a16="http://schemas.microsoft.com/office/drawing/2014/main" id="{A83D5556-A35F-4365-A545-B770A26A3E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3000" y="5410200"/>
                <a:ext cx="990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49" name="Rectangle 49">
                <a:extLst>
                  <a:ext uri="{FF2B5EF4-FFF2-40B4-BE49-F238E27FC236}">
                    <a16:creationId xmlns:a16="http://schemas.microsoft.com/office/drawing/2014/main" id="{915EC05A-0D56-4901-B378-94D01B2500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400" y="5410200"/>
                <a:ext cx="228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0</a:t>
                </a:r>
              </a:p>
            </p:txBody>
          </p:sp>
          <p:sp>
            <p:nvSpPr>
              <p:cNvPr id="150" name="Rectangle 50">
                <a:extLst>
                  <a:ext uri="{FF2B5EF4-FFF2-40B4-BE49-F238E27FC236}">
                    <a16:creationId xmlns:a16="http://schemas.microsoft.com/office/drawing/2014/main" id="{B9C9490C-E22B-40EC-94BE-94A349AA23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3600" y="54102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51" name="Rectangle 51">
                <a:extLst>
                  <a:ext uri="{FF2B5EF4-FFF2-40B4-BE49-F238E27FC236}">
                    <a16:creationId xmlns:a16="http://schemas.microsoft.com/office/drawing/2014/main" id="{8AF5D80A-08C7-4E73-A088-1AC8753AD9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0000" y="54102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52" name="Rectangle 52">
                <a:extLst>
                  <a:ext uri="{FF2B5EF4-FFF2-40B4-BE49-F238E27FC236}">
                    <a16:creationId xmlns:a16="http://schemas.microsoft.com/office/drawing/2014/main" id="{42E9DFB2-4F32-4C37-9CB5-8BB1FF6ED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6400" y="54102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53" name="Rectangle 53">
                <a:extLst>
                  <a:ext uri="{FF2B5EF4-FFF2-40B4-BE49-F238E27FC236}">
                    <a16:creationId xmlns:a16="http://schemas.microsoft.com/office/drawing/2014/main" id="{D8A8461E-C4C0-4C0A-A682-B0935A6F7D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62800" y="54102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54" name="Rectangle 54">
                <a:extLst>
                  <a:ext uri="{FF2B5EF4-FFF2-40B4-BE49-F238E27FC236}">
                    <a16:creationId xmlns:a16="http://schemas.microsoft.com/office/drawing/2014/main" id="{B5470C8D-CBE8-4986-B5B7-D33EB43F4A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3000" y="5715000"/>
                <a:ext cx="990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55" name="Rectangle 55">
                <a:extLst>
                  <a:ext uri="{FF2B5EF4-FFF2-40B4-BE49-F238E27FC236}">
                    <a16:creationId xmlns:a16="http://schemas.microsoft.com/office/drawing/2014/main" id="{179C9D65-ED8D-4270-96DB-0166B37CC6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400" y="5715000"/>
                <a:ext cx="228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0</a:t>
                </a:r>
              </a:p>
            </p:txBody>
          </p:sp>
          <p:sp>
            <p:nvSpPr>
              <p:cNvPr id="156" name="Rectangle 56">
                <a:extLst>
                  <a:ext uri="{FF2B5EF4-FFF2-40B4-BE49-F238E27FC236}">
                    <a16:creationId xmlns:a16="http://schemas.microsoft.com/office/drawing/2014/main" id="{8FA3F269-F6F9-4D8C-BD50-834B9C1C2D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3600" y="57150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57" name="Rectangle 57">
                <a:extLst>
                  <a:ext uri="{FF2B5EF4-FFF2-40B4-BE49-F238E27FC236}">
                    <a16:creationId xmlns:a16="http://schemas.microsoft.com/office/drawing/2014/main" id="{B2736331-EA8C-4D2B-911F-2C47F8E08F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0000" y="57150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58" name="Rectangle 58">
                <a:extLst>
                  <a:ext uri="{FF2B5EF4-FFF2-40B4-BE49-F238E27FC236}">
                    <a16:creationId xmlns:a16="http://schemas.microsoft.com/office/drawing/2014/main" id="{475E4477-D818-4539-8C43-16264999F3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6400" y="57150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59" name="Rectangle 59">
                <a:extLst>
                  <a:ext uri="{FF2B5EF4-FFF2-40B4-BE49-F238E27FC236}">
                    <a16:creationId xmlns:a16="http://schemas.microsoft.com/office/drawing/2014/main" id="{EB6C6119-1E77-419C-842F-D757461A5E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62800" y="57150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60" name="Text Box 60">
                <a:extLst>
                  <a:ext uri="{FF2B5EF4-FFF2-40B4-BE49-F238E27FC236}">
                    <a16:creationId xmlns:a16="http://schemas.microsoft.com/office/drawing/2014/main" id="{E179067C-A457-4C72-A7A6-678A56BD556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86000" y="4960203"/>
                <a:ext cx="5029200" cy="738664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eaLnBrk="0" hangingPunct="0"/>
                <a:r>
                  <a:rPr lang="en-US" sz="2400" b="1" dirty="0">
                    <a:latin typeface="+mn-lt"/>
                  </a:rPr>
                  <a:t>...    </a:t>
                </a:r>
                <a:r>
                  <a:rPr lang="en-US" sz="2400" b="1" dirty="0"/>
                  <a:t>...    ...    …   …   …   …   …</a:t>
                </a:r>
                <a:endParaRPr lang="en-US" sz="2400" dirty="0"/>
              </a:p>
              <a:p>
                <a:pPr eaLnBrk="0" hangingPunct="0"/>
                <a:endParaRPr lang="en-US" dirty="0"/>
              </a:p>
            </p:txBody>
          </p:sp>
          <p:sp>
            <p:nvSpPr>
              <p:cNvPr id="161" name="Text Box 61">
                <a:extLst>
                  <a:ext uri="{FF2B5EF4-FFF2-40B4-BE49-F238E27FC236}">
                    <a16:creationId xmlns:a16="http://schemas.microsoft.com/office/drawing/2014/main" id="{F763934D-8464-44E6-95BB-5DDCFBB26C4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3400" y="3276600"/>
                <a:ext cx="307975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dirty="0">
                    <a:latin typeface="+mn-lt"/>
                  </a:rPr>
                  <a:t>0</a:t>
                </a:r>
              </a:p>
            </p:txBody>
          </p:sp>
          <p:sp>
            <p:nvSpPr>
              <p:cNvPr id="162" name="Text Box 62">
                <a:extLst>
                  <a:ext uri="{FF2B5EF4-FFF2-40B4-BE49-F238E27FC236}">
                    <a16:creationId xmlns:a16="http://schemas.microsoft.com/office/drawing/2014/main" id="{05FF7976-56BD-4E07-8B19-D92729B10FA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2273" y="3581400"/>
                <a:ext cx="298480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>
                    <a:latin typeface="+mn-lt"/>
                  </a:rPr>
                  <a:t>1</a:t>
                </a:r>
              </a:p>
            </p:txBody>
          </p:sp>
          <p:sp>
            <p:nvSpPr>
              <p:cNvPr id="163" name="Text Box 63">
                <a:extLst>
                  <a:ext uri="{FF2B5EF4-FFF2-40B4-BE49-F238E27FC236}">
                    <a16:creationId xmlns:a16="http://schemas.microsoft.com/office/drawing/2014/main" id="{02B3F9D3-4E0C-4870-82B0-814473BAF5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3400" y="3886200"/>
                <a:ext cx="307975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>
                    <a:latin typeface="+mn-lt"/>
                  </a:rPr>
                  <a:t>2</a:t>
                </a:r>
              </a:p>
            </p:txBody>
          </p:sp>
          <p:sp>
            <p:nvSpPr>
              <p:cNvPr id="164" name="Text Box 64">
                <a:extLst>
                  <a:ext uri="{FF2B5EF4-FFF2-40B4-BE49-F238E27FC236}">
                    <a16:creationId xmlns:a16="http://schemas.microsoft.com/office/drawing/2014/main" id="{AAE54627-1E3C-4D28-AB1B-627CD71AF10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3400" y="4191000"/>
                <a:ext cx="307975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>
                    <a:latin typeface="+mn-lt"/>
                  </a:rPr>
                  <a:t>3</a:t>
                </a:r>
              </a:p>
            </p:txBody>
          </p:sp>
          <p:sp>
            <p:nvSpPr>
              <p:cNvPr id="165" name="Text Box 65">
                <a:extLst>
                  <a:ext uri="{FF2B5EF4-FFF2-40B4-BE49-F238E27FC236}">
                    <a16:creationId xmlns:a16="http://schemas.microsoft.com/office/drawing/2014/main" id="{1692934C-576B-4EF6-967D-07BAA00B65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3400" y="4495800"/>
                <a:ext cx="307975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>
                    <a:latin typeface="+mn-lt"/>
                  </a:rPr>
                  <a:t>4</a:t>
                </a:r>
              </a:p>
            </p:txBody>
          </p:sp>
          <p:sp>
            <p:nvSpPr>
              <p:cNvPr id="166" name="Text Box 66">
                <a:extLst>
                  <a:ext uri="{FF2B5EF4-FFF2-40B4-BE49-F238E27FC236}">
                    <a16:creationId xmlns:a16="http://schemas.microsoft.com/office/drawing/2014/main" id="{04CC81B6-FBEE-4BA7-B273-C04E325089B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3400" y="4800600"/>
                <a:ext cx="307975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>
                    <a:latin typeface="+mn-lt"/>
                  </a:rPr>
                  <a:t>5</a:t>
                </a:r>
              </a:p>
            </p:txBody>
          </p:sp>
          <p:sp>
            <p:nvSpPr>
              <p:cNvPr id="167" name="Text Box 67">
                <a:extLst>
                  <a:ext uri="{FF2B5EF4-FFF2-40B4-BE49-F238E27FC236}">
                    <a16:creationId xmlns:a16="http://schemas.microsoft.com/office/drawing/2014/main" id="{2F255B41-C836-4883-B5D0-19B1FFEBA71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4800" y="5410200"/>
                <a:ext cx="647700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>
                    <a:latin typeface="+mn-lt"/>
                  </a:rPr>
                  <a:t>1022</a:t>
                </a:r>
              </a:p>
            </p:txBody>
          </p:sp>
          <p:sp>
            <p:nvSpPr>
              <p:cNvPr id="168" name="Text Box 68">
                <a:extLst>
                  <a:ext uri="{FF2B5EF4-FFF2-40B4-BE49-F238E27FC236}">
                    <a16:creationId xmlns:a16="http://schemas.microsoft.com/office/drawing/2014/main" id="{3CC72AEA-E6AA-49CD-BD53-8ECEF01CE13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4800" y="5715000"/>
                <a:ext cx="647700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>
                    <a:latin typeface="+mn-lt"/>
                  </a:rPr>
                  <a:t>1023</a:t>
                </a:r>
              </a:p>
            </p:txBody>
          </p:sp>
          <p:sp>
            <p:nvSpPr>
              <p:cNvPr id="169" name="Text Box 70">
                <a:extLst>
                  <a:ext uri="{FF2B5EF4-FFF2-40B4-BE49-F238E27FC236}">
                    <a16:creationId xmlns:a16="http://schemas.microsoft.com/office/drawing/2014/main" id="{CC294C67-ADC5-4981-AB79-4E42E2F4DA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56314" y="2971800"/>
                <a:ext cx="663836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 dirty="0">
                    <a:latin typeface="+mn-lt"/>
                  </a:rPr>
                  <a:t>Valid</a:t>
                </a:r>
              </a:p>
            </p:txBody>
          </p:sp>
          <p:sp>
            <p:nvSpPr>
              <p:cNvPr id="170" name="Text Box 71">
                <a:extLst>
                  <a:ext uri="{FF2B5EF4-FFF2-40B4-BE49-F238E27FC236}">
                    <a16:creationId xmlns:a16="http://schemas.microsoft.com/office/drawing/2014/main" id="{D8BB064E-21F1-496B-BBCD-F3EC1EC6712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47800" y="2971800"/>
                <a:ext cx="534988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 dirty="0">
                    <a:latin typeface="+mn-lt"/>
                  </a:rPr>
                  <a:t>Tag</a:t>
                </a:r>
              </a:p>
            </p:txBody>
          </p:sp>
          <p:grpSp>
            <p:nvGrpSpPr>
              <p:cNvPr id="171" name="Group 170">
                <a:extLst>
                  <a:ext uri="{FF2B5EF4-FFF2-40B4-BE49-F238E27FC236}">
                    <a16:creationId xmlns:a16="http://schemas.microsoft.com/office/drawing/2014/main" id="{3A232E08-38B7-453E-9029-80D2FC9ADBC1}"/>
                  </a:ext>
                </a:extLst>
              </p:cNvPr>
              <p:cNvGrpSpPr/>
              <p:nvPr/>
            </p:nvGrpSpPr>
            <p:grpSpPr>
              <a:xfrm>
                <a:off x="2133600" y="2482850"/>
                <a:ext cx="6629400" cy="336550"/>
                <a:chOff x="2209800" y="2438400"/>
                <a:chExt cx="6629400" cy="336550"/>
              </a:xfrm>
            </p:grpSpPr>
            <p:sp>
              <p:nvSpPr>
                <p:cNvPr id="172" name="Text Box 72">
                  <a:extLst>
                    <a:ext uri="{FF2B5EF4-FFF2-40B4-BE49-F238E27FC236}">
                      <a16:creationId xmlns:a16="http://schemas.microsoft.com/office/drawing/2014/main" id="{4FBB43BF-77A0-4C7E-97B9-E81A3F51357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648200" y="2438400"/>
                  <a:ext cx="635000" cy="336550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sz="1600" b="1" dirty="0">
                      <a:latin typeface="+mn-lt"/>
                    </a:rPr>
                    <a:t>Data</a:t>
                  </a:r>
                </a:p>
              </p:txBody>
            </p:sp>
            <p:sp>
              <p:nvSpPr>
                <p:cNvPr id="173" name="Line 73">
                  <a:extLst>
                    <a:ext uri="{FF2B5EF4-FFF2-40B4-BE49-F238E27FC236}">
                      <a16:creationId xmlns:a16="http://schemas.microsoft.com/office/drawing/2014/main" id="{FCEC574D-2840-4272-8295-4AFF43A51E0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209800" y="2590800"/>
                  <a:ext cx="243840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>
                  <a:spAutoFit/>
                </a:bodyPr>
                <a:lstStyle/>
                <a:p>
                  <a:endParaRPr lang="en-US">
                    <a:latin typeface="+mn-lt"/>
                  </a:endParaRPr>
                </a:p>
              </p:txBody>
            </p:sp>
            <p:sp>
              <p:nvSpPr>
                <p:cNvPr id="174" name="Line 74">
                  <a:extLst>
                    <a:ext uri="{FF2B5EF4-FFF2-40B4-BE49-F238E27FC236}">
                      <a16:creationId xmlns:a16="http://schemas.microsoft.com/office/drawing/2014/main" id="{642500F6-AB56-445B-86D1-5A2D13E4579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57800" y="2590800"/>
                  <a:ext cx="358140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 wrap="none">
                  <a:spAutoFit/>
                </a:bodyPr>
                <a:lstStyle/>
                <a:p>
                  <a:endParaRPr lang="en-US">
                    <a:latin typeface="+mn-lt"/>
                  </a:endParaRPr>
                </a:p>
              </p:txBody>
            </p:sp>
          </p:grpSp>
          <p:sp>
            <p:nvSpPr>
              <p:cNvPr id="175" name="Text Box 75">
                <a:extLst>
                  <a:ext uri="{FF2B5EF4-FFF2-40B4-BE49-F238E27FC236}">
                    <a16:creationId xmlns:a16="http://schemas.microsoft.com/office/drawing/2014/main" id="{A57F1217-E125-40D2-9C64-0624C19AB66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44072" y="2743200"/>
                <a:ext cx="818942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 dirty="0">
                    <a:latin typeface="+mn-lt"/>
                  </a:rPr>
                  <a:t>Word0</a:t>
                </a:r>
              </a:p>
            </p:txBody>
          </p:sp>
          <p:sp>
            <p:nvSpPr>
              <p:cNvPr id="176" name="Text Box 76">
                <a:extLst>
                  <a:ext uri="{FF2B5EF4-FFF2-40B4-BE49-F238E27FC236}">
                    <a16:creationId xmlns:a16="http://schemas.microsoft.com/office/drawing/2014/main" id="{AFF67471-2366-4D26-B9FF-2AD96183BB9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60862" y="2743200"/>
                <a:ext cx="811213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 dirty="0">
                    <a:latin typeface="+mn-lt"/>
                  </a:rPr>
                  <a:t>Word1</a:t>
                </a:r>
              </a:p>
            </p:txBody>
          </p:sp>
          <p:sp>
            <p:nvSpPr>
              <p:cNvPr id="177" name="Text Box 77">
                <a:extLst>
                  <a:ext uri="{FF2B5EF4-FFF2-40B4-BE49-F238E27FC236}">
                    <a16:creationId xmlns:a16="http://schemas.microsoft.com/office/drawing/2014/main" id="{A385F1F8-BC56-4A10-A6BB-F0634E191AB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49272" y="2743200"/>
                <a:ext cx="818942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 dirty="0">
                    <a:latin typeface="+mn-lt"/>
                  </a:rPr>
                  <a:t>Word2</a:t>
                </a:r>
              </a:p>
            </p:txBody>
          </p:sp>
          <p:sp>
            <p:nvSpPr>
              <p:cNvPr id="178" name="Text Box 78">
                <a:extLst>
                  <a:ext uri="{FF2B5EF4-FFF2-40B4-BE49-F238E27FC236}">
                    <a16:creationId xmlns:a16="http://schemas.microsoft.com/office/drawing/2014/main" id="{45589EB9-883C-4B88-9B41-641DA71F91F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49472" y="2743200"/>
                <a:ext cx="818942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 dirty="0">
                    <a:latin typeface="+mn-lt"/>
                  </a:rPr>
                  <a:t>Word3</a:t>
                </a:r>
              </a:p>
            </p:txBody>
          </p:sp>
          <p:sp>
            <p:nvSpPr>
              <p:cNvPr id="179" name="Text Box 79">
                <a:extLst>
                  <a:ext uri="{FF2B5EF4-FFF2-40B4-BE49-F238E27FC236}">
                    <a16:creationId xmlns:a16="http://schemas.microsoft.com/office/drawing/2014/main" id="{F5A18A55-8132-4A57-BF25-F1AD8886F40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08548" y="2971800"/>
                <a:ext cx="1051891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dirty="0">
                    <a:latin typeface="+mn-lt"/>
                  </a:rPr>
                  <a:t>Bytes 0-3</a:t>
                </a:r>
              </a:p>
            </p:txBody>
          </p:sp>
          <p:sp>
            <p:nvSpPr>
              <p:cNvPr id="180" name="Text Box 80">
                <a:extLst>
                  <a:ext uri="{FF2B5EF4-FFF2-40B4-BE49-F238E27FC236}">
                    <a16:creationId xmlns:a16="http://schemas.microsoft.com/office/drawing/2014/main" id="{D8B0617E-403B-435C-9D5C-251D506658A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37348" y="2971800"/>
                <a:ext cx="1051891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dirty="0">
                    <a:latin typeface="+mn-lt"/>
                  </a:rPr>
                  <a:t>Bytes 4-7</a:t>
                </a:r>
              </a:p>
            </p:txBody>
          </p:sp>
          <p:sp>
            <p:nvSpPr>
              <p:cNvPr id="181" name="Text Box 81">
                <a:extLst>
                  <a:ext uri="{FF2B5EF4-FFF2-40B4-BE49-F238E27FC236}">
                    <a16:creationId xmlns:a16="http://schemas.microsoft.com/office/drawing/2014/main" id="{5AEA3639-604E-4BC6-8CBB-1BFD18FD781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48597" y="2971800"/>
                <a:ext cx="1150444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dirty="0">
                    <a:latin typeface="+mn-lt"/>
                  </a:rPr>
                  <a:t>Bytes 8-11</a:t>
                </a:r>
              </a:p>
            </p:txBody>
          </p:sp>
          <p:sp>
            <p:nvSpPr>
              <p:cNvPr id="182" name="Text Box 82">
                <a:extLst>
                  <a:ext uri="{FF2B5EF4-FFF2-40B4-BE49-F238E27FC236}">
                    <a16:creationId xmlns:a16="http://schemas.microsoft.com/office/drawing/2014/main" id="{D91310A5-BB51-4036-BB85-C14078F6E3D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46173" y="2971800"/>
                <a:ext cx="1279517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dirty="0">
                    <a:latin typeface="+mn-lt"/>
                  </a:rPr>
                  <a:t>Bytes 12-15</a:t>
                </a:r>
              </a:p>
            </p:txBody>
          </p:sp>
        </p:grpSp>
        <p:sp>
          <p:nvSpPr>
            <p:cNvPr id="89" name="Text Box 69">
              <a:extLst>
                <a:ext uri="{FF2B5EF4-FFF2-40B4-BE49-F238E27FC236}">
                  <a16:creationId xmlns:a16="http://schemas.microsoft.com/office/drawing/2014/main" id="{D95DBEB1-17F0-48B4-83E3-14D152F192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400" y="2971800"/>
              <a:ext cx="720069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latin typeface="+mn-lt"/>
                </a:rPr>
                <a:t>Index</a:t>
              </a:r>
            </a:p>
          </p:txBody>
        </p:sp>
      </p:grpSp>
      <p:sp>
        <p:nvSpPr>
          <p:cNvPr id="88" name="Oval 87">
            <a:extLst>
              <a:ext uri="{FF2B5EF4-FFF2-40B4-BE49-F238E27FC236}">
                <a16:creationId xmlns:a16="http://schemas.microsoft.com/office/drawing/2014/main" id="{6B9D5B31-6C8F-478C-9B79-1B416481D2E2}"/>
              </a:ext>
            </a:extLst>
          </p:cNvPr>
          <p:cNvSpPr/>
          <p:nvPr/>
        </p:nvSpPr>
        <p:spPr>
          <a:xfrm>
            <a:off x="3810000" y="3492499"/>
            <a:ext cx="1676400" cy="457200"/>
          </a:xfrm>
          <a:prstGeom prst="ellipse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25251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 animBg="1"/>
      <p:bldP spid="8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5. Reading Data: </a:t>
            </a:r>
            <a:r>
              <a:rPr lang="en-GB" sz="3600" b="1" dirty="0">
                <a:solidFill>
                  <a:srgbClr val="0000FF"/>
                </a:solidFill>
              </a:rPr>
              <a:t>Load #2-1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#22: Cache I: Direct Mapped Cache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38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05" name="Content Placeholder 2">
            <a:extLst>
              <a:ext uri="{FF2B5EF4-FFF2-40B4-BE49-F238E27FC236}">
                <a16:creationId xmlns:a16="http://schemas.microsoft.com/office/drawing/2014/main" id="{F42D869D-777C-4A19-87AD-D73DCB7B3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789" y="1463676"/>
            <a:ext cx="8229600" cy="958849"/>
          </a:xfrm>
        </p:spPr>
        <p:txBody>
          <a:bodyPr>
            <a:normAutofit/>
          </a:bodyPr>
          <a:lstStyle/>
          <a:p>
            <a:pPr marL="265113" indent="-265113">
              <a:buSzPct val="100000"/>
              <a:buFont typeface="Wingdings" panose="05000000000000000000" pitchFamily="2" charset="2"/>
              <a:buChar char="§"/>
            </a:pPr>
            <a:r>
              <a:rPr lang="en-SG" sz="2400" dirty="0"/>
              <a:t>Load from</a:t>
            </a:r>
            <a:endParaRPr lang="en-SG" sz="2200" dirty="0"/>
          </a:p>
          <a:p>
            <a:pPr>
              <a:buNone/>
            </a:pPr>
            <a:r>
              <a:rPr lang="en-US" b="1" dirty="0"/>
              <a:t>Step 1</a:t>
            </a:r>
            <a:r>
              <a:rPr lang="en-US" dirty="0"/>
              <a:t>.</a:t>
            </a:r>
            <a:r>
              <a:rPr lang="en-US" sz="2200" dirty="0"/>
              <a:t> Check Cache Block at index </a:t>
            </a:r>
            <a:r>
              <a:rPr lang="en-US" sz="2200" b="1" dirty="0"/>
              <a:t>1</a:t>
            </a:r>
            <a:endParaRPr lang="en-SG" sz="2200" b="1" dirty="0">
              <a:solidFill>
                <a:srgbClr val="660066"/>
              </a:solidFill>
            </a:endParaRP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F79D12AF-480C-4552-88AA-23103501BE5B}"/>
              </a:ext>
            </a:extLst>
          </p:cNvPr>
          <p:cNvGrpSpPr/>
          <p:nvPr/>
        </p:nvGrpSpPr>
        <p:grpSpPr>
          <a:xfrm>
            <a:off x="2362201" y="1095376"/>
            <a:ext cx="5257799" cy="762000"/>
            <a:chOff x="2362201" y="914400"/>
            <a:chExt cx="5257799" cy="762000"/>
          </a:xfrm>
        </p:grpSpPr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3ADEB99F-7526-4800-93FB-68071C373046}"/>
                </a:ext>
              </a:extLst>
            </p:cNvPr>
            <p:cNvSpPr/>
            <p:nvPr/>
          </p:nvSpPr>
          <p:spPr>
            <a:xfrm>
              <a:off x="2362201" y="1295400"/>
              <a:ext cx="2743199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dirty="0">
                  <a:solidFill>
                    <a:srgbClr val="C00000"/>
                  </a:solidFill>
                </a:rPr>
                <a:t>000000000000000000</a:t>
              </a: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63F33081-71DE-4216-A404-17AFE49F1B46}"/>
                </a:ext>
              </a:extLst>
            </p:cNvPr>
            <p:cNvSpPr/>
            <p:nvPr/>
          </p:nvSpPr>
          <p:spPr>
            <a:xfrm>
              <a:off x="6705600" y="1295400"/>
              <a:ext cx="838200" cy="381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dirty="0">
                  <a:solidFill>
                    <a:srgbClr val="006600"/>
                  </a:solidFill>
                </a:rPr>
                <a:t>1100</a:t>
              </a:r>
            </a:p>
          </p:txBody>
        </p:sp>
        <p:sp>
          <p:nvSpPr>
            <p:cNvPr id="110" name="Text Box 75">
              <a:extLst>
                <a:ext uri="{FF2B5EF4-FFF2-40B4-BE49-F238E27FC236}">
                  <a16:creationId xmlns:a16="http://schemas.microsoft.com/office/drawing/2014/main" id="{1C436AB2-65A7-47B1-A984-D266382BA4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9000" y="914400"/>
              <a:ext cx="726226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C00000"/>
                  </a:solidFill>
                  <a:latin typeface="+mn-lt"/>
                </a:rPr>
                <a:t>Tag</a:t>
              </a:r>
            </a:p>
          </p:txBody>
        </p:sp>
        <p:sp>
          <p:nvSpPr>
            <p:cNvPr id="111" name="Text Box 75">
              <a:extLst>
                <a:ext uri="{FF2B5EF4-FFF2-40B4-BE49-F238E27FC236}">
                  <a16:creationId xmlns:a16="http://schemas.microsoft.com/office/drawing/2014/main" id="{B5D4DA04-2759-4E95-9345-23DD0EE458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53200" y="914400"/>
              <a:ext cx="1066800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006600"/>
                  </a:solidFill>
                  <a:latin typeface="+mn-lt"/>
                </a:rPr>
                <a:t>Offset</a:t>
              </a: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0BAEB268-7595-4B11-BE85-B7EF92481650}"/>
                </a:ext>
              </a:extLst>
            </p:cNvPr>
            <p:cNvSpPr/>
            <p:nvPr/>
          </p:nvSpPr>
          <p:spPr>
            <a:xfrm>
              <a:off x="5105400" y="1295400"/>
              <a:ext cx="1600200" cy="381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dirty="0">
                  <a:solidFill>
                    <a:schemeClr val="accent6">
                      <a:lumMod val="50000"/>
                    </a:schemeClr>
                  </a:solidFill>
                </a:rPr>
                <a:t>0000000001</a:t>
              </a:r>
            </a:p>
          </p:txBody>
        </p:sp>
        <p:sp>
          <p:nvSpPr>
            <p:cNvPr id="113" name="Text Box 75">
              <a:extLst>
                <a:ext uri="{FF2B5EF4-FFF2-40B4-BE49-F238E27FC236}">
                  <a16:creationId xmlns:a16="http://schemas.microsoft.com/office/drawing/2014/main" id="{226367A3-BC7A-4DF9-8D7F-4DF639AF96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10200" y="914400"/>
              <a:ext cx="997177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6">
                      <a:lumMod val="50000"/>
                    </a:schemeClr>
                  </a:solidFill>
                  <a:latin typeface="+mn-lt"/>
                </a:rPr>
                <a:t>Index</a:t>
              </a:r>
            </a:p>
          </p:txBody>
        </p:sp>
      </p:grpSp>
      <p:sp>
        <p:nvSpPr>
          <p:cNvPr id="87" name="Left Arrow 86">
            <a:extLst>
              <a:ext uri="{FF2B5EF4-FFF2-40B4-BE49-F238E27FC236}">
                <a16:creationId xmlns:a16="http://schemas.microsoft.com/office/drawing/2014/main" id="{5AC761F4-F559-4D90-B686-FC74BA216C07}"/>
              </a:ext>
            </a:extLst>
          </p:cNvPr>
          <p:cNvSpPr/>
          <p:nvPr/>
        </p:nvSpPr>
        <p:spPr>
          <a:xfrm rot="5400000">
            <a:off x="5786583" y="1765717"/>
            <a:ext cx="228600" cy="304800"/>
          </a:xfrm>
          <a:prstGeom prst="leftArrow">
            <a:avLst/>
          </a:prstGeom>
          <a:solidFill>
            <a:srgbClr val="FF0000"/>
          </a:solidFill>
          <a:ln>
            <a:solidFill>
              <a:srgbClr val="66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75F8C994-760E-4E0B-8FF4-B916B6E69768}"/>
              </a:ext>
            </a:extLst>
          </p:cNvPr>
          <p:cNvSpPr/>
          <p:nvPr/>
        </p:nvSpPr>
        <p:spPr>
          <a:xfrm>
            <a:off x="522273" y="3596273"/>
            <a:ext cx="304800" cy="304800"/>
          </a:xfrm>
          <a:prstGeom prst="ellipse">
            <a:avLst/>
          </a:prstGeom>
          <a:solidFill>
            <a:srgbClr val="EFE9E1">
              <a:alpha val="32157"/>
            </a:srgbClr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D904D62-25A3-4476-B7A8-69FAD1146BC8}"/>
              </a:ext>
            </a:extLst>
          </p:cNvPr>
          <p:cNvGrpSpPr/>
          <p:nvPr/>
        </p:nvGrpSpPr>
        <p:grpSpPr>
          <a:xfrm>
            <a:off x="152400" y="2482850"/>
            <a:ext cx="8686800" cy="3568700"/>
            <a:chOff x="152400" y="2482850"/>
            <a:chExt cx="8686800" cy="356870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600056CB-C885-4CBC-908B-A047CEBCDC9C}"/>
                </a:ext>
              </a:extLst>
            </p:cNvPr>
            <p:cNvGrpSpPr/>
            <p:nvPr/>
          </p:nvGrpSpPr>
          <p:grpSpPr>
            <a:xfrm>
              <a:off x="304800" y="2482850"/>
              <a:ext cx="8534400" cy="3568700"/>
              <a:chOff x="304800" y="2482850"/>
              <a:chExt cx="8534400" cy="3568700"/>
            </a:xfrm>
          </p:grpSpPr>
          <p:sp>
            <p:nvSpPr>
              <p:cNvPr id="103" name="Rectangle 12">
                <a:extLst>
                  <a:ext uri="{FF2B5EF4-FFF2-40B4-BE49-F238E27FC236}">
                    <a16:creationId xmlns:a16="http://schemas.microsoft.com/office/drawing/2014/main" id="{B145FEA4-161C-49EA-BACC-9636FB107E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3000" y="3276600"/>
                <a:ext cx="990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04" name="Rectangle 13">
                <a:extLst>
                  <a:ext uri="{FF2B5EF4-FFF2-40B4-BE49-F238E27FC236}">
                    <a16:creationId xmlns:a16="http://schemas.microsoft.com/office/drawing/2014/main" id="{D6F061BB-EE02-45F2-A957-68D8C1CA14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400" y="3276600"/>
                <a:ext cx="228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0</a:t>
                </a:r>
              </a:p>
            </p:txBody>
          </p:sp>
          <p:sp>
            <p:nvSpPr>
              <p:cNvPr id="106" name="Rectangle 14">
                <a:extLst>
                  <a:ext uri="{FF2B5EF4-FFF2-40B4-BE49-F238E27FC236}">
                    <a16:creationId xmlns:a16="http://schemas.microsoft.com/office/drawing/2014/main" id="{D1D3AF2A-7812-4C43-B517-4DE029E7D1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3600" y="32766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14" name="Rectangle 15">
                <a:extLst>
                  <a:ext uri="{FF2B5EF4-FFF2-40B4-BE49-F238E27FC236}">
                    <a16:creationId xmlns:a16="http://schemas.microsoft.com/office/drawing/2014/main" id="{71D3ECE2-E3BF-41AD-BC36-7D06258511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0000" y="32766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15" name="Rectangle 16">
                <a:extLst>
                  <a:ext uri="{FF2B5EF4-FFF2-40B4-BE49-F238E27FC236}">
                    <a16:creationId xmlns:a16="http://schemas.microsoft.com/office/drawing/2014/main" id="{CE36E9FA-B430-45A9-B429-341031B1D0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6400" y="32766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17" name="Rectangle 17">
                <a:extLst>
                  <a:ext uri="{FF2B5EF4-FFF2-40B4-BE49-F238E27FC236}">
                    <a16:creationId xmlns:a16="http://schemas.microsoft.com/office/drawing/2014/main" id="{8D044D16-8DF1-4891-9FA3-484244C4D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62800" y="32766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18" name="Rectangle 18">
                <a:extLst>
                  <a:ext uri="{FF2B5EF4-FFF2-40B4-BE49-F238E27FC236}">
                    <a16:creationId xmlns:a16="http://schemas.microsoft.com/office/drawing/2014/main" id="{FABF1531-0AB0-4D14-A667-CADA95FDDF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3000" y="3581400"/>
                <a:ext cx="990600" cy="304800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0</a:t>
                </a:r>
              </a:p>
            </p:txBody>
          </p:sp>
          <p:sp>
            <p:nvSpPr>
              <p:cNvPr id="119" name="Rectangle 19">
                <a:extLst>
                  <a:ext uri="{FF2B5EF4-FFF2-40B4-BE49-F238E27FC236}">
                    <a16:creationId xmlns:a16="http://schemas.microsoft.com/office/drawing/2014/main" id="{6007E558-4FC7-4606-93E1-D003959183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400" y="3581400"/>
                <a:ext cx="228600" cy="304800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1</a:t>
                </a:r>
              </a:p>
            </p:txBody>
          </p:sp>
          <p:sp>
            <p:nvSpPr>
              <p:cNvPr id="120" name="Rectangle 20">
                <a:extLst>
                  <a:ext uri="{FF2B5EF4-FFF2-40B4-BE49-F238E27FC236}">
                    <a16:creationId xmlns:a16="http://schemas.microsoft.com/office/drawing/2014/main" id="{712F6FF7-47CD-42B9-BC74-FC05D403A9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3600" y="3581400"/>
                <a:ext cx="1676400" cy="304800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A</a:t>
                </a:r>
              </a:p>
            </p:txBody>
          </p:sp>
          <p:sp>
            <p:nvSpPr>
              <p:cNvPr id="121" name="Rectangle 21">
                <a:extLst>
                  <a:ext uri="{FF2B5EF4-FFF2-40B4-BE49-F238E27FC236}">
                    <a16:creationId xmlns:a16="http://schemas.microsoft.com/office/drawing/2014/main" id="{9335F7A1-B98C-4E48-8473-A68477FCD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0000" y="3581400"/>
                <a:ext cx="1676400" cy="304800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B</a:t>
                </a:r>
              </a:p>
            </p:txBody>
          </p:sp>
          <p:sp>
            <p:nvSpPr>
              <p:cNvPr id="122" name="Rectangle 22">
                <a:extLst>
                  <a:ext uri="{FF2B5EF4-FFF2-40B4-BE49-F238E27FC236}">
                    <a16:creationId xmlns:a16="http://schemas.microsoft.com/office/drawing/2014/main" id="{37B53A77-4B6C-4328-896D-6BDE9BB54E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6400" y="3581400"/>
                <a:ext cx="1676400" cy="304800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C</a:t>
                </a:r>
              </a:p>
            </p:txBody>
          </p:sp>
          <p:sp>
            <p:nvSpPr>
              <p:cNvPr id="123" name="Rectangle 23">
                <a:extLst>
                  <a:ext uri="{FF2B5EF4-FFF2-40B4-BE49-F238E27FC236}">
                    <a16:creationId xmlns:a16="http://schemas.microsoft.com/office/drawing/2014/main" id="{51D39A61-2614-44C5-810B-36E7C9E67C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62800" y="3581400"/>
                <a:ext cx="1676400" cy="304800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D</a:t>
                </a:r>
              </a:p>
            </p:txBody>
          </p:sp>
          <p:sp>
            <p:nvSpPr>
              <p:cNvPr id="124" name="Rectangle 24">
                <a:extLst>
                  <a:ext uri="{FF2B5EF4-FFF2-40B4-BE49-F238E27FC236}">
                    <a16:creationId xmlns:a16="http://schemas.microsoft.com/office/drawing/2014/main" id="{1E5FF318-2EF8-4DDA-8409-D6327A77A3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3000" y="3886200"/>
                <a:ext cx="990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25" name="Rectangle 25">
                <a:extLst>
                  <a:ext uri="{FF2B5EF4-FFF2-40B4-BE49-F238E27FC236}">
                    <a16:creationId xmlns:a16="http://schemas.microsoft.com/office/drawing/2014/main" id="{A13CDAA0-16EC-417C-B4F8-FA58B2F7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400" y="3886200"/>
                <a:ext cx="228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0</a:t>
                </a:r>
              </a:p>
            </p:txBody>
          </p:sp>
          <p:sp>
            <p:nvSpPr>
              <p:cNvPr id="126" name="Rectangle 26">
                <a:extLst>
                  <a:ext uri="{FF2B5EF4-FFF2-40B4-BE49-F238E27FC236}">
                    <a16:creationId xmlns:a16="http://schemas.microsoft.com/office/drawing/2014/main" id="{F403507A-0E1E-489A-89D1-B038EDDF76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3600" y="38862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27" name="Rectangle 27">
                <a:extLst>
                  <a:ext uri="{FF2B5EF4-FFF2-40B4-BE49-F238E27FC236}">
                    <a16:creationId xmlns:a16="http://schemas.microsoft.com/office/drawing/2014/main" id="{D5540AE2-0137-4708-99DC-9AA253963D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0000" y="38862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28" name="Rectangle 28">
                <a:extLst>
                  <a:ext uri="{FF2B5EF4-FFF2-40B4-BE49-F238E27FC236}">
                    <a16:creationId xmlns:a16="http://schemas.microsoft.com/office/drawing/2014/main" id="{7B6FE451-15AE-4A94-A507-ED474958EB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6400" y="38862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29" name="Rectangle 29">
                <a:extLst>
                  <a:ext uri="{FF2B5EF4-FFF2-40B4-BE49-F238E27FC236}">
                    <a16:creationId xmlns:a16="http://schemas.microsoft.com/office/drawing/2014/main" id="{B2B2652B-CC40-49B0-8C6B-9BB6D6C718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62800" y="38862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30" name="Rectangle 30">
                <a:extLst>
                  <a:ext uri="{FF2B5EF4-FFF2-40B4-BE49-F238E27FC236}">
                    <a16:creationId xmlns:a16="http://schemas.microsoft.com/office/drawing/2014/main" id="{B52E327D-81D7-48FC-A580-08D91A927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3000" y="4191000"/>
                <a:ext cx="990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31" name="Rectangle 31">
                <a:extLst>
                  <a:ext uri="{FF2B5EF4-FFF2-40B4-BE49-F238E27FC236}">
                    <a16:creationId xmlns:a16="http://schemas.microsoft.com/office/drawing/2014/main" id="{96DD3725-6D89-41A5-8BE9-9C3EADF6EB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400" y="4191000"/>
                <a:ext cx="228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0</a:t>
                </a:r>
              </a:p>
            </p:txBody>
          </p:sp>
          <p:sp>
            <p:nvSpPr>
              <p:cNvPr id="132" name="Rectangle 32">
                <a:extLst>
                  <a:ext uri="{FF2B5EF4-FFF2-40B4-BE49-F238E27FC236}">
                    <a16:creationId xmlns:a16="http://schemas.microsoft.com/office/drawing/2014/main" id="{E7F6A94F-E689-4858-8C8C-8A22203A10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3600" y="41910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33" name="Rectangle 33">
                <a:extLst>
                  <a:ext uri="{FF2B5EF4-FFF2-40B4-BE49-F238E27FC236}">
                    <a16:creationId xmlns:a16="http://schemas.microsoft.com/office/drawing/2014/main" id="{0E5BD2EE-35F8-4F78-B2D8-02FEE1A961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0000" y="41910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34" name="Rectangle 34">
                <a:extLst>
                  <a:ext uri="{FF2B5EF4-FFF2-40B4-BE49-F238E27FC236}">
                    <a16:creationId xmlns:a16="http://schemas.microsoft.com/office/drawing/2014/main" id="{B0634A88-DE4E-4D51-9F07-BA2B57F55B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6400" y="41910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35" name="Rectangle 35">
                <a:extLst>
                  <a:ext uri="{FF2B5EF4-FFF2-40B4-BE49-F238E27FC236}">
                    <a16:creationId xmlns:a16="http://schemas.microsoft.com/office/drawing/2014/main" id="{7731F9E3-4DE2-4E7E-BA51-4B001765A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62800" y="41910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36" name="Rectangle 36">
                <a:extLst>
                  <a:ext uri="{FF2B5EF4-FFF2-40B4-BE49-F238E27FC236}">
                    <a16:creationId xmlns:a16="http://schemas.microsoft.com/office/drawing/2014/main" id="{5E75CF91-ED93-403F-9EBA-EF54D4975D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3000" y="4495800"/>
                <a:ext cx="990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37" name="Rectangle 37">
                <a:extLst>
                  <a:ext uri="{FF2B5EF4-FFF2-40B4-BE49-F238E27FC236}">
                    <a16:creationId xmlns:a16="http://schemas.microsoft.com/office/drawing/2014/main" id="{3A3CC617-E19E-45B4-ACDC-3E35C5681C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400" y="4495800"/>
                <a:ext cx="228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0</a:t>
                </a:r>
              </a:p>
            </p:txBody>
          </p:sp>
          <p:sp>
            <p:nvSpPr>
              <p:cNvPr id="138" name="Rectangle 38">
                <a:extLst>
                  <a:ext uri="{FF2B5EF4-FFF2-40B4-BE49-F238E27FC236}">
                    <a16:creationId xmlns:a16="http://schemas.microsoft.com/office/drawing/2014/main" id="{EE2D5E62-D865-4B75-9403-19E8D7AF48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3600" y="44958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39" name="Rectangle 39">
                <a:extLst>
                  <a:ext uri="{FF2B5EF4-FFF2-40B4-BE49-F238E27FC236}">
                    <a16:creationId xmlns:a16="http://schemas.microsoft.com/office/drawing/2014/main" id="{22FC60D9-C2B6-4983-9C13-0252D29709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0000" y="44958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40" name="Rectangle 40">
                <a:extLst>
                  <a:ext uri="{FF2B5EF4-FFF2-40B4-BE49-F238E27FC236}">
                    <a16:creationId xmlns:a16="http://schemas.microsoft.com/office/drawing/2014/main" id="{A2012475-EEC6-48A7-9BCB-9CF63DA4DC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6400" y="44958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41" name="Rectangle 41">
                <a:extLst>
                  <a:ext uri="{FF2B5EF4-FFF2-40B4-BE49-F238E27FC236}">
                    <a16:creationId xmlns:a16="http://schemas.microsoft.com/office/drawing/2014/main" id="{17AB8261-BC7E-4D5F-B129-66B8C69C0A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62800" y="44958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42" name="Rectangle 42">
                <a:extLst>
                  <a:ext uri="{FF2B5EF4-FFF2-40B4-BE49-F238E27FC236}">
                    <a16:creationId xmlns:a16="http://schemas.microsoft.com/office/drawing/2014/main" id="{06F0B933-53D2-472A-A09F-0C0A257D7F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3000" y="4800600"/>
                <a:ext cx="990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43" name="Rectangle 43">
                <a:extLst>
                  <a:ext uri="{FF2B5EF4-FFF2-40B4-BE49-F238E27FC236}">
                    <a16:creationId xmlns:a16="http://schemas.microsoft.com/office/drawing/2014/main" id="{E152B7F9-71A1-47AD-BAC1-3E596A7424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400" y="4800600"/>
                <a:ext cx="228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0</a:t>
                </a:r>
              </a:p>
            </p:txBody>
          </p:sp>
          <p:sp>
            <p:nvSpPr>
              <p:cNvPr id="144" name="Rectangle 44">
                <a:extLst>
                  <a:ext uri="{FF2B5EF4-FFF2-40B4-BE49-F238E27FC236}">
                    <a16:creationId xmlns:a16="http://schemas.microsoft.com/office/drawing/2014/main" id="{A02F1FCD-094E-41D2-8334-3FD5941D7F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3600" y="48006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45" name="Rectangle 45">
                <a:extLst>
                  <a:ext uri="{FF2B5EF4-FFF2-40B4-BE49-F238E27FC236}">
                    <a16:creationId xmlns:a16="http://schemas.microsoft.com/office/drawing/2014/main" id="{1354137D-A3A0-454C-A452-584839D8DB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0000" y="48006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46" name="Rectangle 46">
                <a:extLst>
                  <a:ext uri="{FF2B5EF4-FFF2-40B4-BE49-F238E27FC236}">
                    <a16:creationId xmlns:a16="http://schemas.microsoft.com/office/drawing/2014/main" id="{D75AB377-8CE9-49A4-9263-6EF13802CB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6400" y="48006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47" name="Rectangle 47">
                <a:extLst>
                  <a:ext uri="{FF2B5EF4-FFF2-40B4-BE49-F238E27FC236}">
                    <a16:creationId xmlns:a16="http://schemas.microsoft.com/office/drawing/2014/main" id="{BEEF1CEA-7ACD-4475-9BFB-D33554F591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62800" y="48006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48" name="Rectangle 48">
                <a:extLst>
                  <a:ext uri="{FF2B5EF4-FFF2-40B4-BE49-F238E27FC236}">
                    <a16:creationId xmlns:a16="http://schemas.microsoft.com/office/drawing/2014/main" id="{A83D5556-A35F-4365-A545-B770A26A3E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3000" y="5410200"/>
                <a:ext cx="990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49" name="Rectangle 49">
                <a:extLst>
                  <a:ext uri="{FF2B5EF4-FFF2-40B4-BE49-F238E27FC236}">
                    <a16:creationId xmlns:a16="http://schemas.microsoft.com/office/drawing/2014/main" id="{915EC05A-0D56-4901-B378-94D01B2500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400" y="5410200"/>
                <a:ext cx="228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0</a:t>
                </a:r>
              </a:p>
            </p:txBody>
          </p:sp>
          <p:sp>
            <p:nvSpPr>
              <p:cNvPr id="150" name="Rectangle 50">
                <a:extLst>
                  <a:ext uri="{FF2B5EF4-FFF2-40B4-BE49-F238E27FC236}">
                    <a16:creationId xmlns:a16="http://schemas.microsoft.com/office/drawing/2014/main" id="{B9C9490C-E22B-40EC-94BE-94A349AA23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3600" y="54102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51" name="Rectangle 51">
                <a:extLst>
                  <a:ext uri="{FF2B5EF4-FFF2-40B4-BE49-F238E27FC236}">
                    <a16:creationId xmlns:a16="http://schemas.microsoft.com/office/drawing/2014/main" id="{8AF5D80A-08C7-4E73-A088-1AC8753AD9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0000" y="54102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52" name="Rectangle 52">
                <a:extLst>
                  <a:ext uri="{FF2B5EF4-FFF2-40B4-BE49-F238E27FC236}">
                    <a16:creationId xmlns:a16="http://schemas.microsoft.com/office/drawing/2014/main" id="{42E9DFB2-4F32-4C37-9CB5-8BB1FF6ED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6400" y="54102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53" name="Rectangle 53">
                <a:extLst>
                  <a:ext uri="{FF2B5EF4-FFF2-40B4-BE49-F238E27FC236}">
                    <a16:creationId xmlns:a16="http://schemas.microsoft.com/office/drawing/2014/main" id="{D8A8461E-C4C0-4C0A-A682-B0935A6F7D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62800" y="54102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54" name="Rectangle 54">
                <a:extLst>
                  <a:ext uri="{FF2B5EF4-FFF2-40B4-BE49-F238E27FC236}">
                    <a16:creationId xmlns:a16="http://schemas.microsoft.com/office/drawing/2014/main" id="{B5470C8D-CBE8-4986-B5B7-D33EB43F4A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3000" y="5715000"/>
                <a:ext cx="990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55" name="Rectangle 55">
                <a:extLst>
                  <a:ext uri="{FF2B5EF4-FFF2-40B4-BE49-F238E27FC236}">
                    <a16:creationId xmlns:a16="http://schemas.microsoft.com/office/drawing/2014/main" id="{179C9D65-ED8D-4270-96DB-0166B37CC6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400" y="5715000"/>
                <a:ext cx="228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0</a:t>
                </a:r>
              </a:p>
            </p:txBody>
          </p:sp>
          <p:sp>
            <p:nvSpPr>
              <p:cNvPr id="156" name="Rectangle 56">
                <a:extLst>
                  <a:ext uri="{FF2B5EF4-FFF2-40B4-BE49-F238E27FC236}">
                    <a16:creationId xmlns:a16="http://schemas.microsoft.com/office/drawing/2014/main" id="{8FA3F269-F6F9-4D8C-BD50-834B9C1C2D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3600" y="57150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57" name="Rectangle 57">
                <a:extLst>
                  <a:ext uri="{FF2B5EF4-FFF2-40B4-BE49-F238E27FC236}">
                    <a16:creationId xmlns:a16="http://schemas.microsoft.com/office/drawing/2014/main" id="{B2736331-EA8C-4D2B-911F-2C47F8E08F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0000" y="57150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58" name="Rectangle 58">
                <a:extLst>
                  <a:ext uri="{FF2B5EF4-FFF2-40B4-BE49-F238E27FC236}">
                    <a16:creationId xmlns:a16="http://schemas.microsoft.com/office/drawing/2014/main" id="{475E4477-D818-4539-8C43-16264999F3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6400" y="57150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59" name="Rectangle 59">
                <a:extLst>
                  <a:ext uri="{FF2B5EF4-FFF2-40B4-BE49-F238E27FC236}">
                    <a16:creationId xmlns:a16="http://schemas.microsoft.com/office/drawing/2014/main" id="{EB6C6119-1E77-419C-842F-D757461A5E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62800" y="57150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60" name="Text Box 60">
                <a:extLst>
                  <a:ext uri="{FF2B5EF4-FFF2-40B4-BE49-F238E27FC236}">
                    <a16:creationId xmlns:a16="http://schemas.microsoft.com/office/drawing/2014/main" id="{E179067C-A457-4C72-A7A6-678A56BD556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86000" y="4960203"/>
                <a:ext cx="5029200" cy="738664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eaLnBrk="0" hangingPunct="0"/>
                <a:r>
                  <a:rPr lang="en-US" sz="2400" b="1" dirty="0">
                    <a:latin typeface="+mn-lt"/>
                  </a:rPr>
                  <a:t>...    </a:t>
                </a:r>
                <a:r>
                  <a:rPr lang="en-US" sz="2400" b="1" dirty="0"/>
                  <a:t>...    ...    …   …   …   …   …</a:t>
                </a:r>
                <a:endParaRPr lang="en-US" sz="2400" dirty="0"/>
              </a:p>
              <a:p>
                <a:pPr eaLnBrk="0" hangingPunct="0"/>
                <a:endParaRPr lang="en-US" dirty="0"/>
              </a:p>
            </p:txBody>
          </p:sp>
          <p:sp>
            <p:nvSpPr>
              <p:cNvPr id="161" name="Text Box 61">
                <a:extLst>
                  <a:ext uri="{FF2B5EF4-FFF2-40B4-BE49-F238E27FC236}">
                    <a16:creationId xmlns:a16="http://schemas.microsoft.com/office/drawing/2014/main" id="{F763934D-8464-44E6-95BB-5DDCFBB26C4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3400" y="3276600"/>
                <a:ext cx="307975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dirty="0">
                    <a:latin typeface="+mn-lt"/>
                  </a:rPr>
                  <a:t>0</a:t>
                </a:r>
              </a:p>
            </p:txBody>
          </p:sp>
          <p:sp>
            <p:nvSpPr>
              <p:cNvPr id="162" name="Text Box 62">
                <a:extLst>
                  <a:ext uri="{FF2B5EF4-FFF2-40B4-BE49-F238E27FC236}">
                    <a16:creationId xmlns:a16="http://schemas.microsoft.com/office/drawing/2014/main" id="{05FF7976-56BD-4E07-8B19-D92729B10FA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2273" y="3581400"/>
                <a:ext cx="298480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>
                    <a:latin typeface="+mn-lt"/>
                  </a:rPr>
                  <a:t>1</a:t>
                </a:r>
              </a:p>
            </p:txBody>
          </p:sp>
          <p:sp>
            <p:nvSpPr>
              <p:cNvPr id="163" name="Text Box 63">
                <a:extLst>
                  <a:ext uri="{FF2B5EF4-FFF2-40B4-BE49-F238E27FC236}">
                    <a16:creationId xmlns:a16="http://schemas.microsoft.com/office/drawing/2014/main" id="{02B3F9D3-4E0C-4870-82B0-814473BAF5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3400" y="3886200"/>
                <a:ext cx="307975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>
                    <a:latin typeface="+mn-lt"/>
                  </a:rPr>
                  <a:t>2</a:t>
                </a:r>
              </a:p>
            </p:txBody>
          </p:sp>
          <p:sp>
            <p:nvSpPr>
              <p:cNvPr id="164" name="Text Box 64">
                <a:extLst>
                  <a:ext uri="{FF2B5EF4-FFF2-40B4-BE49-F238E27FC236}">
                    <a16:creationId xmlns:a16="http://schemas.microsoft.com/office/drawing/2014/main" id="{AAE54627-1E3C-4D28-AB1B-627CD71AF10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3400" y="4191000"/>
                <a:ext cx="307975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>
                    <a:latin typeface="+mn-lt"/>
                  </a:rPr>
                  <a:t>3</a:t>
                </a:r>
              </a:p>
            </p:txBody>
          </p:sp>
          <p:sp>
            <p:nvSpPr>
              <p:cNvPr id="165" name="Text Box 65">
                <a:extLst>
                  <a:ext uri="{FF2B5EF4-FFF2-40B4-BE49-F238E27FC236}">
                    <a16:creationId xmlns:a16="http://schemas.microsoft.com/office/drawing/2014/main" id="{1692934C-576B-4EF6-967D-07BAA00B65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3400" y="4495800"/>
                <a:ext cx="307975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>
                    <a:latin typeface="+mn-lt"/>
                  </a:rPr>
                  <a:t>4</a:t>
                </a:r>
              </a:p>
            </p:txBody>
          </p:sp>
          <p:sp>
            <p:nvSpPr>
              <p:cNvPr id="166" name="Text Box 66">
                <a:extLst>
                  <a:ext uri="{FF2B5EF4-FFF2-40B4-BE49-F238E27FC236}">
                    <a16:creationId xmlns:a16="http://schemas.microsoft.com/office/drawing/2014/main" id="{04CC81B6-FBEE-4BA7-B273-C04E325089B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3400" y="4800600"/>
                <a:ext cx="307975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>
                    <a:latin typeface="+mn-lt"/>
                  </a:rPr>
                  <a:t>5</a:t>
                </a:r>
              </a:p>
            </p:txBody>
          </p:sp>
          <p:sp>
            <p:nvSpPr>
              <p:cNvPr id="167" name="Text Box 67">
                <a:extLst>
                  <a:ext uri="{FF2B5EF4-FFF2-40B4-BE49-F238E27FC236}">
                    <a16:creationId xmlns:a16="http://schemas.microsoft.com/office/drawing/2014/main" id="{2F255B41-C836-4883-B5D0-19B1FFEBA71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4800" y="5410200"/>
                <a:ext cx="647700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>
                    <a:latin typeface="+mn-lt"/>
                  </a:rPr>
                  <a:t>1022</a:t>
                </a:r>
              </a:p>
            </p:txBody>
          </p:sp>
          <p:sp>
            <p:nvSpPr>
              <p:cNvPr id="168" name="Text Box 68">
                <a:extLst>
                  <a:ext uri="{FF2B5EF4-FFF2-40B4-BE49-F238E27FC236}">
                    <a16:creationId xmlns:a16="http://schemas.microsoft.com/office/drawing/2014/main" id="{3CC72AEA-E6AA-49CD-BD53-8ECEF01CE13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4800" y="5715000"/>
                <a:ext cx="647700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>
                    <a:latin typeface="+mn-lt"/>
                  </a:rPr>
                  <a:t>1023</a:t>
                </a:r>
              </a:p>
            </p:txBody>
          </p:sp>
          <p:sp>
            <p:nvSpPr>
              <p:cNvPr id="169" name="Text Box 70">
                <a:extLst>
                  <a:ext uri="{FF2B5EF4-FFF2-40B4-BE49-F238E27FC236}">
                    <a16:creationId xmlns:a16="http://schemas.microsoft.com/office/drawing/2014/main" id="{CC294C67-ADC5-4981-AB79-4E42E2F4DA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56314" y="2971800"/>
                <a:ext cx="663836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 dirty="0">
                    <a:latin typeface="+mn-lt"/>
                  </a:rPr>
                  <a:t>Valid</a:t>
                </a:r>
              </a:p>
            </p:txBody>
          </p:sp>
          <p:sp>
            <p:nvSpPr>
              <p:cNvPr id="170" name="Text Box 71">
                <a:extLst>
                  <a:ext uri="{FF2B5EF4-FFF2-40B4-BE49-F238E27FC236}">
                    <a16:creationId xmlns:a16="http://schemas.microsoft.com/office/drawing/2014/main" id="{D8BB064E-21F1-496B-BBCD-F3EC1EC6712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47800" y="2971800"/>
                <a:ext cx="534988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 dirty="0">
                    <a:latin typeface="+mn-lt"/>
                  </a:rPr>
                  <a:t>Tag</a:t>
                </a:r>
              </a:p>
            </p:txBody>
          </p:sp>
          <p:grpSp>
            <p:nvGrpSpPr>
              <p:cNvPr id="171" name="Group 170">
                <a:extLst>
                  <a:ext uri="{FF2B5EF4-FFF2-40B4-BE49-F238E27FC236}">
                    <a16:creationId xmlns:a16="http://schemas.microsoft.com/office/drawing/2014/main" id="{3A232E08-38B7-453E-9029-80D2FC9ADBC1}"/>
                  </a:ext>
                </a:extLst>
              </p:cNvPr>
              <p:cNvGrpSpPr/>
              <p:nvPr/>
            </p:nvGrpSpPr>
            <p:grpSpPr>
              <a:xfrm>
                <a:off x="2133600" y="2482850"/>
                <a:ext cx="6629400" cy="336550"/>
                <a:chOff x="2209800" y="2438400"/>
                <a:chExt cx="6629400" cy="336550"/>
              </a:xfrm>
            </p:grpSpPr>
            <p:sp>
              <p:nvSpPr>
                <p:cNvPr id="172" name="Text Box 72">
                  <a:extLst>
                    <a:ext uri="{FF2B5EF4-FFF2-40B4-BE49-F238E27FC236}">
                      <a16:creationId xmlns:a16="http://schemas.microsoft.com/office/drawing/2014/main" id="{4FBB43BF-77A0-4C7E-97B9-E81A3F51357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648200" y="2438400"/>
                  <a:ext cx="635000" cy="336550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sz="1600" b="1" dirty="0">
                      <a:latin typeface="+mn-lt"/>
                    </a:rPr>
                    <a:t>Data</a:t>
                  </a:r>
                </a:p>
              </p:txBody>
            </p:sp>
            <p:sp>
              <p:nvSpPr>
                <p:cNvPr id="173" name="Line 73">
                  <a:extLst>
                    <a:ext uri="{FF2B5EF4-FFF2-40B4-BE49-F238E27FC236}">
                      <a16:creationId xmlns:a16="http://schemas.microsoft.com/office/drawing/2014/main" id="{FCEC574D-2840-4272-8295-4AFF43A51E0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209800" y="2590800"/>
                  <a:ext cx="243840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>
                  <a:spAutoFit/>
                </a:bodyPr>
                <a:lstStyle/>
                <a:p>
                  <a:endParaRPr lang="en-US">
                    <a:latin typeface="+mn-lt"/>
                  </a:endParaRPr>
                </a:p>
              </p:txBody>
            </p:sp>
            <p:sp>
              <p:nvSpPr>
                <p:cNvPr id="174" name="Line 74">
                  <a:extLst>
                    <a:ext uri="{FF2B5EF4-FFF2-40B4-BE49-F238E27FC236}">
                      <a16:creationId xmlns:a16="http://schemas.microsoft.com/office/drawing/2014/main" id="{642500F6-AB56-445B-86D1-5A2D13E4579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57800" y="2590800"/>
                  <a:ext cx="358140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 wrap="none">
                  <a:spAutoFit/>
                </a:bodyPr>
                <a:lstStyle/>
                <a:p>
                  <a:endParaRPr lang="en-US">
                    <a:latin typeface="+mn-lt"/>
                  </a:endParaRPr>
                </a:p>
              </p:txBody>
            </p:sp>
          </p:grpSp>
          <p:sp>
            <p:nvSpPr>
              <p:cNvPr id="175" name="Text Box 75">
                <a:extLst>
                  <a:ext uri="{FF2B5EF4-FFF2-40B4-BE49-F238E27FC236}">
                    <a16:creationId xmlns:a16="http://schemas.microsoft.com/office/drawing/2014/main" id="{A57F1217-E125-40D2-9C64-0624C19AB66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44072" y="2743200"/>
                <a:ext cx="818942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 dirty="0">
                    <a:latin typeface="+mn-lt"/>
                  </a:rPr>
                  <a:t>Word0</a:t>
                </a:r>
              </a:p>
            </p:txBody>
          </p:sp>
          <p:sp>
            <p:nvSpPr>
              <p:cNvPr id="176" name="Text Box 76">
                <a:extLst>
                  <a:ext uri="{FF2B5EF4-FFF2-40B4-BE49-F238E27FC236}">
                    <a16:creationId xmlns:a16="http://schemas.microsoft.com/office/drawing/2014/main" id="{AFF67471-2366-4D26-B9FF-2AD96183BB9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60862" y="2743200"/>
                <a:ext cx="811213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 dirty="0">
                    <a:latin typeface="+mn-lt"/>
                  </a:rPr>
                  <a:t>Word1</a:t>
                </a:r>
              </a:p>
            </p:txBody>
          </p:sp>
          <p:sp>
            <p:nvSpPr>
              <p:cNvPr id="177" name="Text Box 77">
                <a:extLst>
                  <a:ext uri="{FF2B5EF4-FFF2-40B4-BE49-F238E27FC236}">
                    <a16:creationId xmlns:a16="http://schemas.microsoft.com/office/drawing/2014/main" id="{A385F1F8-BC56-4A10-A6BB-F0634E191AB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49272" y="2743200"/>
                <a:ext cx="818942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 dirty="0">
                    <a:latin typeface="+mn-lt"/>
                  </a:rPr>
                  <a:t>Word2</a:t>
                </a:r>
              </a:p>
            </p:txBody>
          </p:sp>
          <p:sp>
            <p:nvSpPr>
              <p:cNvPr id="178" name="Text Box 78">
                <a:extLst>
                  <a:ext uri="{FF2B5EF4-FFF2-40B4-BE49-F238E27FC236}">
                    <a16:creationId xmlns:a16="http://schemas.microsoft.com/office/drawing/2014/main" id="{45589EB9-883C-4B88-9B41-641DA71F91F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49472" y="2743200"/>
                <a:ext cx="818942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 dirty="0">
                    <a:latin typeface="+mn-lt"/>
                  </a:rPr>
                  <a:t>Word3</a:t>
                </a:r>
              </a:p>
            </p:txBody>
          </p:sp>
          <p:sp>
            <p:nvSpPr>
              <p:cNvPr id="179" name="Text Box 79">
                <a:extLst>
                  <a:ext uri="{FF2B5EF4-FFF2-40B4-BE49-F238E27FC236}">
                    <a16:creationId xmlns:a16="http://schemas.microsoft.com/office/drawing/2014/main" id="{F5A18A55-8132-4A57-BF25-F1AD8886F40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08548" y="2971800"/>
                <a:ext cx="1051891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dirty="0">
                    <a:latin typeface="+mn-lt"/>
                  </a:rPr>
                  <a:t>Bytes 0-3</a:t>
                </a:r>
              </a:p>
            </p:txBody>
          </p:sp>
          <p:sp>
            <p:nvSpPr>
              <p:cNvPr id="180" name="Text Box 80">
                <a:extLst>
                  <a:ext uri="{FF2B5EF4-FFF2-40B4-BE49-F238E27FC236}">
                    <a16:creationId xmlns:a16="http://schemas.microsoft.com/office/drawing/2014/main" id="{D8B0617E-403B-435C-9D5C-251D506658A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37348" y="2971800"/>
                <a:ext cx="1051891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dirty="0">
                    <a:latin typeface="+mn-lt"/>
                  </a:rPr>
                  <a:t>Bytes 4-7</a:t>
                </a:r>
              </a:p>
            </p:txBody>
          </p:sp>
          <p:sp>
            <p:nvSpPr>
              <p:cNvPr id="181" name="Text Box 81">
                <a:extLst>
                  <a:ext uri="{FF2B5EF4-FFF2-40B4-BE49-F238E27FC236}">
                    <a16:creationId xmlns:a16="http://schemas.microsoft.com/office/drawing/2014/main" id="{5AEA3639-604E-4BC6-8CBB-1BFD18FD781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48597" y="2971800"/>
                <a:ext cx="1150444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dirty="0">
                    <a:latin typeface="+mn-lt"/>
                  </a:rPr>
                  <a:t>Bytes 8-11</a:t>
                </a:r>
              </a:p>
            </p:txBody>
          </p:sp>
          <p:sp>
            <p:nvSpPr>
              <p:cNvPr id="182" name="Text Box 82">
                <a:extLst>
                  <a:ext uri="{FF2B5EF4-FFF2-40B4-BE49-F238E27FC236}">
                    <a16:creationId xmlns:a16="http://schemas.microsoft.com/office/drawing/2014/main" id="{D91310A5-BB51-4036-BB85-C14078F6E3D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46173" y="2971800"/>
                <a:ext cx="1279517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dirty="0">
                    <a:latin typeface="+mn-lt"/>
                  </a:rPr>
                  <a:t>Bytes 12-15</a:t>
                </a:r>
              </a:p>
            </p:txBody>
          </p:sp>
        </p:grpSp>
        <p:sp>
          <p:nvSpPr>
            <p:cNvPr id="90" name="Text Box 69">
              <a:extLst>
                <a:ext uri="{FF2B5EF4-FFF2-40B4-BE49-F238E27FC236}">
                  <a16:creationId xmlns:a16="http://schemas.microsoft.com/office/drawing/2014/main" id="{A0A9D19B-33FD-490B-A601-7F1AC838D7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400" y="2971800"/>
              <a:ext cx="720069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latin typeface="+mn-lt"/>
                </a:rPr>
                <a:t>Index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15145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 animBg="1"/>
      <p:bldP spid="89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5. Reading Data: </a:t>
            </a:r>
            <a:r>
              <a:rPr lang="en-GB" sz="3600" b="1" dirty="0">
                <a:solidFill>
                  <a:srgbClr val="0000FF"/>
                </a:solidFill>
              </a:rPr>
              <a:t>Load #2-2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#22: Cache I: Direct Mapped Cache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39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05" name="Content Placeholder 2">
            <a:extLst>
              <a:ext uri="{FF2B5EF4-FFF2-40B4-BE49-F238E27FC236}">
                <a16:creationId xmlns:a16="http://schemas.microsoft.com/office/drawing/2014/main" id="{F42D869D-777C-4A19-87AD-D73DCB7B3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789" y="1463676"/>
            <a:ext cx="8229600" cy="958849"/>
          </a:xfrm>
        </p:spPr>
        <p:txBody>
          <a:bodyPr>
            <a:normAutofit/>
          </a:bodyPr>
          <a:lstStyle/>
          <a:p>
            <a:pPr marL="265113" indent="-265113">
              <a:buSzPct val="100000"/>
              <a:buFont typeface="Wingdings" panose="05000000000000000000" pitchFamily="2" charset="2"/>
              <a:buChar char="§"/>
            </a:pPr>
            <a:r>
              <a:rPr lang="en-SG" sz="2400" dirty="0"/>
              <a:t>Load from</a:t>
            </a:r>
            <a:endParaRPr lang="en-SG" sz="2200" dirty="0"/>
          </a:p>
          <a:p>
            <a:pPr>
              <a:buNone/>
            </a:pPr>
            <a:r>
              <a:rPr lang="en-US" b="1" dirty="0"/>
              <a:t>Step 2</a:t>
            </a:r>
            <a:r>
              <a:rPr lang="en-US" dirty="0"/>
              <a:t>.</a:t>
            </a:r>
            <a:r>
              <a:rPr lang="en-US" sz="2200" dirty="0"/>
              <a:t> [Cache Block is Valid] AND [Tags match] </a:t>
            </a:r>
            <a:r>
              <a:rPr lang="en-US" dirty="0">
                <a:sym typeface="Wingdings" pitchFamily="2" charset="2"/>
              </a:rPr>
              <a:t></a:t>
            </a:r>
            <a:r>
              <a:rPr lang="en-US" sz="2200" dirty="0">
                <a:sym typeface="Wingdings" panose="05000000000000000000" pitchFamily="2" charset="2"/>
              </a:rPr>
              <a:t> Cache hit!</a:t>
            </a:r>
            <a:endParaRPr lang="en-SG" sz="2200" b="1" dirty="0">
              <a:solidFill>
                <a:srgbClr val="660066"/>
              </a:solidFill>
            </a:endParaRP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F79D12AF-480C-4552-88AA-23103501BE5B}"/>
              </a:ext>
            </a:extLst>
          </p:cNvPr>
          <p:cNvGrpSpPr/>
          <p:nvPr/>
        </p:nvGrpSpPr>
        <p:grpSpPr>
          <a:xfrm>
            <a:off x="2362201" y="1095376"/>
            <a:ext cx="5257799" cy="762000"/>
            <a:chOff x="2362201" y="914400"/>
            <a:chExt cx="5257799" cy="762000"/>
          </a:xfrm>
        </p:grpSpPr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3ADEB99F-7526-4800-93FB-68071C373046}"/>
                </a:ext>
              </a:extLst>
            </p:cNvPr>
            <p:cNvSpPr/>
            <p:nvPr/>
          </p:nvSpPr>
          <p:spPr>
            <a:xfrm>
              <a:off x="2362201" y="1295400"/>
              <a:ext cx="2743199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dirty="0">
                  <a:solidFill>
                    <a:srgbClr val="C00000"/>
                  </a:solidFill>
                </a:rPr>
                <a:t>000000000000000000</a:t>
              </a: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63F33081-71DE-4216-A404-17AFE49F1B46}"/>
                </a:ext>
              </a:extLst>
            </p:cNvPr>
            <p:cNvSpPr/>
            <p:nvPr/>
          </p:nvSpPr>
          <p:spPr>
            <a:xfrm>
              <a:off x="6705600" y="1295400"/>
              <a:ext cx="838200" cy="381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dirty="0">
                  <a:solidFill>
                    <a:srgbClr val="006600"/>
                  </a:solidFill>
                </a:rPr>
                <a:t>1100</a:t>
              </a:r>
            </a:p>
          </p:txBody>
        </p:sp>
        <p:sp>
          <p:nvSpPr>
            <p:cNvPr id="110" name="Text Box 75">
              <a:extLst>
                <a:ext uri="{FF2B5EF4-FFF2-40B4-BE49-F238E27FC236}">
                  <a16:creationId xmlns:a16="http://schemas.microsoft.com/office/drawing/2014/main" id="{1C436AB2-65A7-47B1-A984-D266382BA4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9000" y="914400"/>
              <a:ext cx="726226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C00000"/>
                  </a:solidFill>
                  <a:latin typeface="+mn-lt"/>
                </a:rPr>
                <a:t>Tag</a:t>
              </a:r>
            </a:p>
          </p:txBody>
        </p:sp>
        <p:sp>
          <p:nvSpPr>
            <p:cNvPr id="111" name="Text Box 75">
              <a:extLst>
                <a:ext uri="{FF2B5EF4-FFF2-40B4-BE49-F238E27FC236}">
                  <a16:creationId xmlns:a16="http://schemas.microsoft.com/office/drawing/2014/main" id="{B5D4DA04-2759-4E95-9345-23DD0EE458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53200" y="914400"/>
              <a:ext cx="1066800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006600"/>
                  </a:solidFill>
                  <a:latin typeface="+mn-lt"/>
                </a:rPr>
                <a:t>Offset</a:t>
              </a: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0BAEB268-7595-4B11-BE85-B7EF92481650}"/>
                </a:ext>
              </a:extLst>
            </p:cNvPr>
            <p:cNvSpPr/>
            <p:nvPr/>
          </p:nvSpPr>
          <p:spPr>
            <a:xfrm>
              <a:off x="5105400" y="1295400"/>
              <a:ext cx="1600200" cy="381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dirty="0">
                  <a:solidFill>
                    <a:schemeClr val="accent6">
                      <a:lumMod val="50000"/>
                    </a:schemeClr>
                  </a:solidFill>
                </a:rPr>
                <a:t>0000000001</a:t>
              </a:r>
            </a:p>
          </p:txBody>
        </p:sp>
        <p:sp>
          <p:nvSpPr>
            <p:cNvPr id="113" name="Text Box 75">
              <a:extLst>
                <a:ext uri="{FF2B5EF4-FFF2-40B4-BE49-F238E27FC236}">
                  <a16:creationId xmlns:a16="http://schemas.microsoft.com/office/drawing/2014/main" id="{226367A3-BC7A-4DF9-8D7F-4DF639AF96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10200" y="914400"/>
              <a:ext cx="997177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6">
                      <a:lumMod val="50000"/>
                    </a:schemeClr>
                  </a:solidFill>
                  <a:latin typeface="+mn-lt"/>
                </a:rPr>
                <a:t>Index</a:t>
              </a:r>
            </a:p>
          </p:txBody>
        </p:sp>
      </p:grpSp>
      <p:sp>
        <p:nvSpPr>
          <p:cNvPr id="87" name="Left Arrow 86">
            <a:extLst>
              <a:ext uri="{FF2B5EF4-FFF2-40B4-BE49-F238E27FC236}">
                <a16:creationId xmlns:a16="http://schemas.microsoft.com/office/drawing/2014/main" id="{5AC761F4-F559-4D90-B686-FC74BA216C07}"/>
              </a:ext>
            </a:extLst>
          </p:cNvPr>
          <p:cNvSpPr/>
          <p:nvPr/>
        </p:nvSpPr>
        <p:spPr>
          <a:xfrm rot="5400000">
            <a:off x="3695700" y="1765717"/>
            <a:ext cx="228600" cy="304800"/>
          </a:xfrm>
          <a:prstGeom prst="leftArrow">
            <a:avLst/>
          </a:prstGeom>
          <a:solidFill>
            <a:srgbClr val="FF0000"/>
          </a:solidFill>
          <a:ln>
            <a:solidFill>
              <a:srgbClr val="66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DC0C6E1-9EE9-490E-B5D9-1EEB41146E4A}"/>
              </a:ext>
            </a:extLst>
          </p:cNvPr>
          <p:cNvGrpSpPr/>
          <p:nvPr/>
        </p:nvGrpSpPr>
        <p:grpSpPr>
          <a:xfrm>
            <a:off x="152400" y="2482850"/>
            <a:ext cx="8686800" cy="3568700"/>
            <a:chOff x="152400" y="2482850"/>
            <a:chExt cx="8686800" cy="356870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600056CB-C885-4CBC-908B-A047CEBCDC9C}"/>
                </a:ext>
              </a:extLst>
            </p:cNvPr>
            <p:cNvGrpSpPr/>
            <p:nvPr/>
          </p:nvGrpSpPr>
          <p:grpSpPr>
            <a:xfrm>
              <a:off x="304800" y="2482850"/>
              <a:ext cx="8534400" cy="3568700"/>
              <a:chOff x="304800" y="2482850"/>
              <a:chExt cx="8534400" cy="3568700"/>
            </a:xfrm>
          </p:grpSpPr>
          <p:sp>
            <p:nvSpPr>
              <p:cNvPr id="103" name="Rectangle 12">
                <a:extLst>
                  <a:ext uri="{FF2B5EF4-FFF2-40B4-BE49-F238E27FC236}">
                    <a16:creationId xmlns:a16="http://schemas.microsoft.com/office/drawing/2014/main" id="{B145FEA4-161C-49EA-BACC-9636FB107E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3000" y="3276600"/>
                <a:ext cx="990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04" name="Rectangle 13">
                <a:extLst>
                  <a:ext uri="{FF2B5EF4-FFF2-40B4-BE49-F238E27FC236}">
                    <a16:creationId xmlns:a16="http://schemas.microsoft.com/office/drawing/2014/main" id="{D6F061BB-EE02-45F2-A957-68D8C1CA14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400" y="3276600"/>
                <a:ext cx="228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0</a:t>
                </a:r>
              </a:p>
            </p:txBody>
          </p:sp>
          <p:sp>
            <p:nvSpPr>
              <p:cNvPr id="106" name="Rectangle 14">
                <a:extLst>
                  <a:ext uri="{FF2B5EF4-FFF2-40B4-BE49-F238E27FC236}">
                    <a16:creationId xmlns:a16="http://schemas.microsoft.com/office/drawing/2014/main" id="{D1D3AF2A-7812-4C43-B517-4DE029E7D1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3600" y="32766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14" name="Rectangle 15">
                <a:extLst>
                  <a:ext uri="{FF2B5EF4-FFF2-40B4-BE49-F238E27FC236}">
                    <a16:creationId xmlns:a16="http://schemas.microsoft.com/office/drawing/2014/main" id="{71D3ECE2-E3BF-41AD-BC36-7D06258511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0000" y="32766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15" name="Rectangle 16">
                <a:extLst>
                  <a:ext uri="{FF2B5EF4-FFF2-40B4-BE49-F238E27FC236}">
                    <a16:creationId xmlns:a16="http://schemas.microsoft.com/office/drawing/2014/main" id="{CE36E9FA-B430-45A9-B429-341031B1D0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6400" y="32766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17" name="Rectangle 17">
                <a:extLst>
                  <a:ext uri="{FF2B5EF4-FFF2-40B4-BE49-F238E27FC236}">
                    <a16:creationId xmlns:a16="http://schemas.microsoft.com/office/drawing/2014/main" id="{8D044D16-8DF1-4891-9FA3-484244C4D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62800" y="32766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18" name="Rectangle 18">
                <a:extLst>
                  <a:ext uri="{FF2B5EF4-FFF2-40B4-BE49-F238E27FC236}">
                    <a16:creationId xmlns:a16="http://schemas.microsoft.com/office/drawing/2014/main" id="{FABF1531-0AB0-4D14-A667-CADA95FDDF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3000" y="3581400"/>
                <a:ext cx="990600" cy="304800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0</a:t>
                </a:r>
              </a:p>
            </p:txBody>
          </p:sp>
          <p:sp>
            <p:nvSpPr>
              <p:cNvPr id="119" name="Rectangle 19">
                <a:extLst>
                  <a:ext uri="{FF2B5EF4-FFF2-40B4-BE49-F238E27FC236}">
                    <a16:creationId xmlns:a16="http://schemas.microsoft.com/office/drawing/2014/main" id="{6007E558-4FC7-4606-93E1-D003959183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400" y="3581400"/>
                <a:ext cx="228600" cy="304800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1</a:t>
                </a:r>
              </a:p>
            </p:txBody>
          </p:sp>
          <p:sp>
            <p:nvSpPr>
              <p:cNvPr id="120" name="Rectangle 20">
                <a:extLst>
                  <a:ext uri="{FF2B5EF4-FFF2-40B4-BE49-F238E27FC236}">
                    <a16:creationId xmlns:a16="http://schemas.microsoft.com/office/drawing/2014/main" id="{712F6FF7-47CD-42B9-BC74-FC05D403A9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3600" y="3581400"/>
                <a:ext cx="1676400" cy="304800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A</a:t>
                </a:r>
              </a:p>
            </p:txBody>
          </p:sp>
          <p:sp>
            <p:nvSpPr>
              <p:cNvPr id="121" name="Rectangle 21">
                <a:extLst>
                  <a:ext uri="{FF2B5EF4-FFF2-40B4-BE49-F238E27FC236}">
                    <a16:creationId xmlns:a16="http://schemas.microsoft.com/office/drawing/2014/main" id="{9335F7A1-B98C-4E48-8473-A68477FCD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0000" y="3581400"/>
                <a:ext cx="1676400" cy="304800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B</a:t>
                </a:r>
              </a:p>
            </p:txBody>
          </p:sp>
          <p:sp>
            <p:nvSpPr>
              <p:cNvPr id="122" name="Rectangle 22">
                <a:extLst>
                  <a:ext uri="{FF2B5EF4-FFF2-40B4-BE49-F238E27FC236}">
                    <a16:creationId xmlns:a16="http://schemas.microsoft.com/office/drawing/2014/main" id="{37B53A77-4B6C-4328-896D-6BDE9BB54E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6400" y="3581400"/>
                <a:ext cx="1676400" cy="304800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C</a:t>
                </a:r>
              </a:p>
            </p:txBody>
          </p:sp>
          <p:sp>
            <p:nvSpPr>
              <p:cNvPr id="123" name="Rectangle 23">
                <a:extLst>
                  <a:ext uri="{FF2B5EF4-FFF2-40B4-BE49-F238E27FC236}">
                    <a16:creationId xmlns:a16="http://schemas.microsoft.com/office/drawing/2014/main" id="{51D39A61-2614-44C5-810B-36E7C9E67C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62800" y="3581400"/>
                <a:ext cx="1676400" cy="304800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D</a:t>
                </a:r>
              </a:p>
            </p:txBody>
          </p:sp>
          <p:sp>
            <p:nvSpPr>
              <p:cNvPr id="124" name="Rectangle 24">
                <a:extLst>
                  <a:ext uri="{FF2B5EF4-FFF2-40B4-BE49-F238E27FC236}">
                    <a16:creationId xmlns:a16="http://schemas.microsoft.com/office/drawing/2014/main" id="{1E5FF318-2EF8-4DDA-8409-D6327A77A3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3000" y="3886200"/>
                <a:ext cx="990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25" name="Rectangle 25">
                <a:extLst>
                  <a:ext uri="{FF2B5EF4-FFF2-40B4-BE49-F238E27FC236}">
                    <a16:creationId xmlns:a16="http://schemas.microsoft.com/office/drawing/2014/main" id="{A13CDAA0-16EC-417C-B4F8-FA58B2F7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400" y="3886200"/>
                <a:ext cx="228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0</a:t>
                </a:r>
              </a:p>
            </p:txBody>
          </p:sp>
          <p:sp>
            <p:nvSpPr>
              <p:cNvPr id="126" name="Rectangle 26">
                <a:extLst>
                  <a:ext uri="{FF2B5EF4-FFF2-40B4-BE49-F238E27FC236}">
                    <a16:creationId xmlns:a16="http://schemas.microsoft.com/office/drawing/2014/main" id="{F403507A-0E1E-489A-89D1-B038EDDF76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3600" y="38862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27" name="Rectangle 27">
                <a:extLst>
                  <a:ext uri="{FF2B5EF4-FFF2-40B4-BE49-F238E27FC236}">
                    <a16:creationId xmlns:a16="http://schemas.microsoft.com/office/drawing/2014/main" id="{D5540AE2-0137-4708-99DC-9AA253963D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0000" y="38862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28" name="Rectangle 28">
                <a:extLst>
                  <a:ext uri="{FF2B5EF4-FFF2-40B4-BE49-F238E27FC236}">
                    <a16:creationId xmlns:a16="http://schemas.microsoft.com/office/drawing/2014/main" id="{7B6FE451-15AE-4A94-A507-ED474958EB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6400" y="38862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29" name="Rectangle 29">
                <a:extLst>
                  <a:ext uri="{FF2B5EF4-FFF2-40B4-BE49-F238E27FC236}">
                    <a16:creationId xmlns:a16="http://schemas.microsoft.com/office/drawing/2014/main" id="{B2B2652B-CC40-49B0-8C6B-9BB6D6C718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62800" y="38862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30" name="Rectangle 30">
                <a:extLst>
                  <a:ext uri="{FF2B5EF4-FFF2-40B4-BE49-F238E27FC236}">
                    <a16:creationId xmlns:a16="http://schemas.microsoft.com/office/drawing/2014/main" id="{B52E327D-81D7-48FC-A580-08D91A927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3000" y="4191000"/>
                <a:ext cx="990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31" name="Rectangle 31">
                <a:extLst>
                  <a:ext uri="{FF2B5EF4-FFF2-40B4-BE49-F238E27FC236}">
                    <a16:creationId xmlns:a16="http://schemas.microsoft.com/office/drawing/2014/main" id="{96DD3725-6D89-41A5-8BE9-9C3EADF6EB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400" y="4191000"/>
                <a:ext cx="228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0</a:t>
                </a:r>
              </a:p>
            </p:txBody>
          </p:sp>
          <p:sp>
            <p:nvSpPr>
              <p:cNvPr id="132" name="Rectangle 32">
                <a:extLst>
                  <a:ext uri="{FF2B5EF4-FFF2-40B4-BE49-F238E27FC236}">
                    <a16:creationId xmlns:a16="http://schemas.microsoft.com/office/drawing/2014/main" id="{E7F6A94F-E689-4858-8C8C-8A22203A10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3600" y="41910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33" name="Rectangle 33">
                <a:extLst>
                  <a:ext uri="{FF2B5EF4-FFF2-40B4-BE49-F238E27FC236}">
                    <a16:creationId xmlns:a16="http://schemas.microsoft.com/office/drawing/2014/main" id="{0E5BD2EE-35F8-4F78-B2D8-02FEE1A961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0000" y="41910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34" name="Rectangle 34">
                <a:extLst>
                  <a:ext uri="{FF2B5EF4-FFF2-40B4-BE49-F238E27FC236}">
                    <a16:creationId xmlns:a16="http://schemas.microsoft.com/office/drawing/2014/main" id="{B0634A88-DE4E-4D51-9F07-BA2B57F55B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6400" y="41910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35" name="Rectangle 35">
                <a:extLst>
                  <a:ext uri="{FF2B5EF4-FFF2-40B4-BE49-F238E27FC236}">
                    <a16:creationId xmlns:a16="http://schemas.microsoft.com/office/drawing/2014/main" id="{7731F9E3-4DE2-4E7E-BA51-4B001765A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62800" y="41910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36" name="Rectangle 36">
                <a:extLst>
                  <a:ext uri="{FF2B5EF4-FFF2-40B4-BE49-F238E27FC236}">
                    <a16:creationId xmlns:a16="http://schemas.microsoft.com/office/drawing/2014/main" id="{5E75CF91-ED93-403F-9EBA-EF54D4975D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3000" y="4495800"/>
                <a:ext cx="990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37" name="Rectangle 37">
                <a:extLst>
                  <a:ext uri="{FF2B5EF4-FFF2-40B4-BE49-F238E27FC236}">
                    <a16:creationId xmlns:a16="http://schemas.microsoft.com/office/drawing/2014/main" id="{3A3CC617-E19E-45B4-ACDC-3E35C5681C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400" y="4495800"/>
                <a:ext cx="228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0</a:t>
                </a:r>
              </a:p>
            </p:txBody>
          </p:sp>
          <p:sp>
            <p:nvSpPr>
              <p:cNvPr id="138" name="Rectangle 38">
                <a:extLst>
                  <a:ext uri="{FF2B5EF4-FFF2-40B4-BE49-F238E27FC236}">
                    <a16:creationId xmlns:a16="http://schemas.microsoft.com/office/drawing/2014/main" id="{EE2D5E62-D865-4B75-9403-19E8D7AF48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3600" y="44958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39" name="Rectangle 39">
                <a:extLst>
                  <a:ext uri="{FF2B5EF4-FFF2-40B4-BE49-F238E27FC236}">
                    <a16:creationId xmlns:a16="http://schemas.microsoft.com/office/drawing/2014/main" id="{22FC60D9-C2B6-4983-9C13-0252D29709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0000" y="44958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40" name="Rectangle 40">
                <a:extLst>
                  <a:ext uri="{FF2B5EF4-FFF2-40B4-BE49-F238E27FC236}">
                    <a16:creationId xmlns:a16="http://schemas.microsoft.com/office/drawing/2014/main" id="{A2012475-EEC6-48A7-9BCB-9CF63DA4DC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6400" y="44958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41" name="Rectangle 41">
                <a:extLst>
                  <a:ext uri="{FF2B5EF4-FFF2-40B4-BE49-F238E27FC236}">
                    <a16:creationId xmlns:a16="http://schemas.microsoft.com/office/drawing/2014/main" id="{17AB8261-BC7E-4D5F-B129-66B8C69C0A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62800" y="44958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42" name="Rectangle 42">
                <a:extLst>
                  <a:ext uri="{FF2B5EF4-FFF2-40B4-BE49-F238E27FC236}">
                    <a16:creationId xmlns:a16="http://schemas.microsoft.com/office/drawing/2014/main" id="{06F0B933-53D2-472A-A09F-0C0A257D7F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3000" y="4800600"/>
                <a:ext cx="990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43" name="Rectangle 43">
                <a:extLst>
                  <a:ext uri="{FF2B5EF4-FFF2-40B4-BE49-F238E27FC236}">
                    <a16:creationId xmlns:a16="http://schemas.microsoft.com/office/drawing/2014/main" id="{E152B7F9-71A1-47AD-BAC1-3E596A7424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400" y="4800600"/>
                <a:ext cx="228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0</a:t>
                </a:r>
              </a:p>
            </p:txBody>
          </p:sp>
          <p:sp>
            <p:nvSpPr>
              <p:cNvPr id="144" name="Rectangle 44">
                <a:extLst>
                  <a:ext uri="{FF2B5EF4-FFF2-40B4-BE49-F238E27FC236}">
                    <a16:creationId xmlns:a16="http://schemas.microsoft.com/office/drawing/2014/main" id="{A02F1FCD-094E-41D2-8334-3FD5941D7F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3600" y="48006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45" name="Rectangle 45">
                <a:extLst>
                  <a:ext uri="{FF2B5EF4-FFF2-40B4-BE49-F238E27FC236}">
                    <a16:creationId xmlns:a16="http://schemas.microsoft.com/office/drawing/2014/main" id="{1354137D-A3A0-454C-A452-584839D8DB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0000" y="48006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46" name="Rectangle 46">
                <a:extLst>
                  <a:ext uri="{FF2B5EF4-FFF2-40B4-BE49-F238E27FC236}">
                    <a16:creationId xmlns:a16="http://schemas.microsoft.com/office/drawing/2014/main" id="{D75AB377-8CE9-49A4-9263-6EF13802CB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6400" y="48006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47" name="Rectangle 47">
                <a:extLst>
                  <a:ext uri="{FF2B5EF4-FFF2-40B4-BE49-F238E27FC236}">
                    <a16:creationId xmlns:a16="http://schemas.microsoft.com/office/drawing/2014/main" id="{BEEF1CEA-7ACD-4475-9BFB-D33554F591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62800" y="48006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48" name="Rectangle 48">
                <a:extLst>
                  <a:ext uri="{FF2B5EF4-FFF2-40B4-BE49-F238E27FC236}">
                    <a16:creationId xmlns:a16="http://schemas.microsoft.com/office/drawing/2014/main" id="{A83D5556-A35F-4365-A545-B770A26A3E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3000" y="5410200"/>
                <a:ext cx="990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49" name="Rectangle 49">
                <a:extLst>
                  <a:ext uri="{FF2B5EF4-FFF2-40B4-BE49-F238E27FC236}">
                    <a16:creationId xmlns:a16="http://schemas.microsoft.com/office/drawing/2014/main" id="{915EC05A-0D56-4901-B378-94D01B2500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400" y="5410200"/>
                <a:ext cx="228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0</a:t>
                </a:r>
              </a:p>
            </p:txBody>
          </p:sp>
          <p:sp>
            <p:nvSpPr>
              <p:cNvPr id="150" name="Rectangle 50">
                <a:extLst>
                  <a:ext uri="{FF2B5EF4-FFF2-40B4-BE49-F238E27FC236}">
                    <a16:creationId xmlns:a16="http://schemas.microsoft.com/office/drawing/2014/main" id="{B9C9490C-E22B-40EC-94BE-94A349AA23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3600" y="54102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51" name="Rectangle 51">
                <a:extLst>
                  <a:ext uri="{FF2B5EF4-FFF2-40B4-BE49-F238E27FC236}">
                    <a16:creationId xmlns:a16="http://schemas.microsoft.com/office/drawing/2014/main" id="{8AF5D80A-08C7-4E73-A088-1AC8753AD9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0000" y="54102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52" name="Rectangle 52">
                <a:extLst>
                  <a:ext uri="{FF2B5EF4-FFF2-40B4-BE49-F238E27FC236}">
                    <a16:creationId xmlns:a16="http://schemas.microsoft.com/office/drawing/2014/main" id="{42E9DFB2-4F32-4C37-9CB5-8BB1FF6ED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6400" y="54102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53" name="Rectangle 53">
                <a:extLst>
                  <a:ext uri="{FF2B5EF4-FFF2-40B4-BE49-F238E27FC236}">
                    <a16:creationId xmlns:a16="http://schemas.microsoft.com/office/drawing/2014/main" id="{D8A8461E-C4C0-4C0A-A682-B0935A6F7D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62800" y="54102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54" name="Rectangle 54">
                <a:extLst>
                  <a:ext uri="{FF2B5EF4-FFF2-40B4-BE49-F238E27FC236}">
                    <a16:creationId xmlns:a16="http://schemas.microsoft.com/office/drawing/2014/main" id="{B5470C8D-CBE8-4986-B5B7-D33EB43F4A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3000" y="5715000"/>
                <a:ext cx="990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55" name="Rectangle 55">
                <a:extLst>
                  <a:ext uri="{FF2B5EF4-FFF2-40B4-BE49-F238E27FC236}">
                    <a16:creationId xmlns:a16="http://schemas.microsoft.com/office/drawing/2014/main" id="{179C9D65-ED8D-4270-96DB-0166B37CC6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400" y="5715000"/>
                <a:ext cx="228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0</a:t>
                </a:r>
              </a:p>
            </p:txBody>
          </p:sp>
          <p:sp>
            <p:nvSpPr>
              <p:cNvPr id="156" name="Rectangle 56">
                <a:extLst>
                  <a:ext uri="{FF2B5EF4-FFF2-40B4-BE49-F238E27FC236}">
                    <a16:creationId xmlns:a16="http://schemas.microsoft.com/office/drawing/2014/main" id="{8FA3F269-F6F9-4D8C-BD50-834B9C1C2D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3600" y="57150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57" name="Rectangle 57">
                <a:extLst>
                  <a:ext uri="{FF2B5EF4-FFF2-40B4-BE49-F238E27FC236}">
                    <a16:creationId xmlns:a16="http://schemas.microsoft.com/office/drawing/2014/main" id="{B2736331-EA8C-4D2B-911F-2C47F8E08F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0000" y="57150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58" name="Rectangle 58">
                <a:extLst>
                  <a:ext uri="{FF2B5EF4-FFF2-40B4-BE49-F238E27FC236}">
                    <a16:creationId xmlns:a16="http://schemas.microsoft.com/office/drawing/2014/main" id="{475E4477-D818-4539-8C43-16264999F3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6400" y="57150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59" name="Rectangle 59">
                <a:extLst>
                  <a:ext uri="{FF2B5EF4-FFF2-40B4-BE49-F238E27FC236}">
                    <a16:creationId xmlns:a16="http://schemas.microsoft.com/office/drawing/2014/main" id="{EB6C6119-1E77-419C-842F-D757461A5E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62800" y="57150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60" name="Text Box 60">
                <a:extLst>
                  <a:ext uri="{FF2B5EF4-FFF2-40B4-BE49-F238E27FC236}">
                    <a16:creationId xmlns:a16="http://schemas.microsoft.com/office/drawing/2014/main" id="{E179067C-A457-4C72-A7A6-678A56BD556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86000" y="4960203"/>
                <a:ext cx="5029200" cy="738664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eaLnBrk="0" hangingPunct="0"/>
                <a:r>
                  <a:rPr lang="en-US" sz="2400" b="1" dirty="0">
                    <a:latin typeface="+mn-lt"/>
                  </a:rPr>
                  <a:t>...    </a:t>
                </a:r>
                <a:r>
                  <a:rPr lang="en-US" sz="2400" b="1" dirty="0"/>
                  <a:t>...    ...    …   …   …   …   …</a:t>
                </a:r>
                <a:endParaRPr lang="en-US" sz="2400" dirty="0"/>
              </a:p>
              <a:p>
                <a:pPr eaLnBrk="0" hangingPunct="0"/>
                <a:endParaRPr lang="en-US" dirty="0"/>
              </a:p>
            </p:txBody>
          </p:sp>
          <p:sp>
            <p:nvSpPr>
              <p:cNvPr id="161" name="Text Box 61">
                <a:extLst>
                  <a:ext uri="{FF2B5EF4-FFF2-40B4-BE49-F238E27FC236}">
                    <a16:creationId xmlns:a16="http://schemas.microsoft.com/office/drawing/2014/main" id="{F763934D-8464-44E6-95BB-5DDCFBB26C4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3400" y="3276600"/>
                <a:ext cx="307975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dirty="0">
                    <a:latin typeface="+mn-lt"/>
                  </a:rPr>
                  <a:t>0</a:t>
                </a:r>
              </a:p>
            </p:txBody>
          </p:sp>
          <p:sp>
            <p:nvSpPr>
              <p:cNvPr id="162" name="Text Box 62">
                <a:extLst>
                  <a:ext uri="{FF2B5EF4-FFF2-40B4-BE49-F238E27FC236}">
                    <a16:creationId xmlns:a16="http://schemas.microsoft.com/office/drawing/2014/main" id="{05FF7976-56BD-4E07-8B19-D92729B10FA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2273" y="3581400"/>
                <a:ext cx="298480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>
                    <a:latin typeface="+mn-lt"/>
                  </a:rPr>
                  <a:t>1</a:t>
                </a:r>
              </a:p>
            </p:txBody>
          </p:sp>
          <p:sp>
            <p:nvSpPr>
              <p:cNvPr id="163" name="Text Box 63">
                <a:extLst>
                  <a:ext uri="{FF2B5EF4-FFF2-40B4-BE49-F238E27FC236}">
                    <a16:creationId xmlns:a16="http://schemas.microsoft.com/office/drawing/2014/main" id="{02B3F9D3-4E0C-4870-82B0-814473BAF5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3400" y="3886200"/>
                <a:ext cx="307975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>
                    <a:latin typeface="+mn-lt"/>
                  </a:rPr>
                  <a:t>2</a:t>
                </a:r>
              </a:p>
            </p:txBody>
          </p:sp>
          <p:sp>
            <p:nvSpPr>
              <p:cNvPr id="164" name="Text Box 64">
                <a:extLst>
                  <a:ext uri="{FF2B5EF4-FFF2-40B4-BE49-F238E27FC236}">
                    <a16:creationId xmlns:a16="http://schemas.microsoft.com/office/drawing/2014/main" id="{AAE54627-1E3C-4D28-AB1B-627CD71AF10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3400" y="4191000"/>
                <a:ext cx="307975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>
                    <a:latin typeface="+mn-lt"/>
                  </a:rPr>
                  <a:t>3</a:t>
                </a:r>
              </a:p>
            </p:txBody>
          </p:sp>
          <p:sp>
            <p:nvSpPr>
              <p:cNvPr id="165" name="Text Box 65">
                <a:extLst>
                  <a:ext uri="{FF2B5EF4-FFF2-40B4-BE49-F238E27FC236}">
                    <a16:creationId xmlns:a16="http://schemas.microsoft.com/office/drawing/2014/main" id="{1692934C-576B-4EF6-967D-07BAA00B65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3400" y="4495800"/>
                <a:ext cx="307975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>
                    <a:latin typeface="+mn-lt"/>
                  </a:rPr>
                  <a:t>4</a:t>
                </a:r>
              </a:p>
            </p:txBody>
          </p:sp>
          <p:sp>
            <p:nvSpPr>
              <p:cNvPr id="166" name="Text Box 66">
                <a:extLst>
                  <a:ext uri="{FF2B5EF4-FFF2-40B4-BE49-F238E27FC236}">
                    <a16:creationId xmlns:a16="http://schemas.microsoft.com/office/drawing/2014/main" id="{04CC81B6-FBEE-4BA7-B273-C04E325089B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3400" y="4800600"/>
                <a:ext cx="307975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>
                    <a:latin typeface="+mn-lt"/>
                  </a:rPr>
                  <a:t>5</a:t>
                </a:r>
              </a:p>
            </p:txBody>
          </p:sp>
          <p:sp>
            <p:nvSpPr>
              <p:cNvPr id="167" name="Text Box 67">
                <a:extLst>
                  <a:ext uri="{FF2B5EF4-FFF2-40B4-BE49-F238E27FC236}">
                    <a16:creationId xmlns:a16="http://schemas.microsoft.com/office/drawing/2014/main" id="{2F255B41-C836-4883-B5D0-19B1FFEBA71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4800" y="5410200"/>
                <a:ext cx="647700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>
                    <a:latin typeface="+mn-lt"/>
                  </a:rPr>
                  <a:t>1022</a:t>
                </a:r>
              </a:p>
            </p:txBody>
          </p:sp>
          <p:sp>
            <p:nvSpPr>
              <p:cNvPr id="168" name="Text Box 68">
                <a:extLst>
                  <a:ext uri="{FF2B5EF4-FFF2-40B4-BE49-F238E27FC236}">
                    <a16:creationId xmlns:a16="http://schemas.microsoft.com/office/drawing/2014/main" id="{3CC72AEA-E6AA-49CD-BD53-8ECEF01CE13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4800" y="5715000"/>
                <a:ext cx="647700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>
                    <a:latin typeface="+mn-lt"/>
                  </a:rPr>
                  <a:t>1023</a:t>
                </a:r>
              </a:p>
            </p:txBody>
          </p:sp>
          <p:sp>
            <p:nvSpPr>
              <p:cNvPr id="169" name="Text Box 70">
                <a:extLst>
                  <a:ext uri="{FF2B5EF4-FFF2-40B4-BE49-F238E27FC236}">
                    <a16:creationId xmlns:a16="http://schemas.microsoft.com/office/drawing/2014/main" id="{CC294C67-ADC5-4981-AB79-4E42E2F4DA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56314" y="2971800"/>
                <a:ext cx="663836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 dirty="0">
                    <a:latin typeface="+mn-lt"/>
                  </a:rPr>
                  <a:t>Valid</a:t>
                </a:r>
              </a:p>
            </p:txBody>
          </p:sp>
          <p:sp>
            <p:nvSpPr>
              <p:cNvPr id="170" name="Text Box 71">
                <a:extLst>
                  <a:ext uri="{FF2B5EF4-FFF2-40B4-BE49-F238E27FC236}">
                    <a16:creationId xmlns:a16="http://schemas.microsoft.com/office/drawing/2014/main" id="{D8BB064E-21F1-496B-BBCD-F3EC1EC6712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47800" y="2971800"/>
                <a:ext cx="534988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 dirty="0">
                    <a:latin typeface="+mn-lt"/>
                  </a:rPr>
                  <a:t>Tag</a:t>
                </a:r>
              </a:p>
            </p:txBody>
          </p:sp>
          <p:grpSp>
            <p:nvGrpSpPr>
              <p:cNvPr id="171" name="Group 170">
                <a:extLst>
                  <a:ext uri="{FF2B5EF4-FFF2-40B4-BE49-F238E27FC236}">
                    <a16:creationId xmlns:a16="http://schemas.microsoft.com/office/drawing/2014/main" id="{3A232E08-38B7-453E-9029-80D2FC9ADBC1}"/>
                  </a:ext>
                </a:extLst>
              </p:cNvPr>
              <p:cNvGrpSpPr/>
              <p:nvPr/>
            </p:nvGrpSpPr>
            <p:grpSpPr>
              <a:xfrm>
                <a:off x="2133600" y="2482850"/>
                <a:ext cx="6629400" cy="336550"/>
                <a:chOff x="2209800" y="2438400"/>
                <a:chExt cx="6629400" cy="336550"/>
              </a:xfrm>
            </p:grpSpPr>
            <p:sp>
              <p:nvSpPr>
                <p:cNvPr id="172" name="Text Box 72">
                  <a:extLst>
                    <a:ext uri="{FF2B5EF4-FFF2-40B4-BE49-F238E27FC236}">
                      <a16:creationId xmlns:a16="http://schemas.microsoft.com/office/drawing/2014/main" id="{4FBB43BF-77A0-4C7E-97B9-E81A3F51357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648200" y="2438400"/>
                  <a:ext cx="635000" cy="336550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sz="1600" b="1" dirty="0">
                      <a:latin typeface="+mn-lt"/>
                    </a:rPr>
                    <a:t>Data</a:t>
                  </a:r>
                </a:p>
              </p:txBody>
            </p:sp>
            <p:sp>
              <p:nvSpPr>
                <p:cNvPr id="173" name="Line 73">
                  <a:extLst>
                    <a:ext uri="{FF2B5EF4-FFF2-40B4-BE49-F238E27FC236}">
                      <a16:creationId xmlns:a16="http://schemas.microsoft.com/office/drawing/2014/main" id="{FCEC574D-2840-4272-8295-4AFF43A51E0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209800" y="2590800"/>
                  <a:ext cx="243840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>
                  <a:spAutoFit/>
                </a:bodyPr>
                <a:lstStyle/>
                <a:p>
                  <a:endParaRPr lang="en-US">
                    <a:latin typeface="+mn-lt"/>
                  </a:endParaRPr>
                </a:p>
              </p:txBody>
            </p:sp>
            <p:sp>
              <p:nvSpPr>
                <p:cNvPr id="174" name="Line 74">
                  <a:extLst>
                    <a:ext uri="{FF2B5EF4-FFF2-40B4-BE49-F238E27FC236}">
                      <a16:creationId xmlns:a16="http://schemas.microsoft.com/office/drawing/2014/main" id="{642500F6-AB56-445B-86D1-5A2D13E4579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57800" y="2590800"/>
                  <a:ext cx="358140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 wrap="none">
                  <a:spAutoFit/>
                </a:bodyPr>
                <a:lstStyle/>
                <a:p>
                  <a:endParaRPr lang="en-US">
                    <a:latin typeface="+mn-lt"/>
                  </a:endParaRPr>
                </a:p>
              </p:txBody>
            </p:sp>
          </p:grpSp>
          <p:sp>
            <p:nvSpPr>
              <p:cNvPr id="175" name="Text Box 75">
                <a:extLst>
                  <a:ext uri="{FF2B5EF4-FFF2-40B4-BE49-F238E27FC236}">
                    <a16:creationId xmlns:a16="http://schemas.microsoft.com/office/drawing/2014/main" id="{A57F1217-E125-40D2-9C64-0624C19AB66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44072" y="2743200"/>
                <a:ext cx="818942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 dirty="0">
                    <a:latin typeface="+mn-lt"/>
                  </a:rPr>
                  <a:t>Word0</a:t>
                </a:r>
              </a:p>
            </p:txBody>
          </p:sp>
          <p:sp>
            <p:nvSpPr>
              <p:cNvPr id="176" name="Text Box 76">
                <a:extLst>
                  <a:ext uri="{FF2B5EF4-FFF2-40B4-BE49-F238E27FC236}">
                    <a16:creationId xmlns:a16="http://schemas.microsoft.com/office/drawing/2014/main" id="{AFF67471-2366-4D26-B9FF-2AD96183BB9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60862" y="2743200"/>
                <a:ext cx="811213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 dirty="0">
                    <a:latin typeface="+mn-lt"/>
                  </a:rPr>
                  <a:t>Word1</a:t>
                </a:r>
              </a:p>
            </p:txBody>
          </p:sp>
          <p:sp>
            <p:nvSpPr>
              <p:cNvPr id="177" name="Text Box 77">
                <a:extLst>
                  <a:ext uri="{FF2B5EF4-FFF2-40B4-BE49-F238E27FC236}">
                    <a16:creationId xmlns:a16="http://schemas.microsoft.com/office/drawing/2014/main" id="{A385F1F8-BC56-4A10-A6BB-F0634E191AB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49272" y="2743200"/>
                <a:ext cx="818942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 dirty="0">
                    <a:latin typeface="+mn-lt"/>
                  </a:rPr>
                  <a:t>Word2</a:t>
                </a:r>
              </a:p>
            </p:txBody>
          </p:sp>
          <p:sp>
            <p:nvSpPr>
              <p:cNvPr id="178" name="Text Box 78">
                <a:extLst>
                  <a:ext uri="{FF2B5EF4-FFF2-40B4-BE49-F238E27FC236}">
                    <a16:creationId xmlns:a16="http://schemas.microsoft.com/office/drawing/2014/main" id="{45589EB9-883C-4B88-9B41-641DA71F91F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49472" y="2743200"/>
                <a:ext cx="818942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 dirty="0">
                    <a:latin typeface="+mn-lt"/>
                  </a:rPr>
                  <a:t>Word3</a:t>
                </a:r>
              </a:p>
            </p:txBody>
          </p:sp>
          <p:sp>
            <p:nvSpPr>
              <p:cNvPr id="179" name="Text Box 79">
                <a:extLst>
                  <a:ext uri="{FF2B5EF4-FFF2-40B4-BE49-F238E27FC236}">
                    <a16:creationId xmlns:a16="http://schemas.microsoft.com/office/drawing/2014/main" id="{F5A18A55-8132-4A57-BF25-F1AD8886F40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08548" y="2971800"/>
                <a:ext cx="1051891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dirty="0">
                    <a:latin typeface="+mn-lt"/>
                  </a:rPr>
                  <a:t>Bytes 0-3</a:t>
                </a:r>
              </a:p>
            </p:txBody>
          </p:sp>
          <p:sp>
            <p:nvSpPr>
              <p:cNvPr id="180" name="Text Box 80">
                <a:extLst>
                  <a:ext uri="{FF2B5EF4-FFF2-40B4-BE49-F238E27FC236}">
                    <a16:creationId xmlns:a16="http://schemas.microsoft.com/office/drawing/2014/main" id="{D8B0617E-403B-435C-9D5C-251D506658A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37348" y="2971800"/>
                <a:ext cx="1051891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dirty="0">
                    <a:latin typeface="+mn-lt"/>
                  </a:rPr>
                  <a:t>Bytes 4-7</a:t>
                </a:r>
              </a:p>
            </p:txBody>
          </p:sp>
          <p:sp>
            <p:nvSpPr>
              <p:cNvPr id="181" name="Text Box 81">
                <a:extLst>
                  <a:ext uri="{FF2B5EF4-FFF2-40B4-BE49-F238E27FC236}">
                    <a16:creationId xmlns:a16="http://schemas.microsoft.com/office/drawing/2014/main" id="{5AEA3639-604E-4BC6-8CBB-1BFD18FD781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48597" y="2971800"/>
                <a:ext cx="1150444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dirty="0">
                    <a:latin typeface="+mn-lt"/>
                  </a:rPr>
                  <a:t>Bytes 8-11</a:t>
                </a:r>
              </a:p>
            </p:txBody>
          </p:sp>
          <p:sp>
            <p:nvSpPr>
              <p:cNvPr id="182" name="Text Box 82">
                <a:extLst>
                  <a:ext uri="{FF2B5EF4-FFF2-40B4-BE49-F238E27FC236}">
                    <a16:creationId xmlns:a16="http://schemas.microsoft.com/office/drawing/2014/main" id="{D91310A5-BB51-4036-BB85-C14078F6E3D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46173" y="2971800"/>
                <a:ext cx="1279517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dirty="0">
                    <a:latin typeface="+mn-lt"/>
                  </a:rPr>
                  <a:t>Bytes 12-15</a:t>
                </a:r>
              </a:p>
            </p:txBody>
          </p:sp>
        </p:grpSp>
        <p:sp>
          <p:nvSpPr>
            <p:cNvPr id="90" name="Text Box 69">
              <a:extLst>
                <a:ext uri="{FF2B5EF4-FFF2-40B4-BE49-F238E27FC236}">
                  <a16:creationId xmlns:a16="http://schemas.microsoft.com/office/drawing/2014/main" id="{0425BD20-481B-47DA-B9B7-6F8AEF12CB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400" y="2971800"/>
              <a:ext cx="720069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latin typeface="+mn-lt"/>
                </a:rPr>
                <a:t>Index</a:t>
              </a:r>
            </a:p>
          </p:txBody>
        </p:sp>
      </p:grpSp>
      <p:sp>
        <p:nvSpPr>
          <p:cNvPr id="88" name="Oval 87">
            <a:extLst>
              <a:ext uri="{FF2B5EF4-FFF2-40B4-BE49-F238E27FC236}">
                <a16:creationId xmlns:a16="http://schemas.microsoft.com/office/drawing/2014/main" id="{91F72066-3889-40F2-BEDA-230D024CD8E5}"/>
              </a:ext>
            </a:extLst>
          </p:cNvPr>
          <p:cNvSpPr/>
          <p:nvPr/>
        </p:nvSpPr>
        <p:spPr>
          <a:xfrm>
            <a:off x="1143000" y="3505200"/>
            <a:ext cx="990600" cy="457200"/>
          </a:xfrm>
          <a:prstGeom prst="ellipse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55849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 animBg="1"/>
      <p:bldP spid="8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5. Reading Data: </a:t>
            </a:r>
            <a:r>
              <a:rPr lang="en-GB" sz="3600" b="1" dirty="0">
                <a:solidFill>
                  <a:srgbClr val="0000FF"/>
                </a:solidFill>
              </a:rPr>
              <a:t>Load #2-3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#22: Cache I: Direct Mapped Cache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40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05" name="Content Placeholder 2">
            <a:extLst>
              <a:ext uri="{FF2B5EF4-FFF2-40B4-BE49-F238E27FC236}">
                <a16:creationId xmlns:a16="http://schemas.microsoft.com/office/drawing/2014/main" id="{F42D869D-777C-4A19-87AD-D73DCB7B3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788" y="1463676"/>
            <a:ext cx="8538411" cy="958849"/>
          </a:xfrm>
        </p:spPr>
        <p:txBody>
          <a:bodyPr>
            <a:normAutofit/>
          </a:bodyPr>
          <a:lstStyle/>
          <a:p>
            <a:pPr marL="265113" indent="-265113">
              <a:buSzPct val="100000"/>
              <a:buFont typeface="Wingdings" panose="05000000000000000000" pitchFamily="2" charset="2"/>
              <a:buChar char="§"/>
            </a:pPr>
            <a:r>
              <a:rPr lang="en-SG" sz="2400" dirty="0"/>
              <a:t>Load from</a:t>
            </a:r>
            <a:endParaRPr lang="en-SG" sz="2200" dirty="0"/>
          </a:p>
          <a:p>
            <a:pPr>
              <a:buNone/>
            </a:pPr>
            <a:r>
              <a:rPr lang="en-US" b="1" dirty="0"/>
              <a:t>Step 3</a:t>
            </a:r>
            <a:r>
              <a:rPr lang="en-US" dirty="0"/>
              <a:t>. </a:t>
            </a:r>
            <a:r>
              <a:rPr lang="en-US" sz="2000" dirty="0">
                <a:sym typeface="Wingdings" panose="05000000000000000000" pitchFamily="2" charset="2"/>
              </a:rPr>
              <a:t>Return </a:t>
            </a:r>
            <a:r>
              <a:rPr lang="en-US" sz="2000" b="1" dirty="0">
                <a:sym typeface="Wingdings" panose="05000000000000000000" pitchFamily="2" charset="2"/>
              </a:rPr>
              <a:t>Word3</a:t>
            </a:r>
            <a:r>
              <a:rPr lang="en-US" sz="2000" dirty="0">
                <a:sym typeface="Wingdings" panose="05000000000000000000" pitchFamily="2" charset="2"/>
              </a:rPr>
              <a:t> (byte offset = 12) to Register </a:t>
            </a:r>
            <a:r>
              <a:rPr lang="en-US" sz="2000" b="1" dirty="0">
                <a:solidFill>
                  <a:srgbClr val="7030A0"/>
                </a:solidFill>
                <a:sym typeface="Wingdings" panose="05000000000000000000" pitchFamily="2" charset="2"/>
              </a:rPr>
              <a:t>[Spatial Locality]</a:t>
            </a:r>
            <a:endParaRPr lang="en-SG" sz="2200" b="1" dirty="0">
              <a:solidFill>
                <a:srgbClr val="7030A0"/>
              </a:solidFill>
            </a:endParaRP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F79D12AF-480C-4552-88AA-23103501BE5B}"/>
              </a:ext>
            </a:extLst>
          </p:cNvPr>
          <p:cNvGrpSpPr/>
          <p:nvPr/>
        </p:nvGrpSpPr>
        <p:grpSpPr>
          <a:xfrm>
            <a:off x="2362201" y="1095376"/>
            <a:ext cx="5257799" cy="762000"/>
            <a:chOff x="2362201" y="914400"/>
            <a:chExt cx="5257799" cy="762000"/>
          </a:xfrm>
        </p:grpSpPr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3ADEB99F-7526-4800-93FB-68071C373046}"/>
                </a:ext>
              </a:extLst>
            </p:cNvPr>
            <p:cNvSpPr/>
            <p:nvPr/>
          </p:nvSpPr>
          <p:spPr>
            <a:xfrm>
              <a:off x="2362201" y="1295400"/>
              <a:ext cx="2743199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dirty="0">
                  <a:solidFill>
                    <a:srgbClr val="C00000"/>
                  </a:solidFill>
                </a:rPr>
                <a:t>000000000000000000</a:t>
              </a: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63F33081-71DE-4216-A404-17AFE49F1B46}"/>
                </a:ext>
              </a:extLst>
            </p:cNvPr>
            <p:cNvSpPr/>
            <p:nvPr/>
          </p:nvSpPr>
          <p:spPr>
            <a:xfrm>
              <a:off x="6705600" y="1295400"/>
              <a:ext cx="838200" cy="381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dirty="0">
                  <a:solidFill>
                    <a:srgbClr val="006600"/>
                  </a:solidFill>
                </a:rPr>
                <a:t>1100</a:t>
              </a:r>
            </a:p>
          </p:txBody>
        </p:sp>
        <p:sp>
          <p:nvSpPr>
            <p:cNvPr id="110" name="Text Box 75">
              <a:extLst>
                <a:ext uri="{FF2B5EF4-FFF2-40B4-BE49-F238E27FC236}">
                  <a16:creationId xmlns:a16="http://schemas.microsoft.com/office/drawing/2014/main" id="{1C436AB2-65A7-47B1-A984-D266382BA4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9000" y="914400"/>
              <a:ext cx="726226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C00000"/>
                  </a:solidFill>
                  <a:latin typeface="+mn-lt"/>
                </a:rPr>
                <a:t>Tag</a:t>
              </a:r>
            </a:p>
          </p:txBody>
        </p:sp>
        <p:sp>
          <p:nvSpPr>
            <p:cNvPr id="111" name="Text Box 75">
              <a:extLst>
                <a:ext uri="{FF2B5EF4-FFF2-40B4-BE49-F238E27FC236}">
                  <a16:creationId xmlns:a16="http://schemas.microsoft.com/office/drawing/2014/main" id="{B5D4DA04-2759-4E95-9345-23DD0EE458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53200" y="914400"/>
              <a:ext cx="1066800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006600"/>
                  </a:solidFill>
                  <a:latin typeface="+mn-lt"/>
                </a:rPr>
                <a:t>Offset</a:t>
              </a: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0BAEB268-7595-4B11-BE85-B7EF92481650}"/>
                </a:ext>
              </a:extLst>
            </p:cNvPr>
            <p:cNvSpPr/>
            <p:nvPr/>
          </p:nvSpPr>
          <p:spPr>
            <a:xfrm>
              <a:off x="5105400" y="1295400"/>
              <a:ext cx="1600200" cy="381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dirty="0">
                  <a:solidFill>
                    <a:schemeClr val="accent6">
                      <a:lumMod val="50000"/>
                    </a:schemeClr>
                  </a:solidFill>
                </a:rPr>
                <a:t>0000000001</a:t>
              </a:r>
            </a:p>
          </p:txBody>
        </p:sp>
        <p:sp>
          <p:nvSpPr>
            <p:cNvPr id="113" name="Text Box 75">
              <a:extLst>
                <a:ext uri="{FF2B5EF4-FFF2-40B4-BE49-F238E27FC236}">
                  <a16:creationId xmlns:a16="http://schemas.microsoft.com/office/drawing/2014/main" id="{226367A3-BC7A-4DF9-8D7F-4DF639AF96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10200" y="914400"/>
              <a:ext cx="997177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6">
                      <a:lumMod val="50000"/>
                    </a:schemeClr>
                  </a:solidFill>
                  <a:latin typeface="+mn-lt"/>
                </a:rPr>
                <a:t>Index</a:t>
              </a:r>
            </a:p>
          </p:txBody>
        </p:sp>
      </p:grpSp>
      <p:sp>
        <p:nvSpPr>
          <p:cNvPr id="87" name="Left Arrow 86">
            <a:extLst>
              <a:ext uri="{FF2B5EF4-FFF2-40B4-BE49-F238E27FC236}">
                <a16:creationId xmlns:a16="http://schemas.microsoft.com/office/drawing/2014/main" id="{5AC761F4-F559-4D90-B686-FC74BA216C07}"/>
              </a:ext>
            </a:extLst>
          </p:cNvPr>
          <p:cNvSpPr/>
          <p:nvPr/>
        </p:nvSpPr>
        <p:spPr>
          <a:xfrm rot="5400000">
            <a:off x="7037141" y="1777445"/>
            <a:ext cx="228600" cy="304800"/>
          </a:xfrm>
          <a:prstGeom prst="leftArrow">
            <a:avLst/>
          </a:prstGeom>
          <a:solidFill>
            <a:srgbClr val="FF0000"/>
          </a:solidFill>
          <a:ln>
            <a:solidFill>
              <a:srgbClr val="66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E53AFB0-2B52-4DDD-AB02-3AF596ED58C4}"/>
              </a:ext>
            </a:extLst>
          </p:cNvPr>
          <p:cNvGrpSpPr/>
          <p:nvPr/>
        </p:nvGrpSpPr>
        <p:grpSpPr>
          <a:xfrm>
            <a:off x="152400" y="2482850"/>
            <a:ext cx="8686800" cy="3568700"/>
            <a:chOff x="152400" y="2482850"/>
            <a:chExt cx="8686800" cy="356870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600056CB-C885-4CBC-908B-A047CEBCDC9C}"/>
                </a:ext>
              </a:extLst>
            </p:cNvPr>
            <p:cNvGrpSpPr/>
            <p:nvPr/>
          </p:nvGrpSpPr>
          <p:grpSpPr>
            <a:xfrm>
              <a:off x="304800" y="2482850"/>
              <a:ext cx="8534400" cy="3568700"/>
              <a:chOff x="304800" y="2482850"/>
              <a:chExt cx="8534400" cy="3568700"/>
            </a:xfrm>
          </p:grpSpPr>
          <p:sp>
            <p:nvSpPr>
              <p:cNvPr id="103" name="Rectangle 12">
                <a:extLst>
                  <a:ext uri="{FF2B5EF4-FFF2-40B4-BE49-F238E27FC236}">
                    <a16:creationId xmlns:a16="http://schemas.microsoft.com/office/drawing/2014/main" id="{B145FEA4-161C-49EA-BACC-9636FB107E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3000" y="3276600"/>
                <a:ext cx="990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04" name="Rectangle 13">
                <a:extLst>
                  <a:ext uri="{FF2B5EF4-FFF2-40B4-BE49-F238E27FC236}">
                    <a16:creationId xmlns:a16="http://schemas.microsoft.com/office/drawing/2014/main" id="{D6F061BB-EE02-45F2-A957-68D8C1CA14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400" y="3276600"/>
                <a:ext cx="228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0</a:t>
                </a:r>
              </a:p>
            </p:txBody>
          </p:sp>
          <p:sp>
            <p:nvSpPr>
              <p:cNvPr id="106" name="Rectangle 14">
                <a:extLst>
                  <a:ext uri="{FF2B5EF4-FFF2-40B4-BE49-F238E27FC236}">
                    <a16:creationId xmlns:a16="http://schemas.microsoft.com/office/drawing/2014/main" id="{D1D3AF2A-7812-4C43-B517-4DE029E7D1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3600" y="32766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14" name="Rectangle 15">
                <a:extLst>
                  <a:ext uri="{FF2B5EF4-FFF2-40B4-BE49-F238E27FC236}">
                    <a16:creationId xmlns:a16="http://schemas.microsoft.com/office/drawing/2014/main" id="{71D3ECE2-E3BF-41AD-BC36-7D06258511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0000" y="32766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15" name="Rectangle 16">
                <a:extLst>
                  <a:ext uri="{FF2B5EF4-FFF2-40B4-BE49-F238E27FC236}">
                    <a16:creationId xmlns:a16="http://schemas.microsoft.com/office/drawing/2014/main" id="{CE36E9FA-B430-45A9-B429-341031B1D0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6400" y="32766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17" name="Rectangle 17">
                <a:extLst>
                  <a:ext uri="{FF2B5EF4-FFF2-40B4-BE49-F238E27FC236}">
                    <a16:creationId xmlns:a16="http://schemas.microsoft.com/office/drawing/2014/main" id="{8D044D16-8DF1-4891-9FA3-484244C4D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62800" y="32766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18" name="Rectangle 18">
                <a:extLst>
                  <a:ext uri="{FF2B5EF4-FFF2-40B4-BE49-F238E27FC236}">
                    <a16:creationId xmlns:a16="http://schemas.microsoft.com/office/drawing/2014/main" id="{FABF1531-0AB0-4D14-A667-CADA95FDDF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3000" y="3581400"/>
                <a:ext cx="990600" cy="304800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0</a:t>
                </a:r>
              </a:p>
            </p:txBody>
          </p:sp>
          <p:sp>
            <p:nvSpPr>
              <p:cNvPr id="119" name="Rectangle 19">
                <a:extLst>
                  <a:ext uri="{FF2B5EF4-FFF2-40B4-BE49-F238E27FC236}">
                    <a16:creationId xmlns:a16="http://schemas.microsoft.com/office/drawing/2014/main" id="{6007E558-4FC7-4606-93E1-D003959183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400" y="3581400"/>
                <a:ext cx="228600" cy="304800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1</a:t>
                </a:r>
              </a:p>
            </p:txBody>
          </p:sp>
          <p:sp>
            <p:nvSpPr>
              <p:cNvPr id="120" name="Rectangle 20">
                <a:extLst>
                  <a:ext uri="{FF2B5EF4-FFF2-40B4-BE49-F238E27FC236}">
                    <a16:creationId xmlns:a16="http://schemas.microsoft.com/office/drawing/2014/main" id="{712F6FF7-47CD-42B9-BC74-FC05D403A9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3600" y="3581400"/>
                <a:ext cx="1676400" cy="304800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A</a:t>
                </a:r>
              </a:p>
            </p:txBody>
          </p:sp>
          <p:sp>
            <p:nvSpPr>
              <p:cNvPr id="121" name="Rectangle 21">
                <a:extLst>
                  <a:ext uri="{FF2B5EF4-FFF2-40B4-BE49-F238E27FC236}">
                    <a16:creationId xmlns:a16="http://schemas.microsoft.com/office/drawing/2014/main" id="{9335F7A1-B98C-4E48-8473-A68477FCD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0000" y="3581400"/>
                <a:ext cx="1676400" cy="304800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B</a:t>
                </a:r>
              </a:p>
            </p:txBody>
          </p:sp>
          <p:sp>
            <p:nvSpPr>
              <p:cNvPr id="122" name="Rectangle 22">
                <a:extLst>
                  <a:ext uri="{FF2B5EF4-FFF2-40B4-BE49-F238E27FC236}">
                    <a16:creationId xmlns:a16="http://schemas.microsoft.com/office/drawing/2014/main" id="{37B53A77-4B6C-4328-896D-6BDE9BB54E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6400" y="3581400"/>
                <a:ext cx="1676400" cy="304800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C</a:t>
                </a:r>
              </a:p>
            </p:txBody>
          </p:sp>
          <p:sp>
            <p:nvSpPr>
              <p:cNvPr id="123" name="Rectangle 23">
                <a:extLst>
                  <a:ext uri="{FF2B5EF4-FFF2-40B4-BE49-F238E27FC236}">
                    <a16:creationId xmlns:a16="http://schemas.microsoft.com/office/drawing/2014/main" id="{51D39A61-2614-44C5-810B-36E7C9E67C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62800" y="3581400"/>
                <a:ext cx="1676400" cy="304800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D</a:t>
                </a:r>
              </a:p>
            </p:txBody>
          </p:sp>
          <p:sp>
            <p:nvSpPr>
              <p:cNvPr id="124" name="Rectangle 24">
                <a:extLst>
                  <a:ext uri="{FF2B5EF4-FFF2-40B4-BE49-F238E27FC236}">
                    <a16:creationId xmlns:a16="http://schemas.microsoft.com/office/drawing/2014/main" id="{1E5FF318-2EF8-4DDA-8409-D6327A77A3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3000" y="3886200"/>
                <a:ext cx="990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25" name="Rectangle 25">
                <a:extLst>
                  <a:ext uri="{FF2B5EF4-FFF2-40B4-BE49-F238E27FC236}">
                    <a16:creationId xmlns:a16="http://schemas.microsoft.com/office/drawing/2014/main" id="{A13CDAA0-16EC-417C-B4F8-FA58B2F7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400" y="3886200"/>
                <a:ext cx="228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0</a:t>
                </a:r>
              </a:p>
            </p:txBody>
          </p:sp>
          <p:sp>
            <p:nvSpPr>
              <p:cNvPr id="126" name="Rectangle 26">
                <a:extLst>
                  <a:ext uri="{FF2B5EF4-FFF2-40B4-BE49-F238E27FC236}">
                    <a16:creationId xmlns:a16="http://schemas.microsoft.com/office/drawing/2014/main" id="{F403507A-0E1E-489A-89D1-B038EDDF76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3600" y="38862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27" name="Rectangle 27">
                <a:extLst>
                  <a:ext uri="{FF2B5EF4-FFF2-40B4-BE49-F238E27FC236}">
                    <a16:creationId xmlns:a16="http://schemas.microsoft.com/office/drawing/2014/main" id="{D5540AE2-0137-4708-99DC-9AA253963D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0000" y="38862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28" name="Rectangle 28">
                <a:extLst>
                  <a:ext uri="{FF2B5EF4-FFF2-40B4-BE49-F238E27FC236}">
                    <a16:creationId xmlns:a16="http://schemas.microsoft.com/office/drawing/2014/main" id="{7B6FE451-15AE-4A94-A507-ED474958EB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6400" y="38862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29" name="Rectangle 29">
                <a:extLst>
                  <a:ext uri="{FF2B5EF4-FFF2-40B4-BE49-F238E27FC236}">
                    <a16:creationId xmlns:a16="http://schemas.microsoft.com/office/drawing/2014/main" id="{B2B2652B-CC40-49B0-8C6B-9BB6D6C718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62800" y="38862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30" name="Rectangle 30">
                <a:extLst>
                  <a:ext uri="{FF2B5EF4-FFF2-40B4-BE49-F238E27FC236}">
                    <a16:creationId xmlns:a16="http://schemas.microsoft.com/office/drawing/2014/main" id="{B52E327D-81D7-48FC-A580-08D91A927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3000" y="4191000"/>
                <a:ext cx="990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31" name="Rectangle 31">
                <a:extLst>
                  <a:ext uri="{FF2B5EF4-FFF2-40B4-BE49-F238E27FC236}">
                    <a16:creationId xmlns:a16="http://schemas.microsoft.com/office/drawing/2014/main" id="{96DD3725-6D89-41A5-8BE9-9C3EADF6EB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400" y="4191000"/>
                <a:ext cx="228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0</a:t>
                </a:r>
              </a:p>
            </p:txBody>
          </p:sp>
          <p:sp>
            <p:nvSpPr>
              <p:cNvPr id="132" name="Rectangle 32">
                <a:extLst>
                  <a:ext uri="{FF2B5EF4-FFF2-40B4-BE49-F238E27FC236}">
                    <a16:creationId xmlns:a16="http://schemas.microsoft.com/office/drawing/2014/main" id="{E7F6A94F-E689-4858-8C8C-8A22203A10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3600" y="41910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33" name="Rectangle 33">
                <a:extLst>
                  <a:ext uri="{FF2B5EF4-FFF2-40B4-BE49-F238E27FC236}">
                    <a16:creationId xmlns:a16="http://schemas.microsoft.com/office/drawing/2014/main" id="{0E5BD2EE-35F8-4F78-B2D8-02FEE1A961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0000" y="41910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34" name="Rectangle 34">
                <a:extLst>
                  <a:ext uri="{FF2B5EF4-FFF2-40B4-BE49-F238E27FC236}">
                    <a16:creationId xmlns:a16="http://schemas.microsoft.com/office/drawing/2014/main" id="{B0634A88-DE4E-4D51-9F07-BA2B57F55B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6400" y="41910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35" name="Rectangle 35">
                <a:extLst>
                  <a:ext uri="{FF2B5EF4-FFF2-40B4-BE49-F238E27FC236}">
                    <a16:creationId xmlns:a16="http://schemas.microsoft.com/office/drawing/2014/main" id="{7731F9E3-4DE2-4E7E-BA51-4B001765A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62800" y="41910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36" name="Rectangle 36">
                <a:extLst>
                  <a:ext uri="{FF2B5EF4-FFF2-40B4-BE49-F238E27FC236}">
                    <a16:creationId xmlns:a16="http://schemas.microsoft.com/office/drawing/2014/main" id="{5E75CF91-ED93-403F-9EBA-EF54D4975D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3000" y="4495800"/>
                <a:ext cx="990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37" name="Rectangle 37">
                <a:extLst>
                  <a:ext uri="{FF2B5EF4-FFF2-40B4-BE49-F238E27FC236}">
                    <a16:creationId xmlns:a16="http://schemas.microsoft.com/office/drawing/2014/main" id="{3A3CC617-E19E-45B4-ACDC-3E35C5681C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400" y="4495800"/>
                <a:ext cx="228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0</a:t>
                </a:r>
              </a:p>
            </p:txBody>
          </p:sp>
          <p:sp>
            <p:nvSpPr>
              <p:cNvPr id="138" name="Rectangle 38">
                <a:extLst>
                  <a:ext uri="{FF2B5EF4-FFF2-40B4-BE49-F238E27FC236}">
                    <a16:creationId xmlns:a16="http://schemas.microsoft.com/office/drawing/2014/main" id="{EE2D5E62-D865-4B75-9403-19E8D7AF48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3600" y="44958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39" name="Rectangle 39">
                <a:extLst>
                  <a:ext uri="{FF2B5EF4-FFF2-40B4-BE49-F238E27FC236}">
                    <a16:creationId xmlns:a16="http://schemas.microsoft.com/office/drawing/2014/main" id="{22FC60D9-C2B6-4983-9C13-0252D29709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0000" y="44958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40" name="Rectangle 40">
                <a:extLst>
                  <a:ext uri="{FF2B5EF4-FFF2-40B4-BE49-F238E27FC236}">
                    <a16:creationId xmlns:a16="http://schemas.microsoft.com/office/drawing/2014/main" id="{A2012475-EEC6-48A7-9BCB-9CF63DA4DC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6400" y="44958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41" name="Rectangle 41">
                <a:extLst>
                  <a:ext uri="{FF2B5EF4-FFF2-40B4-BE49-F238E27FC236}">
                    <a16:creationId xmlns:a16="http://schemas.microsoft.com/office/drawing/2014/main" id="{17AB8261-BC7E-4D5F-B129-66B8C69C0A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62800" y="44958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42" name="Rectangle 42">
                <a:extLst>
                  <a:ext uri="{FF2B5EF4-FFF2-40B4-BE49-F238E27FC236}">
                    <a16:creationId xmlns:a16="http://schemas.microsoft.com/office/drawing/2014/main" id="{06F0B933-53D2-472A-A09F-0C0A257D7F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3000" y="4800600"/>
                <a:ext cx="990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43" name="Rectangle 43">
                <a:extLst>
                  <a:ext uri="{FF2B5EF4-FFF2-40B4-BE49-F238E27FC236}">
                    <a16:creationId xmlns:a16="http://schemas.microsoft.com/office/drawing/2014/main" id="{E152B7F9-71A1-47AD-BAC1-3E596A7424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400" y="4800600"/>
                <a:ext cx="228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0</a:t>
                </a:r>
              </a:p>
            </p:txBody>
          </p:sp>
          <p:sp>
            <p:nvSpPr>
              <p:cNvPr id="144" name="Rectangle 44">
                <a:extLst>
                  <a:ext uri="{FF2B5EF4-FFF2-40B4-BE49-F238E27FC236}">
                    <a16:creationId xmlns:a16="http://schemas.microsoft.com/office/drawing/2014/main" id="{A02F1FCD-094E-41D2-8334-3FD5941D7F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3600" y="48006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45" name="Rectangle 45">
                <a:extLst>
                  <a:ext uri="{FF2B5EF4-FFF2-40B4-BE49-F238E27FC236}">
                    <a16:creationId xmlns:a16="http://schemas.microsoft.com/office/drawing/2014/main" id="{1354137D-A3A0-454C-A452-584839D8DB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0000" y="48006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46" name="Rectangle 46">
                <a:extLst>
                  <a:ext uri="{FF2B5EF4-FFF2-40B4-BE49-F238E27FC236}">
                    <a16:creationId xmlns:a16="http://schemas.microsoft.com/office/drawing/2014/main" id="{D75AB377-8CE9-49A4-9263-6EF13802CB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6400" y="48006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47" name="Rectangle 47">
                <a:extLst>
                  <a:ext uri="{FF2B5EF4-FFF2-40B4-BE49-F238E27FC236}">
                    <a16:creationId xmlns:a16="http://schemas.microsoft.com/office/drawing/2014/main" id="{BEEF1CEA-7ACD-4475-9BFB-D33554F591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62800" y="48006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48" name="Rectangle 48">
                <a:extLst>
                  <a:ext uri="{FF2B5EF4-FFF2-40B4-BE49-F238E27FC236}">
                    <a16:creationId xmlns:a16="http://schemas.microsoft.com/office/drawing/2014/main" id="{A83D5556-A35F-4365-A545-B770A26A3E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3000" y="5410200"/>
                <a:ext cx="990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49" name="Rectangle 49">
                <a:extLst>
                  <a:ext uri="{FF2B5EF4-FFF2-40B4-BE49-F238E27FC236}">
                    <a16:creationId xmlns:a16="http://schemas.microsoft.com/office/drawing/2014/main" id="{915EC05A-0D56-4901-B378-94D01B2500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400" y="5410200"/>
                <a:ext cx="228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0</a:t>
                </a:r>
              </a:p>
            </p:txBody>
          </p:sp>
          <p:sp>
            <p:nvSpPr>
              <p:cNvPr id="150" name="Rectangle 50">
                <a:extLst>
                  <a:ext uri="{FF2B5EF4-FFF2-40B4-BE49-F238E27FC236}">
                    <a16:creationId xmlns:a16="http://schemas.microsoft.com/office/drawing/2014/main" id="{B9C9490C-E22B-40EC-94BE-94A349AA23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3600" y="54102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51" name="Rectangle 51">
                <a:extLst>
                  <a:ext uri="{FF2B5EF4-FFF2-40B4-BE49-F238E27FC236}">
                    <a16:creationId xmlns:a16="http://schemas.microsoft.com/office/drawing/2014/main" id="{8AF5D80A-08C7-4E73-A088-1AC8753AD9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0000" y="54102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52" name="Rectangle 52">
                <a:extLst>
                  <a:ext uri="{FF2B5EF4-FFF2-40B4-BE49-F238E27FC236}">
                    <a16:creationId xmlns:a16="http://schemas.microsoft.com/office/drawing/2014/main" id="{42E9DFB2-4F32-4C37-9CB5-8BB1FF6ED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6400" y="54102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53" name="Rectangle 53">
                <a:extLst>
                  <a:ext uri="{FF2B5EF4-FFF2-40B4-BE49-F238E27FC236}">
                    <a16:creationId xmlns:a16="http://schemas.microsoft.com/office/drawing/2014/main" id="{D8A8461E-C4C0-4C0A-A682-B0935A6F7D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62800" y="54102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54" name="Rectangle 54">
                <a:extLst>
                  <a:ext uri="{FF2B5EF4-FFF2-40B4-BE49-F238E27FC236}">
                    <a16:creationId xmlns:a16="http://schemas.microsoft.com/office/drawing/2014/main" id="{B5470C8D-CBE8-4986-B5B7-D33EB43F4A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3000" y="5715000"/>
                <a:ext cx="990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55" name="Rectangle 55">
                <a:extLst>
                  <a:ext uri="{FF2B5EF4-FFF2-40B4-BE49-F238E27FC236}">
                    <a16:creationId xmlns:a16="http://schemas.microsoft.com/office/drawing/2014/main" id="{179C9D65-ED8D-4270-96DB-0166B37CC6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400" y="5715000"/>
                <a:ext cx="228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0</a:t>
                </a:r>
              </a:p>
            </p:txBody>
          </p:sp>
          <p:sp>
            <p:nvSpPr>
              <p:cNvPr id="156" name="Rectangle 56">
                <a:extLst>
                  <a:ext uri="{FF2B5EF4-FFF2-40B4-BE49-F238E27FC236}">
                    <a16:creationId xmlns:a16="http://schemas.microsoft.com/office/drawing/2014/main" id="{8FA3F269-F6F9-4D8C-BD50-834B9C1C2D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3600" y="57150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57" name="Rectangle 57">
                <a:extLst>
                  <a:ext uri="{FF2B5EF4-FFF2-40B4-BE49-F238E27FC236}">
                    <a16:creationId xmlns:a16="http://schemas.microsoft.com/office/drawing/2014/main" id="{B2736331-EA8C-4D2B-911F-2C47F8E08F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0000" y="57150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58" name="Rectangle 58">
                <a:extLst>
                  <a:ext uri="{FF2B5EF4-FFF2-40B4-BE49-F238E27FC236}">
                    <a16:creationId xmlns:a16="http://schemas.microsoft.com/office/drawing/2014/main" id="{475E4477-D818-4539-8C43-16264999F3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6400" y="57150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59" name="Rectangle 59">
                <a:extLst>
                  <a:ext uri="{FF2B5EF4-FFF2-40B4-BE49-F238E27FC236}">
                    <a16:creationId xmlns:a16="http://schemas.microsoft.com/office/drawing/2014/main" id="{EB6C6119-1E77-419C-842F-D757461A5E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62800" y="57150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60" name="Text Box 60">
                <a:extLst>
                  <a:ext uri="{FF2B5EF4-FFF2-40B4-BE49-F238E27FC236}">
                    <a16:creationId xmlns:a16="http://schemas.microsoft.com/office/drawing/2014/main" id="{E179067C-A457-4C72-A7A6-678A56BD556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86000" y="4960203"/>
                <a:ext cx="5029200" cy="738664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eaLnBrk="0" hangingPunct="0"/>
                <a:r>
                  <a:rPr lang="en-US" sz="2400" b="1" dirty="0">
                    <a:latin typeface="+mn-lt"/>
                  </a:rPr>
                  <a:t>...    </a:t>
                </a:r>
                <a:r>
                  <a:rPr lang="en-US" sz="2400" b="1" dirty="0"/>
                  <a:t>...    ...    …   …   …   …   …</a:t>
                </a:r>
                <a:endParaRPr lang="en-US" sz="2400" dirty="0"/>
              </a:p>
              <a:p>
                <a:pPr eaLnBrk="0" hangingPunct="0"/>
                <a:endParaRPr lang="en-US" dirty="0"/>
              </a:p>
            </p:txBody>
          </p:sp>
          <p:sp>
            <p:nvSpPr>
              <p:cNvPr id="161" name="Text Box 61">
                <a:extLst>
                  <a:ext uri="{FF2B5EF4-FFF2-40B4-BE49-F238E27FC236}">
                    <a16:creationId xmlns:a16="http://schemas.microsoft.com/office/drawing/2014/main" id="{F763934D-8464-44E6-95BB-5DDCFBB26C4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3400" y="3276600"/>
                <a:ext cx="307975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dirty="0">
                    <a:latin typeface="+mn-lt"/>
                  </a:rPr>
                  <a:t>0</a:t>
                </a:r>
              </a:p>
            </p:txBody>
          </p:sp>
          <p:sp>
            <p:nvSpPr>
              <p:cNvPr id="162" name="Text Box 62">
                <a:extLst>
                  <a:ext uri="{FF2B5EF4-FFF2-40B4-BE49-F238E27FC236}">
                    <a16:creationId xmlns:a16="http://schemas.microsoft.com/office/drawing/2014/main" id="{05FF7976-56BD-4E07-8B19-D92729B10FA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2273" y="3581400"/>
                <a:ext cx="298480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>
                    <a:latin typeface="+mn-lt"/>
                  </a:rPr>
                  <a:t>1</a:t>
                </a:r>
              </a:p>
            </p:txBody>
          </p:sp>
          <p:sp>
            <p:nvSpPr>
              <p:cNvPr id="163" name="Text Box 63">
                <a:extLst>
                  <a:ext uri="{FF2B5EF4-FFF2-40B4-BE49-F238E27FC236}">
                    <a16:creationId xmlns:a16="http://schemas.microsoft.com/office/drawing/2014/main" id="{02B3F9D3-4E0C-4870-82B0-814473BAF5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3400" y="3886200"/>
                <a:ext cx="307975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>
                    <a:latin typeface="+mn-lt"/>
                  </a:rPr>
                  <a:t>2</a:t>
                </a:r>
              </a:p>
            </p:txBody>
          </p:sp>
          <p:sp>
            <p:nvSpPr>
              <p:cNvPr id="164" name="Text Box 64">
                <a:extLst>
                  <a:ext uri="{FF2B5EF4-FFF2-40B4-BE49-F238E27FC236}">
                    <a16:creationId xmlns:a16="http://schemas.microsoft.com/office/drawing/2014/main" id="{AAE54627-1E3C-4D28-AB1B-627CD71AF10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3400" y="4191000"/>
                <a:ext cx="307975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>
                    <a:latin typeface="+mn-lt"/>
                  </a:rPr>
                  <a:t>3</a:t>
                </a:r>
              </a:p>
            </p:txBody>
          </p:sp>
          <p:sp>
            <p:nvSpPr>
              <p:cNvPr id="165" name="Text Box 65">
                <a:extLst>
                  <a:ext uri="{FF2B5EF4-FFF2-40B4-BE49-F238E27FC236}">
                    <a16:creationId xmlns:a16="http://schemas.microsoft.com/office/drawing/2014/main" id="{1692934C-576B-4EF6-967D-07BAA00B65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3400" y="4495800"/>
                <a:ext cx="307975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>
                    <a:latin typeface="+mn-lt"/>
                  </a:rPr>
                  <a:t>4</a:t>
                </a:r>
              </a:p>
            </p:txBody>
          </p:sp>
          <p:sp>
            <p:nvSpPr>
              <p:cNvPr id="166" name="Text Box 66">
                <a:extLst>
                  <a:ext uri="{FF2B5EF4-FFF2-40B4-BE49-F238E27FC236}">
                    <a16:creationId xmlns:a16="http://schemas.microsoft.com/office/drawing/2014/main" id="{04CC81B6-FBEE-4BA7-B273-C04E325089B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3400" y="4800600"/>
                <a:ext cx="307975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>
                    <a:latin typeface="+mn-lt"/>
                  </a:rPr>
                  <a:t>5</a:t>
                </a:r>
              </a:p>
            </p:txBody>
          </p:sp>
          <p:sp>
            <p:nvSpPr>
              <p:cNvPr id="167" name="Text Box 67">
                <a:extLst>
                  <a:ext uri="{FF2B5EF4-FFF2-40B4-BE49-F238E27FC236}">
                    <a16:creationId xmlns:a16="http://schemas.microsoft.com/office/drawing/2014/main" id="{2F255B41-C836-4883-B5D0-19B1FFEBA71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4800" y="5410200"/>
                <a:ext cx="647700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>
                    <a:latin typeface="+mn-lt"/>
                  </a:rPr>
                  <a:t>1022</a:t>
                </a:r>
              </a:p>
            </p:txBody>
          </p:sp>
          <p:sp>
            <p:nvSpPr>
              <p:cNvPr id="168" name="Text Box 68">
                <a:extLst>
                  <a:ext uri="{FF2B5EF4-FFF2-40B4-BE49-F238E27FC236}">
                    <a16:creationId xmlns:a16="http://schemas.microsoft.com/office/drawing/2014/main" id="{3CC72AEA-E6AA-49CD-BD53-8ECEF01CE13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4800" y="5715000"/>
                <a:ext cx="647700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>
                    <a:latin typeface="+mn-lt"/>
                  </a:rPr>
                  <a:t>1023</a:t>
                </a:r>
              </a:p>
            </p:txBody>
          </p:sp>
          <p:sp>
            <p:nvSpPr>
              <p:cNvPr id="169" name="Text Box 70">
                <a:extLst>
                  <a:ext uri="{FF2B5EF4-FFF2-40B4-BE49-F238E27FC236}">
                    <a16:creationId xmlns:a16="http://schemas.microsoft.com/office/drawing/2014/main" id="{CC294C67-ADC5-4981-AB79-4E42E2F4DA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56314" y="2971800"/>
                <a:ext cx="663836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 dirty="0">
                    <a:latin typeface="+mn-lt"/>
                  </a:rPr>
                  <a:t>Valid</a:t>
                </a:r>
              </a:p>
            </p:txBody>
          </p:sp>
          <p:sp>
            <p:nvSpPr>
              <p:cNvPr id="170" name="Text Box 71">
                <a:extLst>
                  <a:ext uri="{FF2B5EF4-FFF2-40B4-BE49-F238E27FC236}">
                    <a16:creationId xmlns:a16="http://schemas.microsoft.com/office/drawing/2014/main" id="{D8BB064E-21F1-496B-BBCD-F3EC1EC6712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47800" y="2971800"/>
                <a:ext cx="534988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 dirty="0">
                    <a:latin typeface="+mn-lt"/>
                  </a:rPr>
                  <a:t>Tag</a:t>
                </a:r>
              </a:p>
            </p:txBody>
          </p:sp>
          <p:grpSp>
            <p:nvGrpSpPr>
              <p:cNvPr id="171" name="Group 170">
                <a:extLst>
                  <a:ext uri="{FF2B5EF4-FFF2-40B4-BE49-F238E27FC236}">
                    <a16:creationId xmlns:a16="http://schemas.microsoft.com/office/drawing/2014/main" id="{3A232E08-38B7-453E-9029-80D2FC9ADBC1}"/>
                  </a:ext>
                </a:extLst>
              </p:cNvPr>
              <p:cNvGrpSpPr/>
              <p:nvPr/>
            </p:nvGrpSpPr>
            <p:grpSpPr>
              <a:xfrm>
                <a:off x="2133600" y="2482850"/>
                <a:ext cx="6629400" cy="336550"/>
                <a:chOff x="2209800" y="2438400"/>
                <a:chExt cx="6629400" cy="336550"/>
              </a:xfrm>
            </p:grpSpPr>
            <p:sp>
              <p:nvSpPr>
                <p:cNvPr id="172" name="Text Box 72">
                  <a:extLst>
                    <a:ext uri="{FF2B5EF4-FFF2-40B4-BE49-F238E27FC236}">
                      <a16:creationId xmlns:a16="http://schemas.microsoft.com/office/drawing/2014/main" id="{4FBB43BF-77A0-4C7E-97B9-E81A3F51357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648200" y="2438400"/>
                  <a:ext cx="635000" cy="336550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sz="1600" b="1" dirty="0">
                      <a:latin typeface="+mn-lt"/>
                    </a:rPr>
                    <a:t>Data</a:t>
                  </a:r>
                </a:p>
              </p:txBody>
            </p:sp>
            <p:sp>
              <p:nvSpPr>
                <p:cNvPr id="173" name="Line 73">
                  <a:extLst>
                    <a:ext uri="{FF2B5EF4-FFF2-40B4-BE49-F238E27FC236}">
                      <a16:creationId xmlns:a16="http://schemas.microsoft.com/office/drawing/2014/main" id="{FCEC574D-2840-4272-8295-4AFF43A51E0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209800" y="2590800"/>
                  <a:ext cx="243840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>
                  <a:spAutoFit/>
                </a:bodyPr>
                <a:lstStyle/>
                <a:p>
                  <a:endParaRPr lang="en-US">
                    <a:latin typeface="+mn-lt"/>
                  </a:endParaRPr>
                </a:p>
              </p:txBody>
            </p:sp>
            <p:sp>
              <p:nvSpPr>
                <p:cNvPr id="174" name="Line 74">
                  <a:extLst>
                    <a:ext uri="{FF2B5EF4-FFF2-40B4-BE49-F238E27FC236}">
                      <a16:creationId xmlns:a16="http://schemas.microsoft.com/office/drawing/2014/main" id="{642500F6-AB56-445B-86D1-5A2D13E4579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57800" y="2590800"/>
                  <a:ext cx="358140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 wrap="none">
                  <a:spAutoFit/>
                </a:bodyPr>
                <a:lstStyle/>
                <a:p>
                  <a:endParaRPr lang="en-US">
                    <a:latin typeface="+mn-lt"/>
                  </a:endParaRPr>
                </a:p>
              </p:txBody>
            </p:sp>
          </p:grpSp>
          <p:sp>
            <p:nvSpPr>
              <p:cNvPr id="175" name="Text Box 75">
                <a:extLst>
                  <a:ext uri="{FF2B5EF4-FFF2-40B4-BE49-F238E27FC236}">
                    <a16:creationId xmlns:a16="http://schemas.microsoft.com/office/drawing/2014/main" id="{A57F1217-E125-40D2-9C64-0624C19AB66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44072" y="2743200"/>
                <a:ext cx="818942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 dirty="0">
                    <a:latin typeface="+mn-lt"/>
                  </a:rPr>
                  <a:t>Word0</a:t>
                </a:r>
              </a:p>
            </p:txBody>
          </p:sp>
          <p:sp>
            <p:nvSpPr>
              <p:cNvPr id="176" name="Text Box 76">
                <a:extLst>
                  <a:ext uri="{FF2B5EF4-FFF2-40B4-BE49-F238E27FC236}">
                    <a16:creationId xmlns:a16="http://schemas.microsoft.com/office/drawing/2014/main" id="{AFF67471-2366-4D26-B9FF-2AD96183BB9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60862" y="2743200"/>
                <a:ext cx="811213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 dirty="0">
                    <a:latin typeface="+mn-lt"/>
                  </a:rPr>
                  <a:t>Word1</a:t>
                </a:r>
              </a:p>
            </p:txBody>
          </p:sp>
          <p:sp>
            <p:nvSpPr>
              <p:cNvPr id="177" name="Text Box 77">
                <a:extLst>
                  <a:ext uri="{FF2B5EF4-FFF2-40B4-BE49-F238E27FC236}">
                    <a16:creationId xmlns:a16="http://schemas.microsoft.com/office/drawing/2014/main" id="{A385F1F8-BC56-4A10-A6BB-F0634E191AB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49272" y="2743200"/>
                <a:ext cx="818942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 dirty="0">
                    <a:latin typeface="+mn-lt"/>
                  </a:rPr>
                  <a:t>Word2</a:t>
                </a:r>
              </a:p>
            </p:txBody>
          </p:sp>
          <p:sp>
            <p:nvSpPr>
              <p:cNvPr id="178" name="Text Box 78">
                <a:extLst>
                  <a:ext uri="{FF2B5EF4-FFF2-40B4-BE49-F238E27FC236}">
                    <a16:creationId xmlns:a16="http://schemas.microsoft.com/office/drawing/2014/main" id="{45589EB9-883C-4B88-9B41-641DA71F91F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49472" y="2743200"/>
                <a:ext cx="818942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 dirty="0">
                    <a:latin typeface="+mn-lt"/>
                  </a:rPr>
                  <a:t>Word3</a:t>
                </a:r>
              </a:p>
            </p:txBody>
          </p:sp>
          <p:sp>
            <p:nvSpPr>
              <p:cNvPr id="179" name="Text Box 79">
                <a:extLst>
                  <a:ext uri="{FF2B5EF4-FFF2-40B4-BE49-F238E27FC236}">
                    <a16:creationId xmlns:a16="http://schemas.microsoft.com/office/drawing/2014/main" id="{F5A18A55-8132-4A57-BF25-F1AD8886F40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08548" y="2971800"/>
                <a:ext cx="1051891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dirty="0">
                    <a:latin typeface="+mn-lt"/>
                  </a:rPr>
                  <a:t>Bytes 0-3</a:t>
                </a:r>
              </a:p>
            </p:txBody>
          </p:sp>
          <p:sp>
            <p:nvSpPr>
              <p:cNvPr id="180" name="Text Box 80">
                <a:extLst>
                  <a:ext uri="{FF2B5EF4-FFF2-40B4-BE49-F238E27FC236}">
                    <a16:creationId xmlns:a16="http://schemas.microsoft.com/office/drawing/2014/main" id="{D8B0617E-403B-435C-9D5C-251D506658A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37348" y="2971800"/>
                <a:ext cx="1051891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dirty="0">
                    <a:latin typeface="+mn-lt"/>
                  </a:rPr>
                  <a:t>Bytes 4-7</a:t>
                </a:r>
              </a:p>
            </p:txBody>
          </p:sp>
          <p:sp>
            <p:nvSpPr>
              <p:cNvPr id="181" name="Text Box 81">
                <a:extLst>
                  <a:ext uri="{FF2B5EF4-FFF2-40B4-BE49-F238E27FC236}">
                    <a16:creationId xmlns:a16="http://schemas.microsoft.com/office/drawing/2014/main" id="{5AEA3639-604E-4BC6-8CBB-1BFD18FD781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48597" y="2971800"/>
                <a:ext cx="1150444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dirty="0">
                    <a:latin typeface="+mn-lt"/>
                  </a:rPr>
                  <a:t>Bytes 8-11</a:t>
                </a:r>
              </a:p>
            </p:txBody>
          </p:sp>
          <p:sp>
            <p:nvSpPr>
              <p:cNvPr id="182" name="Text Box 82">
                <a:extLst>
                  <a:ext uri="{FF2B5EF4-FFF2-40B4-BE49-F238E27FC236}">
                    <a16:creationId xmlns:a16="http://schemas.microsoft.com/office/drawing/2014/main" id="{D91310A5-BB51-4036-BB85-C14078F6E3D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46173" y="2971800"/>
                <a:ext cx="1279517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dirty="0">
                    <a:latin typeface="+mn-lt"/>
                  </a:rPr>
                  <a:t>Bytes 12-15</a:t>
                </a:r>
              </a:p>
            </p:txBody>
          </p:sp>
        </p:grpSp>
        <p:sp>
          <p:nvSpPr>
            <p:cNvPr id="92" name="Text Box 69">
              <a:extLst>
                <a:ext uri="{FF2B5EF4-FFF2-40B4-BE49-F238E27FC236}">
                  <a16:creationId xmlns:a16="http://schemas.microsoft.com/office/drawing/2014/main" id="{D76C94BB-656C-4C3E-8B59-C6D7C0C012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400" y="2971800"/>
              <a:ext cx="720069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latin typeface="+mn-lt"/>
                </a:rPr>
                <a:t>Index</a:t>
              </a:r>
            </a:p>
          </p:txBody>
        </p:sp>
      </p:grpSp>
      <p:sp>
        <p:nvSpPr>
          <p:cNvPr id="91" name="Oval 90">
            <a:extLst>
              <a:ext uri="{FF2B5EF4-FFF2-40B4-BE49-F238E27FC236}">
                <a16:creationId xmlns:a16="http://schemas.microsoft.com/office/drawing/2014/main" id="{5C4EF0F0-E1F0-4E4C-BCAA-E8DE4526005B}"/>
              </a:ext>
            </a:extLst>
          </p:cNvPr>
          <p:cNvSpPr/>
          <p:nvPr/>
        </p:nvSpPr>
        <p:spPr>
          <a:xfrm>
            <a:off x="7162800" y="3492499"/>
            <a:ext cx="1676400" cy="457200"/>
          </a:xfrm>
          <a:prstGeom prst="ellipse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86297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 animBg="1"/>
      <p:bldP spid="91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5. Reading Data: </a:t>
            </a:r>
            <a:r>
              <a:rPr lang="en-GB" sz="3600" b="1" dirty="0">
                <a:solidFill>
                  <a:srgbClr val="0000FF"/>
                </a:solidFill>
              </a:rPr>
              <a:t>Load #3-1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#22: Cache I: Direct Mapped Cache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41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05" name="Content Placeholder 2">
            <a:extLst>
              <a:ext uri="{FF2B5EF4-FFF2-40B4-BE49-F238E27FC236}">
                <a16:creationId xmlns:a16="http://schemas.microsoft.com/office/drawing/2014/main" id="{F42D869D-777C-4A19-87AD-D73DCB7B3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788" y="1463676"/>
            <a:ext cx="8538411" cy="958849"/>
          </a:xfrm>
        </p:spPr>
        <p:txBody>
          <a:bodyPr>
            <a:normAutofit/>
          </a:bodyPr>
          <a:lstStyle/>
          <a:p>
            <a:pPr marL="265113" indent="-265113">
              <a:buSzPct val="100000"/>
              <a:buFont typeface="Wingdings" panose="05000000000000000000" pitchFamily="2" charset="2"/>
              <a:buChar char="§"/>
            </a:pPr>
            <a:r>
              <a:rPr lang="en-SG" sz="2400" dirty="0"/>
              <a:t>Load from</a:t>
            </a:r>
            <a:endParaRPr lang="en-SG" sz="2200" dirty="0"/>
          </a:p>
          <a:p>
            <a:pPr>
              <a:buNone/>
            </a:pPr>
            <a:r>
              <a:rPr lang="en-US" b="1" dirty="0"/>
              <a:t>Step 1</a:t>
            </a:r>
            <a:r>
              <a:rPr lang="en-US" dirty="0"/>
              <a:t>. </a:t>
            </a:r>
            <a:r>
              <a:rPr lang="en-US" sz="2200" dirty="0">
                <a:sym typeface="Wingdings" panose="05000000000000000000" pitchFamily="2" charset="2"/>
              </a:rPr>
              <a:t>Check Cache Block at index </a:t>
            </a:r>
            <a:r>
              <a:rPr lang="en-US" sz="2200" b="1" dirty="0">
                <a:sym typeface="Wingdings" panose="05000000000000000000" pitchFamily="2" charset="2"/>
              </a:rPr>
              <a:t>3</a:t>
            </a:r>
            <a:endParaRPr lang="en-SG" sz="2200" b="1" dirty="0">
              <a:solidFill>
                <a:srgbClr val="7030A0"/>
              </a:solidFill>
            </a:endParaRP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F79D12AF-480C-4552-88AA-23103501BE5B}"/>
              </a:ext>
            </a:extLst>
          </p:cNvPr>
          <p:cNvGrpSpPr/>
          <p:nvPr/>
        </p:nvGrpSpPr>
        <p:grpSpPr>
          <a:xfrm>
            <a:off x="2362201" y="1095376"/>
            <a:ext cx="5257799" cy="762000"/>
            <a:chOff x="2362201" y="914400"/>
            <a:chExt cx="5257799" cy="762000"/>
          </a:xfrm>
        </p:grpSpPr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3ADEB99F-7526-4800-93FB-68071C373046}"/>
                </a:ext>
              </a:extLst>
            </p:cNvPr>
            <p:cNvSpPr/>
            <p:nvPr/>
          </p:nvSpPr>
          <p:spPr>
            <a:xfrm>
              <a:off x="2362201" y="1295400"/>
              <a:ext cx="2743199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dirty="0">
                  <a:solidFill>
                    <a:srgbClr val="C00000"/>
                  </a:solidFill>
                </a:rPr>
                <a:t>000000000000000000</a:t>
              </a: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63F33081-71DE-4216-A404-17AFE49F1B46}"/>
                </a:ext>
              </a:extLst>
            </p:cNvPr>
            <p:cNvSpPr/>
            <p:nvPr/>
          </p:nvSpPr>
          <p:spPr>
            <a:xfrm>
              <a:off x="6705600" y="1295400"/>
              <a:ext cx="838200" cy="381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dirty="0">
                  <a:solidFill>
                    <a:srgbClr val="006600"/>
                  </a:solidFill>
                </a:rPr>
                <a:t>0100</a:t>
              </a:r>
            </a:p>
          </p:txBody>
        </p:sp>
        <p:sp>
          <p:nvSpPr>
            <p:cNvPr id="110" name="Text Box 75">
              <a:extLst>
                <a:ext uri="{FF2B5EF4-FFF2-40B4-BE49-F238E27FC236}">
                  <a16:creationId xmlns:a16="http://schemas.microsoft.com/office/drawing/2014/main" id="{1C436AB2-65A7-47B1-A984-D266382BA4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9000" y="914400"/>
              <a:ext cx="726226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C00000"/>
                  </a:solidFill>
                  <a:latin typeface="+mn-lt"/>
                </a:rPr>
                <a:t>Tag</a:t>
              </a:r>
            </a:p>
          </p:txBody>
        </p:sp>
        <p:sp>
          <p:nvSpPr>
            <p:cNvPr id="111" name="Text Box 75">
              <a:extLst>
                <a:ext uri="{FF2B5EF4-FFF2-40B4-BE49-F238E27FC236}">
                  <a16:creationId xmlns:a16="http://schemas.microsoft.com/office/drawing/2014/main" id="{B5D4DA04-2759-4E95-9345-23DD0EE458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53200" y="914400"/>
              <a:ext cx="1066800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006600"/>
                  </a:solidFill>
                  <a:latin typeface="+mn-lt"/>
                </a:rPr>
                <a:t>Offset</a:t>
              </a: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0BAEB268-7595-4B11-BE85-B7EF92481650}"/>
                </a:ext>
              </a:extLst>
            </p:cNvPr>
            <p:cNvSpPr/>
            <p:nvPr/>
          </p:nvSpPr>
          <p:spPr>
            <a:xfrm>
              <a:off x="5105400" y="1295400"/>
              <a:ext cx="1600200" cy="381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dirty="0">
                  <a:solidFill>
                    <a:schemeClr val="accent6">
                      <a:lumMod val="50000"/>
                    </a:schemeClr>
                  </a:solidFill>
                </a:rPr>
                <a:t>0000000011</a:t>
              </a:r>
            </a:p>
          </p:txBody>
        </p:sp>
        <p:sp>
          <p:nvSpPr>
            <p:cNvPr id="113" name="Text Box 75">
              <a:extLst>
                <a:ext uri="{FF2B5EF4-FFF2-40B4-BE49-F238E27FC236}">
                  <a16:creationId xmlns:a16="http://schemas.microsoft.com/office/drawing/2014/main" id="{226367A3-BC7A-4DF9-8D7F-4DF639AF96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10200" y="914400"/>
              <a:ext cx="997177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6">
                      <a:lumMod val="50000"/>
                    </a:schemeClr>
                  </a:solidFill>
                  <a:latin typeface="+mn-lt"/>
                </a:rPr>
                <a:t>Index</a:t>
              </a:r>
            </a:p>
          </p:txBody>
        </p:sp>
      </p:grpSp>
      <p:sp>
        <p:nvSpPr>
          <p:cNvPr id="87" name="Left Arrow 86">
            <a:extLst>
              <a:ext uri="{FF2B5EF4-FFF2-40B4-BE49-F238E27FC236}">
                <a16:creationId xmlns:a16="http://schemas.microsoft.com/office/drawing/2014/main" id="{5AC761F4-F559-4D90-B686-FC74BA216C07}"/>
              </a:ext>
            </a:extLst>
          </p:cNvPr>
          <p:cNvSpPr/>
          <p:nvPr/>
        </p:nvSpPr>
        <p:spPr>
          <a:xfrm rot="5400000">
            <a:off x="5734297" y="1777445"/>
            <a:ext cx="228600" cy="304800"/>
          </a:xfrm>
          <a:prstGeom prst="leftArrow">
            <a:avLst/>
          </a:prstGeom>
          <a:solidFill>
            <a:srgbClr val="FF0000"/>
          </a:solidFill>
          <a:ln>
            <a:solidFill>
              <a:srgbClr val="66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69F231E5-3874-47BE-B264-3B33A0E11405}"/>
              </a:ext>
            </a:extLst>
          </p:cNvPr>
          <p:cNvSpPr/>
          <p:nvPr/>
        </p:nvSpPr>
        <p:spPr>
          <a:xfrm>
            <a:off x="534987" y="4188996"/>
            <a:ext cx="304800" cy="304800"/>
          </a:xfrm>
          <a:prstGeom prst="ellipse">
            <a:avLst/>
          </a:prstGeom>
          <a:solidFill>
            <a:srgbClr val="EFE9E1">
              <a:alpha val="32157"/>
            </a:srgbClr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99C7C81-CC2F-487D-8902-9F77AFC4D557}"/>
              </a:ext>
            </a:extLst>
          </p:cNvPr>
          <p:cNvGrpSpPr/>
          <p:nvPr/>
        </p:nvGrpSpPr>
        <p:grpSpPr>
          <a:xfrm>
            <a:off x="152400" y="2482850"/>
            <a:ext cx="8686800" cy="3568700"/>
            <a:chOff x="152400" y="2482850"/>
            <a:chExt cx="8686800" cy="356870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600056CB-C885-4CBC-908B-A047CEBCDC9C}"/>
                </a:ext>
              </a:extLst>
            </p:cNvPr>
            <p:cNvGrpSpPr/>
            <p:nvPr/>
          </p:nvGrpSpPr>
          <p:grpSpPr>
            <a:xfrm>
              <a:off x="304800" y="2482850"/>
              <a:ext cx="8534400" cy="3568700"/>
              <a:chOff x="304800" y="2482850"/>
              <a:chExt cx="8534400" cy="3568700"/>
            </a:xfrm>
          </p:grpSpPr>
          <p:sp>
            <p:nvSpPr>
              <p:cNvPr id="103" name="Rectangle 12">
                <a:extLst>
                  <a:ext uri="{FF2B5EF4-FFF2-40B4-BE49-F238E27FC236}">
                    <a16:creationId xmlns:a16="http://schemas.microsoft.com/office/drawing/2014/main" id="{B145FEA4-161C-49EA-BACC-9636FB107E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3000" y="3276600"/>
                <a:ext cx="990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04" name="Rectangle 13">
                <a:extLst>
                  <a:ext uri="{FF2B5EF4-FFF2-40B4-BE49-F238E27FC236}">
                    <a16:creationId xmlns:a16="http://schemas.microsoft.com/office/drawing/2014/main" id="{D6F061BB-EE02-45F2-A957-68D8C1CA14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400" y="3276600"/>
                <a:ext cx="228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0</a:t>
                </a:r>
              </a:p>
            </p:txBody>
          </p:sp>
          <p:sp>
            <p:nvSpPr>
              <p:cNvPr id="106" name="Rectangle 14">
                <a:extLst>
                  <a:ext uri="{FF2B5EF4-FFF2-40B4-BE49-F238E27FC236}">
                    <a16:creationId xmlns:a16="http://schemas.microsoft.com/office/drawing/2014/main" id="{D1D3AF2A-7812-4C43-B517-4DE029E7D1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3600" y="32766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14" name="Rectangle 15">
                <a:extLst>
                  <a:ext uri="{FF2B5EF4-FFF2-40B4-BE49-F238E27FC236}">
                    <a16:creationId xmlns:a16="http://schemas.microsoft.com/office/drawing/2014/main" id="{71D3ECE2-E3BF-41AD-BC36-7D06258511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0000" y="32766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15" name="Rectangle 16">
                <a:extLst>
                  <a:ext uri="{FF2B5EF4-FFF2-40B4-BE49-F238E27FC236}">
                    <a16:creationId xmlns:a16="http://schemas.microsoft.com/office/drawing/2014/main" id="{CE36E9FA-B430-45A9-B429-341031B1D0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6400" y="32766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17" name="Rectangle 17">
                <a:extLst>
                  <a:ext uri="{FF2B5EF4-FFF2-40B4-BE49-F238E27FC236}">
                    <a16:creationId xmlns:a16="http://schemas.microsoft.com/office/drawing/2014/main" id="{8D044D16-8DF1-4891-9FA3-484244C4D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62800" y="32766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18" name="Rectangle 18">
                <a:extLst>
                  <a:ext uri="{FF2B5EF4-FFF2-40B4-BE49-F238E27FC236}">
                    <a16:creationId xmlns:a16="http://schemas.microsoft.com/office/drawing/2014/main" id="{FABF1531-0AB0-4D14-A667-CADA95FDDF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3000" y="3581400"/>
                <a:ext cx="990600" cy="304800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0</a:t>
                </a:r>
              </a:p>
            </p:txBody>
          </p:sp>
          <p:sp>
            <p:nvSpPr>
              <p:cNvPr id="119" name="Rectangle 19">
                <a:extLst>
                  <a:ext uri="{FF2B5EF4-FFF2-40B4-BE49-F238E27FC236}">
                    <a16:creationId xmlns:a16="http://schemas.microsoft.com/office/drawing/2014/main" id="{6007E558-4FC7-4606-93E1-D003959183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400" y="3581400"/>
                <a:ext cx="228600" cy="304800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1</a:t>
                </a:r>
              </a:p>
            </p:txBody>
          </p:sp>
          <p:sp>
            <p:nvSpPr>
              <p:cNvPr id="120" name="Rectangle 20">
                <a:extLst>
                  <a:ext uri="{FF2B5EF4-FFF2-40B4-BE49-F238E27FC236}">
                    <a16:creationId xmlns:a16="http://schemas.microsoft.com/office/drawing/2014/main" id="{712F6FF7-47CD-42B9-BC74-FC05D403A9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3600" y="3581400"/>
                <a:ext cx="1676400" cy="304800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A</a:t>
                </a:r>
              </a:p>
            </p:txBody>
          </p:sp>
          <p:sp>
            <p:nvSpPr>
              <p:cNvPr id="121" name="Rectangle 21">
                <a:extLst>
                  <a:ext uri="{FF2B5EF4-FFF2-40B4-BE49-F238E27FC236}">
                    <a16:creationId xmlns:a16="http://schemas.microsoft.com/office/drawing/2014/main" id="{9335F7A1-B98C-4E48-8473-A68477FCD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0000" y="3581400"/>
                <a:ext cx="1676400" cy="304800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B</a:t>
                </a:r>
              </a:p>
            </p:txBody>
          </p:sp>
          <p:sp>
            <p:nvSpPr>
              <p:cNvPr id="122" name="Rectangle 22">
                <a:extLst>
                  <a:ext uri="{FF2B5EF4-FFF2-40B4-BE49-F238E27FC236}">
                    <a16:creationId xmlns:a16="http://schemas.microsoft.com/office/drawing/2014/main" id="{37B53A77-4B6C-4328-896D-6BDE9BB54E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6400" y="3581400"/>
                <a:ext cx="1676400" cy="304800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C</a:t>
                </a:r>
              </a:p>
            </p:txBody>
          </p:sp>
          <p:sp>
            <p:nvSpPr>
              <p:cNvPr id="123" name="Rectangle 23">
                <a:extLst>
                  <a:ext uri="{FF2B5EF4-FFF2-40B4-BE49-F238E27FC236}">
                    <a16:creationId xmlns:a16="http://schemas.microsoft.com/office/drawing/2014/main" id="{51D39A61-2614-44C5-810B-36E7C9E67C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62800" y="3581400"/>
                <a:ext cx="1676400" cy="304800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D</a:t>
                </a:r>
              </a:p>
            </p:txBody>
          </p:sp>
          <p:sp>
            <p:nvSpPr>
              <p:cNvPr id="124" name="Rectangle 24">
                <a:extLst>
                  <a:ext uri="{FF2B5EF4-FFF2-40B4-BE49-F238E27FC236}">
                    <a16:creationId xmlns:a16="http://schemas.microsoft.com/office/drawing/2014/main" id="{1E5FF318-2EF8-4DDA-8409-D6327A77A3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3000" y="3886200"/>
                <a:ext cx="990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25" name="Rectangle 25">
                <a:extLst>
                  <a:ext uri="{FF2B5EF4-FFF2-40B4-BE49-F238E27FC236}">
                    <a16:creationId xmlns:a16="http://schemas.microsoft.com/office/drawing/2014/main" id="{A13CDAA0-16EC-417C-B4F8-FA58B2F7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400" y="3886200"/>
                <a:ext cx="228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0</a:t>
                </a:r>
              </a:p>
            </p:txBody>
          </p:sp>
          <p:sp>
            <p:nvSpPr>
              <p:cNvPr id="126" name="Rectangle 26">
                <a:extLst>
                  <a:ext uri="{FF2B5EF4-FFF2-40B4-BE49-F238E27FC236}">
                    <a16:creationId xmlns:a16="http://schemas.microsoft.com/office/drawing/2014/main" id="{F403507A-0E1E-489A-89D1-B038EDDF76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3600" y="38862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27" name="Rectangle 27">
                <a:extLst>
                  <a:ext uri="{FF2B5EF4-FFF2-40B4-BE49-F238E27FC236}">
                    <a16:creationId xmlns:a16="http://schemas.microsoft.com/office/drawing/2014/main" id="{D5540AE2-0137-4708-99DC-9AA253963D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0000" y="38862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28" name="Rectangle 28">
                <a:extLst>
                  <a:ext uri="{FF2B5EF4-FFF2-40B4-BE49-F238E27FC236}">
                    <a16:creationId xmlns:a16="http://schemas.microsoft.com/office/drawing/2014/main" id="{7B6FE451-15AE-4A94-A507-ED474958EB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6400" y="38862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29" name="Rectangle 29">
                <a:extLst>
                  <a:ext uri="{FF2B5EF4-FFF2-40B4-BE49-F238E27FC236}">
                    <a16:creationId xmlns:a16="http://schemas.microsoft.com/office/drawing/2014/main" id="{B2B2652B-CC40-49B0-8C6B-9BB6D6C718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62800" y="38862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30" name="Rectangle 30">
                <a:extLst>
                  <a:ext uri="{FF2B5EF4-FFF2-40B4-BE49-F238E27FC236}">
                    <a16:creationId xmlns:a16="http://schemas.microsoft.com/office/drawing/2014/main" id="{B52E327D-81D7-48FC-A580-08D91A927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3000" y="4191000"/>
                <a:ext cx="990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31" name="Rectangle 31">
                <a:extLst>
                  <a:ext uri="{FF2B5EF4-FFF2-40B4-BE49-F238E27FC236}">
                    <a16:creationId xmlns:a16="http://schemas.microsoft.com/office/drawing/2014/main" id="{96DD3725-6D89-41A5-8BE9-9C3EADF6EB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400" y="4191000"/>
                <a:ext cx="228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0</a:t>
                </a:r>
              </a:p>
            </p:txBody>
          </p:sp>
          <p:sp>
            <p:nvSpPr>
              <p:cNvPr id="132" name="Rectangle 32">
                <a:extLst>
                  <a:ext uri="{FF2B5EF4-FFF2-40B4-BE49-F238E27FC236}">
                    <a16:creationId xmlns:a16="http://schemas.microsoft.com/office/drawing/2014/main" id="{E7F6A94F-E689-4858-8C8C-8A22203A10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3600" y="41910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33" name="Rectangle 33">
                <a:extLst>
                  <a:ext uri="{FF2B5EF4-FFF2-40B4-BE49-F238E27FC236}">
                    <a16:creationId xmlns:a16="http://schemas.microsoft.com/office/drawing/2014/main" id="{0E5BD2EE-35F8-4F78-B2D8-02FEE1A961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0000" y="41910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34" name="Rectangle 34">
                <a:extLst>
                  <a:ext uri="{FF2B5EF4-FFF2-40B4-BE49-F238E27FC236}">
                    <a16:creationId xmlns:a16="http://schemas.microsoft.com/office/drawing/2014/main" id="{B0634A88-DE4E-4D51-9F07-BA2B57F55B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6400" y="41910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35" name="Rectangle 35">
                <a:extLst>
                  <a:ext uri="{FF2B5EF4-FFF2-40B4-BE49-F238E27FC236}">
                    <a16:creationId xmlns:a16="http://schemas.microsoft.com/office/drawing/2014/main" id="{7731F9E3-4DE2-4E7E-BA51-4B001765A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62800" y="41910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36" name="Rectangle 36">
                <a:extLst>
                  <a:ext uri="{FF2B5EF4-FFF2-40B4-BE49-F238E27FC236}">
                    <a16:creationId xmlns:a16="http://schemas.microsoft.com/office/drawing/2014/main" id="{5E75CF91-ED93-403F-9EBA-EF54D4975D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3000" y="4495800"/>
                <a:ext cx="990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37" name="Rectangle 37">
                <a:extLst>
                  <a:ext uri="{FF2B5EF4-FFF2-40B4-BE49-F238E27FC236}">
                    <a16:creationId xmlns:a16="http://schemas.microsoft.com/office/drawing/2014/main" id="{3A3CC617-E19E-45B4-ACDC-3E35C5681C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400" y="4495800"/>
                <a:ext cx="228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0</a:t>
                </a:r>
              </a:p>
            </p:txBody>
          </p:sp>
          <p:sp>
            <p:nvSpPr>
              <p:cNvPr id="138" name="Rectangle 38">
                <a:extLst>
                  <a:ext uri="{FF2B5EF4-FFF2-40B4-BE49-F238E27FC236}">
                    <a16:creationId xmlns:a16="http://schemas.microsoft.com/office/drawing/2014/main" id="{EE2D5E62-D865-4B75-9403-19E8D7AF48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3600" y="44958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39" name="Rectangle 39">
                <a:extLst>
                  <a:ext uri="{FF2B5EF4-FFF2-40B4-BE49-F238E27FC236}">
                    <a16:creationId xmlns:a16="http://schemas.microsoft.com/office/drawing/2014/main" id="{22FC60D9-C2B6-4983-9C13-0252D29709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0000" y="44958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40" name="Rectangle 40">
                <a:extLst>
                  <a:ext uri="{FF2B5EF4-FFF2-40B4-BE49-F238E27FC236}">
                    <a16:creationId xmlns:a16="http://schemas.microsoft.com/office/drawing/2014/main" id="{A2012475-EEC6-48A7-9BCB-9CF63DA4DC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6400" y="44958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41" name="Rectangle 41">
                <a:extLst>
                  <a:ext uri="{FF2B5EF4-FFF2-40B4-BE49-F238E27FC236}">
                    <a16:creationId xmlns:a16="http://schemas.microsoft.com/office/drawing/2014/main" id="{17AB8261-BC7E-4D5F-B129-66B8C69C0A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62800" y="44958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42" name="Rectangle 42">
                <a:extLst>
                  <a:ext uri="{FF2B5EF4-FFF2-40B4-BE49-F238E27FC236}">
                    <a16:creationId xmlns:a16="http://schemas.microsoft.com/office/drawing/2014/main" id="{06F0B933-53D2-472A-A09F-0C0A257D7F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3000" y="4800600"/>
                <a:ext cx="990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43" name="Rectangle 43">
                <a:extLst>
                  <a:ext uri="{FF2B5EF4-FFF2-40B4-BE49-F238E27FC236}">
                    <a16:creationId xmlns:a16="http://schemas.microsoft.com/office/drawing/2014/main" id="{E152B7F9-71A1-47AD-BAC1-3E596A7424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400" y="4800600"/>
                <a:ext cx="228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0</a:t>
                </a:r>
              </a:p>
            </p:txBody>
          </p:sp>
          <p:sp>
            <p:nvSpPr>
              <p:cNvPr id="144" name="Rectangle 44">
                <a:extLst>
                  <a:ext uri="{FF2B5EF4-FFF2-40B4-BE49-F238E27FC236}">
                    <a16:creationId xmlns:a16="http://schemas.microsoft.com/office/drawing/2014/main" id="{A02F1FCD-094E-41D2-8334-3FD5941D7F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3600" y="48006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45" name="Rectangle 45">
                <a:extLst>
                  <a:ext uri="{FF2B5EF4-FFF2-40B4-BE49-F238E27FC236}">
                    <a16:creationId xmlns:a16="http://schemas.microsoft.com/office/drawing/2014/main" id="{1354137D-A3A0-454C-A452-584839D8DB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0000" y="48006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46" name="Rectangle 46">
                <a:extLst>
                  <a:ext uri="{FF2B5EF4-FFF2-40B4-BE49-F238E27FC236}">
                    <a16:creationId xmlns:a16="http://schemas.microsoft.com/office/drawing/2014/main" id="{D75AB377-8CE9-49A4-9263-6EF13802CB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6400" y="48006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47" name="Rectangle 47">
                <a:extLst>
                  <a:ext uri="{FF2B5EF4-FFF2-40B4-BE49-F238E27FC236}">
                    <a16:creationId xmlns:a16="http://schemas.microsoft.com/office/drawing/2014/main" id="{BEEF1CEA-7ACD-4475-9BFB-D33554F591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62800" y="48006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48" name="Rectangle 48">
                <a:extLst>
                  <a:ext uri="{FF2B5EF4-FFF2-40B4-BE49-F238E27FC236}">
                    <a16:creationId xmlns:a16="http://schemas.microsoft.com/office/drawing/2014/main" id="{A83D5556-A35F-4365-A545-B770A26A3E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3000" y="5410200"/>
                <a:ext cx="990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49" name="Rectangle 49">
                <a:extLst>
                  <a:ext uri="{FF2B5EF4-FFF2-40B4-BE49-F238E27FC236}">
                    <a16:creationId xmlns:a16="http://schemas.microsoft.com/office/drawing/2014/main" id="{915EC05A-0D56-4901-B378-94D01B2500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400" y="5410200"/>
                <a:ext cx="228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0</a:t>
                </a:r>
              </a:p>
            </p:txBody>
          </p:sp>
          <p:sp>
            <p:nvSpPr>
              <p:cNvPr id="150" name="Rectangle 50">
                <a:extLst>
                  <a:ext uri="{FF2B5EF4-FFF2-40B4-BE49-F238E27FC236}">
                    <a16:creationId xmlns:a16="http://schemas.microsoft.com/office/drawing/2014/main" id="{B9C9490C-E22B-40EC-94BE-94A349AA23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3600" y="54102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51" name="Rectangle 51">
                <a:extLst>
                  <a:ext uri="{FF2B5EF4-FFF2-40B4-BE49-F238E27FC236}">
                    <a16:creationId xmlns:a16="http://schemas.microsoft.com/office/drawing/2014/main" id="{8AF5D80A-08C7-4E73-A088-1AC8753AD9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0000" y="54102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52" name="Rectangle 52">
                <a:extLst>
                  <a:ext uri="{FF2B5EF4-FFF2-40B4-BE49-F238E27FC236}">
                    <a16:creationId xmlns:a16="http://schemas.microsoft.com/office/drawing/2014/main" id="{42E9DFB2-4F32-4C37-9CB5-8BB1FF6ED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6400" y="54102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53" name="Rectangle 53">
                <a:extLst>
                  <a:ext uri="{FF2B5EF4-FFF2-40B4-BE49-F238E27FC236}">
                    <a16:creationId xmlns:a16="http://schemas.microsoft.com/office/drawing/2014/main" id="{D8A8461E-C4C0-4C0A-A682-B0935A6F7D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62800" y="54102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54" name="Rectangle 54">
                <a:extLst>
                  <a:ext uri="{FF2B5EF4-FFF2-40B4-BE49-F238E27FC236}">
                    <a16:creationId xmlns:a16="http://schemas.microsoft.com/office/drawing/2014/main" id="{B5470C8D-CBE8-4986-B5B7-D33EB43F4A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3000" y="5715000"/>
                <a:ext cx="990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55" name="Rectangle 55">
                <a:extLst>
                  <a:ext uri="{FF2B5EF4-FFF2-40B4-BE49-F238E27FC236}">
                    <a16:creationId xmlns:a16="http://schemas.microsoft.com/office/drawing/2014/main" id="{179C9D65-ED8D-4270-96DB-0166B37CC6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400" y="5715000"/>
                <a:ext cx="228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0</a:t>
                </a:r>
              </a:p>
            </p:txBody>
          </p:sp>
          <p:sp>
            <p:nvSpPr>
              <p:cNvPr id="156" name="Rectangle 56">
                <a:extLst>
                  <a:ext uri="{FF2B5EF4-FFF2-40B4-BE49-F238E27FC236}">
                    <a16:creationId xmlns:a16="http://schemas.microsoft.com/office/drawing/2014/main" id="{8FA3F269-F6F9-4D8C-BD50-834B9C1C2D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3600" y="57150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57" name="Rectangle 57">
                <a:extLst>
                  <a:ext uri="{FF2B5EF4-FFF2-40B4-BE49-F238E27FC236}">
                    <a16:creationId xmlns:a16="http://schemas.microsoft.com/office/drawing/2014/main" id="{B2736331-EA8C-4D2B-911F-2C47F8E08F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0000" y="57150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58" name="Rectangle 58">
                <a:extLst>
                  <a:ext uri="{FF2B5EF4-FFF2-40B4-BE49-F238E27FC236}">
                    <a16:creationId xmlns:a16="http://schemas.microsoft.com/office/drawing/2014/main" id="{475E4477-D818-4539-8C43-16264999F3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6400" y="57150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59" name="Rectangle 59">
                <a:extLst>
                  <a:ext uri="{FF2B5EF4-FFF2-40B4-BE49-F238E27FC236}">
                    <a16:creationId xmlns:a16="http://schemas.microsoft.com/office/drawing/2014/main" id="{EB6C6119-1E77-419C-842F-D757461A5E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62800" y="57150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60" name="Text Box 60">
                <a:extLst>
                  <a:ext uri="{FF2B5EF4-FFF2-40B4-BE49-F238E27FC236}">
                    <a16:creationId xmlns:a16="http://schemas.microsoft.com/office/drawing/2014/main" id="{E179067C-A457-4C72-A7A6-678A56BD556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86000" y="4960203"/>
                <a:ext cx="5029200" cy="738664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eaLnBrk="0" hangingPunct="0"/>
                <a:r>
                  <a:rPr lang="en-US" sz="2400" b="1" dirty="0">
                    <a:latin typeface="+mn-lt"/>
                  </a:rPr>
                  <a:t>...    </a:t>
                </a:r>
                <a:r>
                  <a:rPr lang="en-US" sz="2400" b="1" dirty="0"/>
                  <a:t>...    ...    …   …   …   …   …</a:t>
                </a:r>
                <a:endParaRPr lang="en-US" sz="2400" dirty="0"/>
              </a:p>
              <a:p>
                <a:pPr eaLnBrk="0" hangingPunct="0"/>
                <a:endParaRPr lang="en-US" dirty="0"/>
              </a:p>
            </p:txBody>
          </p:sp>
          <p:sp>
            <p:nvSpPr>
              <p:cNvPr id="161" name="Text Box 61">
                <a:extLst>
                  <a:ext uri="{FF2B5EF4-FFF2-40B4-BE49-F238E27FC236}">
                    <a16:creationId xmlns:a16="http://schemas.microsoft.com/office/drawing/2014/main" id="{F763934D-8464-44E6-95BB-5DDCFBB26C4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3400" y="3276600"/>
                <a:ext cx="307975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dirty="0">
                    <a:latin typeface="+mn-lt"/>
                  </a:rPr>
                  <a:t>0</a:t>
                </a:r>
              </a:p>
            </p:txBody>
          </p:sp>
          <p:sp>
            <p:nvSpPr>
              <p:cNvPr id="162" name="Text Box 62">
                <a:extLst>
                  <a:ext uri="{FF2B5EF4-FFF2-40B4-BE49-F238E27FC236}">
                    <a16:creationId xmlns:a16="http://schemas.microsoft.com/office/drawing/2014/main" id="{05FF7976-56BD-4E07-8B19-D92729B10FA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2273" y="3581400"/>
                <a:ext cx="298480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>
                    <a:latin typeface="+mn-lt"/>
                  </a:rPr>
                  <a:t>1</a:t>
                </a:r>
              </a:p>
            </p:txBody>
          </p:sp>
          <p:sp>
            <p:nvSpPr>
              <p:cNvPr id="163" name="Text Box 63">
                <a:extLst>
                  <a:ext uri="{FF2B5EF4-FFF2-40B4-BE49-F238E27FC236}">
                    <a16:creationId xmlns:a16="http://schemas.microsoft.com/office/drawing/2014/main" id="{02B3F9D3-4E0C-4870-82B0-814473BAF5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3400" y="3886200"/>
                <a:ext cx="307975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>
                    <a:latin typeface="+mn-lt"/>
                  </a:rPr>
                  <a:t>2</a:t>
                </a:r>
              </a:p>
            </p:txBody>
          </p:sp>
          <p:sp>
            <p:nvSpPr>
              <p:cNvPr id="164" name="Text Box 64">
                <a:extLst>
                  <a:ext uri="{FF2B5EF4-FFF2-40B4-BE49-F238E27FC236}">
                    <a16:creationId xmlns:a16="http://schemas.microsoft.com/office/drawing/2014/main" id="{AAE54627-1E3C-4D28-AB1B-627CD71AF10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3400" y="4191000"/>
                <a:ext cx="307975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>
                    <a:latin typeface="+mn-lt"/>
                  </a:rPr>
                  <a:t>3</a:t>
                </a:r>
              </a:p>
            </p:txBody>
          </p:sp>
          <p:sp>
            <p:nvSpPr>
              <p:cNvPr id="165" name="Text Box 65">
                <a:extLst>
                  <a:ext uri="{FF2B5EF4-FFF2-40B4-BE49-F238E27FC236}">
                    <a16:creationId xmlns:a16="http://schemas.microsoft.com/office/drawing/2014/main" id="{1692934C-576B-4EF6-967D-07BAA00B65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3400" y="4495800"/>
                <a:ext cx="307975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>
                    <a:latin typeface="+mn-lt"/>
                  </a:rPr>
                  <a:t>4</a:t>
                </a:r>
              </a:p>
            </p:txBody>
          </p:sp>
          <p:sp>
            <p:nvSpPr>
              <p:cNvPr id="166" name="Text Box 66">
                <a:extLst>
                  <a:ext uri="{FF2B5EF4-FFF2-40B4-BE49-F238E27FC236}">
                    <a16:creationId xmlns:a16="http://schemas.microsoft.com/office/drawing/2014/main" id="{04CC81B6-FBEE-4BA7-B273-C04E325089B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3400" y="4800600"/>
                <a:ext cx="307975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>
                    <a:latin typeface="+mn-lt"/>
                  </a:rPr>
                  <a:t>5</a:t>
                </a:r>
              </a:p>
            </p:txBody>
          </p:sp>
          <p:sp>
            <p:nvSpPr>
              <p:cNvPr id="167" name="Text Box 67">
                <a:extLst>
                  <a:ext uri="{FF2B5EF4-FFF2-40B4-BE49-F238E27FC236}">
                    <a16:creationId xmlns:a16="http://schemas.microsoft.com/office/drawing/2014/main" id="{2F255B41-C836-4883-B5D0-19B1FFEBA71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4800" y="5410200"/>
                <a:ext cx="647700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>
                    <a:latin typeface="+mn-lt"/>
                  </a:rPr>
                  <a:t>1022</a:t>
                </a:r>
              </a:p>
            </p:txBody>
          </p:sp>
          <p:sp>
            <p:nvSpPr>
              <p:cNvPr id="168" name="Text Box 68">
                <a:extLst>
                  <a:ext uri="{FF2B5EF4-FFF2-40B4-BE49-F238E27FC236}">
                    <a16:creationId xmlns:a16="http://schemas.microsoft.com/office/drawing/2014/main" id="{3CC72AEA-E6AA-49CD-BD53-8ECEF01CE13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4800" y="5715000"/>
                <a:ext cx="647700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>
                    <a:latin typeface="+mn-lt"/>
                  </a:rPr>
                  <a:t>1023</a:t>
                </a:r>
              </a:p>
            </p:txBody>
          </p:sp>
          <p:sp>
            <p:nvSpPr>
              <p:cNvPr id="169" name="Text Box 70">
                <a:extLst>
                  <a:ext uri="{FF2B5EF4-FFF2-40B4-BE49-F238E27FC236}">
                    <a16:creationId xmlns:a16="http://schemas.microsoft.com/office/drawing/2014/main" id="{CC294C67-ADC5-4981-AB79-4E42E2F4DA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56314" y="2971800"/>
                <a:ext cx="663836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 dirty="0">
                    <a:latin typeface="+mn-lt"/>
                  </a:rPr>
                  <a:t>Valid</a:t>
                </a:r>
              </a:p>
            </p:txBody>
          </p:sp>
          <p:sp>
            <p:nvSpPr>
              <p:cNvPr id="170" name="Text Box 71">
                <a:extLst>
                  <a:ext uri="{FF2B5EF4-FFF2-40B4-BE49-F238E27FC236}">
                    <a16:creationId xmlns:a16="http://schemas.microsoft.com/office/drawing/2014/main" id="{D8BB064E-21F1-496B-BBCD-F3EC1EC6712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47800" y="2971800"/>
                <a:ext cx="534988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 dirty="0">
                    <a:latin typeface="+mn-lt"/>
                  </a:rPr>
                  <a:t>Tag</a:t>
                </a:r>
              </a:p>
            </p:txBody>
          </p:sp>
          <p:grpSp>
            <p:nvGrpSpPr>
              <p:cNvPr id="171" name="Group 170">
                <a:extLst>
                  <a:ext uri="{FF2B5EF4-FFF2-40B4-BE49-F238E27FC236}">
                    <a16:creationId xmlns:a16="http://schemas.microsoft.com/office/drawing/2014/main" id="{3A232E08-38B7-453E-9029-80D2FC9ADBC1}"/>
                  </a:ext>
                </a:extLst>
              </p:cNvPr>
              <p:cNvGrpSpPr/>
              <p:nvPr/>
            </p:nvGrpSpPr>
            <p:grpSpPr>
              <a:xfrm>
                <a:off x="2133600" y="2482850"/>
                <a:ext cx="6629400" cy="336550"/>
                <a:chOff x="2209800" y="2438400"/>
                <a:chExt cx="6629400" cy="336550"/>
              </a:xfrm>
            </p:grpSpPr>
            <p:sp>
              <p:nvSpPr>
                <p:cNvPr id="172" name="Text Box 72">
                  <a:extLst>
                    <a:ext uri="{FF2B5EF4-FFF2-40B4-BE49-F238E27FC236}">
                      <a16:creationId xmlns:a16="http://schemas.microsoft.com/office/drawing/2014/main" id="{4FBB43BF-77A0-4C7E-97B9-E81A3F51357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648200" y="2438400"/>
                  <a:ext cx="635000" cy="336550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sz="1600" b="1" dirty="0">
                      <a:latin typeface="+mn-lt"/>
                    </a:rPr>
                    <a:t>Data</a:t>
                  </a:r>
                </a:p>
              </p:txBody>
            </p:sp>
            <p:sp>
              <p:nvSpPr>
                <p:cNvPr id="173" name="Line 73">
                  <a:extLst>
                    <a:ext uri="{FF2B5EF4-FFF2-40B4-BE49-F238E27FC236}">
                      <a16:creationId xmlns:a16="http://schemas.microsoft.com/office/drawing/2014/main" id="{FCEC574D-2840-4272-8295-4AFF43A51E0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209800" y="2590800"/>
                  <a:ext cx="243840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>
                  <a:spAutoFit/>
                </a:bodyPr>
                <a:lstStyle/>
                <a:p>
                  <a:endParaRPr lang="en-US">
                    <a:latin typeface="+mn-lt"/>
                  </a:endParaRPr>
                </a:p>
              </p:txBody>
            </p:sp>
            <p:sp>
              <p:nvSpPr>
                <p:cNvPr id="174" name="Line 74">
                  <a:extLst>
                    <a:ext uri="{FF2B5EF4-FFF2-40B4-BE49-F238E27FC236}">
                      <a16:creationId xmlns:a16="http://schemas.microsoft.com/office/drawing/2014/main" id="{642500F6-AB56-445B-86D1-5A2D13E4579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57800" y="2590800"/>
                  <a:ext cx="358140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 wrap="none">
                  <a:spAutoFit/>
                </a:bodyPr>
                <a:lstStyle/>
                <a:p>
                  <a:endParaRPr lang="en-US">
                    <a:latin typeface="+mn-lt"/>
                  </a:endParaRPr>
                </a:p>
              </p:txBody>
            </p:sp>
          </p:grpSp>
          <p:sp>
            <p:nvSpPr>
              <p:cNvPr id="175" name="Text Box 75">
                <a:extLst>
                  <a:ext uri="{FF2B5EF4-FFF2-40B4-BE49-F238E27FC236}">
                    <a16:creationId xmlns:a16="http://schemas.microsoft.com/office/drawing/2014/main" id="{A57F1217-E125-40D2-9C64-0624C19AB66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44072" y="2743200"/>
                <a:ext cx="818942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 dirty="0">
                    <a:latin typeface="+mn-lt"/>
                  </a:rPr>
                  <a:t>Word0</a:t>
                </a:r>
              </a:p>
            </p:txBody>
          </p:sp>
          <p:sp>
            <p:nvSpPr>
              <p:cNvPr id="176" name="Text Box 76">
                <a:extLst>
                  <a:ext uri="{FF2B5EF4-FFF2-40B4-BE49-F238E27FC236}">
                    <a16:creationId xmlns:a16="http://schemas.microsoft.com/office/drawing/2014/main" id="{AFF67471-2366-4D26-B9FF-2AD96183BB9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60862" y="2743200"/>
                <a:ext cx="811213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 dirty="0">
                    <a:latin typeface="+mn-lt"/>
                  </a:rPr>
                  <a:t>Word1</a:t>
                </a:r>
              </a:p>
            </p:txBody>
          </p:sp>
          <p:sp>
            <p:nvSpPr>
              <p:cNvPr id="177" name="Text Box 77">
                <a:extLst>
                  <a:ext uri="{FF2B5EF4-FFF2-40B4-BE49-F238E27FC236}">
                    <a16:creationId xmlns:a16="http://schemas.microsoft.com/office/drawing/2014/main" id="{A385F1F8-BC56-4A10-A6BB-F0634E191AB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49272" y="2743200"/>
                <a:ext cx="818942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 dirty="0">
                    <a:latin typeface="+mn-lt"/>
                  </a:rPr>
                  <a:t>Word2</a:t>
                </a:r>
              </a:p>
            </p:txBody>
          </p:sp>
          <p:sp>
            <p:nvSpPr>
              <p:cNvPr id="178" name="Text Box 78">
                <a:extLst>
                  <a:ext uri="{FF2B5EF4-FFF2-40B4-BE49-F238E27FC236}">
                    <a16:creationId xmlns:a16="http://schemas.microsoft.com/office/drawing/2014/main" id="{45589EB9-883C-4B88-9B41-641DA71F91F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49472" y="2743200"/>
                <a:ext cx="818942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 dirty="0">
                    <a:latin typeface="+mn-lt"/>
                  </a:rPr>
                  <a:t>Word3</a:t>
                </a:r>
              </a:p>
            </p:txBody>
          </p:sp>
          <p:sp>
            <p:nvSpPr>
              <p:cNvPr id="179" name="Text Box 79">
                <a:extLst>
                  <a:ext uri="{FF2B5EF4-FFF2-40B4-BE49-F238E27FC236}">
                    <a16:creationId xmlns:a16="http://schemas.microsoft.com/office/drawing/2014/main" id="{F5A18A55-8132-4A57-BF25-F1AD8886F40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08548" y="2971800"/>
                <a:ext cx="1051891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dirty="0">
                    <a:latin typeface="+mn-lt"/>
                  </a:rPr>
                  <a:t>Bytes 0-3</a:t>
                </a:r>
              </a:p>
            </p:txBody>
          </p:sp>
          <p:sp>
            <p:nvSpPr>
              <p:cNvPr id="180" name="Text Box 80">
                <a:extLst>
                  <a:ext uri="{FF2B5EF4-FFF2-40B4-BE49-F238E27FC236}">
                    <a16:creationId xmlns:a16="http://schemas.microsoft.com/office/drawing/2014/main" id="{D8B0617E-403B-435C-9D5C-251D506658A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37348" y="2971800"/>
                <a:ext cx="1051891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dirty="0">
                    <a:latin typeface="+mn-lt"/>
                  </a:rPr>
                  <a:t>Bytes 4-7</a:t>
                </a:r>
              </a:p>
            </p:txBody>
          </p:sp>
          <p:sp>
            <p:nvSpPr>
              <p:cNvPr id="181" name="Text Box 81">
                <a:extLst>
                  <a:ext uri="{FF2B5EF4-FFF2-40B4-BE49-F238E27FC236}">
                    <a16:creationId xmlns:a16="http://schemas.microsoft.com/office/drawing/2014/main" id="{5AEA3639-604E-4BC6-8CBB-1BFD18FD781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48597" y="2971800"/>
                <a:ext cx="1150444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dirty="0">
                    <a:latin typeface="+mn-lt"/>
                  </a:rPr>
                  <a:t>Bytes 8-11</a:t>
                </a:r>
              </a:p>
            </p:txBody>
          </p:sp>
          <p:sp>
            <p:nvSpPr>
              <p:cNvPr id="182" name="Text Box 82">
                <a:extLst>
                  <a:ext uri="{FF2B5EF4-FFF2-40B4-BE49-F238E27FC236}">
                    <a16:creationId xmlns:a16="http://schemas.microsoft.com/office/drawing/2014/main" id="{D91310A5-BB51-4036-BB85-C14078F6E3D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46173" y="2971800"/>
                <a:ext cx="1279517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dirty="0">
                    <a:latin typeface="+mn-lt"/>
                  </a:rPr>
                  <a:t>Bytes 12-15</a:t>
                </a:r>
              </a:p>
            </p:txBody>
          </p:sp>
        </p:grpSp>
        <p:sp>
          <p:nvSpPr>
            <p:cNvPr id="89" name="Text Box 69">
              <a:extLst>
                <a:ext uri="{FF2B5EF4-FFF2-40B4-BE49-F238E27FC236}">
                  <a16:creationId xmlns:a16="http://schemas.microsoft.com/office/drawing/2014/main" id="{424E3DDC-5AB9-4F23-9B0E-A30E318DF3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400" y="2971800"/>
              <a:ext cx="720069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latin typeface="+mn-lt"/>
                </a:rPr>
                <a:t>Index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1228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 animBg="1"/>
      <p:bldP spid="88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5. Reading Data: </a:t>
            </a:r>
            <a:r>
              <a:rPr lang="en-GB" sz="3600" b="1" dirty="0">
                <a:solidFill>
                  <a:srgbClr val="0000FF"/>
                </a:solidFill>
              </a:rPr>
              <a:t>Load #3-2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#22: Cache I: Direct Mapped Cache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42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05" name="Content Placeholder 2">
            <a:extLst>
              <a:ext uri="{FF2B5EF4-FFF2-40B4-BE49-F238E27FC236}">
                <a16:creationId xmlns:a16="http://schemas.microsoft.com/office/drawing/2014/main" id="{F42D869D-777C-4A19-87AD-D73DCB7B3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788" y="1463676"/>
            <a:ext cx="8538411" cy="958849"/>
          </a:xfrm>
        </p:spPr>
        <p:txBody>
          <a:bodyPr>
            <a:normAutofit/>
          </a:bodyPr>
          <a:lstStyle/>
          <a:p>
            <a:pPr marL="265113" indent="-265113">
              <a:buSzPct val="100000"/>
              <a:buFont typeface="Wingdings" panose="05000000000000000000" pitchFamily="2" charset="2"/>
              <a:buChar char="§"/>
            </a:pPr>
            <a:r>
              <a:rPr lang="en-SG" sz="2400" dirty="0"/>
              <a:t>Load from</a:t>
            </a:r>
            <a:endParaRPr lang="en-SG" sz="2200" dirty="0"/>
          </a:p>
          <a:p>
            <a:pPr>
              <a:buNone/>
            </a:pPr>
            <a:r>
              <a:rPr lang="en-US" b="1" dirty="0"/>
              <a:t>Step 2</a:t>
            </a:r>
            <a:r>
              <a:rPr lang="en-US" dirty="0"/>
              <a:t>. </a:t>
            </a:r>
            <a:r>
              <a:rPr lang="en-US" sz="2200" dirty="0">
                <a:sym typeface="Wingdings" panose="05000000000000000000" pitchFamily="2" charset="2"/>
              </a:rPr>
              <a:t>Data in block 3 is </a:t>
            </a:r>
            <a:r>
              <a:rPr lang="en-US" sz="2200" b="1" dirty="0">
                <a:sym typeface="Wingdings" panose="05000000000000000000" pitchFamily="2" charset="2"/>
              </a:rPr>
              <a:t>invalid </a:t>
            </a:r>
            <a:r>
              <a:rPr lang="en-US" sz="2200" b="1" dirty="0">
                <a:solidFill>
                  <a:srgbClr val="7030A0"/>
                </a:solidFill>
                <a:sym typeface="Wingdings" panose="05000000000000000000" pitchFamily="2" charset="2"/>
              </a:rPr>
              <a:t>[Cold/Compulsory Miss]</a:t>
            </a:r>
            <a:endParaRPr lang="en-SG" sz="2200" b="1" dirty="0">
              <a:solidFill>
                <a:srgbClr val="7030A0"/>
              </a:solidFill>
            </a:endParaRP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F79D12AF-480C-4552-88AA-23103501BE5B}"/>
              </a:ext>
            </a:extLst>
          </p:cNvPr>
          <p:cNvGrpSpPr/>
          <p:nvPr/>
        </p:nvGrpSpPr>
        <p:grpSpPr>
          <a:xfrm>
            <a:off x="2362201" y="1095376"/>
            <a:ext cx="5257799" cy="762000"/>
            <a:chOff x="2362201" y="914400"/>
            <a:chExt cx="5257799" cy="762000"/>
          </a:xfrm>
        </p:grpSpPr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3ADEB99F-7526-4800-93FB-68071C373046}"/>
                </a:ext>
              </a:extLst>
            </p:cNvPr>
            <p:cNvSpPr/>
            <p:nvPr/>
          </p:nvSpPr>
          <p:spPr>
            <a:xfrm>
              <a:off x="2362201" y="1295400"/>
              <a:ext cx="2743199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dirty="0">
                  <a:solidFill>
                    <a:srgbClr val="C00000"/>
                  </a:solidFill>
                </a:rPr>
                <a:t>000000000000000000</a:t>
              </a: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63F33081-71DE-4216-A404-17AFE49F1B46}"/>
                </a:ext>
              </a:extLst>
            </p:cNvPr>
            <p:cNvSpPr/>
            <p:nvPr/>
          </p:nvSpPr>
          <p:spPr>
            <a:xfrm>
              <a:off x="6705600" y="1295400"/>
              <a:ext cx="838200" cy="381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dirty="0">
                  <a:solidFill>
                    <a:srgbClr val="006600"/>
                  </a:solidFill>
                </a:rPr>
                <a:t>0100</a:t>
              </a:r>
            </a:p>
          </p:txBody>
        </p:sp>
        <p:sp>
          <p:nvSpPr>
            <p:cNvPr id="110" name="Text Box 75">
              <a:extLst>
                <a:ext uri="{FF2B5EF4-FFF2-40B4-BE49-F238E27FC236}">
                  <a16:creationId xmlns:a16="http://schemas.microsoft.com/office/drawing/2014/main" id="{1C436AB2-65A7-47B1-A984-D266382BA4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9000" y="914400"/>
              <a:ext cx="726226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C00000"/>
                  </a:solidFill>
                  <a:latin typeface="+mn-lt"/>
                </a:rPr>
                <a:t>Tag</a:t>
              </a:r>
            </a:p>
          </p:txBody>
        </p:sp>
        <p:sp>
          <p:nvSpPr>
            <p:cNvPr id="111" name="Text Box 75">
              <a:extLst>
                <a:ext uri="{FF2B5EF4-FFF2-40B4-BE49-F238E27FC236}">
                  <a16:creationId xmlns:a16="http://schemas.microsoft.com/office/drawing/2014/main" id="{B5D4DA04-2759-4E95-9345-23DD0EE458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53200" y="914400"/>
              <a:ext cx="1066800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006600"/>
                  </a:solidFill>
                  <a:latin typeface="+mn-lt"/>
                </a:rPr>
                <a:t>Offset</a:t>
              </a: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0BAEB268-7595-4B11-BE85-B7EF92481650}"/>
                </a:ext>
              </a:extLst>
            </p:cNvPr>
            <p:cNvSpPr/>
            <p:nvPr/>
          </p:nvSpPr>
          <p:spPr>
            <a:xfrm>
              <a:off x="5105400" y="1295400"/>
              <a:ext cx="1600200" cy="381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dirty="0">
                  <a:solidFill>
                    <a:schemeClr val="accent6">
                      <a:lumMod val="50000"/>
                    </a:schemeClr>
                  </a:solidFill>
                </a:rPr>
                <a:t>0000000011</a:t>
              </a:r>
            </a:p>
          </p:txBody>
        </p:sp>
        <p:sp>
          <p:nvSpPr>
            <p:cNvPr id="113" name="Text Box 75">
              <a:extLst>
                <a:ext uri="{FF2B5EF4-FFF2-40B4-BE49-F238E27FC236}">
                  <a16:creationId xmlns:a16="http://schemas.microsoft.com/office/drawing/2014/main" id="{226367A3-BC7A-4DF9-8D7F-4DF639AF96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10200" y="914400"/>
              <a:ext cx="997177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6">
                      <a:lumMod val="50000"/>
                    </a:schemeClr>
                  </a:solidFill>
                  <a:latin typeface="+mn-lt"/>
                </a:rPr>
                <a:t>Index</a:t>
              </a:r>
            </a:p>
          </p:txBody>
        </p:sp>
      </p:grpSp>
      <p:sp>
        <p:nvSpPr>
          <p:cNvPr id="88" name="Oval 87">
            <a:extLst>
              <a:ext uri="{FF2B5EF4-FFF2-40B4-BE49-F238E27FC236}">
                <a16:creationId xmlns:a16="http://schemas.microsoft.com/office/drawing/2014/main" id="{69F231E5-3874-47BE-B264-3B33A0E11405}"/>
              </a:ext>
            </a:extLst>
          </p:cNvPr>
          <p:cNvSpPr/>
          <p:nvPr/>
        </p:nvSpPr>
        <p:spPr>
          <a:xfrm>
            <a:off x="876300" y="4191000"/>
            <a:ext cx="304800" cy="304800"/>
          </a:xfrm>
          <a:prstGeom prst="ellipse">
            <a:avLst/>
          </a:prstGeom>
          <a:solidFill>
            <a:srgbClr val="EFE9E1">
              <a:alpha val="32157"/>
            </a:srgbClr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C8BDF2C-2697-4E46-A879-45397BE34B01}"/>
              </a:ext>
            </a:extLst>
          </p:cNvPr>
          <p:cNvGrpSpPr/>
          <p:nvPr/>
        </p:nvGrpSpPr>
        <p:grpSpPr>
          <a:xfrm>
            <a:off x="152400" y="2482850"/>
            <a:ext cx="8686800" cy="3568700"/>
            <a:chOff x="152400" y="2482850"/>
            <a:chExt cx="8686800" cy="356870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600056CB-C885-4CBC-908B-A047CEBCDC9C}"/>
                </a:ext>
              </a:extLst>
            </p:cNvPr>
            <p:cNvGrpSpPr/>
            <p:nvPr/>
          </p:nvGrpSpPr>
          <p:grpSpPr>
            <a:xfrm>
              <a:off x="304800" y="2482850"/>
              <a:ext cx="8534400" cy="3568700"/>
              <a:chOff x="304800" y="2482850"/>
              <a:chExt cx="8534400" cy="3568700"/>
            </a:xfrm>
          </p:grpSpPr>
          <p:sp>
            <p:nvSpPr>
              <p:cNvPr id="103" name="Rectangle 12">
                <a:extLst>
                  <a:ext uri="{FF2B5EF4-FFF2-40B4-BE49-F238E27FC236}">
                    <a16:creationId xmlns:a16="http://schemas.microsoft.com/office/drawing/2014/main" id="{B145FEA4-161C-49EA-BACC-9636FB107E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3000" y="3276600"/>
                <a:ext cx="990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04" name="Rectangle 13">
                <a:extLst>
                  <a:ext uri="{FF2B5EF4-FFF2-40B4-BE49-F238E27FC236}">
                    <a16:creationId xmlns:a16="http://schemas.microsoft.com/office/drawing/2014/main" id="{D6F061BB-EE02-45F2-A957-68D8C1CA14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400" y="3276600"/>
                <a:ext cx="228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0</a:t>
                </a:r>
              </a:p>
            </p:txBody>
          </p:sp>
          <p:sp>
            <p:nvSpPr>
              <p:cNvPr id="106" name="Rectangle 14">
                <a:extLst>
                  <a:ext uri="{FF2B5EF4-FFF2-40B4-BE49-F238E27FC236}">
                    <a16:creationId xmlns:a16="http://schemas.microsoft.com/office/drawing/2014/main" id="{D1D3AF2A-7812-4C43-B517-4DE029E7D1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3600" y="32766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14" name="Rectangle 15">
                <a:extLst>
                  <a:ext uri="{FF2B5EF4-FFF2-40B4-BE49-F238E27FC236}">
                    <a16:creationId xmlns:a16="http://schemas.microsoft.com/office/drawing/2014/main" id="{71D3ECE2-E3BF-41AD-BC36-7D06258511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0000" y="32766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15" name="Rectangle 16">
                <a:extLst>
                  <a:ext uri="{FF2B5EF4-FFF2-40B4-BE49-F238E27FC236}">
                    <a16:creationId xmlns:a16="http://schemas.microsoft.com/office/drawing/2014/main" id="{CE36E9FA-B430-45A9-B429-341031B1D0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6400" y="32766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17" name="Rectangle 17">
                <a:extLst>
                  <a:ext uri="{FF2B5EF4-FFF2-40B4-BE49-F238E27FC236}">
                    <a16:creationId xmlns:a16="http://schemas.microsoft.com/office/drawing/2014/main" id="{8D044D16-8DF1-4891-9FA3-484244C4D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62800" y="32766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18" name="Rectangle 18">
                <a:extLst>
                  <a:ext uri="{FF2B5EF4-FFF2-40B4-BE49-F238E27FC236}">
                    <a16:creationId xmlns:a16="http://schemas.microsoft.com/office/drawing/2014/main" id="{FABF1531-0AB0-4D14-A667-CADA95FDDF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3000" y="3581400"/>
                <a:ext cx="990600" cy="304800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0</a:t>
                </a:r>
              </a:p>
            </p:txBody>
          </p:sp>
          <p:sp>
            <p:nvSpPr>
              <p:cNvPr id="119" name="Rectangle 19">
                <a:extLst>
                  <a:ext uri="{FF2B5EF4-FFF2-40B4-BE49-F238E27FC236}">
                    <a16:creationId xmlns:a16="http://schemas.microsoft.com/office/drawing/2014/main" id="{6007E558-4FC7-4606-93E1-D003959183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400" y="3581400"/>
                <a:ext cx="228600" cy="304800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1</a:t>
                </a:r>
              </a:p>
            </p:txBody>
          </p:sp>
          <p:sp>
            <p:nvSpPr>
              <p:cNvPr id="120" name="Rectangle 20">
                <a:extLst>
                  <a:ext uri="{FF2B5EF4-FFF2-40B4-BE49-F238E27FC236}">
                    <a16:creationId xmlns:a16="http://schemas.microsoft.com/office/drawing/2014/main" id="{712F6FF7-47CD-42B9-BC74-FC05D403A9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3600" y="3581400"/>
                <a:ext cx="1676400" cy="304800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A</a:t>
                </a:r>
              </a:p>
            </p:txBody>
          </p:sp>
          <p:sp>
            <p:nvSpPr>
              <p:cNvPr id="121" name="Rectangle 21">
                <a:extLst>
                  <a:ext uri="{FF2B5EF4-FFF2-40B4-BE49-F238E27FC236}">
                    <a16:creationId xmlns:a16="http://schemas.microsoft.com/office/drawing/2014/main" id="{9335F7A1-B98C-4E48-8473-A68477FCD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0000" y="3581400"/>
                <a:ext cx="1676400" cy="304800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B</a:t>
                </a:r>
              </a:p>
            </p:txBody>
          </p:sp>
          <p:sp>
            <p:nvSpPr>
              <p:cNvPr id="122" name="Rectangle 22">
                <a:extLst>
                  <a:ext uri="{FF2B5EF4-FFF2-40B4-BE49-F238E27FC236}">
                    <a16:creationId xmlns:a16="http://schemas.microsoft.com/office/drawing/2014/main" id="{37B53A77-4B6C-4328-896D-6BDE9BB54E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6400" y="3581400"/>
                <a:ext cx="1676400" cy="304800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C</a:t>
                </a:r>
              </a:p>
            </p:txBody>
          </p:sp>
          <p:sp>
            <p:nvSpPr>
              <p:cNvPr id="123" name="Rectangle 23">
                <a:extLst>
                  <a:ext uri="{FF2B5EF4-FFF2-40B4-BE49-F238E27FC236}">
                    <a16:creationId xmlns:a16="http://schemas.microsoft.com/office/drawing/2014/main" id="{51D39A61-2614-44C5-810B-36E7C9E67C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62800" y="3581400"/>
                <a:ext cx="1676400" cy="304800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D</a:t>
                </a:r>
              </a:p>
            </p:txBody>
          </p:sp>
          <p:sp>
            <p:nvSpPr>
              <p:cNvPr id="124" name="Rectangle 24">
                <a:extLst>
                  <a:ext uri="{FF2B5EF4-FFF2-40B4-BE49-F238E27FC236}">
                    <a16:creationId xmlns:a16="http://schemas.microsoft.com/office/drawing/2014/main" id="{1E5FF318-2EF8-4DDA-8409-D6327A77A3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3000" y="3886200"/>
                <a:ext cx="990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25" name="Rectangle 25">
                <a:extLst>
                  <a:ext uri="{FF2B5EF4-FFF2-40B4-BE49-F238E27FC236}">
                    <a16:creationId xmlns:a16="http://schemas.microsoft.com/office/drawing/2014/main" id="{A13CDAA0-16EC-417C-B4F8-FA58B2F7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400" y="3886200"/>
                <a:ext cx="228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0</a:t>
                </a:r>
              </a:p>
            </p:txBody>
          </p:sp>
          <p:sp>
            <p:nvSpPr>
              <p:cNvPr id="126" name="Rectangle 26">
                <a:extLst>
                  <a:ext uri="{FF2B5EF4-FFF2-40B4-BE49-F238E27FC236}">
                    <a16:creationId xmlns:a16="http://schemas.microsoft.com/office/drawing/2014/main" id="{F403507A-0E1E-489A-89D1-B038EDDF76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3600" y="38862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27" name="Rectangle 27">
                <a:extLst>
                  <a:ext uri="{FF2B5EF4-FFF2-40B4-BE49-F238E27FC236}">
                    <a16:creationId xmlns:a16="http://schemas.microsoft.com/office/drawing/2014/main" id="{D5540AE2-0137-4708-99DC-9AA253963D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0000" y="38862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28" name="Rectangle 28">
                <a:extLst>
                  <a:ext uri="{FF2B5EF4-FFF2-40B4-BE49-F238E27FC236}">
                    <a16:creationId xmlns:a16="http://schemas.microsoft.com/office/drawing/2014/main" id="{7B6FE451-15AE-4A94-A507-ED474958EB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6400" y="38862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29" name="Rectangle 29">
                <a:extLst>
                  <a:ext uri="{FF2B5EF4-FFF2-40B4-BE49-F238E27FC236}">
                    <a16:creationId xmlns:a16="http://schemas.microsoft.com/office/drawing/2014/main" id="{B2B2652B-CC40-49B0-8C6B-9BB6D6C718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62800" y="38862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30" name="Rectangle 30">
                <a:extLst>
                  <a:ext uri="{FF2B5EF4-FFF2-40B4-BE49-F238E27FC236}">
                    <a16:creationId xmlns:a16="http://schemas.microsoft.com/office/drawing/2014/main" id="{B52E327D-81D7-48FC-A580-08D91A927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3000" y="4191000"/>
                <a:ext cx="990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31" name="Rectangle 31">
                <a:extLst>
                  <a:ext uri="{FF2B5EF4-FFF2-40B4-BE49-F238E27FC236}">
                    <a16:creationId xmlns:a16="http://schemas.microsoft.com/office/drawing/2014/main" id="{96DD3725-6D89-41A5-8BE9-9C3EADF6EB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400" y="4191000"/>
                <a:ext cx="228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0</a:t>
                </a:r>
              </a:p>
            </p:txBody>
          </p:sp>
          <p:sp>
            <p:nvSpPr>
              <p:cNvPr id="132" name="Rectangle 32">
                <a:extLst>
                  <a:ext uri="{FF2B5EF4-FFF2-40B4-BE49-F238E27FC236}">
                    <a16:creationId xmlns:a16="http://schemas.microsoft.com/office/drawing/2014/main" id="{E7F6A94F-E689-4858-8C8C-8A22203A10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3600" y="41910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33" name="Rectangle 33">
                <a:extLst>
                  <a:ext uri="{FF2B5EF4-FFF2-40B4-BE49-F238E27FC236}">
                    <a16:creationId xmlns:a16="http://schemas.microsoft.com/office/drawing/2014/main" id="{0E5BD2EE-35F8-4F78-B2D8-02FEE1A961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0000" y="41910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34" name="Rectangle 34">
                <a:extLst>
                  <a:ext uri="{FF2B5EF4-FFF2-40B4-BE49-F238E27FC236}">
                    <a16:creationId xmlns:a16="http://schemas.microsoft.com/office/drawing/2014/main" id="{B0634A88-DE4E-4D51-9F07-BA2B57F55B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6400" y="41910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35" name="Rectangle 35">
                <a:extLst>
                  <a:ext uri="{FF2B5EF4-FFF2-40B4-BE49-F238E27FC236}">
                    <a16:creationId xmlns:a16="http://schemas.microsoft.com/office/drawing/2014/main" id="{7731F9E3-4DE2-4E7E-BA51-4B001765A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62800" y="41910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36" name="Rectangle 36">
                <a:extLst>
                  <a:ext uri="{FF2B5EF4-FFF2-40B4-BE49-F238E27FC236}">
                    <a16:creationId xmlns:a16="http://schemas.microsoft.com/office/drawing/2014/main" id="{5E75CF91-ED93-403F-9EBA-EF54D4975D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3000" y="4495800"/>
                <a:ext cx="990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37" name="Rectangle 37">
                <a:extLst>
                  <a:ext uri="{FF2B5EF4-FFF2-40B4-BE49-F238E27FC236}">
                    <a16:creationId xmlns:a16="http://schemas.microsoft.com/office/drawing/2014/main" id="{3A3CC617-E19E-45B4-ACDC-3E35C5681C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400" y="4495800"/>
                <a:ext cx="228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0</a:t>
                </a:r>
              </a:p>
            </p:txBody>
          </p:sp>
          <p:sp>
            <p:nvSpPr>
              <p:cNvPr id="138" name="Rectangle 38">
                <a:extLst>
                  <a:ext uri="{FF2B5EF4-FFF2-40B4-BE49-F238E27FC236}">
                    <a16:creationId xmlns:a16="http://schemas.microsoft.com/office/drawing/2014/main" id="{EE2D5E62-D865-4B75-9403-19E8D7AF48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3600" y="44958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39" name="Rectangle 39">
                <a:extLst>
                  <a:ext uri="{FF2B5EF4-FFF2-40B4-BE49-F238E27FC236}">
                    <a16:creationId xmlns:a16="http://schemas.microsoft.com/office/drawing/2014/main" id="{22FC60D9-C2B6-4983-9C13-0252D29709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0000" y="44958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40" name="Rectangle 40">
                <a:extLst>
                  <a:ext uri="{FF2B5EF4-FFF2-40B4-BE49-F238E27FC236}">
                    <a16:creationId xmlns:a16="http://schemas.microsoft.com/office/drawing/2014/main" id="{A2012475-EEC6-48A7-9BCB-9CF63DA4DC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6400" y="44958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41" name="Rectangle 41">
                <a:extLst>
                  <a:ext uri="{FF2B5EF4-FFF2-40B4-BE49-F238E27FC236}">
                    <a16:creationId xmlns:a16="http://schemas.microsoft.com/office/drawing/2014/main" id="{17AB8261-BC7E-4D5F-B129-66B8C69C0A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62800" y="44958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42" name="Rectangle 42">
                <a:extLst>
                  <a:ext uri="{FF2B5EF4-FFF2-40B4-BE49-F238E27FC236}">
                    <a16:creationId xmlns:a16="http://schemas.microsoft.com/office/drawing/2014/main" id="{06F0B933-53D2-472A-A09F-0C0A257D7F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3000" y="4800600"/>
                <a:ext cx="990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43" name="Rectangle 43">
                <a:extLst>
                  <a:ext uri="{FF2B5EF4-FFF2-40B4-BE49-F238E27FC236}">
                    <a16:creationId xmlns:a16="http://schemas.microsoft.com/office/drawing/2014/main" id="{E152B7F9-71A1-47AD-BAC1-3E596A7424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400" y="4800600"/>
                <a:ext cx="228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0</a:t>
                </a:r>
              </a:p>
            </p:txBody>
          </p:sp>
          <p:sp>
            <p:nvSpPr>
              <p:cNvPr id="144" name="Rectangle 44">
                <a:extLst>
                  <a:ext uri="{FF2B5EF4-FFF2-40B4-BE49-F238E27FC236}">
                    <a16:creationId xmlns:a16="http://schemas.microsoft.com/office/drawing/2014/main" id="{A02F1FCD-094E-41D2-8334-3FD5941D7F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3600" y="48006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45" name="Rectangle 45">
                <a:extLst>
                  <a:ext uri="{FF2B5EF4-FFF2-40B4-BE49-F238E27FC236}">
                    <a16:creationId xmlns:a16="http://schemas.microsoft.com/office/drawing/2014/main" id="{1354137D-A3A0-454C-A452-584839D8DB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0000" y="48006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46" name="Rectangle 46">
                <a:extLst>
                  <a:ext uri="{FF2B5EF4-FFF2-40B4-BE49-F238E27FC236}">
                    <a16:creationId xmlns:a16="http://schemas.microsoft.com/office/drawing/2014/main" id="{D75AB377-8CE9-49A4-9263-6EF13802CB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6400" y="48006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47" name="Rectangle 47">
                <a:extLst>
                  <a:ext uri="{FF2B5EF4-FFF2-40B4-BE49-F238E27FC236}">
                    <a16:creationId xmlns:a16="http://schemas.microsoft.com/office/drawing/2014/main" id="{BEEF1CEA-7ACD-4475-9BFB-D33554F591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62800" y="48006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48" name="Rectangle 48">
                <a:extLst>
                  <a:ext uri="{FF2B5EF4-FFF2-40B4-BE49-F238E27FC236}">
                    <a16:creationId xmlns:a16="http://schemas.microsoft.com/office/drawing/2014/main" id="{A83D5556-A35F-4365-A545-B770A26A3E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3000" y="5410200"/>
                <a:ext cx="990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49" name="Rectangle 49">
                <a:extLst>
                  <a:ext uri="{FF2B5EF4-FFF2-40B4-BE49-F238E27FC236}">
                    <a16:creationId xmlns:a16="http://schemas.microsoft.com/office/drawing/2014/main" id="{915EC05A-0D56-4901-B378-94D01B2500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400" y="5410200"/>
                <a:ext cx="228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0</a:t>
                </a:r>
              </a:p>
            </p:txBody>
          </p:sp>
          <p:sp>
            <p:nvSpPr>
              <p:cNvPr id="150" name="Rectangle 50">
                <a:extLst>
                  <a:ext uri="{FF2B5EF4-FFF2-40B4-BE49-F238E27FC236}">
                    <a16:creationId xmlns:a16="http://schemas.microsoft.com/office/drawing/2014/main" id="{B9C9490C-E22B-40EC-94BE-94A349AA23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3600" y="54102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51" name="Rectangle 51">
                <a:extLst>
                  <a:ext uri="{FF2B5EF4-FFF2-40B4-BE49-F238E27FC236}">
                    <a16:creationId xmlns:a16="http://schemas.microsoft.com/office/drawing/2014/main" id="{8AF5D80A-08C7-4E73-A088-1AC8753AD9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0000" y="54102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52" name="Rectangle 52">
                <a:extLst>
                  <a:ext uri="{FF2B5EF4-FFF2-40B4-BE49-F238E27FC236}">
                    <a16:creationId xmlns:a16="http://schemas.microsoft.com/office/drawing/2014/main" id="{42E9DFB2-4F32-4C37-9CB5-8BB1FF6ED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6400" y="54102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53" name="Rectangle 53">
                <a:extLst>
                  <a:ext uri="{FF2B5EF4-FFF2-40B4-BE49-F238E27FC236}">
                    <a16:creationId xmlns:a16="http://schemas.microsoft.com/office/drawing/2014/main" id="{D8A8461E-C4C0-4C0A-A682-B0935A6F7D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62800" y="54102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54" name="Rectangle 54">
                <a:extLst>
                  <a:ext uri="{FF2B5EF4-FFF2-40B4-BE49-F238E27FC236}">
                    <a16:creationId xmlns:a16="http://schemas.microsoft.com/office/drawing/2014/main" id="{B5470C8D-CBE8-4986-B5B7-D33EB43F4A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3000" y="5715000"/>
                <a:ext cx="990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55" name="Rectangle 55">
                <a:extLst>
                  <a:ext uri="{FF2B5EF4-FFF2-40B4-BE49-F238E27FC236}">
                    <a16:creationId xmlns:a16="http://schemas.microsoft.com/office/drawing/2014/main" id="{179C9D65-ED8D-4270-96DB-0166B37CC6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400" y="5715000"/>
                <a:ext cx="2286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r>
                  <a:rPr lang="en-US" sz="2000" b="1" dirty="0">
                    <a:latin typeface="+mn-lt"/>
                  </a:rPr>
                  <a:t>0</a:t>
                </a:r>
              </a:p>
            </p:txBody>
          </p:sp>
          <p:sp>
            <p:nvSpPr>
              <p:cNvPr id="156" name="Rectangle 56">
                <a:extLst>
                  <a:ext uri="{FF2B5EF4-FFF2-40B4-BE49-F238E27FC236}">
                    <a16:creationId xmlns:a16="http://schemas.microsoft.com/office/drawing/2014/main" id="{8FA3F269-F6F9-4D8C-BD50-834B9C1C2D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3600" y="57150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57" name="Rectangle 57">
                <a:extLst>
                  <a:ext uri="{FF2B5EF4-FFF2-40B4-BE49-F238E27FC236}">
                    <a16:creationId xmlns:a16="http://schemas.microsoft.com/office/drawing/2014/main" id="{B2736331-EA8C-4D2B-911F-2C47F8E08F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0000" y="57150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58" name="Rectangle 58">
                <a:extLst>
                  <a:ext uri="{FF2B5EF4-FFF2-40B4-BE49-F238E27FC236}">
                    <a16:creationId xmlns:a16="http://schemas.microsoft.com/office/drawing/2014/main" id="{475E4477-D818-4539-8C43-16264999F3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6400" y="57150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59" name="Rectangle 59">
                <a:extLst>
                  <a:ext uri="{FF2B5EF4-FFF2-40B4-BE49-F238E27FC236}">
                    <a16:creationId xmlns:a16="http://schemas.microsoft.com/office/drawing/2014/main" id="{EB6C6119-1E77-419C-842F-D757461A5E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62800" y="5715000"/>
                <a:ext cx="1676400" cy="3048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 b="1">
                  <a:latin typeface="+mn-lt"/>
                </a:endParaRPr>
              </a:p>
            </p:txBody>
          </p:sp>
          <p:sp>
            <p:nvSpPr>
              <p:cNvPr id="160" name="Text Box 60">
                <a:extLst>
                  <a:ext uri="{FF2B5EF4-FFF2-40B4-BE49-F238E27FC236}">
                    <a16:creationId xmlns:a16="http://schemas.microsoft.com/office/drawing/2014/main" id="{E179067C-A457-4C72-A7A6-678A56BD556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86000" y="4960203"/>
                <a:ext cx="5029200" cy="738664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eaLnBrk="0" hangingPunct="0"/>
                <a:r>
                  <a:rPr lang="en-US" sz="2400" b="1" dirty="0">
                    <a:latin typeface="+mn-lt"/>
                  </a:rPr>
                  <a:t>...    </a:t>
                </a:r>
                <a:r>
                  <a:rPr lang="en-US" sz="2400" b="1" dirty="0"/>
                  <a:t>...    ...    …   …   …   …   …</a:t>
                </a:r>
                <a:endParaRPr lang="en-US" sz="2400" dirty="0"/>
              </a:p>
              <a:p>
                <a:pPr eaLnBrk="0" hangingPunct="0"/>
                <a:endParaRPr lang="en-US" dirty="0"/>
              </a:p>
            </p:txBody>
          </p:sp>
          <p:sp>
            <p:nvSpPr>
              <p:cNvPr id="161" name="Text Box 61">
                <a:extLst>
                  <a:ext uri="{FF2B5EF4-FFF2-40B4-BE49-F238E27FC236}">
                    <a16:creationId xmlns:a16="http://schemas.microsoft.com/office/drawing/2014/main" id="{F763934D-8464-44E6-95BB-5DDCFBB26C4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3400" y="3276600"/>
                <a:ext cx="307975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dirty="0">
                    <a:latin typeface="+mn-lt"/>
                  </a:rPr>
                  <a:t>0</a:t>
                </a:r>
              </a:p>
            </p:txBody>
          </p:sp>
          <p:sp>
            <p:nvSpPr>
              <p:cNvPr id="162" name="Text Box 62">
                <a:extLst>
                  <a:ext uri="{FF2B5EF4-FFF2-40B4-BE49-F238E27FC236}">
                    <a16:creationId xmlns:a16="http://schemas.microsoft.com/office/drawing/2014/main" id="{05FF7976-56BD-4E07-8B19-D92729B10FA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2273" y="3581400"/>
                <a:ext cx="298480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>
                    <a:latin typeface="+mn-lt"/>
                  </a:rPr>
                  <a:t>1</a:t>
                </a:r>
              </a:p>
            </p:txBody>
          </p:sp>
          <p:sp>
            <p:nvSpPr>
              <p:cNvPr id="163" name="Text Box 63">
                <a:extLst>
                  <a:ext uri="{FF2B5EF4-FFF2-40B4-BE49-F238E27FC236}">
                    <a16:creationId xmlns:a16="http://schemas.microsoft.com/office/drawing/2014/main" id="{02B3F9D3-4E0C-4870-82B0-814473BAF5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3400" y="3886200"/>
                <a:ext cx="307975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>
                    <a:latin typeface="+mn-lt"/>
                  </a:rPr>
                  <a:t>2</a:t>
                </a:r>
              </a:p>
            </p:txBody>
          </p:sp>
          <p:sp>
            <p:nvSpPr>
              <p:cNvPr id="164" name="Text Box 64">
                <a:extLst>
                  <a:ext uri="{FF2B5EF4-FFF2-40B4-BE49-F238E27FC236}">
                    <a16:creationId xmlns:a16="http://schemas.microsoft.com/office/drawing/2014/main" id="{AAE54627-1E3C-4D28-AB1B-627CD71AF10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3400" y="4191000"/>
                <a:ext cx="307975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>
                    <a:latin typeface="+mn-lt"/>
                  </a:rPr>
                  <a:t>3</a:t>
                </a:r>
              </a:p>
            </p:txBody>
          </p:sp>
          <p:sp>
            <p:nvSpPr>
              <p:cNvPr id="165" name="Text Box 65">
                <a:extLst>
                  <a:ext uri="{FF2B5EF4-FFF2-40B4-BE49-F238E27FC236}">
                    <a16:creationId xmlns:a16="http://schemas.microsoft.com/office/drawing/2014/main" id="{1692934C-576B-4EF6-967D-07BAA00B65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3400" y="4495800"/>
                <a:ext cx="307975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>
                    <a:latin typeface="+mn-lt"/>
                  </a:rPr>
                  <a:t>4</a:t>
                </a:r>
              </a:p>
            </p:txBody>
          </p:sp>
          <p:sp>
            <p:nvSpPr>
              <p:cNvPr id="166" name="Text Box 66">
                <a:extLst>
                  <a:ext uri="{FF2B5EF4-FFF2-40B4-BE49-F238E27FC236}">
                    <a16:creationId xmlns:a16="http://schemas.microsoft.com/office/drawing/2014/main" id="{04CC81B6-FBEE-4BA7-B273-C04E325089B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3400" y="4800600"/>
                <a:ext cx="307975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>
                    <a:latin typeface="+mn-lt"/>
                  </a:rPr>
                  <a:t>5</a:t>
                </a:r>
              </a:p>
            </p:txBody>
          </p:sp>
          <p:sp>
            <p:nvSpPr>
              <p:cNvPr id="167" name="Text Box 67">
                <a:extLst>
                  <a:ext uri="{FF2B5EF4-FFF2-40B4-BE49-F238E27FC236}">
                    <a16:creationId xmlns:a16="http://schemas.microsoft.com/office/drawing/2014/main" id="{2F255B41-C836-4883-B5D0-19B1FFEBA71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4800" y="5410200"/>
                <a:ext cx="647700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>
                    <a:latin typeface="+mn-lt"/>
                  </a:rPr>
                  <a:t>1022</a:t>
                </a:r>
              </a:p>
            </p:txBody>
          </p:sp>
          <p:sp>
            <p:nvSpPr>
              <p:cNvPr id="168" name="Text Box 68">
                <a:extLst>
                  <a:ext uri="{FF2B5EF4-FFF2-40B4-BE49-F238E27FC236}">
                    <a16:creationId xmlns:a16="http://schemas.microsoft.com/office/drawing/2014/main" id="{3CC72AEA-E6AA-49CD-BD53-8ECEF01CE13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4800" y="5715000"/>
                <a:ext cx="647700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>
                    <a:latin typeface="+mn-lt"/>
                  </a:rPr>
                  <a:t>1023</a:t>
                </a:r>
              </a:p>
            </p:txBody>
          </p:sp>
          <p:sp>
            <p:nvSpPr>
              <p:cNvPr id="169" name="Text Box 70">
                <a:extLst>
                  <a:ext uri="{FF2B5EF4-FFF2-40B4-BE49-F238E27FC236}">
                    <a16:creationId xmlns:a16="http://schemas.microsoft.com/office/drawing/2014/main" id="{CC294C67-ADC5-4981-AB79-4E42E2F4DA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56314" y="2971800"/>
                <a:ext cx="663836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 dirty="0">
                    <a:latin typeface="+mn-lt"/>
                  </a:rPr>
                  <a:t>Valid</a:t>
                </a:r>
              </a:p>
            </p:txBody>
          </p:sp>
          <p:sp>
            <p:nvSpPr>
              <p:cNvPr id="170" name="Text Box 71">
                <a:extLst>
                  <a:ext uri="{FF2B5EF4-FFF2-40B4-BE49-F238E27FC236}">
                    <a16:creationId xmlns:a16="http://schemas.microsoft.com/office/drawing/2014/main" id="{D8BB064E-21F1-496B-BBCD-F3EC1EC6712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47800" y="2971800"/>
                <a:ext cx="534988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 dirty="0">
                    <a:latin typeface="+mn-lt"/>
                  </a:rPr>
                  <a:t>Tag</a:t>
                </a:r>
              </a:p>
            </p:txBody>
          </p:sp>
          <p:grpSp>
            <p:nvGrpSpPr>
              <p:cNvPr id="171" name="Group 170">
                <a:extLst>
                  <a:ext uri="{FF2B5EF4-FFF2-40B4-BE49-F238E27FC236}">
                    <a16:creationId xmlns:a16="http://schemas.microsoft.com/office/drawing/2014/main" id="{3A232E08-38B7-453E-9029-80D2FC9ADBC1}"/>
                  </a:ext>
                </a:extLst>
              </p:cNvPr>
              <p:cNvGrpSpPr/>
              <p:nvPr/>
            </p:nvGrpSpPr>
            <p:grpSpPr>
              <a:xfrm>
                <a:off x="2133600" y="2482850"/>
                <a:ext cx="6629400" cy="336550"/>
                <a:chOff x="2209800" y="2438400"/>
                <a:chExt cx="6629400" cy="336550"/>
              </a:xfrm>
            </p:grpSpPr>
            <p:sp>
              <p:nvSpPr>
                <p:cNvPr id="172" name="Text Box 72">
                  <a:extLst>
                    <a:ext uri="{FF2B5EF4-FFF2-40B4-BE49-F238E27FC236}">
                      <a16:creationId xmlns:a16="http://schemas.microsoft.com/office/drawing/2014/main" id="{4FBB43BF-77A0-4C7E-97B9-E81A3F51357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648200" y="2438400"/>
                  <a:ext cx="635000" cy="336550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sz="1600" b="1" dirty="0">
                      <a:latin typeface="+mn-lt"/>
                    </a:rPr>
                    <a:t>Data</a:t>
                  </a:r>
                </a:p>
              </p:txBody>
            </p:sp>
            <p:sp>
              <p:nvSpPr>
                <p:cNvPr id="173" name="Line 73">
                  <a:extLst>
                    <a:ext uri="{FF2B5EF4-FFF2-40B4-BE49-F238E27FC236}">
                      <a16:creationId xmlns:a16="http://schemas.microsoft.com/office/drawing/2014/main" id="{FCEC574D-2840-4272-8295-4AFF43A51E0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209800" y="2590800"/>
                  <a:ext cx="243840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>
                  <a:spAutoFit/>
                </a:bodyPr>
                <a:lstStyle/>
                <a:p>
                  <a:endParaRPr lang="en-US">
                    <a:latin typeface="+mn-lt"/>
                  </a:endParaRPr>
                </a:p>
              </p:txBody>
            </p:sp>
            <p:sp>
              <p:nvSpPr>
                <p:cNvPr id="174" name="Line 74">
                  <a:extLst>
                    <a:ext uri="{FF2B5EF4-FFF2-40B4-BE49-F238E27FC236}">
                      <a16:creationId xmlns:a16="http://schemas.microsoft.com/office/drawing/2014/main" id="{642500F6-AB56-445B-86D1-5A2D13E4579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57800" y="2590800"/>
                  <a:ext cx="358140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 wrap="none">
                  <a:spAutoFit/>
                </a:bodyPr>
                <a:lstStyle/>
                <a:p>
                  <a:endParaRPr lang="en-US">
                    <a:latin typeface="+mn-lt"/>
                  </a:endParaRPr>
                </a:p>
              </p:txBody>
            </p:sp>
          </p:grpSp>
          <p:sp>
            <p:nvSpPr>
              <p:cNvPr id="175" name="Text Box 75">
                <a:extLst>
                  <a:ext uri="{FF2B5EF4-FFF2-40B4-BE49-F238E27FC236}">
                    <a16:creationId xmlns:a16="http://schemas.microsoft.com/office/drawing/2014/main" id="{A57F1217-E125-40D2-9C64-0624C19AB66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44072" y="2743200"/>
                <a:ext cx="818942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 dirty="0">
                    <a:latin typeface="+mn-lt"/>
                  </a:rPr>
                  <a:t>Word0</a:t>
                </a:r>
              </a:p>
            </p:txBody>
          </p:sp>
          <p:sp>
            <p:nvSpPr>
              <p:cNvPr id="176" name="Text Box 76">
                <a:extLst>
                  <a:ext uri="{FF2B5EF4-FFF2-40B4-BE49-F238E27FC236}">
                    <a16:creationId xmlns:a16="http://schemas.microsoft.com/office/drawing/2014/main" id="{AFF67471-2366-4D26-B9FF-2AD96183BB9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60862" y="2743200"/>
                <a:ext cx="811213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 dirty="0">
                    <a:latin typeface="+mn-lt"/>
                  </a:rPr>
                  <a:t>Word1</a:t>
                </a:r>
              </a:p>
            </p:txBody>
          </p:sp>
          <p:sp>
            <p:nvSpPr>
              <p:cNvPr id="177" name="Text Box 77">
                <a:extLst>
                  <a:ext uri="{FF2B5EF4-FFF2-40B4-BE49-F238E27FC236}">
                    <a16:creationId xmlns:a16="http://schemas.microsoft.com/office/drawing/2014/main" id="{A385F1F8-BC56-4A10-A6BB-F0634E191AB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49272" y="2743200"/>
                <a:ext cx="818942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 dirty="0">
                    <a:latin typeface="+mn-lt"/>
                  </a:rPr>
                  <a:t>Word2</a:t>
                </a:r>
              </a:p>
            </p:txBody>
          </p:sp>
          <p:sp>
            <p:nvSpPr>
              <p:cNvPr id="178" name="Text Box 78">
                <a:extLst>
                  <a:ext uri="{FF2B5EF4-FFF2-40B4-BE49-F238E27FC236}">
                    <a16:creationId xmlns:a16="http://schemas.microsoft.com/office/drawing/2014/main" id="{45589EB9-883C-4B88-9B41-641DA71F91F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49472" y="2743200"/>
                <a:ext cx="818942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 dirty="0">
                    <a:latin typeface="+mn-lt"/>
                  </a:rPr>
                  <a:t>Word3</a:t>
                </a:r>
              </a:p>
            </p:txBody>
          </p:sp>
          <p:sp>
            <p:nvSpPr>
              <p:cNvPr id="179" name="Text Box 79">
                <a:extLst>
                  <a:ext uri="{FF2B5EF4-FFF2-40B4-BE49-F238E27FC236}">
                    <a16:creationId xmlns:a16="http://schemas.microsoft.com/office/drawing/2014/main" id="{F5A18A55-8132-4A57-BF25-F1AD8886F40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08548" y="2971800"/>
                <a:ext cx="1051891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dirty="0">
                    <a:latin typeface="+mn-lt"/>
                  </a:rPr>
                  <a:t>Bytes 0-3</a:t>
                </a:r>
              </a:p>
            </p:txBody>
          </p:sp>
          <p:sp>
            <p:nvSpPr>
              <p:cNvPr id="180" name="Text Box 80">
                <a:extLst>
                  <a:ext uri="{FF2B5EF4-FFF2-40B4-BE49-F238E27FC236}">
                    <a16:creationId xmlns:a16="http://schemas.microsoft.com/office/drawing/2014/main" id="{D8B0617E-403B-435C-9D5C-251D506658A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37348" y="2971800"/>
                <a:ext cx="1051891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dirty="0">
                    <a:latin typeface="+mn-lt"/>
                  </a:rPr>
                  <a:t>Bytes 4-7</a:t>
                </a:r>
              </a:p>
            </p:txBody>
          </p:sp>
          <p:sp>
            <p:nvSpPr>
              <p:cNvPr id="181" name="Text Box 81">
                <a:extLst>
                  <a:ext uri="{FF2B5EF4-FFF2-40B4-BE49-F238E27FC236}">
                    <a16:creationId xmlns:a16="http://schemas.microsoft.com/office/drawing/2014/main" id="{5AEA3639-604E-4BC6-8CBB-1BFD18FD781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48597" y="2971800"/>
                <a:ext cx="1150444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dirty="0">
                    <a:latin typeface="+mn-lt"/>
                  </a:rPr>
                  <a:t>Bytes 8-11</a:t>
                </a:r>
              </a:p>
            </p:txBody>
          </p:sp>
          <p:sp>
            <p:nvSpPr>
              <p:cNvPr id="182" name="Text Box 82">
                <a:extLst>
                  <a:ext uri="{FF2B5EF4-FFF2-40B4-BE49-F238E27FC236}">
                    <a16:creationId xmlns:a16="http://schemas.microsoft.com/office/drawing/2014/main" id="{D91310A5-BB51-4036-BB85-C14078F6E3D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46173" y="2971800"/>
                <a:ext cx="1279517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dirty="0">
                    <a:latin typeface="+mn-lt"/>
                  </a:rPr>
                  <a:t>Bytes 12-15</a:t>
                </a:r>
              </a:p>
            </p:txBody>
          </p:sp>
        </p:grpSp>
        <p:sp>
          <p:nvSpPr>
            <p:cNvPr id="89" name="Text Box 69">
              <a:extLst>
                <a:ext uri="{FF2B5EF4-FFF2-40B4-BE49-F238E27FC236}">
                  <a16:creationId xmlns:a16="http://schemas.microsoft.com/office/drawing/2014/main" id="{F7952EF0-1DDC-4890-8FBE-77FE7051E4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400" y="2971800"/>
              <a:ext cx="720069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latin typeface="+mn-lt"/>
                </a:rPr>
                <a:t>Index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17542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5. Reading Data: </a:t>
            </a:r>
            <a:r>
              <a:rPr lang="en-GB" sz="3600" b="1" dirty="0">
                <a:solidFill>
                  <a:srgbClr val="0000FF"/>
                </a:solidFill>
              </a:rPr>
              <a:t>Load #3-3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#22: Cache I: Direct Mapped Cache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43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05" name="Content Placeholder 2">
            <a:extLst>
              <a:ext uri="{FF2B5EF4-FFF2-40B4-BE49-F238E27FC236}">
                <a16:creationId xmlns:a16="http://schemas.microsoft.com/office/drawing/2014/main" id="{F42D869D-777C-4A19-87AD-D73DCB7B3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788" y="1463676"/>
            <a:ext cx="8538411" cy="958849"/>
          </a:xfrm>
        </p:spPr>
        <p:txBody>
          <a:bodyPr>
            <a:normAutofit/>
          </a:bodyPr>
          <a:lstStyle/>
          <a:p>
            <a:pPr marL="265113" indent="-265113">
              <a:buSzPct val="100000"/>
              <a:buFont typeface="Wingdings" panose="05000000000000000000" pitchFamily="2" charset="2"/>
              <a:buChar char="§"/>
            </a:pPr>
            <a:r>
              <a:rPr lang="en-SG" sz="2400" dirty="0"/>
              <a:t>Load from</a:t>
            </a:r>
            <a:endParaRPr lang="en-SG" sz="2200" dirty="0"/>
          </a:p>
          <a:p>
            <a:pPr>
              <a:buNone/>
            </a:pPr>
            <a:r>
              <a:rPr lang="en-US" b="1" dirty="0"/>
              <a:t>Step 3</a:t>
            </a:r>
            <a:r>
              <a:rPr lang="en-US" dirty="0"/>
              <a:t>. </a:t>
            </a:r>
            <a:r>
              <a:rPr lang="en-US" sz="2200" dirty="0"/>
              <a:t>Load 16 bytes from memory; Set </a:t>
            </a:r>
            <a:r>
              <a:rPr lang="en-US" sz="2200" b="1" dirty="0"/>
              <a:t>Tag</a:t>
            </a:r>
            <a:r>
              <a:rPr lang="en-US" sz="2200" dirty="0"/>
              <a:t> and </a:t>
            </a:r>
            <a:r>
              <a:rPr lang="en-US" sz="2200" b="1" dirty="0"/>
              <a:t>Valid</a:t>
            </a:r>
            <a:r>
              <a:rPr lang="en-US" sz="2200" dirty="0"/>
              <a:t> bit</a:t>
            </a:r>
            <a:endParaRPr lang="en-SG" sz="2200" b="1" dirty="0">
              <a:solidFill>
                <a:srgbClr val="7030A0"/>
              </a:solidFill>
            </a:endParaRP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F79D12AF-480C-4552-88AA-23103501BE5B}"/>
              </a:ext>
            </a:extLst>
          </p:cNvPr>
          <p:cNvGrpSpPr/>
          <p:nvPr/>
        </p:nvGrpSpPr>
        <p:grpSpPr>
          <a:xfrm>
            <a:off x="2362201" y="1095376"/>
            <a:ext cx="5257799" cy="762000"/>
            <a:chOff x="2362201" y="914400"/>
            <a:chExt cx="5257799" cy="762000"/>
          </a:xfrm>
        </p:grpSpPr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3ADEB99F-7526-4800-93FB-68071C373046}"/>
                </a:ext>
              </a:extLst>
            </p:cNvPr>
            <p:cNvSpPr/>
            <p:nvPr/>
          </p:nvSpPr>
          <p:spPr>
            <a:xfrm>
              <a:off x="2362201" y="1295400"/>
              <a:ext cx="2743199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dirty="0">
                  <a:solidFill>
                    <a:srgbClr val="C00000"/>
                  </a:solidFill>
                </a:rPr>
                <a:t>000000000000000000</a:t>
              </a: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63F33081-71DE-4216-A404-17AFE49F1B46}"/>
                </a:ext>
              </a:extLst>
            </p:cNvPr>
            <p:cNvSpPr/>
            <p:nvPr/>
          </p:nvSpPr>
          <p:spPr>
            <a:xfrm>
              <a:off x="6705600" y="1295400"/>
              <a:ext cx="838200" cy="381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dirty="0">
                  <a:solidFill>
                    <a:srgbClr val="006600"/>
                  </a:solidFill>
                </a:rPr>
                <a:t>0100</a:t>
              </a:r>
            </a:p>
          </p:txBody>
        </p:sp>
        <p:sp>
          <p:nvSpPr>
            <p:cNvPr id="110" name="Text Box 75">
              <a:extLst>
                <a:ext uri="{FF2B5EF4-FFF2-40B4-BE49-F238E27FC236}">
                  <a16:creationId xmlns:a16="http://schemas.microsoft.com/office/drawing/2014/main" id="{1C436AB2-65A7-47B1-A984-D266382BA4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9000" y="914400"/>
              <a:ext cx="726226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C00000"/>
                  </a:solidFill>
                  <a:latin typeface="+mn-lt"/>
                </a:rPr>
                <a:t>Tag</a:t>
              </a:r>
            </a:p>
          </p:txBody>
        </p:sp>
        <p:sp>
          <p:nvSpPr>
            <p:cNvPr id="111" name="Text Box 75">
              <a:extLst>
                <a:ext uri="{FF2B5EF4-FFF2-40B4-BE49-F238E27FC236}">
                  <a16:creationId xmlns:a16="http://schemas.microsoft.com/office/drawing/2014/main" id="{B5D4DA04-2759-4E95-9345-23DD0EE458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53200" y="914400"/>
              <a:ext cx="1066800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006600"/>
                  </a:solidFill>
                  <a:latin typeface="+mn-lt"/>
                </a:rPr>
                <a:t>Offset</a:t>
              </a: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0BAEB268-7595-4B11-BE85-B7EF92481650}"/>
                </a:ext>
              </a:extLst>
            </p:cNvPr>
            <p:cNvSpPr/>
            <p:nvPr/>
          </p:nvSpPr>
          <p:spPr>
            <a:xfrm>
              <a:off x="5105400" y="1295400"/>
              <a:ext cx="1600200" cy="381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dirty="0">
                  <a:solidFill>
                    <a:schemeClr val="accent6">
                      <a:lumMod val="50000"/>
                    </a:schemeClr>
                  </a:solidFill>
                </a:rPr>
                <a:t>0000000011</a:t>
              </a:r>
            </a:p>
          </p:txBody>
        </p:sp>
        <p:sp>
          <p:nvSpPr>
            <p:cNvPr id="113" name="Text Box 75">
              <a:extLst>
                <a:ext uri="{FF2B5EF4-FFF2-40B4-BE49-F238E27FC236}">
                  <a16:creationId xmlns:a16="http://schemas.microsoft.com/office/drawing/2014/main" id="{226367A3-BC7A-4DF9-8D7F-4DF639AF96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10200" y="914400"/>
              <a:ext cx="997177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6">
                      <a:lumMod val="50000"/>
                    </a:schemeClr>
                  </a:solidFill>
                  <a:latin typeface="+mn-lt"/>
                </a:rPr>
                <a:t>Index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B86DC5FD-6836-4D25-A241-FF84C85197BF}"/>
              </a:ext>
            </a:extLst>
          </p:cNvPr>
          <p:cNvGrpSpPr/>
          <p:nvPr/>
        </p:nvGrpSpPr>
        <p:grpSpPr>
          <a:xfrm>
            <a:off x="152400" y="2482850"/>
            <a:ext cx="8686800" cy="3568700"/>
            <a:chOff x="152400" y="2482850"/>
            <a:chExt cx="8686800" cy="3568700"/>
          </a:xfrm>
        </p:grpSpPr>
        <p:sp>
          <p:nvSpPr>
            <p:cNvPr id="87" name="Rectangle 12">
              <a:extLst>
                <a:ext uri="{FF2B5EF4-FFF2-40B4-BE49-F238E27FC236}">
                  <a16:creationId xmlns:a16="http://schemas.microsoft.com/office/drawing/2014/main" id="{7DB01CFC-F7DF-40C0-BA45-0DE3172D07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3276600"/>
              <a:ext cx="990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89" name="Rectangle 13">
              <a:extLst>
                <a:ext uri="{FF2B5EF4-FFF2-40B4-BE49-F238E27FC236}">
                  <a16:creationId xmlns:a16="http://schemas.microsoft.com/office/drawing/2014/main" id="{B8DCEAE1-E087-4A49-83D9-048A33B628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3276600"/>
              <a:ext cx="228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0</a:t>
              </a:r>
            </a:p>
          </p:txBody>
        </p:sp>
        <p:sp>
          <p:nvSpPr>
            <p:cNvPr id="90" name="Rectangle 14">
              <a:extLst>
                <a:ext uri="{FF2B5EF4-FFF2-40B4-BE49-F238E27FC236}">
                  <a16:creationId xmlns:a16="http://schemas.microsoft.com/office/drawing/2014/main" id="{D98392BF-221B-4474-B08B-2CA1A18563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32766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91" name="Rectangle 15">
              <a:extLst>
                <a:ext uri="{FF2B5EF4-FFF2-40B4-BE49-F238E27FC236}">
                  <a16:creationId xmlns:a16="http://schemas.microsoft.com/office/drawing/2014/main" id="{77129509-8B2D-4DAA-AB46-389B3A66B6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32766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92" name="Rectangle 16">
              <a:extLst>
                <a:ext uri="{FF2B5EF4-FFF2-40B4-BE49-F238E27FC236}">
                  <a16:creationId xmlns:a16="http://schemas.microsoft.com/office/drawing/2014/main" id="{79F8F813-9F73-4965-9083-136E98D0AE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32766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93" name="Rectangle 17">
              <a:extLst>
                <a:ext uri="{FF2B5EF4-FFF2-40B4-BE49-F238E27FC236}">
                  <a16:creationId xmlns:a16="http://schemas.microsoft.com/office/drawing/2014/main" id="{06CCEF57-E287-472D-8F45-1ECA79220D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2800" y="32766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94" name="Rectangle 18">
              <a:extLst>
                <a:ext uri="{FF2B5EF4-FFF2-40B4-BE49-F238E27FC236}">
                  <a16:creationId xmlns:a16="http://schemas.microsoft.com/office/drawing/2014/main" id="{6826A830-F5B6-4A8F-A17C-EF62BBD345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3581400"/>
              <a:ext cx="990600" cy="304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0</a:t>
              </a:r>
            </a:p>
          </p:txBody>
        </p:sp>
        <p:sp>
          <p:nvSpPr>
            <p:cNvPr id="95" name="Rectangle 19">
              <a:extLst>
                <a:ext uri="{FF2B5EF4-FFF2-40B4-BE49-F238E27FC236}">
                  <a16:creationId xmlns:a16="http://schemas.microsoft.com/office/drawing/2014/main" id="{D5859BA3-46BB-475D-9A80-91365302A7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3581400"/>
              <a:ext cx="228600" cy="304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1</a:t>
              </a:r>
            </a:p>
          </p:txBody>
        </p:sp>
        <p:sp>
          <p:nvSpPr>
            <p:cNvPr id="96" name="Rectangle 20">
              <a:extLst>
                <a:ext uri="{FF2B5EF4-FFF2-40B4-BE49-F238E27FC236}">
                  <a16:creationId xmlns:a16="http://schemas.microsoft.com/office/drawing/2014/main" id="{F4D5AFC3-B720-4994-8043-D446CCC169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3581400"/>
              <a:ext cx="1676400" cy="304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A</a:t>
              </a:r>
            </a:p>
          </p:txBody>
        </p:sp>
        <p:sp>
          <p:nvSpPr>
            <p:cNvPr id="97" name="Rectangle 21">
              <a:extLst>
                <a:ext uri="{FF2B5EF4-FFF2-40B4-BE49-F238E27FC236}">
                  <a16:creationId xmlns:a16="http://schemas.microsoft.com/office/drawing/2014/main" id="{F3DB8786-6C20-491C-83A3-90B2A212C6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3581400"/>
              <a:ext cx="1676400" cy="304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B</a:t>
              </a:r>
            </a:p>
          </p:txBody>
        </p:sp>
        <p:sp>
          <p:nvSpPr>
            <p:cNvPr id="98" name="Rectangle 22">
              <a:extLst>
                <a:ext uri="{FF2B5EF4-FFF2-40B4-BE49-F238E27FC236}">
                  <a16:creationId xmlns:a16="http://schemas.microsoft.com/office/drawing/2014/main" id="{FD926B1D-D091-42D2-B1C4-60D912CE7C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3581400"/>
              <a:ext cx="1676400" cy="304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C</a:t>
              </a:r>
            </a:p>
          </p:txBody>
        </p:sp>
        <p:sp>
          <p:nvSpPr>
            <p:cNvPr id="99" name="Rectangle 23">
              <a:extLst>
                <a:ext uri="{FF2B5EF4-FFF2-40B4-BE49-F238E27FC236}">
                  <a16:creationId xmlns:a16="http://schemas.microsoft.com/office/drawing/2014/main" id="{51F3EF8B-5B63-4FC2-9ACB-59B4E98656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2800" y="3581400"/>
              <a:ext cx="1676400" cy="304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D</a:t>
              </a:r>
            </a:p>
          </p:txBody>
        </p:sp>
        <p:sp>
          <p:nvSpPr>
            <p:cNvPr id="100" name="Rectangle 24">
              <a:extLst>
                <a:ext uri="{FF2B5EF4-FFF2-40B4-BE49-F238E27FC236}">
                  <a16:creationId xmlns:a16="http://schemas.microsoft.com/office/drawing/2014/main" id="{84C5F924-7304-4F70-A8FA-F084A790D8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3886200"/>
              <a:ext cx="990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01" name="Rectangle 25">
              <a:extLst>
                <a:ext uri="{FF2B5EF4-FFF2-40B4-BE49-F238E27FC236}">
                  <a16:creationId xmlns:a16="http://schemas.microsoft.com/office/drawing/2014/main" id="{5E7AF4C3-54CB-4D5E-BA80-9B907F9AE5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3886200"/>
              <a:ext cx="228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0</a:t>
              </a:r>
            </a:p>
          </p:txBody>
        </p:sp>
        <p:sp>
          <p:nvSpPr>
            <p:cNvPr id="102" name="Rectangle 26">
              <a:extLst>
                <a:ext uri="{FF2B5EF4-FFF2-40B4-BE49-F238E27FC236}">
                  <a16:creationId xmlns:a16="http://schemas.microsoft.com/office/drawing/2014/main" id="{8631D9BE-7ED8-40D3-A9C3-4F8DB0D93A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38862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16" name="Rectangle 27">
              <a:extLst>
                <a:ext uri="{FF2B5EF4-FFF2-40B4-BE49-F238E27FC236}">
                  <a16:creationId xmlns:a16="http://schemas.microsoft.com/office/drawing/2014/main" id="{7D84F504-64E4-4A2B-A295-B53F22EAA3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38862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83" name="Rectangle 28">
              <a:extLst>
                <a:ext uri="{FF2B5EF4-FFF2-40B4-BE49-F238E27FC236}">
                  <a16:creationId xmlns:a16="http://schemas.microsoft.com/office/drawing/2014/main" id="{76E25282-9BA2-48C8-A434-1FA71DFE92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38862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84" name="Rectangle 29">
              <a:extLst>
                <a:ext uri="{FF2B5EF4-FFF2-40B4-BE49-F238E27FC236}">
                  <a16:creationId xmlns:a16="http://schemas.microsoft.com/office/drawing/2014/main" id="{D2F5727C-E9A6-4D41-963F-74E8C92F83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2800" y="38862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85" name="Rectangle 30">
              <a:extLst>
                <a:ext uri="{FF2B5EF4-FFF2-40B4-BE49-F238E27FC236}">
                  <a16:creationId xmlns:a16="http://schemas.microsoft.com/office/drawing/2014/main" id="{A1439D59-C4AE-4631-AFF9-BC42ED6D67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4191000"/>
              <a:ext cx="990600" cy="3048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solidFill>
                    <a:srgbClr val="C00000"/>
                  </a:solidFill>
                  <a:latin typeface="+mn-lt"/>
                </a:rPr>
                <a:t>0</a:t>
              </a:r>
            </a:p>
          </p:txBody>
        </p:sp>
        <p:sp>
          <p:nvSpPr>
            <p:cNvPr id="186" name="Rectangle 31">
              <a:extLst>
                <a:ext uri="{FF2B5EF4-FFF2-40B4-BE49-F238E27FC236}">
                  <a16:creationId xmlns:a16="http://schemas.microsoft.com/office/drawing/2014/main" id="{6C4CA497-4776-4915-A20D-D5941DAD55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4191000"/>
              <a:ext cx="228600" cy="3048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solidFill>
                    <a:srgbClr val="C00000"/>
                  </a:solidFill>
                  <a:latin typeface="+mn-lt"/>
                </a:rPr>
                <a:t>1</a:t>
              </a:r>
            </a:p>
          </p:txBody>
        </p:sp>
        <p:sp>
          <p:nvSpPr>
            <p:cNvPr id="187" name="Rectangle 32">
              <a:extLst>
                <a:ext uri="{FF2B5EF4-FFF2-40B4-BE49-F238E27FC236}">
                  <a16:creationId xmlns:a16="http://schemas.microsoft.com/office/drawing/2014/main" id="{3AA6AF80-9D87-4D18-A03D-2BBF808FF1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4191000"/>
              <a:ext cx="1676400" cy="3048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solidFill>
                    <a:srgbClr val="C00000"/>
                  </a:solidFill>
                  <a:latin typeface="+mn-lt"/>
                </a:rPr>
                <a:t>I</a:t>
              </a:r>
            </a:p>
          </p:txBody>
        </p:sp>
        <p:sp>
          <p:nvSpPr>
            <p:cNvPr id="188" name="Rectangle 33">
              <a:extLst>
                <a:ext uri="{FF2B5EF4-FFF2-40B4-BE49-F238E27FC236}">
                  <a16:creationId xmlns:a16="http://schemas.microsoft.com/office/drawing/2014/main" id="{C9D01ABB-5DE8-42F9-9891-41B4974F1F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4191000"/>
              <a:ext cx="1676400" cy="3048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solidFill>
                    <a:srgbClr val="C00000"/>
                  </a:solidFill>
                  <a:latin typeface="+mn-lt"/>
                </a:rPr>
                <a:t>J</a:t>
              </a:r>
            </a:p>
          </p:txBody>
        </p:sp>
        <p:sp>
          <p:nvSpPr>
            <p:cNvPr id="189" name="Rectangle 34">
              <a:extLst>
                <a:ext uri="{FF2B5EF4-FFF2-40B4-BE49-F238E27FC236}">
                  <a16:creationId xmlns:a16="http://schemas.microsoft.com/office/drawing/2014/main" id="{557E9914-E8E3-461D-8878-BCC990689C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4191000"/>
              <a:ext cx="1676400" cy="3048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solidFill>
                    <a:srgbClr val="C00000"/>
                  </a:solidFill>
                  <a:latin typeface="+mn-lt"/>
                </a:rPr>
                <a:t>K</a:t>
              </a:r>
            </a:p>
          </p:txBody>
        </p:sp>
        <p:sp>
          <p:nvSpPr>
            <p:cNvPr id="190" name="Rectangle 35">
              <a:extLst>
                <a:ext uri="{FF2B5EF4-FFF2-40B4-BE49-F238E27FC236}">
                  <a16:creationId xmlns:a16="http://schemas.microsoft.com/office/drawing/2014/main" id="{61D9F16C-2E50-4229-B060-386D9318C5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2800" y="4191000"/>
              <a:ext cx="1676400" cy="3048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solidFill>
                    <a:srgbClr val="C00000"/>
                  </a:solidFill>
                  <a:latin typeface="+mn-lt"/>
                </a:rPr>
                <a:t>L</a:t>
              </a:r>
            </a:p>
          </p:txBody>
        </p:sp>
        <p:sp>
          <p:nvSpPr>
            <p:cNvPr id="191" name="Rectangle 36">
              <a:extLst>
                <a:ext uri="{FF2B5EF4-FFF2-40B4-BE49-F238E27FC236}">
                  <a16:creationId xmlns:a16="http://schemas.microsoft.com/office/drawing/2014/main" id="{2C348551-E197-4342-8A89-DE96E9082F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4495800"/>
              <a:ext cx="990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92" name="Rectangle 37">
              <a:extLst>
                <a:ext uri="{FF2B5EF4-FFF2-40B4-BE49-F238E27FC236}">
                  <a16:creationId xmlns:a16="http://schemas.microsoft.com/office/drawing/2014/main" id="{95DB980D-0C44-40ED-880B-BE8F61DC76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4495800"/>
              <a:ext cx="228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0</a:t>
              </a:r>
            </a:p>
          </p:txBody>
        </p:sp>
        <p:sp>
          <p:nvSpPr>
            <p:cNvPr id="193" name="Rectangle 38">
              <a:extLst>
                <a:ext uri="{FF2B5EF4-FFF2-40B4-BE49-F238E27FC236}">
                  <a16:creationId xmlns:a16="http://schemas.microsoft.com/office/drawing/2014/main" id="{66465765-B49B-4CCD-BCA5-B270F7C565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44958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94" name="Rectangle 39">
              <a:extLst>
                <a:ext uri="{FF2B5EF4-FFF2-40B4-BE49-F238E27FC236}">
                  <a16:creationId xmlns:a16="http://schemas.microsoft.com/office/drawing/2014/main" id="{A389D9B1-3153-40BD-B9CA-CBDDE18955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44958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95" name="Rectangle 40">
              <a:extLst>
                <a:ext uri="{FF2B5EF4-FFF2-40B4-BE49-F238E27FC236}">
                  <a16:creationId xmlns:a16="http://schemas.microsoft.com/office/drawing/2014/main" id="{D9E91D9A-A570-4B9A-9B1F-979B71E6FA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44958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96" name="Rectangle 41">
              <a:extLst>
                <a:ext uri="{FF2B5EF4-FFF2-40B4-BE49-F238E27FC236}">
                  <a16:creationId xmlns:a16="http://schemas.microsoft.com/office/drawing/2014/main" id="{2E16522C-36D5-421A-AEDA-F925E3C81F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2800" y="44958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97" name="Rectangle 42">
              <a:extLst>
                <a:ext uri="{FF2B5EF4-FFF2-40B4-BE49-F238E27FC236}">
                  <a16:creationId xmlns:a16="http://schemas.microsoft.com/office/drawing/2014/main" id="{00D6C020-0238-4BF5-B873-53184CA569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4800600"/>
              <a:ext cx="990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98" name="Rectangle 43">
              <a:extLst>
                <a:ext uri="{FF2B5EF4-FFF2-40B4-BE49-F238E27FC236}">
                  <a16:creationId xmlns:a16="http://schemas.microsoft.com/office/drawing/2014/main" id="{3AE664DB-E5FD-43AA-8B98-CCEDF06A69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4800600"/>
              <a:ext cx="228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0</a:t>
              </a:r>
            </a:p>
          </p:txBody>
        </p:sp>
        <p:sp>
          <p:nvSpPr>
            <p:cNvPr id="199" name="Rectangle 44">
              <a:extLst>
                <a:ext uri="{FF2B5EF4-FFF2-40B4-BE49-F238E27FC236}">
                  <a16:creationId xmlns:a16="http://schemas.microsoft.com/office/drawing/2014/main" id="{A35EE3E9-FC12-4B57-9531-CE8CEB342E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48006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00" name="Rectangle 45">
              <a:extLst>
                <a:ext uri="{FF2B5EF4-FFF2-40B4-BE49-F238E27FC236}">
                  <a16:creationId xmlns:a16="http://schemas.microsoft.com/office/drawing/2014/main" id="{8753CFC0-80CD-4094-9CD2-607D8D4155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48006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01" name="Rectangle 46">
              <a:extLst>
                <a:ext uri="{FF2B5EF4-FFF2-40B4-BE49-F238E27FC236}">
                  <a16:creationId xmlns:a16="http://schemas.microsoft.com/office/drawing/2014/main" id="{A3F5BD11-2CE3-4094-AEAB-AF4B3E84D5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48006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02" name="Rectangle 47">
              <a:extLst>
                <a:ext uri="{FF2B5EF4-FFF2-40B4-BE49-F238E27FC236}">
                  <a16:creationId xmlns:a16="http://schemas.microsoft.com/office/drawing/2014/main" id="{6AF50520-90FF-4FFF-8694-3D5F3EE0D9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2800" y="48006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03" name="Rectangle 48">
              <a:extLst>
                <a:ext uri="{FF2B5EF4-FFF2-40B4-BE49-F238E27FC236}">
                  <a16:creationId xmlns:a16="http://schemas.microsoft.com/office/drawing/2014/main" id="{D8CE9BCA-3A63-4072-AC5C-E15BD30E2C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5410200"/>
              <a:ext cx="990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04" name="Rectangle 49">
              <a:extLst>
                <a:ext uri="{FF2B5EF4-FFF2-40B4-BE49-F238E27FC236}">
                  <a16:creationId xmlns:a16="http://schemas.microsoft.com/office/drawing/2014/main" id="{8104CD71-9563-46EC-B4D3-E66BD678B4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5410200"/>
              <a:ext cx="228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0</a:t>
              </a:r>
            </a:p>
          </p:txBody>
        </p:sp>
        <p:sp>
          <p:nvSpPr>
            <p:cNvPr id="205" name="Rectangle 50">
              <a:extLst>
                <a:ext uri="{FF2B5EF4-FFF2-40B4-BE49-F238E27FC236}">
                  <a16:creationId xmlns:a16="http://schemas.microsoft.com/office/drawing/2014/main" id="{B2E9B1D5-1A0C-43C7-8A49-2F820C29F4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54102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06" name="Rectangle 51">
              <a:extLst>
                <a:ext uri="{FF2B5EF4-FFF2-40B4-BE49-F238E27FC236}">
                  <a16:creationId xmlns:a16="http://schemas.microsoft.com/office/drawing/2014/main" id="{ECA5EB9E-14EF-42D9-A455-C01DFCBB59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54102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07" name="Rectangle 52">
              <a:extLst>
                <a:ext uri="{FF2B5EF4-FFF2-40B4-BE49-F238E27FC236}">
                  <a16:creationId xmlns:a16="http://schemas.microsoft.com/office/drawing/2014/main" id="{6120DE07-115C-422B-A2D2-58B30578D1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54102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08" name="Rectangle 53">
              <a:extLst>
                <a:ext uri="{FF2B5EF4-FFF2-40B4-BE49-F238E27FC236}">
                  <a16:creationId xmlns:a16="http://schemas.microsoft.com/office/drawing/2014/main" id="{F648C58F-7E99-4B6D-8978-23AE7622D2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2800" y="54102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09" name="Rectangle 54">
              <a:extLst>
                <a:ext uri="{FF2B5EF4-FFF2-40B4-BE49-F238E27FC236}">
                  <a16:creationId xmlns:a16="http://schemas.microsoft.com/office/drawing/2014/main" id="{1D9AED89-1A8F-41A0-8B01-476BF6BF9D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5715000"/>
              <a:ext cx="990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10" name="Rectangle 55">
              <a:extLst>
                <a:ext uri="{FF2B5EF4-FFF2-40B4-BE49-F238E27FC236}">
                  <a16:creationId xmlns:a16="http://schemas.microsoft.com/office/drawing/2014/main" id="{CBD74B5F-2F5F-43E8-A0F5-BB9C83DD48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5715000"/>
              <a:ext cx="228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0</a:t>
              </a:r>
            </a:p>
          </p:txBody>
        </p:sp>
        <p:sp>
          <p:nvSpPr>
            <p:cNvPr id="211" name="Rectangle 56">
              <a:extLst>
                <a:ext uri="{FF2B5EF4-FFF2-40B4-BE49-F238E27FC236}">
                  <a16:creationId xmlns:a16="http://schemas.microsoft.com/office/drawing/2014/main" id="{CCA17176-0190-487E-A03B-DF92B8ACA0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57150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12" name="Rectangle 57">
              <a:extLst>
                <a:ext uri="{FF2B5EF4-FFF2-40B4-BE49-F238E27FC236}">
                  <a16:creationId xmlns:a16="http://schemas.microsoft.com/office/drawing/2014/main" id="{9B8BA583-207C-4DEC-99E3-2FE1D1670F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57150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13" name="Rectangle 58">
              <a:extLst>
                <a:ext uri="{FF2B5EF4-FFF2-40B4-BE49-F238E27FC236}">
                  <a16:creationId xmlns:a16="http://schemas.microsoft.com/office/drawing/2014/main" id="{2C7FC3A8-8131-4727-ADA9-6540131508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57150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14" name="Rectangle 59">
              <a:extLst>
                <a:ext uri="{FF2B5EF4-FFF2-40B4-BE49-F238E27FC236}">
                  <a16:creationId xmlns:a16="http://schemas.microsoft.com/office/drawing/2014/main" id="{45D258B3-7A47-407D-8686-71E77CF5D6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2800" y="57150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15" name="Text Box 60">
              <a:extLst>
                <a:ext uri="{FF2B5EF4-FFF2-40B4-BE49-F238E27FC236}">
                  <a16:creationId xmlns:a16="http://schemas.microsoft.com/office/drawing/2014/main" id="{463426D0-C900-4342-B6B5-11D5BDE988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6000" y="4960203"/>
              <a:ext cx="5029200" cy="73866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0" hangingPunct="0"/>
              <a:r>
                <a:rPr lang="en-US" sz="2400" b="1" dirty="0">
                  <a:latin typeface="+mn-lt"/>
                </a:rPr>
                <a:t>...    </a:t>
              </a:r>
              <a:r>
                <a:rPr lang="en-US" sz="2400" b="1" dirty="0"/>
                <a:t>...    ...    …   …   …   …   …</a:t>
              </a:r>
              <a:endParaRPr lang="en-US" sz="2400" dirty="0"/>
            </a:p>
            <a:p>
              <a:pPr eaLnBrk="0" hangingPunct="0"/>
              <a:endParaRPr lang="en-US" dirty="0"/>
            </a:p>
          </p:txBody>
        </p:sp>
        <p:sp>
          <p:nvSpPr>
            <p:cNvPr id="216" name="Text Box 61">
              <a:extLst>
                <a:ext uri="{FF2B5EF4-FFF2-40B4-BE49-F238E27FC236}">
                  <a16:creationId xmlns:a16="http://schemas.microsoft.com/office/drawing/2014/main" id="{D69291CC-D559-47A7-8E8C-9B02F88384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" y="3276600"/>
              <a:ext cx="307975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+mn-lt"/>
                </a:rPr>
                <a:t>0</a:t>
              </a:r>
            </a:p>
          </p:txBody>
        </p:sp>
        <p:sp>
          <p:nvSpPr>
            <p:cNvPr id="217" name="Text Box 62">
              <a:extLst>
                <a:ext uri="{FF2B5EF4-FFF2-40B4-BE49-F238E27FC236}">
                  <a16:creationId xmlns:a16="http://schemas.microsoft.com/office/drawing/2014/main" id="{7EFBB39C-7FCC-46C6-905F-6C99A86872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2273" y="3581400"/>
              <a:ext cx="298480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>
                  <a:latin typeface="+mn-lt"/>
                </a:rPr>
                <a:t>1</a:t>
              </a:r>
            </a:p>
          </p:txBody>
        </p:sp>
        <p:sp>
          <p:nvSpPr>
            <p:cNvPr id="218" name="Text Box 63">
              <a:extLst>
                <a:ext uri="{FF2B5EF4-FFF2-40B4-BE49-F238E27FC236}">
                  <a16:creationId xmlns:a16="http://schemas.microsoft.com/office/drawing/2014/main" id="{8093C03A-5B82-4221-BD8A-D078F94981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" y="3886200"/>
              <a:ext cx="307975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>
                  <a:latin typeface="+mn-lt"/>
                </a:rPr>
                <a:t>2</a:t>
              </a:r>
            </a:p>
          </p:txBody>
        </p:sp>
        <p:sp>
          <p:nvSpPr>
            <p:cNvPr id="219" name="Text Box 64">
              <a:extLst>
                <a:ext uri="{FF2B5EF4-FFF2-40B4-BE49-F238E27FC236}">
                  <a16:creationId xmlns:a16="http://schemas.microsoft.com/office/drawing/2014/main" id="{A2C29F96-2454-41DA-9B26-F787D5E64A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" y="4191000"/>
              <a:ext cx="307975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>
                  <a:latin typeface="+mn-lt"/>
                </a:rPr>
                <a:t>3</a:t>
              </a:r>
            </a:p>
          </p:txBody>
        </p:sp>
        <p:sp>
          <p:nvSpPr>
            <p:cNvPr id="220" name="Text Box 65">
              <a:extLst>
                <a:ext uri="{FF2B5EF4-FFF2-40B4-BE49-F238E27FC236}">
                  <a16:creationId xmlns:a16="http://schemas.microsoft.com/office/drawing/2014/main" id="{EF6654EC-787C-4848-9559-6E840F6017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" y="4495800"/>
              <a:ext cx="307975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>
                  <a:latin typeface="+mn-lt"/>
                </a:rPr>
                <a:t>4</a:t>
              </a:r>
            </a:p>
          </p:txBody>
        </p:sp>
        <p:sp>
          <p:nvSpPr>
            <p:cNvPr id="221" name="Text Box 66">
              <a:extLst>
                <a:ext uri="{FF2B5EF4-FFF2-40B4-BE49-F238E27FC236}">
                  <a16:creationId xmlns:a16="http://schemas.microsoft.com/office/drawing/2014/main" id="{7C8AE989-6C53-4280-813C-9F01AAA5EA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" y="4800600"/>
              <a:ext cx="307975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>
                  <a:latin typeface="+mn-lt"/>
                </a:rPr>
                <a:t>5</a:t>
              </a:r>
            </a:p>
          </p:txBody>
        </p:sp>
        <p:sp>
          <p:nvSpPr>
            <p:cNvPr id="222" name="Text Box 67">
              <a:extLst>
                <a:ext uri="{FF2B5EF4-FFF2-40B4-BE49-F238E27FC236}">
                  <a16:creationId xmlns:a16="http://schemas.microsoft.com/office/drawing/2014/main" id="{FB5E5C4D-ADD7-4B32-8EE1-89BDD7DD19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800" y="5410200"/>
              <a:ext cx="647700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>
                  <a:latin typeface="+mn-lt"/>
                </a:rPr>
                <a:t>1022</a:t>
              </a:r>
            </a:p>
          </p:txBody>
        </p:sp>
        <p:sp>
          <p:nvSpPr>
            <p:cNvPr id="223" name="Text Box 68">
              <a:extLst>
                <a:ext uri="{FF2B5EF4-FFF2-40B4-BE49-F238E27FC236}">
                  <a16:creationId xmlns:a16="http://schemas.microsoft.com/office/drawing/2014/main" id="{FDE10283-95DA-4E3D-A0BA-4688D4E7B5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800" y="5715000"/>
              <a:ext cx="647700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>
                  <a:latin typeface="+mn-lt"/>
                </a:rPr>
                <a:t>1023</a:t>
              </a:r>
            </a:p>
          </p:txBody>
        </p:sp>
        <p:sp>
          <p:nvSpPr>
            <p:cNvPr id="224" name="Text Box 69">
              <a:extLst>
                <a:ext uri="{FF2B5EF4-FFF2-40B4-BE49-F238E27FC236}">
                  <a16:creationId xmlns:a16="http://schemas.microsoft.com/office/drawing/2014/main" id="{D77255F9-0F93-4E80-AFBA-F6DB4E1DED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400" y="2971800"/>
              <a:ext cx="720069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latin typeface="+mn-lt"/>
                </a:rPr>
                <a:t>Index</a:t>
              </a:r>
            </a:p>
          </p:txBody>
        </p:sp>
        <p:sp>
          <p:nvSpPr>
            <p:cNvPr id="225" name="Text Box 70">
              <a:extLst>
                <a:ext uri="{FF2B5EF4-FFF2-40B4-BE49-F238E27FC236}">
                  <a16:creationId xmlns:a16="http://schemas.microsoft.com/office/drawing/2014/main" id="{6C6E4A95-18C8-4FEB-B693-F6C64577CE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6314" y="2971800"/>
              <a:ext cx="663836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latin typeface="+mn-lt"/>
                </a:rPr>
                <a:t>Valid</a:t>
              </a:r>
            </a:p>
          </p:txBody>
        </p:sp>
        <p:sp>
          <p:nvSpPr>
            <p:cNvPr id="226" name="Text Box 71">
              <a:extLst>
                <a:ext uri="{FF2B5EF4-FFF2-40B4-BE49-F238E27FC236}">
                  <a16:creationId xmlns:a16="http://schemas.microsoft.com/office/drawing/2014/main" id="{BD909583-44BB-40F6-B8BB-F1429E1434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7800" y="2971800"/>
              <a:ext cx="534988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latin typeface="+mn-lt"/>
                </a:rPr>
                <a:t>Tag</a:t>
              </a:r>
            </a:p>
          </p:txBody>
        </p:sp>
        <p:grpSp>
          <p:nvGrpSpPr>
            <p:cNvPr id="227" name="Group 226">
              <a:extLst>
                <a:ext uri="{FF2B5EF4-FFF2-40B4-BE49-F238E27FC236}">
                  <a16:creationId xmlns:a16="http://schemas.microsoft.com/office/drawing/2014/main" id="{513585D0-E055-46A0-BE26-8F0860954C93}"/>
                </a:ext>
              </a:extLst>
            </p:cNvPr>
            <p:cNvGrpSpPr/>
            <p:nvPr/>
          </p:nvGrpSpPr>
          <p:grpSpPr>
            <a:xfrm>
              <a:off x="2133600" y="2482850"/>
              <a:ext cx="6629400" cy="336550"/>
              <a:chOff x="2209800" y="2438400"/>
              <a:chExt cx="6629400" cy="336550"/>
            </a:xfrm>
          </p:grpSpPr>
          <p:sp>
            <p:nvSpPr>
              <p:cNvPr id="228" name="Text Box 72">
                <a:extLst>
                  <a:ext uri="{FF2B5EF4-FFF2-40B4-BE49-F238E27FC236}">
                    <a16:creationId xmlns:a16="http://schemas.microsoft.com/office/drawing/2014/main" id="{21ED1C2E-D58A-438E-A914-789B605B544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48200" y="2438400"/>
                <a:ext cx="635000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 dirty="0">
                    <a:latin typeface="+mn-lt"/>
                  </a:rPr>
                  <a:t>Data</a:t>
                </a:r>
              </a:p>
            </p:txBody>
          </p:sp>
          <p:sp>
            <p:nvSpPr>
              <p:cNvPr id="229" name="Line 73">
                <a:extLst>
                  <a:ext uri="{FF2B5EF4-FFF2-40B4-BE49-F238E27FC236}">
                    <a16:creationId xmlns:a16="http://schemas.microsoft.com/office/drawing/2014/main" id="{870432E5-0071-4339-ABD1-9A3ACF9F59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209800" y="2590800"/>
                <a:ext cx="24384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>
                <a:spAutoFit/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230" name="Line 74">
                <a:extLst>
                  <a:ext uri="{FF2B5EF4-FFF2-40B4-BE49-F238E27FC236}">
                    <a16:creationId xmlns:a16="http://schemas.microsoft.com/office/drawing/2014/main" id="{AD2A89F1-C959-485D-A27D-90B7488799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57800" y="2590800"/>
                <a:ext cx="35814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>
                <a:spAutoFit/>
              </a:bodyPr>
              <a:lstStyle/>
              <a:p>
                <a:endParaRPr lang="en-US">
                  <a:latin typeface="+mn-lt"/>
                </a:endParaRPr>
              </a:p>
            </p:txBody>
          </p:sp>
        </p:grpSp>
        <p:sp>
          <p:nvSpPr>
            <p:cNvPr id="231" name="Text Box 75">
              <a:extLst>
                <a:ext uri="{FF2B5EF4-FFF2-40B4-BE49-F238E27FC236}">
                  <a16:creationId xmlns:a16="http://schemas.microsoft.com/office/drawing/2014/main" id="{6CA55884-7FC8-41F1-8BCF-9E970DC44E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072" y="2743200"/>
              <a:ext cx="818942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latin typeface="+mn-lt"/>
                </a:rPr>
                <a:t>Word0</a:t>
              </a:r>
            </a:p>
          </p:txBody>
        </p:sp>
        <p:sp>
          <p:nvSpPr>
            <p:cNvPr id="232" name="Text Box 76">
              <a:extLst>
                <a:ext uri="{FF2B5EF4-FFF2-40B4-BE49-F238E27FC236}">
                  <a16:creationId xmlns:a16="http://schemas.microsoft.com/office/drawing/2014/main" id="{E1040994-3945-4413-8AAD-BA7762EF6A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0862" y="2743200"/>
              <a:ext cx="811213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latin typeface="+mn-lt"/>
                </a:rPr>
                <a:t>Word1</a:t>
              </a:r>
            </a:p>
          </p:txBody>
        </p:sp>
        <p:sp>
          <p:nvSpPr>
            <p:cNvPr id="233" name="Text Box 77">
              <a:extLst>
                <a:ext uri="{FF2B5EF4-FFF2-40B4-BE49-F238E27FC236}">
                  <a16:creationId xmlns:a16="http://schemas.microsoft.com/office/drawing/2014/main" id="{DFB75E1E-68E3-4B7E-B028-B111AF99CC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49272" y="2743200"/>
              <a:ext cx="818942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latin typeface="+mn-lt"/>
                </a:rPr>
                <a:t>Word2</a:t>
              </a:r>
            </a:p>
          </p:txBody>
        </p:sp>
        <p:sp>
          <p:nvSpPr>
            <p:cNvPr id="234" name="Text Box 78">
              <a:extLst>
                <a:ext uri="{FF2B5EF4-FFF2-40B4-BE49-F238E27FC236}">
                  <a16:creationId xmlns:a16="http://schemas.microsoft.com/office/drawing/2014/main" id="{B2BC71AA-A2D1-4DBC-B2C2-CF722F48DD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49472" y="2743200"/>
              <a:ext cx="818942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latin typeface="+mn-lt"/>
                </a:rPr>
                <a:t>Word3</a:t>
              </a:r>
            </a:p>
          </p:txBody>
        </p:sp>
        <p:sp>
          <p:nvSpPr>
            <p:cNvPr id="235" name="Text Box 79">
              <a:extLst>
                <a:ext uri="{FF2B5EF4-FFF2-40B4-BE49-F238E27FC236}">
                  <a16:creationId xmlns:a16="http://schemas.microsoft.com/office/drawing/2014/main" id="{D8682EFC-9622-49BC-B6A4-B30395A03C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8548" y="2971800"/>
              <a:ext cx="1051891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+mn-lt"/>
                </a:rPr>
                <a:t>Bytes 0-3</a:t>
              </a:r>
            </a:p>
          </p:txBody>
        </p:sp>
        <p:sp>
          <p:nvSpPr>
            <p:cNvPr id="236" name="Text Box 80">
              <a:extLst>
                <a:ext uri="{FF2B5EF4-FFF2-40B4-BE49-F238E27FC236}">
                  <a16:creationId xmlns:a16="http://schemas.microsoft.com/office/drawing/2014/main" id="{7B38301C-3B9A-4FAC-A899-61CF2A9A06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37348" y="2971800"/>
              <a:ext cx="1051891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+mn-lt"/>
                </a:rPr>
                <a:t>Bytes 4-7</a:t>
              </a:r>
            </a:p>
          </p:txBody>
        </p:sp>
        <p:sp>
          <p:nvSpPr>
            <p:cNvPr id="237" name="Text Box 81">
              <a:extLst>
                <a:ext uri="{FF2B5EF4-FFF2-40B4-BE49-F238E27FC236}">
                  <a16:creationId xmlns:a16="http://schemas.microsoft.com/office/drawing/2014/main" id="{B4B6B579-23AC-4607-A193-758CD3A881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48597" y="2971800"/>
              <a:ext cx="1150444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+mn-lt"/>
                </a:rPr>
                <a:t>Bytes 8-11</a:t>
              </a:r>
            </a:p>
          </p:txBody>
        </p:sp>
        <p:sp>
          <p:nvSpPr>
            <p:cNvPr id="238" name="Text Box 82">
              <a:extLst>
                <a:ext uri="{FF2B5EF4-FFF2-40B4-BE49-F238E27FC236}">
                  <a16:creationId xmlns:a16="http://schemas.microsoft.com/office/drawing/2014/main" id="{347EA6BB-E77E-46E9-9C40-2EBB51466C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46173" y="2971800"/>
              <a:ext cx="1279517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+mn-lt"/>
                </a:rPr>
                <a:t>Bytes 12-15</a:t>
              </a:r>
            </a:p>
          </p:txBody>
        </p:sp>
      </p:grpSp>
      <p:cxnSp>
        <p:nvCxnSpPr>
          <p:cNvPr id="240" name="Straight Arrow Connector 239">
            <a:extLst>
              <a:ext uri="{FF2B5EF4-FFF2-40B4-BE49-F238E27FC236}">
                <a16:creationId xmlns:a16="http://schemas.microsoft.com/office/drawing/2014/main" id="{BD171D6E-292B-4B7D-906A-92AA522ACBAE}"/>
              </a:ext>
            </a:extLst>
          </p:cNvPr>
          <p:cNvCxnSpPr>
            <a:cxnSpLocks/>
          </p:cNvCxnSpPr>
          <p:nvPr/>
        </p:nvCxnSpPr>
        <p:spPr>
          <a:xfrm flipH="1">
            <a:off x="1828800" y="1857376"/>
            <a:ext cx="1720516" cy="248602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1070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5. Reading Data: </a:t>
            </a:r>
            <a:r>
              <a:rPr lang="en-GB" sz="3600" b="1" dirty="0">
                <a:solidFill>
                  <a:srgbClr val="0000FF"/>
                </a:solidFill>
              </a:rPr>
              <a:t>Load #3-4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#22: Cache I: Direct Mapped Cache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44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05" name="Content Placeholder 2">
            <a:extLst>
              <a:ext uri="{FF2B5EF4-FFF2-40B4-BE49-F238E27FC236}">
                <a16:creationId xmlns:a16="http://schemas.microsoft.com/office/drawing/2014/main" id="{F42D869D-777C-4A19-87AD-D73DCB7B3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788" y="1463676"/>
            <a:ext cx="8538411" cy="958849"/>
          </a:xfrm>
        </p:spPr>
        <p:txBody>
          <a:bodyPr>
            <a:normAutofit/>
          </a:bodyPr>
          <a:lstStyle/>
          <a:p>
            <a:pPr marL="265113" indent="-265113">
              <a:buSzPct val="100000"/>
              <a:buFont typeface="Wingdings" panose="05000000000000000000" pitchFamily="2" charset="2"/>
              <a:buChar char="§"/>
            </a:pPr>
            <a:r>
              <a:rPr lang="en-SG" sz="2400" dirty="0"/>
              <a:t>Load from</a:t>
            </a:r>
            <a:endParaRPr lang="en-SG" sz="2200" dirty="0"/>
          </a:p>
          <a:p>
            <a:pPr>
              <a:buNone/>
            </a:pPr>
            <a:r>
              <a:rPr lang="en-US" b="1" dirty="0"/>
              <a:t>Step 4</a:t>
            </a:r>
            <a:r>
              <a:rPr lang="en-US" dirty="0"/>
              <a:t>. </a:t>
            </a:r>
            <a:r>
              <a:rPr lang="en-US" sz="2200" dirty="0"/>
              <a:t>Return </a:t>
            </a:r>
            <a:r>
              <a:rPr lang="en-US" sz="2200" b="1" dirty="0"/>
              <a:t>Word1</a:t>
            </a:r>
            <a:r>
              <a:rPr lang="en-US" sz="2200" dirty="0"/>
              <a:t> (byte offset = 4) to Register</a:t>
            </a:r>
            <a:endParaRPr lang="en-SG" sz="2200" b="1" dirty="0">
              <a:solidFill>
                <a:srgbClr val="7030A0"/>
              </a:solidFill>
            </a:endParaRP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F79D12AF-480C-4552-88AA-23103501BE5B}"/>
              </a:ext>
            </a:extLst>
          </p:cNvPr>
          <p:cNvGrpSpPr/>
          <p:nvPr/>
        </p:nvGrpSpPr>
        <p:grpSpPr>
          <a:xfrm>
            <a:off x="2362201" y="1095376"/>
            <a:ext cx="5257799" cy="762000"/>
            <a:chOff x="2362201" y="914400"/>
            <a:chExt cx="5257799" cy="762000"/>
          </a:xfrm>
        </p:grpSpPr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3ADEB99F-7526-4800-93FB-68071C373046}"/>
                </a:ext>
              </a:extLst>
            </p:cNvPr>
            <p:cNvSpPr/>
            <p:nvPr/>
          </p:nvSpPr>
          <p:spPr>
            <a:xfrm>
              <a:off x="2362201" y="1295400"/>
              <a:ext cx="2743199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dirty="0">
                  <a:solidFill>
                    <a:srgbClr val="C00000"/>
                  </a:solidFill>
                </a:rPr>
                <a:t>000000000000000000</a:t>
              </a: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63F33081-71DE-4216-A404-17AFE49F1B46}"/>
                </a:ext>
              </a:extLst>
            </p:cNvPr>
            <p:cNvSpPr/>
            <p:nvPr/>
          </p:nvSpPr>
          <p:spPr>
            <a:xfrm>
              <a:off x="6705600" y="1295400"/>
              <a:ext cx="838200" cy="381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dirty="0">
                  <a:solidFill>
                    <a:srgbClr val="006600"/>
                  </a:solidFill>
                </a:rPr>
                <a:t>0100</a:t>
              </a:r>
            </a:p>
          </p:txBody>
        </p:sp>
        <p:sp>
          <p:nvSpPr>
            <p:cNvPr id="110" name="Text Box 75">
              <a:extLst>
                <a:ext uri="{FF2B5EF4-FFF2-40B4-BE49-F238E27FC236}">
                  <a16:creationId xmlns:a16="http://schemas.microsoft.com/office/drawing/2014/main" id="{1C436AB2-65A7-47B1-A984-D266382BA4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9000" y="914400"/>
              <a:ext cx="726226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C00000"/>
                  </a:solidFill>
                  <a:latin typeface="+mn-lt"/>
                </a:rPr>
                <a:t>Tag</a:t>
              </a:r>
            </a:p>
          </p:txBody>
        </p:sp>
        <p:sp>
          <p:nvSpPr>
            <p:cNvPr id="111" name="Text Box 75">
              <a:extLst>
                <a:ext uri="{FF2B5EF4-FFF2-40B4-BE49-F238E27FC236}">
                  <a16:creationId xmlns:a16="http://schemas.microsoft.com/office/drawing/2014/main" id="{B5D4DA04-2759-4E95-9345-23DD0EE458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53200" y="914400"/>
              <a:ext cx="1066800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006600"/>
                  </a:solidFill>
                  <a:latin typeface="+mn-lt"/>
                </a:rPr>
                <a:t>Offset</a:t>
              </a: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0BAEB268-7595-4B11-BE85-B7EF92481650}"/>
                </a:ext>
              </a:extLst>
            </p:cNvPr>
            <p:cNvSpPr/>
            <p:nvPr/>
          </p:nvSpPr>
          <p:spPr>
            <a:xfrm>
              <a:off x="5105400" y="1295400"/>
              <a:ext cx="1600200" cy="381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dirty="0">
                  <a:solidFill>
                    <a:schemeClr val="accent6">
                      <a:lumMod val="50000"/>
                    </a:schemeClr>
                  </a:solidFill>
                </a:rPr>
                <a:t>0000000011</a:t>
              </a:r>
            </a:p>
          </p:txBody>
        </p:sp>
        <p:sp>
          <p:nvSpPr>
            <p:cNvPr id="113" name="Text Box 75">
              <a:extLst>
                <a:ext uri="{FF2B5EF4-FFF2-40B4-BE49-F238E27FC236}">
                  <a16:creationId xmlns:a16="http://schemas.microsoft.com/office/drawing/2014/main" id="{226367A3-BC7A-4DF9-8D7F-4DF639AF96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10200" y="914400"/>
              <a:ext cx="997177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6">
                      <a:lumMod val="50000"/>
                    </a:schemeClr>
                  </a:solidFill>
                  <a:latin typeface="+mn-lt"/>
                </a:rPr>
                <a:t>Index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B86DC5FD-6836-4D25-A241-FF84C85197BF}"/>
              </a:ext>
            </a:extLst>
          </p:cNvPr>
          <p:cNvGrpSpPr/>
          <p:nvPr/>
        </p:nvGrpSpPr>
        <p:grpSpPr>
          <a:xfrm>
            <a:off x="152400" y="2482850"/>
            <a:ext cx="8686800" cy="3568700"/>
            <a:chOff x="152400" y="2482850"/>
            <a:chExt cx="8686800" cy="3568700"/>
          </a:xfrm>
        </p:grpSpPr>
        <p:sp>
          <p:nvSpPr>
            <p:cNvPr id="87" name="Rectangle 12">
              <a:extLst>
                <a:ext uri="{FF2B5EF4-FFF2-40B4-BE49-F238E27FC236}">
                  <a16:creationId xmlns:a16="http://schemas.microsoft.com/office/drawing/2014/main" id="{7DB01CFC-F7DF-40C0-BA45-0DE3172D07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3276600"/>
              <a:ext cx="990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89" name="Rectangle 13">
              <a:extLst>
                <a:ext uri="{FF2B5EF4-FFF2-40B4-BE49-F238E27FC236}">
                  <a16:creationId xmlns:a16="http://schemas.microsoft.com/office/drawing/2014/main" id="{B8DCEAE1-E087-4A49-83D9-048A33B628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3276600"/>
              <a:ext cx="228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0</a:t>
              </a:r>
            </a:p>
          </p:txBody>
        </p:sp>
        <p:sp>
          <p:nvSpPr>
            <p:cNvPr id="90" name="Rectangle 14">
              <a:extLst>
                <a:ext uri="{FF2B5EF4-FFF2-40B4-BE49-F238E27FC236}">
                  <a16:creationId xmlns:a16="http://schemas.microsoft.com/office/drawing/2014/main" id="{D98392BF-221B-4474-B08B-2CA1A18563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32766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91" name="Rectangle 15">
              <a:extLst>
                <a:ext uri="{FF2B5EF4-FFF2-40B4-BE49-F238E27FC236}">
                  <a16:creationId xmlns:a16="http://schemas.microsoft.com/office/drawing/2014/main" id="{77129509-8B2D-4DAA-AB46-389B3A66B6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32766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92" name="Rectangle 16">
              <a:extLst>
                <a:ext uri="{FF2B5EF4-FFF2-40B4-BE49-F238E27FC236}">
                  <a16:creationId xmlns:a16="http://schemas.microsoft.com/office/drawing/2014/main" id="{79F8F813-9F73-4965-9083-136E98D0AE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32766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93" name="Rectangle 17">
              <a:extLst>
                <a:ext uri="{FF2B5EF4-FFF2-40B4-BE49-F238E27FC236}">
                  <a16:creationId xmlns:a16="http://schemas.microsoft.com/office/drawing/2014/main" id="{06CCEF57-E287-472D-8F45-1ECA79220D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2800" y="32766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94" name="Rectangle 18">
              <a:extLst>
                <a:ext uri="{FF2B5EF4-FFF2-40B4-BE49-F238E27FC236}">
                  <a16:creationId xmlns:a16="http://schemas.microsoft.com/office/drawing/2014/main" id="{6826A830-F5B6-4A8F-A17C-EF62BBD345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3581400"/>
              <a:ext cx="990600" cy="304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0</a:t>
              </a:r>
            </a:p>
          </p:txBody>
        </p:sp>
        <p:sp>
          <p:nvSpPr>
            <p:cNvPr id="95" name="Rectangle 19">
              <a:extLst>
                <a:ext uri="{FF2B5EF4-FFF2-40B4-BE49-F238E27FC236}">
                  <a16:creationId xmlns:a16="http://schemas.microsoft.com/office/drawing/2014/main" id="{D5859BA3-46BB-475D-9A80-91365302A7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3581400"/>
              <a:ext cx="228600" cy="304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1</a:t>
              </a:r>
            </a:p>
          </p:txBody>
        </p:sp>
        <p:sp>
          <p:nvSpPr>
            <p:cNvPr id="96" name="Rectangle 20">
              <a:extLst>
                <a:ext uri="{FF2B5EF4-FFF2-40B4-BE49-F238E27FC236}">
                  <a16:creationId xmlns:a16="http://schemas.microsoft.com/office/drawing/2014/main" id="{F4D5AFC3-B720-4994-8043-D446CCC169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3581400"/>
              <a:ext cx="1676400" cy="304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A</a:t>
              </a:r>
            </a:p>
          </p:txBody>
        </p:sp>
        <p:sp>
          <p:nvSpPr>
            <p:cNvPr id="97" name="Rectangle 21">
              <a:extLst>
                <a:ext uri="{FF2B5EF4-FFF2-40B4-BE49-F238E27FC236}">
                  <a16:creationId xmlns:a16="http://schemas.microsoft.com/office/drawing/2014/main" id="{F3DB8786-6C20-491C-83A3-90B2A212C6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3581400"/>
              <a:ext cx="1676400" cy="304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B</a:t>
              </a:r>
            </a:p>
          </p:txBody>
        </p:sp>
        <p:sp>
          <p:nvSpPr>
            <p:cNvPr id="98" name="Rectangle 22">
              <a:extLst>
                <a:ext uri="{FF2B5EF4-FFF2-40B4-BE49-F238E27FC236}">
                  <a16:creationId xmlns:a16="http://schemas.microsoft.com/office/drawing/2014/main" id="{FD926B1D-D091-42D2-B1C4-60D912CE7C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3581400"/>
              <a:ext cx="1676400" cy="304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C</a:t>
              </a:r>
            </a:p>
          </p:txBody>
        </p:sp>
        <p:sp>
          <p:nvSpPr>
            <p:cNvPr id="99" name="Rectangle 23">
              <a:extLst>
                <a:ext uri="{FF2B5EF4-FFF2-40B4-BE49-F238E27FC236}">
                  <a16:creationId xmlns:a16="http://schemas.microsoft.com/office/drawing/2014/main" id="{51F3EF8B-5B63-4FC2-9ACB-59B4E98656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2800" y="3581400"/>
              <a:ext cx="1676400" cy="304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D</a:t>
              </a:r>
            </a:p>
          </p:txBody>
        </p:sp>
        <p:sp>
          <p:nvSpPr>
            <p:cNvPr id="100" name="Rectangle 24">
              <a:extLst>
                <a:ext uri="{FF2B5EF4-FFF2-40B4-BE49-F238E27FC236}">
                  <a16:creationId xmlns:a16="http://schemas.microsoft.com/office/drawing/2014/main" id="{84C5F924-7304-4F70-A8FA-F084A790D8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3886200"/>
              <a:ext cx="990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01" name="Rectangle 25">
              <a:extLst>
                <a:ext uri="{FF2B5EF4-FFF2-40B4-BE49-F238E27FC236}">
                  <a16:creationId xmlns:a16="http://schemas.microsoft.com/office/drawing/2014/main" id="{5E7AF4C3-54CB-4D5E-BA80-9B907F9AE5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3886200"/>
              <a:ext cx="228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0</a:t>
              </a:r>
            </a:p>
          </p:txBody>
        </p:sp>
        <p:sp>
          <p:nvSpPr>
            <p:cNvPr id="102" name="Rectangle 26">
              <a:extLst>
                <a:ext uri="{FF2B5EF4-FFF2-40B4-BE49-F238E27FC236}">
                  <a16:creationId xmlns:a16="http://schemas.microsoft.com/office/drawing/2014/main" id="{8631D9BE-7ED8-40D3-A9C3-4F8DB0D93A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38862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16" name="Rectangle 27">
              <a:extLst>
                <a:ext uri="{FF2B5EF4-FFF2-40B4-BE49-F238E27FC236}">
                  <a16:creationId xmlns:a16="http://schemas.microsoft.com/office/drawing/2014/main" id="{7D84F504-64E4-4A2B-A295-B53F22EAA3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38862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83" name="Rectangle 28">
              <a:extLst>
                <a:ext uri="{FF2B5EF4-FFF2-40B4-BE49-F238E27FC236}">
                  <a16:creationId xmlns:a16="http://schemas.microsoft.com/office/drawing/2014/main" id="{76E25282-9BA2-48C8-A434-1FA71DFE92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38862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84" name="Rectangle 29">
              <a:extLst>
                <a:ext uri="{FF2B5EF4-FFF2-40B4-BE49-F238E27FC236}">
                  <a16:creationId xmlns:a16="http://schemas.microsoft.com/office/drawing/2014/main" id="{D2F5727C-E9A6-4D41-963F-74E8C92F83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2800" y="38862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85" name="Rectangle 30">
              <a:extLst>
                <a:ext uri="{FF2B5EF4-FFF2-40B4-BE49-F238E27FC236}">
                  <a16:creationId xmlns:a16="http://schemas.microsoft.com/office/drawing/2014/main" id="{A1439D59-C4AE-4631-AFF9-BC42ED6D67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4191000"/>
              <a:ext cx="990600" cy="3048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0</a:t>
              </a:r>
            </a:p>
          </p:txBody>
        </p:sp>
        <p:sp>
          <p:nvSpPr>
            <p:cNvPr id="186" name="Rectangle 31">
              <a:extLst>
                <a:ext uri="{FF2B5EF4-FFF2-40B4-BE49-F238E27FC236}">
                  <a16:creationId xmlns:a16="http://schemas.microsoft.com/office/drawing/2014/main" id="{6C4CA497-4776-4915-A20D-D5941DAD55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4191000"/>
              <a:ext cx="228600" cy="3048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1</a:t>
              </a:r>
            </a:p>
          </p:txBody>
        </p:sp>
        <p:sp>
          <p:nvSpPr>
            <p:cNvPr id="187" name="Rectangle 32">
              <a:extLst>
                <a:ext uri="{FF2B5EF4-FFF2-40B4-BE49-F238E27FC236}">
                  <a16:creationId xmlns:a16="http://schemas.microsoft.com/office/drawing/2014/main" id="{3AA6AF80-9D87-4D18-A03D-2BBF808FF1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4191000"/>
              <a:ext cx="1676400" cy="3048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I</a:t>
              </a:r>
            </a:p>
          </p:txBody>
        </p:sp>
        <p:sp>
          <p:nvSpPr>
            <p:cNvPr id="188" name="Rectangle 33">
              <a:extLst>
                <a:ext uri="{FF2B5EF4-FFF2-40B4-BE49-F238E27FC236}">
                  <a16:creationId xmlns:a16="http://schemas.microsoft.com/office/drawing/2014/main" id="{C9D01ABB-5DE8-42F9-9891-41B4974F1F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4191000"/>
              <a:ext cx="1676400" cy="3048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J</a:t>
              </a:r>
            </a:p>
          </p:txBody>
        </p:sp>
        <p:sp>
          <p:nvSpPr>
            <p:cNvPr id="189" name="Rectangle 34">
              <a:extLst>
                <a:ext uri="{FF2B5EF4-FFF2-40B4-BE49-F238E27FC236}">
                  <a16:creationId xmlns:a16="http://schemas.microsoft.com/office/drawing/2014/main" id="{557E9914-E8E3-461D-8878-BCC990689C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4191000"/>
              <a:ext cx="1676400" cy="3048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K</a:t>
              </a:r>
            </a:p>
          </p:txBody>
        </p:sp>
        <p:sp>
          <p:nvSpPr>
            <p:cNvPr id="190" name="Rectangle 35">
              <a:extLst>
                <a:ext uri="{FF2B5EF4-FFF2-40B4-BE49-F238E27FC236}">
                  <a16:creationId xmlns:a16="http://schemas.microsoft.com/office/drawing/2014/main" id="{61D9F16C-2E50-4229-B060-386D9318C5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2800" y="4191000"/>
              <a:ext cx="1676400" cy="3048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L</a:t>
              </a:r>
            </a:p>
          </p:txBody>
        </p:sp>
        <p:sp>
          <p:nvSpPr>
            <p:cNvPr id="191" name="Rectangle 36">
              <a:extLst>
                <a:ext uri="{FF2B5EF4-FFF2-40B4-BE49-F238E27FC236}">
                  <a16:creationId xmlns:a16="http://schemas.microsoft.com/office/drawing/2014/main" id="{2C348551-E197-4342-8A89-DE96E9082F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4495800"/>
              <a:ext cx="990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92" name="Rectangle 37">
              <a:extLst>
                <a:ext uri="{FF2B5EF4-FFF2-40B4-BE49-F238E27FC236}">
                  <a16:creationId xmlns:a16="http://schemas.microsoft.com/office/drawing/2014/main" id="{95DB980D-0C44-40ED-880B-BE8F61DC76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4495800"/>
              <a:ext cx="228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0</a:t>
              </a:r>
            </a:p>
          </p:txBody>
        </p:sp>
        <p:sp>
          <p:nvSpPr>
            <p:cNvPr id="193" name="Rectangle 38">
              <a:extLst>
                <a:ext uri="{FF2B5EF4-FFF2-40B4-BE49-F238E27FC236}">
                  <a16:creationId xmlns:a16="http://schemas.microsoft.com/office/drawing/2014/main" id="{66465765-B49B-4CCD-BCA5-B270F7C565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44958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94" name="Rectangle 39">
              <a:extLst>
                <a:ext uri="{FF2B5EF4-FFF2-40B4-BE49-F238E27FC236}">
                  <a16:creationId xmlns:a16="http://schemas.microsoft.com/office/drawing/2014/main" id="{A389D9B1-3153-40BD-B9CA-CBDDE18955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44958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95" name="Rectangle 40">
              <a:extLst>
                <a:ext uri="{FF2B5EF4-FFF2-40B4-BE49-F238E27FC236}">
                  <a16:creationId xmlns:a16="http://schemas.microsoft.com/office/drawing/2014/main" id="{D9E91D9A-A570-4B9A-9B1F-979B71E6FA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44958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96" name="Rectangle 41">
              <a:extLst>
                <a:ext uri="{FF2B5EF4-FFF2-40B4-BE49-F238E27FC236}">
                  <a16:creationId xmlns:a16="http://schemas.microsoft.com/office/drawing/2014/main" id="{2E16522C-36D5-421A-AEDA-F925E3C81F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2800" y="44958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97" name="Rectangle 42">
              <a:extLst>
                <a:ext uri="{FF2B5EF4-FFF2-40B4-BE49-F238E27FC236}">
                  <a16:creationId xmlns:a16="http://schemas.microsoft.com/office/drawing/2014/main" id="{00D6C020-0238-4BF5-B873-53184CA569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4800600"/>
              <a:ext cx="990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98" name="Rectangle 43">
              <a:extLst>
                <a:ext uri="{FF2B5EF4-FFF2-40B4-BE49-F238E27FC236}">
                  <a16:creationId xmlns:a16="http://schemas.microsoft.com/office/drawing/2014/main" id="{3AE664DB-E5FD-43AA-8B98-CCEDF06A69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4800600"/>
              <a:ext cx="228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0</a:t>
              </a:r>
            </a:p>
          </p:txBody>
        </p:sp>
        <p:sp>
          <p:nvSpPr>
            <p:cNvPr id="199" name="Rectangle 44">
              <a:extLst>
                <a:ext uri="{FF2B5EF4-FFF2-40B4-BE49-F238E27FC236}">
                  <a16:creationId xmlns:a16="http://schemas.microsoft.com/office/drawing/2014/main" id="{A35EE3E9-FC12-4B57-9531-CE8CEB342E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48006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00" name="Rectangle 45">
              <a:extLst>
                <a:ext uri="{FF2B5EF4-FFF2-40B4-BE49-F238E27FC236}">
                  <a16:creationId xmlns:a16="http://schemas.microsoft.com/office/drawing/2014/main" id="{8753CFC0-80CD-4094-9CD2-607D8D4155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48006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01" name="Rectangle 46">
              <a:extLst>
                <a:ext uri="{FF2B5EF4-FFF2-40B4-BE49-F238E27FC236}">
                  <a16:creationId xmlns:a16="http://schemas.microsoft.com/office/drawing/2014/main" id="{A3F5BD11-2CE3-4094-AEAB-AF4B3E84D5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48006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02" name="Rectangle 47">
              <a:extLst>
                <a:ext uri="{FF2B5EF4-FFF2-40B4-BE49-F238E27FC236}">
                  <a16:creationId xmlns:a16="http://schemas.microsoft.com/office/drawing/2014/main" id="{6AF50520-90FF-4FFF-8694-3D5F3EE0D9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2800" y="48006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03" name="Rectangle 48">
              <a:extLst>
                <a:ext uri="{FF2B5EF4-FFF2-40B4-BE49-F238E27FC236}">
                  <a16:creationId xmlns:a16="http://schemas.microsoft.com/office/drawing/2014/main" id="{D8CE9BCA-3A63-4072-AC5C-E15BD30E2C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5410200"/>
              <a:ext cx="990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04" name="Rectangle 49">
              <a:extLst>
                <a:ext uri="{FF2B5EF4-FFF2-40B4-BE49-F238E27FC236}">
                  <a16:creationId xmlns:a16="http://schemas.microsoft.com/office/drawing/2014/main" id="{8104CD71-9563-46EC-B4D3-E66BD678B4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5410200"/>
              <a:ext cx="228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0</a:t>
              </a:r>
            </a:p>
          </p:txBody>
        </p:sp>
        <p:sp>
          <p:nvSpPr>
            <p:cNvPr id="205" name="Rectangle 50">
              <a:extLst>
                <a:ext uri="{FF2B5EF4-FFF2-40B4-BE49-F238E27FC236}">
                  <a16:creationId xmlns:a16="http://schemas.microsoft.com/office/drawing/2014/main" id="{B2E9B1D5-1A0C-43C7-8A49-2F820C29F4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54102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06" name="Rectangle 51">
              <a:extLst>
                <a:ext uri="{FF2B5EF4-FFF2-40B4-BE49-F238E27FC236}">
                  <a16:creationId xmlns:a16="http://schemas.microsoft.com/office/drawing/2014/main" id="{ECA5EB9E-14EF-42D9-A455-C01DFCBB59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54102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07" name="Rectangle 52">
              <a:extLst>
                <a:ext uri="{FF2B5EF4-FFF2-40B4-BE49-F238E27FC236}">
                  <a16:creationId xmlns:a16="http://schemas.microsoft.com/office/drawing/2014/main" id="{6120DE07-115C-422B-A2D2-58B30578D1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54102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08" name="Rectangle 53">
              <a:extLst>
                <a:ext uri="{FF2B5EF4-FFF2-40B4-BE49-F238E27FC236}">
                  <a16:creationId xmlns:a16="http://schemas.microsoft.com/office/drawing/2014/main" id="{F648C58F-7E99-4B6D-8978-23AE7622D2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2800" y="54102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09" name="Rectangle 54">
              <a:extLst>
                <a:ext uri="{FF2B5EF4-FFF2-40B4-BE49-F238E27FC236}">
                  <a16:creationId xmlns:a16="http://schemas.microsoft.com/office/drawing/2014/main" id="{1D9AED89-1A8F-41A0-8B01-476BF6BF9D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5715000"/>
              <a:ext cx="990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10" name="Rectangle 55">
              <a:extLst>
                <a:ext uri="{FF2B5EF4-FFF2-40B4-BE49-F238E27FC236}">
                  <a16:creationId xmlns:a16="http://schemas.microsoft.com/office/drawing/2014/main" id="{CBD74B5F-2F5F-43E8-A0F5-BB9C83DD48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5715000"/>
              <a:ext cx="228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0</a:t>
              </a:r>
            </a:p>
          </p:txBody>
        </p:sp>
        <p:sp>
          <p:nvSpPr>
            <p:cNvPr id="211" name="Rectangle 56">
              <a:extLst>
                <a:ext uri="{FF2B5EF4-FFF2-40B4-BE49-F238E27FC236}">
                  <a16:creationId xmlns:a16="http://schemas.microsoft.com/office/drawing/2014/main" id="{CCA17176-0190-487E-A03B-DF92B8ACA0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57150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12" name="Rectangle 57">
              <a:extLst>
                <a:ext uri="{FF2B5EF4-FFF2-40B4-BE49-F238E27FC236}">
                  <a16:creationId xmlns:a16="http://schemas.microsoft.com/office/drawing/2014/main" id="{9B8BA583-207C-4DEC-99E3-2FE1D1670F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57150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13" name="Rectangle 58">
              <a:extLst>
                <a:ext uri="{FF2B5EF4-FFF2-40B4-BE49-F238E27FC236}">
                  <a16:creationId xmlns:a16="http://schemas.microsoft.com/office/drawing/2014/main" id="{2C7FC3A8-8131-4727-ADA9-6540131508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57150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14" name="Rectangle 59">
              <a:extLst>
                <a:ext uri="{FF2B5EF4-FFF2-40B4-BE49-F238E27FC236}">
                  <a16:creationId xmlns:a16="http://schemas.microsoft.com/office/drawing/2014/main" id="{45D258B3-7A47-407D-8686-71E77CF5D6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2800" y="57150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15" name="Text Box 60">
              <a:extLst>
                <a:ext uri="{FF2B5EF4-FFF2-40B4-BE49-F238E27FC236}">
                  <a16:creationId xmlns:a16="http://schemas.microsoft.com/office/drawing/2014/main" id="{463426D0-C900-4342-B6B5-11D5BDE988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6000" y="4960203"/>
              <a:ext cx="5029200" cy="73866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0" hangingPunct="0"/>
              <a:r>
                <a:rPr lang="en-US" sz="2400" b="1" dirty="0">
                  <a:latin typeface="+mn-lt"/>
                </a:rPr>
                <a:t>...    </a:t>
              </a:r>
              <a:r>
                <a:rPr lang="en-US" sz="2400" b="1" dirty="0"/>
                <a:t>...    ...    …   …   …   …   …</a:t>
              </a:r>
              <a:endParaRPr lang="en-US" sz="2400" dirty="0"/>
            </a:p>
            <a:p>
              <a:pPr eaLnBrk="0" hangingPunct="0"/>
              <a:endParaRPr lang="en-US" dirty="0"/>
            </a:p>
          </p:txBody>
        </p:sp>
        <p:sp>
          <p:nvSpPr>
            <p:cNvPr id="216" name="Text Box 61">
              <a:extLst>
                <a:ext uri="{FF2B5EF4-FFF2-40B4-BE49-F238E27FC236}">
                  <a16:creationId xmlns:a16="http://schemas.microsoft.com/office/drawing/2014/main" id="{D69291CC-D559-47A7-8E8C-9B02F88384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" y="3276600"/>
              <a:ext cx="307975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+mn-lt"/>
                </a:rPr>
                <a:t>0</a:t>
              </a:r>
            </a:p>
          </p:txBody>
        </p:sp>
        <p:sp>
          <p:nvSpPr>
            <p:cNvPr id="217" name="Text Box 62">
              <a:extLst>
                <a:ext uri="{FF2B5EF4-FFF2-40B4-BE49-F238E27FC236}">
                  <a16:creationId xmlns:a16="http://schemas.microsoft.com/office/drawing/2014/main" id="{7EFBB39C-7FCC-46C6-905F-6C99A86872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2273" y="3581400"/>
              <a:ext cx="298480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>
                  <a:latin typeface="+mn-lt"/>
                </a:rPr>
                <a:t>1</a:t>
              </a:r>
            </a:p>
          </p:txBody>
        </p:sp>
        <p:sp>
          <p:nvSpPr>
            <p:cNvPr id="218" name="Text Box 63">
              <a:extLst>
                <a:ext uri="{FF2B5EF4-FFF2-40B4-BE49-F238E27FC236}">
                  <a16:creationId xmlns:a16="http://schemas.microsoft.com/office/drawing/2014/main" id="{8093C03A-5B82-4221-BD8A-D078F94981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" y="3886200"/>
              <a:ext cx="307975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>
                  <a:latin typeface="+mn-lt"/>
                </a:rPr>
                <a:t>2</a:t>
              </a:r>
            </a:p>
          </p:txBody>
        </p:sp>
        <p:sp>
          <p:nvSpPr>
            <p:cNvPr id="219" name="Text Box 64">
              <a:extLst>
                <a:ext uri="{FF2B5EF4-FFF2-40B4-BE49-F238E27FC236}">
                  <a16:creationId xmlns:a16="http://schemas.microsoft.com/office/drawing/2014/main" id="{A2C29F96-2454-41DA-9B26-F787D5E64A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" y="4191000"/>
              <a:ext cx="307975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>
                  <a:latin typeface="+mn-lt"/>
                </a:rPr>
                <a:t>3</a:t>
              </a:r>
            </a:p>
          </p:txBody>
        </p:sp>
        <p:sp>
          <p:nvSpPr>
            <p:cNvPr id="220" name="Text Box 65">
              <a:extLst>
                <a:ext uri="{FF2B5EF4-FFF2-40B4-BE49-F238E27FC236}">
                  <a16:creationId xmlns:a16="http://schemas.microsoft.com/office/drawing/2014/main" id="{EF6654EC-787C-4848-9559-6E840F6017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" y="4495800"/>
              <a:ext cx="307975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>
                  <a:latin typeface="+mn-lt"/>
                </a:rPr>
                <a:t>4</a:t>
              </a:r>
            </a:p>
          </p:txBody>
        </p:sp>
        <p:sp>
          <p:nvSpPr>
            <p:cNvPr id="221" name="Text Box 66">
              <a:extLst>
                <a:ext uri="{FF2B5EF4-FFF2-40B4-BE49-F238E27FC236}">
                  <a16:creationId xmlns:a16="http://schemas.microsoft.com/office/drawing/2014/main" id="{7C8AE989-6C53-4280-813C-9F01AAA5EA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" y="4800600"/>
              <a:ext cx="307975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>
                  <a:latin typeface="+mn-lt"/>
                </a:rPr>
                <a:t>5</a:t>
              </a:r>
            </a:p>
          </p:txBody>
        </p:sp>
        <p:sp>
          <p:nvSpPr>
            <p:cNvPr id="222" name="Text Box 67">
              <a:extLst>
                <a:ext uri="{FF2B5EF4-FFF2-40B4-BE49-F238E27FC236}">
                  <a16:creationId xmlns:a16="http://schemas.microsoft.com/office/drawing/2014/main" id="{FB5E5C4D-ADD7-4B32-8EE1-89BDD7DD19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800" y="5410200"/>
              <a:ext cx="647700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>
                  <a:latin typeface="+mn-lt"/>
                </a:rPr>
                <a:t>1022</a:t>
              </a:r>
            </a:p>
          </p:txBody>
        </p:sp>
        <p:sp>
          <p:nvSpPr>
            <p:cNvPr id="223" name="Text Box 68">
              <a:extLst>
                <a:ext uri="{FF2B5EF4-FFF2-40B4-BE49-F238E27FC236}">
                  <a16:creationId xmlns:a16="http://schemas.microsoft.com/office/drawing/2014/main" id="{FDE10283-95DA-4E3D-A0BA-4688D4E7B5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800" y="5715000"/>
              <a:ext cx="647700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>
                  <a:latin typeface="+mn-lt"/>
                </a:rPr>
                <a:t>1023</a:t>
              </a:r>
            </a:p>
          </p:txBody>
        </p:sp>
        <p:sp>
          <p:nvSpPr>
            <p:cNvPr id="224" name="Text Box 69">
              <a:extLst>
                <a:ext uri="{FF2B5EF4-FFF2-40B4-BE49-F238E27FC236}">
                  <a16:creationId xmlns:a16="http://schemas.microsoft.com/office/drawing/2014/main" id="{D77255F9-0F93-4E80-AFBA-F6DB4E1DED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400" y="2971800"/>
              <a:ext cx="720069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latin typeface="+mn-lt"/>
                </a:rPr>
                <a:t>Index</a:t>
              </a:r>
            </a:p>
          </p:txBody>
        </p:sp>
        <p:sp>
          <p:nvSpPr>
            <p:cNvPr id="225" name="Text Box 70">
              <a:extLst>
                <a:ext uri="{FF2B5EF4-FFF2-40B4-BE49-F238E27FC236}">
                  <a16:creationId xmlns:a16="http://schemas.microsoft.com/office/drawing/2014/main" id="{6C6E4A95-18C8-4FEB-B693-F6C64577CE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6314" y="2971800"/>
              <a:ext cx="663836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latin typeface="+mn-lt"/>
                </a:rPr>
                <a:t>Valid</a:t>
              </a:r>
            </a:p>
          </p:txBody>
        </p:sp>
        <p:sp>
          <p:nvSpPr>
            <p:cNvPr id="226" name="Text Box 71">
              <a:extLst>
                <a:ext uri="{FF2B5EF4-FFF2-40B4-BE49-F238E27FC236}">
                  <a16:creationId xmlns:a16="http://schemas.microsoft.com/office/drawing/2014/main" id="{BD909583-44BB-40F6-B8BB-F1429E1434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7800" y="2971800"/>
              <a:ext cx="534988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latin typeface="+mn-lt"/>
                </a:rPr>
                <a:t>Tag</a:t>
              </a:r>
            </a:p>
          </p:txBody>
        </p:sp>
        <p:grpSp>
          <p:nvGrpSpPr>
            <p:cNvPr id="227" name="Group 226">
              <a:extLst>
                <a:ext uri="{FF2B5EF4-FFF2-40B4-BE49-F238E27FC236}">
                  <a16:creationId xmlns:a16="http://schemas.microsoft.com/office/drawing/2014/main" id="{513585D0-E055-46A0-BE26-8F0860954C93}"/>
                </a:ext>
              </a:extLst>
            </p:cNvPr>
            <p:cNvGrpSpPr/>
            <p:nvPr/>
          </p:nvGrpSpPr>
          <p:grpSpPr>
            <a:xfrm>
              <a:off x="2133600" y="2482850"/>
              <a:ext cx="6629400" cy="336550"/>
              <a:chOff x="2209800" y="2438400"/>
              <a:chExt cx="6629400" cy="336550"/>
            </a:xfrm>
          </p:grpSpPr>
          <p:sp>
            <p:nvSpPr>
              <p:cNvPr id="228" name="Text Box 72">
                <a:extLst>
                  <a:ext uri="{FF2B5EF4-FFF2-40B4-BE49-F238E27FC236}">
                    <a16:creationId xmlns:a16="http://schemas.microsoft.com/office/drawing/2014/main" id="{21ED1C2E-D58A-438E-A914-789B605B544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48200" y="2438400"/>
                <a:ext cx="635000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 dirty="0">
                    <a:latin typeface="+mn-lt"/>
                  </a:rPr>
                  <a:t>Data</a:t>
                </a:r>
              </a:p>
            </p:txBody>
          </p:sp>
          <p:sp>
            <p:nvSpPr>
              <p:cNvPr id="229" name="Line 73">
                <a:extLst>
                  <a:ext uri="{FF2B5EF4-FFF2-40B4-BE49-F238E27FC236}">
                    <a16:creationId xmlns:a16="http://schemas.microsoft.com/office/drawing/2014/main" id="{870432E5-0071-4339-ABD1-9A3ACF9F59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209800" y="2590800"/>
                <a:ext cx="24384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>
                <a:spAutoFit/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230" name="Line 74">
                <a:extLst>
                  <a:ext uri="{FF2B5EF4-FFF2-40B4-BE49-F238E27FC236}">
                    <a16:creationId xmlns:a16="http://schemas.microsoft.com/office/drawing/2014/main" id="{AD2A89F1-C959-485D-A27D-90B7488799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57800" y="2590800"/>
                <a:ext cx="35814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>
                <a:spAutoFit/>
              </a:bodyPr>
              <a:lstStyle/>
              <a:p>
                <a:endParaRPr lang="en-US">
                  <a:latin typeface="+mn-lt"/>
                </a:endParaRPr>
              </a:p>
            </p:txBody>
          </p:sp>
        </p:grpSp>
        <p:sp>
          <p:nvSpPr>
            <p:cNvPr id="231" name="Text Box 75">
              <a:extLst>
                <a:ext uri="{FF2B5EF4-FFF2-40B4-BE49-F238E27FC236}">
                  <a16:creationId xmlns:a16="http://schemas.microsoft.com/office/drawing/2014/main" id="{6CA55884-7FC8-41F1-8BCF-9E970DC44E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072" y="2743200"/>
              <a:ext cx="818942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latin typeface="+mn-lt"/>
                </a:rPr>
                <a:t>Word0</a:t>
              </a:r>
            </a:p>
          </p:txBody>
        </p:sp>
        <p:sp>
          <p:nvSpPr>
            <p:cNvPr id="232" name="Text Box 76">
              <a:extLst>
                <a:ext uri="{FF2B5EF4-FFF2-40B4-BE49-F238E27FC236}">
                  <a16:creationId xmlns:a16="http://schemas.microsoft.com/office/drawing/2014/main" id="{E1040994-3945-4413-8AAD-BA7762EF6A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0862" y="2743200"/>
              <a:ext cx="811213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latin typeface="+mn-lt"/>
                </a:rPr>
                <a:t>Word1</a:t>
              </a:r>
            </a:p>
          </p:txBody>
        </p:sp>
        <p:sp>
          <p:nvSpPr>
            <p:cNvPr id="233" name="Text Box 77">
              <a:extLst>
                <a:ext uri="{FF2B5EF4-FFF2-40B4-BE49-F238E27FC236}">
                  <a16:creationId xmlns:a16="http://schemas.microsoft.com/office/drawing/2014/main" id="{DFB75E1E-68E3-4B7E-B028-B111AF99CC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49272" y="2743200"/>
              <a:ext cx="818942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latin typeface="+mn-lt"/>
                </a:rPr>
                <a:t>Word2</a:t>
              </a:r>
            </a:p>
          </p:txBody>
        </p:sp>
        <p:sp>
          <p:nvSpPr>
            <p:cNvPr id="234" name="Text Box 78">
              <a:extLst>
                <a:ext uri="{FF2B5EF4-FFF2-40B4-BE49-F238E27FC236}">
                  <a16:creationId xmlns:a16="http://schemas.microsoft.com/office/drawing/2014/main" id="{B2BC71AA-A2D1-4DBC-B2C2-CF722F48DD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49472" y="2743200"/>
              <a:ext cx="818942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latin typeface="+mn-lt"/>
                </a:rPr>
                <a:t>Word3</a:t>
              </a:r>
            </a:p>
          </p:txBody>
        </p:sp>
        <p:sp>
          <p:nvSpPr>
            <p:cNvPr id="235" name="Text Box 79">
              <a:extLst>
                <a:ext uri="{FF2B5EF4-FFF2-40B4-BE49-F238E27FC236}">
                  <a16:creationId xmlns:a16="http://schemas.microsoft.com/office/drawing/2014/main" id="{D8682EFC-9622-49BC-B6A4-B30395A03C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8548" y="2971800"/>
              <a:ext cx="1051891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+mn-lt"/>
                </a:rPr>
                <a:t>Bytes 0-3</a:t>
              </a:r>
            </a:p>
          </p:txBody>
        </p:sp>
        <p:sp>
          <p:nvSpPr>
            <p:cNvPr id="236" name="Text Box 80">
              <a:extLst>
                <a:ext uri="{FF2B5EF4-FFF2-40B4-BE49-F238E27FC236}">
                  <a16:creationId xmlns:a16="http://schemas.microsoft.com/office/drawing/2014/main" id="{7B38301C-3B9A-4FAC-A899-61CF2A9A06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37348" y="2971800"/>
              <a:ext cx="1051891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+mn-lt"/>
                </a:rPr>
                <a:t>Bytes 4-7</a:t>
              </a:r>
            </a:p>
          </p:txBody>
        </p:sp>
        <p:sp>
          <p:nvSpPr>
            <p:cNvPr id="237" name="Text Box 81">
              <a:extLst>
                <a:ext uri="{FF2B5EF4-FFF2-40B4-BE49-F238E27FC236}">
                  <a16:creationId xmlns:a16="http://schemas.microsoft.com/office/drawing/2014/main" id="{B4B6B579-23AC-4607-A193-758CD3A881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48597" y="2971800"/>
              <a:ext cx="1150444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+mn-lt"/>
                </a:rPr>
                <a:t>Bytes 8-11</a:t>
              </a:r>
            </a:p>
          </p:txBody>
        </p:sp>
        <p:sp>
          <p:nvSpPr>
            <p:cNvPr id="238" name="Text Box 82">
              <a:extLst>
                <a:ext uri="{FF2B5EF4-FFF2-40B4-BE49-F238E27FC236}">
                  <a16:creationId xmlns:a16="http://schemas.microsoft.com/office/drawing/2014/main" id="{347EA6BB-E77E-46E9-9C40-2EBB51466C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46173" y="2971800"/>
              <a:ext cx="1279517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+mn-lt"/>
                </a:rPr>
                <a:t>Bytes 12-15</a:t>
              </a:r>
            </a:p>
          </p:txBody>
        </p:sp>
      </p:grpSp>
      <p:sp>
        <p:nvSpPr>
          <p:cNvPr id="88" name="Left Arrow 86">
            <a:extLst>
              <a:ext uri="{FF2B5EF4-FFF2-40B4-BE49-F238E27FC236}">
                <a16:creationId xmlns:a16="http://schemas.microsoft.com/office/drawing/2014/main" id="{84B58F2A-4772-4603-A146-C18F00E8DD7B}"/>
              </a:ext>
            </a:extLst>
          </p:cNvPr>
          <p:cNvSpPr/>
          <p:nvPr/>
        </p:nvSpPr>
        <p:spPr>
          <a:xfrm rot="5400000">
            <a:off x="7037141" y="1765717"/>
            <a:ext cx="228600" cy="304800"/>
          </a:xfrm>
          <a:prstGeom prst="leftArrow">
            <a:avLst/>
          </a:prstGeom>
          <a:solidFill>
            <a:srgbClr val="FF0000"/>
          </a:solidFill>
          <a:ln>
            <a:solidFill>
              <a:srgbClr val="66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7DA4CE54-DA6F-48F1-BE12-7E9DD5B5D90B}"/>
              </a:ext>
            </a:extLst>
          </p:cNvPr>
          <p:cNvSpPr/>
          <p:nvPr/>
        </p:nvSpPr>
        <p:spPr>
          <a:xfrm>
            <a:off x="3810000" y="4130582"/>
            <a:ext cx="1676400" cy="457200"/>
          </a:xfrm>
          <a:prstGeom prst="ellipse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23033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" grpId="0" animBg="1"/>
      <p:bldP spid="103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5. Reading Data: </a:t>
            </a:r>
            <a:r>
              <a:rPr lang="en-GB" sz="3600" b="1" dirty="0">
                <a:solidFill>
                  <a:srgbClr val="0000FF"/>
                </a:solidFill>
              </a:rPr>
              <a:t>Load #4-1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#22: Cache I: Direct Mapped Cache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45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05" name="Content Placeholder 2">
            <a:extLst>
              <a:ext uri="{FF2B5EF4-FFF2-40B4-BE49-F238E27FC236}">
                <a16:creationId xmlns:a16="http://schemas.microsoft.com/office/drawing/2014/main" id="{F42D869D-777C-4A19-87AD-D73DCB7B3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788" y="1463676"/>
            <a:ext cx="8538411" cy="958849"/>
          </a:xfrm>
        </p:spPr>
        <p:txBody>
          <a:bodyPr>
            <a:normAutofit/>
          </a:bodyPr>
          <a:lstStyle/>
          <a:p>
            <a:pPr marL="265113" indent="-265113">
              <a:buSzPct val="100000"/>
              <a:buFont typeface="Wingdings" panose="05000000000000000000" pitchFamily="2" charset="2"/>
              <a:buChar char="§"/>
            </a:pPr>
            <a:r>
              <a:rPr lang="en-SG" sz="2400" dirty="0"/>
              <a:t>Load from</a:t>
            </a:r>
            <a:endParaRPr lang="en-SG" sz="2200" dirty="0"/>
          </a:p>
          <a:p>
            <a:pPr>
              <a:buNone/>
            </a:pPr>
            <a:r>
              <a:rPr lang="en-US" b="1" dirty="0"/>
              <a:t>Step 1</a:t>
            </a:r>
            <a:r>
              <a:rPr lang="en-US" dirty="0"/>
              <a:t>. </a:t>
            </a:r>
            <a:r>
              <a:rPr lang="en-US" sz="2200" dirty="0"/>
              <a:t>Check Cache Block at index </a:t>
            </a:r>
            <a:r>
              <a:rPr lang="en-US" sz="2200" b="1" dirty="0"/>
              <a:t>1</a:t>
            </a:r>
            <a:endParaRPr lang="en-SG" sz="2200" b="1" dirty="0">
              <a:solidFill>
                <a:srgbClr val="7030A0"/>
              </a:solidFill>
            </a:endParaRP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F79D12AF-480C-4552-88AA-23103501BE5B}"/>
              </a:ext>
            </a:extLst>
          </p:cNvPr>
          <p:cNvGrpSpPr/>
          <p:nvPr/>
        </p:nvGrpSpPr>
        <p:grpSpPr>
          <a:xfrm>
            <a:off x="2362201" y="1095376"/>
            <a:ext cx="5257799" cy="762000"/>
            <a:chOff x="2362201" y="914400"/>
            <a:chExt cx="5257799" cy="762000"/>
          </a:xfrm>
        </p:grpSpPr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3ADEB99F-7526-4800-93FB-68071C373046}"/>
                </a:ext>
              </a:extLst>
            </p:cNvPr>
            <p:cNvSpPr/>
            <p:nvPr/>
          </p:nvSpPr>
          <p:spPr>
            <a:xfrm>
              <a:off x="2362201" y="1295400"/>
              <a:ext cx="2743199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dirty="0">
                  <a:solidFill>
                    <a:srgbClr val="C00000"/>
                  </a:solidFill>
                </a:rPr>
                <a:t>000000000000000010</a:t>
              </a: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63F33081-71DE-4216-A404-17AFE49F1B46}"/>
                </a:ext>
              </a:extLst>
            </p:cNvPr>
            <p:cNvSpPr/>
            <p:nvPr/>
          </p:nvSpPr>
          <p:spPr>
            <a:xfrm>
              <a:off x="6705600" y="1295400"/>
              <a:ext cx="838200" cy="381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dirty="0">
                  <a:solidFill>
                    <a:srgbClr val="006600"/>
                  </a:solidFill>
                </a:rPr>
                <a:t>1000</a:t>
              </a:r>
            </a:p>
          </p:txBody>
        </p:sp>
        <p:sp>
          <p:nvSpPr>
            <p:cNvPr id="110" name="Text Box 75">
              <a:extLst>
                <a:ext uri="{FF2B5EF4-FFF2-40B4-BE49-F238E27FC236}">
                  <a16:creationId xmlns:a16="http://schemas.microsoft.com/office/drawing/2014/main" id="{1C436AB2-65A7-47B1-A984-D266382BA4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9000" y="914400"/>
              <a:ext cx="726226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C00000"/>
                  </a:solidFill>
                  <a:latin typeface="+mn-lt"/>
                </a:rPr>
                <a:t>Tag</a:t>
              </a:r>
            </a:p>
          </p:txBody>
        </p:sp>
        <p:sp>
          <p:nvSpPr>
            <p:cNvPr id="111" name="Text Box 75">
              <a:extLst>
                <a:ext uri="{FF2B5EF4-FFF2-40B4-BE49-F238E27FC236}">
                  <a16:creationId xmlns:a16="http://schemas.microsoft.com/office/drawing/2014/main" id="{B5D4DA04-2759-4E95-9345-23DD0EE458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53200" y="914400"/>
              <a:ext cx="1066800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006600"/>
                  </a:solidFill>
                  <a:latin typeface="+mn-lt"/>
                </a:rPr>
                <a:t>Offset</a:t>
              </a: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0BAEB268-7595-4B11-BE85-B7EF92481650}"/>
                </a:ext>
              </a:extLst>
            </p:cNvPr>
            <p:cNvSpPr/>
            <p:nvPr/>
          </p:nvSpPr>
          <p:spPr>
            <a:xfrm>
              <a:off x="5105400" y="1295400"/>
              <a:ext cx="1600200" cy="381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dirty="0">
                  <a:solidFill>
                    <a:schemeClr val="accent6">
                      <a:lumMod val="50000"/>
                    </a:schemeClr>
                  </a:solidFill>
                </a:rPr>
                <a:t>0000000001</a:t>
              </a:r>
            </a:p>
          </p:txBody>
        </p:sp>
        <p:sp>
          <p:nvSpPr>
            <p:cNvPr id="113" name="Text Box 75">
              <a:extLst>
                <a:ext uri="{FF2B5EF4-FFF2-40B4-BE49-F238E27FC236}">
                  <a16:creationId xmlns:a16="http://schemas.microsoft.com/office/drawing/2014/main" id="{226367A3-BC7A-4DF9-8D7F-4DF639AF96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10200" y="914400"/>
              <a:ext cx="997177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6">
                      <a:lumMod val="50000"/>
                    </a:schemeClr>
                  </a:solidFill>
                  <a:latin typeface="+mn-lt"/>
                </a:rPr>
                <a:t>Index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B86DC5FD-6836-4D25-A241-FF84C85197BF}"/>
              </a:ext>
            </a:extLst>
          </p:cNvPr>
          <p:cNvGrpSpPr/>
          <p:nvPr/>
        </p:nvGrpSpPr>
        <p:grpSpPr>
          <a:xfrm>
            <a:off x="152400" y="2482850"/>
            <a:ext cx="8686800" cy="3568700"/>
            <a:chOff x="152400" y="2482850"/>
            <a:chExt cx="8686800" cy="3568700"/>
          </a:xfrm>
        </p:grpSpPr>
        <p:sp>
          <p:nvSpPr>
            <p:cNvPr id="87" name="Rectangle 12">
              <a:extLst>
                <a:ext uri="{FF2B5EF4-FFF2-40B4-BE49-F238E27FC236}">
                  <a16:creationId xmlns:a16="http://schemas.microsoft.com/office/drawing/2014/main" id="{7DB01CFC-F7DF-40C0-BA45-0DE3172D07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3276600"/>
              <a:ext cx="990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89" name="Rectangle 13">
              <a:extLst>
                <a:ext uri="{FF2B5EF4-FFF2-40B4-BE49-F238E27FC236}">
                  <a16:creationId xmlns:a16="http://schemas.microsoft.com/office/drawing/2014/main" id="{B8DCEAE1-E087-4A49-83D9-048A33B628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3276600"/>
              <a:ext cx="228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0</a:t>
              </a:r>
            </a:p>
          </p:txBody>
        </p:sp>
        <p:sp>
          <p:nvSpPr>
            <p:cNvPr id="90" name="Rectangle 14">
              <a:extLst>
                <a:ext uri="{FF2B5EF4-FFF2-40B4-BE49-F238E27FC236}">
                  <a16:creationId xmlns:a16="http://schemas.microsoft.com/office/drawing/2014/main" id="{D98392BF-221B-4474-B08B-2CA1A18563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32766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91" name="Rectangle 15">
              <a:extLst>
                <a:ext uri="{FF2B5EF4-FFF2-40B4-BE49-F238E27FC236}">
                  <a16:creationId xmlns:a16="http://schemas.microsoft.com/office/drawing/2014/main" id="{77129509-8B2D-4DAA-AB46-389B3A66B6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32766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92" name="Rectangle 16">
              <a:extLst>
                <a:ext uri="{FF2B5EF4-FFF2-40B4-BE49-F238E27FC236}">
                  <a16:creationId xmlns:a16="http://schemas.microsoft.com/office/drawing/2014/main" id="{79F8F813-9F73-4965-9083-136E98D0AE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32766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93" name="Rectangle 17">
              <a:extLst>
                <a:ext uri="{FF2B5EF4-FFF2-40B4-BE49-F238E27FC236}">
                  <a16:creationId xmlns:a16="http://schemas.microsoft.com/office/drawing/2014/main" id="{06CCEF57-E287-472D-8F45-1ECA79220D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2800" y="32766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94" name="Rectangle 18">
              <a:extLst>
                <a:ext uri="{FF2B5EF4-FFF2-40B4-BE49-F238E27FC236}">
                  <a16:creationId xmlns:a16="http://schemas.microsoft.com/office/drawing/2014/main" id="{6826A830-F5B6-4A8F-A17C-EF62BBD345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3581400"/>
              <a:ext cx="990600" cy="304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0</a:t>
              </a:r>
            </a:p>
          </p:txBody>
        </p:sp>
        <p:sp>
          <p:nvSpPr>
            <p:cNvPr id="95" name="Rectangle 19">
              <a:extLst>
                <a:ext uri="{FF2B5EF4-FFF2-40B4-BE49-F238E27FC236}">
                  <a16:creationId xmlns:a16="http://schemas.microsoft.com/office/drawing/2014/main" id="{D5859BA3-46BB-475D-9A80-91365302A7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3581400"/>
              <a:ext cx="228600" cy="304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1</a:t>
              </a:r>
            </a:p>
          </p:txBody>
        </p:sp>
        <p:sp>
          <p:nvSpPr>
            <p:cNvPr id="96" name="Rectangle 20">
              <a:extLst>
                <a:ext uri="{FF2B5EF4-FFF2-40B4-BE49-F238E27FC236}">
                  <a16:creationId xmlns:a16="http://schemas.microsoft.com/office/drawing/2014/main" id="{F4D5AFC3-B720-4994-8043-D446CCC169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3581400"/>
              <a:ext cx="1676400" cy="304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A</a:t>
              </a:r>
            </a:p>
          </p:txBody>
        </p:sp>
        <p:sp>
          <p:nvSpPr>
            <p:cNvPr id="97" name="Rectangle 21">
              <a:extLst>
                <a:ext uri="{FF2B5EF4-FFF2-40B4-BE49-F238E27FC236}">
                  <a16:creationId xmlns:a16="http://schemas.microsoft.com/office/drawing/2014/main" id="{F3DB8786-6C20-491C-83A3-90B2A212C6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3581400"/>
              <a:ext cx="1676400" cy="304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B</a:t>
              </a:r>
            </a:p>
          </p:txBody>
        </p:sp>
        <p:sp>
          <p:nvSpPr>
            <p:cNvPr id="98" name="Rectangle 22">
              <a:extLst>
                <a:ext uri="{FF2B5EF4-FFF2-40B4-BE49-F238E27FC236}">
                  <a16:creationId xmlns:a16="http://schemas.microsoft.com/office/drawing/2014/main" id="{FD926B1D-D091-42D2-B1C4-60D912CE7C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3581400"/>
              <a:ext cx="1676400" cy="304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C</a:t>
              </a:r>
            </a:p>
          </p:txBody>
        </p:sp>
        <p:sp>
          <p:nvSpPr>
            <p:cNvPr id="99" name="Rectangle 23">
              <a:extLst>
                <a:ext uri="{FF2B5EF4-FFF2-40B4-BE49-F238E27FC236}">
                  <a16:creationId xmlns:a16="http://schemas.microsoft.com/office/drawing/2014/main" id="{51F3EF8B-5B63-4FC2-9ACB-59B4E98656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2800" y="3581400"/>
              <a:ext cx="1676400" cy="304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D</a:t>
              </a:r>
            </a:p>
          </p:txBody>
        </p:sp>
        <p:sp>
          <p:nvSpPr>
            <p:cNvPr id="100" name="Rectangle 24">
              <a:extLst>
                <a:ext uri="{FF2B5EF4-FFF2-40B4-BE49-F238E27FC236}">
                  <a16:creationId xmlns:a16="http://schemas.microsoft.com/office/drawing/2014/main" id="{84C5F924-7304-4F70-A8FA-F084A790D8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3886200"/>
              <a:ext cx="990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01" name="Rectangle 25">
              <a:extLst>
                <a:ext uri="{FF2B5EF4-FFF2-40B4-BE49-F238E27FC236}">
                  <a16:creationId xmlns:a16="http://schemas.microsoft.com/office/drawing/2014/main" id="{5E7AF4C3-54CB-4D5E-BA80-9B907F9AE5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3886200"/>
              <a:ext cx="228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0</a:t>
              </a:r>
            </a:p>
          </p:txBody>
        </p:sp>
        <p:sp>
          <p:nvSpPr>
            <p:cNvPr id="102" name="Rectangle 26">
              <a:extLst>
                <a:ext uri="{FF2B5EF4-FFF2-40B4-BE49-F238E27FC236}">
                  <a16:creationId xmlns:a16="http://schemas.microsoft.com/office/drawing/2014/main" id="{8631D9BE-7ED8-40D3-A9C3-4F8DB0D93A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38862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16" name="Rectangle 27">
              <a:extLst>
                <a:ext uri="{FF2B5EF4-FFF2-40B4-BE49-F238E27FC236}">
                  <a16:creationId xmlns:a16="http://schemas.microsoft.com/office/drawing/2014/main" id="{7D84F504-64E4-4A2B-A295-B53F22EAA3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38862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83" name="Rectangle 28">
              <a:extLst>
                <a:ext uri="{FF2B5EF4-FFF2-40B4-BE49-F238E27FC236}">
                  <a16:creationId xmlns:a16="http://schemas.microsoft.com/office/drawing/2014/main" id="{76E25282-9BA2-48C8-A434-1FA71DFE92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38862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84" name="Rectangle 29">
              <a:extLst>
                <a:ext uri="{FF2B5EF4-FFF2-40B4-BE49-F238E27FC236}">
                  <a16:creationId xmlns:a16="http://schemas.microsoft.com/office/drawing/2014/main" id="{D2F5727C-E9A6-4D41-963F-74E8C92F83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2800" y="38862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85" name="Rectangle 30">
              <a:extLst>
                <a:ext uri="{FF2B5EF4-FFF2-40B4-BE49-F238E27FC236}">
                  <a16:creationId xmlns:a16="http://schemas.microsoft.com/office/drawing/2014/main" id="{A1439D59-C4AE-4631-AFF9-BC42ED6D67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4191000"/>
              <a:ext cx="990600" cy="3048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0</a:t>
              </a:r>
            </a:p>
          </p:txBody>
        </p:sp>
        <p:sp>
          <p:nvSpPr>
            <p:cNvPr id="186" name="Rectangle 31">
              <a:extLst>
                <a:ext uri="{FF2B5EF4-FFF2-40B4-BE49-F238E27FC236}">
                  <a16:creationId xmlns:a16="http://schemas.microsoft.com/office/drawing/2014/main" id="{6C4CA497-4776-4915-A20D-D5941DAD55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4191000"/>
              <a:ext cx="228600" cy="3048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1</a:t>
              </a:r>
            </a:p>
          </p:txBody>
        </p:sp>
        <p:sp>
          <p:nvSpPr>
            <p:cNvPr id="187" name="Rectangle 32">
              <a:extLst>
                <a:ext uri="{FF2B5EF4-FFF2-40B4-BE49-F238E27FC236}">
                  <a16:creationId xmlns:a16="http://schemas.microsoft.com/office/drawing/2014/main" id="{3AA6AF80-9D87-4D18-A03D-2BBF808FF1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4191000"/>
              <a:ext cx="1676400" cy="3048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I</a:t>
              </a:r>
            </a:p>
          </p:txBody>
        </p:sp>
        <p:sp>
          <p:nvSpPr>
            <p:cNvPr id="188" name="Rectangle 33">
              <a:extLst>
                <a:ext uri="{FF2B5EF4-FFF2-40B4-BE49-F238E27FC236}">
                  <a16:creationId xmlns:a16="http://schemas.microsoft.com/office/drawing/2014/main" id="{C9D01ABB-5DE8-42F9-9891-41B4974F1F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4191000"/>
              <a:ext cx="1676400" cy="3048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J</a:t>
              </a:r>
            </a:p>
          </p:txBody>
        </p:sp>
        <p:sp>
          <p:nvSpPr>
            <p:cNvPr id="189" name="Rectangle 34">
              <a:extLst>
                <a:ext uri="{FF2B5EF4-FFF2-40B4-BE49-F238E27FC236}">
                  <a16:creationId xmlns:a16="http://schemas.microsoft.com/office/drawing/2014/main" id="{557E9914-E8E3-461D-8878-BCC990689C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4191000"/>
              <a:ext cx="1676400" cy="3048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K</a:t>
              </a:r>
            </a:p>
          </p:txBody>
        </p:sp>
        <p:sp>
          <p:nvSpPr>
            <p:cNvPr id="190" name="Rectangle 35">
              <a:extLst>
                <a:ext uri="{FF2B5EF4-FFF2-40B4-BE49-F238E27FC236}">
                  <a16:creationId xmlns:a16="http://schemas.microsoft.com/office/drawing/2014/main" id="{61D9F16C-2E50-4229-B060-386D9318C5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2800" y="4191000"/>
              <a:ext cx="1676400" cy="3048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L</a:t>
              </a:r>
            </a:p>
          </p:txBody>
        </p:sp>
        <p:sp>
          <p:nvSpPr>
            <p:cNvPr id="191" name="Rectangle 36">
              <a:extLst>
                <a:ext uri="{FF2B5EF4-FFF2-40B4-BE49-F238E27FC236}">
                  <a16:creationId xmlns:a16="http://schemas.microsoft.com/office/drawing/2014/main" id="{2C348551-E197-4342-8A89-DE96E9082F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4495800"/>
              <a:ext cx="990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92" name="Rectangle 37">
              <a:extLst>
                <a:ext uri="{FF2B5EF4-FFF2-40B4-BE49-F238E27FC236}">
                  <a16:creationId xmlns:a16="http://schemas.microsoft.com/office/drawing/2014/main" id="{95DB980D-0C44-40ED-880B-BE8F61DC76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4495800"/>
              <a:ext cx="228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0</a:t>
              </a:r>
            </a:p>
          </p:txBody>
        </p:sp>
        <p:sp>
          <p:nvSpPr>
            <p:cNvPr id="193" name="Rectangle 38">
              <a:extLst>
                <a:ext uri="{FF2B5EF4-FFF2-40B4-BE49-F238E27FC236}">
                  <a16:creationId xmlns:a16="http://schemas.microsoft.com/office/drawing/2014/main" id="{66465765-B49B-4CCD-BCA5-B270F7C565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44958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94" name="Rectangle 39">
              <a:extLst>
                <a:ext uri="{FF2B5EF4-FFF2-40B4-BE49-F238E27FC236}">
                  <a16:creationId xmlns:a16="http://schemas.microsoft.com/office/drawing/2014/main" id="{A389D9B1-3153-40BD-B9CA-CBDDE18955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44958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95" name="Rectangle 40">
              <a:extLst>
                <a:ext uri="{FF2B5EF4-FFF2-40B4-BE49-F238E27FC236}">
                  <a16:creationId xmlns:a16="http://schemas.microsoft.com/office/drawing/2014/main" id="{D9E91D9A-A570-4B9A-9B1F-979B71E6FA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44958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96" name="Rectangle 41">
              <a:extLst>
                <a:ext uri="{FF2B5EF4-FFF2-40B4-BE49-F238E27FC236}">
                  <a16:creationId xmlns:a16="http://schemas.microsoft.com/office/drawing/2014/main" id="{2E16522C-36D5-421A-AEDA-F925E3C81F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2800" y="44958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97" name="Rectangle 42">
              <a:extLst>
                <a:ext uri="{FF2B5EF4-FFF2-40B4-BE49-F238E27FC236}">
                  <a16:creationId xmlns:a16="http://schemas.microsoft.com/office/drawing/2014/main" id="{00D6C020-0238-4BF5-B873-53184CA569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4800600"/>
              <a:ext cx="990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98" name="Rectangle 43">
              <a:extLst>
                <a:ext uri="{FF2B5EF4-FFF2-40B4-BE49-F238E27FC236}">
                  <a16:creationId xmlns:a16="http://schemas.microsoft.com/office/drawing/2014/main" id="{3AE664DB-E5FD-43AA-8B98-CCEDF06A69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4800600"/>
              <a:ext cx="228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0</a:t>
              </a:r>
            </a:p>
          </p:txBody>
        </p:sp>
        <p:sp>
          <p:nvSpPr>
            <p:cNvPr id="199" name="Rectangle 44">
              <a:extLst>
                <a:ext uri="{FF2B5EF4-FFF2-40B4-BE49-F238E27FC236}">
                  <a16:creationId xmlns:a16="http://schemas.microsoft.com/office/drawing/2014/main" id="{A35EE3E9-FC12-4B57-9531-CE8CEB342E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48006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00" name="Rectangle 45">
              <a:extLst>
                <a:ext uri="{FF2B5EF4-FFF2-40B4-BE49-F238E27FC236}">
                  <a16:creationId xmlns:a16="http://schemas.microsoft.com/office/drawing/2014/main" id="{8753CFC0-80CD-4094-9CD2-607D8D4155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48006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01" name="Rectangle 46">
              <a:extLst>
                <a:ext uri="{FF2B5EF4-FFF2-40B4-BE49-F238E27FC236}">
                  <a16:creationId xmlns:a16="http://schemas.microsoft.com/office/drawing/2014/main" id="{A3F5BD11-2CE3-4094-AEAB-AF4B3E84D5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48006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02" name="Rectangle 47">
              <a:extLst>
                <a:ext uri="{FF2B5EF4-FFF2-40B4-BE49-F238E27FC236}">
                  <a16:creationId xmlns:a16="http://schemas.microsoft.com/office/drawing/2014/main" id="{6AF50520-90FF-4FFF-8694-3D5F3EE0D9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2800" y="48006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03" name="Rectangle 48">
              <a:extLst>
                <a:ext uri="{FF2B5EF4-FFF2-40B4-BE49-F238E27FC236}">
                  <a16:creationId xmlns:a16="http://schemas.microsoft.com/office/drawing/2014/main" id="{D8CE9BCA-3A63-4072-AC5C-E15BD30E2C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5410200"/>
              <a:ext cx="990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04" name="Rectangle 49">
              <a:extLst>
                <a:ext uri="{FF2B5EF4-FFF2-40B4-BE49-F238E27FC236}">
                  <a16:creationId xmlns:a16="http://schemas.microsoft.com/office/drawing/2014/main" id="{8104CD71-9563-46EC-B4D3-E66BD678B4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5410200"/>
              <a:ext cx="228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0</a:t>
              </a:r>
            </a:p>
          </p:txBody>
        </p:sp>
        <p:sp>
          <p:nvSpPr>
            <p:cNvPr id="205" name="Rectangle 50">
              <a:extLst>
                <a:ext uri="{FF2B5EF4-FFF2-40B4-BE49-F238E27FC236}">
                  <a16:creationId xmlns:a16="http://schemas.microsoft.com/office/drawing/2014/main" id="{B2E9B1D5-1A0C-43C7-8A49-2F820C29F4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54102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06" name="Rectangle 51">
              <a:extLst>
                <a:ext uri="{FF2B5EF4-FFF2-40B4-BE49-F238E27FC236}">
                  <a16:creationId xmlns:a16="http://schemas.microsoft.com/office/drawing/2014/main" id="{ECA5EB9E-14EF-42D9-A455-C01DFCBB59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54102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07" name="Rectangle 52">
              <a:extLst>
                <a:ext uri="{FF2B5EF4-FFF2-40B4-BE49-F238E27FC236}">
                  <a16:creationId xmlns:a16="http://schemas.microsoft.com/office/drawing/2014/main" id="{6120DE07-115C-422B-A2D2-58B30578D1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54102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08" name="Rectangle 53">
              <a:extLst>
                <a:ext uri="{FF2B5EF4-FFF2-40B4-BE49-F238E27FC236}">
                  <a16:creationId xmlns:a16="http://schemas.microsoft.com/office/drawing/2014/main" id="{F648C58F-7E99-4B6D-8978-23AE7622D2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2800" y="54102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09" name="Rectangle 54">
              <a:extLst>
                <a:ext uri="{FF2B5EF4-FFF2-40B4-BE49-F238E27FC236}">
                  <a16:creationId xmlns:a16="http://schemas.microsoft.com/office/drawing/2014/main" id="{1D9AED89-1A8F-41A0-8B01-476BF6BF9D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5715000"/>
              <a:ext cx="990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10" name="Rectangle 55">
              <a:extLst>
                <a:ext uri="{FF2B5EF4-FFF2-40B4-BE49-F238E27FC236}">
                  <a16:creationId xmlns:a16="http://schemas.microsoft.com/office/drawing/2014/main" id="{CBD74B5F-2F5F-43E8-A0F5-BB9C83DD48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5715000"/>
              <a:ext cx="228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0</a:t>
              </a:r>
            </a:p>
          </p:txBody>
        </p:sp>
        <p:sp>
          <p:nvSpPr>
            <p:cNvPr id="211" name="Rectangle 56">
              <a:extLst>
                <a:ext uri="{FF2B5EF4-FFF2-40B4-BE49-F238E27FC236}">
                  <a16:creationId xmlns:a16="http://schemas.microsoft.com/office/drawing/2014/main" id="{CCA17176-0190-487E-A03B-DF92B8ACA0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57150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12" name="Rectangle 57">
              <a:extLst>
                <a:ext uri="{FF2B5EF4-FFF2-40B4-BE49-F238E27FC236}">
                  <a16:creationId xmlns:a16="http://schemas.microsoft.com/office/drawing/2014/main" id="{9B8BA583-207C-4DEC-99E3-2FE1D1670F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57150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13" name="Rectangle 58">
              <a:extLst>
                <a:ext uri="{FF2B5EF4-FFF2-40B4-BE49-F238E27FC236}">
                  <a16:creationId xmlns:a16="http://schemas.microsoft.com/office/drawing/2014/main" id="{2C7FC3A8-8131-4727-ADA9-6540131508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57150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14" name="Rectangle 59">
              <a:extLst>
                <a:ext uri="{FF2B5EF4-FFF2-40B4-BE49-F238E27FC236}">
                  <a16:creationId xmlns:a16="http://schemas.microsoft.com/office/drawing/2014/main" id="{45D258B3-7A47-407D-8686-71E77CF5D6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2800" y="57150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15" name="Text Box 60">
              <a:extLst>
                <a:ext uri="{FF2B5EF4-FFF2-40B4-BE49-F238E27FC236}">
                  <a16:creationId xmlns:a16="http://schemas.microsoft.com/office/drawing/2014/main" id="{463426D0-C900-4342-B6B5-11D5BDE988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6000" y="4960203"/>
              <a:ext cx="5029200" cy="73866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0" hangingPunct="0"/>
              <a:r>
                <a:rPr lang="en-US" sz="2400" b="1" dirty="0">
                  <a:latin typeface="+mn-lt"/>
                </a:rPr>
                <a:t>...    </a:t>
              </a:r>
              <a:r>
                <a:rPr lang="en-US" sz="2400" b="1" dirty="0"/>
                <a:t>...    ...    …   …   …   …   …</a:t>
              </a:r>
              <a:endParaRPr lang="en-US" sz="2400" dirty="0"/>
            </a:p>
            <a:p>
              <a:pPr eaLnBrk="0" hangingPunct="0"/>
              <a:endParaRPr lang="en-US" dirty="0"/>
            </a:p>
          </p:txBody>
        </p:sp>
        <p:sp>
          <p:nvSpPr>
            <p:cNvPr id="216" name="Text Box 61">
              <a:extLst>
                <a:ext uri="{FF2B5EF4-FFF2-40B4-BE49-F238E27FC236}">
                  <a16:creationId xmlns:a16="http://schemas.microsoft.com/office/drawing/2014/main" id="{D69291CC-D559-47A7-8E8C-9B02F88384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" y="3276600"/>
              <a:ext cx="307975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+mn-lt"/>
                </a:rPr>
                <a:t>0</a:t>
              </a:r>
            </a:p>
          </p:txBody>
        </p:sp>
        <p:sp>
          <p:nvSpPr>
            <p:cNvPr id="217" name="Text Box 62">
              <a:extLst>
                <a:ext uri="{FF2B5EF4-FFF2-40B4-BE49-F238E27FC236}">
                  <a16:creationId xmlns:a16="http://schemas.microsoft.com/office/drawing/2014/main" id="{7EFBB39C-7FCC-46C6-905F-6C99A86872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2273" y="3581400"/>
              <a:ext cx="298480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>
                  <a:latin typeface="+mn-lt"/>
                </a:rPr>
                <a:t>1</a:t>
              </a:r>
            </a:p>
          </p:txBody>
        </p:sp>
        <p:sp>
          <p:nvSpPr>
            <p:cNvPr id="218" name="Text Box 63">
              <a:extLst>
                <a:ext uri="{FF2B5EF4-FFF2-40B4-BE49-F238E27FC236}">
                  <a16:creationId xmlns:a16="http://schemas.microsoft.com/office/drawing/2014/main" id="{8093C03A-5B82-4221-BD8A-D078F94981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" y="3886200"/>
              <a:ext cx="307975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>
                  <a:latin typeface="+mn-lt"/>
                </a:rPr>
                <a:t>2</a:t>
              </a:r>
            </a:p>
          </p:txBody>
        </p:sp>
        <p:sp>
          <p:nvSpPr>
            <p:cNvPr id="219" name="Text Box 64">
              <a:extLst>
                <a:ext uri="{FF2B5EF4-FFF2-40B4-BE49-F238E27FC236}">
                  <a16:creationId xmlns:a16="http://schemas.microsoft.com/office/drawing/2014/main" id="{A2C29F96-2454-41DA-9B26-F787D5E64A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" y="4191000"/>
              <a:ext cx="307975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>
                  <a:latin typeface="+mn-lt"/>
                </a:rPr>
                <a:t>3</a:t>
              </a:r>
            </a:p>
          </p:txBody>
        </p:sp>
        <p:sp>
          <p:nvSpPr>
            <p:cNvPr id="220" name="Text Box 65">
              <a:extLst>
                <a:ext uri="{FF2B5EF4-FFF2-40B4-BE49-F238E27FC236}">
                  <a16:creationId xmlns:a16="http://schemas.microsoft.com/office/drawing/2014/main" id="{EF6654EC-787C-4848-9559-6E840F6017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" y="4495800"/>
              <a:ext cx="307975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>
                  <a:latin typeface="+mn-lt"/>
                </a:rPr>
                <a:t>4</a:t>
              </a:r>
            </a:p>
          </p:txBody>
        </p:sp>
        <p:sp>
          <p:nvSpPr>
            <p:cNvPr id="221" name="Text Box 66">
              <a:extLst>
                <a:ext uri="{FF2B5EF4-FFF2-40B4-BE49-F238E27FC236}">
                  <a16:creationId xmlns:a16="http://schemas.microsoft.com/office/drawing/2014/main" id="{7C8AE989-6C53-4280-813C-9F01AAA5EA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" y="4800600"/>
              <a:ext cx="307975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>
                  <a:latin typeface="+mn-lt"/>
                </a:rPr>
                <a:t>5</a:t>
              </a:r>
            </a:p>
          </p:txBody>
        </p:sp>
        <p:sp>
          <p:nvSpPr>
            <p:cNvPr id="222" name="Text Box 67">
              <a:extLst>
                <a:ext uri="{FF2B5EF4-FFF2-40B4-BE49-F238E27FC236}">
                  <a16:creationId xmlns:a16="http://schemas.microsoft.com/office/drawing/2014/main" id="{FB5E5C4D-ADD7-4B32-8EE1-89BDD7DD19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800" y="5410200"/>
              <a:ext cx="647700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>
                  <a:latin typeface="+mn-lt"/>
                </a:rPr>
                <a:t>1022</a:t>
              </a:r>
            </a:p>
          </p:txBody>
        </p:sp>
        <p:sp>
          <p:nvSpPr>
            <p:cNvPr id="223" name="Text Box 68">
              <a:extLst>
                <a:ext uri="{FF2B5EF4-FFF2-40B4-BE49-F238E27FC236}">
                  <a16:creationId xmlns:a16="http://schemas.microsoft.com/office/drawing/2014/main" id="{FDE10283-95DA-4E3D-A0BA-4688D4E7B5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800" y="5715000"/>
              <a:ext cx="647700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>
                  <a:latin typeface="+mn-lt"/>
                </a:rPr>
                <a:t>1023</a:t>
              </a:r>
            </a:p>
          </p:txBody>
        </p:sp>
        <p:sp>
          <p:nvSpPr>
            <p:cNvPr id="224" name="Text Box 69">
              <a:extLst>
                <a:ext uri="{FF2B5EF4-FFF2-40B4-BE49-F238E27FC236}">
                  <a16:creationId xmlns:a16="http://schemas.microsoft.com/office/drawing/2014/main" id="{D77255F9-0F93-4E80-AFBA-F6DB4E1DED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400" y="2971800"/>
              <a:ext cx="720069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latin typeface="+mn-lt"/>
                </a:rPr>
                <a:t>Index</a:t>
              </a:r>
            </a:p>
          </p:txBody>
        </p:sp>
        <p:sp>
          <p:nvSpPr>
            <p:cNvPr id="225" name="Text Box 70">
              <a:extLst>
                <a:ext uri="{FF2B5EF4-FFF2-40B4-BE49-F238E27FC236}">
                  <a16:creationId xmlns:a16="http://schemas.microsoft.com/office/drawing/2014/main" id="{6C6E4A95-18C8-4FEB-B693-F6C64577CE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6314" y="2971800"/>
              <a:ext cx="663836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latin typeface="+mn-lt"/>
                </a:rPr>
                <a:t>Valid</a:t>
              </a:r>
            </a:p>
          </p:txBody>
        </p:sp>
        <p:sp>
          <p:nvSpPr>
            <p:cNvPr id="226" name="Text Box 71">
              <a:extLst>
                <a:ext uri="{FF2B5EF4-FFF2-40B4-BE49-F238E27FC236}">
                  <a16:creationId xmlns:a16="http://schemas.microsoft.com/office/drawing/2014/main" id="{BD909583-44BB-40F6-B8BB-F1429E1434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7800" y="2971800"/>
              <a:ext cx="534988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latin typeface="+mn-lt"/>
                </a:rPr>
                <a:t>Tag</a:t>
              </a:r>
            </a:p>
          </p:txBody>
        </p:sp>
        <p:grpSp>
          <p:nvGrpSpPr>
            <p:cNvPr id="227" name="Group 226">
              <a:extLst>
                <a:ext uri="{FF2B5EF4-FFF2-40B4-BE49-F238E27FC236}">
                  <a16:creationId xmlns:a16="http://schemas.microsoft.com/office/drawing/2014/main" id="{513585D0-E055-46A0-BE26-8F0860954C93}"/>
                </a:ext>
              </a:extLst>
            </p:cNvPr>
            <p:cNvGrpSpPr/>
            <p:nvPr/>
          </p:nvGrpSpPr>
          <p:grpSpPr>
            <a:xfrm>
              <a:off x="2133600" y="2482850"/>
              <a:ext cx="6629400" cy="336550"/>
              <a:chOff x="2209800" y="2438400"/>
              <a:chExt cx="6629400" cy="336550"/>
            </a:xfrm>
          </p:grpSpPr>
          <p:sp>
            <p:nvSpPr>
              <p:cNvPr id="228" name="Text Box 72">
                <a:extLst>
                  <a:ext uri="{FF2B5EF4-FFF2-40B4-BE49-F238E27FC236}">
                    <a16:creationId xmlns:a16="http://schemas.microsoft.com/office/drawing/2014/main" id="{21ED1C2E-D58A-438E-A914-789B605B544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48200" y="2438400"/>
                <a:ext cx="635000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 dirty="0">
                    <a:latin typeface="+mn-lt"/>
                  </a:rPr>
                  <a:t>Data</a:t>
                </a:r>
              </a:p>
            </p:txBody>
          </p:sp>
          <p:sp>
            <p:nvSpPr>
              <p:cNvPr id="229" name="Line 73">
                <a:extLst>
                  <a:ext uri="{FF2B5EF4-FFF2-40B4-BE49-F238E27FC236}">
                    <a16:creationId xmlns:a16="http://schemas.microsoft.com/office/drawing/2014/main" id="{870432E5-0071-4339-ABD1-9A3ACF9F59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209800" y="2590800"/>
                <a:ext cx="24384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>
                <a:spAutoFit/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230" name="Line 74">
                <a:extLst>
                  <a:ext uri="{FF2B5EF4-FFF2-40B4-BE49-F238E27FC236}">
                    <a16:creationId xmlns:a16="http://schemas.microsoft.com/office/drawing/2014/main" id="{AD2A89F1-C959-485D-A27D-90B7488799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57800" y="2590800"/>
                <a:ext cx="35814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>
                <a:spAutoFit/>
              </a:bodyPr>
              <a:lstStyle/>
              <a:p>
                <a:endParaRPr lang="en-US">
                  <a:latin typeface="+mn-lt"/>
                </a:endParaRPr>
              </a:p>
            </p:txBody>
          </p:sp>
        </p:grpSp>
        <p:sp>
          <p:nvSpPr>
            <p:cNvPr id="231" name="Text Box 75">
              <a:extLst>
                <a:ext uri="{FF2B5EF4-FFF2-40B4-BE49-F238E27FC236}">
                  <a16:creationId xmlns:a16="http://schemas.microsoft.com/office/drawing/2014/main" id="{6CA55884-7FC8-41F1-8BCF-9E970DC44E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072" y="2743200"/>
              <a:ext cx="818942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latin typeface="+mn-lt"/>
                </a:rPr>
                <a:t>Word0</a:t>
              </a:r>
            </a:p>
          </p:txBody>
        </p:sp>
        <p:sp>
          <p:nvSpPr>
            <p:cNvPr id="232" name="Text Box 76">
              <a:extLst>
                <a:ext uri="{FF2B5EF4-FFF2-40B4-BE49-F238E27FC236}">
                  <a16:creationId xmlns:a16="http://schemas.microsoft.com/office/drawing/2014/main" id="{E1040994-3945-4413-8AAD-BA7762EF6A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0862" y="2743200"/>
              <a:ext cx="811213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latin typeface="+mn-lt"/>
                </a:rPr>
                <a:t>Word1</a:t>
              </a:r>
            </a:p>
          </p:txBody>
        </p:sp>
        <p:sp>
          <p:nvSpPr>
            <p:cNvPr id="233" name="Text Box 77">
              <a:extLst>
                <a:ext uri="{FF2B5EF4-FFF2-40B4-BE49-F238E27FC236}">
                  <a16:creationId xmlns:a16="http://schemas.microsoft.com/office/drawing/2014/main" id="{DFB75E1E-68E3-4B7E-B028-B111AF99CC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49272" y="2743200"/>
              <a:ext cx="818942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latin typeface="+mn-lt"/>
                </a:rPr>
                <a:t>Word2</a:t>
              </a:r>
            </a:p>
          </p:txBody>
        </p:sp>
        <p:sp>
          <p:nvSpPr>
            <p:cNvPr id="234" name="Text Box 78">
              <a:extLst>
                <a:ext uri="{FF2B5EF4-FFF2-40B4-BE49-F238E27FC236}">
                  <a16:creationId xmlns:a16="http://schemas.microsoft.com/office/drawing/2014/main" id="{B2BC71AA-A2D1-4DBC-B2C2-CF722F48DD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49472" y="2743200"/>
              <a:ext cx="818942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latin typeface="+mn-lt"/>
                </a:rPr>
                <a:t>Word3</a:t>
              </a:r>
            </a:p>
          </p:txBody>
        </p:sp>
        <p:sp>
          <p:nvSpPr>
            <p:cNvPr id="235" name="Text Box 79">
              <a:extLst>
                <a:ext uri="{FF2B5EF4-FFF2-40B4-BE49-F238E27FC236}">
                  <a16:creationId xmlns:a16="http://schemas.microsoft.com/office/drawing/2014/main" id="{D8682EFC-9622-49BC-B6A4-B30395A03C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8548" y="2971800"/>
              <a:ext cx="1051891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+mn-lt"/>
                </a:rPr>
                <a:t>Bytes 0-3</a:t>
              </a:r>
            </a:p>
          </p:txBody>
        </p:sp>
        <p:sp>
          <p:nvSpPr>
            <p:cNvPr id="236" name="Text Box 80">
              <a:extLst>
                <a:ext uri="{FF2B5EF4-FFF2-40B4-BE49-F238E27FC236}">
                  <a16:creationId xmlns:a16="http://schemas.microsoft.com/office/drawing/2014/main" id="{7B38301C-3B9A-4FAC-A899-61CF2A9A06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37348" y="2971800"/>
              <a:ext cx="1051891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+mn-lt"/>
                </a:rPr>
                <a:t>Bytes 4-7</a:t>
              </a:r>
            </a:p>
          </p:txBody>
        </p:sp>
        <p:sp>
          <p:nvSpPr>
            <p:cNvPr id="237" name="Text Box 81">
              <a:extLst>
                <a:ext uri="{FF2B5EF4-FFF2-40B4-BE49-F238E27FC236}">
                  <a16:creationId xmlns:a16="http://schemas.microsoft.com/office/drawing/2014/main" id="{B4B6B579-23AC-4607-A193-758CD3A881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48597" y="2971800"/>
              <a:ext cx="1150444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+mn-lt"/>
                </a:rPr>
                <a:t>Bytes 8-11</a:t>
              </a:r>
            </a:p>
          </p:txBody>
        </p:sp>
        <p:sp>
          <p:nvSpPr>
            <p:cNvPr id="238" name="Text Box 82">
              <a:extLst>
                <a:ext uri="{FF2B5EF4-FFF2-40B4-BE49-F238E27FC236}">
                  <a16:creationId xmlns:a16="http://schemas.microsoft.com/office/drawing/2014/main" id="{347EA6BB-E77E-46E9-9C40-2EBB51466C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46173" y="2971800"/>
              <a:ext cx="1279517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+mn-lt"/>
                </a:rPr>
                <a:t>Bytes 12-15</a:t>
              </a:r>
            </a:p>
          </p:txBody>
        </p:sp>
      </p:grpSp>
      <p:sp>
        <p:nvSpPr>
          <p:cNvPr id="88" name="Left Arrow 86">
            <a:extLst>
              <a:ext uri="{FF2B5EF4-FFF2-40B4-BE49-F238E27FC236}">
                <a16:creationId xmlns:a16="http://schemas.microsoft.com/office/drawing/2014/main" id="{84B58F2A-4772-4603-A146-C18F00E8DD7B}"/>
              </a:ext>
            </a:extLst>
          </p:cNvPr>
          <p:cNvSpPr/>
          <p:nvPr/>
        </p:nvSpPr>
        <p:spPr>
          <a:xfrm rot="5400000">
            <a:off x="5795211" y="1765717"/>
            <a:ext cx="228600" cy="304800"/>
          </a:xfrm>
          <a:prstGeom prst="leftArrow">
            <a:avLst/>
          </a:prstGeom>
          <a:solidFill>
            <a:srgbClr val="FF0000"/>
          </a:solidFill>
          <a:ln>
            <a:solidFill>
              <a:srgbClr val="66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BE3D644D-BB07-4DE5-A715-0405404A80A5}"/>
              </a:ext>
            </a:extLst>
          </p:cNvPr>
          <p:cNvSpPr/>
          <p:nvPr/>
        </p:nvSpPr>
        <p:spPr>
          <a:xfrm>
            <a:off x="522273" y="3596273"/>
            <a:ext cx="304800" cy="304800"/>
          </a:xfrm>
          <a:prstGeom prst="ellipse">
            <a:avLst/>
          </a:prstGeom>
          <a:solidFill>
            <a:srgbClr val="EFE9E1">
              <a:alpha val="32157"/>
            </a:srgbClr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53951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" grpId="0" animBg="1"/>
      <p:bldP spid="106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5. Reading Data: </a:t>
            </a:r>
            <a:r>
              <a:rPr lang="en-GB" sz="3600" b="1" dirty="0">
                <a:solidFill>
                  <a:srgbClr val="0000FF"/>
                </a:solidFill>
              </a:rPr>
              <a:t>Load #4-2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#22: Cache I: Direct Mapped Cache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46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05" name="Content Placeholder 2">
            <a:extLst>
              <a:ext uri="{FF2B5EF4-FFF2-40B4-BE49-F238E27FC236}">
                <a16:creationId xmlns:a16="http://schemas.microsoft.com/office/drawing/2014/main" id="{F42D869D-777C-4A19-87AD-D73DCB7B3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788" y="1463676"/>
            <a:ext cx="8538411" cy="958849"/>
          </a:xfrm>
        </p:spPr>
        <p:txBody>
          <a:bodyPr>
            <a:normAutofit/>
          </a:bodyPr>
          <a:lstStyle/>
          <a:p>
            <a:pPr marL="265113" indent="-265113">
              <a:buSzPct val="100000"/>
              <a:buFont typeface="Wingdings" panose="05000000000000000000" pitchFamily="2" charset="2"/>
              <a:buChar char="§"/>
            </a:pPr>
            <a:r>
              <a:rPr lang="en-SG" sz="2400" dirty="0"/>
              <a:t>Load from</a:t>
            </a:r>
            <a:endParaRPr lang="en-SG" sz="2200" dirty="0"/>
          </a:p>
          <a:p>
            <a:pPr>
              <a:buNone/>
            </a:pPr>
            <a:r>
              <a:rPr lang="en-US" b="1" dirty="0"/>
              <a:t>Step 2</a:t>
            </a:r>
            <a:r>
              <a:rPr lang="en-US" dirty="0"/>
              <a:t>. </a:t>
            </a:r>
            <a:r>
              <a:rPr lang="en-US" sz="2200" dirty="0"/>
              <a:t>Cache block is </a:t>
            </a:r>
            <a:r>
              <a:rPr lang="en-US" sz="2200" b="1" dirty="0"/>
              <a:t>Valid</a:t>
            </a:r>
            <a:r>
              <a:rPr lang="en-US" sz="2200" dirty="0"/>
              <a:t> but </a:t>
            </a:r>
            <a:r>
              <a:rPr lang="en-US" sz="2200" b="1" dirty="0"/>
              <a:t>Tags mismatch </a:t>
            </a:r>
            <a:r>
              <a:rPr lang="en-US" sz="2200" b="1" dirty="0">
                <a:solidFill>
                  <a:srgbClr val="7030A0"/>
                </a:solidFill>
              </a:rPr>
              <a:t>[Cold miss]</a:t>
            </a:r>
            <a:endParaRPr lang="en-SG" sz="2200" b="1" dirty="0">
              <a:solidFill>
                <a:srgbClr val="7030A0"/>
              </a:solidFill>
            </a:endParaRP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F79D12AF-480C-4552-88AA-23103501BE5B}"/>
              </a:ext>
            </a:extLst>
          </p:cNvPr>
          <p:cNvGrpSpPr/>
          <p:nvPr/>
        </p:nvGrpSpPr>
        <p:grpSpPr>
          <a:xfrm>
            <a:off x="2362201" y="1095376"/>
            <a:ext cx="5257799" cy="762000"/>
            <a:chOff x="2362201" y="914400"/>
            <a:chExt cx="5257799" cy="762000"/>
          </a:xfrm>
        </p:grpSpPr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3ADEB99F-7526-4800-93FB-68071C373046}"/>
                </a:ext>
              </a:extLst>
            </p:cNvPr>
            <p:cNvSpPr/>
            <p:nvPr/>
          </p:nvSpPr>
          <p:spPr>
            <a:xfrm>
              <a:off x="2362201" y="1295400"/>
              <a:ext cx="2743199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dirty="0">
                  <a:solidFill>
                    <a:srgbClr val="C00000"/>
                  </a:solidFill>
                </a:rPr>
                <a:t>000000000000000010</a:t>
              </a: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63F33081-71DE-4216-A404-17AFE49F1B46}"/>
                </a:ext>
              </a:extLst>
            </p:cNvPr>
            <p:cNvSpPr/>
            <p:nvPr/>
          </p:nvSpPr>
          <p:spPr>
            <a:xfrm>
              <a:off x="6705600" y="1295400"/>
              <a:ext cx="838200" cy="381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dirty="0">
                  <a:solidFill>
                    <a:srgbClr val="006600"/>
                  </a:solidFill>
                </a:rPr>
                <a:t>1000</a:t>
              </a:r>
            </a:p>
          </p:txBody>
        </p:sp>
        <p:sp>
          <p:nvSpPr>
            <p:cNvPr id="110" name="Text Box 75">
              <a:extLst>
                <a:ext uri="{FF2B5EF4-FFF2-40B4-BE49-F238E27FC236}">
                  <a16:creationId xmlns:a16="http://schemas.microsoft.com/office/drawing/2014/main" id="{1C436AB2-65A7-47B1-A984-D266382BA4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9000" y="914400"/>
              <a:ext cx="726226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C00000"/>
                  </a:solidFill>
                  <a:latin typeface="+mn-lt"/>
                </a:rPr>
                <a:t>Tag</a:t>
              </a:r>
            </a:p>
          </p:txBody>
        </p:sp>
        <p:sp>
          <p:nvSpPr>
            <p:cNvPr id="111" name="Text Box 75">
              <a:extLst>
                <a:ext uri="{FF2B5EF4-FFF2-40B4-BE49-F238E27FC236}">
                  <a16:creationId xmlns:a16="http://schemas.microsoft.com/office/drawing/2014/main" id="{B5D4DA04-2759-4E95-9345-23DD0EE458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53200" y="914400"/>
              <a:ext cx="1066800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006600"/>
                  </a:solidFill>
                  <a:latin typeface="+mn-lt"/>
                </a:rPr>
                <a:t>Offset</a:t>
              </a: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0BAEB268-7595-4B11-BE85-B7EF92481650}"/>
                </a:ext>
              </a:extLst>
            </p:cNvPr>
            <p:cNvSpPr/>
            <p:nvPr/>
          </p:nvSpPr>
          <p:spPr>
            <a:xfrm>
              <a:off x="5105400" y="1295400"/>
              <a:ext cx="1600200" cy="381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dirty="0">
                  <a:solidFill>
                    <a:schemeClr val="accent6">
                      <a:lumMod val="50000"/>
                    </a:schemeClr>
                  </a:solidFill>
                </a:rPr>
                <a:t>0000000001</a:t>
              </a:r>
            </a:p>
          </p:txBody>
        </p:sp>
        <p:sp>
          <p:nvSpPr>
            <p:cNvPr id="113" name="Text Box 75">
              <a:extLst>
                <a:ext uri="{FF2B5EF4-FFF2-40B4-BE49-F238E27FC236}">
                  <a16:creationId xmlns:a16="http://schemas.microsoft.com/office/drawing/2014/main" id="{226367A3-BC7A-4DF9-8D7F-4DF639AF96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10200" y="914400"/>
              <a:ext cx="997177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6">
                      <a:lumMod val="50000"/>
                    </a:schemeClr>
                  </a:solidFill>
                  <a:latin typeface="+mn-lt"/>
                </a:rPr>
                <a:t>Index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B86DC5FD-6836-4D25-A241-FF84C85197BF}"/>
              </a:ext>
            </a:extLst>
          </p:cNvPr>
          <p:cNvGrpSpPr/>
          <p:nvPr/>
        </p:nvGrpSpPr>
        <p:grpSpPr>
          <a:xfrm>
            <a:off x="152400" y="2482850"/>
            <a:ext cx="8686800" cy="3568700"/>
            <a:chOff x="152400" y="2482850"/>
            <a:chExt cx="8686800" cy="3568700"/>
          </a:xfrm>
        </p:grpSpPr>
        <p:sp>
          <p:nvSpPr>
            <p:cNvPr id="87" name="Rectangle 12">
              <a:extLst>
                <a:ext uri="{FF2B5EF4-FFF2-40B4-BE49-F238E27FC236}">
                  <a16:creationId xmlns:a16="http://schemas.microsoft.com/office/drawing/2014/main" id="{7DB01CFC-F7DF-40C0-BA45-0DE3172D07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3276600"/>
              <a:ext cx="990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89" name="Rectangle 13">
              <a:extLst>
                <a:ext uri="{FF2B5EF4-FFF2-40B4-BE49-F238E27FC236}">
                  <a16:creationId xmlns:a16="http://schemas.microsoft.com/office/drawing/2014/main" id="{B8DCEAE1-E087-4A49-83D9-048A33B628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3276600"/>
              <a:ext cx="228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0</a:t>
              </a:r>
            </a:p>
          </p:txBody>
        </p:sp>
        <p:sp>
          <p:nvSpPr>
            <p:cNvPr id="90" name="Rectangle 14">
              <a:extLst>
                <a:ext uri="{FF2B5EF4-FFF2-40B4-BE49-F238E27FC236}">
                  <a16:creationId xmlns:a16="http://schemas.microsoft.com/office/drawing/2014/main" id="{D98392BF-221B-4474-B08B-2CA1A18563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32766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91" name="Rectangle 15">
              <a:extLst>
                <a:ext uri="{FF2B5EF4-FFF2-40B4-BE49-F238E27FC236}">
                  <a16:creationId xmlns:a16="http://schemas.microsoft.com/office/drawing/2014/main" id="{77129509-8B2D-4DAA-AB46-389B3A66B6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32766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92" name="Rectangle 16">
              <a:extLst>
                <a:ext uri="{FF2B5EF4-FFF2-40B4-BE49-F238E27FC236}">
                  <a16:creationId xmlns:a16="http://schemas.microsoft.com/office/drawing/2014/main" id="{79F8F813-9F73-4965-9083-136E98D0AE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32766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93" name="Rectangle 17">
              <a:extLst>
                <a:ext uri="{FF2B5EF4-FFF2-40B4-BE49-F238E27FC236}">
                  <a16:creationId xmlns:a16="http://schemas.microsoft.com/office/drawing/2014/main" id="{06CCEF57-E287-472D-8F45-1ECA79220D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2800" y="32766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94" name="Rectangle 18">
              <a:extLst>
                <a:ext uri="{FF2B5EF4-FFF2-40B4-BE49-F238E27FC236}">
                  <a16:creationId xmlns:a16="http://schemas.microsoft.com/office/drawing/2014/main" id="{6826A830-F5B6-4A8F-A17C-EF62BBD345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3581400"/>
              <a:ext cx="990600" cy="304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0</a:t>
              </a:r>
            </a:p>
          </p:txBody>
        </p:sp>
        <p:sp>
          <p:nvSpPr>
            <p:cNvPr id="95" name="Rectangle 19">
              <a:extLst>
                <a:ext uri="{FF2B5EF4-FFF2-40B4-BE49-F238E27FC236}">
                  <a16:creationId xmlns:a16="http://schemas.microsoft.com/office/drawing/2014/main" id="{D5859BA3-46BB-475D-9A80-91365302A7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3581400"/>
              <a:ext cx="228600" cy="304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1</a:t>
              </a:r>
            </a:p>
          </p:txBody>
        </p:sp>
        <p:sp>
          <p:nvSpPr>
            <p:cNvPr id="96" name="Rectangle 20">
              <a:extLst>
                <a:ext uri="{FF2B5EF4-FFF2-40B4-BE49-F238E27FC236}">
                  <a16:creationId xmlns:a16="http://schemas.microsoft.com/office/drawing/2014/main" id="{F4D5AFC3-B720-4994-8043-D446CCC169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3581400"/>
              <a:ext cx="1676400" cy="304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A</a:t>
              </a:r>
            </a:p>
          </p:txBody>
        </p:sp>
        <p:sp>
          <p:nvSpPr>
            <p:cNvPr id="97" name="Rectangle 21">
              <a:extLst>
                <a:ext uri="{FF2B5EF4-FFF2-40B4-BE49-F238E27FC236}">
                  <a16:creationId xmlns:a16="http://schemas.microsoft.com/office/drawing/2014/main" id="{F3DB8786-6C20-491C-83A3-90B2A212C6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3581400"/>
              <a:ext cx="1676400" cy="304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B</a:t>
              </a:r>
            </a:p>
          </p:txBody>
        </p:sp>
        <p:sp>
          <p:nvSpPr>
            <p:cNvPr id="98" name="Rectangle 22">
              <a:extLst>
                <a:ext uri="{FF2B5EF4-FFF2-40B4-BE49-F238E27FC236}">
                  <a16:creationId xmlns:a16="http://schemas.microsoft.com/office/drawing/2014/main" id="{FD926B1D-D091-42D2-B1C4-60D912CE7C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3581400"/>
              <a:ext cx="1676400" cy="304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C</a:t>
              </a:r>
            </a:p>
          </p:txBody>
        </p:sp>
        <p:sp>
          <p:nvSpPr>
            <p:cNvPr id="99" name="Rectangle 23">
              <a:extLst>
                <a:ext uri="{FF2B5EF4-FFF2-40B4-BE49-F238E27FC236}">
                  <a16:creationId xmlns:a16="http://schemas.microsoft.com/office/drawing/2014/main" id="{51F3EF8B-5B63-4FC2-9ACB-59B4E98656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2800" y="3581400"/>
              <a:ext cx="1676400" cy="304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D</a:t>
              </a:r>
            </a:p>
          </p:txBody>
        </p:sp>
        <p:sp>
          <p:nvSpPr>
            <p:cNvPr id="100" name="Rectangle 24">
              <a:extLst>
                <a:ext uri="{FF2B5EF4-FFF2-40B4-BE49-F238E27FC236}">
                  <a16:creationId xmlns:a16="http://schemas.microsoft.com/office/drawing/2014/main" id="{84C5F924-7304-4F70-A8FA-F084A790D8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3886200"/>
              <a:ext cx="990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01" name="Rectangle 25">
              <a:extLst>
                <a:ext uri="{FF2B5EF4-FFF2-40B4-BE49-F238E27FC236}">
                  <a16:creationId xmlns:a16="http://schemas.microsoft.com/office/drawing/2014/main" id="{5E7AF4C3-54CB-4D5E-BA80-9B907F9AE5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3886200"/>
              <a:ext cx="228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0</a:t>
              </a:r>
            </a:p>
          </p:txBody>
        </p:sp>
        <p:sp>
          <p:nvSpPr>
            <p:cNvPr id="102" name="Rectangle 26">
              <a:extLst>
                <a:ext uri="{FF2B5EF4-FFF2-40B4-BE49-F238E27FC236}">
                  <a16:creationId xmlns:a16="http://schemas.microsoft.com/office/drawing/2014/main" id="{8631D9BE-7ED8-40D3-A9C3-4F8DB0D93A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38862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16" name="Rectangle 27">
              <a:extLst>
                <a:ext uri="{FF2B5EF4-FFF2-40B4-BE49-F238E27FC236}">
                  <a16:creationId xmlns:a16="http://schemas.microsoft.com/office/drawing/2014/main" id="{7D84F504-64E4-4A2B-A295-B53F22EAA3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38862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83" name="Rectangle 28">
              <a:extLst>
                <a:ext uri="{FF2B5EF4-FFF2-40B4-BE49-F238E27FC236}">
                  <a16:creationId xmlns:a16="http://schemas.microsoft.com/office/drawing/2014/main" id="{76E25282-9BA2-48C8-A434-1FA71DFE92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38862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84" name="Rectangle 29">
              <a:extLst>
                <a:ext uri="{FF2B5EF4-FFF2-40B4-BE49-F238E27FC236}">
                  <a16:creationId xmlns:a16="http://schemas.microsoft.com/office/drawing/2014/main" id="{D2F5727C-E9A6-4D41-963F-74E8C92F83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2800" y="38862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85" name="Rectangle 30">
              <a:extLst>
                <a:ext uri="{FF2B5EF4-FFF2-40B4-BE49-F238E27FC236}">
                  <a16:creationId xmlns:a16="http://schemas.microsoft.com/office/drawing/2014/main" id="{A1439D59-C4AE-4631-AFF9-BC42ED6D67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4191000"/>
              <a:ext cx="990600" cy="3048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0</a:t>
              </a:r>
            </a:p>
          </p:txBody>
        </p:sp>
        <p:sp>
          <p:nvSpPr>
            <p:cNvPr id="186" name="Rectangle 31">
              <a:extLst>
                <a:ext uri="{FF2B5EF4-FFF2-40B4-BE49-F238E27FC236}">
                  <a16:creationId xmlns:a16="http://schemas.microsoft.com/office/drawing/2014/main" id="{6C4CA497-4776-4915-A20D-D5941DAD55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4191000"/>
              <a:ext cx="228600" cy="3048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1</a:t>
              </a:r>
            </a:p>
          </p:txBody>
        </p:sp>
        <p:sp>
          <p:nvSpPr>
            <p:cNvPr id="187" name="Rectangle 32">
              <a:extLst>
                <a:ext uri="{FF2B5EF4-FFF2-40B4-BE49-F238E27FC236}">
                  <a16:creationId xmlns:a16="http://schemas.microsoft.com/office/drawing/2014/main" id="{3AA6AF80-9D87-4D18-A03D-2BBF808FF1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4191000"/>
              <a:ext cx="1676400" cy="3048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I</a:t>
              </a:r>
            </a:p>
          </p:txBody>
        </p:sp>
        <p:sp>
          <p:nvSpPr>
            <p:cNvPr id="188" name="Rectangle 33">
              <a:extLst>
                <a:ext uri="{FF2B5EF4-FFF2-40B4-BE49-F238E27FC236}">
                  <a16:creationId xmlns:a16="http://schemas.microsoft.com/office/drawing/2014/main" id="{C9D01ABB-5DE8-42F9-9891-41B4974F1F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4191000"/>
              <a:ext cx="1676400" cy="3048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J</a:t>
              </a:r>
            </a:p>
          </p:txBody>
        </p:sp>
        <p:sp>
          <p:nvSpPr>
            <p:cNvPr id="189" name="Rectangle 34">
              <a:extLst>
                <a:ext uri="{FF2B5EF4-FFF2-40B4-BE49-F238E27FC236}">
                  <a16:creationId xmlns:a16="http://schemas.microsoft.com/office/drawing/2014/main" id="{557E9914-E8E3-461D-8878-BCC990689C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4191000"/>
              <a:ext cx="1676400" cy="3048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K</a:t>
              </a:r>
            </a:p>
          </p:txBody>
        </p:sp>
        <p:sp>
          <p:nvSpPr>
            <p:cNvPr id="190" name="Rectangle 35">
              <a:extLst>
                <a:ext uri="{FF2B5EF4-FFF2-40B4-BE49-F238E27FC236}">
                  <a16:creationId xmlns:a16="http://schemas.microsoft.com/office/drawing/2014/main" id="{61D9F16C-2E50-4229-B060-386D9318C5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2800" y="4191000"/>
              <a:ext cx="1676400" cy="3048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L</a:t>
              </a:r>
            </a:p>
          </p:txBody>
        </p:sp>
        <p:sp>
          <p:nvSpPr>
            <p:cNvPr id="191" name="Rectangle 36">
              <a:extLst>
                <a:ext uri="{FF2B5EF4-FFF2-40B4-BE49-F238E27FC236}">
                  <a16:creationId xmlns:a16="http://schemas.microsoft.com/office/drawing/2014/main" id="{2C348551-E197-4342-8A89-DE96E9082F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4495800"/>
              <a:ext cx="990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92" name="Rectangle 37">
              <a:extLst>
                <a:ext uri="{FF2B5EF4-FFF2-40B4-BE49-F238E27FC236}">
                  <a16:creationId xmlns:a16="http://schemas.microsoft.com/office/drawing/2014/main" id="{95DB980D-0C44-40ED-880B-BE8F61DC76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4495800"/>
              <a:ext cx="228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0</a:t>
              </a:r>
            </a:p>
          </p:txBody>
        </p:sp>
        <p:sp>
          <p:nvSpPr>
            <p:cNvPr id="193" name="Rectangle 38">
              <a:extLst>
                <a:ext uri="{FF2B5EF4-FFF2-40B4-BE49-F238E27FC236}">
                  <a16:creationId xmlns:a16="http://schemas.microsoft.com/office/drawing/2014/main" id="{66465765-B49B-4CCD-BCA5-B270F7C565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44958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94" name="Rectangle 39">
              <a:extLst>
                <a:ext uri="{FF2B5EF4-FFF2-40B4-BE49-F238E27FC236}">
                  <a16:creationId xmlns:a16="http://schemas.microsoft.com/office/drawing/2014/main" id="{A389D9B1-3153-40BD-B9CA-CBDDE18955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44958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95" name="Rectangle 40">
              <a:extLst>
                <a:ext uri="{FF2B5EF4-FFF2-40B4-BE49-F238E27FC236}">
                  <a16:creationId xmlns:a16="http://schemas.microsoft.com/office/drawing/2014/main" id="{D9E91D9A-A570-4B9A-9B1F-979B71E6FA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44958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96" name="Rectangle 41">
              <a:extLst>
                <a:ext uri="{FF2B5EF4-FFF2-40B4-BE49-F238E27FC236}">
                  <a16:creationId xmlns:a16="http://schemas.microsoft.com/office/drawing/2014/main" id="{2E16522C-36D5-421A-AEDA-F925E3C81F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2800" y="44958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97" name="Rectangle 42">
              <a:extLst>
                <a:ext uri="{FF2B5EF4-FFF2-40B4-BE49-F238E27FC236}">
                  <a16:creationId xmlns:a16="http://schemas.microsoft.com/office/drawing/2014/main" id="{00D6C020-0238-4BF5-B873-53184CA569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4800600"/>
              <a:ext cx="990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98" name="Rectangle 43">
              <a:extLst>
                <a:ext uri="{FF2B5EF4-FFF2-40B4-BE49-F238E27FC236}">
                  <a16:creationId xmlns:a16="http://schemas.microsoft.com/office/drawing/2014/main" id="{3AE664DB-E5FD-43AA-8B98-CCEDF06A69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4800600"/>
              <a:ext cx="228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0</a:t>
              </a:r>
            </a:p>
          </p:txBody>
        </p:sp>
        <p:sp>
          <p:nvSpPr>
            <p:cNvPr id="199" name="Rectangle 44">
              <a:extLst>
                <a:ext uri="{FF2B5EF4-FFF2-40B4-BE49-F238E27FC236}">
                  <a16:creationId xmlns:a16="http://schemas.microsoft.com/office/drawing/2014/main" id="{A35EE3E9-FC12-4B57-9531-CE8CEB342E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48006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00" name="Rectangle 45">
              <a:extLst>
                <a:ext uri="{FF2B5EF4-FFF2-40B4-BE49-F238E27FC236}">
                  <a16:creationId xmlns:a16="http://schemas.microsoft.com/office/drawing/2014/main" id="{8753CFC0-80CD-4094-9CD2-607D8D4155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48006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01" name="Rectangle 46">
              <a:extLst>
                <a:ext uri="{FF2B5EF4-FFF2-40B4-BE49-F238E27FC236}">
                  <a16:creationId xmlns:a16="http://schemas.microsoft.com/office/drawing/2014/main" id="{A3F5BD11-2CE3-4094-AEAB-AF4B3E84D5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48006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02" name="Rectangle 47">
              <a:extLst>
                <a:ext uri="{FF2B5EF4-FFF2-40B4-BE49-F238E27FC236}">
                  <a16:creationId xmlns:a16="http://schemas.microsoft.com/office/drawing/2014/main" id="{6AF50520-90FF-4FFF-8694-3D5F3EE0D9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2800" y="48006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03" name="Rectangle 48">
              <a:extLst>
                <a:ext uri="{FF2B5EF4-FFF2-40B4-BE49-F238E27FC236}">
                  <a16:creationId xmlns:a16="http://schemas.microsoft.com/office/drawing/2014/main" id="{D8CE9BCA-3A63-4072-AC5C-E15BD30E2C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5410200"/>
              <a:ext cx="990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04" name="Rectangle 49">
              <a:extLst>
                <a:ext uri="{FF2B5EF4-FFF2-40B4-BE49-F238E27FC236}">
                  <a16:creationId xmlns:a16="http://schemas.microsoft.com/office/drawing/2014/main" id="{8104CD71-9563-46EC-B4D3-E66BD678B4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5410200"/>
              <a:ext cx="228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0</a:t>
              </a:r>
            </a:p>
          </p:txBody>
        </p:sp>
        <p:sp>
          <p:nvSpPr>
            <p:cNvPr id="205" name="Rectangle 50">
              <a:extLst>
                <a:ext uri="{FF2B5EF4-FFF2-40B4-BE49-F238E27FC236}">
                  <a16:creationId xmlns:a16="http://schemas.microsoft.com/office/drawing/2014/main" id="{B2E9B1D5-1A0C-43C7-8A49-2F820C29F4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54102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06" name="Rectangle 51">
              <a:extLst>
                <a:ext uri="{FF2B5EF4-FFF2-40B4-BE49-F238E27FC236}">
                  <a16:creationId xmlns:a16="http://schemas.microsoft.com/office/drawing/2014/main" id="{ECA5EB9E-14EF-42D9-A455-C01DFCBB59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54102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07" name="Rectangle 52">
              <a:extLst>
                <a:ext uri="{FF2B5EF4-FFF2-40B4-BE49-F238E27FC236}">
                  <a16:creationId xmlns:a16="http://schemas.microsoft.com/office/drawing/2014/main" id="{6120DE07-115C-422B-A2D2-58B30578D1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54102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08" name="Rectangle 53">
              <a:extLst>
                <a:ext uri="{FF2B5EF4-FFF2-40B4-BE49-F238E27FC236}">
                  <a16:creationId xmlns:a16="http://schemas.microsoft.com/office/drawing/2014/main" id="{F648C58F-7E99-4B6D-8978-23AE7622D2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2800" y="54102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09" name="Rectangle 54">
              <a:extLst>
                <a:ext uri="{FF2B5EF4-FFF2-40B4-BE49-F238E27FC236}">
                  <a16:creationId xmlns:a16="http://schemas.microsoft.com/office/drawing/2014/main" id="{1D9AED89-1A8F-41A0-8B01-476BF6BF9D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5715000"/>
              <a:ext cx="990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10" name="Rectangle 55">
              <a:extLst>
                <a:ext uri="{FF2B5EF4-FFF2-40B4-BE49-F238E27FC236}">
                  <a16:creationId xmlns:a16="http://schemas.microsoft.com/office/drawing/2014/main" id="{CBD74B5F-2F5F-43E8-A0F5-BB9C83DD48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5715000"/>
              <a:ext cx="228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0</a:t>
              </a:r>
            </a:p>
          </p:txBody>
        </p:sp>
        <p:sp>
          <p:nvSpPr>
            <p:cNvPr id="211" name="Rectangle 56">
              <a:extLst>
                <a:ext uri="{FF2B5EF4-FFF2-40B4-BE49-F238E27FC236}">
                  <a16:creationId xmlns:a16="http://schemas.microsoft.com/office/drawing/2014/main" id="{CCA17176-0190-487E-A03B-DF92B8ACA0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57150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12" name="Rectangle 57">
              <a:extLst>
                <a:ext uri="{FF2B5EF4-FFF2-40B4-BE49-F238E27FC236}">
                  <a16:creationId xmlns:a16="http://schemas.microsoft.com/office/drawing/2014/main" id="{9B8BA583-207C-4DEC-99E3-2FE1D1670F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57150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13" name="Rectangle 58">
              <a:extLst>
                <a:ext uri="{FF2B5EF4-FFF2-40B4-BE49-F238E27FC236}">
                  <a16:creationId xmlns:a16="http://schemas.microsoft.com/office/drawing/2014/main" id="{2C7FC3A8-8131-4727-ADA9-6540131508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57150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14" name="Rectangle 59">
              <a:extLst>
                <a:ext uri="{FF2B5EF4-FFF2-40B4-BE49-F238E27FC236}">
                  <a16:creationId xmlns:a16="http://schemas.microsoft.com/office/drawing/2014/main" id="{45D258B3-7A47-407D-8686-71E77CF5D6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2800" y="57150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15" name="Text Box 60">
              <a:extLst>
                <a:ext uri="{FF2B5EF4-FFF2-40B4-BE49-F238E27FC236}">
                  <a16:creationId xmlns:a16="http://schemas.microsoft.com/office/drawing/2014/main" id="{463426D0-C900-4342-B6B5-11D5BDE988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6000" y="4960203"/>
              <a:ext cx="5029200" cy="73866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0" hangingPunct="0"/>
              <a:r>
                <a:rPr lang="en-US" sz="2400" b="1" dirty="0">
                  <a:latin typeface="+mn-lt"/>
                </a:rPr>
                <a:t>...    </a:t>
              </a:r>
              <a:r>
                <a:rPr lang="en-US" sz="2400" b="1" dirty="0"/>
                <a:t>...    ...    …   …   …   …   …</a:t>
              </a:r>
              <a:endParaRPr lang="en-US" sz="2400" dirty="0"/>
            </a:p>
            <a:p>
              <a:pPr eaLnBrk="0" hangingPunct="0"/>
              <a:endParaRPr lang="en-US" dirty="0"/>
            </a:p>
          </p:txBody>
        </p:sp>
        <p:sp>
          <p:nvSpPr>
            <p:cNvPr id="216" name="Text Box 61">
              <a:extLst>
                <a:ext uri="{FF2B5EF4-FFF2-40B4-BE49-F238E27FC236}">
                  <a16:creationId xmlns:a16="http://schemas.microsoft.com/office/drawing/2014/main" id="{D69291CC-D559-47A7-8E8C-9B02F88384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" y="3276600"/>
              <a:ext cx="307975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+mn-lt"/>
                </a:rPr>
                <a:t>0</a:t>
              </a:r>
            </a:p>
          </p:txBody>
        </p:sp>
        <p:sp>
          <p:nvSpPr>
            <p:cNvPr id="217" name="Text Box 62">
              <a:extLst>
                <a:ext uri="{FF2B5EF4-FFF2-40B4-BE49-F238E27FC236}">
                  <a16:creationId xmlns:a16="http://schemas.microsoft.com/office/drawing/2014/main" id="{7EFBB39C-7FCC-46C6-905F-6C99A86872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2273" y="3581400"/>
              <a:ext cx="298480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>
                  <a:latin typeface="+mn-lt"/>
                </a:rPr>
                <a:t>1</a:t>
              </a:r>
            </a:p>
          </p:txBody>
        </p:sp>
        <p:sp>
          <p:nvSpPr>
            <p:cNvPr id="218" name="Text Box 63">
              <a:extLst>
                <a:ext uri="{FF2B5EF4-FFF2-40B4-BE49-F238E27FC236}">
                  <a16:creationId xmlns:a16="http://schemas.microsoft.com/office/drawing/2014/main" id="{8093C03A-5B82-4221-BD8A-D078F94981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" y="3886200"/>
              <a:ext cx="307975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>
                  <a:latin typeface="+mn-lt"/>
                </a:rPr>
                <a:t>2</a:t>
              </a:r>
            </a:p>
          </p:txBody>
        </p:sp>
        <p:sp>
          <p:nvSpPr>
            <p:cNvPr id="219" name="Text Box 64">
              <a:extLst>
                <a:ext uri="{FF2B5EF4-FFF2-40B4-BE49-F238E27FC236}">
                  <a16:creationId xmlns:a16="http://schemas.microsoft.com/office/drawing/2014/main" id="{A2C29F96-2454-41DA-9B26-F787D5E64A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" y="4191000"/>
              <a:ext cx="307975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>
                  <a:latin typeface="+mn-lt"/>
                </a:rPr>
                <a:t>3</a:t>
              </a:r>
            </a:p>
          </p:txBody>
        </p:sp>
        <p:sp>
          <p:nvSpPr>
            <p:cNvPr id="220" name="Text Box 65">
              <a:extLst>
                <a:ext uri="{FF2B5EF4-FFF2-40B4-BE49-F238E27FC236}">
                  <a16:creationId xmlns:a16="http://schemas.microsoft.com/office/drawing/2014/main" id="{EF6654EC-787C-4848-9559-6E840F6017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" y="4495800"/>
              <a:ext cx="307975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>
                  <a:latin typeface="+mn-lt"/>
                </a:rPr>
                <a:t>4</a:t>
              </a:r>
            </a:p>
          </p:txBody>
        </p:sp>
        <p:sp>
          <p:nvSpPr>
            <p:cNvPr id="221" name="Text Box 66">
              <a:extLst>
                <a:ext uri="{FF2B5EF4-FFF2-40B4-BE49-F238E27FC236}">
                  <a16:creationId xmlns:a16="http://schemas.microsoft.com/office/drawing/2014/main" id="{7C8AE989-6C53-4280-813C-9F01AAA5EA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" y="4800600"/>
              <a:ext cx="307975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>
                  <a:latin typeface="+mn-lt"/>
                </a:rPr>
                <a:t>5</a:t>
              </a:r>
            </a:p>
          </p:txBody>
        </p:sp>
        <p:sp>
          <p:nvSpPr>
            <p:cNvPr id="222" name="Text Box 67">
              <a:extLst>
                <a:ext uri="{FF2B5EF4-FFF2-40B4-BE49-F238E27FC236}">
                  <a16:creationId xmlns:a16="http://schemas.microsoft.com/office/drawing/2014/main" id="{FB5E5C4D-ADD7-4B32-8EE1-89BDD7DD19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800" y="5410200"/>
              <a:ext cx="647700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>
                  <a:latin typeface="+mn-lt"/>
                </a:rPr>
                <a:t>1022</a:t>
              </a:r>
            </a:p>
          </p:txBody>
        </p:sp>
        <p:sp>
          <p:nvSpPr>
            <p:cNvPr id="223" name="Text Box 68">
              <a:extLst>
                <a:ext uri="{FF2B5EF4-FFF2-40B4-BE49-F238E27FC236}">
                  <a16:creationId xmlns:a16="http://schemas.microsoft.com/office/drawing/2014/main" id="{FDE10283-95DA-4E3D-A0BA-4688D4E7B5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800" y="5715000"/>
              <a:ext cx="647700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>
                  <a:latin typeface="+mn-lt"/>
                </a:rPr>
                <a:t>1023</a:t>
              </a:r>
            </a:p>
          </p:txBody>
        </p:sp>
        <p:sp>
          <p:nvSpPr>
            <p:cNvPr id="224" name="Text Box 69">
              <a:extLst>
                <a:ext uri="{FF2B5EF4-FFF2-40B4-BE49-F238E27FC236}">
                  <a16:creationId xmlns:a16="http://schemas.microsoft.com/office/drawing/2014/main" id="{D77255F9-0F93-4E80-AFBA-F6DB4E1DED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400" y="2971800"/>
              <a:ext cx="720069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latin typeface="+mn-lt"/>
                </a:rPr>
                <a:t>Index</a:t>
              </a:r>
            </a:p>
          </p:txBody>
        </p:sp>
        <p:sp>
          <p:nvSpPr>
            <p:cNvPr id="225" name="Text Box 70">
              <a:extLst>
                <a:ext uri="{FF2B5EF4-FFF2-40B4-BE49-F238E27FC236}">
                  <a16:creationId xmlns:a16="http://schemas.microsoft.com/office/drawing/2014/main" id="{6C6E4A95-18C8-4FEB-B693-F6C64577CE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6314" y="2971800"/>
              <a:ext cx="663836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latin typeface="+mn-lt"/>
                </a:rPr>
                <a:t>Valid</a:t>
              </a:r>
            </a:p>
          </p:txBody>
        </p:sp>
        <p:sp>
          <p:nvSpPr>
            <p:cNvPr id="226" name="Text Box 71">
              <a:extLst>
                <a:ext uri="{FF2B5EF4-FFF2-40B4-BE49-F238E27FC236}">
                  <a16:creationId xmlns:a16="http://schemas.microsoft.com/office/drawing/2014/main" id="{BD909583-44BB-40F6-B8BB-F1429E1434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7800" y="2971800"/>
              <a:ext cx="534988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latin typeface="+mn-lt"/>
                </a:rPr>
                <a:t>Tag</a:t>
              </a:r>
            </a:p>
          </p:txBody>
        </p:sp>
        <p:grpSp>
          <p:nvGrpSpPr>
            <p:cNvPr id="227" name="Group 226">
              <a:extLst>
                <a:ext uri="{FF2B5EF4-FFF2-40B4-BE49-F238E27FC236}">
                  <a16:creationId xmlns:a16="http://schemas.microsoft.com/office/drawing/2014/main" id="{513585D0-E055-46A0-BE26-8F0860954C93}"/>
                </a:ext>
              </a:extLst>
            </p:cNvPr>
            <p:cNvGrpSpPr/>
            <p:nvPr/>
          </p:nvGrpSpPr>
          <p:grpSpPr>
            <a:xfrm>
              <a:off x="2133600" y="2482850"/>
              <a:ext cx="6629400" cy="336550"/>
              <a:chOff x="2209800" y="2438400"/>
              <a:chExt cx="6629400" cy="336550"/>
            </a:xfrm>
          </p:grpSpPr>
          <p:sp>
            <p:nvSpPr>
              <p:cNvPr id="228" name="Text Box 72">
                <a:extLst>
                  <a:ext uri="{FF2B5EF4-FFF2-40B4-BE49-F238E27FC236}">
                    <a16:creationId xmlns:a16="http://schemas.microsoft.com/office/drawing/2014/main" id="{21ED1C2E-D58A-438E-A914-789B605B544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48200" y="2438400"/>
                <a:ext cx="635000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 dirty="0">
                    <a:latin typeface="+mn-lt"/>
                  </a:rPr>
                  <a:t>Data</a:t>
                </a:r>
              </a:p>
            </p:txBody>
          </p:sp>
          <p:sp>
            <p:nvSpPr>
              <p:cNvPr id="229" name="Line 73">
                <a:extLst>
                  <a:ext uri="{FF2B5EF4-FFF2-40B4-BE49-F238E27FC236}">
                    <a16:creationId xmlns:a16="http://schemas.microsoft.com/office/drawing/2014/main" id="{870432E5-0071-4339-ABD1-9A3ACF9F59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209800" y="2590800"/>
                <a:ext cx="24384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>
                <a:spAutoFit/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230" name="Line 74">
                <a:extLst>
                  <a:ext uri="{FF2B5EF4-FFF2-40B4-BE49-F238E27FC236}">
                    <a16:creationId xmlns:a16="http://schemas.microsoft.com/office/drawing/2014/main" id="{AD2A89F1-C959-485D-A27D-90B7488799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57800" y="2590800"/>
                <a:ext cx="35814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>
                <a:spAutoFit/>
              </a:bodyPr>
              <a:lstStyle/>
              <a:p>
                <a:endParaRPr lang="en-US">
                  <a:latin typeface="+mn-lt"/>
                </a:endParaRPr>
              </a:p>
            </p:txBody>
          </p:sp>
        </p:grpSp>
        <p:sp>
          <p:nvSpPr>
            <p:cNvPr id="231" name="Text Box 75">
              <a:extLst>
                <a:ext uri="{FF2B5EF4-FFF2-40B4-BE49-F238E27FC236}">
                  <a16:creationId xmlns:a16="http://schemas.microsoft.com/office/drawing/2014/main" id="{6CA55884-7FC8-41F1-8BCF-9E970DC44E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072" y="2743200"/>
              <a:ext cx="818942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latin typeface="+mn-lt"/>
                </a:rPr>
                <a:t>Word0</a:t>
              </a:r>
            </a:p>
          </p:txBody>
        </p:sp>
        <p:sp>
          <p:nvSpPr>
            <p:cNvPr id="232" name="Text Box 76">
              <a:extLst>
                <a:ext uri="{FF2B5EF4-FFF2-40B4-BE49-F238E27FC236}">
                  <a16:creationId xmlns:a16="http://schemas.microsoft.com/office/drawing/2014/main" id="{E1040994-3945-4413-8AAD-BA7762EF6A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0862" y="2743200"/>
              <a:ext cx="811213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latin typeface="+mn-lt"/>
                </a:rPr>
                <a:t>Word1</a:t>
              </a:r>
            </a:p>
          </p:txBody>
        </p:sp>
        <p:sp>
          <p:nvSpPr>
            <p:cNvPr id="233" name="Text Box 77">
              <a:extLst>
                <a:ext uri="{FF2B5EF4-FFF2-40B4-BE49-F238E27FC236}">
                  <a16:creationId xmlns:a16="http://schemas.microsoft.com/office/drawing/2014/main" id="{DFB75E1E-68E3-4B7E-B028-B111AF99CC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49272" y="2743200"/>
              <a:ext cx="818942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latin typeface="+mn-lt"/>
                </a:rPr>
                <a:t>Word2</a:t>
              </a:r>
            </a:p>
          </p:txBody>
        </p:sp>
        <p:sp>
          <p:nvSpPr>
            <p:cNvPr id="234" name="Text Box 78">
              <a:extLst>
                <a:ext uri="{FF2B5EF4-FFF2-40B4-BE49-F238E27FC236}">
                  <a16:creationId xmlns:a16="http://schemas.microsoft.com/office/drawing/2014/main" id="{B2BC71AA-A2D1-4DBC-B2C2-CF722F48DD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49472" y="2743200"/>
              <a:ext cx="818942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latin typeface="+mn-lt"/>
                </a:rPr>
                <a:t>Word3</a:t>
              </a:r>
            </a:p>
          </p:txBody>
        </p:sp>
        <p:sp>
          <p:nvSpPr>
            <p:cNvPr id="235" name="Text Box 79">
              <a:extLst>
                <a:ext uri="{FF2B5EF4-FFF2-40B4-BE49-F238E27FC236}">
                  <a16:creationId xmlns:a16="http://schemas.microsoft.com/office/drawing/2014/main" id="{D8682EFC-9622-49BC-B6A4-B30395A03C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8548" y="2971800"/>
              <a:ext cx="1051891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+mn-lt"/>
                </a:rPr>
                <a:t>Bytes 0-3</a:t>
              </a:r>
            </a:p>
          </p:txBody>
        </p:sp>
        <p:sp>
          <p:nvSpPr>
            <p:cNvPr id="236" name="Text Box 80">
              <a:extLst>
                <a:ext uri="{FF2B5EF4-FFF2-40B4-BE49-F238E27FC236}">
                  <a16:creationId xmlns:a16="http://schemas.microsoft.com/office/drawing/2014/main" id="{7B38301C-3B9A-4FAC-A899-61CF2A9A06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37348" y="2971800"/>
              <a:ext cx="1051891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+mn-lt"/>
                </a:rPr>
                <a:t>Bytes 4-7</a:t>
              </a:r>
            </a:p>
          </p:txBody>
        </p:sp>
        <p:sp>
          <p:nvSpPr>
            <p:cNvPr id="237" name="Text Box 81">
              <a:extLst>
                <a:ext uri="{FF2B5EF4-FFF2-40B4-BE49-F238E27FC236}">
                  <a16:creationId xmlns:a16="http://schemas.microsoft.com/office/drawing/2014/main" id="{B4B6B579-23AC-4607-A193-758CD3A881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48597" y="2971800"/>
              <a:ext cx="1150444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+mn-lt"/>
                </a:rPr>
                <a:t>Bytes 8-11</a:t>
              </a:r>
            </a:p>
          </p:txBody>
        </p:sp>
        <p:sp>
          <p:nvSpPr>
            <p:cNvPr id="238" name="Text Box 82">
              <a:extLst>
                <a:ext uri="{FF2B5EF4-FFF2-40B4-BE49-F238E27FC236}">
                  <a16:creationId xmlns:a16="http://schemas.microsoft.com/office/drawing/2014/main" id="{347EA6BB-E77E-46E9-9C40-2EBB51466C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46173" y="2971800"/>
              <a:ext cx="1279517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+mn-lt"/>
                </a:rPr>
                <a:t>Bytes 12-15</a:t>
              </a:r>
            </a:p>
          </p:txBody>
        </p:sp>
      </p:grpSp>
      <p:sp>
        <p:nvSpPr>
          <p:cNvPr id="88" name="Left Arrow 86">
            <a:extLst>
              <a:ext uri="{FF2B5EF4-FFF2-40B4-BE49-F238E27FC236}">
                <a16:creationId xmlns:a16="http://schemas.microsoft.com/office/drawing/2014/main" id="{84B58F2A-4772-4603-A146-C18F00E8DD7B}"/>
              </a:ext>
            </a:extLst>
          </p:cNvPr>
          <p:cNvSpPr/>
          <p:nvPr/>
        </p:nvSpPr>
        <p:spPr>
          <a:xfrm rot="5400000">
            <a:off x="3688930" y="1765717"/>
            <a:ext cx="228600" cy="304800"/>
          </a:xfrm>
          <a:prstGeom prst="leftArrow">
            <a:avLst/>
          </a:prstGeom>
          <a:solidFill>
            <a:srgbClr val="FF0000"/>
          </a:solidFill>
          <a:ln>
            <a:solidFill>
              <a:srgbClr val="66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CF240557-A374-434F-8396-414B6DAA8345}"/>
              </a:ext>
            </a:extLst>
          </p:cNvPr>
          <p:cNvSpPr/>
          <p:nvPr/>
        </p:nvSpPr>
        <p:spPr>
          <a:xfrm>
            <a:off x="1143000" y="3505200"/>
            <a:ext cx="990600" cy="457200"/>
          </a:xfrm>
          <a:prstGeom prst="ellipse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84404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" grpId="0" animBg="1"/>
      <p:bldP spid="103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5. Reading Data: </a:t>
            </a:r>
            <a:r>
              <a:rPr lang="en-GB" sz="3600" b="1" dirty="0">
                <a:solidFill>
                  <a:srgbClr val="0000FF"/>
                </a:solidFill>
              </a:rPr>
              <a:t>Load #4-3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#22: Cache I: Direct Mapped Cache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47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05" name="Content Placeholder 2">
            <a:extLst>
              <a:ext uri="{FF2B5EF4-FFF2-40B4-BE49-F238E27FC236}">
                <a16:creationId xmlns:a16="http://schemas.microsoft.com/office/drawing/2014/main" id="{F42D869D-777C-4A19-87AD-D73DCB7B3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788" y="1463676"/>
            <a:ext cx="8538411" cy="958849"/>
          </a:xfrm>
        </p:spPr>
        <p:txBody>
          <a:bodyPr>
            <a:normAutofit/>
          </a:bodyPr>
          <a:lstStyle/>
          <a:p>
            <a:pPr marL="265113" indent="-265113">
              <a:buSzPct val="100000"/>
              <a:buFont typeface="Wingdings" panose="05000000000000000000" pitchFamily="2" charset="2"/>
              <a:buChar char="§"/>
            </a:pPr>
            <a:r>
              <a:rPr lang="en-SG" sz="2400" dirty="0"/>
              <a:t>Load from</a:t>
            </a:r>
            <a:endParaRPr lang="en-SG" sz="2200" dirty="0"/>
          </a:p>
          <a:p>
            <a:pPr>
              <a:buNone/>
            </a:pPr>
            <a:r>
              <a:rPr lang="en-US" b="1" dirty="0"/>
              <a:t>Step 3</a:t>
            </a:r>
            <a:r>
              <a:rPr lang="en-US" dirty="0"/>
              <a:t>. </a:t>
            </a:r>
            <a:r>
              <a:rPr lang="en-US" sz="2200" dirty="0"/>
              <a:t>Replace block </a:t>
            </a:r>
            <a:r>
              <a:rPr lang="en-US" sz="2200" b="1" dirty="0"/>
              <a:t>1</a:t>
            </a:r>
            <a:r>
              <a:rPr lang="en-US" sz="2200" dirty="0"/>
              <a:t> with new data; Set </a:t>
            </a:r>
            <a:r>
              <a:rPr lang="en-US" sz="2200" b="1" dirty="0"/>
              <a:t>Tag</a:t>
            </a:r>
            <a:endParaRPr lang="en-SG" sz="2200" b="1" dirty="0">
              <a:solidFill>
                <a:srgbClr val="7030A0"/>
              </a:solidFill>
            </a:endParaRP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F79D12AF-480C-4552-88AA-23103501BE5B}"/>
              </a:ext>
            </a:extLst>
          </p:cNvPr>
          <p:cNvGrpSpPr/>
          <p:nvPr/>
        </p:nvGrpSpPr>
        <p:grpSpPr>
          <a:xfrm>
            <a:off x="2362201" y="1095376"/>
            <a:ext cx="5257799" cy="762000"/>
            <a:chOff x="2362201" y="914400"/>
            <a:chExt cx="5257799" cy="762000"/>
          </a:xfrm>
        </p:grpSpPr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3ADEB99F-7526-4800-93FB-68071C373046}"/>
                </a:ext>
              </a:extLst>
            </p:cNvPr>
            <p:cNvSpPr/>
            <p:nvPr/>
          </p:nvSpPr>
          <p:spPr>
            <a:xfrm>
              <a:off x="2362201" y="1295400"/>
              <a:ext cx="2743199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dirty="0">
                  <a:solidFill>
                    <a:srgbClr val="C00000"/>
                  </a:solidFill>
                </a:rPr>
                <a:t>000000000000000010</a:t>
              </a: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63F33081-71DE-4216-A404-17AFE49F1B46}"/>
                </a:ext>
              </a:extLst>
            </p:cNvPr>
            <p:cNvSpPr/>
            <p:nvPr/>
          </p:nvSpPr>
          <p:spPr>
            <a:xfrm>
              <a:off x="6705600" y="1295400"/>
              <a:ext cx="838200" cy="381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dirty="0">
                  <a:solidFill>
                    <a:srgbClr val="006600"/>
                  </a:solidFill>
                </a:rPr>
                <a:t>1000</a:t>
              </a:r>
            </a:p>
          </p:txBody>
        </p:sp>
        <p:sp>
          <p:nvSpPr>
            <p:cNvPr id="110" name="Text Box 75">
              <a:extLst>
                <a:ext uri="{FF2B5EF4-FFF2-40B4-BE49-F238E27FC236}">
                  <a16:creationId xmlns:a16="http://schemas.microsoft.com/office/drawing/2014/main" id="{1C436AB2-65A7-47B1-A984-D266382BA4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9000" y="914400"/>
              <a:ext cx="726226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C00000"/>
                  </a:solidFill>
                  <a:latin typeface="+mn-lt"/>
                </a:rPr>
                <a:t>Tag</a:t>
              </a:r>
            </a:p>
          </p:txBody>
        </p:sp>
        <p:sp>
          <p:nvSpPr>
            <p:cNvPr id="111" name="Text Box 75">
              <a:extLst>
                <a:ext uri="{FF2B5EF4-FFF2-40B4-BE49-F238E27FC236}">
                  <a16:creationId xmlns:a16="http://schemas.microsoft.com/office/drawing/2014/main" id="{B5D4DA04-2759-4E95-9345-23DD0EE458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53200" y="914400"/>
              <a:ext cx="1066800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006600"/>
                  </a:solidFill>
                  <a:latin typeface="+mn-lt"/>
                </a:rPr>
                <a:t>Offset</a:t>
              </a: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0BAEB268-7595-4B11-BE85-B7EF92481650}"/>
                </a:ext>
              </a:extLst>
            </p:cNvPr>
            <p:cNvSpPr/>
            <p:nvPr/>
          </p:nvSpPr>
          <p:spPr>
            <a:xfrm>
              <a:off x="5105400" y="1295400"/>
              <a:ext cx="1600200" cy="381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dirty="0">
                  <a:solidFill>
                    <a:schemeClr val="accent6">
                      <a:lumMod val="50000"/>
                    </a:schemeClr>
                  </a:solidFill>
                </a:rPr>
                <a:t>0000000001</a:t>
              </a:r>
            </a:p>
          </p:txBody>
        </p:sp>
        <p:sp>
          <p:nvSpPr>
            <p:cNvPr id="113" name="Text Box 75">
              <a:extLst>
                <a:ext uri="{FF2B5EF4-FFF2-40B4-BE49-F238E27FC236}">
                  <a16:creationId xmlns:a16="http://schemas.microsoft.com/office/drawing/2014/main" id="{226367A3-BC7A-4DF9-8D7F-4DF639AF96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10200" y="914400"/>
              <a:ext cx="997177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6">
                      <a:lumMod val="50000"/>
                    </a:schemeClr>
                  </a:solidFill>
                  <a:latin typeface="+mn-lt"/>
                </a:rPr>
                <a:t>Index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B86DC5FD-6836-4D25-A241-FF84C85197BF}"/>
              </a:ext>
            </a:extLst>
          </p:cNvPr>
          <p:cNvGrpSpPr/>
          <p:nvPr/>
        </p:nvGrpSpPr>
        <p:grpSpPr>
          <a:xfrm>
            <a:off x="152400" y="2482850"/>
            <a:ext cx="8686800" cy="3568700"/>
            <a:chOff x="152400" y="2482850"/>
            <a:chExt cx="8686800" cy="3568700"/>
          </a:xfrm>
        </p:grpSpPr>
        <p:sp>
          <p:nvSpPr>
            <p:cNvPr id="87" name="Rectangle 12">
              <a:extLst>
                <a:ext uri="{FF2B5EF4-FFF2-40B4-BE49-F238E27FC236}">
                  <a16:creationId xmlns:a16="http://schemas.microsoft.com/office/drawing/2014/main" id="{7DB01CFC-F7DF-40C0-BA45-0DE3172D07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3276600"/>
              <a:ext cx="990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89" name="Rectangle 13">
              <a:extLst>
                <a:ext uri="{FF2B5EF4-FFF2-40B4-BE49-F238E27FC236}">
                  <a16:creationId xmlns:a16="http://schemas.microsoft.com/office/drawing/2014/main" id="{B8DCEAE1-E087-4A49-83D9-048A33B628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3276600"/>
              <a:ext cx="228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0</a:t>
              </a:r>
            </a:p>
          </p:txBody>
        </p:sp>
        <p:sp>
          <p:nvSpPr>
            <p:cNvPr id="90" name="Rectangle 14">
              <a:extLst>
                <a:ext uri="{FF2B5EF4-FFF2-40B4-BE49-F238E27FC236}">
                  <a16:creationId xmlns:a16="http://schemas.microsoft.com/office/drawing/2014/main" id="{D98392BF-221B-4474-B08B-2CA1A18563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32766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91" name="Rectangle 15">
              <a:extLst>
                <a:ext uri="{FF2B5EF4-FFF2-40B4-BE49-F238E27FC236}">
                  <a16:creationId xmlns:a16="http://schemas.microsoft.com/office/drawing/2014/main" id="{77129509-8B2D-4DAA-AB46-389B3A66B6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32766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92" name="Rectangle 16">
              <a:extLst>
                <a:ext uri="{FF2B5EF4-FFF2-40B4-BE49-F238E27FC236}">
                  <a16:creationId xmlns:a16="http://schemas.microsoft.com/office/drawing/2014/main" id="{79F8F813-9F73-4965-9083-136E98D0AE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32766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93" name="Rectangle 17">
              <a:extLst>
                <a:ext uri="{FF2B5EF4-FFF2-40B4-BE49-F238E27FC236}">
                  <a16:creationId xmlns:a16="http://schemas.microsoft.com/office/drawing/2014/main" id="{06CCEF57-E287-472D-8F45-1ECA79220D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2800" y="32766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94" name="Rectangle 18">
              <a:extLst>
                <a:ext uri="{FF2B5EF4-FFF2-40B4-BE49-F238E27FC236}">
                  <a16:creationId xmlns:a16="http://schemas.microsoft.com/office/drawing/2014/main" id="{6826A830-F5B6-4A8F-A17C-EF62BBD345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3581400"/>
              <a:ext cx="990600" cy="3048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solidFill>
                    <a:srgbClr val="C00000"/>
                  </a:solidFill>
                  <a:latin typeface="+mn-lt"/>
                </a:rPr>
                <a:t>2</a:t>
              </a:r>
            </a:p>
          </p:txBody>
        </p:sp>
        <p:sp>
          <p:nvSpPr>
            <p:cNvPr id="95" name="Rectangle 19">
              <a:extLst>
                <a:ext uri="{FF2B5EF4-FFF2-40B4-BE49-F238E27FC236}">
                  <a16:creationId xmlns:a16="http://schemas.microsoft.com/office/drawing/2014/main" id="{D5859BA3-46BB-475D-9A80-91365302A7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3581400"/>
              <a:ext cx="228600" cy="304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1</a:t>
              </a:r>
            </a:p>
          </p:txBody>
        </p:sp>
        <p:sp>
          <p:nvSpPr>
            <p:cNvPr id="96" name="Rectangle 20">
              <a:extLst>
                <a:ext uri="{FF2B5EF4-FFF2-40B4-BE49-F238E27FC236}">
                  <a16:creationId xmlns:a16="http://schemas.microsoft.com/office/drawing/2014/main" id="{F4D5AFC3-B720-4994-8043-D446CCC169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3581400"/>
              <a:ext cx="1676400" cy="3048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solidFill>
                    <a:srgbClr val="C00000"/>
                  </a:solidFill>
                  <a:latin typeface="+mn-lt"/>
                </a:rPr>
                <a:t>E</a:t>
              </a:r>
            </a:p>
          </p:txBody>
        </p:sp>
        <p:sp>
          <p:nvSpPr>
            <p:cNvPr id="97" name="Rectangle 21">
              <a:extLst>
                <a:ext uri="{FF2B5EF4-FFF2-40B4-BE49-F238E27FC236}">
                  <a16:creationId xmlns:a16="http://schemas.microsoft.com/office/drawing/2014/main" id="{F3DB8786-6C20-491C-83A3-90B2A212C6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3581400"/>
              <a:ext cx="1676400" cy="3048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solidFill>
                    <a:srgbClr val="C00000"/>
                  </a:solidFill>
                  <a:latin typeface="+mn-lt"/>
                </a:rPr>
                <a:t>F</a:t>
              </a:r>
            </a:p>
          </p:txBody>
        </p:sp>
        <p:sp>
          <p:nvSpPr>
            <p:cNvPr id="98" name="Rectangle 22">
              <a:extLst>
                <a:ext uri="{FF2B5EF4-FFF2-40B4-BE49-F238E27FC236}">
                  <a16:creationId xmlns:a16="http://schemas.microsoft.com/office/drawing/2014/main" id="{FD926B1D-D091-42D2-B1C4-60D912CE7C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3581400"/>
              <a:ext cx="1676400" cy="3048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solidFill>
                    <a:srgbClr val="C00000"/>
                  </a:solidFill>
                  <a:latin typeface="+mn-lt"/>
                </a:rPr>
                <a:t>G</a:t>
              </a:r>
            </a:p>
          </p:txBody>
        </p:sp>
        <p:sp>
          <p:nvSpPr>
            <p:cNvPr id="99" name="Rectangle 23">
              <a:extLst>
                <a:ext uri="{FF2B5EF4-FFF2-40B4-BE49-F238E27FC236}">
                  <a16:creationId xmlns:a16="http://schemas.microsoft.com/office/drawing/2014/main" id="{51F3EF8B-5B63-4FC2-9ACB-59B4E98656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2800" y="3581400"/>
              <a:ext cx="1676400" cy="3048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solidFill>
                    <a:srgbClr val="C00000"/>
                  </a:solidFill>
                  <a:latin typeface="+mn-lt"/>
                </a:rPr>
                <a:t>H</a:t>
              </a:r>
            </a:p>
          </p:txBody>
        </p:sp>
        <p:sp>
          <p:nvSpPr>
            <p:cNvPr id="100" name="Rectangle 24">
              <a:extLst>
                <a:ext uri="{FF2B5EF4-FFF2-40B4-BE49-F238E27FC236}">
                  <a16:creationId xmlns:a16="http://schemas.microsoft.com/office/drawing/2014/main" id="{84C5F924-7304-4F70-A8FA-F084A790D8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3886200"/>
              <a:ext cx="990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01" name="Rectangle 25">
              <a:extLst>
                <a:ext uri="{FF2B5EF4-FFF2-40B4-BE49-F238E27FC236}">
                  <a16:creationId xmlns:a16="http://schemas.microsoft.com/office/drawing/2014/main" id="{5E7AF4C3-54CB-4D5E-BA80-9B907F9AE5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3886200"/>
              <a:ext cx="228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0</a:t>
              </a:r>
            </a:p>
          </p:txBody>
        </p:sp>
        <p:sp>
          <p:nvSpPr>
            <p:cNvPr id="102" name="Rectangle 26">
              <a:extLst>
                <a:ext uri="{FF2B5EF4-FFF2-40B4-BE49-F238E27FC236}">
                  <a16:creationId xmlns:a16="http://schemas.microsoft.com/office/drawing/2014/main" id="{8631D9BE-7ED8-40D3-A9C3-4F8DB0D93A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38862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16" name="Rectangle 27">
              <a:extLst>
                <a:ext uri="{FF2B5EF4-FFF2-40B4-BE49-F238E27FC236}">
                  <a16:creationId xmlns:a16="http://schemas.microsoft.com/office/drawing/2014/main" id="{7D84F504-64E4-4A2B-A295-B53F22EAA3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38862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83" name="Rectangle 28">
              <a:extLst>
                <a:ext uri="{FF2B5EF4-FFF2-40B4-BE49-F238E27FC236}">
                  <a16:creationId xmlns:a16="http://schemas.microsoft.com/office/drawing/2014/main" id="{76E25282-9BA2-48C8-A434-1FA71DFE92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38862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84" name="Rectangle 29">
              <a:extLst>
                <a:ext uri="{FF2B5EF4-FFF2-40B4-BE49-F238E27FC236}">
                  <a16:creationId xmlns:a16="http://schemas.microsoft.com/office/drawing/2014/main" id="{D2F5727C-E9A6-4D41-963F-74E8C92F83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2800" y="38862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85" name="Rectangle 30">
              <a:extLst>
                <a:ext uri="{FF2B5EF4-FFF2-40B4-BE49-F238E27FC236}">
                  <a16:creationId xmlns:a16="http://schemas.microsoft.com/office/drawing/2014/main" id="{A1439D59-C4AE-4631-AFF9-BC42ED6D67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4191000"/>
              <a:ext cx="990600" cy="3048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0</a:t>
              </a:r>
            </a:p>
          </p:txBody>
        </p:sp>
        <p:sp>
          <p:nvSpPr>
            <p:cNvPr id="186" name="Rectangle 31">
              <a:extLst>
                <a:ext uri="{FF2B5EF4-FFF2-40B4-BE49-F238E27FC236}">
                  <a16:creationId xmlns:a16="http://schemas.microsoft.com/office/drawing/2014/main" id="{6C4CA497-4776-4915-A20D-D5941DAD55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4191000"/>
              <a:ext cx="228600" cy="3048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1</a:t>
              </a:r>
            </a:p>
          </p:txBody>
        </p:sp>
        <p:sp>
          <p:nvSpPr>
            <p:cNvPr id="187" name="Rectangle 32">
              <a:extLst>
                <a:ext uri="{FF2B5EF4-FFF2-40B4-BE49-F238E27FC236}">
                  <a16:creationId xmlns:a16="http://schemas.microsoft.com/office/drawing/2014/main" id="{3AA6AF80-9D87-4D18-A03D-2BBF808FF1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4191000"/>
              <a:ext cx="1676400" cy="3048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I</a:t>
              </a:r>
            </a:p>
          </p:txBody>
        </p:sp>
        <p:sp>
          <p:nvSpPr>
            <p:cNvPr id="188" name="Rectangle 33">
              <a:extLst>
                <a:ext uri="{FF2B5EF4-FFF2-40B4-BE49-F238E27FC236}">
                  <a16:creationId xmlns:a16="http://schemas.microsoft.com/office/drawing/2014/main" id="{C9D01ABB-5DE8-42F9-9891-41B4974F1F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4191000"/>
              <a:ext cx="1676400" cy="3048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J</a:t>
              </a:r>
            </a:p>
          </p:txBody>
        </p:sp>
        <p:sp>
          <p:nvSpPr>
            <p:cNvPr id="189" name="Rectangle 34">
              <a:extLst>
                <a:ext uri="{FF2B5EF4-FFF2-40B4-BE49-F238E27FC236}">
                  <a16:creationId xmlns:a16="http://schemas.microsoft.com/office/drawing/2014/main" id="{557E9914-E8E3-461D-8878-BCC990689C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4191000"/>
              <a:ext cx="1676400" cy="3048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K</a:t>
              </a:r>
            </a:p>
          </p:txBody>
        </p:sp>
        <p:sp>
          <p:nvSpPr>
            <p:cNvPr id="190" name="Rectangle 35">
              <a:extLst>
                <a:ext uri="{FF2B5EF4-FFF2-40B4-BE49-F238E27FC236}">
                  <a16:creationId xmlns:a16="http://schemas.microsoft.com/office/drawing/2014/main" id="{61D9F16C-2E50-4229-B060-386D9318C5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2800" y="4191000"/>
              <a:ext cx="1676400" cy="3048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L</a:t>
              </a:r>
            </a:p>
          </p:txBody>
        </p:sp>
        <p:sp>
          <p:nvSpPr>
            <p:cNvPr id="191" name="Rectangle 36">
              <a:extLst>
                <a:ext uri="{FF2B5EF4-FFF2-40B4-BE49-F238E27FC236}">
                  <a16:creationId xmlns:a16="http://schemas.microsoft.com/office/drawing/2014/main" id="{2C348551-E197-4342-8A89-DE96E9082F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4495800"/>
              <a:ext cx="990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92" name="Rectangle 37">
              <a:extLst>
                <a:ext uri="{FF2B5EF4-FFF2-40B4-BE49-F238E27FC236}">
                  <a16:creationId xmlns:a16="http://schemas.microsoft.com/office/drawing/2014/main" id="{95DB980D-0C44-40ED-880B-BE8F61DC76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4495800"/>
              <a:ext cx="228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0</a:t>
              </a:r>
            </a:p>
          </p:txBody>
        </p:sp>
        <p:sp>
          <p:nvSpPr>
            <p:cNvPr id="193" name="Rectangle 38">
              <a:extLst>
                <a:ext uri="{FF2B5EF4-FFF2-40B4-BE49-F238E27FC236}">
                  <a16:creationId xmlns:a16="http://schemas.microsoft.com/office/drawing/2014/main" id="{66465765-B49B-4CCD-BCA5-B270F7C565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44958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94" name="Rectangle 39">
              <a:extLst>
                <a:ext uri="{FF2B5EF4-FFF2-40B4-BE49-F238E27FC236}">
                  <a16:creationId xmlns:a16="http://schemas.microsoft.com/office/drawing/2014/main" id="{A389D9B1-3153-40BD-B9CA-CBDDE18955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44958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95" name="Rectangle 40">
              <a:extLst>
                <a:ext uri="{FF2B5EF4-FFF2-40B4-BE49-F238E27FC236}">
                  <a16:creationId xmlns:a16="http://schemas.microsoft.com/office/drawing/2014/main" id="{D9E91D9A-A570-4B9A-9B1F-979B71E6FA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44958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96" name="Rectangle 41">
              <a:extLst>
                <a:ext uri="{FF2B5EF4-FFF2-40B4-BE49-F238E27FC236}">
                  <a16:creationId xmlns:a16="http://schemas.microsoft.com/office/drawing/2014/main" id="{2E16522C-36D5-421A-AEDA-F925E3C81F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2800" y="44958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97" name="Rectangle 42">
              <a:extLst>
                <a:ext uri="{FF2B5EF4-FFF2-40B4-BE49-F238E27FC236}">
                  <a16:creationId xmlns:a16="http://schemas.microsoft.com/office/drawing/2014/main" id="{00D6C020-0238-4BF5-B873-53184CA569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4800600"/>
              <a:ext cx="990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98" name="Rectangle 43">
              <a:extLst>
                <a:ext uri="{FF2B5EF4-FFF2-40B4-BE49-F238E27FC236}">
                  <a16:creationId xmlns:a16="http://schemas.microsoft.com/office/drawing/2014/main" id="{3AE664DB-E5FD-43AA-8B98-CCEDF06A69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4800600"/>
              <a:ext cx="228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0</a:t>
              </a:r>
            </a:p>
          </p:txBody>
        </p:sp>
        <p:sp>
          <p:nvSpPr>
            <p:cNvPr id="199" name="Rectangle 44">
              <a:extLst>
                <a:ext uri="{FF2B5EF4-FFF2-40B4-BE49-F238E27FC236}">
                  <a16:creationId xmlns:a16="http://schemas.microsoft.com/office/drawing/2014/main" id="{A35EE3E9-FC12-4B57-9531-CE8CEB342E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48006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00" name="Rectangle 45">
              <a:extLst>
                <a:ext uri="{FF2B5EF4-FFF2-40B4-BE49-F238E27FC236}">
                  <a16:creationId xmlns:a16="http://schemas.microsoft.com/office/drawing/2014/main" id="{8753CFC0-80CD-4094-9CD2-607D8D4155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48006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01" name="Rectangle 46">
              <a:extLst>
                <a:ext uri="{FF2B5EF4-FFF2-40B4-BE49-F238E27FC236}">
                  <a16:creationId xmlns:a16="http://schemas.microsoft.com/office/drawing/2014/main" id="{A3F5BD11-2CE3-4094-AEAB-AF4B3E84D5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48006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02" name="Rectangle 47">
              <a:extLst>
                <a:ext uri="{FF2B5EF4-FFF2-40B4-BE49-F238E27FC236}">
                  <a16:creationId xmlns:a16="http://schemas.microsoft.com/office/drawing/2014/main" id="{6AF50520-90FF-4FFF-8694-3D5F3EE0D9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2800" y="48006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03" name="Rectangle 48">
              <a:extLst>
                <a:ext uri="{FF2B5EF4-FFF2-40B4-BE49-F238E27FC236}">
                  <a16:creationId xmlns:a16="http://schemas.microsoft.com/office/drawing/2014/main" id="{D8CE9BCA-3A63-4072-AC5C-E15BD30E2C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5410200"/>
              <a:ext cx="990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04" name="Rectangle 49">
              <a:extLst>
                <a:ext uri="{FF2B5EF4-FFF2-40B4-BE49-F238E27FC236}">
                  <a16:creationId xmlns:a16="http://schemas.microsoft.com/office/drawing/2014/main" id="{8104CD71-9563-46EC-B4D3-E66BD678B4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5410200"/>
              <a:ext cx="228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0</a:t>
              </a:r>
            </a:p>
          </p:txBody>
        </p:sp>
        <p:sp>
          <p:nvSpPr>
            <p:cNvPr id="205" name="Rectangle 50">
              <a:extLst>
                <a:ext uri="{FF2B5EF4-FFF2-40B4-BE49-F238E27FC236}">
                  <a16:creationId xmlns:a16="http://schemas.microsoft.com/office/drawing/2014/main" id="{B2E9B1D5-1A0C-43C7-8A49-2F820C29F4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54102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06" name="Rectangle 51">
              <a:extLst>
                <a:ext uri="{FF2B5EF4-FFF2-40B4-BE49-F238E27FC236}">
                  <a16:creationId xmlns:a16="http://schemas.microsoft.com/office/drawing/2014/main" id="{ECA5EB9E-14EF-42D9-A455-C01DFCBB59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54102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07" name="Rectangle 52">
              <a:extLst>
                <a:ext uri="{FF2B5EF4-FFF2-40B4-BE49-F238E27FC236}">
                  <a16:creationId xmlns:a16="http://schemas.microsoft.com/office/drawing/2014/main" id="{6120DE07-115C-422B-A2D2-58B30578D1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54102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08" name="Rectangle 53">
              <a:extLst>
                <a:ext uri="{FF2B5EF4-FFF2-40B4-BE49-F238E27FC236}">
                  <a16:creationId xmlns:a16="http://schemas.microsoft.com/office/drawing/2014/main" id="{F648C58F-7E99-4B6D-8978-23AE7622D2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2800" y="54102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09" name="Rectangle 54">
              <a:extLst>
                <a:ext uri="{FF2B5EF4-FFF2-40B4-BE49-F238E27FC236}">
                  <a16:creationId xmlns:a16="http://schemas.microsoft.com/office/drawing/2014/main" id="{1D9AED89-1A8F-41A0-8B01-476BF6BF9D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5715000"/>
              <a:ext cx="990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10" name="Rectangle 55">
              <a:extLst>
                <a:ext uri="{FF2B5EF4-FFF2-40B4-BE49-F238E27FC236}">
                  <a16:creationId xmlns:a16="http://schemas.microsoft.com/office/drawing/2014/main" id="{CBD74B5F-2F5F-43E8-A0F5-BB9C83DD48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5715000"/>
              <a:ext cx="228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0</a:t>
              </a:r>
            </a:p>
          </p:txBody>
        </p:sp>
        <p:sp>
          <p:nvSpPr>
            <p:cNvPr id="211" name="Rectangle 56">
              <a:extLst>
                <a:ext uri="{FF2B5EF4-FFF2-40B4-BE49-F238E27FC236}">
                  <a16:creationId xmlns:a16="http://schemas.microsoft.com/office/drawing/2014/main" id="{CCA17176-0190-487E-A03B-DF92B8ACA0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57150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12" name="Rectangle 57">
              <a:extLst>
                <a:ext uri="{FF2B5EF4-FFF2-40B4-BE49-F238E27FC236}">
                  <a16:creationId xmlns:a16="http://schemas.microsoft.com/office/drawing/2014/main" id="{9B8BA583-207C-4DEC-99E3-2FE1D1670F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57150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13" name="Rectangle 58">
              <a:extLst>
                <a:ext uri="{FF2B5EF4-FFF2-40B4-BE49-F238E27FC236}">
                  <a16:creationId xmlns:a16="http://schemas.microsoft.com/office/drawing/2014/main" id="{2C7FC3A8-8131-4727-ADA9-6540131508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57150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14" name="Rectangle 59">
              <a:extLst>
                <a:ext uri="{FF2B5EF4-FFF2-40B4-BE49-F238E27FC236}">
                  <a16:creationId xmlns:a16="http://schemas.microsoft.com/office/drawing/2014/main" id="{45D258B3-7A47-407D-8686-71E77CF5D6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2800" y="57150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15" name="Text Box 60">
              <a:extLst>
                <a:ext uri="{FF2B5EF4-FFF2-40B4-BE49-F238E27FC236}">
                  <a16:creationId xmlns:a16="http://schemas.microsoft.com/office/drawing/2014/main" id="{463426D0-C900-4342-B6B5-11D5BDE988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6000" y="4960203"/>
              <a:ext cx="5029200" cy="73866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0" hangingPunct="0"/>
              <a:r>
                <a:rPr lang="en-US" sz="2400" b="1" dirty="0">
                  <a:latin typeface="+mn-lt"/>
                </a:rPr>
                <a:t>...    </a:t>
              </a:r>
              <a:r>
                <a:rPr lang="en-US" sz="2400" b="1" dirty="0"/>
                <a:t>...    ...    …   …   …   …   …</a:t>
              </a:r>
              <a:endParaRPr lang="en-US" sz="2400" dirty="0"/>
            </a:p>
            <a:p>
              <a:pPr eaLnBrk="0" hangingPunct="0"/>
              <a:endParaRPr lang="en-US" dirty="0"/>
            </a:p>
          </p:txBody>
        </p:sp>
        <p:sp>
          <p:nvSpPr>
            <p:cNvPr id="216" name="Text Box 61">
              <a:extLst>
                <a:ext uri="{FF2B5EF4-FFF2-40B4-BE49-F238E27FC236}">
                  <a16:creationId xmlns:a16="http://schemas.microsoft.com/office/drawing/2014/main" id="{D69291CC-D559-47A7-8E8C-9B02F88384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" y="3276600"/>
              <a:ext cx="307975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+mn-lt"/>
                </a:rPr>
                <a:t>0</a:t>
              </a:r>
            </a:p>
          </p:txBody>
        </p:sp>
        <p:sp>
          <p:nvSpPr>
            <p:cNvPr id="217" name="Text Box 62">
              <a:extLst>
                <a:ext uri="{FF2B5EF4-FFF2-40B4-BE49-F238E27FC236}">
                  <a16:creationId xmlns:a16="http://schemas.microsoft.com/office/drawing/2014/main" id="{7EFBB39C-7FCC-46C6-905F-6C99A86872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2273" y="3581400"/>
              <a:ext cx="298480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>
                  <a:latin typeface="+mn-lt"/>
                </a:rPr>
                <a:t>1</a:t>
              </a:r>
            </a:p>
          </p:txBody>
        </p:sp>
        <p:sp>
          <p:nvSpPr>
            <p:cNvPr id="218" name="Text Box 63">
              <a:extLst>
                <a:ext uri="{FF2B5EF4-FFF2-40B4-BE49-F238E27FC236}">
                  <a16:creationId xmlns:a16="http://schemas.microsoft.com/office/drawing/2014/main" id="{8093C03A-5B82-4221-BD8A-D078F94981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" y="3886200"/>
              <a:ext cx="307975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>
                  <a:latin typeface="+mn-lt"/>
                </a:rPr>
                <a:t>2</a:t>
              </a:r>
            </a:p>
          </p:txBody>
        </p:sp>
        <p:sp>
          <p:nvSpPr>
            <p:cNvPr id="219" name="Text Box 64">
              <a:extLst>
                <a:ext uri="{FF2B5EF4-FFF2-40B4-BE49-F238E27FC236}">
                  <a16:creationId xmlns:a16="http://schemas.microsoft.com/office/drawing/2014/main" id="{A2C29F96-2454-41DA-9B26-F787D5E64A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" y="4191000"/>
              <a:ext cx="307975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>
                  <a:latin typeface="+mn-lt"/>
                </a:rPr>
                <a:t>3</a:t>
              </a:r>
            </a:p>
          </p:txBody>
        </p:sp>
        <p:sp>
          <p:nvSpPr>
            <p:cNvPr id="220" name="Text Box 65">
              <a:extLst>
                <a:ext uri="{FF2B5EF4-FFF2-40B4-BE49-F238E27FC236}">
                  <a16:creationId xmlns:a16="http://schemas.microsoft.com/office/drawing/2014/main" id="{EF6654EC-787C-4848-9559-6E840F6017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" y="4495800"/>
              <a:ext cx="307975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>
                  <a:latin typeface="+mn-lt"/>
                </a:rPr>
                <a:t>4</a:t>
              </a:r>
            </a:p>
          </p:txBody>
        </p:sp>
        <p:sp>
          <p:nvSpPr>
            <p:cNvPr id="221" name="Text Box 66">
              <a:extLst>
                <a:ext uri="{FF2B5EF4-FFF2-40B4-BE49-F238E27FC236}">
                  <a16:creationId xmlns:a16="http://schemas.microsoft.com/office/drawing/2014/main" id="{7C8AE989-6C53-4280-813C-9F01AAA5EA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" y="4800600"/>
              <a:ext cx="307975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>
                  <a:latin typeface="+mn-lt"/>
                </a:rPr>
                <a:t>5</a:t>
              </a:r>
            </a:p>
          </p:txBody>
        </p:sp>
        <p:sp>
          <p:nvSpPr>
            <p:cNvPr id="222" name="Text Box 67">
              <a:extLst>
                <a:ext uri="{FF2B5EF4-FFF2-40B4-BE49-F238E27FC236}">
                  <a16:creationId xmlns:a16="http://schemas.microsoft.com/office/drawing/2014/main" id="{FB5E5C4D-ADD7-4B32-8EE1-89BDD7DD19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800" y="5410200"/>
              <a:ext cx="647700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>
                  <a:latin typeface="+mn-lt"/>
                </a:rPr>
                <a:t>1022</a:t>
              </a:r>
            </a:p>
          </p:txBody>
        </p:sp>
        <p:sp>
          <p:nvSpPr>
            <p:cNvPr id="223" name="Text Box 68">
              <a:extLst>
                <a:ext uri="{FF2B5EF4-FFF2-40B4-BE49-F238E27FC236}">
                  <a16:creationId xmlns:a16="http://schemas.microsoft.com/office/drawing/2014/main" id="{FDE10283-95DA-4E3D-A0BA-4688D4E7B5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800" y="5715000"/>
              <a:ext cx="647700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>
                  <a:latin typeface="+mn-lt"/>
                </a:rPr>
                <a:t>1023</a:t>
              </a:r>
            </a:p>
          </p:txBody>
        </p:sp>
        <p:sp>
          <p:nvSpPr>
            <p:cNvPr id="224" name="Text Box 69">
              <a:extLst>
                <a:ext uri="{FF2B5EF4-FFF2-40B4-BE49-F238E27FC236}">
                  <a16:creationId xmlns:a16="http://schemas.microsoft.com/office/drawing/2014/main" id="{D77255F9-0F93-4E80-AFBA-F6DB4E1DED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400" y="2971800"/>
              <a:ext cx="720069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latin typeface="+mn-lt"/>
                </a:rPr>
                <a:t>Index</a:t>
              </a:r>
            </a:p>
          </p:txBody>
        </p:sp>
        <p:sp>
          <p:nvSpPr>
            <p:cNvPr id="225" name="Text Box 70">
              <a:extLst>
                <a:ext uri="{FF2B5EF4-FFF2-40B4-BE49-F238E27FC236}">
                  <a16:creationId xmlns:a16="http://schemas.microsoft.com/office/drawing/2014/main" id="{6C6E4A95-18C8-4FEB-B693-F6C64577CE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6314" y="2971800"/>
              <a:ext cx="663836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latin typeface="+mn-lt"/>
                </a:rPr>
                <a:t>Valid</a:t>
              </a:r>
            </a:p>
          </p:txBody>
        </p:sp>
        <p:sp>
          <p:nvSpPr>
            <p:cNvPr id="226" name="Text Box 71">
              <a:extLst>
                <a:ext uri="{FF2B5EF4-FFF2-40B4-BE49-F238E27FC236}">
                  <a16:creationId xmlns:a16="http://schemas.microsoft.com/office/drawing/2014/main" id="{BD909583-44BB-40F6-B8BB-F1429E1434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7800" y="2971800"/>
              <a:ext cx="534988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latin typeface="+mn-lt"/>
                </a:rPr>
                <a:t>Tag</a:t>
              </a:r>
            </a:p>
          </p:txBody>
        </p:sp>
        <p:grpSp>
          <p:nvGrpSpPr>
            <p:cNvPr id="227" name="Group 226">
              <a:extLst>
                <a:ext uri="{FF2B5EF4-FFF2-40B4-BE49-F238E27FC236}">
                  <a16:creationId xmlns:a16="http://schemas.microsoft.com/office/drawing/2014/main" id="{513585D0-E055-46A0-BE26-8F0860954C93}"/>
                </a:ext>
              </a:extLst>
            </p:cNvPr>
            <p:cNvGrpSpPr/>
            <p:nvPr/>
          </p:nvGrpSpPr>
          <p:grpSpPr>
            <a:xfrm>
              <a:off x="2133600" y="2482850"/>
              <a:ext cx="6629400" cy="336550"/>
              <a:chOff x="2209800" y="2438400"/>
              <a:chExt cx="6629400" cy="336550"/>
            </a:xfrm>
          </p:grpSpPr>
          <p:sp>
            <p:nvSpPr>
              <p:cNvPr id="228" name="Text Box 72">
                <a:extLst>
                  <a:ext uri="{FF2B5EF4-FFF2-40B4-BE49-F238E27FC236}">
                    <a16:creationId xmlns:a16="http://schemas.microsoft.com/office/drawing/2014/main" id="{21ED1C2E-D58A-438E-A914-789B605B544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48200" y="2438400"/>
                <a:ext cx="635000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 dirty="0">
                    <a:latin typeface="+mn-lt"/>
                  </a:rPr>
                  <a:t>Data</a:t>
                </a:r>
              </a:p>
            </p:txBody>
          </p:sp>
          <p:sp>
            <p:nvSpPr>
              <p:cNvPr id="229" name="Line 73">
                <a:extLst>
                  <a:ext uri="{FF2B5EF4-FFF2-40B4-BE49-F238E27FC236}">
                    <a16:creationId xmlns:a16="http://schemas.microsoft.com/office/drawing/2014/main" id="{870432E5-0071-4339-ABD1-9A3ACF9F59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209800" y="2590800"/>
                <a:ext cx="24384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>
                <a:spAutoFit/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230" name="Line 74">
                <a:extLst>
                  <a:ext uri="{FF2B5EF4-FFF2-40B4-BE49-F238E27FC236}">
                    <a16:creationId xmlns:a16="http://schemas.microsoft.com/office/drawing/2014/main" id="{AD2A89F1-C959-485D-A27D-90B7488799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57800" y="2590800"/>
                <a:ext cx="35814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>
                <a:spAutoFit/>
              </a:bodyPr>
              <a:lstStyle/>
              <a:p>
                <a:endParaRPr lang="en-US">
                  <a:latin typeface="+mn-lt"/>
                </a:endParaRPr>
              </a:p>
            </p:txBody>
          </p:sp>
        </p:grpSp>
        <p:sp>
          <p:nvSpPr>
            <p:cNvPr id="231" name="Text Box 75">
              <a:extLst>
                <a:ext uri="{FF2B5EF4-FFF2-40B4-BE49-F238E27FC236}">
                  <a16:creationId xmlns:a16="http://schemas.microsoft.com/office/drawing/2014/main" id="{6CA55884-7FC8-41F1-8BCF-9E970DC44E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072" y="2743200"/>
              <a:ext cx="818942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latin typeface="+mn-lt"/>
                </a:rPr>
                <a:t>Word0</a:t>
              </a:r>
            </a:p>
          </p:txBody>
        </p:sp>
        <p:sp>
          <p:nvSpPr>
            <p:cNvPr id="232" name="Text Box 76">
              <a:extLst>
                <a:ext uri="{FF2B5EF4-FFF2-40B4-BE49-F238E27FC236}">
                  <a16:creationId xmlns:a16="http://schemas.microsoft.com/office/drawing/2014/main" id="{E1040994-3945-4413-8AAD-BA7762EF6A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0862" y="2743200"/>
              <a:ext cx="811213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latin typeface="+mn-lt"/>
                </a:rPr>
                <a:t>Word1</a:t>
              </a:r>
            </a:p>
          </p:txBody>
        </p:sp>
        <p:sp>
          <p:nvSpPr>
            <p:cNvPr id="233" name="Text Box 77">
              <a:extLst>
                <a:ext uri="{FF2B5EF4-FFF2-40B4-BE49-F238E27FC236}">
                  <a16:creationId xmlns:a16="http://schemas.microsoft.com/office/drawing/2014/main" id="{DFB75E1E-68E3-4B7E-B028-B111AF99CC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49272" y="2743200"/>
              <a:ext cx="818942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latin typeface="+mn-lt"/>
                </a:rPr>
                <a:t>Word2</a:t>
              </a:r>
            </a:p>
          </p:txBody>
        </p:sp>
        <p:sp>
          <p:nvSpPr>
            <p:cNvPr id="234" name="Text Box 78">
              <a:extLst>
                <a:ext uri="{FF2B5EF4-FFF2-40B4-BE49-F238E27FC236}">
                  <a16:creationId xmlns:a16="http://schemas.microsoft.com/office/drawing/2014/main" id="{B2BC71AA-A2D1-4DBC-B2C2-CF722F48DD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49472" y="2743200"/>
              <a:ext cx="818942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latin typeface="+mn-lt"/>
                </a:rPr>
                <a:t>Word3</a:t>
              </a:r>
            </a:p>
          </p:txBody>
        </p:sp>
        <p:sp>
          <p:nvSpPr>
            <p:cNvPr id="235" name="Text Box 79">
              <a:extLst>
                <a:ext uri="{FF2B5EF4-FFF2-40B4-BE49-F238E27FC236}">
                  <a16:creationId xmlns:a16="http://schemas.microsoft.com/office/drawing/2014/main" id="{D8682EFC-9622-49BC-B6A4-B30395A03C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8548" y="2971800"/>
              <a:ext cx="1051891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+mn-lt"/>
                </a:rPr>
                <a:t>Bytes 0-3</a:t>
              </a:r>
            </a:p>
          </p:txBody>
        </p:sp>
        <p:sp>
          <p:nvSpPr>
            <p:cNvPr id="236" name="Text Box 80">
              <a:extLst>
                <a:ext uri="{FF2B5EF4-FFF2-40B4-BE49-F238E27FC236}">
                  <a16:creationId xmlns:a16="http://schemas.microsoft.com/office/drawing/2014/main" id="{7B38301C-3B9A-4FAC-A899-61CF2A9A06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37348" y="2971800"/>
              <a:ext cx="1051891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+mn-lt"/>
                </a:rPr>
                <a:t>Bytes 4-7</a:t>
              </a:r>
            </a:p>
          </p:txBody>
        </p:sp>
        <p:sp>
          <p:nvSpPr>
            <p:cNvPr id="237" name="Text Box 81">
              <a:extLst>
                <a:ext uri="{FF2B5EF4-FFF2-40B4-BE49-F238E27FC236}">
                  <a16:creationId xmlns:a16="http://schemas.microsoft.com/office/drawing/2014/main" id="{B4B6B579-23AC-4607-A193-758CD3A881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48597" y="2971800"/>
              <a:ext cx="1150444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+mn-lt"/>
                </a:rPr>
                <a:t>Bytes 8-11</a:t>
              </a:r>
            </a:p>
          </p:txBody>
        </p:sp>
        <p:sp>
          <p:nvSpPr>
            <p:cNvPr id="238" name="Text Box 82">
              <a:extLst>
                <a:ext uri="{FF2B5EF4-FFF2-40B4-BE49-F238E27FC236}">
                  <a16:creationId xmlns:a16="http://schemas.microsoft.com/office/drawing/2014/main" id="{347EA6BB-E77E-46E9-9C40-2EBB51466C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46173" y="2971800"/>
              <a:ext cx="1279517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+mn-lt"/>
                </a:rPr>
                <a:t>Bytes 12-15</a:t>
              </a:r>
            </a:p>
          </p:txBody>
        </p:sp>
      </p:grp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2CA7868A-2B8E-4487-88AC-0819D5A03997}"/>
              </a:ext>
            </a:extLst>
          </p:cNvPr>
          <p:cNvCxnSpPr/>
          <p:nvPr/>
        </p:nvCxnSpPr>
        <p:spPr>
          <a:xfrm flipH="1">
            <a:off x="1828800" y="1857376"/>
            <a:ext cx="1720516" cy="184835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7044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5. Reading Data: </a:t>
            </a:r>
            <a:r>
              <a:rPr lang="en-GB" sz="3600" b="1" dirty="0">
                <a:solidFill>
                  <a:srgbClr val="0000FF"/>
                </a:solidFill>
              </a:rPr>
              <a:t>Load #4-4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#22: Cache I: Direct Mapped Cache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48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05" name="Content Placeholder 2">
            <a:extLst>
              <a:ext uri="{FF2B5EF4-FFF2-40B4-BE49-F238E27FC236}">
                <a16:creationId xmlns:a16="http://schemas.microsoft.com/office/drawing/2014/main" id="{F42D869D-777C-4A19-87AD-D73DCB7B3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788" y="1463676"/>
            <a:ext cx="8538411" cy="958849"/>
          </a:xfrm>
        </p:spPr>
        <p:txBody>
          <a:bodyPr>
            <a:normAutofit/>
          </a:bodyPr>
          <a:lstStyle/>
          <a:p>
            <a:pPr marL="265113" indent="-265113">
              <a:buSzPct val="100000"/>
              <a:buFont typeface="Wingdings" panose="05000000000000000000" pitchFamily="2" charset="2"/>
              <a:buChar char="§"/>
            </a:pPr>
            <a:r>
              <a:rPr lang="en-SG" sz="2400" dirty="0"/>
              <a:t>Load from</a:t>
            </a:r>
            <a:endParaRPr lang="en-SG" sz="2200" dirty="0"/>
          </a:p>
          <a:p>
            <a:pPr>
              <a:buNone/>
            </a:pPr>
            <a:r>
              <a:rPr lang="en-US" b="1" dirty="0"/>
              <a:t>Step 4</a:t>
            </a:r>
            <a:r>
              <a:rPr lang="en-US" dirty="0"/>
              <a:t>. </a:t>
            </a:r>
            <a:r>
              <a:rPr lang="en-US" sz="2200" dirty="0"/>
              <a:t>Return </a:t>
            </a:r>
            <a:r>
              <a:rPr lang="en-US" sz="2200" b="1" dirty="0"/>
              <a:t>Word2</a:t>
            </a:r>
            <a:r>
              <a:rPr lang="en-US" sz="2200" dirty="0"/>
              <a:t> (byte offset = 8) to Register</a:t>
            </a:r>
            <a:endParaRPr lang="en-SG" sz="2200" b="1" dirty="0">
              <a:solidFill>
                <a:srgbClr val="7030A0"/>
              </a:solidFill>
            </a:endParaRP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F79D12AF-480C-4552-88AA-23103501BE5B}"/>
              </a:ext>
            </a:extLst>
          </p:cNvPr>
          <p:cNvGrpSpPr/>
          <p:nvPr/>
        </p:nvGrpSpPr>
        <p:grpSpPr>
          <a:xfrm>
            <a:off x="2362201" y="1095376"/>
            <a:ext cx="5257799" cy="762000"/>
            <a:chOff x="2362201" y="914400"/>
            <a:chExt cx="5257799" cy="762000"/>
          </a:xfrm>
        </p:grpSpPr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3ADEB99F-7526-4800-93FB-68071C373046}"/>
                </a:ext>
              </a:extLst>
            </p:cNvPr>
            <p:cNvSpPr/>
            <p:nvPr/>
          </p:nvSpPr>
          <p:spPr>
            <a:xfrm>
              <a:off x="2362201" y="1295400"/>
              <a:ext cx="2743199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dirty="0">
                  <a:solidFill>
                    <a:srgbClr val="C00000"/>
                  </a:solidFill>
                </a:rPr>
                <a:t>000000000000000010</a:t>
              </a: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63F33081-71DE-4216-A404-17AFE49F1B46}"/>
                </a:ext>
              </a:extLst>
            </p:cNvPr>
            <p:cNvSpPr/>
            <p:nvPr/>
          </p:nvSpPr>
          <p:spPr>
            <a:xfrm>
              <a:off x="6705600" y="1295400"/>
              <a:ext cx="838200" cy="381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dirty="0">
                  <a:solidFill>
                    <a:srgbClr val="006600"/>
                  </a:solidFill>
                </a:rPr>
                <a:t>1000</a:t>
              </a:r>
            </a:p>
          </p:txBody>
        </p:sp>
        <p:sp>
          <p:nvSpPr>
            <p:cNvPr id="110" name="Text Box 75">
              <a:extLst>
                <a:ext uri="{FF2B5EF4-FFF2-40B4-BE49-F238E27FC236}">
                  <a16:creationId xmlns:a16="http://schemas.microsoft.com/office/drawing/2014/main" id="{1C436AB2-65A7-47B1-A984-D266382BA4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9000" y="914400"/>
              <a:ext cx="726226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C00000"/>
                  </a:solidFill>
                  <a:latin typeface="+mn-lt"/>
                </a:rPr>
                <a:t>Tag</a:t>
              </a:r>
            </a:p>
          </p:txBody>
        </p:sp>
        <p:sp>
          <p:nvSpPr>
            <p:cNvPr id="111" name="Text Box 75">
              <a:extLst>
                <a:ext uri="{FF2B5EF4-FFF2-40B4-BE49-F238E27FC236}">
                  <a16:creationId xmlns:a16="http://schemas.microsoft.com/office/drawing/2014/main" id="{B5D4DA04-2759-4E95-9345-23DD0EE458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53200" y="914400"/>
              <a:ext cx="1066800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006600"/>
                  </a:solidFill>
                  <a:latin typeface="+mn-lt"/>
                </a:rPr>
                <a:t>Offset</a:t>
              </a: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0BAEB268-7595-4B11-BE85-B7EF92481650}"/>
                </a:ext>
              </a:extLst>
            </p:cNvPr>
            <p:cNvSpPr/>
            <p:nvPr/>
          </p:nvSpPr>
          <p:spPr>
            <a:xfrm>
              <a:off x="5105400" y="1295400"/>
              <a:ext cx="1600200" cy="381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dirty="0">
                  <a:solidFill>
                    <a:schemeClr val="accent6">
                      <a:lumMod val="50000"/>
                    </a:schemeClr>
                  </a:solidFill>
                </a:rPr>
                <a:t>0000000001</a:t>
              </a:r>
            </a:p>
          </p:txBody>
        </p:sp>
        <p:sp>
          <p:nvSpPr>
            <p:cNvPr id="113" name="Text Box 75">
              <a:extLst>
                <a:ext uri="{FF2B5EF4-FFF2-40B4-BE49-F238E27FC236}">
                  <a16:creationId xmlns:a16="http://schemas.microsoft.com/office/drawing/2014/main" id="{226367A3-BC7A-4DF9-8D7F-4DF639AF96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10200" y="914400"/>
              <a:ext cx="997177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6">
                      <a:lumMod val="50000"/>
                    </a:schemeClr>
                  </a:solidFill>
                  <a:latin typeface="+mn-lt"/>
                </a:rPr>
                <a:t>Index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B86DC5FD-6836-4D25-A241-FF84C85197BF}"/>
              </a:ext>
            </a:extLst>
          </p:cNvPr>
          <p:cNvGrpSpPr/>
          <p:nvPr/>
        </p:nvGrpSpPr>
        <p:grpSpPr>
          <a:xfrm>
            <a:off x="152400" y="2482850"/>
            <a:ext cx="8686800" cy="3568700"/>
            <a:chOff x="152400" y="2482850"/>
            <a:chExt cx="8686800" cy="3568700"/>
          </a:xfrm>
        </p:grpSpPr>
        <p:sp>
          <p:nvSpPr>
            <p:cNvPr id="87" name="Rectangle 12">
              <a:extLst>
                <a:ext uri="{FF2B5EF4-FFF2-40B4-BE49-F238E27FC236}">
                  <a16:creationId xmlns:a16="http://schemas.microsoft.com/office/drawing/2014/main" id="{7DB01CFC-F7DF-40C0-BA45-0DE3172D07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3276600"/>
              <a:ext cx="990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89" name="Rectangle 13">
              <a:extLst>
                <a:ext uri="{FF2B5EF4-FFF2-40B4-BE49-F238E27FC236}">
                  <a16:creationId xmlns:a16="http://schemas.microsoft.com/office/drawing/2014/main" id="{B8DCEAE1-E087-4A49-83D9-048A33B628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3276600"/>
              <a:ext cx="228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0</a:t>
              </a:r>
            </a:p>
          </p:txBody>
        </p:sp>
        <p:sp>
          <p:nvSpPr>
            <p:cNvPr id="90" name="Rectangle 14">
              <a:extLst>
                <a:ext uri="{FF2B5EF4-FFF2-40B4-BE49-F238E27FC236}">
                  <a16:creationId xmlns:a16="http://schemas.microsoft.com/office/drawing/2014/main" id="{D98392BF-221B-4474-B08B-2CA1A18563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32766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91" name="Rectangle 15">
              <a:extLst>
                <a:ext uri="{FF2B5EF4-FFF2-40B4-BE49-F238E27FC236}">
                  <a16:creationId xmlns:a16="http://schemas.microsoft.com/office/drawing/2014/main" id="{77129509-8B2D-4DAA-AB46-389B3A66B6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32766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92" name="Rectangle 16">
              <a:extLst>
                <a:ext uri="{FF2B5EF4-FFF2-40B4-BE49-F238E27FC236}">
                  <a16:creationId xmlns:a16="http://schemas.microsoft.com/office/drawing/2014/main" id="{79F8F813-9F73-4965-9083-136E98D0AE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32766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93" name="Rectangle 17">
              <a:extLst>
                <a:ext uri="{FF2B5EF4-FFF2-40B4-BE49-F238E27FC236}">
                  <a16:creationId xmlns:a16="http://schemas.microsoft.com/office/drawing/2014/main" id="{06CCEF57-E287-472D-8F45-1ECA79220D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2800" y="32766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94" name="Rectangle 18">
              <a:extLst>
                <a:ext uri="{FF2B5EF4-FFF2-40B4-BE49-F238E27FC236}">
                  <a16:creationId xmlns:a16="http://schemas.microsoft.com/office/drawing/2014/main" id="{6826A830-F5B6-4A8F-A17C-EF62BBD345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3581400"/>
              <a:ext cx="990600" cy="3048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2</a:t>
              </a:r>
            </a:p>
          </p:txBody>
        </p:sp>
        <p:sp>
          <p:nvSpPr>
            <p:cNvPr id="95" name="Rectangle 19">
              <a:extLst>
                <a:ext uri="{FF2B5EF4-FFF2-40B4-BE49-F238E27FC236}">
                  <a16:creationId xmlns:a16="http://schemas.microsoft.com/office/drawing/2014/main" id="{D5859BA3-46BB-475D-9A80-91365302A7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3581400"/>
              <a:ext cx="228600" cy="304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1</a:t>
              </a:r>
            </a:p>
          </p:txBody>
        </p:sp>
        <p:sp>
          <p:nvSpPr>
            <p:cNvPr id="96" name="Rectangle 20">
              <a:extLst>
                <a:ext uri="{FF2B5EF4-FFF2-40B4-BE49-F238E27FC236}">
                  <a16:creationId xmlns:a16="http://schemas.microsoft.com/office/drawing/2014/main" id="{F4D5AFC3-B720-4994-8043-D446CCC169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3581400"/>
              <a:ext cx="1676400" cy="3048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E</a:t>
              </a:r>
            </a:p>
          </p:txBody>
        </p:sp>
        <p:sp>
          <p:nvSpPr>
            <p:cNvPr id="97" name="Rectangle 21">
              <a:extLst>
                <a:ext uri="{FF2B5EF4-FFF2-40B4-BE49-F238E27FC236}">
                  <a16:creationId xmlns:a16="http://schemas.microsoft.com/office/drawing/2014/main" id="{F3DB8786-6C20-491C-83A3-90B2A212C6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3581400"/>
              <a:ext cx="1676400" cy="3048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F</a:t>
              </a:r>
            </a:p>
          </p:txBody>
        </p:sp>
        <p:sp>
          <p:nvSpPr>
            <p:cNvPr id="98" name="Rectangle 22">
              <a:extLst>
                <a:ext uri="{FF2B5EF4-FFF2-40B4-BE49-F238E27FC236}">
                  <a16:creationId xmlns:a16="http://schemas.microsoft.com/office/drawing/2014/main" id="{FD926B1D-D091-42D2-B1C4-60D912CE7C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3581400"/>
              <a:ext cx="1676400" cy="3048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G</a:t>
              </a:r>
            </a:p>
          </p:txBody>
        </p:sp>
        <p:sp>
          <p:nvSpPr>
            <p:cNvPr id="99" name="Rectangle 23">
              <a:extLst>
                <a:ext uri="{FF2B5EF4-FFF2-40B4-BE49-F238E27FC236}">
                  <a16:creationId xmlns:a16="http://schemas.microsoft.com/office/drawing/2014/main" id="{51F3EF8B-5B63-4FC2-9ACB-59B4E98656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2800" y="3581400"/>
              <a:ext cx="1676400" cy="3048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H</a:t>
              </a:r>
            </a:p>
          </p:txBody>
        </p:sp>
        <p:sp>
          <p:nvSpPr>
            <p:cNvPr id="100" name="Rectangle 24">
              <a:extLst>
                <a:ext uri="{FF2B5EF4-FFF2-40B4-BE49-F238E27FC236}">
                  <a16:creationId xmlns:a16="http://schemas.microsoft.com/office/drawing/2014/main" id="{84C5F924-7304-4F70-A8FA-F084A790D8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3886200"/>
              <a:ext cx="990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01" name="Rectangle 25">
              <a:extLst>
                <a:ext uri="{FF2B5EF4-FFF2-40B4-BE49-F238E27FC236}">
                  <a16:creationId xmlns:a16="http://schemas.microsoft.com/office/drawing/2014/main" id="{5E7AF4C3-54CB-4D5E-BA80-9B907F9AE5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3886200"/>
              <a:ext cx="228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0</a:t>
              </a:r>
            </a:p>
          </p:txBody>
        </p:sp>
        <p:sp>
          <p:nvSpPr>
            <p:cNvPr id="102" name="Rectangle 26">
              <a:extLst>
                <a:ext uri="{FF2B5EF4-FFF2-40B4-BE49-F238E27FC236}">
                  <a16:creationId xmlns:a16="http://schemas.microsoft.com/office/drawing/2014/main" id="{8631D9BE-7ED8-40D3-A9C3-4F8DB0D93A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38862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16" name="Rectangle 27">
              <a:extLst>
                <a:ext uri="{FF2B5EF4-FFF2-40B4-BE49-F238E27FC236}">
                  <a16:creationId xmlns:a16="http://schemas.microsoft.com/office/drawing/2014/main" id="{7D84F504-64E4-4A2B-A295-B53F22EAA3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38862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83" name="Rectangle 28">
              <a:extLst>
                <a:ext uri="{FF2B5EF4-FFF2-40B4-BE49-F238E27FC236}">
                  <a16:creationId xmlns:a16="http://schemas.microsoft.com/office/drawing/2014/main" id="{76E25282-9BA2-48C8-A434-1FA71DFE92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38862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84" name="Rectangle 29">
              <a:extLst>
                <a:ext uri="{FF2B5EF4-FFF2-40B4-BE49-F238E27FC236}">
                  <a16:creationId xmlns:a16="http://schemas.microsoft.com/office/drawing/2014/main" id="{D2F5727C-E9A6-4D41-963F-74E8C92F83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2800" y="38862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85" name="Rectangle 30">
              <a:extLst>
                <a:ext uri="{FF2B5EF4-FFF2-40B4-BE49-F238E27FC236}">
                  <a16:creationId xmlns:a16="http://schemas.microsoft.com/office/drawing/2014/main" id="{A1439D59-C4AE-4631-AFF9-BC42ED6D67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4191000"/>
              <a:ext cx="990600" cy="3048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0</a:t>
              </a:r>
            </a:p>
          </p:txBody>
        </p:sp>
        <p:sp>
          <p:nvSpPr>
            <p:cNvPr id="186" name="Rectangle 31">
              <a:extLst>
                <a:ext uri="{FF2B5EF4-FFF2-40B4-BE49-F238E27FC236}">
                  <a16:creationId xmlns:a16="http://schemas.microsoft.com/office/drawing/2014/main" id="{6C4CA497-4776-4915-A20D-D5941DAD55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4191000"/>
              <a:ext cx="228600" cy="3048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1</a:t>
              </a:r>
            </a:p>
          </p:txBody>
        </p:sp>
        <p:sp>
          <p:nvSpPr>
            <p:cNvPr id="187" name="Rectangle 32">
              <a:extLst>
                <a:ext uri="{FF2B5EF4-FFF2-40B4-BE49-F238E27FC236}">
                  <a16:creationId xmlns:a16="http://schemas.microsoft.com/office/drawing/2014/main" id="{3AA6AF80-9D87-4D18-A03D-2BBF808FF1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4191000"/>
              <a:ext cx="1676400" cy="3048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I</a:t>
              </a:r>
            </a:p>
          </p:txBody>
        </p:sp>
        <p:sp>
          <p:nvSpPr>
            <p:cNvPr id="188" name="Rectangle 33">
              <a:extLst>
                <a:ext uri="{FF2B5EF4-FFF2-40B4-BE49-F238E27FC236}">
                  <a16:creationId xmlns:a16="http://schemas.microsoft.com/office/drawing/2014/main" id="{C9D01ABB-5DE8-42F9-9891-41B4974F1F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4191000"/>
              <a:ext cx="1676400" cy="3048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J</a:t>
              </a:r>
            </a:p>
          </p:txBody>
        </p:sp>
        <p:sp>
          <p:nvSpPr>
            <p:cNvPr id="189" name="Rectangle 34">
              <a:extLst>
                <a:ext uri="{FF2B5EF4-FFF2-40B4-BE49-F238E27FC236}">
                  <a16:creationId xmlns:a16="http://schemas.microsoft.com/office/drawing/2014/main" id="{557E9914-E8E3-461D-8878-BCC990689C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4191000"/>
              <a:ext cx="1676400" cy="3048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K</a:t>
              </a:r>
            </a:p>
          </p:txBody>
        </p:sp>
        <p:sp>
          <p:nvSpPr>
            <p:cNvPr id="190" name="Rectangle 35">
              <a:extLst>
                <a:ext uri="{FF2B5EF4-FFF2-40B4-BE49-F238E27FC236}">
                  <a16:creationId xmlns:a16="http://schemas.microsoft.com/office/drawing/2014/main" id="{61D9F16C-2E50-4229-B060-386D9318C5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2800" y="4191000"/>
              <a:ext cx="1676400" cy="3048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L</a:t>
              </a:r>
            </a:p>
          </p:txBody>
        </p:sp>
        <p:sp>
          <p:nvSpPr>
            <p:cNvPr id="191" name="Rectangle 36">
              <a:extLst>
                <a:ext uri="{FF2B5EF4-FFF2-40B4-BE49-F238E27FC236}">
                  <a16:creationId xmlns:a16="http://schemas.microsoft.com/office/drawing/2014/main" id="{2C348551-E197-4342-8A89-DE96E9082F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4495800"/>
              <a:ext cx="990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92" name="Rectangle 37">
              <a:extLst>
                <a:ext uri="{FF2B5EF4-FFF2-40B4-BE49-F238E27FC236}">
                  <a16:creationId xmlns:a16="http://schemas.microsoft.com/office/drawing/2014/main" id="{95DB980D-0C44-40ED-880B-BE8F61DC76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4495800"/>
              <a:ext cx="228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0</a:t>
              </a:r>
            </a:p>
          </p:txBody>
        </p:sp>
        <p:sp>
          <p:nvSpPr>
            <p:cNvPr id="193" name="Rectangle 38">
              <a:extLst>
                <a:ext uri="{FF2B5EF4-FFF2-40B4-BE49-F238E27FC236}">
                  <a16:creationId xmlns:a16="http://schemas.microsoft.com/office/drawing/2014/main" id="{66465765-B49B-4CCD-BCA5-B270F7C565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44958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94" name="Rectangle 39">
              <a:extLst>
                <a:ext uri="{FF2B5EF4-FFF2-40B4-BE49-F238E27FC236}">
                  <a16:creationId xmlns:a16="http://schemas.microsoft.com/office/drawing/2014/main" id="{A389D9B1-3153-40BD-B9CA-CBDDE18955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44958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95" name="Rectangle 40">
              <a:extLst>
                <a:ext uri="{FF2B5EF4-FFF2-40B4-BE49-F238E27FC236}">
                  <a16:creationId xmlns:a16="http://schemas.microsoft.com/office/drawing/2014/main" id="{D9E91D9A-A570-4B9A-9B1F-979B71E6FA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44958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96" name="Rectangle 41">
              <a:extLst>
                <a:ext uri="{FF2B5EF4-FFF2-40B4-BE49-F238E27FC236}">
                  <a16:creationId xmlns:a16="http://schemas.microsoft.com/office/drawing/2014/main" id="{2E16522C-36D5-421A-AEDA-F925E3C81F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2800" y="44958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97" name="Rectangle 42">
              <a:extLst>
                <a:ext uri="{FF2B5EF4-FFF2-40B4-BE49-F238E27FC236}">
                  <a16:creationId xmlns:a16="http://schemas.microsoft.com/office/drawing/2014/main" id="{00D6C020-0238-4BF5-B873-53184CA569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4800600"/>
              <a:ext cx="990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98" name="Rectangle 43">
              <a:extLst>
                <a:ext uri="{FF2B5EF4-FFF2-40B4-BE49-F238E27FC236}">
                  <a16:creationId xmlns:a16="http://schemas.microsoft.com/office/drawing/2014/main" id="{3AE664DB-E5FD-43AA-8B98-CCEDF06A69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4800600"/>
              <a:ext cx="228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0</a:t>
              </a:r>
            </a:p>
          </p:txBody>
        </p:sp>
        <p:sp>
          <p:nvSpPr>
            <p:cNvPr id="199" name="Rectangle 44">
              <a:extLst>
                <a:ext uri="{FF2B5EF4-FFF2-40B4-BE49-F238E27FC236}">
                  <a16:creationId xmlns:a16="http://schemas.microsoft.com/office/drawing/2014/main" id="{A35EE3E9-FC12-4B57-9531-CE8CEB342E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48006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00" name="Rectangle 45">
              <a:extLst>
                <a:ext uri="{FF2B5EF4-FFF2-40B4-BE49-F238E27FC236}">
                  <a16:creationId xmlns:a16="http://schemas.microsoft.com/office/drawing/2014/main" id="{8753CFC0-80CD-4094-9CD2-607D8D4155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48006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01" name="Rectangle 46">
              <a:extLst>
                <a:ext uri="{FF2B5EF4-FFF2-40B4-BE49-F238E27FC236}">
                  <a16:creationId xmlns:a16="http://schemas.microsoft.com/office/drawing/2014/main" id="{A3F5BD11-2CE3-4094-AEAB-AF4B3E84D5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48006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02" name="Rectangle 47">
              <a:extLst>
                <a:ext uri="{FF2B5EF4-FFF2-40B4-BE49-F238E27FC236}">
                  <a16:creationId xmlns:a16="http://schemas.microsoft.com/office/drawing/2014/main" id="{6AF50520-90FF-4FFF-8694-3D5F3EE0D9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2800" y="48006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03" name="Rectangle 48">
              <a:extLst>
                <a:ext uri="{FF2B5EF4-FFF2-40B4-BE49-F238E27FC236}">
                  <a16:creationId xmlns:a16="http://schemas.microsoft.com/office/drawing/2014/main" id="{D8CE9BCA-3A63-4072-AC5C-E15BD30E2C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5410200"/>
              <a:ext cx="990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04" name="Rectangle 49">
              <a:extLst>
                <a:ext uri="{FF2B5EF4-FFF2-40B4-BE49-F238E27FC236}">
                  <a16:creationId xmlns:a16="http://schemas.microsoft.com/office/drawing/2014/main" id="{8104CD71-9563-46EC-B4D3-E66BD678B4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5410200"/>
              <a:ext cx="228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0</a:t>
              </a:r>
            </a:p>
          </p:txBody>
        </p:sp>
        <p:sp>
          <p:nvSpPr>
            <p:cNvPr id="205" name="Rectangle 50">
              <a:extLst>
                <a:ext uri="{FF2B5EF4-FFF2-40B4-BE49-F238E27FC236}">
                  <a16:creationId xmlns:a16="http://schemas.microsoft.com/office/drawing/2014/main" id="{B2E9B1D5-1A0C-43C7-8A49-2F820C29F4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54102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06" name="Rectangle 51">
              <a:extLst>
                <a:ext uri="{FF2B5EF4-FFF2-40B4-BE49-F238E27FC236}">
                  <a16:creationId xmlns:a16="http://schemas.microsoft.com/office/drawing/2014/main" id="{ECA5EB9E-14EF-42D9-A455-C01DFCBB59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54102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07" name="Rectangle 52">
              <a:extLst>
                <a:ext uri="{FF2B5EF4-FFF2-40B4-BE49-F238E27FC236}">
                  <a16:creationId xmlns:a16="http://schemas.microsoft.com/office/drawing/2014/main" id="{6120DE07-115C-422B-A2D2-58B30578D1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54102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08" name="Rectangle 53">
              <a:extLst>
                <a:ext uri="{FF2B5EF4-FFF2-40B4-BE49-F238E27FC236}">
                  <a16:creationId xmlns:a16="http://schemas.microsoft.com/office/drawing/2014/main" id="{F648C58F-7E99-4B6D-8978-23AE7622D2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2800" y="54102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09" name="Rectangle 54">
              <a:extLst>
                <a:ext uri="{FF2B5EF4-FFF2-40B4-BE49-F238E27FC236}">
                  <a16:creationId xmlns:a16="http://schemas.microsoft.com/office/drawing/2014/main" id="{1D9AED89-1A8F-41A0-8B01-476BF6BF9D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5715000"/>
              <a:ext cx="990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10" name="Rectangle 55">
              <a:extLst>
                <a:ext uri="{FF2B5EF4-FFF2-40B4-BE49-F238E27FC236}">
                  <a16:creationId xmlns:a16="http://schemas.microsoft.com/office/drawing/2014/main" id="{CBD74B5F-2F5F-43E8-A0F5-BB9C83DD48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5715000"/>
              <a:ext cx="228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0</a:t>
              </a:r>
            </a:p>
          </p:txBody>
        </p:sp>
        <p:sp>
          <p:nvSpPr>
            <p:cNvPr id="211" name="Rectangle 56">
              <a:extLst>
                <a:ext uri="{FF2B5EF4-FFF2-40B4-BE49-F238E27FC236}">
                  <a16:creationId xmlns:a16="http://schemas.microsoft.com/office/drawing/2014/main" id="{CCA17176-0190-487E-A03B-DF92B8ACA0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57150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12" name="Rectangle 57">
              <a:extLst>
                <a:ext uri="{FF2B5EF4-FFF2-40B4-BE49-F238E27FC236}">
                  <a16:creationId xmlns:a16="http://schemas.microsoft.com/office/drawing/2014/main" id="{9B8BA583-207C-4DEC-99E3-2FE1D1670F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57150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13" name="Rectangle 58">
              <a:extLst>
                <a:ext uri="{FF2B5EF4-FFF2-40B4-BE49-F238E27FC236}">
                  <a16:creationId xmlns:a16="http://schemas.microsoft.com/office/drawing/2014/main" id="{2C7FC3A8-8131-4727-ADA9-6540131508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57150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14" name="Rectangle 59">
              <a:extLst>
                <a:ext uri="{FF2B5EF4-FFF2-40B4-BE49-F238E27FC236}">
                  <a16:creationId xmlns:a16="http://schemas.microsoft.com/office/drawing/2014/main" id="{45D258B3-7A47-407D-8686-71E77CF5D6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2800" y="57150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15" name="Text Box 60">
              <a:extLst>
                <a:ext uri="{FF2B5EF4-FFF2-40B4-BE49-F238E27FC236}">
                  <a16:creationId xmlns:a16="http://schemas.microsoft.com/office/drawing/2014/main" id="{463426D0-C900-4342-B6B5-11D5BDE988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6000" y="4960203"/>
              <a:ext cx="5029200" cy="73866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0" hangingPunct="0"/>
              <a:r>
                <a:rPr lang="en-US" sz="2400" b="1" dirty="0">
                  <a:latin typeface="+mn-lt"/>
                </a:rPr>
                <a:t>...    </a:t>
              </a:r>
              <a:r>
                <a:rPr lang="en-US" sz="2400" b="1" dirty="0"/>
                <a:t>...    ...    …   …   …   …   …</a:t>
              </a:r>
              <a:endParaRPr lang="en-US" sz="2400" dirty="0"/>
            </a:p>
            <a:p>
              <a:pPr eaLnBrk="0" hangingPunct="0"/>
              <a:endParaRPr lang="en-US" dirty="0"/>
            </a:p>
          </p:txBody>
        </p:sp>
        <p:sp>
          <p:nvSpPr>
            <p:cNvPr id="216" name="Text Box 61">
              <a:extLst>
                <a:ext uri="{FF2B5EF4-FFF2-40B4-BE49-F238E27FC236}">
                  <a16:creationId xmlns:a16="http://schemas.microsoft.com/office/drawing/2014/main" id="{D69291CC-D559-47A7-8E8C-9B02F88384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" y="3276600"/>
              <a:ext cx="307975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+mn-lt"/>
                </a:rPr>
                <a:t>0</a:t>
              </a:r>
            </a:p>
          </p:txBody>
        </p:sp>
        <p:sp>
          <p:nvSpPr>
            <p:cNvPr id="217" name="Text Box 62">
              <a:extLst>
                <a:ext uri="{FF2B5EF4-FFF2-40B4-BE49-F238E27FC236}">
                  <a16:creationId xmlns:a16="http://schemas.microsoft.com/office/drawing/2014/main" id="{7EFBB39C-7FCC-46C6-905F-6C99A86872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2273" y="3581400"/>
              <a:ext cx="298480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>
                  <a:latin typeface="+mn-lt"/>
                </a:rPr>
                <a:t>1</a:t>
              </a:r>
            </a:p>
          </p:txBody>
        </p:sp>
        <p:sp>
          <p:nvSpPr>
            <p:cNvPr id="218" name="Text Box 63">
              <a:extLst>
                <a:ext uri="{FF2B5EF4-FFF2-40B4-BE49-F238E27FC236}">
                  <a16:creationId xmlns:a16="http://schemas.microsoft.com/office/drawing/2014/main" id="{8093C03A-5B82-4221-BD8A-D078F94981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" y="3886200"/>
              <a:ext cx="307975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>
                  <a:latin typeface="+mn-lt"/>
                </a:rPr>
                <a:t>2</a:t>
              </a:r>
            </a:p>
          </p:txBody>
        </p:sp>
        <p:sp>
          <p:nvSpPr>
            <p:cNvPr id="219" name="Text Box 64">
              <a:extLst>
                <a:ext uri="{FF2B5EF4-FFF2-40B4-BE49-F238E27FC236}">
                  <a16:creationId xmlns:a16="http://schemas.microsoft.com/office/drawing/2014/main" id="{A2C29F96-2454-41DA-9B26-F787D5E64A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" y="4191000"/>
              <a:ext cx="307975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>
                  <a:latin typeface="+mn-lt"/>
                </a:rPr>
                <a:t>3</a:t>
              </a:r>
            </a:p>
          </p:txBody>
        </p:sp>
        <p:sp>
          <p:nvSpPr>
            <p:cNvPr id="220" name="Text Box 65">
              <a:extLst>
                <a:ext uri="{FF2B5EF4-FFF2-40B4-BE49-F238E27FC236}">
                  <a16:creationId xmlns:a16="http://schemas.microsoft.com/office/drawing/2014/main" id="{EF6654EC-787C-4848-9559-6E840F6017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" y="4495800"/>
              <a:ext cx="307975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>
                  <a:latin typeface="+mn-lt"/>
                </a:rPr>
                <a:t>4</a:t>
              </a:r>
            </a:p>
          </p:txBody>
        </p:sp>
        <p:sp>
          <p:nvSpPr>
            <p:cNvPr id="221" name="Text Box 66">
              <a:extLst>
                <a:ext uri="{FF2B5EF4-FFF2-40B4-BE49-F238E27FC236}">
                  <a16:creationId xmlns:a16="http://schemas.microsoft.com/office/drawing/2014/main" id="{7C8AE989-6C53-4280-813C-9F01AAA5EA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" y="4800600"/>
              <a:ext cx="307975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>
                  <a:latin typeface="+mn-lt"/>
                </a:rPr>
                <a:t>5</a:t>
              </a:r>
            </a:p>
          </p:txBody>
        </p:sp>
        <p:sp>
          <p:nvSpPr>
            <p:cNvPr id="222" name="Text Box 67">
              <a:extLst>
                <a:ext uri="{FF2B5EF4-FFF2-40B4-BE49-F238E27FC236}">
                  <a16:creationId xmlns:a16="http://schemas.microsoft.com/office/drawing/2014/main" id="{FB5E5C4D-ADD7-4B32-8EE1-89BDD7DD19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800" y="5410200"/>
              <a:ext cx="647700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>
                  <a:latin typeface="+mn-lt"/>
                </a:rPr>
                <a:t>1022</a:t>
              </a:r>
            </a:p>
          </p:txBody>
        </p:sp>
        <p:sp>
          <p:nvSpPr>
            <p:cNvPr id="223" name="Text Box 68">
              <a:extLst>
                <a:ext uri="{FF2B5EF4-FFF2-40B4-BE49-F238E27FC236}">
                  <a16:creationId xmlns:a16="http://schemas.microsoft.com/office/drawing/2014/main" id="{FDE10283-95DA-4E3D-A0BA-4688D4E7B5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800" y="5715000"/>
              <a:ext cx="647700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>
                  <a:latin typeface="+mn-lt"/>
                </a:rPr>
                <a:t>1023</a:t>
              </a:r>
            </a:p>
          </p:txBody>
        </p:sp>
        <p:sp>
          <p:nvSpPr>
            <p:cNvPr id="224" name="Text Box 69">
              <a:extLst>
                <a:ext uri="{FF2B5EF4-FFF2-40B4-BE49-F238E27FC236}">
                  <a16:creationId xmlns:a16="http://schemas.microsoft.com/office/drawing/2014/main" id="{D77255F9-0F93-4E80-AFBA-F6DB4E1DED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400" y="2971800"/>
              <a:ext cx="720069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latin typeface="+mn-lt"/>
                </a:rPr>
                <a:t>Index</a:t>
              </a:r>
            </a:p>
          </p:txBody>
        </p:sp>
        <p:sp>
          <p:nvSpPr>
            <p:cNvPr id="225" name="Text Box 70">
              <a:extLst>
                <a:ext uri="{FF2B5EF4-FFF2-40B4-BE49-F238E27FC236}">
                  <a16:creationId xmlns:a16="http://schemas.microsoft.com/office/drawing/2014/main" id="{6C6E4A95-18C8-4FEB-B693-F6C64577CE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6314" y="2971800"/>
              <a:ext cx="663836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latin typeface="+mn-lt"/>
                </a:rPr>
                <a:t>Valid</a:t>
              </a:r>
            </a:p>
          </p:txBody>
        </p:sp>
        <p:sp>
          <p:nvSpPr>
            <p:cNvPr id="226" name="Text Box 71">
              <a:extLst>
                <a:ext uri="{FF2B5EF4-FFF2-40B4-BE49-F238E27FC236}">
                  <a16:creationId xmlns:a16="http://schemas.microsoft.com/office/drawing/2014/main" id="{BD909583-44BB-40F6-B8BB-F1429E1434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7800" y="2971800"/>
              <a:ext cx="534988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latin typeface="+mn-lt"/>
                </a:rPr>
                <a:t>Tag</a:t>
              </a:r>
            </a:p>
          </p:txBody>
        </p:sp>
        <p:grpSp>
          <p:nvGrpSpPr>
            <p:cNvPr id="227" name="Group 226">
              <a:extLst>
                <a:ext uri="{FF2B5EF4-FFF2-40B4-BE49-F238E27FC236}">
                  <a16:creationId xmlns:a16="http://schemas.microsoft.com/office/drawing/2014/main" id="{513585D0-E055-46A0-BE26-8F0860954C93}"/>
                </a:ext>
              </a:extLst>
            </p:cNvPr>
            <p:cNvGrpSpPr/>
            <p:nvPr/>
          </p:nvGrpSpPr>
          <p:grpSpPr>
            <a:xfrm>
              <a:off x="2133600" y="2482850"/>
              <a:ext cx="6629400" cy="336550"/>
              <a:chOff x="2209800" y="2438400"/>
              <a:chExt cx="6629400" cy="336550"/>
            </a:xfrm>
          </p:grpSpPr>
          <p:sp>
            <p:nvSpPr>
              <p:cNvPr id="228" name="Text Box 72">
                <a:extLst>
                  <a:ext uri="{FF2B5EF4-FFF2-40B4-BE49-F238E27FC236}">
                    <a16:creationId xmlns:a16="http://schemas.microsoft.com/office/drawing/2014/main" id="{21ED1C2E-D58A-438E-A914-789B605B544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48200" y="2438400"/>
                <a:ext cx="635000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 dirty="0">
                    <a:latin typeface="+mn-lt"/>
                  </a:rPr>
                  <a:t>Data</a:t>
                </a:r>
              </a:p>
            </p:txBody>
          </p:sp>
          <p:sp>
            <p:nvSpPr>
              <p:cNvPr id="229" name="Line 73">
                <a:extLst>
                  <a:ext uri="{FF2B5EF4-FFF2-40B4-BE49-F238E27FC236}">
                    <a16:creationId xmlns:a16="http://schemas.microsoft.com/office/drawing/2014/main" id="{870432E5-0071-4339-ABD1-9A3ACF9F59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209800" y="2590800"/>
                <a:ext cx="24384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>
                <a:spAutoFit/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230" name="Line 74">
                <a:extLst>
                  <a:ext uri="{FF2B5EF4-FFF2-40B4-BE49-F238E27FC236}">
                    <a16:creationId xmlns:a16="http://schemas.microsoft.com/office/drawing/2014/main" id="{AD2A89F1-C959-485D-A27D-90B7488799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57800" y="2590800"/>
                <a:ext cx="35814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>
                <a:spAutoFit/>
              </a:bodyPr>
              <a:lstStyle/>
              <a:p>
                <a:endParaRPr lang="en-US">
                  <a:latin typeface="+mn-lt"/>
                </a:endParaRPr>
              </a:p>
            </p:txBody>
          </p:sp>
        </p:grpSp>
        <p:sp>
          <p:nvSpPr>
            <p:cNvPr id="231" name="Text Box 75">
              <a:extLst>
                <a:ext uri="{FF2B5EF4-FFF2-40B4-BE49-F238E27FC236}">
                  <a16:creationId xmlns:a16="http://schemas.microsoft.com/office/drawing/2014/main" id="{6CA55884-7FC8-41F1-8BCF-9E970DC44E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072" y="2743200"/>
              <a:ext cx="818942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latin typeface="+mn-lt"/>
                </a:rPr>
                <a:t>Word0</a:t>
              </a:r>
            </a:p>
          </p:txBody>
        </p:sp>
        <p:sp>
          <p:nvSpPr>
            <p:cNvPr id="232" name="Text Box 76">
              <a:extLst>
                <a:ext uri="{FF2B5EF4-FFF2-40B4-BE49-F238E27FC236}">
                  <a16:creationId xmlns:a16="http://schemas.microsoft.com/office/drawing/2014/main" id="{E1040994-3945-4413-8AAD-BA7762EF6A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0862" y="2743200"/>
              <a:ext cx="811213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latin typeface="+mn-lt"/>
                </a:rPr>
                <a:t>Word1</a:t>
              </a:r>
            </a:p>
          </p:txBody>
        </p:sp>
        <p:sp>
          <p:nvSpPr>
            <p:cNvPr id="233" name="Text Box 77">
              <a:extLst>
                <a:ext uri="{FF2B5EF4-FFF2-40B4-BE49-F238E27FC236}">
                  <a16:creationId xmlns:a16="http://schemas.microsoft.com/office/drawing/2014/main" id="{DFB75E1E-68E3-4B7E-B028-B111AF99CC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49272" y="2743200"/>
              <a:ext cx="818942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latin typeface="+mn-lt"/>
                </a:rPr>
                <a:t>Word2</a:t>
              </a:r>
            </a:p>
          </p:txBody>
        </p:sp>
        <p:sp>
          <p:nvSpPr>
            <p:cNvPr id="234" name="Text Box 78">
              <a:extLst>
                <a:ext uri="{FF2B5EF4-FFF2-40B4-BE49-F238E27FC236}">
                  <a16:creationId xmlns:a16="http://schemas.microsoft.com/office/drawing/2014/main" id="{B2BC71AA-A2D1-4DBC-B2C2-CF722F48DD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49472" y="2743200"/>
              <a:ext cx="818942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latin typeface="+mn-lt"/>
                </a:rPr>
                <a:t>Word3</a:t>
              </a:r>
            </a:p>
          </p:txBody>
        </p:sp>
        <p:sp>
          <p:nvSpPr>
            <p:cNvPr id="235" name="Text Box 79">
              <a:extLst>
                <a:ext uri="{FF2B5EF4-FFF2-40B4-BE49-F238E27FC236}">
                  <a16:creationId xmlns:a16="http://schemas.microsoft.com/office/drawing/2014/main" id="{D8682EFC-9622-49BC-B6A4-B30395A03C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8548" y="2971800"/>
              <a:ext cx="1051891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+mn-lt"/>
                </a:rPr>
                <a:t>Bytes 0-3</a:t>
              </a:r>
            </a:p>
          </p:txBody>
        </p:sp>
        <p:sp>
          <p:nvSpPr>
            <p:cNvPr id="236" name="Text Box 80">
              <a:extLst>
                <a:ext uri="{FF2B5EF4-FFF2-40B4-BE49-F238E27FC236}">
                  <a16:creationId xmlns:a16="http://schemas.microsoft.com/office/drawing/2014/main" id="{7B38301C-3B9A-4FAC-A899-61CF2A9A06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37348" y="2971800"/>
              <a:ext cx="1051891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+mn-lt"/>
                </a:rPr>
                <a:t>Bytes 4-7</a:t>
              </a:r>
            </a:p>
          </p:txBody>
        </p:sp>
        <p:sp>
          <p:nvSpPr>
            <p:cNvPr id="237" name="Text Box 81">
              <a:extLst>
                <a:ext uri="{FF2B5EF4-FFF2-40B4-BE49-F238E27FC236}">
                  <a16:creationId xmlns:a16="http://schemas.microsoft.com/office/drawing/2014/main" id="{B4B6B579-23AC-4607-A193-758CD3A881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48597" y="2971800"/>
              <a:ext cx="1150444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+mn-lt"/>
                </a:rPr>
                <a:t>Bytes 8-11</a:t>
              </a:r>
            </a:p>
          </p:txBody>
        </p:sp>
        <p:sp>
          <p:nvSpPr>
            <p:cNvPr id="238" name="Text Box 82">
              <a:extLst>
                <a:ext uri="{FF2B5EF4-FFF2-40B4-BE49-F238E27FC236}">
                  <a16:creationId xmlns:a16="http://schemas.microsoft.com/office/drawing/2014/main" id="{347EA6BB-E77E-46E9-9C40-2EBB51466C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46173" y="2971800"/>
              <a:ext cx="1279517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+mn-lt"/>
                </a:rPr>
                <a:t>Bytes 12-15</a:t>
              </a:r>
            </a:p>
          </p:txBody>
        </p:sp>
      </p:grpSp>
      <p:sp>
        <p:nvSpPr>
          <p:cNvPr id="88" name="Oval 87">
            <a:extLst>
              <a:ext uri="{FF2B5EF4-FFF2-40B4-BE49-F238E27FC236}">
                <a16:creationId xmlns:a16="http://schemas.microsoft.com/office/drawing/2014/main" id="{3EB07F9C-46EC-450B-8A6F-F9051D8B9B00}"/>
              </a:ext>
            </a:extLst>
          </p:cNvPr>
          <p:cNvSpPr/>
          <p:nvPr/>
        </p:nvSpPr>
        <p:spPr>
          <a:xfrm>
            <a:off x="5493776" y="3512403"/>
            <a:ext cx="1676400" cy="457200"/>
          </a:xfrm>
          <a:prstGeom prst="ellipse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3" name="Left Arrow 90">
            <a:extLst>
              <a:ext uri="{FF2B5EF4-FFF2-40B4-BE49-F238E27FC236}">
                <a16:creationId xmlns:a16="http://schemas.microsoft.com/office/drawing/2014/main" id="{FDCAA011-A612-4C32-AB88-713E9A98A8C2}"/>
              </a:ext>
            </a:extLst>
          </p:cNvPr>
          <p:cNvSpPr/>
          <p:nvPr/>
        </p:nvSpPr>
        <p:spPr>
          <a:xfrm rot="5400000">
            <a:off x="6997723" y="1781354"/>
            <a:ext cx="228600" cy="304800"/>
          </a:xfrm>
          <a:prstGeom prst="leftArrow">
            <a:avLst/>
          </a:prstGeom>
          <a:solidFill>
            <a:srgbClr val="FF0000"/>
          </a:solidFill>
          <a:ln>
            <a:solidFill>
              <a:srgbClr val="66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31336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" grpId="0" animBg="1"/>
      <p:bldP spid="103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5. Reading Data: </a:t>
            </a:r>
            <a:r>
              <a:rPr lang="en-GB" sz="3600" b="1" dirty="0">
                <a:solidFill>
                  <a:srgbClr val="0000FF"/>
                </a:solidFill>
              </a:rPr>
              <a:t>Load #5-1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#22: Cache I: Direct Mapped Cache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49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05" name="Content Placeholder 2">
            <a:extLst>
              <a:ext uri="{FF2B5EF4-FFF2-40B4-BE49-F238E27FC236}">
                <a16:creationId xmlns:a16="http://schemas.microsoft.com/office/drawing/2014/main" id="{F42D869D-777C-4A19-87AD-D73DCB7B3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788" y="1463676"/>
            <a:ext cx="8538411" cy="958849"/>
          </a:xfrm>
        </p:spPr>
        <p:txBody>
          <a:bodyPr>
            <a:normAutofit/>
          </a:bodyPr>
          <a:lstStyle/>
          <a:p>
            <a:pPr marL="265113" indent="-265113">
              <a:buSzPct val="100000"/>
              <a:buFont typeface="Wingdings" panose="05000000000000000000" pitchFamily="2" charset="2"/>
              <a:buChar char="§"/>
            </a:pPr>
            <a:r>
              <a:rPr lang="en-SG" sz="2400" dirty="0"/>
              <a:t>Load from</a:t>
            </a:r>
            <a:endParaRPr lang="en-SG" sz="2200" dirty="0"/>
          </a:p>
          <a:p>
            <a:pPr>
              <a:buNone/>
            </a:pPr>
            <a:r>
              <a:rPr lang="en-US" b="1" dirty="0"/>
              <a:t>Step 1</a:t>
            </a:r>
            <a:r>
              <a:rPr lang="en-US" dirty="0"/>
              <a:t>. </a:t>
            </a:r>
            <a:r>
              <a:rPr lang="en-US" sz="2200" dirty="0"/>
              <a:t>Check Cache Block at index </a:t>
            </a:r>
            <a:r>
              <a:rPr lang="en-US" sz="2200" b="1" dirty="0"/>
              <a:t>1</a:t>
            </a:r>
            <a:endParaRPr lang="en-SG" sz="2200" b="1" dirty="0">
              <a:solidFill>
                <a:srgbClr val="7030A0"/>
              </a:solidFill>
            </a:endParaRP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F79D12AF-480C-4552-88AA-23103501BE5B}"/>
              </a:ext>
            </a:extLst>
          </p:cNvPr>
          <p:cNvGrpSpPr/>
          <p:nvPr/>
        </p:nvGrpSpPr>
        <p:grpSpPr>
          <a:xfrm>
            <a:off x="2362201" y="1095376"/>
            <a:ext cx="5257799" cy="762000"/>
            <a:chOff x="2362201" y="914400"/>
            <a:chExt cx="5257799" cy="762000"/>
          </a:xfrm>
        </p:grpSpPr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3ADEB99F-7526-4800-93FB-68071C373046}"/>
                </a:ext>
              </a:extLst>
            </p:cNvPr>
            <p:cNvSpPr/>
            <p:nvPr/>
          </p:nvSpPr>
          <p:spPr>
            <a:xfrm>
              <a:off x="2362201" y="1295400"/>
              <a:ext cx="2743199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dirty="0">
                  <a:solidFill>
                    <a:srgbClr val="C00000"/>
                  </a:solidFill>
                </a:rPr>
                <a:t>000000000000000000</a:t>
              </a: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63F33081-71DE-4216-A404-17AFE49F1B46}"/>
                </a:ext>
              </a:extLst>
            </p:cNvPr>
            <p:cNvSpPr/>
            <p:nvPr/>
          </p:nvSpPr>
          <p:spPr>
            <a:xfrm>
              <a:off x="6705600" y="1295400"/>
              <a:ext cx="838200" cy="381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dirty="0">
                  <a:solidFill>
                    <a:srgbClr val="006600"/>
                  </a:solidFill>
                </a:rPr>
                <a:t>0000</a:t>
              </a:r>
            </a:p>
          </p:txBody>
        </p:sp>
        <p:sp>
          <p:nvSpPr>
            <p:cNvPr id="110" name="Text Box 75">
              <a:extLst>
                <a:ext uri="{FF2B5EF4-FFF2-40B4-BE49-F238E27FC236}">
                  <a16:creationId xmlns:a16="http://schemas.microsoft.com/office/drawing/2014/main" id="{1C436AB2-65A7-47B1-A984-D266382BA4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9000" y="914400"/>
              <a:ext cx="726226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C00000"/>
                  </a:solidFill>
                  <a:latin typeface="+mn-lt"/>
                </a:rPr>
                <a:t>Tag</a:t>
              </a:r>
            </a:p>
          </p:txBody>
        </p:sp>
        <p:sp>
          <p:nvSpPr>
            <p:cNvPr id="111" name="Text Box 75">
              <a:extLst>
                <a:ext uri="{FF2B5EF4-FFF2-40B4-BE49-F238E27FC236}">
                  <a16:creationId xmlns:a16="http://schemas.microsoft.com/office/drawing/2014/main" id="{B5D4DA04-2759-4E95-9345-23DD0EE458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53200" y="914400"/>
              <a:ext cx="1066800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006600"/>
                  </a:solidFill>
                  <a:latin typeface="+mn-lt"/>
                </a:rPr>
                <a:t>Offset</a:t>
              </a: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0BAEB268-7595-4B11-BE85-B7EF92481650}"/>
                </a:ext>
              </a:extLst>
            </p:cNvPr>
            <p:cNvSpPr/>
            <p:nvPr/>
          </p:nvSpPr>
          <p:spPr>
            <a:xfrm>
              <a:off x="5105400" y="1295400"/>
              <a:ext cx="1600200" cy="381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dirty="0">
                  <a:solidFill>
                    <a:schemeClr val="accent6">
                      <a:lumMod val="50000"/>
                    </a:schemeClr>
                  </a:solidFill>
                </a:rPr>
                <a:t>0000000001</a:t>
              </a:r>
            </a:p>
          </p:txBody>
        </p:sp>
        <p:sp>
          <p:nvSpPr>
            <p:cNvPr id="113" name="Text Box 75">
              <a:extLst>
                <a:ext uri="{FF2B5EF4-FFF2-40B4-BE49-F238E27FC236}">
                  <a16:creationId xmlns:a16="http://schemas.microsoft.com/office/drawing/2014/main" id="{226367A3-BC7A-4DF9-8D7F-4DF639AF96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10200" y="914400"/>
              <a:ext cx="997177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6">
                      <a:lumMod val="50000"/>
                    </a:schemeClr>
                  </a:solidFill>
                  <a:latin typeface="+mn-lt"/>
                </a:rPr>
                <a:t>Index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B86DC5FD-6836-4D25-A241-FF84C85197BF}"/>
              </a:ext>
            </a:extLst>
          </p:cNvPr>
          <p:cNvGrpSpPr/>
          <p:nvPr/>
        </p:nvGrpSpPr>
        <p:grpSpPr>
          <a:xfrm>
            <a:off x="152400" y="2482850"/>
            <a:ext cx="8686800" cy="3568700"/>
            <a:chOff x="152400" y="2482850"/>
            <a:chExt cx="8686800" cy="3568700"/>
          </a:xfrm>
        </p:grpSpPr>
        <p:sp>
          <p:nvSpPr>
            <p:cNvPr id="87" name="Rectangle 12">
              <a:extLst>
                <a:ext uri="{FF2B5EF4-FFF2-40B4-BE49-F238E27FC236}">
                  <a16:creationId xmlns:a16="http://schemas.microsoft.com/office/drawing/2014/main" id="{7DB01CFC-F7DF-40C0-BA45-0DE3172D07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3276600"/>
              <a:ext cx="990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89" name="Rectangle 13">
              <a:extLst>
                <a:ext uri="{FF2B5EF4-FFF2-40B4-BE49-F238E27FC236}">
                  <a16:creationId xmlns:a16="http://schemas.microsoft.com/office/drawing/2014/main" id="{B8DCEAE1-E087-4A49-83D9-048A33B628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3276600"/>
              <a:ext cx="228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0</a:t>
              </a:r>
            </a:p>
          </p:txBody>
        </p:sp>
        <p:sp>
          <p:nvSpPr>
            <p:cNvPr id="90" name="Rectangle 14">
              <a:extLst>
                <a:ext uri="{FF2B5EF4-FFF2-40B4-BE49-F238E27FC236}">
                  <a16:creationId xmlns:a16="http://schemas.microsoft.com/office/drawing/2014/main" id="{D98392BF-221B-4474-B08B-2CA1A18563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32766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91" name="Rectangle 15">
              <a:extLst>
                <a:ext uri="{FF2B5EF4-FFF2-40B4-BE49-F238E27FC236}">
                  <a16:creationId xmlns:a16="http://schemas.microsoft.com/office/drawing/2014/main" id="{77129509-8B2D-4DAA-AB46-389B3A66B6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32766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92" name="Rectangle 16">
              <a:extLst>
                <a:ext uri="{FF2B5EF4-FFF2-40B4-BE49-F238E27FC236}">
                  <a16:creationId xmlns:a16="http://schemas.microsoft.com/office/drawing/2014/main" id="{79F8F813-9F73-4965-9083-136E98D0AE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32766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93" name="Rectangle 17">
              <a:extLst>
                <a:ext uri="{FF2B5EF4-FFF2-40B4-BE49-F238E27FC236}">
                  <a16:creationId xmlns:a16="http://schemas.microsoft.com/office/drawing/2014/main" id="{06CCEF57-E287-472D-8F45-1ECA79220D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2800" y="32766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94" name="Rectangle 18">
              <a:extLst>
                <a:ext uri="{FF2B5EF4-FFF2-40B4-BE49-F238E27FC236}">
                  <a16:creationId xmlns:a16="http://schemas.microsoft.com/office/drawing/2014/main" id="{6826A830-F5B6-4A8F-A17C-EF62BBD345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3581400"/>
              <a:ext cx="990600" cy="3048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2</a:t>
              </a:r>
            </a:p>
          </p:txBody>
        </p:sp>
        <p:sp>
          <p:nvSpPr>
            <p:cNvPr id="95" name="Rectangle 19">
              <a:extLst>
                <a:ext uri="{FF2B5EF4-FFF2-40B4-BE49-F238E27FC236}">
                  <a16:creationId xmlns:a16="http://schemas.microsoft.com/office/drawing/2014/main" id="{D5859BA3-46BB-475D-9A80-91365302A7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3581400"/>
              <a:ext cx="228600" cy="304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1</a:t>
              </a:r>
            </a:p>
          </p:txBody>
        </p:sp>
        <p:sp>
          <p:nvSpPr>
            <p:cNvPr id="96" name="Rectangle 20">
              <a:extLst>
                <a:ext uri="{FF2B5EF4-FFF2-40B4-BE49-F238E27FC236}">
                  <a16:creationId xmlns:a16="http://schemas.microsoft.com/office/drawing/2014/main" id="{F4D5AFC3-B720-4994-8043-D446CCC169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3581400"/>
              <a:ext cx="1676400" cy="3048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E</a:t>
              </a:r>
            </a:p>
          </p:txBody>
        </p:sp>
        <p:sp>
          <p:nvSpPr>
            <p:cNvPr id="97" name="Rectangle 21">
              <a:extLst>
                <a:ext uri="{FF2B5EF4-FFF2-40B4-BE49-F238E27FC236}">
                  <a16:creationId xmlns:a16="http://schemas.microsoft.com/office/drawing/2014/main" id="{F3DB8786-6C20-491C-83A3-90B2A212C6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3581400"/>
              <a:ext cx="1676400" cy="3048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F</a:t>
              </a:r>
            </a:p>
          </p:txBody>
        </p:sp>
        <p:sp>
          <p:nvSpPr>
            <p:cNvPr id="98" name="Rectangle 22">
              <a:extLst>
                <a:ext uri="{FF2B5EF4-FFF2-40B4-BE49-F238E27FC236}">
                  <a16:creationId xmlns:a16="http://schemas.microsoft.com/office/drawing/2014/main" id="{FD926B1D-D091-42D2-B1C4-60D912CE7C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3581400"/>
              <a:ext cx="1676400" cy="3048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G</a:t>
              </a:r>
            </a:p>
          </p:txBody>
        </p:sp>
        <p:sp>
          <p:nvSpPr>
            <p:cNvPr id="99" name="Rectangle 23">
              <a:extLst>
                <a:ext uri="{FF2B5EF4-FFF2-40B4-BE49-F238E27FC236}">
                  <a16:creationId xmlns:a16="http://schemas.microsoft.com/office/drawing/2014/main" id="{51F3EF8B-5B63-4FC2-9ACB-59B4E98656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2800" y="3581400"/>
              <a:ext cx="1676400" cy="3048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H</a:t>
              </a:r>
            </a:p>
          </p:txBody>
        </p:sp>
        <p:sp>
          <p:nvSpPr>
            <p:cNvPr id="100" name="Rectangle 24">
              <a:extLst>
                <a:ext uri="{FF2B5EF4-FFF2-40B4-BE49-F238E27FC236}">
                  <a16:creationId xmlns:a16="http://schemas.microsoft.com/office/drawing/2014/main" id="{84C5F924-7304-4F70-A8FA-F084A790D8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3886200"/>
              <a:ext cx="990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01" name="Rectangle 25">
              <a:extLst>
                <a:ext uri="{FF2B5EF4-FFF2-40B4-BE49-F238E27FC236}">
                  <a16:creationId xmlns:a16="http://schemas.microsoft.com/office/drawing/2014/main" id="{5E7AF4C3-54CB-4D5E-BA80-9B907F9AE5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3886200"/>
              <a:ext cx="228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0</a:t>
              </a:r>
            </a:p>
          </p:txBody>
        </p:sp>
        <p:sp>
          <p:nvSpPr>
            <p:cNvPr id="102" name="Rectangle 26">
              <a:extLst>
                <a:ext uri="{FF2B5EF4-FFF2-40B4-BE49-F238E27FC236}">
                  <a16:creationId xmlns:a16="http://schemas.microsoft.com/office/drawing/2014/main" id="{8631D9BE-7ED8-40D3-A9C3-4F8DB0D93A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38862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16" name="Rectangle 27">
              <a:extLst>
                <a:ext uri="{FF2B5EF4-FFF2-40B4-BE49-F238E27FC236}">
                  <a16:creationId xmlns:a16="http://schemas.microsoft.com/office/drawing/2014/main" id="{7D84F504-64E4-4A2B-A295-B53F22EAA3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38862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83" name="Rectangle 28">
              <a:extLst>
                <a:ext uri="{FF2B5EF4-FFF2-40B4-BE49-F238E27FC236}">
                  <a16:creationId xmlns:a16="http://schemas.microsoft.com/office/drawing/2014/main" id="{76E25282-9BA2-48C8-A434-1FA71DFE92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38862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84" name="Rectangle 29">
              <a:extLst>
                <a:ext uri="{FF2B5EF4-FFF2-40B4-BE49-F238E27FC236}">
                  <a16:creationId xmlns:a16="http://schemas.microsoft.com/office/drawing/2014/main" id="{D2F5727C-E9A6-4D41-963F-74E8C92F83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2800" y="38862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85" name="Rectangle 30">
              <a:extLst>
                <a:ext uri="{FF2B5EF4-FFF2-40B4-BE49-F238E27FC236}">
                  <a16:creationId xmlns:a16="http://schemas.microsoft.com/office/drawing/2014/main" id="{A1439D59-C4AE-4631-AFF9-BC42ED6D67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4191000"/>
              <a:ext cx="990600" cy="3048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0</a:t>
              </a:r>
            </a:p>
          </p:txBody>
        </p:sp>
        <p:sp>
          <p:nvSpPr>
            <p:cNvPr id="186" name="Rectangle 31">
              <a:extLst>
                <a:ext uri="{FF2B5EF4-FFF2-40B4-BE49-F238E27FC236}">
                  <a16:creationId xmlns:a16="http://schemas.microsoft.com/office/drawing/2014/main" id="{6C4CA497-4776-4915-A20D-D5941DAD55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4191000"/>
              <a:ext cx="228600" cy="3048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1</a:t>
              </a:r>
            </a:p>
          </p:txBody>
        </p:sp>
        <p:sp>
          <p:nvSpPr>
            <p:cNvPr id="187" name="Rectangle 32">
              <a:extLst>
                <a:ext uri="{FF2B5EF4-FFF2-40B4-BE49-F238E27FC236}">
                  <a16:creationId xmlns:a16="http://schemas.microsoft.com/office/drawing/2014/main" id="{3AA6AF80-9D87-4D18-A03D-2BBF808FF1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4191000"/>
              <a:ext cx="1676400" cy="3048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I</a:t>
              </a:r>
            </a:p>
          </p:txBody>
        </p:sp>
        <p:sp>
          <p:nvSpPr>
            <p:cNvPr id="188" name="Rectangle 33">
              <a:extLst>
                <a:ext uri="{FF2B5EF4-FFF2-40B4-BE49-F238E27FC236}">
                  <a16:creationId xmlns:a16="http://schemas.microsoft.com/office/drawing/2014/main" id="{C9D01ABB-5DE8-42F9-9891-41B4974F1F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4191000"/>
              <a:ext cx="1676400" cy="3048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J</a:t>
              </a:r>
            </a:p>
          </p:txBody>
        </p:sp>
        <p:sp>
          <p:nvSpPr>
            <p:cNvPr id="189" name="Rectangle 34">
              <a:extLst>
                <a:ext uri="{FF2B5EF4-FFF2-40B4-BE49-F238E27FC236}">
                  <a16:creationId xmlns:a16="http://schemas.microsoft.com/office/drawing/2014/main" id="{557E9914-E8E3-461D-8878-BCC990689C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4191000"/>
              <a:ext cx="1676400" cy="3048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K</a:t>
              </a:r>
            </a:p>
          </p:txBody>
        </p:sp>
        <p:sp>
          <p:nvSpPr>
            <p:cNvPr id="190" name="Rectangle 35">
              <a:extLst>
                <a:ext uri="{FF2B5EF4-FFF2-40B4-BE49-F238E27FC236}">
                  <a16:creationId xmlns:a16="http://schemas.microsoft.com/office/drawing/2014/main" id="{61D9F16C-2E50-4229-B060-386D9318C5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2800" y="4191000"/>
              <a:ext cx="1676400" cy="3048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L</a:t>
              </a:r>
            </a:p>
          </p:txBody>
        </p:sp>
        <p:sp>
          <p:nvSpPr>
            <p:cNvPr id="191" name="Rectangle 36">
              <a:extLst>
                <a:ext uri="{FF2B5EF4-FFF2-40B4-BE49-F238E27FC236}">
                  <a16:creationId xmlns:a16="http://schemas.microsoft.com/office/drawing/2014/main" id="{2C348551-E197-4342-8A89-DE96E9082F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4495800"/>
              <a:ext cx="990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92" name="Rectangle 37">
              <a:extLst>
                <a:ext uri="{FF2B5EF4-FFF2-40B4-BE49-F238E27FC236}">
                  <a16:creationId xmlns:a16="http://schemas.microsoft.com/office/drawing/2014/main" id="{95DB980D-0C44-40ED-880B-BE8F61DC76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4495800"/>
              <a:ext cx="228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0</a:t>
              </a:r>
            </a:p>
          </p:txBody>
        </p:sp>
        <p:sp>
          <p:nvSpPr>
            <p:cNvPr id="193" name="Rectangle 38">
              <a:extLst>
                <a:ext uri="{FF2B5EF4-FFF2-40B4-BE49-F238E27FC236}">
                  <a16:creationId xmlns:a16="http://schemas.microsoft.com/office/drawing/2014/main" id="{66465765-B49B-4CCD-BCA5-B270F7C565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44958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94" name="Rectangle 39">
              <a:extLst>
                <a:ext uri="{FF2B5EF4-FFF2-40B4-BE49-F238E27FC236}">
                  <a16:creationId xmlns:a16="http://schemas.microsoft.com/office/drawing/2014/main" id="{A389D9B1-3153-40BD-B9CA-CBDDE18955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44958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95" name="Rectangle 40">
              <a:extLst>
                <a:ext uri="{FF2B5EF4-FFF2-40B4-BE49-F238E27FC236}">
                  <a16:creationId xmlns:a16="http://schemas.microsoft.com/office/drawing/2014/main" id="{D9E91D9A-A570-4B9A-9B1F-979B71E6FA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44958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96" name="Rectangle 41">
              <a:extLst>
                <a:ext uri="{FF2B5EF4-FFF2-40B4-BE49-F238E27FC236}">
                  <a16:creationId xmlns:a16="http://schemas.microsoft.com/office/drawing/2014/main" id="{2E16522C-36D5-421A-AEDA-F925E3C81F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2800" y="44958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97" name="Rectangle 42">
              <a:extLst>
                <a:ext uri="{FF2B5EF4-FFF2-40B4-BE49-F238E27FC236}">
                  <a16:creationId xmlns:a16="http://schemas.microsoft.com/office/drawing/2014/main" id="{00D6C020-0238-4BF5-B873-53184CA569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4800600"/>
              <a:ext cx="990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98" name="Rectangle 43">
              <a:extLst>
                <a:ext uri="{FF2B5EF4-FFF2-40B4-BE49-F238E27FC236}">
                  <a16:creationId xmlns:a16="http://schemas.microsoft.com/office/drawing/2014/main" id="{3AE664DB-E5FD-43AA-8B98-CCEDF06A69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4800600"/>
              <a:ext cx="228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0</a:t>
              </a:r>
            </a:p>
          </p:txBody>
        </p:sp>
        <p:sp>
          <p:nvSpPr>
            <p:cNvPr id="199" name="Rectangle 44">
              <a:extLst>
                <a:ext uri="{FF2B5EF4-FFF2-40B4-BE49-F238E27FC236}">
                  <a16:creationId xmlns:a16="http://schemas.microsoft.com/office/drawing/2014/main" id="{A35EE3E9-FC12-4B57-9531-CE8CEB342E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48006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00" name="Rectangle 45">
              <a:extLst>
                <a:ext uri="{FF2B5EF4-FFF2-40B4-BE49-F238E27FC236}">
                  <a16:creationId xmlns:a16="http://schemas.microsoft.com/office/drawing/2014/main" id="{8753CFC0-80CD-4094-9CD2-607D8D4155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48006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01" name="Rectangle 46">
              <a:extLst>
                <a:ext uri="{FF2B5EF4-FFF2-40B4-BE49-F238E27FC236}">
                  <a16:creationId xmlns:a16="http://schemas.microsoft.com/office/drawing/2014/main" id="{A3F5BD11-2CE3-4094-AEAB-AF4B3E84D5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48006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02" name="Rectangle 47">
              <a:extLst>
                <a:ext uri="{FF2B5EF4-FFF2-40B4-BE49-F238E27FC236}">
                  <a16:creationId xmlns:a16="http://schemas.microsoft.com/office/drawing/2014/main" id="{6AF50520-90FF-4FFF-8694-3D5F3EE0D9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2800" y="48006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03" name="Rectangle 48">
              <a:extLst>
                <a:ext uri="{FF2B5EF4-FFF2-40B4-BE49-F238E27FC236}">
                  <a16:creationId xmlns:a16="http://schemas.microsoft.com/office/drawing/2014/main" id="{D8CE9BCA-3A63-4072-AC5C-E15BD30E2C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5410200"/>
              <a:ext cx="990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04" name="Rectangle 49">
              <a:extLst>
                <a:ext uri="{FF2B5EF4-FFF2-40B4-BE49-F238E27FC236}">
                  <a16:creationId xmlns:a16="http://schemas.microsoft.com/office/drawing/2014/main" id="{8104CD71-9563-46EC-B4D3-E66BD678B4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5410200"/>
              <a:ext cx="228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0</a:t>
              </a:r>
            </a:p>
          </p:txBody>
        </p:sp>
        <p:sp>
          <p:nvSpPr>
            <p:cNvPr id="205" name="Rectangle 50">
              <a:extLst>
                <a:ext uri="{FF2B5EF4-FFF2-40B4-BE49-F238E27FC236}">
                  <a16:creationId xmlns:a16="http://schemas.microsoft.com/office/drawing/2014/main" id="{B2E9B1D5-1A0C-43C7-8A49-2F820C29F4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54102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06" name="Rectangle 51">
              <a:extLst>
                <a:ext uri="{FF2B5EF4-FFF2-40B4-BE49-F238E27FC236}">
                  <a16:creationId xmlns:a16="http://schemas.microsoft.com/office/drawing/2014/main" id="{ECA5EB9E-14EF-42D9-A455-C01DFCBB59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54102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07" name="Rectangle 52">
              <a:extLst>
                <a:ext uri="{FF2B5EF4-FFF2-40B4-BE49-F238E27FC236}">
                  <a16:creationId xmlns:a16="http://schemas.microsoft.com/office/drawing/2014/main" id="{6120DE07-115C-422B-A2D2-58B30578D1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54102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08" name="Rectangle 53">
              <a:extLst>
                <a:ext uri="{FF2B5EF4-FFF2-40B4-BE49-F238E27FC236}">
                  <a16:creationId xmlns:a16="http://schemas.microsoft.com/office/drawing/2014/main" id="{F648C58F-7E99-4B6D-8978-23AE7622D2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2800" y="54102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09" name="Rectangle 54">
              <a:extLst>
                <a:ext uri="{FF2B5EF4-FFF2-40B4-BE49-F238E27FC236}">
                  <a16:creationId xmlns:a16="http://schemas.microsoft.com/office/drawing/2014/main" id="{1D9AED89-1A8F-41A0-8B01-476BF6BF9D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5715000"/>
              <a:ext cx="990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10" name="Rectangle 55">
              <a:extLst>
                <a:ext uri="{FF2B5EF4-FFF2-40B4-BE49-F238E27FC236}">
                  <a16:creationId xmlns:a16="http://schemas.microsoft.com/office/drawing/2014/main" id="{CBD74B5F-2F5F-43E8-A0F5-BB9C83DD48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5715000"/>
              <a:ext cx="228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0</a:t>
              </a:r>
            </a:p>
          </p:txBody>
        </p:sp>
        <p:sp>
          <p:nvSpPr>
            <p:cNvPr id="211" name="Rectangle 56">
              <a:extLst>
                <a:ext uri="{FF2B5EF4-FFF2-40B4-BE49-F238E27FC236}">
                  <a16:creationId xmlns:a16="http://schemas.microsoft.com/office/drawing/2014/main" id="{CCA17176-0190-487E-A03B-DF92B8ACA0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57150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12" name="Rectangle 57">
              <a:extLst>
                <a:ext uri="{FF2B5EF4-FFF2-40B4-BE49-F238E27FC236}">
                  <a16:creationId xmlns:a16="http://schemas.microsoft.com/office/drawing/2014/main" id="{9B8BA583-207C-4DEC-99E3-2FE1D1670F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57150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13" name="Rectangle 58">
              <a:extLst>
                <a:ext uri="{FF2B5EF4-FFF2-40B4-BE49-F238E27FC236}">
                  <a16:creationId xmlns:a16="http://schemas.microsoft.com/office/drawing/2014/main" id="{2C7FC3A8-8131-4727-ADA9-6540131508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57150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14" name="Rectangle 59">
              <a:extLst>
                <a:ext uri="{FF2B5EF4-FFF2-40B4-BE49-F238E27FC236}">
                  <a16:creationId xmlns:a16="http://schemas.microsoft.com/office/drawing/2014/main" id="{45D258B3-7A47-407D-8686-71E77CF5D6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2800" y="57150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15" name="Text Box 60">
              <a:extLst>
                <a:ext uri="{FF2B5EF4-FFF2-40B4-BE49-F238E27FC236}">
                  <a16:creationId xmlns:a16="http://schemas.microsoft.com/office/drawing/2014/main" id="{463426D0-C900-4342-B6B5-11D5BDE988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6000" y="4960203"/>
              <a:ext cx="5029200" cy="73866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0" hangingPunct="0"/>
              <a:r>
                <a:rPr lang="en-US" sz="2400" b="1" dirty="0">
                  <a:latin typeface="+mn-lt"/>
                </a:rPr>
                <a:t>...    </a:t>
              </a:r>
              <a:r>
                <a:rPr lang="en-US" sz="2400" b="1" dirty="0"/>
                <a:t>...    ...    …   …   …   …   …</a:t>
              </a:r>
              <a:endParaRPr lang="en-US" sz="2400" dirty="0"/>
            </a:p>
            <a:p>
              <a:pPr eaLnBrk="0" hangingPunct="0"/>
              <a:endParaRPr lang="en-US" dirty="0"/>
            </a:p>
          </p:txBody>
        </p:sp>
        <p:sp>
          <p:nvSpPr>
            <p:cNvPr id="216" name="Text Box 61">
              <a:extLst>
                <a:ext uri="{FF2B5EF4-FFF2-40B4-BE49-F238E27FC236}">
                  <a16:creationId xmlns:a16="http://schemas.microsoft.com/office/drawing/2014/main" id="{D69291CC-D559-47A7-8E8C-9B02F88384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" y="3276600"/>
              <a:ext cx="307975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+mn-lt"/>
                </a:rPr>
                <a:t>0</a:t>
              </a:r>
            </a:p>
          </p:txBody>
        </p:sp>
        <p:sp>
          <p:nvSpPr>
            <p:cNvPr id="217" name="Text Box 62">
              <a:extLst>
                <a:ext uri="{FF2B5EF4-FFF2-40B4-BE49-F238E27FC236}">
                  <a16:creationId xmlns:a16="http://schemas.microsoft.com/office/drawing/2014/main" id="{7EFBB39C-7FCC-46C6-905F-6C99A86872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2273" y="3581400"/>
              <a:ext cx="298480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>
                  <a:latin typeface="+mn-lt"/>
                </a:rPr>
                <a:t>1</a:t>
              </a:r>
            </a:p>
          </p:txBody>
        </p:sp>
        <p:sp>
          <p:nvSpPr>
            <p:cNvPr id="218" name="Text Box 63">
              <a:extLst>
                <a:ext uri="{FF2B5EF4-FFF2-40B4-BE49-F238E27FC236}">
                  <a16:creationId xmlns:a16="http://schemas.microsoft.com/office/drawing/2014/main" id="{8093C03A-5B82-4221-BD8A-D078F94981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" y="3886200"/>
              <a:ext cx="307975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>
                  <a:latin typeface="+mn-lt"/>
                </a:rPr>
                <a:t>2</a:t>
              </a:r>
            </a:p>
          </p:txBody>
        </p:sp>
        <p:sp>
          <p:nvSpPr>
            <p:cNvPr id="219" name="Text Box 64">
              <a:extLst>
                <a:ext uri="{FF2B5EF4-FFF2-40B4-BE49-F238E27FC236}">
                  <a16:creationId xmlns:a16="http://schemas.microsoft.com/office/drawing/2014/main" id="{A2C29F96-2454-41DA-9B26-F787D5E64A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" y="4191000"/>
              <a:ext cx="307975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>
                  <a:latin typeface="+mn-lt"/>
                </a:rPr>
                <a:t>3</a:t>
              </a:r>
            </a:p>
          </p:txBody>
        </p:sp>
        <p:sp>
          <p:nvSpPr>
            <p:cNvPr id="220" name="Text Box 65">
              <a:extLst>
                <a:ext uri="{FF2B5EF4-FFF2-40B4-BE49-F238E27FC236}">
                  <a16:creationId xmlns:a16="http://schemas.microsoft.com/office/drawing/2014/main" id="{EF6654EC-787C-4848-9559-6E840F6017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" y="4495800"/>
              <a:ext cx="307975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>
                  <a:latin typeface="+mn-lt"/>
                </a:rPr>
                <a:t>4</a:t>
              </a:r>
            </a:p>
          </p:txBody>
        </p:sp>
        <p:sp>
          <p:nvSpPr>
            <p:cNvPr id="221" name="Text Box 66">
              <a:extLst>
                <a:ext uri="{FF2B5EF4-FFF2-40B4-BE49-F238E27FC236}">
                  <a16:creationId xmlns:a16="http://schemas.microsoft.com/office/drawing/2014/main" id="{7C8AE989-6C53-4280-813C-9F01AAA5EA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" y="4800600"/>
              <a:ext cx="307975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>
                  <a:latin typeface="+mn-lt"/>
                </a:rPr>
                <a:t>5</a:t>
              </a:r>
            </a:p>
          </p:txBody>
        </p:sp>
        <p:sp>
          <p:nvSpPr>
            <p:cNvPr id="222" name="Text Box 67">
              <a:extLst>
                <a:ext uri="{FF2B5EF4-FFF2-40B4-BE49-F238E27FC236}">
                  <a16:creationId xmlns:a16="http://schemas.microsoft.com/office/drawing/2014/main" id="{FB5E5C4D-ADD7-4B32-8EE1-89BDD7DD19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800" y="5410200"/>
              <a:ext cx="647700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>
                  <a:latin typeface="+mn-lt"/>
                </a:rPr>
                <a:t>1022</a:t>
              </a:r>
            </a:p>
          </p:txBody>
        </p:sp>
        <p:sp>
          <p:nvSpPr>
            <p:cNvPr id="223" name="Text Box 68">
              <a:extLst>
                <a:ext uri="{FF2B5EF4-FFF2-40B4-BE49-F238E27FC236}">
                  <a16:creationId xmlns:a16="http://schemas.microsoft.com/office/drawing/2014/main" id="{FDE10283-95DA-4E3D-A0BA-4688D4E7B5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800" y="5715000"/>
              <a:ext cx="647700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>
                  <a:latin typeface="+mn-lt"/>
                </a:rPr>
                <a:t>1023</a:t>
              </a:r>
            </a:p>
          </p:txBody>
        </p:sp>
        <p:sp>
          <p:nvSpPr>
            <p:cNvPr id="224" name="Text Box 69">
              <a:extLst>
                <a:ext uri="{FF2B5EF4-FFF2-40B4-BE49-F238E27FC236}">
                  <a16:creationId xmlns:a16="http://schemas.microsoft.com/office/drawing/2014/main" id="{D77255F9-0F93-4E80-AFBA-F6DB4E1DED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400" y="2971800"/>
              <a:ext cx="720069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latin typeface="+mn-lt"/>
                </a:rPr>
                <a:t>Index</a:t>
              </a:r>
            </a:p>
          </p:txBody>
        </p:sp>
        <p:sp>
          <p:nvSpPr>
            <p:cNvPr id="225" name="Text Box 70">
              <a:extLst>
                <a:ext uri="{FF2B5EF4-FFF2-40B4-BE49-F238E27FC236}">
                  <a16:creationId xmlns:a16="http://schemas.microsoft.com/office/drawing/2014/main" id="{6C6E4A95-18C8-4FEB-B693-F6C64577CE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6314" y="2971800"/>
              <a:ext cx="663836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latin typeface="+mn-lt"/>
                </a:rPr>
                <a:t>Valid</a:t>
              </a:r>
            </a:p>
          </p:txBody>
        </p:sp>
        <p:sp>
          <p:nvSpPr>
            <p:cNvPr id="226" name="Text Box 71">
              <a:extLst>
                <a:ext uri="{FF2B5EF4-FFF2-40B4-BE49-F238E27FC236}">
                  <a16:creationId xmlns:a16="http://schemas.microsoft.com/office/drawing/2014/main" id="{BD909583-44BB-40F6-B8BB-F1429E1434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7800" y="2971800"/>
              <a:ext cx="534988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latin typeface="+mn-lt"/>
                </a:rPr>
                <a:t>Tag</a:t>
              </a:r>
            </a:p>
          </p:txBody>
        </p:sp>
        <p:grpSp>
          <p:nvGrpSpPr>
            <p:cNvPr id="227" name="Group 226">
              <a:extLst>
                <a:ext uri="{FF2B5EF4-FFF2-40B4-BE49-F238E27FC236}">
                  <a16:creationId xmlns:a16="http://schemas.microsoft.com/office/drawing/2014/main" id="{513585D0-E055-46A0-BE26-8F0860954C93}"/>
                </a:ext>
              </a:extLst>
            </p:cNvPr>
            <p:cNvGrpSpPr/>
            <p:nvPr/>
          </p:nvGrpSpPr>
          <p:grpSpPr>
            <a:xfrm>
              <a:off x="2133600" y="2482850"/>
              <a:ext cx="6629400" cy="336550"/>
              <a:chOff x="2209800" y="2438400"/>
              <a:chExt cx="6629400" cy="336550"/>
            </a:xfrm>
          </p:grpSpPr>
          <p:sp>
            <p:nvSpPr>
              <p:cNvPr id="228" name="Text Box 72">
                <a:extLst>
                  <a:ext uri="{FF2B5EF4-FFF2-40B4-BE49-F238E27FC236}">
                    <a16:creationId xmlns:a16="http://schemas.microsoft.com/office/drawing/2014/main" id="{21ED1C2E-D58A-438E-A914-789B605B544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48200" y="2438400"/>
                <a:ext cx="635000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 dirty="0">
                    <a:latin typeface="+mn-lt"/>
                  </a:rPr>
                  <a:t>Data</a:t>
                </a:r>
              </a:p>
            </p:txBody>
          </p:sp>
          <p:sp>
            <p:nvSpPr>
              <p:cNvPr id="229" name="Line 73">
                <a:extLst>
                  <a:ext uri="{FF2B5EF4-FFF2-40B4-BE49-F238E27FC236}">
                    <a16:creationId xmlns:a16="http://schemas.microsoft.com/office/drawing/2014/main" id="{870432E5-0071-4339-ABD1-9A3ACF9F59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209800" y="2590800"/>
                <a:ext cx="24384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>
                <a:spAutoFit/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230" name="Line 74">
                <a:extLst>
                  <a:ext uri="{FF2B5EF4-FFF2-40B4-BE49-F238E27FC236}">
                    <a16:creationId xmlns:a16="http://schemas.microsoft.com/office/drawing/2014/main" id="{AD2A89F1-C959-485D-A27D-90B7488799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57800" y="2590800"/>
                <a:ext cx="35814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>
                <a:spAutoFit/>
              </a:bodyPr>
              <a:lstStyle/>
              <a:p>
                <a:endParaRPr lang="en-US">
                  <a:latin typeface="+mn-lt"/>
                </a:endParaRPr>
              </a:p>
            </p:txBody>
          </p:sp>
        </p:grpSp>
        <p:sp>
          <p:nvSpPr>
            <p:cNvPr id="231" name="Text Box 75">
              <a:extLst>
                <a:ext uri="{FF2B5EF4-FFF2-40B4-BE49-F238E27FC236}">
                  <a16:creationId xmlns:a16="http://schemas.microsoft.com/office/drawing/2014/main" id="{6CA55884-7FC8-41F1-8BCF-9E970DC44E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072" y="2743200"/>
              <a:ext cx="818942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latin typeface="+mn-lt"/>
                </a:rPr>
                <a:t>Word0</a:t>
              </a:r>
            </a:p>
          </p:txBody>
        </p:sp>
        <p:sp>
          <p:nvSpPr>
            <p:cNvPr id="232" name="Text Box 76">
              <a:extLst>
                <a:ext uri="{FF2B5EF4-FFF2-40B4-BE49-F238E27FC236}">
                  <a16:creationId xmlns:a16="http://schemas.microsoft.com/office/drawing/2014/main" id="{E1040994-3945-4413-8AAD-BA7762EF6A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0862" y="2743200"/>
              <a:ext cx="811213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latin typeface="+mn-lt"/>
                </a:rPr>
                <a:t>Word1</a:t>
              </a:r>
            </a:p>
          </p:txBody>
        </p:sp>
        <p:sp>
          <p:nvSpPr>
            <p:cNvPr id="233" name="Text Box 77">
              <a:extLst>
                <a:ext uri="{FF2B5EF4-FFF2-40B4-BE49-F238E27FC236}">
                  <a16:creationId xmlns:a16="http://schemas.microsoft.com/office/drawing/2014/main" id="{DFB75E1E-68E3-4B7E-B028-B111AF99CC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49272" y="2743200"/>
              <a:ext cx="818942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latin typeface="+mn-lt"/>
                </a:rPr>
                <a:t>Word2</a:t>
              </a:r>
            </a:p>
          </p:txBody>
        </p:sp>
        <p:sp>
          <p:nvSpPr>
            <p:cNvPr id="234" name="Text Box 78">
              <a:extLst>
                <a:ext uri="{FF2B5EF4-FFF2-40B4-BE49-F238E27FC236}">
                  <a16:creationId xmlns:a16="http://schemas.microsoft.com/office/drawing/2014/main" id="{B2BC71AA-A2D1-4DBC-B2C2-CF722F48DD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49472" y="2743200"/>
              <a:ext cx="818942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latin typeface="+mn-lt"/>
                </a:rPr>
                <a:t>Word3</a:t>
              </a:r>
            </a:p>
          </p:txBody>
        </p:sp>
        <p:sp>
          <p:nvSpPr>
            <p:cNvPr id="235" name="Text Box 79">
              <a:extLst>
                <a:ext uri="{FF2B5EF4-FFF2-40B4-BE49-F238E27FC236}">
                  <a16:creationId xmlns:a16="http://schemas.microsoft.com/office/drawing/2014/main" id="{D8682EFC-9622-49BC-B6A4-B30395A03C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8548" y="2971800"/>
              <a:ext cx="1051891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+mn-lt"/>
                </a:rPr>
                <a:t>Bytes 0-3</a:t>
              </a:r>
            </a:p>
          </p:txBody>
        </p:sp>
        <p:sp>
          <p:nvSpPr>
            <p:cNvPr id="236" name="Text Box 80">
              <a:extLst>
                <a:ext uri="{FF2B5EF4-FFF2-40B4-BE49-F238E27FC236}">
                  <a16:creationId xmlns:a16="http://schemas.microsoft.com/office/drawing/2014/main" id="{7B38301C-3B9A-4FAC-A899-61CF2A9A06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37348" y="2971800"/>
              <a:ext cx="1051891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+mn-lt"/>
                </a:rPr>
                <a:t>Bytes 4-7</a:t>
              </a:r>
            </a:p>
          </p:txBody>
        </p:sp>
        <p:sp>
          <p:nvSpPr>
            <p:cNvPr id="237" name="Text Box 81">
              <a:extLst>
                <a:ext uri="{FF2B5EF4-FFF2-40B4-BE49-F238E27FC236}">
                  <a16:creationId xmlns:a16="http://schemas.microsoft.com/office/drawing/2014/main" id="{B4B6B579-23AC-4607-A193-758CD3A881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48597" y="2971800"/>
              <a:ext cx="1150444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+mn-lt"/>
                </a:rPr>
                <a:t>Bytes 8-11</a:t>
              </a:r>
            </a:p>
          </p:txBody>
        </p:sp>
        <p:sp>
          <p:nvSpPr>
            <p:cNvPr id="238" name="Text Box 82">
              <a:extLst>
                <a:ext uri="{FF2B5EF4-FFF2-40B4-BE49-F238E27FC236}">
                  <a16:creationId xmlns:a16="http://schemas.microsoft.com/office/drawing/2014/main" id="{347EA6BB-E77E-46E9-9C40-2EBB51466C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46173" y="2971800"/>
              <a:ext cx="1279517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+mn-lt"/>
                </a:rPr>
                <a:t>Bytes 12-15</a:t>
              </a:r>
            </a:p>
          </p:txBody>
        </p:sp>
      </p:grpSp>
      <p:sp>
        <p:nvSpPr>
          <p:cNvPr id="103" name="Left Arrow 90">
            <a:extLst>
              <a:ext uri="{FF2B5EF4-FFF2-40B4-BE49-F238E27FC236}">
                <a16:creationId xmlns:a16="http://schemas.microsoft.com/office/drawing/2014/main" id="{FDCAA011-A612-4C32-AB88-713E9A98A8C2}"/>
              </a:ext>
            </a:extLst>
          </p:cNvPr>
          <p:cNvSpPr/>
          <p:nvPr/>
        </p:nvSpPr>
        <p:spPr>
          <a:xfrm rot="5400000">
            <a:off x="5834709" y="1781354"/>
            <a:ext cx="228600" cy="304800"/>
          </a:xfrm>
          <a:prstGeom prst="leftArrow">
            <a:avLst/>
          </a:prstGeom>
          <a:solidFill>
            <a:srgbClr val="FF0000"/>
          </a:solidFill>
          <a:ln>
            <a:solidFill>
              <a:srgbClr val="66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4CA94E8C-B284-46B9-A63E-18424EC2704E}"/>
              </a:ext>
            </a:extLst>
          </p:cNvPr>
          <p:cNvSpPr/>
          <p:nvPr/>
        </p:nvSpPr>
        <p:spPr>
          <a:xfrm>
            <a:off x="522273" y="3596273"/>
            <a:ext cx="304800" cy="304800"/>
          </a:xfrm>
          <a:prstGeom prst="ellipse">
            <a:avLst/>
          </a:prstGeom>
          <a:solidFill>
            <a:srgbClr val="EFE9E1">
              <a:alpha val="32157"/>
            </a:srgbClr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66433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" grpId="0" animBg="1"/>
      <p:bldP spid="104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5. Reading Data: </a:t>
            </a:r>
            <a:r>
              <a:rPr lang="en-GB" sz="3600" b="1" dirty="0">
                <a:solidFill>
                  <a:srgbClr val="0000FF"/>
                </a:solidFill>
              </a:rPr>
              <a:t>Load #5-2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#22: Cache I: Direct Mapped Cache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50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05" name="Content Placeholder 2">
            <a:extLst>
              <a:ext uri="{FF2B5EF4-FFF2-40B4-BE49-F238E27FC236}">
                <a16:creationId xmlns:a16="http://schemas.microsoft.com/office/drawing/2014/main" id="{F42D869D-777C-4A19-87AD-D73DCB7B3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788" y="1463676"/>
            <a:ext cx="8538411" cy="958849"/>
          </a:xfrm>
        </p:spPr>
        <p:txBody>
          <a:bodyPr>
            <a:normAutofit/>
          </a:bodyPr>
          <a:lstStyle/>
          <a:p>
            <a:pPr marL="265113" indent="-265113">
              <a:buSzPct val="100000"/>
              <a:buFont typeface="Wingdings" panose="05000000000000000000" pitchFamily="2" charset="2"/>
              <a:buChar char="§"/>
            </a:pPr>
            <a:r>
              <a:rPr lang="en-SG" sz="2400" dirty="0"/>
              <a:t>Load from</a:t>
            </a:r>
            <a:endParaRPr lang="en-SG" sz="2200" dirty="0"/>
          </a:p>
          <a:p>
            <a:pPr>
              <a:buNone/>
            </a:pPr>
            <a:r>
              <a:rPr lang="en-US" b="1" dirty="0"/>
              <a:t>Step 2</a:t>
            </a:r>
            <a:r>
              <a:rPr lang="en-US" dirty="0"/>
              <a:t>. </a:t>
            </a:r>
            <a:r>
              <a:rPr lang="en-US" sz="2200" dirty="0"/>
              <a:t>Cache block is </a:t>
            </a:r>
            <a:r>
              <a:rPr lang="en-US" sz="2200" b="1" dirty="0"/>
              <a:t>Valid</a:t>
            </a:r>
            <a:r>
              <a:rPr lang="en-US" sz="2200" dirty="0"/>
              <a:t> but </a:t>
            </a:r>
            <a:r>
              <a:rPr lang="en-US" sz="2200" b="1" dirty="0"/>
              <a:t>Tags mismatch </a:t>
            </a:r>
            <a:r>
              <a:rPr lang="en-US" sz="2200" b="1" dirty="0">
                <a:solidFill>
                  <a:srgbClr val="7030A0"/>
                </a:solidFill>
              </a:rPr>
              <a:t>[Cold miss]</a:t>
            </a:r>
            <a:endParaRPr lang="en-SG" sz="2200" b="1" dirty="0">
              <a:solidFill>
                <a:srgbClr val="7030A0"/>
              </a:solidFill>
            </a:endParaRP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F79D12AF-480C-4552-88AA-23103501BE5B}"/>
              </a:ext>
            </a:extLst>
          </p:cNvPr>
          <p:cNvGrpSpPr/>
          <p:nvPr/>
        </p:nvGrpSpPr>
        <p:grpSpPr>
          <a:xfrm>
            <a:off x="2362201" y="1095376"/>
            <a:ext cx="5257799" cy="762000"/>
            <a:chOff x="2362201" y="914400"/>
            <a:chExt cx="5257799" cy="762000"/>
          </a:xfrm>
        </p:grpSpPr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3ADEB99F-7526-4800-93FB-68071C373046}"/>
                </a:ext>
              </a:extLst>
            </p:cNvPr>
            <p:cNvSpPr/>
            <p:nvPr/>
          </p:nvSpPr>
          <p:spPr>
            <a:xfrm>
              <a:off x="2362201" y="1295400"/>
              <a:ext cx="2743199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dirty="0">
                  <a:solidFill>
                    <a:srgbClr val="C00000"/>
                  </a:solidFill>
                </a:rPr>
                <a:t>000000000000000000</a:t>
              </a: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63F33081-71DE-4216-A404-17AFE49F1B46}"/>
                </a:ext>
              </a:extLst>
            </p:cNvPr>
            <p:cNvSpPr/>
            <p:nvPr/>
          </p:nvSpPr>
          <p:spPr>
            <a:xfrm>
              <a:off x="6705600" y="1295400"/>
              <a:ext cx="838200" cy="381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dirty="0">
                  <a:solidFill>
                    <a:srgbClr val="006600"/>
                  </a:solidFill>
                </a:rPr>
                <a:t>0000</a:t>
              </a:r>
            </a:p>
          </p:txBody>
        </p:sp>
        <p:sp>
          <p:nvSpPr>
            <p:cNvPr id="110" name="Text Box 75">
              <a:extLst>
                <a:ext uri="{FF2B5EF4-FFF2-40B4-BE49-F238E27FC236}">
                  <a16:creationId xmlns:a16="http://schemas.microsoft.com/office/drawing/2014/main" id="{1C436AB2-65A7-47B1-A984-D266382BA4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9000" y="914400"/>
              <a:ext cx="726226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C00000"/>
                  </a:solidFill>
                  <a:latin typeface="+mn-lt"/>
                </a:rPr>
                <a:t>Tag</a:t>
              </a:r>
            </a:p>
          </p:txBody>
        </p:sp>
        <p:sp>
          <p:nvSpPr>
            <p:cNvPr id="111" name="Text Box 75">
              <a:extLst>
                <a:ext uri="{FF2B5EF4-FFF2-40B4-BE49-F238E27FC236}">
                  <a16:creationId xmlns:a16="http://schemas.microsoft.com/office/drawing/2014/main" id="{B5D4DA04-2759-4E95-9345-23DD0EE458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53200" y="914400"/>
              <a:ext cx="1066800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006600"/>
                  </a:solidFill>
                  <a:latin typeface="+mn-lt"/>
                </a:rPr>
                <a:t>Offset</a:t>
              </a: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0BAEB268-7595-4B11-BE85-B7EF92481650}"/>
                </a:ext>
              </a:extLst>
            </p:cNvPr>
            <p:cNvSpPr/>
            <p:nvPr/>
          </p:nvSpPr>
          <p:spPr>
            <a:xfrm>
              <a:off x="5105400" y="1295400"/>
              <a:ext cx="1600200" cy="381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dirty="0">
                  <a:solidFill>
                    <a:schemeClr val="accent6">
                      <a:lumMod val="50000"/>
                    </a:schemeClr>
                  </a:solidFill>
                </a:rPr>
                <a:t>0000000001</a:t>
              </a:r>
            </a:p>
          </p:txBody>
        </p:sp>
        <p:sp>
          <p:nvSpPr>
            <p:cNvPr id="113" name="Text Box 75">
              <a:extLst>
                <a:ext uri="{FF2B5EF4-FFF2-40B4-BE49-F238E27FC236}">
                  <a16:creationId xmlns:a16="http://schemas.microsoft.com/office/drawing/2014/main" id="{226367A3-BC7A-4DF9-8D7F-4DF639AF96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10200" y="914400"/>
              <a:ext cx="997177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6">
                      <a:lumMod val="50000"/>
                    </a:schemeClr>
                  </a:solidFill>
                  <a:latin typeface="+mn-lt"/>
                </a:rPr>
                <a:t>Index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B86DC5FD-6836-4D25-A241-FF84C85197BF}"/>
              </a:ext>
            </a:extLst>
          </p:cNvPr>
          <p:cNvGrpSpPr/>
          <p:nvPr/>
        </p:nvGrpSpPr>
        <p:grpSpPr>
          <a:xfrm>
            <a:off x="152400" y="2482850"/>
            <a:ext cx="8686800" cy="3568700"/>
            <a:chOff x="152400" y="2482850"/>
            <a:chExt cx="8686800" cy="3568700"/>
          </a:xfrm>
        </p:grpSpPr>
        <p:sp>
          <p:nvSpPr>
            <p:cNvPr id="87" name="Rectangle 12">
              <a:extLst>
                <a:ext uri="{FF2B5EF4-FFF2-40B4-BE49-F238E27FC236}">
                  <a16:creationId xmlns:a16="http://schemas.microsoft.com/office/drawing/2014/main" id="{7DB01CFC-F7DF-40C0-BA45-0DE3172D07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3276600"/>
              <a:ext cx="990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89" name="Rectangle 13">
              <a:extLst>
                <a:ext uri="{FF2B5EF4-FFF2-40B4-BE49-F238E27FC236}">
                  <a16:creationId xmlns:a16="http://schemas.microsoft.com/office/drawing/2014/main" id="{B8DCEAE1-E087-4A49-83D9-048A33B628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3276600"/>
              <a:ext cx="228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0</a:t>
              </a:r>
            </a:p>
          </p:txBody>
        </p:sp>
        <p:sp>
          <p:nvSpPr>
            <p:cNvPr id="90" name="Rectangle 14">
              <a:extLst>
                <a:ext uri="{FF2B5EF4-FFF2-40B4-BE49-F238E27FC236}">
                  <a16:creationId xmlns:a16="http://schemas.microsoft.com/office/drawing/2014/main" id="{D98392BF-221B-4474-B08B-2CA1A18563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32766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91" name="Rectangle 15">
              <a:extLst>
                <a:ext uri="{FF2B5EF4-FFF2-40B4-BE49-F238E27FC236}">
                  <a16:creationId xmlns:a16="http://schemas.microsoft.com/office/drawing/2014/main" id="{77129509-8B2D-4DAA-AB46-389B3A66B6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32766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92" name="Rectangle 16">
              <a:extLst>
                <a:ext uri="{FF2B5EF4-FFF2-40B4-BE49-F238E27FC236}">
                  <a16:creationId xmlns:a16="http://schemas.microsoft.com/office/drawing/2014/main" id="{79F8F813-9F73-4965-9083-136E98D0AE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32766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93" name="Rectangle 17">
              <a:extLst>
                <a:ext uri="{FF2B5EF4-FFF2-40B4-BE49-F238E27FC236}">
                  <a16:creationId xmlns:a16="http://schemas.microsoft.com/office/drawing/2014/main" id="{06CCEF57-E287-472D-8F45-1ECA79220D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2800" y="32766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94" name="Rectangle 18">
              <a:extLst>
                <a:ext uri="{FF2B5EF4-FFF2-40B4-BE49-F238E27FC236}">
                  <a16:creationId xmlns:a16="http://schemas.microsoft.com/office/drawing/2014/main" id="{6826A830-F5B6-4A8F-A17C-EF62BBD345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3581400"/>
              <a:ext cx="990600" cy="3048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2</a:t>
              </a:r>
            </a:p>
          </p:txBody>
        </p:sp>
        <p:sp>
          <p:nvSpPr>
            <p:cNvPr id="95" name="Rectangle 19">
              <a:extLst>
                <a:ext uri="{FF2B5EF4-FFF2-40B4-BE49-F238E27FC236}">
                  <a16:creationId xmlns:a16="http://schemas.microsoft.com/office/drawing/2014/main" id="{D5859BA3-46BB-475D-9A80-91365302A7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3581400"/>
              <a:ext cx="228600" cy="304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1</a:t>
              </a:r>
            </a:p>
          </p:txBody>
        </p:sp>
        <p:sp>
          <p:nvSpPr>
            <p:cNvPr id="96" name="Rectangle 20">
              <a:extLst>
                <a:ext uri="{FF2B5EF4-FFF2-40B4-BE49-F238E27FC236}">
                  <a16:creationId xmlns:a16="http://schemas.microsoft.com/office/drawing/2014/main" id="{F4D5AFC3-B720-4994-8043-D446CCC169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3581400"/>
              <a:ext cx="1676400" cy="3048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E</a:t>
              </a:r>
            </a:p>
          </p:txBody>
        </p:sp>
        <p:sp>
          <p:nvSpPr>
            <p:cNvPr id="97" name="Rectangle 21">
              <a:extLst>
                <a:ext uri="{FF2B5EF4-FFF2-40B4-BE49-F238E27FC236}">
                  <a16:creationId xmlns:a16="http://schemas.microsoft.com/office/drawing/2014/main" id="{F3DB8786-6C20-491C-83A3-90B2A212C6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3581400"/>
              <a:ext cx="1676400" cy="3048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F</a:t>
              </a:r>
            </a:p>
          </p:txBody>
        </p:sp>
        <p:sp>
          <p:nvSpPr>
            <p:cNvPr id="98" name="Rectangle 22">
              <a:extLst>
                <a:ext uri="{FF2B5EF4-FFF2-40B4-BE49-F238E27FC236}">
                  <a16:creationId xmlns:a16="http://schemas.microsoft.com/office/drawing/2014/main" id="{FD926B1D-D091-42D2-B1C4-60D912CE7C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3581400"/>
              <a:ext cx="1676400" cy="3048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G</a:t>
              </a:r>
            </a:p>
          </p:txBody>
        </p:sp>
        <p:sp>
          <p:nvSpPr>
            <p:cNvPr id="99" name="Rectangle 23">
              <a:extLst>
                <a:ext uri="{FF2B5EF4-FFF2-40B4-BE49-F238E27FC236}">
                  <a16:creationId xmlns:a16="http://schemas.microsoft.com/office/drawing/2014/main" id="{51F3EF8B-5B63-4FC2-9ACB-59B4E98656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2800" y="3581400"/>
              <a:ext cx="1676400" cy="3048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H</a:t>
              </a:r>
            </a:p>
          </p:txBody>
        </p:sp>
        <p:sp>
          <p:nvSpPr>
            <p:cNvPr id="100" name="Rectangle 24">
              <a:extLst>
                <a:ext uri="{FF2B5EF4-FFF2-40B4-BE49-F238E27FC236}">
                  <a16:creationId xmlns:a16="http://schemas.microsoft.com/office/drawing/2014/main" id="{84C5F924-7304-4F70-A8FA-F084A790D8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3886200"/>
              <a:ext cx="990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01" name="Rectangle 25">
              <a:extLst>
                <a:ext uri="{FF2B5EF4-FFF2-40B4-BE49-F238E27FC236}">
                  <a16:creationId xmlns:a16="http://schemas.microsoft.com/office/drawing/2014/main" id="{5E7AF4C3-54CB-4D5E-BA80-9B907F9AE5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3886200"/>
              <a:ext cx="228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0</a:t>
              </a:r>
            </a:p>
          </p:txBody>
        </p:sp>
        <p:sp>
          <p:nvSpPr>
            <p:cNvPr id="102" name="Rectangle 26">
              <a:extLst>
                <a:ext uri="{FF2B5EF4-FFF2-40B4-BE49-F238E27FC236}">
                  <a16:creationId xmlns:a16="http://schemas.microsoft.com/office/drawing/2014/main" id="{8631D9BE-7ED8-40D3-A9C3-4F8DB0D93A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38862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16" name="Rectangle 27">
              <a:extLst>
                <a:ext uri="{FF2B5EF4-FFF2-40B4-BE49-F238E27FC236}">
                  <a16:creationId xmlns:a16="http://schemas.microsoft.com/office/drawing/2014/main" id="{7D84F504-64E4-4A2B-A295-B53F22EAA3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38862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83" name="Rectangle 28">
              <a:extLst>
                <a:ext uri="{FF2B5EF4-FFF2-40B4-BE49-F238E27FC236}">
                  <a16:creationId xmlns:a16="http://schemas.microsoft.com/office/drawing/2014/main" id="{76E25282-9BA2-48C8-A434-1FA71DFE92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38862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84" name="Rectangle 29">
              <a:extLst>
                <a:ext uri="{FF2B5EF4-FFF2-40B4-BE49-F238E27FC236}">
                  <a16:creationId xmlns:a16="http://schemas.microsoft.com/office/drawing/2014/main" id="{D2F5727C-E9A6-4D41-963F-74E8C92F83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2800" y="38862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85" name="Rectangle 30">
              <a:extLst>
                <a:ext uri="{FF2B5EF4-FFF2-40B4-BE49-F238E27FC236}">
                  <a16:creationId xmlns:a16="http://schemas.microsoft.com/office/drawing/2014/main" id="{A1439D59-C4AE-4631-AFF9-BC42ED6D67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4191000"/>
              <a:ext cx="990600" cy="3048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0</a:t>
              </a:r>
            </a:p>
          </p:txBody>
        </p:sp>
        <p:sp>
          <p:nvSpPr>
            <p:cNvPr id="186" name="Rectangle 31">
              <a:extLst>
                <a:ext uri="{FF2B5EF4-FFF2-40B4-BE49-F238E27FC236}">
                  <a16:creationId xmlns:a16="http://schemas.microsoft.com/office/drawing/2014/main" id="{6C4CA497-4776-4915-A20D-D5941DAD55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4191000"/>
              <a:ext cx="228600" cy="3048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1</a:t>
              </a:r>
            </a:p>
          </p:txBody>
        </p:sp>
        <p:sp>
          <p:nvSpPr>
            <p:cNvPr id="187" name="Rectangle 32">
              <a:extLst>
                <a:ext uri="{FF2B5EF4-FFF2-40B4-BE49-F238E27FC236}">
                  <a16:creationId xmlns:a16="http://schemas.microsoft.com/office/drawing/2014/main" id="{3AA6AF80-9D87-4D18-A03D-2BBF808FF1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4191000"/>
              <a:ext cx="1676400" cy="3048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I</a:t>
              </a:r>
            </a:p>
          </p:txBody>
        </p:sp>
        <p:sp>
          <p:nvSpPr>
            <p:cNvPr id="188" name="Rectangle 33">
              <a:extLst>
                <a:ext uri="{FF2B5EF4-FFF2-40B4-BE49-F238E27FC236}">
                  <a16:creationId xmlns:a16="http://schemas.microsoft.com/office/drawing/2014/main" id="{C9D01ABB-5DE8-42F9-9891-41B4974F1F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4191000"/>
              <a:ext cx="1676400" cy="3048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J</a:t>
              </a:r>
            </a:p>
          </p:txBody>
        </p:sp>
        <p:sp>
          <p:nvSpPr>
            <p:cNvPr id="189" name="Rectangle 34">
              <a:extLst>
                <a:ext uri="{FF2B5EF4-FFF2-40B4-BE49-F238E27FC236}">
                  <a16:creationId xmlns:a16="http://schemas.microsoft.com/office/drawing/2014/main" id="{557E9914-E8E3-461D-8878-BCC990689C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4191000"/>
              <a:ext cx="1676400" cy="3048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K</a:t>
              </a:r>
            </a:p>
          </p:txBody>
        </p:sp>
        <p:sp>
          <p:nvSpPr>
            <p:cNvPr id="190" name="Rectangle 35">
              <a:extLst>
                <a:ext uri="{FF2B5EF4-FFF2-40B4-BE49-F238E27FC236}">
                  <a16:creationId xmlns:a16="http://schemas.microsoft.com/office/drawing/2014/main" id="{61D9F16C-2E50-4229-B060-386D9318C5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2800" y="4191000"/>
              <a:ext cx="1676400" cy="3048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L</a:t>
              </a:r>
            </a:p>
          </p:txBody>
        </p:sp>
        <p:sp>
          <p:nvSpPr>
            <p:cNvPr id="191" name="Rectangle 36">
              <a:extLst>
                <a:ext uri="{FF2B5EF4-FFF2-40B4-BE49-F238E27FC236}">
                  <a16:creationId xmlns:a16="http://schemas.microsoft.com/office/drawing/2014/main" id="{2C348551-E197-4342-8A89-DE96E9082F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4495800"/>
              <a:ext cx="990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92" name="Rectangle 37">
              <a:extLst>
                <a:ext uri="{FF2B5EF4-FFF2-40B4-BE49-F238E27FC236}">
                  <a16:creationId xmlns:a16="http://schemas.microsoft.com/office/drawing/2014/main" id="{95DB980D-0C44-40ED-880B-BE8F61DC76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4495800"/>
              <a:ext cx="228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0</a:t>
              </a:r>
            </a:p>
          </p:txBody>
        </p:sp>
        <p:sp>
          <p:nvSpPr>
            <p:cNvPr id="193" name="Rectangle 38">
              <a:extLst>
                <a:ext uri="{FF2B5EF4-FFF2-40B4-BE49-F238E27FC236}">
                  <a16:creationId xmlns:a16="http://schemas.microsoft.com/office/drawing/2014/main" id="{66465765-B49B-4CCD-BCA5-B270F7C565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44958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94" name="Rectangle 39">
              <a:extLst>
                <a:ext uri="{FF2B5EF4-FFF2-40B4-BE49-F238E27FC236}">
                  <a16:creationId xmlns:a16="http://schemas.microsoft.com/office/drawing/2014/main" id="{A389D9B1-3153-40BD-B9CA-CBDDE18955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44958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95" name="Rectangle 40">
              <a:extLst>
                <a:ext uri="{FF2B5EF4-FFF2-40B4-BE49-F238E27FC236}">
                  <a16:creationId xmlns:a16="http://schemas.microsoft.com/office/drawing/2014/main" id="{D9E91D9A-A570-4B9A-9B1F-979B71E6FA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44958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96" name="Rectangle 41">
              <a:extLst>
                <a:ext uri="{FF2B5EF4-FFF2-40B4-BE49-F238E27FC236}">
                  <a16:creationId xmlns:a16="http://schemas.microsoft.com/office/drawing/2014/main" id="{2E16522C-36D5-421A-AEDA-F925E3C81F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2800" y="44958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97" name="Rectangle 42">
              <a:extLst>
                <a:ext uri="{FF2B5EF4-FFF2-40B4-BE49-F238E27FC236}">
                  <a16:creationId xmlns:a16="http://schemas.microsoft.com/office/drawing/2014/main" id="{00D6C020-0238-4BF5-B873-53184CA569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4800600"/>
              <a:ext cx="990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98" name="Rectangle 43">
              <a:extLst>
                <a:ext uri="{FF2B5EF4-FFF2-40B4-BE49-F238E27FC236}">
                  <a16:creationId xmlns:a16="http://schemas.microsoft.com/office/drawing/2014/main" id="{3AE664DB-E5FD-43AA-8B98-CCEDF06A69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4800600"/>
              <a:ext cx="228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0</a:t>
              </a:r>
            </a:p>
          </p:txBody>
        </p:sp>
        <p:sp>
          <p:nvSpPr>
            <p:cNvPr id="199" name="Rectangle 44">
              <a:extLst>
                <a:ext uri="{FF2B5EF4-FFF2-40B4-BE49-F238E27FC236}">
                  <a16:creationId xmlns:a16="http://schemas.microsoft.com/office/drawing/2014/main" id="{A35EE3E9-FC12-4B57-9531-CE8CEB342E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48006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00" name="Rectangle 45">
              <a:extLst>
                <a:ext uri="{FF2B5EF4-FFF2-40B4-BE49-F238E27FC236}">
                  <a16:creationId xmlns:a16="http://schemas.microsoft.com/office/drawing/2014/main" id="{8753CFC0-80CD-4094-9CD2-607D8D4155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48006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01" name="Rectangle 46">
              <a:extLst>
                <a:ext uri="{FF2B5EF4-FFF2-40B4-BE49-F238E27FC236}">
                  <a16:creationId xmlns:a16="http://schemas.microsoft.com/office/drawing/2014/main" id="{A3F5BD11-2CE3-4094-AEAB-AF4B3E84D5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48006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02" name="Rectangle 47">
              <a:extLst>
                <a:ext uri="{FF2B5EF4-FFF2-40B4-BE49-F238E27FC236}">
                  <a16:creationId xmlns:a16="http://schemas.microsoft.com/office/drawing/2014/main" id="{6AF50520-90FF-4FFF-8694-3D5F3EE0D9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2800" y="48006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03" name="Rectangle 48">
              <a:extLst>
                <a:ext uri="{FF2B5EF4-FFF2-40B4-BE49-F238E27FC236}">
                  <a16:creationId xmlns:a16="http://schemas.microsoft.com/office/drawing/2014/main" id="{D8CE9BCA-3A63-4072-AC5C-E15BD30E2C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5410200"/>
              <a:ext cx="990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04" name="Rectangle 49">
              <a:extLst>
                <a:ext uri="{FF2B5EF4-FFF2-40B4-BE49-F238E27FC236}">
                  <a16:creationId xmlns:a16="http://schemas.microsoft.com/office/drawing/2014/main" id="{8104CD71-9563-46EC-B4D3-E66BD678B4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5410200"/>
              <a:ext cx="228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0</a:t>
              </a:r>
            </a:p>
          </p:txBody>
        </p:sp>
        <p:sp>
          <p:nvSpPr>
            <p:cNvPr id="205" name="Rectangle 50">
              <a:extLst>
                <a:ext uri="{FF2B5EF4-FFF2-40B4-BE49-F238E27FC236}">
                  <a16:creationId xmlns:a16="http://schemas.microsoft.com/office/drawing/2014/main" id="{B2E9B1D5-1A0C-43C7-8A49-2F820C29F4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54102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06" name="Rectangle 51">
              <a:extLst>
                <a:ext uri="{FF2B5EF4-FFF2-40B4-BE49-F238E27FC236}">
                  <a16:creationId xmlns:a16="http://schemas.microsoft.com/office/drawing/2014/main" id="{ECA5EB9E-14EF-42D9-A455-C01DFCBB59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54102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07" name="Rectangle 52">
              <a:extLst>
                <a:ext uri="{FF2B5EF4-FFF2-40B4-BE49-F238E27FC236}">
                  <a16:creationId xmlns:a16="http://schemas.microsoft.com/office/drawing/2014/main" id="{6120DE07-115C-422B-A2D2-58B30578D1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54102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08" name="Rectangle 53">
              <a:extLst>
                <a:ext uri="{FF2B5EF4-FFF2-40B4-BE49-F238E27FC236}">
                  <a16:creationId xmlns:a16="http://schemas.microsoft.com/office/drawing/2014/main" id="{F648C58F-7E99-4B6D-8978-23AE7622D2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2800" y="54102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09" name="Rectangle 54">
              <a:extLst>
                <a:ext uri="{FF2B5EF4-FFF2-40B4-BE49-F238E27FC236}">
                  <a16:creationId xmlns:a16="http://schemas.microsoft.com/office/drawing/2014/main" id="{1D9AED89-1A8F-41A0-8B01-476BF6BF9D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5715000"/>
              <a:ext cx="990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10" name="Rectangle 55">
              <a:extLst>
                <a:ext uri="{FF2B5EF4-FFF2-40B4-BE49-F238E27FC236}">
                  <a16:creationId xmlns:a16="http://schemas.microsoft.com/office/drawing/2014/main" id="{CBD74B5F-2F5F-43E8-A0F5-BB9C83DD48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5715000"/>
              <a:ext cx="228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0</a:t>
              </a:r>
            </a:p>
          </p:txBody>
        </p:sp>
        <p:sp>
          <p:nvSpPr>
            <p:cNvPr id="211" name="Rectangle 56">
              <a:extLst>
                <a:ext uri="{FF2B5EF4-FFF2-40B4-BE49-F238E27FC236}">
                  <a16:creationId xmlns:a16="http://schemas.microsoft.com/office/drawing/2014/main" id="{CCA17176-0190-487E-A03B-DF92B8ACA0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57150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12" name="Rectangle 57">
              <a:extLst>
                <a:ext uri="{FF2B5EF4-FFF2-40B4-BE49-F238E27FC236}">
                  <a16:creationId xmlns:a16="http://schemas.microsoft.com/office/drawing/2014/main" id="{9B8BA583-207C-4DEC-99E3-2FE1D1670F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57150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13" name="Rectangle 58">
              <a:extLst>
                <a:ext uri="{FF2B5EF4-FFF2-40B4-BE49-F238E27FC236}">
                  <a16:creationId xmlns:a16="http://schemas.microsoft.com/office/drawing/2014/main" id="{2C7FC3A8-8131-4727-ADA9-6540131508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57150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14" name="Rectangle 59">
              <a:extLst>
                <a:ext uri="{FF2B5EF4-FFF2-40B4-BE49-F238E27FC236}">
                  <a16:creationId xmlns:a16="http://schemas.microsoft.com/office/drawing/2014/main" id="{45D258B3-7A47-407D-8686-71E77CF5D6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2800" y="57150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15" name="Text Box 60">
              <a:extLst>
                <a:ext uri="{FF2B5EF4-FFF2-40B4-BE49-F238E27FC236}">
                  <a16:creationId xmlns:a16="http://schemas.microsoft.com/office/drawing/2014/main" id="{463426D0-C900-4342-B6B5-11D5BDE988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6000" y="4960203"/>
              <a:ext cx="5029200" cy="73866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0" hangingPunct="0"/>
              <a:r>
                <a:rPr lang="en-US" sz="2400" b="1" dirty="0">
                  <a:latin typeface="+mn-lt"/>
                </a:rPr>
                <a:t>...    </a:t>
              </a:r>
              <a:r>
                <a:rPr lang="en-US" sz="2400" b="1" dirty="0"/>
                <a:t>...    ...    …   …   …   …   …</a:t>
              </a:r>
              <a:endParaRPr lang="en-US" sz="2400" dirty="0"/>
            </a:p>
            <a:p>
              <a:pPr eaLnBrk="0" hangingPunct="0"/>
              <a:endParaRPr lang="en-US" dirty="0"/>
            </a:p>
          </p:txBody>
        </p:sp>
        <p:sp>
          <p:nvSpPr>
            <p:cNvPr id="216" name="Text Box 61">
              <a:extLst>
                <a:ext uri="{FF2B5EF4-FFF2-40B4-BE49-F238E27FC236}">
                  <a16:creationId xmlns:a16="http://schemas.microsoft.com/office/drawing/2014/main" id="{D69291CC-D559-47A7-8E8C-9B02F88384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" y="3276600"/>
              <a:ext cx="307975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+mn-lt"/>
                </a:rPr>
                <a:t>0</a:t>
              </a:r>
            </a:p>
          </p:txBody>
        </p:sp>
        <p:sp>
          <p:nvSpPr>
            <p:cNvPr id="217" name="Text Box 62">
              <a:extLst>
                <a:ext uri="{FF2B5EF4-FFF2-40B4-BE49-F238E27FC236}">
                  <a16:creationId xmlns:a16="http://schemas.microsoft.com/office/drawing/2014/main" id="{7EFBB39C-7FCC-46C6-905F-6C99A86872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2273" y="3581400"/>
              <a:ext cx="298480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>
                  <a:latin typeface="+mn-lt"/>
                </a:rPr>
                <a:t>1</a:t>
              </a:r>
            </a:p>
          </p:txBody>
        </p:sp>
        <p:sp>
          <p:nvSpPr>
            <p:cNvPr id="218" name="Text Box 63">
              <a:extLst>
                <a:ext uri="{FF2B5EF4-FFF2-40B4-BE49-F238E27FC236}">
                  <a16:creationId xmlns:a16="http://schemas.microsoft.com/office/drawing/2014/main" id="{8093C03A-5B82-4221-BD8A-D078F94981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" y="3886200"/>
              <a:ext cx="307975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>
                  <a:latin typeface="+mn-lt"/>
                </a:rPr>
                <a:t>2</a:t>
              </a:r>
            </a:p>
          </p:txBody>
        </p:sp>
        <p:sp>
          <p:nvSpPr>
            <p:cNvPr id="219" name="Text Box 64">
              <a:extLst>
                <a:ext uri="{FF2B5EF4-FFF2-40B4-BE49-F238E27FC236}">
                  <a16:creationId xmlns:a16="http://schemas.microsoft.com/office/drawing/2014/main" id="{A2C29F96-2454-41DA-9B26-F787D5E64A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" y="4191000"/>
              <a:ext cx="307975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>
                  <a:latin typeface="+mn-lt"/>
                </a:rPr>
                <a:t>3</a:t>
              </a:r>
            </a:p>
          </p:txBody>
        </p:sp>
        <p:sp>
          <p:nvSpPr>
            <p:cNvPr id="220" name="Text Box 65">
              <a:extLst>
                <a:ext uri="{FF2B5EF4-FFF2-40B4-BE49-F238E27FC236}">
                  <a16:creationId xmlns:a16="http://schemas.microsoft.com/office/drawing/2014/main" id="{EF6654EC-787C-4848-9559-6E840F6017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" y="4495800"/>
              <a:ext cx="307975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>
                  <a:latin typeface="+mn-lt"/>
                </a:rPr>
                <a:t>4</a:t>
              </a:r>
            </a:p>
          </p:txBody>
        </p:sp>
        <p:sp>
          <p:nvSpPr>
            <p:cNvPr id="221" name="Text Box 66">
              <a:extLst>
                <a:ext uri="{FF2B5EF4-FFF2-40B4-BE49-F238E27FC236}">
                  <a16:creationId xmlns:a16="http://schemas.microsoft.com/office/drawing/2014/main" id="{7C8AE989-6C53-4280-813C-9F01AAA5EA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" y="4800600"/>
              <a:ext cx="307975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>
                  <a:latin typeface="+mn-lt"/>
                </a:rPr>
                <a:t>5</a:t>
              </a:r>
            </a:p>
          </p:txBody>
        </p:sp>
        <p:sp>
          <p:nvSpPr>
            <p:cNvPr id="222" name="Text Box 67">
              <a:extLst>
                <a:ext uri="{FF2B5EF4-FFF2-40B4-BE49-F238E27FC236}">
                  <a16:creationId xmlns:a16="http://schemas.microsoft.com/office/drawing/2014/main" id="{FB5E5C4D-ADD7-4B32-8EE1-89BDD7DD19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800" y="5410200"/>
              <a:ext cx="647700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>
                  <a:latin typeface="+mn-lt"/>
                </a:rPr>
                <a:t>1022</a:t>
              </a:r>
            </a:p>
          </p:txBody>
        </p:sp>
        <p:sp>
          <p:nvSpPr>
            <p:cNvPr id="223" name="Text Box 68">
              <a:extLst>
                <a:ext uri="{FF2B5EF4-FFF2-40B4-BE49-F238E27FC236}">
                  <a16:creationId xmlns:a16="http://schemas.microsoft.com/office/drawing/2014/main" id="{FDE10283-95DA-4E3D-A0BA-4688D4E7B5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800" y="5715000"/>
              <a:ext cx="647700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>
                  <a:latin typeface="+mn-lt"/>
                </a:rPr>
                <a:t>1023</a:t>
              </a:r>
            </a:p>
          </p:txBody>
        </p:sp>
        <p:sp>
          <p:nvSpPr>
            <p:cNvPr id="224" name="Text Box 69">
              <a:extLst>
                <a:ext uri="{FF2B5EF4-FFF2-40B4-BE49-F238E27FC236}">
                  <a16:creationId xmlns:a16="http://schemas.microsoft.com/office/drawing/2014/main" id="{D77255F9-0F93-4E80-AFBA-F6DB4E1DED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400" y="2971800"/>
              <a:ext cx="720069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latin typeface="+mn-lt"/>
                </a:rPr>
                <a:t>Index</a:t>
              </a:r>
            </a:p>
          </p:txBody>
        </p:sp>
        <p:sp>
          <p:nvSpPr>
            <p:cNvPr id="225" name="Text Box 70">
              <a:extLst>
                <a:ext uri="{FF2B5EF4-FFF2-40B4-BE49-F238E27FC236}">
                  <a16:creationId xmlns:a16="http://schemas.microsoft.com/office/drawing/2014/main" id="{6C6E4A95-18C8-4FEB-B693-F6C64577CE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6314" y="2971800"/>
              <a:ext cx="663836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latin typeface="+mn-lt"/>
                </a:rPr>
                <a:t>Valid</a:t>
              </a:r>
            </a:p>
          </p:txBody>
        </p:sp>
        <p:sp>
          <p:nvSpPr>
            <p:cNvPr id="226" name="Text Box 71">
              <a:extLst>
                <a:ext uri="{FF2B5EF4-FFF2-40B4-BE49-F238E27FC236}">
                  <a16:creationId xmlns:a16="http://schemas.microsoft.com/office/drawing/2014/main" id="{BD909583-44BB-40F6-B8BB-F1429E1434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7800" y="2971800"/>
              <a:ext cx="534988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latin typeface="+mn-lt"/>
                </a:rPr>
                <a:t>Tag</a:t>
              </a:r>
            </a:p>
          </p:txBody>
        </p:sp>
        <p:grpSp>
          <p:nvGrpSpPr>
            <p:cNvPr id="227" name="Group 226">
              <a:extLst>
                <a:ext uri="{FF2B5EF4-FFF2-40B4-BE49-F238E27FC236}">
                  <a16:creationId xmlns:a16="http://schemas.microsoft.com/office/drawing/2014/main" id="{513585D0-E055-46A0-BE26-8F0860954C93}"/>
                </a:ext>
              </a:extLst>
            </p:cNvPr>
            <p:cNvGrpSpPr/>
            <p:nvPr/>
          </p:nvGrpSpPr>
          <p:grpSpPr>
            <a:xfrm>
              <a:off x="2133600" y="2482850"/>
              <a:ext cx="6629400" cy="336550"/>
              <a:chOff x="2209800" y="2438400"/>
              <a:chExt cx="6629400" cy="336550"/>
            </a:xfrm>
          </p:grpSpPr>
          <p:sp>
            <p:nvSpPr>
              <p:cNvPr id="228" name="Text Box 72">
                <a:extLst>
                  <a:ext uri="{FF2B5EF4-FFF2-40B4-BE49-F238E27FC236}">
                    <a16:creationId xmlns:a16="http://schemas.microsoft.com/office/drawing/2014/main" id="{21ED1C2E-D58A-438E-A914-789B605B544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48200" y="2438400"/>
                <a:ext cx="635000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 dirty="0">
                    <a:latin typeface="+mn-lt"/>
                  </a:rPr>
                  <a:t>Data</a:t>
                </a:r>
              </a:p>
            </p:txBody>
          </p:sp>
          <p:sp>
            <p:nvSpPr>
              <p:cNvPr id="229" name="Line 73">
                <a:extLst>
                  <a:ext uri="{FF2B5EF4-FFF2-40B4-BE49-F238E27FC236}">
                    <a16:creationId xmlns:a16="http://schemas.microsoft.com/office/drawing/2014/main" id="{870432E5-0071-4339-ABD1-9A3ACF9F59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209800" y="2590800"/>
                <a:ext cx="24384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>
                <a:spAutoFit/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230" name="Line 74">
                <a:extLst>
                  <a:ext uri="{FF2B5EF4-FFF2-40B4-BE49-F238E27FC236}">
                    <a16:creationId xmlns:a16="http://schemas.microsoft.com/office/drawing/2014/main" id="{AD2A89F1-C959-485D-A27D-90B7488799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57800" y="2590800"/>
                <a:ext cx="35814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>
                <a:spAutoFit/>
              </a:bodyPr>
              <a:lstStyle/>
              <a:p>
                <a:endParaRPr lang="en-US">
                  <a:latin typeface="+mn-lt"/>
                </a:endParaRPr>
              </a:p>
            </p:txBody>
          </p:sp>
        </p:grpSp>
        <p:sp>
          <p:nvSpPr>
            <p:cNvPr id="231" name="Text Box 75">
              <a:extLst>
                <a:ext uri="{FF2B5EF4-FFF2-40B4-BE49-F238E27FC236}">
                  <a16:creationId xmlns:a16="http://schemas.microsoft.com/office/drawing/2014/main" id="{6CA55884-7FC8-41F1-8BCF-9E970DC44E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072" y="2743200"/>
              <a:ext cx="818942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latin typeface="+mn-lt"/>
                </a:rPr>
                <a:t>Word0</a:t>
              </a:r>
            </a:p>
          </p:txBody>
        </p:sp>
        <p:sp>
          <p:nvSpPr>
            <p:cNvPr id="232" name="Text Box 76">
              <a:extLst>
                <a:ext uri="{FF2B5EF4-FFF2-40B4-BE49-F238E27FC236}">
                  <a16:creationId xmlns:a16="http://schemas.microsoft.com/office/drawing/2014/main" id="{E1040994-3945-4413-8AAD-BA7762EF6A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0862" y="2743200"/>
              <a:ext cx="811213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latin typeface="+mn-lt"/>
                </a:rPr>
                <a:t>Word1</a:t>
              </a:r>
            </a:p>
          </p:txBody>
        </p:sp>
        <p:sp>
          <p:nvSpPr>
            <p:cNvPr id="233" name="Text Box 77">
              <a:extLst>
                <a:ext uri="{FF2B5EF4-FFF2-40B4-BE49-F238E27FC236}">
                  <a16:creationId xmlns:a16="http://schemas.microsoft.com/office/drawing/2014/main" id="{DFB75E1E-68E3-4B7E-B028-B111AF99CC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49272" y="2743200"/>
              <a:ext cx="818942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latin typeface="+mn-lt"/>
                </a:rPr>
                <a:t>Word2</a:t>
              </a:r>
            </a:p>
          </p:txBody>
        </p:sp>
        <p:sp>
          <p:nvSpPr>
            <p:cNvPr id="234" name="Text Box 78">
              <a:extLst>
                <a:ext uri="{FF2B5EF4-FFF2-40B4-BE49-F238E27FC236}">
                  <a16:creationId xmlns:a16="http://schemas.microsoft.com/office/drawing/2014/main" id="{B2BC71AA-A2D1-4DBC-B2C2-CF722F48DD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49472" y="2743200"/>
              <a:ext cx="818942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latin typeface="+mn-lt"/>
                </a:rPr>
                <a:t>Word3</a:t>
              </a:r>
            </a:p>
          </p:txBody>
        </p:sp>
        <p:sp>
          <p:nvSpPr>
            <p:cNvPr id="235" name="Text Box 79">
              <a:extLst>
                <a:ext uri="{FF2B5EF4-FFF2-40B4-BE49-F238E27FC236}">
                  <a16:creationId xmlns:a16="http://schemas.microsoft.com/office/drawing/2014/main" id="{D8682EFC-9622-49BC-B6A4-B30395A03C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8548" y="2971800"/>
              <a:ext cx="1051891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+mn-lt"/>
                </a:rPr>
                <a:t>Bytes 0-3</a:t>
              </a:r>
            </a:p>
          </p:txBody>
        </p:sp>
        <p:sp>
          <p:nvSpPr>
            <p:cNvPr id="236" name="Text Box 80">
              <a:extLst>
                <a:ext uri="{FF2B5EF4-FFF2-40B4-BE49-F238E27FC236}">
                  <a16:creationId xmlns:a16="http://schemas.microsoft.com/office/drawing/2014/main" id="{7B38301C-3B9A-4FAC-A899-61CF2A9A06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37348" y="2971800"/>
              <a:ext cx="1051891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+mn-lt"/>
                </a:rPr>
                <a:t>Bytes 4-7</a:t>
              </a:r>
            </a:p>
          </p:txBody>
        </p:sp>
        <p:sp>
          <p:nvSpPr>
            <p:cNvPr id="237" name="Text Box 81">
              <a:extLst>
                <a:ext uri="{FF2B5EF4-FFF2-40B4-BE49-F238E27FC236}">
                  <a16:creationId xmlns:a16="http://schemas.microsoft.com/office/drawing/2014/main" id="{B4B6B579-23AC-4607-A193-758CD3A881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48597" y="2971800"/>
              <a:ext cx="1150444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+mn-lt"/>
                </a:rPr>
                <a:t>Bytes 8-11</a:t>
              </a:r>
            </a:p>
          </p:txBody>
        </p:sp>
        <p:sp>
          <p:nvSpPr>
            <p:cNvPr id="238" name="Text Box 82">
              <a:extLst>
                <a:ext uri="{FF2B5EF4-FFF2-40B4-BE49-F238E27FC236}">
                  <a16:creationId xmlns:a16="http://schemas.microsoft.com/office/drawing/2014/main" id="{347EA6BB-E77E-46E9-9C40-2EBB51466C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46173" y="2971800"/>
              <a:ext cx="1279517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+mn-lt"/>
                </a:rPr>
                <a:t>Bytes 12-15</a:t>
              </a:r>
            </a:p>
          </p:txBody>
        </p:sp>
      </p:grpSp>
      <p:sp>
        <p:nvSpPr>
          <p:cNvPr id="103" name="Left Arrow 90">
            <a:extLst>
              <a:ext uri="{FF2B5EF4-FFF2-40B4-BE49-F238E27FC236}">
                <a16:creationId xmlns:a16="http://schemas.microsoft.com/office/drawing/2014/main" id="{FDCAA011-A612-4C32-AB88-713E9A98A8C2}"/>
              </a:ext>
            </a:extLst>
          </p:cNvPr>
          <p:cNvSpPr/>
          <p:nvPr/>
        </p:nvSpPr>
        <p:spPr>
          <a:xfrm rot="5400000">
            <a:off x="3771901" y="1781354"/>
            <a:ext cx="228600" cy="304800"/>
          </a:xfrm>
          <a:prstGeom prst="leftArrow">
            <a:avLst/>
          </a:prstGeom>
          <a:solidFill>
            <a:srgbClr val="FF0000"/>
          </a:solidFill>
          <a:ln>
            <a:solidFill>
              <a:srgbClr val="66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40C883D2-5550-427A-8C86-B45C3B56C2FA}"/>
              </a:ext>
            </a:extLst>
          </p:cNvPr>
          <p:cNvSpPr/>
          <p:nvPr/>
        </p:nvSpPr>
        <p:spPr>
          <a:xfrm>
            <a:off x="1143000" y="3505200"/>
            <a:ext cx="990600" cy="457200"/>
          </a:xfrm>
          <a:prstGeom prst="ellipse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50113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" grpId="0" animBg="1"/>
      <p:bldP spid="106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5. Reading Data: </a:t>
            </a:r>
            <a:r>
              <a:rPr lang="en-GB" sz="3600" b="1" dirty="0">
                <a:solidFill>
                  <a:srgbClr val="0000FF"/>
                </a:solidFill>
              </a:rPr>
              <a:t>Load #5-3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#22: Cache I: Direct Mapped Cache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51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05" name="Content Placeholder 2">
            <a:extLst>
              <a:ext uri="{FF2B5EF4-FFF2-40B4-BE49-F238E27FC236}">
                <a16:creationId xmlns:a16="http://schemas.microsoft.com/office/drawing/2014/main" id="{F42D869D-777C-4A19-87AD-D73DCB7B3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788" y="1463676"/>
            <a:ext cx="8538411" cy="958849"/>
          </a:xfrm>
        </p:spPr>
        <p:txBody>
          <a:bodyPr>
            <a:normAutofit/>
          </a:bodyPr>
          <a:lstStyle/>
          <a:p>
            <a:pPr marL="265113" indent="-265113">
              <a:buSzPct val="100000"/>
              <a:buFont typeface="Wingdings" panose="05000000000000000000" pitchFamily="2" charset="2"/>
              <a:buChar char="§"/>
            </a:pPr>
            <a:r>
              <a:rPr lang="en-SG" sz="2400" dirty="0"/>
              <a:t>Load from</a:t>
            </a:r>
            <a:endParaRPr lang="en-SG" sz="2200" dirty="0"/>
          </a:p>
          <a:p>
            <a:pPr>
              <a:buNone/>
            </a:pPr>
            <a:r>
              <a:rPr lang="en-US" b="1" dirty="0"/>
              <a:t>Step 3</a:t>
            </a:r>
            <a:r>
              <a:rPr lang="en-US" dirty="0"/>
              <a:t>. </a:t>
            </a:r>
            <a:r>
              <a:rPr lang="en-US" sz="2200" dirty="0"/>
              <a:t>Replace block </a:t>
            </a:r>
            <a:r>
              <a:rPr lang="en-US" sz="2200" b="1" dirty="0"/>
              <a:t>1</a:t>
            </a:r>
            <a:r>
              <a:rPr lang="en-US" sz="2200" dirty="0"/>
              <a:t> with new data; Set </a:t>
            </a:r>
            <a:r>
              <a:rPr lang="en-US" sz="2200" b="1" dirty="0"/>
              <a:t>Tag</a:t>
            </a:r>
            <a:endParaRPr lang="en-SG" sz="2200" b="1" dirty="0">
              <a:solidFill>
                <a:srgbClr val="7030A0"/>
              </a:solidFill>
            </a:endParaRP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F79D12AF-480C-4552-88AA-23103501BE5B}"/>
              </a:ext>
            </a:extLst>
          </p:cNvPr>
          <p:cNvGrpSpPr/>
          <p:nvPr/>
        </p:nvGrpSpPr>
        <p:grpSpPr>
          <a:xfrm>
            <a:off x="2362201" y="1095376"/>
            <a:ext cx="5257799" cy="762000"/>
            <a:chOff x="2362201" y="914400"/>
            <a:chExt cx="5257799" cy="762000"/>
          </a:xfrm>
        </p:grpSpPr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3ADEB99F-7526-4800-93FB-68071C373046}"/>
                </a:ext>
              </a:extLst>
            </p:cNvPr>
            <p:cNvSpPr/>
            <p:nvPr/>
          </p:nvSpPr>
          <p:spPr>
            <a:xfrm>
              <a:off x="2362201" y="1295400"/>
              <a:ext cx="2743199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dirty="0">
                  <a:solidFill>
                    <a:srgbClr val="C00000"/>
                  </a:solidFill>
                </a:rPr>
                <a:t>000000000000000000</a:t>
              </a: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63F33081-71DE-4216-A404-17AFE49F1B46}"/>
                </a:ext>
              </a:extLst>
            </p:cNvPr>
            <p:cNvSpPr/>
            <p:nvPr/>
          </p:nvSpPr>
          <p:spPr>
            <a:xfrm>
              <a:off x="6705600" y="1295400"/>
              <a:ext cx="838200" cy="381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dirty="0">
                  <a:solidFill>
                    <a:srgbClr val="006600"/>
                  </a:solidFill>
                </a:rPr>
                <a:t>0000</a:t>
              </a:r>
            </a:p>
          </p:txBody>
        </p:sp>
        <p:sp>
          <p:nvSpPr>
            <p:cNvPr id="110" name="Text Box 75">
              <a:extLst>
                <a:ext uri="{FF2B5EF4-FFF2-40B4-BE49-F238E27FC236}">
                  <a16:creationId xmlns:a16="http://schemas.microsoft.com/office/drawing/2014/main" id="{1C436AB2-65A7-47B1-A984-D266382BA4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9000" y="914400"/>
              <a:ext cx="726226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C00000"/>
                  </a:solidFill>
                  <a:latin typeface="+mn-lt"/>
                </a:rPr>
                <a:t>Tag</a:t>
              </a:r>
            </a:p>
          </p:txBody>
        </p:sp>
        <p:sp>
          <p:nvSpPr>
            <p:cNvPr id="111" name="Text Box 75">
              <a:extLst>
                <a:ext uri="{FF2B5EF4-FFF2-40B4-BE49-F238E27FC236}">
                  <a16:creationId xmlns:a16="http://schemas.microsoft.com/office/drawing/2014/main" id="{B5D4DA04-2759-4E95-9345-23DD0EE458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53200" y="914400"/>
              <a:ext cx="1066800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006600"/>
                  </a:solidFill>
                  <a:latin typeface="+mn-lt"/>
                </a:rPr>
                <a:t>Offset</a:t>
              </a: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0BAEB268-7595-4B11-BE85-B7EF92481650}"/>
                </a:ext>
              </a:extLst>
            </p:cNvPr>
            <p:cNvSpPr/>
            <p:nvPr/>
          </p:nvSpPr>
          <p:spPr>
            <a:xfrm>
              <a:off x="5105400" y="1295400"/>
              <a:ext cx="1600200" cy="381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dirty="0">
                  <a:solidFill>
                    <a:schemeClr val="accent6">
                      <a:lumMod val="50000"/>
                    </a:schemeClr>
                  </a:solidFill>
                </a:rPr>
                <a:t>0000000001</a:t>
              </a:r>
            </a:p>
          </p:txBody>
        </p:sp>
        <p:sp>
          <p:nvSpPr>
            <p:cNvPr id="113" name="Text Box 75">
              <a:extLst>
                <a:ext uri="{FF2B5EF4-FFF2-40B4-BE49-F238E27FC236}">
                  <a16:creationId xmlns:a16="http://schemas.microsoft.com/office/drawing/2014/main" id="{226367A3-BC7A-4DF9-8D7F-4DF639AF96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10200" y="914400"/>
              <a:ext cx="997177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6">
                      <a:lumMod val="50000"/>
                    </a:schemeClr>
                  </a:solidFill>
                  <a:latin typeface="+mn-lt"/>
                </a:rPr>
                <a:t>Index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B86DC5FD-6836-4D25-A241-FF84C85197BF}"/>
              </a:ext>
            </a:extLst>
          </p:cNvPr>
          <p:cNvGrpSpPr/>
          <p:nvPr/>
        </p:nvGrpSpPr>
        <p:grpSpPr>
          <a:xfrm>
            <a:off x="152400" y="2482850"/>
            <a:ext cx="8686800" cy="3568700"/>
            <a:chOff x="152400" y="2482850"/>
            <a:chExt cx="8686800" cy="3568700"/>
          </a:xfrm>
        </p:grpSpPr>
        <p:sp>
          <p:nvSpPr>
            <p:cNvPr id="87" name="Rectangle 12">
              <a:extLst>
                <a:ext uri="{FF2B5EF4-FFF2-40B4-BE49-F238E27FC236}">
                  <a16:creationId xmlns:a16="http://schemas.microsoft.com/office/drawing/2014/main" id="{7DB01CFC-F7DF-40C0-BA45-0DE3172D07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3276600"/>
              <a:ext cx="990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89" name="Rectangle 13">
              <a:extLst>
                <a:ext uri="{FF2B5EF4-FFF2-40B4-BE49-F238E27FC236}">
                  <a16:creationId xmlns:a16="http://schemas.microsoft.com/office/drawing/2014/main" id="{B8DCEAE1-E087-4A49-83D9-048A33B628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3276600"/>
              <a:ext cx="228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0</a:t>
              </a:r>
            </a:p>
          </p:txBody>
        </p:sp>
        <p:sp>
          <p:nvSpPr>
            <p:cNvPr id="90" name="Rectangle 14">
              <a:extLst>
                <a:ext uri="{FF2B5EF4-FFF2-40B4-BE49-F238E27FC236}">
                  <a16:creationId xmlns:a16="http://schemas.microsoft.com/office/drawing/2014/main" id="{D98392BF-221B-4474-B08B-2CA1A18563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32766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91" name="Rectangle 15">
              <a:extLst>
                <a:ext uri="{FF2B5EF4-FFF2-40B4-BE49-F238E27FC236}">
                  <a16:creationId xmlns:a16="http://schemas.microsoft.com/office/drawing/2014/main" id="{77129509-8B2D-4DAA-AB46-389B3A66B6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32766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92" name="Rectangle 16">
              <a:extLst>
                <a:ext uri="{FF2B5EF4-FFF2-40B4-BE49-F238E27FC236}">
                  <a16:creationId xmlns:a16="http://schemas.microsoft.com/office/drawing/2014/main" id="{79F8F813-9F73-4965-9083-136E98D0AE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32766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93" name="Rectangle 17">
              <a:extLst>
                <a:ext uri="{FF2B5EF4-FFF2-40B4-BE49-F238E27FC236}">
                  <a16:creationId xmlns:a16="http://schemas.microsoft.com/office/drawing/2014/main" id="{06CCEF57-E287-472D-8F45-1ECA79220D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2800" y="32766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94" name="Rectangle 18">
              <a:extLst>
                <a:ext uri="{FF2B5EF4-FFF2-40B4-BE49-F238E27FC236}">
                  <a16:creationId xmlns:a16="http://schemas.microsoft.com/office/drawing/2014/main" id="{6826A830-F5B6-4A8F-A17C-EF62BBD345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3581400"/>
              <a:ext cx="990600" cy="3048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solidFill>
                    <a:srgbClr val="C00000"/>
                  </a:solidFill>
                  <a:latin typeface="+mn-lt"/>
                </a:rPr>
                <a:t>0</a:t>
              </a:r>
            </a:p>
          </p:txBody>
        </p:sp>
        <p:sp>
          <p:nvSpPr>
            <p:cNvPr id="95" name="Rectangle 19">
              <a:extLst>
                <a:ext uri="{FF2B5EF4-FFF2-40B4-BE49-F238E27FC236}">
                  <a16:creationId xmlns:a16="http://schemas.microsoft.com/office/drawing/2014/main" id="{D5859BA3-46BB-475D-9A80-91365302A7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3581400"/>
              <a:ext cx="228600" cy="304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1</a:t>
              </a:r>
            </a:p>
          </p:txBody>
        </p:sp>
        <p:sp>
          <p:nvSpPr>
            <p:cNvPr id="96" name="Rectangle 20">
              <a:extLst>
                <a:ext uri="{FF2B5EF4-FFF2-40B4-BE49-F238E27FC236}">
                  <a16:creationId xmlns:a16="http://schemas.microsoft.com/office/drawing/2014/main" id="{F4D5AFC3-B720-4994-8043-D446CCC169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3581400"/>
              <a:ext cx="1676400" cy="3048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solidFill>
                    <a:srgbClr val="C00000"/>
                  </a:solidFill>
                  <a:latin typeface="+mn-lt"/>
                </a:rPr>
                <a:t>A</a:t>
              </a:r>
            </a:p>
          </p:txBody>
        </p:sp>
        <p:sp>
          <p:nvSpPr>
            <p:cNvPr id="97" name="Rectangle 21">
              <a:extLst>
                <a:ext uri="{FF2B5EF4-FFF2-40B4-BE49-F238E27FC236}">
                  <a16:creationId xmlns:a16="http://schemas.microsoft.com/office/drawing/2014/main" id="{F3DB8786-6C20-491C-83A3-90B2A212C6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3581400"/>
              <a:ext cx="1676400" cy="3048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solidFill>
                    <a:srgbClr val="C00000"/>
                  </a:solidFill>
                  <a:latin typeface="+mn-lt"/>
                </a:rPr>
                <a:t>B</a:t>
              </a:r>
            </a:p>
          </p:txBody>
        </p:sp>
        <p:sp>
          <p:nvSpPr>
            <p:cNvPr id="98" name="Rectangle 22">
              <a:extLst>
                <a:ext uri="{FF2B5EF4-FFF2-40B4-BE49-F238E27FC236}">
                  <a16:creationId xmlns:a16="http://schemas.microsoft.com/office/drawing/2014/main" id="{FD926B1D-D091-42D2-B1C4-60D912CE7C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3581400"/>
              <a:ext cx="1676400" cy="3048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solidFill>
                    <a:srgbClr val="C00000"/>
                  </a:solidFill>
                  <a:latin typeface="+mn-lt"/>
                </a:rPr>
                <a:t>C</a:t>
              </a:r>
            </a:p>
          </p:txBody>
        </p:sp>
        <p:sp>
          <p:nvSpPr>
            <p:cNvPr id="99" name="Rectangle 23">
              <a:extLst>
                <a:ext uri="{FF2B5EF4-FFF2-40B4-BE49-F238E27FC236}">
                  <a16:creationId xmlns:a16="http://schemas.microsoft.com/office/drawing/2014/main" id="{51F3EF8B-5B63-4FC2-9ACB-59B4E98656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2800" y="3581400"/>
              <a:ext cx="1676400" cy="3048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solidFill>
                    <a:srgbClr val="C00000"/>
                  </a:solidFill>
                  <a:latin typeface="+mn-lt"/>
                </a:rPr>
                <a:t>D</a:t>
              </a:r>
            </a:p>
          </p:txBody>
        </p:sp>
        <p:sp>
          <p:nvSpPr>
            <p:cNvPr id="100" name="Rectangle 24">
              <a:extLst>
                <a:ext uri="{FF2B5EF4-FFF2-40B4-BE49-F238E27FC236}">
                  <a16:creationId xmlns:a16="http://schemas.microsoft.com/office/drawing/2014/main" id="{84C5F924-7304-4F70-A8FA-F084A790D8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3886200"/>
              <a:ext cx="990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01" name="Rectangle 25">
              <a:extLst>
                <a:ext uri="{FF2B5EF4-FFF2-40B4-BE49-F238E27FC236}">
                  <a16:creationId xmlns:a16="http://schemas.microsoft.com/office/drawing/2014/main" id="{5E7AF4C3-54CB-4D5E-BA80-9B907F9AE5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3886200"/>
              <a:ext cx="228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0</a:t>
              </a:r>
            </a:p>
          </p:txBody>
        </p:sp>
        <p:sp>
          <p:nvSpPr>
            <p:cNvPr id="102" name="Rectangle 26">
              <a:extLst>
                <a:ext uri="{FF2B5EF4-FFF2-40B4-BE49-F238E27FC236}">
                  <a16:creationId xmlns:a16="http://schemas.microsoft.com/office/drawing/2014/main" id="{8631D9BE-7ED8-40D3-A9C3-4F8DB0D93A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38862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16" name="Rectangle 27">
              <a:extLst>
                <a:ext uri="{FF2B5EF4-FFF2-40B4-BE49-F238E27FC236}">
                  <a16:creationId xmlns:a16="http://schemas.microsoft.com/office/drawing/2014/main" id="{7D84F504-64E4-4A2B-A295-B53F22EAA3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38862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83" name="Rectangle 28">
              <a:extLst>
                <a:ext uri="{FF2B5EF4-FFF2-40B4-BE49-F238E27FC236}">
                  <a16:creationId xmlns:a16="http://schemas.microsoft.com/office/drawing/2014/main" id="{76E25282-9BA2-48C8-A434-1FA71DFE92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38862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84" name="Rectangle 29">
              <a:extLst>
                <a:ext uri="{FF2B5EF4-FFF2-40B4-BE49-F238E27FC236}">
                  <a16:creationId xmlns:a16="http://schemas.microsoft.com/office/drawing/2014/main" id="{D2F5727C-E9A6-4D41-963F-74E8C92F83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2800" y="38862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85" name="Rectangle 30">
              <a:extLst>
                <a:ext uri="{FF2B5EF4-FFF2-40B4-BE49-F238E27FC236}">
                  <a16:creationId xmlns:a16="http://schemas.microsoft.com/office/drawing/2014/main" id="{A1439D59-C4AE-4631-AFF9-BC42ED6D67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4191000"/>
              <a:ext cx="990600" cy="3048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0</a:t>
              </a:r>
            </a:p>
          </p:txBody>
        </p:sp>
        <p:sp>
          <p:nvSpPr>
            <p:cNvPr id="186" name="Rectangle 31">
              <a:extLst>
                <a:ext uri="{FF2B5EF4-FFF2-40B4-BE49-F238E27FC236}">
                  <a16:creationId xmlns:a16="http://schemas.microsoft.com/office/drawing/2014/main" id="{6C4CA497-4776-4915-A20D-D5941DAD55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4191000"/>
              <a:ext cx="228600" cy="3048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1</a:t>
              </a:r>
            </a:p>
          </p:txBody>
        </p:sp>
        <p:sp>
          <p:nvSpPr>
            <p:cNvPr id="187" name="Rectangle 32">
              <a:extLst>
                <a:ext uri="{FF2B5EF4-FFF2-40B4-BE49-F238E27FC236}">
                  <a16:creationId xmlns:a16="http://schemas.microsoft.com/office/drawing/2014/main" id="{3AA6AF80-9D87-4D18-A03D-2BBF808FF1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4191000"/>
              <a:ext cx="1676400" cy="3048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I</a:t>
              </a:r>
            </a:p>
          </p:txBody>
        </p:sp>
        <p:sp>
          <p:nvSpPr>
            <p:cNvPr id="188" name="Rectangle 33">
              <a:extLst>
                <a:ext uri="{FF2B5EF4-FFF2-40B4-BE49-F238E27FC236}">
                  <a16:creationId xmlns:a16="http://schemas.microsoft.com/office/drawing/2014/main" id="{C9D01ABB-5DE8-42F9-9891-41B4974F1F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4191000"/>
              <a:ext cx="1676400" cy="3048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J</a:t>
              </a:r>
            </a:p>
          </p:txBody>
        </p:sp>
        <p:sp>
          <p:nvSpPr>
            <p:cNvPr id="189" name="Rectangle 34">
              <a:extLst>
                <a:ext uri="{FF2B5EF4-FFF2-40B4-BE49-F238E27FC236}">
                  <a16:creationId xmlns:a16="http://schemas.microsoft.com/office/drawing/2014/main" id="{557E9914-E8E3-461D-8878-BCC990689C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4191000"/>
              <a:ext cx="1676400" cy="3048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K</a:t>
              </a:r>
            </a:p>
          </p:txBody>
        </p:sp>
        <p:sp>
          <p:nvSpPr>
            <p:cNvPr id="190" name="Rectangle 35">
              <a:extLst>
                <a:ext uri="{FF2B5EF4-FFF2-40B4-BE49-F238E27FC236}">
                  <a16:creationId xmlns:a16="http://schemas.microsoft.com/office/drawing/2014/main" id="{61D9F16C-2E50-4229-B060-386D9318C5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2800" y="4191000"/>
              <a:ext cx="1676400" cy="3048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L</a:t>
              </a:r>
            </a:p>
          </p:txBody>
        </p:sp>
        <p:sp>
          <p:nvSpPr>
            <p:cNvPr id="191" name="Rectangle 36">
              <a:extLst>
                <a:ext uri="{FF2B5EF4-FFF2-40B4-BE49-F238E27FC236}">
                  <a16:creationId xmlns:a16="http://schemas.microsoft.com/office/drawing/2014/main" id="{2C348551-E197-4342-8A89-DE96E9082F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4495800"/>
              <a:ext cx="990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92" name="Rectangle 37">
              <a:extLst>
                <a:ext uri="{FF2B5EF4-FFF2-40B4-BE49-F238E27FC236}">
                  <a16:creationId xmlns:a16="http://schemas.microsoft.com/office/drawing/2014/main" id="{95DB980D-0C44-40ED-880B-BE8F61DC76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4495800"/>
              <a:ext cx="228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0</a:t>
              </a:r>
            </a:p>
          </p:txBody>
        </p:sp>
        <p:sp>
          <p:nvSpPr>
            <p:cNvPr id="193" name="Rectangle 38">
              <a:extLst>
                <a:ext uri="{FF2B5EF4-FFF2-40B4-BE49-F238E27FC236}">
                  <a16:creationId xmlns:a16="http://schemas.microsoft.com/office/drawing/2014/main" id="{66465765-B49B-4CCD-BCA5-B270F7C565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44958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94" name="Rectangle 39">
              <a:extLst>
                <a:ext uri="{FF2B5EF4-FFF2-40B4-BE49-F238E27FC236}">
                  <a16:creationId xmlns:a16="http://schemas.microsoft.com/office/drawing/2014/main" id="{A389D9B1-3153-40BD-B9CA-CBDDE18955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44958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95" name="Rectangle 40">
              <a:extLst>
                <a:ext uri="{FF2B5EF4-FFF2-40B4-BE49-F238E27FC236}">
                  <a16:creationId xmlns:a16="http://schemas.microsoft.com/office/drawing/2014/main" id="{D9E91D9A-A570-4B9A-9B1F-979B71E6FA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44958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96" name="Rectangle 41">
              <a:extLst>
                <a:ext uri="{FF2B5EF4-FFF2-40B4-BE49-F238E27FC236}">
                  <a16:creationId xmlns:a16="http://schemas.microsoft.com/office/drawing/2014/main" id="{2E16522C-36D5-421A-AEDA-F925E3C81F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2800" y="44958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97" name="Rectangle 42">
              <a:extLst>
                <a:ext uri="{FF2B5EF4-FFF2-40B4-BE49-F238E27FC236}">
                  <a16:creationId xmlns:a16="http://schemas.microsoft.com/office/drawing/2014/main" id="{00D6C020-0238-4BF5-B873-53184CA569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4800600"/>
              <a:ext cx="990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98" name="Rectangle 43">
              <a:extLst>
                <a:ext uri="{FF2B5EF4-FFF2-40B4-BE49-F238E27FC236}">
                  <a16:creationId xmlns:a16="http://schemas.microsoft.com/office/drawing/2014/main" id="{3AE664DB-E5FD-43AA-8B98-CCEDF06A69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4800600"/>
              <a:ext cx="228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0</a:t>
              </a:r>
            </a:p>
          </p:txBody>
        </p:sp>
        <p:sp>
          <p:nvSpPr>
            <p:cNvPr id="199" name="Rectangle 44">
              <a:extLst>
                <a:ext uri="{FF2B5EF4-FFF2-40B4-BE49-F238E27FC236}">
                  <a16:creationId xmlns:a16="http://schemas.microsoft.com/office/drawing/2014/main" id="{A35EE3E9-FC12-4B57-9531-CE8CEB342E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48006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00" name="Rectangle 45">
              <a:extLst>
                <a:ext uri="{FF2B5EF4-FFF2-40B4-BE49-F238E27FC236}">
                  <a16:creationId xmlns:a16="http://schemas.microsoft.com/office/drawing/2014/main" id="{8753CFC0-80CD-4094-9CD2-607D8D4155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48006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01" name="Rectangle 46">
              <a:extLst>
                <a:ext uri="{FF2B5EF4-FFF2-40B4-BE49-F238E27FC236}">
                  <a16:creationId xmlns:a16="http://schemas.microsoft.com/office/drawing/2014/main" id="{A3F5BD11-2CE3-4094-AEAB-AF4B3E84D5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48006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02" name="Rectangle 47">
              <a:extLst>
                <a:ext uri="{FF2B5EF4-FFF2-40B4-BE49-F238E27FC236}">
                  <a16:creationId xmlns:a16="http://schemas.microsoft.com/office/drawing/2014/main" id="{6AF50520-90FF-4FFF-8694-3D5F3EE0D9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2800" y="48006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03" name="Rectangle 48">
              <a:extLst>
                <a:ext uri="{FF2B5EF4-FFF2-40B4-BE49-F238E27FC236}">
                  <a16:creationId xmlns:a16="http://schemas.microsoft.com/office/drawing/2014/main" id="{D8CE9BCA-3A63-4072-AC5C-E15BD30E2C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5410200"/>
              <a:ext cx="990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04" name="Rectangle 49">
              <a:extLst>
                <a:ext uri="{FF2B5EF4-FFF2-40B4-BE49-F238E27FC236}">
                  <a16:creationId xmlns:a16="http://schemas.microsoft.com/office/drawing/2014/main" id="{8104CD71-9563-46EC-B4D3-E66BD678B4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5410200"/>
              <a:ext cx="228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0</a:t>
              </a:r>
            </a:p>
          </p:txBody>
        </p:sp>
        <p:sp>
          <p:nvSpPr>
            <p:cNvPr id="205" name="Rectangle 50">
              <a:extLst>
                <a:ext uri="{FF2B5EF4-FFF2-40B4-BE49-F238E27FC236}">
                  <a16:creationId xmlns:a16="http://schemas.microsoft.com/office/drawing/2014/main" id="{B2E9B1D5-1A0C-43C7-8A49-2F820C29F4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54102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06" name="Rectangle 51">
              <a:extLst>
                <a:ext uri="{FF2B5EF4-FFF2-40B4-BE49-F238E27FC236}">
                  <a16:creationId xmlns:a16="http://schemas.microsoft.com/office/drawing/2014/main" id="{ECA5EB9E-14EF-42D9-A455-C01DFCBB59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54102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07" name="Rectangle 52">
              <a:extLst>
                <a:ext uri="{FF2B5EF4-FFF2-40B4-BE49-F238E27FC236}">
                  <a16:creationId xmlns:a16="http://schemas.microsoft.com/office/drawing/2014/main" id="{6120DE07-115C-422B-A2D2-58B30578D1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54102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08" name="Rectangle 53">
              <a:extLst>
                <a:ext uri="{FF2B5EF4-FFF2-40B4-BE49-F238E27FC236}">
                  <a16:creationId xmlns:a16="http://schemas.microsoft.com/office/drawing/2014/main" id="{F648C58F-7E99-4B6D-8978-23AE7622D2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2800" y="54102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09" name="Rectangle 54">
              <a:extLst>
                <a:ext uri="{FF2B5EF4-FFF2-40B4-BE49-F238E27FC236}">
                  <a16:creationId xmlns:a16="http://schemas.microsoft.com/office/drawing/2014/main" id="{1D9AED89-1A8F-41A0-8B01-476BF6BF9D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5715000"/>
              <a:ext cx="990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10" name="Rectangle 55">
              <a:extLst>
                <a:ext uri="{FF2B5EF4-FFF2-40B4-BE49-F238E27FC236}">
                  <a16:creationId xmlns:a16="http://schemas.microsoft.com/office/drawing/2014/main" id="{CBD74B5F-2F5F-43E8-A0F5-BB9C83DD48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5715000"/>
              <a:ext cx="228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0</a:t>
              </a:r>
            </a:p>
          </p:txBody>
        </p:sp>
        <p:sp>
          <p:nvSpPr>
            <p:cNvPr id="211" name="Rectangle 56">
              <a:extLst>
                <a:ext uri="{FF2B5EF4-FFF2-40B4-BE49-F238E27FC236}">
                  <a16:creationId xmlns:a16="http://schemas.microsoft.com/office/drawing/2014/main" id="{CCA17176-0190-487E-A03B-DF92B8ACA0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57150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12" name="Rectangle 57">
              <a:extLst>
                <a:ext uri="{FF2B5EF4-FFF2-40B4-BE49-F238E27FC236}">
                  <a16:creationId xmlns:a16="http://schemas.microsoft.com/office/drawing/2014/main" id="{9B8BA583-207C-4DEC-99E3-2FE1D1670F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57150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13" name="Rectangle 58">
              <a:extLst>
                <a:ext uri="{FF2B5EF4-FFF2-40B4-BE49-F238E27FC236}">
                  <a16:creationId xmlns:a16="http://schemas.microsoft.com/office/drawing/2014/main" id="{2C7FC3A8-8131-4727-ADA9-6540131508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57150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14" name="Rectangle 59">
              <a:extLst>
                <a:ext uri="{FF2B5EF4-FFF2-40B4-BE49-F238E27FC236}">
                  <a16:creationId xmlns:a16="http://schemas.microsoft.com/office/drawing/2014/main" id="{45D258B3-7A47-407D-8686-71E77CF5D6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2800" y="57150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15" name="Text Box 60">
              <a:extLst>
                <a:ext uri="{FF2B5EF4-FFF2-40B4-BE49-F238E27FC236}">
                  <a16:creationId xmlns:a16="http://schemas.microsoft.com/office/drawing/2014/main" id="{463426D0-C900-4342-B6B5-11D5BDE988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6000" y="4960203"/>
              <a:ext cx="5029200" cy="73866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0" hangingPunct="0"/>
              <a:r>
                <a:rPr lang="en-US" sz="2400" b="1" dirty="0">
                  <a:latin typeface="+mn-lt"/>
                </a:rPr>
                <a:t>...    </a:t>
              </a:r>
              <a:r>
                <a:rPr lang="en-US" sz="2400" b="1" dirty="0"/>
                <a:t>...    ...    …   …   …   …   …</a:t>
              </a:r>
              <a:endParaRPr lang="en-US" sz="2400" dirty="0"/>
            </a:p>
            <a:p>
              <a:pPr eaLnBrk="0" hangingPunct="0"/>
              <a:endParaRPr lang="en-US" dirty="0"/>
            </a:p>
          </p:txBody>
        </p:sp>
        <p:sp>
          <p:nvSpPr>
            <p:cNvPr id="216" name="Text Box 61">
              <a:extLst>
                <a:ext uri="{FF2B5EF4-FFF2-40B4-BE49-F238E27FC236}">
                  <a16:creationId xmlns:a16="http://schemas.microsoft.com/office/drawing/2014/main" id="{D69291CC-D559-47A7-8E8C-9B02F88384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" y="3276600"/>
              <a:ext cx="307975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+mn-lt"/>
                </a:rPr>
                <a:t>0</a:t>
              </a:r>
            </a:p>
          </p:txBody>
        </p:sp>
        <p:sp>
          <p:nvSpPr>
            <p:cNvPr id="217" name="Text Box 62">
              <a:extLst>
                <a:ext uri="{FF2B5EF4-FFF2-40B4-BE49-F238E27FC236}">
                  <a16:creationId xmlns:a16="http://schemas.microsoft.com/office/drawing/2014/main" id="{7EFBB39C-7FCC-46C6-905F-6C99A86872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2273" y="3581400"/>
              <a:ext cx="298480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>
                  <a:latin typeface="+mn-lt"/>
                </a:rPr>
                <a:t>1</a:t>
              </a:r>
            </a:p>
          </p:txBody>
        </p:sp>
        <p:sp>
          <p:nvSpPr>
            <p:cNvPr id="218" name="Text Box 63">
              <a:extLst>
                <a:ext uri="{FF2B5EF4-FFF2-40B4-BE49-F238E27FC236}">
                  <a16:creationId xmlns:a16="http://schemas.microsoft.com/office/drawing/2014/main" id="{8093C03A-5B82-4221-BD8A-D078F94981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" y="3886200"/>
              <a:ext cx="307975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>
                  <a:latin typeface="+mn-lt"/>
                </a:rPr>
                <a:t>2</a:t>
              </a:r>
            </a:p>
          </p:txBody>
        </p:sp>
        <p:sp>
          <p:nvSpPr>
            <p:cNvPr id="219" name="Text Box 64">
              <a:extLst>
                <a:ext uri="{FF2B5EF4-FFF2-40B4-BE49-F238E27FC236}">
                  <a16:creationId xmlns:a16="http://schemas.microsoft.com/office/drawing/2014/main" id="{A2C29F96-2454-41DA-9B26-F787D5E64A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" y="4191000"/>
              <a:ext cx="307975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>
                  <a:latin typeface="+mn-lt"/>
                </a:rPr>
                <a:t>3</a:t>
              </a:r>
            </a:p>
          </p:txBody>
        </p:sp>
        <p:sp>
          <p:nvSpPr>
            <p:cNvPr id="220" name="Text Box 65">
              <a:extLst>
                <a:ext uri="{FF2B5EF4-FFF2-40B4-BE49-F238E27FC236}">
                  <a16:creationId xmlns:a16="http://schemas.microsoft.com/office/drawing/2014/main" id="{EF6654EC-787C-4848-9559-6E840F6017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" y="4495800"/>
              <a:ext cx="307975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>
                  <a:latin typeface="+mn-lt"/>
                </a:rPr>
                <a:t>4</a:t>
              </a:r>
            </a:p>
          </p:txBody>
        </p:sp>
        <p:sp>
          <p:nvSpPr>
            <p:cNvPr id="221" name="Text Box 66">
              <a:extLst>
                <a:ext uri="{FF2B5EF4-FFF2-40B4-BE49-F238E27FC236}">
                  <a16:creationId xmlns:a16="http://schemas.microsoft.com/office/drawing/2014/main" id="{7C8AE989-6C53-4280-813C-9F01AAA5EA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" y="4800600"/>
              <a:ext cx="307975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>
                  <a:latin typeface="+mn-lt"/>
                </a:rPr>
                <a:t>5</a:t>
              </a:r>
            </a:p>
          </p:txBody>
        </p:sp>
        <p:sp>
          <p:nvSpPr>
            <p:cNvPr id="222" name="Text Box 67">
              <a:extLst>
                <a:ext uri="{FF2B5EF4-FFF2-40B4-BE49-F238E27FC236}">
                  <a16:creationId xmlns:a16="http://schemas.microsoft.com/office/drawing/2014/main" id="{FB5E5C4D-ADD7-4B32-8EE1-89BDD7DD19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800" y="5410200"/>
              <a:ext cx="647700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>
                  <a:latin typeface="+mn-lt"/>
                </a:rPr>
                <a:t>1022</a:t>
              </a:r>
            </a:p>
          </p:txBody>
        </p:sp>
        <p:sp>
          <p:nvSpPr>
            <p:cNvPr id="223" name="Text Box 68">
              <a:extLst>
                <a:ext uri="{FF2B5EF4-FFF2-40B4-BE49-F238E27FC236}">
                  <a16:creationId xmlns:a16="http://schemas.microsoft.com/office/drawing/2014/main" id="{FDE10283-95DA-4E3D-A0BA-4688D4E7B5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800" y="5715000"/>
              <a:ext cx="647700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>
                  <a:latin typeface="+mn-lt"/>
                </a:rPr>
                <a:t>1023</a:t>
              </a:r>
            </a:p>
          </p:txBody>
        </p:sp>
        <p:sp>
          <p:nvSpPr>
            <p:cNvPr id="224" name="Text Box 69">
              <a:extLst>
                <a:ext uri="{FF2B5EF4-FFF2-40B4-BE49-F238E27FC236}">
                  <a16:creationId xmlns:a16="http://schemas.microsoft.com/office/drawing/2014/main" id="{D77255F9-0F93-4E80-AFBA-F6DB4E1DED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400" y="2971800"/>
              <a:ext cx="720069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latin typeface="+mn-lt"/>
                </a:rPr>
                <a:t>Index</a:t>
              </a:r>
            </a:p>
          </p:txBody>
        </p:sp>
        <p:sp>
          <p:nvSpPr>
            <p:cNvPr id="225" name="Text Box 70">
              <a:extLst>
                <a:ext uri="{FF2B5EF4-FFF2-40B4-BE49-F238E27FC236}">
                  <a16:creationId xmlns:a16="http://schemas.microsoft.com/office/drawing/2014/main" id="{6C6E4A95-18C8-4FEB-B693-F6C64577CE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6314" y="2971800"/>
              <a:ext cx="663836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latin typeface="+mn-lt"/>
                </a:rPr>
                <a:t>Valid</a:t>
              </a:r>
            </a:p>
          </p:txBody>
        </p:sp>
        <p:sp>
          <p:nvSpPr>
            <p:cNvPr id="226" name="Text Box 71">
              <a:extLst>
                <a:ext uri="{FF2B5EF4-FFF2-40B4-BE49-F238E27FC236}">
                  <a16:creationId xmlns:a16="http://schemas.microsoft.com/office/drawing/2014/main" id="{BD909583-44BB-40F6-B8BB-F1429E1434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7800" y="2971800"/>
              <a:ext cx="534988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latin typeface="+mn-lt"/>
                </a:rPr>
                <a:t>Tag</a:t>
              </a:r>
            </a:p>
          </p:txBody>
        </p:sp>
        <p:grpSp>
          <p:nvGrpSpPr>
            <p:cNvPr id="227" name="Group 226">
              <a:extLst>
                <a:ext uri="{FF2B5EF4-FFF2-40B4-BE49-F238E27FC236}">
                  <a16:creationId xmlns:a16="http://schemas.microsoft.com/office/drawing/2014/main" id="{513585D0-E055-46A0-BE26-8F0860954C93}"/>
                </a:ext>
              </a:extLst>
            </p:cNvPr>
            <p:cNvGrpSpPr/>
            <p:nvPr/>
          </p:nvGrpSpPr>
          <p:grpSpPr>
            <a:xfrm>
              <a:off x="2133600" y="2482850"/>
              <a:ext cx="6629400" cy="336550"/>
              <a:chOff x="2209800" y="2438400"/>
              <a:chExt cx="6629400" cy="336550"/>
            </a:xfrm>
          </p:grpSpPr>
          <p:sp>
            <p:nvSpPr>
              <p:cNvPr id="228" name="Text Box 72">
                <a:extLst>
                  <a:ext uri="{FF2B5EF4-FFF2-40B4-BE49-F238E27FC236}">
                    <a16:creationId xmlns:a16="http://schemas.microsoft.com/office/drawing/2014/main" id="{21ED1C2E-D58A-438E-A914-789B605B544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48200" y="2438400"/>
                <a:ext cx="635000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 dirty="0">
                    <a:latin typeface="+mn-lt"/>
                  </a:rPr>
                  <a:t>Data</a:t>
                </a:r>
              </a:p>
            </p:txBody>
          </p:sp>
          <p:sp>
            <p:nvSpPr>
              <p:cNvPr id="229" name="Line 73">
                <a:extLst>
                  <a:ext uri="{FF2B5EF4-FFF2-40B4-BE49-F238E27FC236}">
                    <a16:creationId xmlns:a16="http://schemas.microsoft.com/office/drawing/2014/main" id="{870432E5-0071-4339-ABD1-9A3ACF9F59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209800" y="2590800"/>
                <a:ext cx="24384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>
                <a:spAutoFit/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230" name="Line 74">
                <a:extLst>
                  <a:ext uri="{FF2B5EF4-FFF2-40B4-BE49-F238E27FC236}">
                    <a16:creationId xmlns:a16="http://schemas.microsoft.com/office/drawing/2014/main" id="{AD2A89F1-C959-485D-A27D-90B7488799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57800" y="2590800"/>
                <a:ext cx="35814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>
                <a:spAutoFit/>
              </a:bodyPr>
              <a:lstStyle/>
              <a:p>
                <a:endParaRPr lang="en-US">
                  <a:latin typeface="+mn-lt"/>
                </a:endParaRPr>
              </a:p>
            </p:txBody>
          </p:sp>
        </p:grpSp>
        <p:sp>
          <p:nvSpPr>
            <p:cNvPr id="231" name="Text Box 75">
              <a:extLst>
                <a:ext uri="{FF2B5EF4-FFF2-40B4-BE49-F238E27FC236}">
                  <a16:creationId xmlns:a16="http://schemas.microsoft.com/office/drawing/2014/main" id="{6CA55884-7FC8-41F1-8BCF-9E970DC44E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072" y="2743200"/>
              <a:ext cx="818942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latin typeface="+mn-lt"/>
                </a:rPr>
                <a:t>Word0</a:t>
              </a:r>
            </a:p>
          </p:txBody>
        </p:sp>
        <p:sp>
          <p:nvSpPr>
            <p:cNvPr id="232" name="Text Box 76">
              <a:extLst>
                <a:ext uri="{FF2B5EF4-FFF2-40B4-BE49-F238E27FC236}">
                  <a16:creationId xmlns:a16="http://schemas.microsoft.com/office/drawing/2014/main" id="{E1040994-3945-4413-8AAD-BA7762EF6A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0862" y="2743200"/>
              <a:ext cx="811213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latin typeface="+mn-lt"/>
                </a:rPr>
                <a:t>Word1</a:t>
              </a:r>
            </a:p>
          </p:txBody>
        </p:sp>
        <p:sp>
          <p:nvSpPr>
            <p:cNvPr id="233" name="Text Box 77">
              <a:extLst>
                <a:ext uri="{FF2B5EF4-FFF2-40B4-BE49-F238E27FC236}">
                  <a16:creationId xmlns:a16="http://schemas.microsoft.com/office/drawing/2014/main" id="{DFB75E1E-68E3-4B7E-B028-B111AF99CC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49272" y="2743200"/>
              <a:ext cx="818942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latin typeface="+mn-lt"/>
                </a:rPr>
                <a:t>Word2</a:t>
              </a:r>
            </a:p>
          </p:txBody>
        </p:sp>
        <p:sp>
          <p:nvSpPr>
            <p:cNvPr id="234" name="Text Box 78">
              <a:extLst>
                <a:ext uri="{FF2B5EF4-FFF2-40B4-BE49-F238E27FC236}">
                  <a16:creationId xmlns:a16="http://schemas.microsoft.com/office/drawing/2014/main" id="{B2BC71AA-A2D1-4DBC-B2C2-CF722F48DD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49472" y="2743200"/>
              <a:ext cx="818942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latin typeface="+mn-lt"/>
                </a:rPr>
                <a:t>Word3</a:t>
              </a:r>
            </a:p>
          </p:txBody>
        </p:sp>
        <p:sp>
          <p:nvSpPr>
            <p:cNvPr id="235" name="Text Box 79">
              <a:extLst>
                <a:ext uri="{FF2B5EF4-FFF2-40B4-BE49-F238E27FC236}">
                  <a16:creationId xmlns:a16="http://schemas.microsoft.com/office/drawing/2014/main" id="{D8682EFC-9622-49BC-B6A4-B30395A03C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8548" y="2971800"/>
              <a:ext cx="1051891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+mn-lt"/>
                </a:rPr>
                <a:t>Bytes 0-3</a:t>
              </a:r>
            </a:p>
          </p:txBody>
        </p:sp>
        <p:sp>
          <p:nvSpPr>
            <p:cNvPr id="236" name="Text Box 80">
              <a:extLst>
                <a:ext uri="{FF2B5EF4-FFF2-40B4-BE49-F238E27FC236}">
                  <a16:creationId xmlns:a16="http://schemas.microsoft.com/office/drawing/2014/main" id="{7B38301C-3B9A-4FAC-A899-61CF2A9A06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37348" y="2971800"/>
              <a:ext cx="1051891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+mn-lt"/>
                </a:rPr>
                <a:t>Bytes 4-7</a:t>
              </a:r>
            </a:p>
          </p:txBody>
        </p:sp>
        <p:sp>
          <p:nvSpPr>
            <p:cNvPr id="237" name="Text Box 81">
              <a:extLst>
                <a:ext uri="{FF2B5EF4-FFF2-40B4-BE49-F238E27FC236}">
                  <a16:creationId xmlns:a16="http://schemas.microsoft.com/office/drawing/2014/main" id="{B4B6B579-23AC-4607-A193-758CD3A881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48597" y="2971800"/>
              <a:ext cx="1150444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+mn-lt"/>
                </a:rPr>
                <a:t>Bytes 8-11</a:t>
              </a:r>
            </a:p>
          </p:txBody>
        </p:sp>
        <p:sp>
          <p:nvSpPr>
            <p:cNvPr id="238" name="Text Box 82">
              <a:extLst>
                <a:ext uri="{FF2B5EF4-FFF2-40B4-BE49-F238E27FC236}">
                  <a16:creationId xmlns:a16="http://schemas.microsoft.com/office/drawing/2014/main" id="{347EA6BB-E77E-46E9-9C40-2EBB51466C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46173" y="2971800"/>
              <a:ext cx="1279517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+mn-lt"/>
                </a:rPr>
                <a:t>Bytes 12-15</a:t>
              </a:r>
            </a:p>
          </p:txBody>
        </p:sp>
      </p:grp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31F9FD43-221E-460D-B50A-921A9448A602}"/>
              </a:ext>
            </a:extLst>
          </p:cNvPr>
          <p:cNvCxnSpPr/>
          <p:nvPr/>
        </p:nvCxnSpPr>
        <p:spPr>
          <a:xfrm flipH="1">
            <a:off x="1828800" y="1857376"/>
            <a:ext cx="1720516" cy="184835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3956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5. Reading Data: </a:t>
            </a:r>
            <a:r>
              <a:rPr lang="en-GB" sz="3600" b="1" dirty="0">
                <a:solidFill>
                  <a:srgbClr val="0000FF"/>
                </a:solidFill>
              </a:rPr>
              <a:t>Load #5-4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#22: Cache I: Direct Mapped Cache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52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05" name="Content Placeholder 2">
            <a:extLst>
              <a:ext uri="{FF2B5EF4-FFF2-40B4-BE49-F238E27FC236}">
                <a16:creationId xmlns:a16="http://schemas.microsoft.com/office/drawing/2014/main" id="{F42D869D-777C-4A19-87AD-D73DCB7B3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788" y="1463676"/>
            <a:ext cx="8538411" cy="958849"/>
          </a:xfrm>
        </p:spPr>
        <p:txBody>
          <a:bodyPr>
            <a:normAutofit/>
          </a:bodyPr>
          <a:lstStyle/>
          <a:p>
            <a:pPr marL="265113" indent="-265113">
              <a:buSzPct val="100000"/>
              <a:buFont typeface="Wingdings" panose="05000000000000000000" pitchFamily="2" charset="2"/>
              <a:buChar char="§"/>
            </a:pPr>
            <a:r>
              <a:rPr lang="en-SG" sz="2400" dirty="0"/>
              <a:t>Load from</a:t>
            </a:r>
            <a:endParaRPr lang="en-SG" sz="2200" dirty="0"/>
          </a:p>
          <a:p>
            <a:pPr>
              <a:buNone/>
            </a:pPr>
            <a:r>
              <a:rPr lang="en-US" b="1" dirty="0"/>
              <a:t>Step 4</a:t>
            </a:r>
            <a:r>
              <a:rPr lang="en-US" dirty="0"/>
              <a:t>. </a:t>
            </a:r>
            <a:r>
              <a:rPr lang="en-US" sz="2200" dirty="0"/>
              <a:t>Return </a:t>
            </a:r>
            <a:r>
              <a:rPr lang="en-US" sz="2200" b="1" dirty="0"/>
              <a:t>Word0</a:t>
            </a:r>
            <a:r>
              <a:rPr lang="en-US" sz="2200" dirty="0"/>
              <a:t> (byte offset = 0) to Register</a:t>
            </a:r>
            <a:endParaRPr lang="en-SG" sz="2200" b="1" dirty="0">
              <a:solidFill>
                <a:srgbClr val="7030A0"/>
              </a:solidFill>
            </a:endParaRP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F79D12AF-480C-4552-88AA-23103501BE5B}"/>
              </a:ext>
            </a:extLst>
          </p:cNvPr>
          <p:cNvGrpSpPr/>
          <p:nvPr/>
        </p:nvGrpSpPr>
        <p:grpSpPr>
          <a:xfrm>
            <a:off x="2362201" y="1095376"/>
            <a:ext cx="5257799" cy="762000"/>
            <a:chOff x="2362201" y="914400"/>
            <a:chExt cx="5257799" cy="762000"/>
          </a:xfrm>
        </p:grpSpPr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3ADEB99F-7526-4800-93FB-68071C373046}"/>
                </a:ext>
              </a:extLst>
            </p:cNvPr>
            <p:cNvSpPr/>
            <p:nvPr/>
          </p:nvSpPr>
          <p:spPr>
            <a:xfrm>
              <a:off x="2362201" y="1295400"/>
              <a:ext cx="2743199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dirty="0">
                  <a:solidFill>
                    <a:srgbClr val="C00000"/>
                  </a:solidFill>
                </a:rPr>
                <a:t>000000000000000000</a:t>
              </a: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63F33081-71DE-4216-A404-17AFE49F1B46}"/>
                </a:ext>
              </a:extLst>
            </p:cNvPr>
            <p:cNvSpPr/>
            <p:nvPr/>
          </p:nvSpPr>
          <p:spPr>
            <a:xfrm>
              <a:off x="6705600" y="1295400"/>
              <a:ext cx="838200" cy="381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dirty="0">
                  <a:solidFill>
                    <a:srgbClr val="006600"/>
                  </a:solidFill>
                </a:rPr>
                <a:t>0000</a:t>
              </a:r>
            </a:p>
          </p:txBody>
        </p:sp>
        <p:sp>
          <p:nvSpPr>
            <p:cNvPr id="110" name="Text Box 75">
              <a:extLst>
                <a:ext uri="{FF2B5EF4-FFF2-40B4-BE49-F238E27FC236}">
                  <a16:creationId xmlns:a16="http://schemas.microsoft.com/office/drawing/2014/main" id="{1C436AB2-65A7-47B1-A984-D266382BA4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9000" y="914400"/>
              <a:ext cx="726226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C00000"/>
                  </a:solidFill>
                  <a:latin typeface="+mn-lt"/>
                </a:rPr>
                <a:t>Tag</a:t>
              </a:r>
            </a:p>
          </p:txBody>
        </p:sp>
        <p:sp>
          <p:nvSpPr>
            <p:cNvPr id="111" name="Text Box 75">
              <a:extLst>
                <a:ext uri="{FF2B5EF4-FFF2-40B4-BE49-F238E27FC236}">
                  <a16:creationId xmlns:a16="http://schemas.microsoft.com/office/drawing/2014/main" id="{B5D4DA04-2759-4E95-9345-23DD0EE458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53200" y="914400"/>
              <a:ext cx="1066800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006600"/>
                  </a:solidFill>
                  <a:latin typeface="+mn-lt"/>
                </a:rPr>
                <a:t>Offset</a:t>
              </a: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0BAEB268-7595-4B11-BE85-B7EF92481650}"/>
                </a:ext>
              </a:extLst>
            </p:cNvPr>
            <p:cNvSpPr/>
            <p:nvPr/>
          </p:nvSpPr>
          <p:spPr>
            <a:xfrm>
              <a:off x="5105400" y="1295400"/>
              <a:ext cx="1600200" cy="381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dirty="0">
                  <a:solidFill>
                    <a:schemeClr val="accent6">
                      <a:lumMod val="50000"/>
                    </a:schemeClr>
                  </a:solidFill>
                </a:rPr>
                <a:t>0000000001</a:t>
              </a:r>
            </a:p>
          </p:txBody>
        </p:sp>
        <p:sp>
          <p:nvSpPr>
            <p:cNvPr id="113" name="Text Box 75">
              <a:extLst>
                <a:ext uri="{FF2B5EF4-FFF2-40B4-BE49-F238E27FC236}">
                  <a16:creationId xmlns:a16="http://schemas.microsoft.com/office/drawing/2014/main" id="{226367A3-BC7A-4DF9-8D7F-4DF639AF96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10200" y="914400"/>
              <a:ext cx="997177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6">
                      <a:lumMod val="50000"/>
                    </a:schemeClr>
                  </a:solidFill>
                  <a:latin typeface="+mn-lt"/>
                </a:rPr>
                <a:t>Index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B86DC5FD-6836-4D25-A241-FF84C85197BF}"/>
              </a:ext>
            </a:extLst>
          </p:cNvPr>
          <p:cNvGrpSpPr/>
          <p:nvPr/>
        </p:nvGrpSpPr>
        <p:grpSpPr>
          <a:xfrm>
            <a:off x="152400" y="2482850"/>
            <a:ext cx="8686800" cy="3568700"/>
            <a:chOff x="152400" y="2482850"/>
            <a:chExt cx="8686800" cy="3568700"/>
          </a:xfrm>
        </p:grpSpPr>
        <p:sp>
          <p:nvSpPr>
            <p:cNvPr id="87" name="Rectangle 12">
              <a:extLst>
                <a:ext uri="{FF2B5EF4-FFF2-40B4-BE49-F238E27FC236}">
                  <a16:creationId xmlns:a16="http://schemas.microsoft.com/office/drawing/2014/main" id="{7DB01CFC-F7DF-40C0-BA45-0DE3172D07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3276600"/>
              <a:ext cx="990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89" name="Rectangle 13">
              <a:extLst>
                <a:ext uri="{FF2B5EF4-FFF2-40B4-BE49-F238E27FC236}">
                  <a16:creationId xmlns:a16="http://schemas.microsoft.com/office/drawing/2014/main" id="{B8DCEAE1-E087-4A49-83D9-048A33B628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3276600"/>
              <a:ext cx="228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0</a:t>
              </a:r>
            </a:p>
          </p:txBody>
        </p:sp>
        <p:sp>
          <p:nvSpPr>
            <p:cNvPr id="90" name="Rectangle 14">
              <a:extLst>
                <a:ext uri="{FF2B5EF4-FFF2-40B4-BE49-F238E27FC236}">
                  <a16:creationId xmlns:a16="http://schemas.microsoft.com/office/drawing/2014/main" id="{D98392BF-221B-4474-B08B-2CA1A18563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32766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91" name="Rectangle 15">
              <a:extLst>
                <a:ext uri="{FF2B5EF4-FFF2-40B4-BE49-F238E27FC236}">
                  <a16:creationId xmlns:a16="http://schemas.microsoft.com/office/drawing/2014/main" id="{77129509-8B2D-4DAA-AB46-389B3A66B6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32766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92" name="Rectangle 16">
              <a:extLst>
                <a:ext uri="{FF2B5EF4-FFF2-40B4-BE49-F238E27FC236}">
                  <a16:creationId xmlns:a16="http://schemas.microsoft.com/office/drawing/2014/main" id="{79F8F813-9F73-4965-9083-136E98D0AE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32766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93" name="Rectangle 17">
              <a:extLst>
                <a:ext uri="{FF2B5EF4-FFF2-40B4-BE49-F238E27FC236}">
                  <a16:creationId xmlns:a16="http://schemas.microsoft.com/office/drawing/2014/main" id="{06CCEF57-E287-472D-8F45-1ECA79220D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2800" y="32766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94" name="Rectangle 18">
              <a:extLst>
                <a:ext uri="{FF2B5EF4-FFF2-40B4-BE49-F238E27FC236}">
                  <a16:creationId xmlns:a16="http://schemas.microsoft.com/office/drawing/2014/main" id="{6826A830-F5B6-4A8F-A17C-EF62BBD345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3581400"/>
              <a:ext cx="990600" cy="3048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0</a:t>
              </a:r>
            </a:p>
          </p:txBody>
        </p:sp>
        <p:sp>
          <p:nvSpPr>
            <p:cNvPr id="95" name="Rectangle 19">
              <a:extLst>
                <a:ext uri="{FF2B5EF4-FFF2-40B4-BE49-F238E27FC236}">
                  <a16:creationId xmlns:a16="http://schemas.microsoft.com/office/drawing/2014/main" id="{D5859BA3-46BB-475D-9A80-91365302A7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3581400"/>
              <a:ext cx="228600" cy="304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1</a:t>
              </a:r>
            </a:p>
          </p:txBody>
        </p:sp>
        <p:sp>
          <p:nvSpPr>
            <p:cNvPr id="96" name="Rectangle 20">
              <a:extLst>
                <a:ext uri="{FF2B5EF4-FFF2-40B4-BE49-F238E27FC236}">
                  <a16:creationId xmlns:a16="http://schemas.microsoft.com/office/drawing/2014/main" id="{F4D5AFC3-B720-4994-8043-D446CCC169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3581400"/>
              <a:ext cx="1676400" cy="3048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A</a:t>
              </a:r>
            </a:p>
          </p:txBody>
        </p:sp>
        <p:sp>
          <p:nvSpPr>
            <p:cNvPr id="97" name="Rectangle 21">
              <a:extLst>
                <a:ext uri="{FF2B5EF4-FFF2-40B4-BE49-F238E27FC236}">
                  <a16:creationId xmlns:a16="http://schemas.microsoft.com/office/drawing/2014/main" id="{F3DB8786-6C20-491C-83A3-90B2A212C6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3581400"/>
              <a:ext cx="1676400" cy="3048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B</a:t>
              </a:r>
            </a:p>
          </p:txBody>
        </p:sp>
        <p:sp>
          <p:nvSpPr>
            <p:cNvPr id="98" name="Rectangle 22">
              <a:extLst>
                <a:ext uri="{FF2B5EF4-FFF2-40B4-BE49-F238E27FC236}">
                  <a16:creationId xmlns:a16="http://schemas.microsoft.com/office/drawing/2014/main" id="{FD926B1D-D091-42D2-B1C4-60D912CE7C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3581400"/>
              <a:ext cx="1676400" cy="3048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C</a:t>
              </a:r>
            </a:p>
          </p:txBody>
        </p:sp>
        <p:sp>
          <p:nvSpPr>
            <p:cNvPr id="99" name="Rectangle 23">
              <a:extLst>
                <a:ext uri="{FF2B5EF4-FFF2-40B4-BE49-F238E27FC236}">
                  <a16:creationId xmlns:a16="http://schemas.microsoft.com/office/drawing/2014/main" id="{51F3EF8B-5B63-4FC2-9ACB-59B4E98656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2800" y="3581400"/>
              <a:ext cx="1676400" cy="3048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D</a:t>
              </a:r>
            </a:p>
          </p:txBody>
        </p:sp>
        <p:sp>
          <p:nvSpPr>
            <p:cNvPr id="100" name="Rectangle 24">
              <a:extLst>
                <a:ext uri="{FF2B5EF4-FFF2-40B4-BE49-F238E27FC236}">
                  <a16:creationId xmlns:a16="http://schemas.microsoft.com/office/drawing/2014/main" id="{84C5F924-7304-4F70-A8FA-F084A790D8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3886200"/>
              <a:ext cx="990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01" name="Rectangle 25">
              <a:extLst>
                <a:ext uri="{FF2B5EF4-FFF2-40B4-BE49-F238E27FC236}">
                  <a16:creationId xmlns:a16="http://schemas.microsoft.com/office/drawing/2014/main" id="{5E7AF4C3-54CB-4D5E-BA80-9B907F9AE5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3886200"/>
              <a:ext cx="228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0</a:t>
              </a:r>
            </a:p>
          </p:txBody>
        </p:sp>
        <p:sp>
          <p:nvSpPr>
            <p:cNvPr id="102" name="Rectangle 26">
              <a:extLst>
                <a:ext uri="{FF2B5EF4-FFF2-40B4-BE49-F238E27FC236}">
                  <a16:creationId xmlns:a16="http://schemas.microsoft.com/office/drawing/2014/main" id="{8631D9BE-7ED8-40D3-A9C3-4F8DB0D93A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38862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16" name="Rectangle 27">
              <a:extLst>
                <a:ext uri="{FF2B5EF4-FFF2-40B4-BE49-F238E27FC236}">
                  <a16:creationId xmlns:a16="http://schemas.microsoft.com/office/drawing/2014/main" id="{7D84F504-64E4-4A2B-A295-B53F22EAA3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38862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83" name="Rectangle 28">
              <a:extLst>
                <a:ext uri="{FF2B5EF4-FFF2-40B4-BE49-F238E27FC236}">
                  <a16:creationId xmlns:a16="http://schemas.microsoft.com/office/drawing/2014/main" id="{76E25282-9BA2-48C8-A434-1FA71DFE92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38862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84" name="Rectangle 29">
              <a:extLst>
                <a:ext uri="{FF2B5EF4-FFF2-40B4-BE49-F238E27FC236}">
                  <a16:creationId xmlns:a16="http://schemas.microsoft.com/office/drawing/2014/main" id="{D2F5727C-E9A6-4D41-963F-74E8C92F83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2800" y="38862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85" name="Rectangle 30">
              <a:extLst>
                <a:ext uri="{FF2B5EF4-FFF2-40B4-BE49-F238E27FC236}">
                  <a16:creationId xmlns:a16="http://schemas.microsoft.com/office/drawing/2014/main" id="{A1439D59-C4AE-4631-AFF9-BC42ED6D67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4191000"/>
              <a:ext cx="990600" cy="3048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0</a:t>
              </a:r>
            </a:p>
          </p:txBody>
        </p:sp>
        <p:sp>
          <p:nvSpPr>
            <p:cNvPr id="186" name="Rectangle 31">
              <a:extLst>
                <a:ext uri="{FF2B5EF4-FFF2-40B4-BE49-F238E27FC236}">
                  <a16:creationId xmlns:a16="http://schemas.microsoft.com/office/drawing/2014/main" id="{6C4CA497-4776-4915-A20D-D5941DAD55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4191000"/>
              <a:ext cx="228600" cy="3048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1</a:t>
              </a:r>
            </a:p>
          </p:txBody>
        </p:sp>
        <p:sp>
          <p:nvSpPr>
            <p:cNvPr id="187" name="Rectangle 32">
              <a:extLst>
                <a:ext uri="{FF2B5EF4-FFF2-40B4-BE49-F238E27FC236}">
                  <a16:creationId xmlns:a16="http://schemas.microsoft.com/office/drawing/2014/main" id="{3AA6AF80-9D87-4D18-A03D-2BBF808FF1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4191000"/>
              <a:ext cx="1676400" cy="3048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I</a:t>
              </a:r>
            </a:p>
          </p:txBody>
        </p:sp>
        <p:sp>
          <p:nvSpPr>
            <p:cNvPr id="188" name="Rectangle 33">
              <a:extLst>
                <a:ext uri="{FF2B5EF4-FFF2-40B4-BE49-F238E27FC236}">
                  <a16:creationId xmlns:a16="http://schemas.microsoft.com/office/drawing/2014/main" id="{C9D01ABB-5DE8-42F9-9891-41B4974F1F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4191000"/>
              <a:ext cx="1676400" cy="3048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J</a:t>
              </a:r>
            </a:p>
          </p:txBody>
        </p:sp>
        <p:sp>
          <p:nvSpPr>
            <p:cNvPr id="189" name="Rectangle 34">
              <a:extLst>
                <a:ext uri="{FF2B5EF4-FFF2-40B4-BE49-F238E27FC236}">
                  <a16:creationId xmlns:a16="http://schemas.microsoft.com/office/drawing/2014/main" id="{557E9914-E8E3-461D-8878-BCC990689C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4191000"/>
              <a:ext cx="1676400" cy="3048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K</a:t>
              </a:r>
            </a:p>
          </p:txBody>
        </p:sp>
        <p:sp>
          <p:nvSpPr>
            <p:cNvPr id="190" name="Rectangle 35">
              <a:extLst>
                <a:ext uri="{FF2B5EF4-FFF2-40B4-BE49-F238E27FC236}">
                  <a16:creationId xmlns:a16="http://schemas.microsoft.com/office/drawing/2014/main" id="{61D9F16C-2E50-4229-B060-386D9318C5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2800" y="4191000"/>
              <a:ext cx="1676400" cy="3048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L</a:t>
              </a:r>
            </a:p>
          </p:txBody>
        </p:sp>
        <p:sp>
          <p:nvSpPr>
            <p:cNvPr id="191" name="Rectangle 36">
              <a:extLst>
                <a:ext uri="{FF2B5EF4-FFF2-40B4-BE49-F238E27FC236}">
                  <a16:creationId xmlns:a16="http://schemas.microsoft.com/office/drawing/2014/main" id="{2C348551-E197-4342-8A89-DE96E9082F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4495800"/>
              <a:ext cx="990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92" name="Rectangle 37">
              <a:extLst>
                <a:ext uri="{FF2B5EF4-FFF2-40B4-BE49-F238E27FC236}">
                  <a16:creationId xmlns:a16="http://schemas.microsoft.com/office/drawing/2014/main" id="{95DB980D-0C44-40ED-880B-BE8F61DC76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4495800"/>
              <a:ext cx="228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0</a:t>
              </a:r>
            </a:p>
          </p:txBody>
        </p:sp>
        <p:sp>
          <p:nvSpPr>
            <p:cNvPr id="193" name="Rectangle 38">
              <a:extLst>
                <a:ext uri="{FF2B5EF4-FFF2-40B4-BE49-F238E27FC236}">
                  <a16:creationId xmlns:a16="http://schemas.microsoft.com/office/drawing/2014/main" id="{66465765-B49B-4CCD-BCA5-B270F7C565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44958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94" name="Rectangle 39">
              <a:extLst>
                <a:ext uri="{FF2B5EF4-FFF2-40B4-BE49-F238E27FC236}">
                  <a16:creationId xmlns:a16="http://schemas.microsoft.com/office/drawing/2014/main" id="{A389D9B1-3153-40BD-B9CA-CBDDE18955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44958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95" name="Rectangle 40">
              <a:extLst>
                <a:ext uri="{FF2B5EF4-FFF2-40B4-BE49-F238E27FC236}">
                  <a16:creationId xmlns:a16="http://schemas.microsoft.com/office/drawing/2014/main" id="{D9E91D9A-A570-4B9A-9B1F-979B71E6FA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44958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96" name="Rectangle 41">
              <a:extLst>
                <a:ext uri="{FF2B5EF4-FFF2-40B4-BE49-F238E27FC236}">
                  <a16:creationId xmlns:a16="http://schemas.microsoft.com/office/drawing/2014/main" id="{2E16522C-36D5-421A-AEDA-F925E3C81F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2800" y="44958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97" name="Rectangle 42">
              <a:extLst>
                <a:ext uri="{FF2B5EF4-FFF2-40B4-BE49-F238E27FC236}">
                  <a16:creationId xmlns:a16="http://schemas.microsoft.com/office/drawing/2014/main" id="{00D6C020-0238-4BF5-B873-53184CA569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4800600"/>
              <a:ext cx="990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198" name="Rectangle 43">
              <a:extLst>
                <a:ext uri="{FF2B5EF4-FFF2-40B4-BE49-F238E27FC236}">
                  <a16:creationId xmlns:a16="http://schemas.microsoft.com/office/drawing/2014/main" id="{3AE664DB-E5FD-43AA-8B98-CCEDF06A69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4800600"/>
              <a:ext cx="228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0</a:t>
              </a:r>
            </a:p>
          </p:txBody>
        </p:sp>
        <p:sp>
          <p:nvSpPr>
            <p:cNvPr id="199" name="Rectangle 44">
              <a:extLst>
                <a:ext uri="{FF2B5EF4-FFF2-40B4-BE49-F238E27FC236}">
                  <a16:creationId xmlns:a16="http://schemas.microsoft.com/office/drawing/2014/main" id="{A35EE3E9-FC12-4B57-9531-CE8CEB342E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48006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00" name="Rectangle 45">
              <a:extLst>
                <a:ext uri="{FF2B5EF4-FFF2-40B4-BE49-F238E27FC236}">
                  <a16:creationId xmlns:a16="http://schemas.microsoft.com/office/drawing/2014/main" id="{8753CFC0-80CD-4094-9CD2-607D8D4155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48006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01" name="Rectangle 46">
              <a:extLst>
                <a:ext uri="{FF2B5EF4-FFF2-40B4-BE49-F238E27FC236}">
                  <a16:creationId xmlns:a16="http://schemas.microsoft.com/office/drawing/2014/main" id="{A3F5BD11-2CE3-4094-AEAB-AF4B3E84D5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48006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02" name="Rectangle 47">
              <a:extLst>
                <a:ext uri="{FF2B5EF4-FFF2-40B4-BE49-F238E27FC236}">
                  <a16:creationId xmlns:a16="http://schemas.microsoft.com/office/drawing/2014/main" id="{6AF50520-90FF-4FFF-8694-3D5F3EE0D9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2800" y="48006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03" name="Rectangle 48">
              <a:extLst>
                <a:ext uri="{FF2B5EF4-FFF2-40B4-BE49-F238E27FC236}">
                  <a16:creationId xmlns:a16="http://schemas.microsoft.com/office/drawing/2014/main" id="{D8CE9BCA-3A63-4072-AC5C-E15BD30E2C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5410200"/>
              <a:ext cx="990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04" name="Rectangle 49">
              <a:extLst>
                <a:ext uri="{FF2B5EF4-FFF2-40B4-BE49-F238E27FC236}">
                  <a16:creationId xmlns:a16="http://schemas.microsoft.com/office/drawing/2014/main" id="{8104CD71-9563-46EC-B4D3-E66BD678B4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5410200"/>
              <a:ext cx="228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0</a:t>
              </a:r>
            </a:p>
          </p:txBody>
        </p:sp>
        <p:sp>
          <p:nvSpPr>
            <p:cNvPr id="205" name="Rectangle 50">
              <a:extLst>
                <a:ext uri="{FF2B5EF4-FFF2-40B4-BE49-F238E27FC236}">
                  <a16:creationId xmlns:a16="http://schemas.microsoft.com/office/drawing/2014/main" id="{B2E9B1D5-1A0C-43C7-8A49-2F820C29F4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54102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06" name="Rectangle 51">
              <a:extLst>
                <a:ext uri="{FF2B5EF4-FFF2-40B4-BE49-F238E27FC236}">
                  <a16:creationId xmlns:a16="http://schemas.microsoft.com/office/drawing/2014/main" id="{ECA5EB9E-14EF-42D9-A455-C01DFCBB59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54102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07" name="Rectangle 52">
              <a:extLst>
                <a:ext uri="{FF2B5EF4-FFF2-40B4-BE49-F238E27FC236}">
                  <a16:creationId xmlns:a16="http://schemas.microsoft.com/office/drawing/2014/main" id="{6120DE07-115C-422B-A2D2-58B30578D1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54102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08" name="Rectangle 53">
              <a:extLst>
                <a:ext uri="{FF2B5EF4-FFF2-40B4-BE49-F238E27FC236}">
                  <a16:creationId xmlns:a16="http://schemas.microsoft.com/office/drawing/2014/main" id="{F648C58F-7E99-4B6D-8978-23AE7622D2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2800" y="54102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09" name="Rectangle 54">
              <a:extLst>
                <a:ext uri="{FF2B5EF4-FFF2-40B4-BE49-F238E27FC236}">
                  <a16:creationId xmlns:a16="http://schemas.microsoft.com/office/drawing/2014/main" id="{1D9AED89-1A8F-41A0-8B01-476BF6BF9D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5715000"/>
              <a:ext cx="990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10" name="Rectangle 55">
              <a:extLst>
                <a:ext uri="{FF2B5EF4-FFF2-40B4-BE49-F238E27FC236}">
                  <a16:creationId xmlns:a16="http://schemas.microsoft.com/office/drawing/2014/main" id="{CBD74B5F-2F5F-43E8-A0F5-BB9C83DD48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5715000"/>
              <a:ext cx="2286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2000" b="1" dirty="0">
                  <a:latin typeface="+mn-lt"/>
                </a:rPr>
                <a:t>0</a:t>
              </a:r>
            </a:p>
          </p:txBody>
        </p:sp>
        <p:sp>
          <p:nvSpPr>
            <p:cNvPr id="211" name="Rectangle 56">
              <a:extLst>
                <a:ext uri="{FF2B5EF4-FFF2-40B4-BE49-F238E27FC236}">
                  <a16:creationId xmlns:a16="http://schemas.microsoft.com/office/drawing/2014/main" id="{CCA17176-0190-487E-A03B-DF92B8ACA0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57150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12" name="Rectangle 57">
              <a:extLst>
                <a:ext uri="{FF2B5EF4-FFF2-40B4-BE49-F238E27FC236}">
                  <a16:creationId xmlns:a16="http://schemas.microsoft.com/office/drawing/2014/main" id="{9B8BA583-207C-4DEC-99E3-2FE1D1670F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57150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13" name="Rectangle 58">
              <a:extLst>
                <a:ext uri="{FF2B5EF4-FFF2-40B4-BE49-F238E27FC236}">
                  <a16:creationId xmlns:a16="http://schemas.microsoft.com/office/drawing/2014/main" id="{2C7FC3A8-8131-4727-ADA9-6540131508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57150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14" name="Rectangle 59">
              <a:extLst>
                <a:ext uri="{FF2B5EF4-FFF2-40B4-BE49-F238E27FC236}">
                  <a16:creationId xmlns:a16="http://schemas.microsoft.com/office/drawing/2014/main" id="{45D258B3-7A47-407D-8686-71E77CF5D6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2800" y="5715000"/>
              <a:ext cx="16764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2000" b="1">
                <a:latin typeface="+mn-lt"/>
              </a:endParaRPr>
            </a:p>
          </p:txBody>
        </p:sp>
        <p:sp>
          <p:nvSpPr>
            <p:cNvPr id="215" name="Text Box 60">
              <a:extLst>
                <a:ext uri="{FF2B5EF4-FFF2-40B4-BE49-F238E27FC236}">
                  <a16:creationId xmlns:a16="http://schemas.microsoft.com/office/drawing/2014/main" id="{463426D0-C900-4342-B6B5-11D5BDE988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6000" y="4960203"/>
              <a:ext cx="5029200" cy="73866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0" hangingPunct="0"/>
              <a:r>
                <a:rPr lang="en-US" sz="2400" b="1" dirty="0">
                  <a:latin typeface="+mn-lt"/>
                </a:rPr>
                <a:t>...    </a:t>
              </a:r>
              <a:r>
                <a:rPr lang="en-US" sz="2400" b="1" dirty="0"/>
                <a:t>...    ...    …   …   …   …   …</a:t>
              </a:r>
              <a:endParaRPr lang="en-US" sz="2400" dirty="0"/>
            </a:p>
            <a:p>
              <a:pPr eaLnBrk="0" hangingPunct="0"/>
              <a:endParaRPr lang="en-US" dirty="0"/>
            </a:p>
          </p:txBody>
        </p:sp>
        <p:sp>
          <p:nvSpPr>
            <p:cNvPr id="216" name="Text Box 61">
              <a:extLst>
                <a:ext uri="{FF2B5EF4-FFF2-40B4-BE49-F238E27FC236}">
                  <a16:creationId xmlns:a16="http://schemas.microsoft.com/office/drawing/2014/main" id="{D69291CC-D559-47A7-8E8C-9B02F88384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" y="3276600"/>
              <a:ext cx="307975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+mn-lt"/>
                </a:rPr>
                <a:t>0</a:t>
              </a:r>
            </a:p>
          </p:txBody>
        </p:sp>
        <p:sp>
          <p:nvSpPr>
            <p:cNvPr id="217" name="Text Box 62">
              <a:extLst>
                <a:ext uri="{FF2B5EF4-FFF2-40B4-BE49-F238E27FC236}">
                  <a16:creationId xmlns:a16="http://schemas.microsoft.com/office/drawing/2014/main" id="{7EFBB39C-7FCC-46C6-905F-6C99A86872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2273" y="3581400"/>
              <a:ext cx="298480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>
                  <a:latin typeface="+mn-lt"/>
                </a:rPr>
                <a:t>1</a:t>
              </a:r>
            </a:p>
          </p:txBody>
        </p:sp>
        <p:sp>
          <p:nvSpPr>
            <p:cNvPr id="218" name="Text Box 63">
              <a:extLst>
                <a:ext uri="{FF2B5EF4-FFF2-40B4-BE49-F238E27FC236}">
                  <a16:creationId xmlns:a16="http://schemas.microsoft.com/office/drawing/2014/main" id="{8093C03A-5B82-4221-BD8A-D078F94981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" y="3886200"/>
              <a:ext cx="307975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>
                  <a:latin typeface="+mn-lt"/>
                </a:rPr>
                <a:t>2</a:t>
              </a:r>
            </a:p>
          </p:txBody>
        </p:sp>
        <p:sp>
          <p:nvSpPr>
            <p:cNvPr id="219" name="Text Box 64">
              <a:extLst>
                <a:ext uri="{FF2B5EF4-FFF2-40B4-BE49-F238E27FC236}">
                  <a16:creationId xmlns:a16="http://schemas.microsoft.com/office/drawing/2014/main" id="{A2C29F96-2454-41DA-9B26-F787D5E64A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" y="4191000"/>
              <a:ext cx="307975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>
                  <a:latin typeface="+mn-lt"/>
                </a:rPr>
                <a:t>3</a:t>
              </a:r>
            </a:p>
          </p:txBody>
        </p:sp>
        <p:sp>
          <p:nvSpPr>
            <p:cNvPr id="220" name="Text Box 65">
              <a:extLst>
                <a:ext uri="{FF2B5EF4-FFF2-40B4-BE49-F238E27FC236}">
                  <a16:creationId xmlns:a16="http://schemas.microsoft.com/office/drawing/2014/main" id="{EF6654EC-787C-4848-9559-6E840F6017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" y="4495800"/>
              <a:ext cx="307975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>
                  <a:latin typeface="+mn-lt"/>
                </a:rPr>
                <a:t>4</a:t>
              </a:r>
            </a:p>
          </p:txBody>
        </p:sp>
        <p:sp>
          <p:nvSpPr>
            <p:cNvPr id="221" name="Text Box 66">
              <a:extLst>
                <a:ext uri="{FF2B5EF4-FFF2-40B4-BE49-F238E27FC236}">
                  <a16:creationId xmlns:a16="http://schemas.microsoft.com/office/drawing/2014/main" id="{7C8AE989-6C53-4280-813C-9F01AAA5EA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" y="4800600"/>
              <a:ext cx="307975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>
                  <a:latin typeface="+mn-lt"/>
                </a:rPr>
                <a:t>5</a:t>
              </a:r>
            </a:p>
          </p:txBody>
        </p:sp>
        <p:sp>
          <p:nvSpPr>
            <p:cNvPr id="222" name="Text Box 67">
              <a:extLst>
                <a:ext uri="{FF2B5EF4-FFF2-40B4-BE49-F238E27FC236}">
                  <a16:creationId xmlns:a16="http://schemas.microsoft.com/office/drawing/2014/main" id="{FB5E5C4D-ADD7-4B32-8EE1-89BDD7DD19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800" y="5410200"/>
              <a:ext cx="647700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>
                  <a:latin typeface="+mn-lt"/>
                </a:rPr>
                <a:t>1022</a:t>
              </a:r>
            </a:p>
          </p:txBody>
        </p:sp>
        <p:sp>
          <p:nvSpPr>
            <p:cNvPr id="223" name="Text Box 68">
              <a:extLst>
                <a:ext uri="{FF2B5EF4-FFF2-40B4-BE49-F238E27FC236}">
                  <a16:creationId xmlns:a16="http://schemas.microsoft.com/office/drawing/2014/main" id="{FDE10283-95DA-4E3D-A0BA-4688D4E7B5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800" y="5715000"/>
              <a:ext cx="647700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>
                  <a:latin typeface="+mn-lt"/>
                </a:rPr>
                <a:t>1023</a:t>
              </a:r>
            </a:p>
          </p:txBody>
        </p:sp>
        <p:sp>
          <p:nvSpPr>
            <p:cNvPr id="224" name="Text Box 69">
              <a:extLst>
                <a:ext uri="{FF2B5EF4-FFF2-40B4-BE49-F238E27FC236}">
                  <a16:creationId xmlns:a16="http://schemas.microsoft.com/office/drawing/2014/main" id="{D77255F9-0F93-4E80-AFBA-F6DB4E1DED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400" y="2971800"/>
              <a:ext cx="720069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latin typeface="+mn-lt"/>
                </a:rPr>
                <a:t>Index</a:t>
              </a:r>
            </a:p>
          </p:txBody>
        </p:sp>
        <p:sp>
          <p:nvSpPr>
            <p:cNvPr id="225" name="Text Box 70">
              <a:extLst>
                <a:ext uri="{FF2B5EF4-FFF2-40B4-BE49-F238E27FC236}">
                  <a16:creationId xmlns:a16="http://schemas.microsoft.com/office/drawing/2014/main" id="{6C6E4A95-18C8-4FEB-B693-F6C64577CE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6314" y="2971800"/>
              <a:ext cx="663836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latin typeface="+mn-lt"/>
                </a:rPr>
                <a:t>Valid</a:t>
              </a:r>
            </a:p>
          </p:txBody>
        </p:sp>
        <p:sp>
          <p:nvSpPr>
            <p:cNvPr id="226" name="Text Box 71">
              <a:extLst>
                <a:ext uri="{FF2B5EF4-FFF2-40B4-BE49-F238E27FC236}">
                  <a16:creationId xmlns:a16="http://schemas.microsoft.com/office/drawing/2014/main" id="{BD909583-44BB-40F6-B8BB-F1429E1434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7800" y="2971800"/>
              <a:ext cx="534988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latin typeface="+mn-lt"/>
                </a:rPr>
                <a:t>Tag</a:t>
              </a:r>
            </a:p>
          </p:txBody>
        </p:sp>
        <p:grpSp>
          <p:nvGrpSpPr>
            <p:cNvPr id="227" name="Group 226">
              <a:extLst>
                <a:ext uri="{FF2B5EF4-FFF2-40B4-BE49-F238E27FC236}">
                  <a16:creationId xmlns:a16="http://schemas.microsoft.com/office/drawing/2014/main" id="{513585D0-E055-46A0-BE26-8F0860954C93}"/>
                </a:ext>
              </a:extLst>
            </p:cNvPr>
            <p:cNvGrpSpPr/>
            <p:nvPr/>
          </p:nvGrpSpPr>
          <p:grpSpPr>
            <a:xfrm>
              <a:off x="2133600" y="2482850"/>
              <a:ext cx="6629400" cy="336550"/>
              <a:chOff x="2209800" y="2438400"/>
              <a:chExt cx="6629400" cy="336550"/>
            </a:xfrm>
          </p:grpSpPr>
          <p:sp>
            <p:nvSpPr>
              <p:cNvPr id="228" name="Text Box 72">
                <a:extLst>
                  <a:ext uri="{FF2B5EF4-FFF2-40B4-BE49-F238E27FC236}">
                    <a16:creationId xmlns:a16="http://schemas.microsoft.com/office/drawing/2014/main" id="{21ED1C2E-D58A-438E-A914-789B605B544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48200" y="2438400"/>
                <a:ext cx="635000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b="1" dirty="0">
                    <a:latin typeface="+mn-lt"/>
                  </a:rPr>
                  <a:t>Data</a:t>
                </a:r>
              </a:p>
            </p:txBody>
          </p:sp>
          <p:sp>
            <p:nvSpPr>
              <p:cNvPr id="229" name="Line 73">
                <a:extLst>
                  <a:ext uri="{FF2B5EF4-FFF2-40B4-BE49-F238E27FC236}">
                    <a16:creationId xmlns:a16="http://schemas.microsoft.com/office/drawing/2014/main" id="{870432E5-0071-4339-ABD1-9A3ACF9F59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209800" y="2590800"/>
                <a:ext cx="24384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>
                <a:spAutoFit/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230" name="Line 74">
                <a:extLst>
                  <a:ext uri="{FF2B5EF4-FFF2-40B4-BE49-F238E27FC236}">
                    <a16:creationId xmlns:a16="http://schemas.microsoft.com/office/drawing/2014/main" id="{AD2A89F1-C959-485D-A27D-90B7488799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57800" y="2590800"/>
                <a:ext cx="35814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>
                <a:spAutoFit/>
              </a:bodyPr>
              <a:lstStyle/>
              <a:p>
                <a:endParaRPr lang="en-US">
                  <a:latin typeface="+mn-lt"/>
                </a:endParaRPr>
              </a:p>
            </p:txBody>
          </p:sp>
        </p:grpSp>
        <p:sp>
          <p:nvSpPr>
            <p:cNvPr id="231" name="Text Box 75">
              <a:extLst>
                <a:ext uri="{FF2B5EF4-FFF2-40B4-BE49-F238E27FC236}">
                  <a16:creationId xmlns:a16="http://schemas.microsoft.com/office/drawing/2014/main" id="{6CA55884-7FC8-41F1-8BCF-9E970DC44E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072" y="2743200"/>
              <a:ext cx="818942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latin typeface="+mn-lt"/>
                </a:rPr>
                <a:t>Word0</a:t>
              </a:r>
            </a:p>
          </p:txBody>
        </p:sp>
        <p:sp>
          <p:nvSpPr>
            <p:cNvPr id="232" name="Text Box 76">
              <a:extLst>
                <a:ext uri="{FF2B5EF4-FFF2-40B4-BE49-F238E27FC236}">
                  <a16:creationId xmlns:a16="http://schemas.microsoft.com/office/drawing/2014/main" id="{E1040994-3945-4413-8AAD-BA7762EF6A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0862" y="2743200"/>
              <a:ext cx="811213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latin typeface="+mn-lt"/>
                </a:rPr>
                <a:t>Word1</a:t>
              </a:r>
            </a:p>
          </p:txBody>
        </p:sp>
        <p:sp>
          <p:nvSpPr>
            <p:cNvPr id="233" name="Text Box 77">
              <a:extLst>
                <a:ext uri="{FF2B5EF4-FFF2-40B4-BE49-F238E27FC236}">
                  <a16:creationId xmlns:a16="http://schemas.microsoft.com/office/drawing/2014/main" id="{DFB75E1E-68E3-4B7E-B028-B111AF99CC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49272" y="2743200"/>
              <a:ext cx="818942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latin typeface="+mn-lt"/>
                </a:rPr>
                <a:t>Word2</a:t>
              </a:r>
            </a:p>
          </p:txBody>
        </p:sp>
        <p:sp>
          <p:nvSpPr>
            <p:cNvPr id="234" name="Text Box 78">
              <a:extLst>
                <a:ext uri="{FF2B5EF4-FFF2-40B4-BE49-F238E27FC236}">
                  <a16:creationId xmlns:a16="http://schemas.microsoft.com/office/drawing/2014/main" id="{B2BC71AA-A2D1-4DBC-B2C2-CF722F48DD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49472" y="2743200"/>
              <a:ext cx="818942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latin typeface="+mn-lt"/>
                </a:rPr>
                <a:t>Word3</a:t>
              </a:r>
            </a:p>
          </p:txBody>
        </p:sp>
        <p:sp>
          <p:nvSpPr>
            <p:cNvPr id="235" name="Text Box 79">
              <a:extLst>
                <a:ext uri="{FF2B5EF4-FFF2-40B4-BE49-F238E27FC236}">
                  <a16:creationId xmlns:a16="http://schemas.microsoft.com/office/drawing/2014/main" id="{D8682EFC-9622-49BC-B6A4-B30395A03C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8548" y="2971800"/>
              <a:ext cx="1051891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+mn-lt"/>
                </a:rPr>
                <a:t>Bytes 0-3</a:t>
              </a:r>
            </a:p>
          </p:txBody>
        </p:sp>
        <p:sp>
          <p:nvSpPr>
            <p:cNvPr id="236" name="Text Box 80">
              <a:extLst>
                <a:ext uri="{FF2B5EF4-FFF2-40B4-BE49-F238E27FC236}">
                  <a16:creationId xmlns:a16="http://schemas.microsoft.com/office/drawing/2014/main" id="{7B38301C-3B9A-4FAC-A899-61CF2A9A06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37348" y="2971800"/>
              <a:ext cx="1051891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+mn-lt"/>
                </a:rPr>
                <a:t>Bytes 4-7</a:t>
              </a:r>
            </a:p>
          </p:txBody>
        </p:sp>
        <p:sp>
          <p:nvSpPr>
            <p:cNvPr id="237" name="Text Box 81">
              <a:extLst>
                <a:ext uri="{FF2B5EF4-FFF2-40B4-BE49-F238E27FC236}">
                  <a16:creationId xmlns:a16="http://schemas.microsoft.com/office/drawing/2014/main" id="{B4B6B579-23AC-4607-A193-758CD3A881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48597" y="2971800"/>
              <a:ext cx="1150444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+mn-lt"/>
                </a:rPr>
                <a:t>Bytes 8-11</a:t>
              </a:r>
            </a:p>
          </p:txBody>
        </p:sp>
        <p:sp>
          <p:nvSpPr>
            <p:cNvPr id="238" name="Text Box 82">
              <a:extLst>
                <a:ext uri="{FF2B5EF4-FFF2-40B4-BE49-F238E27FC236}">
                  <a16:creationId xmlns:a16="http://schemas.microsoft.com/office/drawing/2014/main" id="{347EA6BB-E77E-46E9-9C40-2EBB51466C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46173" y="2971800"/>
              <a:ext cx="1279517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+mn-lt"/>
                </a:rPr>
                <a:t>Bytes 12-15</a:t>
              </a:r>
            </a:p>
          </p:txBody>
        </p:sp>
      </p:grpSp>
      <p:sp>
        <p:nvSpPr>
          <p:cNvPr id="88" name="Oval 87">
            <a:extLst>
              <a:ext uri="{FF2B5EF4-FFF2-40B4-BE49-F238E27FC236}">
                <a16:creationId xmlns:a16="http://schemas.microsoft.com/office/drawing/2014/main" id="{276A22EF-756E-4DF6-A5AD-CF3CB9B51016}"/>
              </a:ext>
            </a:extLst>
          </p:cNvPr>
          <p:cNvSpPr/>
          <p:nvPr/>
        </p:nvSpPr>
        <p:spPr>
          <a:xfrm>
            <a:off x="2117559" y="3522077"/>
            <a:ext cx="1676400" cy="457200"/>
          </a:xfrm>
          <a:prstGeom prst="ellipse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3" name="Left Arrow 90">
            <a:extLst>
              <a:ext uri="{FF2B5EF4-FFF2-40B4-BE49-F238E27FC236}">
                <a16:creationId xmlns:a16="http://schemas.microsoft.com/office/drawing/2014/main" id="{57BBFA32-DA40-4FCC-B7E3-14CA27867864}"/>
              </a:ext>
            </a:extLst>
          </p:cNvPr>
          <p:cNvSpPr/>
          <p:nvPr/>
        </p:nvSpPr>
        <p:spPr>
          <a:xfrm rot="5400000">
            <a:off x="6997723" y="1781354"/>
            <a:ext cx="228600" cy="304800"/>
          </a:xfrm>
          <a:prstGeom prst="leftArrow">
            <a:avLst/>
          </a:prstGeom>
          <a:solidFill>
            <a:srgbClr val="FF0000"/>
          </a:solidFill>
          <a:ln>
            <a:solidFill>
              <a:srgbClr val="66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92327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" grpId="0" animBg="1"/>
      <p:bldP spid="103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5. Reading Data: Summary</a:t>
            </a:r>
            <a:endParaRPr lang="en-GB" sz="3600" b="1" dirty="0">
              <a:solidFill>
                <a:srgbClr val="0000FF"/>
              </a:solidFill>
            </a:endParaRP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#22: Cache I: Direct Mapped Cache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53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4A0B299-B01B-448F-8C14-647BB03D5BB8}"/>
              </a:ext>
            </a:extLst>
          </p:cNvPr>
          <p:cNvGrpSpPr/>
          <p:nvPr/>
        </p:nvGrpSpPr>
        <p:grpSpPr>
          <a:xfrm>
            <a:off x="562247" y="1450534"/>
            <a:ext cx="8133348" cy="4882810"/>
            <a:chOff x="605589" y="1351238"/>
            <a:chExt cx="8133348" cy="4882810"/>
          </a:xfrm>
        </p:grpSpPr>
        <p:sp>
          <p:nvSpPr>
            <p:cNvPr id="104" name="Oval 4">
              <a:extLst>
                <a:ext uri="{FF2B5EF4-FFF2-40B4-BE49-F238E27FC236}">
                  <a16:creationId xmlns:a16="http://schemas.microsoft.com/office/drawing/2014/main" id="{92E5891D-5988-45BF-BD8D-6A6D3EF2F3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5589" y="1533985"/>
              <a:ext cx="304800" cy="30480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6" name="Text Box 7">
              <a:extLst>
                <a:ext uri="{FF2B5EF4-FFF2-40B4-BE49-F238E27FC236}">
                  <a16:creationId xmlns:a16="http://schemas.microsoft.com/office/drawing/2014/main" id="{3A724359-19B6-4945-B7D4-8F5BE39CD6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31758" y="1351238"/>
              <a:ext cx="2975810" cy="707886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prstDash val="sysDot"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2000" dirty="0"/>
                <a:t>Read address (</a:t>
              </a:r>
              <a:r>
                <a:rPr lang="en-US" sz="2000" b="1" dirty="0"/>
                <a:t>RA</a:t>
              </a:r>
              <a:r>
                <a:rPr lang="en-US" sz="2000" dirty="0"/>
                <a:t>) sent from processor </a:t>
              </a:r>
              <a:r>
                <a:rPr lang="en-US" sz="2000" dirty="0">
                  <a:sym typeface="Wingdings" pitchFamily="2" charset="2"/>
                </a:rPr>
                <a:t> cache</a:t>
              </a:r>
              <a:endParaRPr lang="en-US" sz="2000" dirty="0"/>
            </a:p>
          </p:txBody>
        </p:sp>
        <p:sp>
          <p:nvSpPr>
            <p:cNvPr id="114" name="AutoShape 9">
              <a:extLst>
                <a:ext uri="{FF2B5EF4-FFF2-40B4-BE49-F238E27FC236}">
                  <a16:creationId xmlns:a16="http://schemas.microsoft.com/office/drawing/2014/main" id="{520F4035-7432-4DD7-9151-F37ED2E942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1464" y="2447144"/>
              <a:ext cx="1676400" cy="762000"/>
            </a:xfrm>
            <a:prstGeom prst="diamond">
              <a:avLst/>
            </a:prstGeom>
            <a:solidFill>
              <a:schemeClr val="bg2">
                <a:lumMod val="9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dirty="0"/>
                <a:t>In cache?</a:t>
              </a:r>
            </a:p>
          </p:txBody>
        </p:sp>
        <p:sp>
          <p:nvSpPr>
            <p:cNvPr id="115" name="Text Box 10">
              <a:extLst>
                <a:ext uri="{FF2B5EF4-FFF2-40B4-BE49-F238E27FC236}">
                  <a16:creationId xmlns:a16="http://schemas.microsoft.com/office/drawing/2014/main" id="{A80CA123-B38D-4F54-A3A4-6B7D24D375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66088" y="2390856"/>
              <a:ext cx="2099501" cy="707886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prstDash val="sysDot"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2000" dirty="0"/>
                <a:t>Access memory block at </a:t>
              </a:r>
              <a:r>
                <a:rPr lang="en-US" sz="2000" b="1" dirty="0"/>
                <a:t>RA</a:t>
              </a:r>
            </a:p>
          </p:txBody>
        </p:sp>
        <p:sp>
          <p:nvSpPr>
            <p:cNvPr id="117" name="Text Box 12">
              <a:extLst>
                <a:ext uri="{FF2B5EF4-FFF2-40B4-BE49-F238E27FC236}">
                  <a16:creationId xmlns:a16="http://schemas.microsoft.com/office/drawing/2014/main" id="{967DBEC5-A01B-45CF-975E-BEB1574927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44843" y="4608785"/>
              <a:ext cx="2149639" cy="1015663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prstDash val="sysDot"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2000" dirty="0"/>
                <a:t>Use </a:t>
              </a:r>
              <a:r>
                <a:rPr lang="en-US" sz="2000" b="1" dirty="0"/>
                <a:t>Offset</a:t>
              </a:r>
              <a:r>
                <a:rPr lang="en-US" sz="2000" dirty="0"/>
                <a:t> and delivery data to processor</a:t>
              </a:r>
              <a:endParaRPr lang="en-US" sz="2000" b="1" dirty="0"/>
            </a:p>
          </p:txBody>
        </p:sp>
        <p:sp>
          <p:nvSpPr>
            <p:cNvPr id="118" name="Text Box 13">
              <a:extLst>
                <a:ext uri="{FF2B5EF4-FFF2-40B4-BE49-F238E27FC236}">
                  <a16:creationId xmlns:a16="http://schemas.microsoft.com/office/drawing/2014/main" id="{9E2B110C-41DB-484C-B874-7599D7A1D4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71940" y="4627946"/>
              <a:ext cx="2666997" cy="1015663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prstDash val="sysDot"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2000" dirty="0"/>
                <a:t>Load into cache line</a:t>
              </a:r>
            </a:p>
            <a:p>
              <a:pPr algn="ctr"/>
              <a:r>
                <a:rPr lang="en-US" sz="2000" dirty="0"/>
                <a:t>Set </a:t>
              </a:r>
              <a:r>
                <a:rPr lang="en-US" sz="2000" b="1" dirty="0"/>
                <a:t>Tag</a:t>
              </a:r>
              <a:r>
                <a:rPr lang="en-US" sz="2000" dirty="0"/>
                <a:t> and </a:t>
              </a:r>
              <a:r>
                <a:rPr lang="en-US" sz="2000" b="1" dirty="0"/>
                <a:t>Valid </a:t>
              </a:r>
              <a:r>
                <a:rPr lang="en-US" sz="2000" dirty="0"/>
                <a:t>bit (if needed)</a:t>
              </a:r>
            </a:p>
          </p:txBody>
        </p:sp>
        <p:sp>
          <p:nvSpPr>
            <p:cNvPr id="119" name="Oval 14">
              <a:extLst>
                <a:ext uri="{FF2B5EF4-FFF2-40B4-BE49-F238E27FC236}">
                  <a16:creationId xmlns:a16="http://schemas.microsoft.com/office/drawing/2014/main" id="{6E2CB1AB-036E-48FC-81E4-093C276F9F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5261" y="5929248"/>
              <a:ext cx="304800" cy="30480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" name="Line 15">
              <a:extLst>
                <a:ext uri="{FF2B5EF4-FFF2-40B4-BE49-F238E27FC236}">
                  <a16:creationId xmlns:a16="http://schemas.microsoft.com/office/drawing/2014/main" id="{971022C5-CED6-4628-8C44-D72BC07C33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7989" y="1686385"/>
              <a:ext cx="67376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lg" len="lg"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121" name="Line 17">
              <a:extLst>
                <a:ext uri="{FF2B5EF4-FFF2-40B4-BE49-F238E27FC236}">
                  <a16:creationId xmlns:a16="http://schemas.microsoft.com/office/drawing/2014/main" id="{7E9E1736-1A7F-41EF-AA85-6FDE6C439E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9737" y="2828143"/>
              <a:ext cx="1676400" cy="1129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lg" len="lg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122" name="Line 18">
              <a:extLst>
                <a:ext uri="{FF2B5EF4-FFF2-40B4-BE49-F238E27FC236}">
                  <a16:creationId xmlns:a16="http://schemas.microsoft.com/office/drawing/2014/main" id="{A31059A9-3A3B-4B84-A136-BB382C835D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9663" y="2066327"/>
              <a:ext cx="0" cy="38081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lg" len="lg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123" name="Line 19">
              <a:extLst>
                <a:ext uri="{FF2B5EF4-FFF2-40B4-BE49-F238E27FC236}">
                  <a16:creationId xmlns:a16="http://schemas.microsoft.com/office/drawing/2014/main" id="{1A2056C1-2EB7-481F-815C-E0923F4756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19662" y="3209143"/>
              <a:ext cx="1" cy="139964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lg" len="lg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124" name="Line 20">
              <a:extLst>
                <a:ext uri="{FF2B5EF4-FFF2-40B4-BE49-F238E27FC236}">
                  <a16:creationId xmlns:a16="http://schemas.microsoft.com/office/drawing/2014/main" id="{7FDF937B-F971-4707-8586-A6416CD75E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15838" y="3132944"/>
              <a:ext cx="0" cy="304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lg" len="lg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125" name="Line 21">
              <a:extLst>
                <a:ext uri="{FF2B5EF4-FFF2-40B4-BE49-F238E27FC236}">
                  <a16:creationId xmlns:a16="http://schemas.microsoft.com/office/drawing/2014/main" id="{AD482E7E-57C4-4626-938D-8D2CD348B3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05438" y="4123544"/>
              <a:ext cx="0" cy="485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lg" len="lg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126" name="Line 22">
              <a:extLst>
                <a:ext uri="{FF2B5EF4-FFF2-40B4-BE49-F238E27FC236}">
                  <a16:creationId xmlns:a16="http://schemas.microsoft.com/office/drawing/2014/main" id="{B182AFED-9D04-4877-B44D-889DB9DCE3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57336" y="4123544"/>
              <a:ext cx="384810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127" name="Line 23">
              <a:extLst>
                <a:ext uri="{FF2B5EF4-FFF2-40B4-BE49-F238E27FC236}">
                  <a16:creationId xmlns:a16="http://schemas.microsoft.com/office/drawing/2014/main" id="{79D31326-23C2-4829-9AE3-C37CC4FBF1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7337" y="4123544"/>
              <a:ext cx="0" cy="485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lg" len="lg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128" name="Line 24">
              <a:extLst>
                <a:ext uri="{FF2B5EF4-FFF2-40B4-BE49-F238E27FC236}">
                  <a16:creationId xmlns:a16="http://schemas.microsoft.com/office/drawing/2014/main" id="{50AA8889-456F-4951-8569-BAFC153B23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23859" y="3742544"/>
              <a:ext cx="0" cy="381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129" name="Text Box 11">
              <a:extLst>
                <a:ext uri="{FF2B5EF4-FFF2-40B4-BE49-F238E27FC236}">
                  <a16:creationId xmlns:a16="http://schemas.microsoft.com/office/drawing/2014/main" id="{FEC635E1-B5B9-4DBF-9E8B-4EB0CED99A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33737" y="3437744"/>
              <a:ext cx="2394284" cy="40011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prstDash val="sysDot"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2000" dirty="0"/>
                <a:t>Allocate cache line</a:t>
              </a:r>
              <a:endParaRPr lang="en-US" sz="2000" b="1" dirty="0"/>
            </a:p>
          </p:txBody>
        </p:sp>
        <p:sp>
          <p:nvSpPr>
            <p:cNvPr id="130" name="Line 25">
              <a:extLst>
                <a:ext uri="{FF2B5EF4-FFF2-40B4-BE49-F238E27FC236}">
                  <a16:creationId xmlns:a16="http://schemas.microsoft.com/office/drawing/2014/main" id="{9886245F-F6CB-4C92-9762-D0C58008CF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9662" y="5624448"/>
              <a:ext cx="0" cy="304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lg" len="lg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131" name="Text Box 26">
              <a:extLst>
                <a:ext uri="{FF2B5EF4-FFF2-40B4-BE49-F238E27FC236}">
                  <a16:creationId xmlns:a16="http://schemas.microsoft.com/office/drawing/2014/main" id="{6AC7D2FE-98D1-4A74-B9E1-920F3291E3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3031" y="3293160"/>
              <a:ext cx="1981200" cy="10310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 b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Read Hit</a:t>
              </a:r>
            </a:p>
            <a:p>
              <a:pPr algn="ctr">
                <a:spcBef>
                  <a:spcPts val="600"/>
                </a:spcBef>
              </a:pP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[Tags Match] </a:t>
              </a:r>
              <a:b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AND [Valid]</a:t>
              </a:r>
            </a:p>
          </p:txBody>
        </p:sp>
        <p:sp>
          <p:nvSpPr>
            <p:cNvPr id="132" name="Text Box 27">
              <a:extLst>
                <a:ext uri="{FF2B5EF4-FFF2-40B4-BE49-F238E27FC236}">
                  <a16:creationId xmlns:a16="http://schemas.microsoft.com/office/drawing/2014/main" id="{849A1F63-DF70-42B8-BF4D-E6F3706C6F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29267" y="2419022"/>
              <a:ext cx="1981197" cy="10926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 b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Read Miss</a:t>
              </a:r>
            </a:p>
            <a:p>
              <a:pPr algn="ctr">
                <a:spcBef>
                  <a:spcPct val="50000"/>
                </a:spcBef>
              </a:pP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[Tags Mismatch] </a:t>
              </a:r>
              <a:b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OR [!Valid]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431274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6. Types of Cache Misses</a:t>
            </a:r>
            <a:endParaRPr lang="en-GB" sz="3600" b="1" dirty="0">
              <a:solidFill>
                <a:srgbClr val="0000FF"/>
              </a:solidFill>
            </a:endParaRP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#22: Cache I: Direct Mapped Cache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54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59EA6CE-4462-49FD-8EBF-C720A19191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1187"/>
            <a:ext cx="8229600" cy="5322275"/>
          </a:xfrm>
        </p:spPr>
        <p:txBody>
          <a:bodyPr>
            <a:normAutofit/>
          </a:bodyPr>
          <a:lstStyle/>
          <a:p>
            <a:pPr marL="265113" indent="-265113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SG" sz="2800" dirty="0">
                <a:solidFill>
                  <a:srgbClr val="C00000"/>
                </a:solidFill>
              </a:rPr>
              <a:t>Compulsory misses</a:t>
            </a:r>
          </a:p>
          <a:p>
            <a:pPr marL="625475" lvl="1" indent="-265113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SG" sz="2400" dirty="0"/>
              <a:t>On the first access to a block; the block must be brought into the cache</a:t>
            </a:r>
          </a:p>
          <a:p>
            <a:pPr marL="625475" lvl="1" indent="-265113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SG" sz="2400" dirty="0"/>
              <a:t>Also called </a:t>
            </a:r>
            <a:r>
              <a:rPr lang="en-SG" sz="2400" dirty="0">
                <a:solidFill>
                  <a:srgbClr val="C00000"/>
                </a:solidFill>
              </a:rPr>
              <a:t>cold start misses</a:t>
            </a:r>
            <a:r>
              <a:rPr lang="en-SG" sz="2400" dirty="0"/>
              <a:t> or </a:t>
            </a:r>
            <a:r>
              <a:rPr lang="en-SG" sz="2400" dirty="0">
                <a:solidFill>
                  <a:srgbClr val="C00000"/>
                </a:solidFill>
              </a:rPr>
              <a:t>first reference misses</a:t>
            </a:r>
            <a:endParaRPr lang="en-US" sz="2400" dirty="0">
              <a:solidFill>
                <a:srgbClr val="C00000"/>
              </a:solidFill>
            </a:endParaRPr>
          </a:p>
          <a:p>
            <a:pPr marL="265113" indent="-265113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SG" sz="2800" dirty="0">
                <a:solidFill>
                  <a:srgbClr val="C00000"/>
                </a:solidFill>
              </a:rPr>
              <a:t>Conflict misses</a:t>
            </a:r>
          </a:p>
          <a:p>
            <a:pPr marL="625475" lvl="1" indent="-265113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SG" sz="2400" dirty="0"/>
              <a:t>Occur in the case of direct mapped cache or set associative cache, when several blocks are mapped to the same block/set</a:t>
            </a:r>
          </a:p>
          <a:p>
            <a:pPr marL="625475" lvl="1" indent="-265113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SG" sz="2400" dirty="0"/>
              <a:t>Also called </a:t>
            </a:r>
            <a:r>
              <a:rPr lang="en-SG" sz="2400" dirty="0">
                <a:solidFill>
                  <a:srgbClr val="C00000"/>
                </a:solidFill>
              </a:rPr>
              <a:t>collision misses </a:t>
            </a:r>
            <a:r>
              <a:rPr lang="en-SG" sz="2400" dirty="0"/>
              <a:t>or </a:t>
            </a:r>
            <a:r>
              <a:rPr lang="en-SG" sz="2400" dirty="0">
                <a:solidFill>
                  <a:srgbClr val="C00000"/>
                </a:solidFill>
              </a:rPr>
              <a:t>interference misses</a:t>
            </a:r>
          </a:p>
          <a:p>
            <a:pPr marL="265113" indent="-265113">
              <a:spcBef>
                <a:spcPts val="12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SG" sz="2800" dirty="0">
                <a:solidFill>
                  <a:srgbClr val="C00000"/>
                </a:solidFill>
              </a:rPr>
              <a:t>Capacity misses</a:t>
            </a:r>
          </a:p>
          <a:p>
            <a:pPr marL="625475" lvl="1" indent="-265113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SG" sz="2400" dirty="0"/>
              <a:t>Occur when blocks are discarded from cache as cache cannot contain all blocks needed </a:t>
            </a:r>
          </a:p>
        </p:txBody>
      </p:sp>
    </p:spTree>
    <p:extLst>
      <p:ext uri="{BB962C8B-B14F-4D97-AF65-F5344CB8AC3E}">
        <p14:creationId xmlns:p14="http://schemas.microsoft.com/office/powerpoint/2010/main" val="115507358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7. Changing Cache Content: </a:t>
            </a:r>
            <a:r>
              <a:rPr lang="en-GB" sz="3600" b="1" dirty="0">
                <a:solidFill>
                  <a:srgbClr val="0000FF"/>
                </a:solidFill>
              </a:rPr>
              <a:t>Write Policy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 dirty="0"/>
              <a:t>Lecture #22: Cache I: Direct Mapped Cache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55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95" name="Rectangle 3">
            <a:extLst>
              <a:ext uri="{FF2B5EF4-FFF2-40B4-BE49-F238E27FC236}">
                <a16:creationId xmlns:a16="http://schemas.microsoft.com/office/drawing/2014/main" id="{A96E4067-3EBA-4B70-9383-7A939B18428E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540042"/>
            <a:ext cx="8229600" cy="47845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5113" indent="-265113" fontAlgn="auto">
              <a:spcBef>
                <a:spcPts val="600"/>
              </a:spcBef>
              <a:spcAft>
                <a:spcPts val="0"/>
              </a:spcAft>
              <a:buClr>
                <a:srgbClr val="663300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000000"/>
                </a:solidFill>
                <a:latin typeface="Verdana"/>
              </a:rPr>
              <a:t>Cache and main memory are inconsistent</a:t>
            </a:r>
          </a:p>
          <a:p>
            <a:pPr marL="625475" lvl="1" indent="-265113" fontAlgn="auto">
              <a:spcBef>
                <a:spcPts val="600"/>
              </a:spcBef>
              <a:spcAft>
                <a:spcPts val="0"/>
              </a:spcAft>
              <a:buClr>
                <a:srgbClr val="CC3300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0000"/>
                </a:solidFill>
                <a:latin typeface="Verdana"/>
              </a:rPr>
              <a:t>Modified data only in cache, not in memory!</a:t>
            </a:r>
          </a:p>
          <a:p>
            <a:pPr marL="265113" indent="-265113" fontAlgn="auto">
              <a:spcBef>
                <a:spcPts val="1800"/>
              </a:spcBef>
              <a:spcAft>
                <a:spcPts val="0"/>
              </a:spcAft>
              <a:buClr>
                <a:srgbClr val="663300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800" b="1" dirty="0">
                <a:solidFill>
                  <a:srgbClr val="000000"/>
                </a:solidFill>
                <a:latin typeface="Verdana"/>
              </a:rPr>
              <a:t>Solution 1:</a:t>
            </a:r>
            <a:r>
              <a:rPr lang="en-US" sz="2800" dirty="0">
                <a:solidFill>
                  <a:srgbClr val="000000"/>
                </a:solidFill>
                <a:latin typeface="Verdana"/>
              </a:rPr>
              <a:t> </a:t>
            </a:r>
            <a:r>
              <a:rPr lang="en-US" sz="2800" b="1" dirty="0">
                <a:solidFill>
                  <a:srgbClr val="660066"/>
                </a:solidFill>
                <a:latin typeface="Verdana"/>
              </a:rPr>
              <a:t>Write-through</a:t>
            </a:r>
            <a:r>
              <a:rPr lang="en-US" sz="2800" dirty="0">
                <a:solidFill>
                  <a:srgbClr val="FF0000"/>
                </a:solidFill>
                <a:latin typeface="Verdana"/>
              </a:rPr>
              <a:t> </a:t>
            </a:r>
            <a:r>
              <a:rPr lang="en-US" sz="2800" dirty="0">
                <a:solidFill>
                  <a:srgbClr val="000000"/>
                </a:solidFill>
                <a:latin typeface="Verdana"/>
              </a:rPr>
              <a:t>cache</a:t>
            </a:r>
          </a:p>
          <a:p>
            <a:pPr marL="625475" lvl="1" indent="-265113" fontAlgn="auto">
              <a:spcBef>
                <a:spcPts val="600"/>
              </a:spcBef>
              <a:spcAft>
                <a:spcPts val="0"/>
              </a:spcAft>
              <a:buClr>
                <a:srgbClr val="CC3300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0000"/>
                </a:solidFill>
                <a:latin typeface="Verdana"/>
              </a:rPr>
              <a:t>Write data both to cache and to main memory</a:t>
            </a:r>
          </a:p>
          <a:p>
            <a:pPr marL="265113" indent="-265113" fontAlgn="auto">
              <a:spcBef>
                <a:spcPts val="1800"/>
              </a:spcBef>
              <a:spcAft>
                <a:spcPts val="0"/>
              </a:spcAft>
              <a:buClr>
                <a:srgbClr val="663300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800" b="1" dirty="0">
                <a:solidFill>
                  <a:srgbClr val="000000"/>
                </a:solidFill>
                <a:latin typeface="Verdana"/>
              </a:rPr>
              <a:t>Solution 2: </a:t>
            </a:r>
            <a:r>
              <a:rPr lang="en-US" sz="2800" b="1" dirty="0">
                <a:solidFill>
                  <a:srgbClr val="660066"/>
                </a:solidFill>
                <a:latin typeface="Verdana"/>
              </a:rPr>
              <a:t>Write-back</a:t>
            </a:r>
            <a:r>
              <a:rPr lang="en-US" sz="2800" dirty="0">
                <a:solidFill>
                  <a:srgbClr val="FF0000"/>
                </a:solidFill>
                <a:latin typeface="Verdana"/>
              </a:rPr>
              <a:t> </a:t>
            </a:r>
            <a:r>
              <a:rPr lang="en-US" sz="2800" dirty="0">
                <a:solidFill>
                  <a:srgbClr val="000000"/>
                </a:solidFill>
                <a:latin typeface="Verdana"/>
              </a:rPr>
              <a:t>cache</a:t>
            </a:r>
          </a:p>
          <a:p>
            <a:pPr marL="625475" lvl="1" indent="-265113" fontAlgn="auto">
              <a:spcBef>
                <a:spcPts val="600"/>
              </a:spcBef>
              <a:spcAft>
                <a:spcPts val="0"/>
              </a:spcAft>
              <a:buClr>
                <a:srgbClr val="CC3300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0000"/>
                </a:solidFill>
                <a:latin typeface="Verdana"/>
              </a:rPr>
              <a:t>Only write to cache</a:t>
            </a:r>
          </a:p>
          <a:p>
            <a:pPr marL="625475" lvl="1" indent="-265113" fontAlgn="auto">
              <a:spcBef>
                <a:spcPts val="600"/>
              </a:spcBef>
              <a:spcAft>
                <a:spcPts val="0"/>
              </a:spcAft>
              <a:buClr>
                <a:srgbClr val="CC3300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0000"/>
                </a:solidFill>
                <a:latin typeface="Verdana"/>
              </a:rPr>
              <a:t>Write to main memory only when cache block is replaced (evicted)</a:t>
            </a:r>
          </a:p>
        </p:txBody>
      </p:sp>
    </p:spTree>
    <p:extLst>
      <p:ext uri="{BB962C8B-B14F-4D97-AF65-F5344CB8AC3E}">
        <p14:creationId xmlns:p14="http://schemas.microsoft.com/office/powerpoint/2010/main" val="337972471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7. Write-Through Cache</a:t>
            </a:r>
            <a:endParaRPr lang="en-GB" sz="3600" b="1" dirty="0">
              <a:solidFill>
                <a:srgbClr val="0000FF"/>
              </a:solidFill>
            </a:endParaRP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 dirty="0"/>
              <a:t>Lecture #22: Cache I: Direct Mapped Cache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56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AB77C862-D1AD-4A9E-A9FE-5981BFD1F3EE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2946481"/>
            <a:ext cx="8229600" cy="3184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5113" indent="-265113" fontAlgn="auto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800" b="1" dirty="0">
                <a:solidFill>
                  <a:srgbClr val="C00000"/>
                </a:solidFill>
              </a:rPr>
              <a:t>Problem: </a:t>
            </a:r>
          </a:p>
          <a:p>
            <a:pPr marL="625475" lvl="1" indent="-265113" fontAlgn="auto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Write will operate at the speed of main memory!</a:t>
            </a:r>
            <a:endParaRPr lang="en-US" sz="2400" dirty="0">
              <a:sym typeface="Wingdings" pitchFamily="2" charset="2"/>
            </a:endParaRPr>
          </a:p>
          <a:p>
            <a:pPr marL="265113" indent="-265113" fontAlgn="auto"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800" b="1" dirty="0">
                <a:solidFill>
                  <a:srgbClr val="006600"/>
                </a:solidFill>
                <a:sym typeface="Wingdings" pitchFamily="2" charset="2"/>
              </a:rPr>
              <a:t>Solution: </a:t>
            </a:r>
          </a:p>
          <a:p>
            <a:pPr marL="625475" lvl="1" indent="-265113" fontAlgn="auto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sym typeface="Wingdings" pitchFamily="2" charset="2"/>
              </a:rPr>
              <a:t>Put a write buffer between cache and main memory</a:t>
            </a:r>
          </a:p>
          <a:p>
            <a:pPr marL="985838" lvl="2" indent="-263525" fontAlgn="auto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200" dirty="0"/>
              <a:t>Processor: writes data to cache + write buffer</a:t>
            </a:r>
          </a:p>
          <a:p>
            <a:pPr marL="985838" lvl="2" indent="-263525" fontAlgn="auto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200" dirty="0"/>
              <a:t>Memory controller: write contents of the buffer to memory</a:t>
            </a:r>
          </a:p>
        </p:txBody>
      </p:sp>
      <p:grpSp>
        <p:nvGrpSpPr>
          <p:cNvPr id="9" name="Group 21">
            <a:extLst>
              <a:ext uri="{FF2B5EF4-FFF2-40B4-BE49-F238E27FC236}">
                <a16:creationId xmlns:a16="http://schemas.microsoft.com/office/drawing/2014/main" id="{86B96033-2149-4009-8F72-B3A26413F3C2}"/>
              </a:ext>
            </a:extLst>
          </p:cNvPr>
          <p:cNvGrpSpPr>
            <a:grpSpLocks/>
          </p:cNvGrpSpPr>
          <p:nvPr/>
        </p:nvGrpSpPr>
        <p:grpSpPr bwMode="auto">
          <a:xfrm>
            <a:off x="1725862" y="1542608"/>
            <a:ext cx="5348705" cy="1572316"/>
            <a:chOff x="776" y="632"/>
            <a:chExt cx="3152" cy="823"/>
          </a:xfrm>
        </p:grpSpPr>
        <p:sp>
          <p:nvSpPr>
            <p:cNvPr id="10" name="Rectangle 5">
              <a:extLst>
                <a:ext uri="{FF2B5EF4-FFF2-40B4-BE49-F238E27FC236}">
                  <a16:creationId xmlns:a16="http://schemas.microsoft.com/office/drawing/2014/main" id="{1F288B1C-C514-494A-83BA-12CD88B572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6" y="632"/>
              <a:ext cx="800" cy="60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Rectangle 6">
              <a:extLst>
                <a:ext uri="{FF2B5EF4-FFF2-40B4-BE49-F238E27FC236}">
                  <a16:creationId xmlns:a16="http://schemas.microsoft.com/office/drawing/2014/main" id="{B36F8A5A-DAEB-4179-ABEC-F8B2D55EFB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8" y="815"/>
              <a:ext cx="788" cy="20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 lIns="90488" tIns="44450" rIns="90488" bIns="44450">
              <a:spAutoFit/>
            </a:bodyPr>
            <a:lstStyle/>
            <a:p>
              <a:pPr eaLnBrk="0" hangingPunct="0"/>
              <a:r>
                <a:rPr lang="en-US" sz="2000" b="1" dirty="0">
                  <a:latin typeface="Times New Roman" pitchFamily="18" charset="0"/>
                </a:rPr>
                <a:t>Processor</a:t>
              </a:r>
            </a:p>
          </p:txBody>
        </p:sp>
        <p:sp>
          <p:nvSpPr>
            <p:cNvPr id="13" name="Rectangle 7">
              <a:extLst>
                <a:ext uri="{FF2B5EF4-FFF2-40B4-BE49-F238E27FC236}">
                  <a16:creationId xmlns:a16="http://schemas.microsoft.com/office/drawing/2014/main" id="{C0DF42E7-5D04-4A75-8289-1C093AA958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2" y="632"/>
              <a:ext cx="560" cy="36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Rectangle 8">
              <a:extLst>
                <a:ext uri="{FF2B5EF4-FFF2-40B4-BE49-F238E27FC236}">
                  <a16:creationId xmlns:a16="http://schemas.microsoft.com/office/drawing/2014/main" id="{263B4897-367E-4FCA-9A37-249F4244C5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2" y="719"/>
              <a:ext cx="548" cy="20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 lIns="90488" tIns="44450" rIns="90488" bIns="44450">
              <a:spAutoFit/>
            </a:bodyPr>
            <a:lstStyle/>
            <a:p>
              <a:pPr algn="ctr" eaLnBrk="0" hangingPunct="0"/>
              <a:r>
                <a:rPr lang="en-US" sz="2000" b="1" dirty="0">
                  <a:latin typeface="Times New Roman" pitchFamily="18" charset="0"/>
                </a:rPr>
                <a:t>Cache</a:t>
              </a:r>
            </a:p>
          </p:txBody>
        </p:sp>
        <p:sp>
          <p:nvSpPr>
            <p:cNvPr id="15" name="Rectangle 9">
              <a:extLst>
                <a:ext uri="{FF2B5EF4-FFF2-40B4-BE49-F238E27FC236}">
                  <a16:creationId xmlns:a16="http://schemas.microsoft.com/office/drawing/2014/main" id="{25C81BEA-A6E0-4BCE-BCD6-1A7351CCBC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2" y="1064"/>
              <a:ext cx="560" cy="176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25400">
              <a:solidFill>
                <a:srgbClr val="C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Line 10">
              <a:extLst>
                <a:ext uri="{FF2B5EF4-FFF2-40B4-BE49-F238E27FC236}">
                  <a16:creationId xmlns:a16="http://schemas.microsoft.com/office/drawing/2014/main" id="{A5B9F5A8-7E0D-4737-B057-086CCADF58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1056"/>
              <a:ext cx="0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Line 11">
              <a:extLst>
                <a:ext uri="{FF2B5EF4-FFF2-40B4-BE49-F238E27FC236}">
                  <a16:creationId xmlns:a16="http://schemas.microsoft.com/office/drawing/2014/main" id="{2FC4D5AD-9475-48B7-AE5A-B94993EF87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1056"/>
              <a:ext cx="0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Line 12">
              <a:extLst>
                <a:ext uri="{FF2B5EF4-FFF2-40B4-BE49-F238E27FC236}">
                  <a16:creationId xmlns:a16="http://schemas.microsoft.com/office/drawing/2014/main" id="{1976B47F-D180-47EE-BFF6-C5F0A5A7FD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1056"/>
              <a:ext cx="0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Line 13">
              <a:extLst>
                <a:ext uri="{FF2B5EF4-FFF2-40B4-BE49-F238E27FC236}">
                  <a16:creationId xmlns:a16="http://schemas.microsoft.com/office/drawing/2014/main" id="{53A37ECA-9673-432B-B9CA-E4F9900C6E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1152"/>
              <a:ext cx="2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Line 14">
              <a:extLst>
                <a:ext uri="{FF2B5EF4-FFF2-40B4-BE49-F238E27FC236}">
                  <a16:creationId xmlns:a16="http://schemas.microsoft.com/office/drawing/2014/main" id="{3694D5C0-4804-43DD-B144-1BFC8F3430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816"/>
              <a:ext cx="72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Rectangle 15">
              <a:extLst>
                <a:ext uri="{FF2B5EF4-FFF2-40B4-BE49-F238E27FC236}">
                  <a16:creationId xmlns:a16="http://schemas.microsoft.com/office/drawing/2014/main" id="{E6B9A2CF-8822-4841-A706-93491A92B2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5" y="1247"/>
              <a:ext cx="948" cy="20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 lIns="90488" tIns="44450" rIns="90488" bIns="44450">
              <a:spAutoFit/>
            </a:bodyPr>
            <a:lstStyle/>
            <a:p>
              <a:pPr eaLnBrk="0" hangingPunct="0"/>
              <a:r>
                <a:rPr lang="en-US" sz="2000" b="1" dirty="0">
                  <a:solidFill>
                    <a:srgbClr val="C00000"/>
                  </a:solidFill>
                  <a:latin typeface="Times New Roman" pitchFamily="18" charset="0"/>
                </a:rPr>
                <a:t>Write Buffer</a:t>
              </a:r>
            </a:p>
          </p:txBody>
        </p:sp>
        <p:sp>
          <p:nvSpPr>
            <p:cNvPr id="22" name="Rectangle 16">
              <a:extLst>
                <a:ext uri="{FF2B5EF4-FFF2-40B4-BE49-F238E27FC236}">
                  <a16:creationId xmlns:a16="http://schemas.microsoft.com/office/drawing/2014/main" id="{A494754B-86B5-4EEE-BDEE-8A4677071B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2" y="632"/>
              <a:ext cx="656" cy="60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Rectangle 17">
              <a:extLst>
                <a:ext uri="{FF2B5EF4-FFF2-40B4-BE49-F238E27FC236}">
                  <a16:creationId xmlns:a16="http://schemas.microsoft.com/office/drawing/2014/main" id="{EECAC072-8D64-4117-A727-E89C3BE279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6" y="815"/>
              <a:ext cx="579" cy="20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2000" b="1" dirty="0">
                  <a:latin typeface="Times New Roman" pitchFamily="18" charset="0"/>
                </a:rPr>
                <a:t>DRAM</a:t>
              </a:r>
            </a:p>
          </p:txBody>
        </p:sp>
        <p:sp>
          <p:nvSpPr>
            <p:cNvPr id="24" name="Line 18">
              <a:extLst>
                <a:ext uri="{FF2B5EF4-FFF2-40B4-BE49-F238E27FC236}">
                  <a16:creationId xmlns:a16="http://schemas.microsoft.com/office/drawing/2014/main" id="{1739F9EB-74CA-4ED7-B954-D2A26DBCF4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1152"/>
              <a:ext cx="3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Line 19">
              <a:extLst>
                <a:ext uri="{FF2B5EF4-FFF2-40B4-BE49-F238E27FC236}">
                  <a16:creationId xmlns:a16="http://schemas.microsoft.com/office/drawing/2014/main" id="{0E23CF84-FDA0-45B8-9EB8-DE916FE2F1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816"/>
              <a:ext cx="3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Line 20">
              <a:extLst>
                <a:ext uri="{FF2B5EF4-FFF2-40B4-BE49-F238E27FC236}">
                  <a16:creationId xmlns:a16="http://schemas.microsoft.com/office/drawing/2014/main" id="{330AE603-E16E-42BE-A626-471599FA72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816"/>
              <a:ext cx="0" cy="3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6083588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7. Write-Back Cache</a:t>
            </a:r>
            <a:endParaRPr lang="en-GB" sz="3600" b="1" dirty="0">
              <a:solidFill>
                <a:srgbClr val="0000FF"/>
              </a:solidFill>
            </a:endParaRP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 dirty="0"/>
              <a:t>Lecture #22: Cache I: Direct Mapped Cache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57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242891C6-C19F-4D54-96C5-23A11583C345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346417"/>
            <a:ext cx="8229600" cy="4784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5113" indent="-265113" fontAlgn="auto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800" b="1" dirty="0">
                <a:solidFill>
                  <a:srgbClr val="C00000"/>
                </a:solidFill>
              </a:rPr>
              <a:t>Problem:</a:t>
            </a:r>
          </a:p>
          <a:p>
            <a:pPr marL="625475" lvl="1" indent="-265113" fontAlgn="auto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Quite wasteful if we write back every evicted cache blocks</a:t>
            </a:r>
          </a:p>
          <a:p>
            <a:pPr marL="265113" indent="-265113" fontAlgn="auto">
              <a:spcBef>
                <a:spcPts val="18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800" b="1" dirty="0">
                <a:solidFill>
                  <a:srgbClr val="006600"/>
                </a:solidFill>
              </a:rPr>
              <a:t>Solution:</a:t>
            </a:r>
          </a:p>
          <a:p>
            <a:pPr marL="625475" lvl="1" indent="-265113" fontAlgn="auto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Add an additional bit (</a:t>
            </a:r>
            <a:r>
              <a:rPr lang="en-US" sz="2400" b="1" dirty="0">
                <a:solidFill>
                  <a:srgbClr val="660066"/>
                </a:solidFill>
              </a:rPr>
              <a:t>Dirty bit</a:t>
            </a:r>
            <a:r>
              <a:rPr lang="en-US" sz="2400" dirty="0"/>
              <a:t>) to each cache block</a:t>
            </a:r>
          </a:p>
          <a:p>
            <a:pPr marL="625475" lvl="1" indent="-265113" fontAlgn="auto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Write operation will change dirty bit to 1</a:t>
            </a:r>
          </a:p>
          <a:p>
            <a:pPr marL="985838" lvl="2" indent="-271463" fontAlgn="auto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200" dirty="0"/>
              <a:t>Only cache block is updated, no write to memory</a:t>
            </a:r>
          </a:p>
          <a:p>
            <a:pPr marL="625475" lvl="1" indent="-265113" fontAlgn="auto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When a cache block is replaced:</a:t>
            </a:r>
          </a:p>
          <a:p>
            <a:pPr marL="985838" lvl="2" indent="-263525" fontAlgn="auto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200" dirty="0"/>
              <a:t>Only write back to memory if dirty bit is 1</a:t>
            </a:r>
          </a:p>
        </p:txBody>
      </p:sp>
    </p:spTree>
    <p:extLst>
      <p:ext uri="{BB962C8B-B14F-4D97-AF65-F5344CB8AC3E}">
        <p14:creationId xmlns:p14="http://schemas.microsoft.com/office/powerpoint/2010/main" val="69000675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7. Handling Cache Misses</a:t>
            </a:r>
            <a:endParaRPr lang="en-GB" sz="3600" b="1" dirty="0">
              <a:solidFill>
                <a:srgbClr val="0000FF"/>
              </a:solidFill>
            </a:endParaRP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 dirty="0"/>
              <a:t>Lecture #22: Cache I: Direct Mapped Cache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58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E60EA7FF-B6D6-4F18-9BB5-F42395F6C3D5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366472"/>
            <a:ext cx="8229600" cy="5029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5113" indent="-265113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On a </a:t>
            </a:r>
            <a:r>
              <a:rPr lang="en-US" sz="2800" b="1" dirty="0">
                <a:solidFill>
                  <a:srgbClr val="C00000"/>
                </a:solidFill>
              </a:rPr>
              <a:t>Read Miss</a:t>
            </a:r>
            <a:r>
              <a:rPr lang="en-US" sz="2800" b="1" dirty="0">
                <a:solidFill>
                  <a:srgbClr val="006600"/>
                </a:solidFill>
              </a:rPr>
              <a:t>:</a:t>
            </a:r>
            <a:endParaRPr lang="en-US" sz="2800" dirty="0"/>
          </a:p>
          <a:p>
            <a:pPr marL="625475" lvl="1" indent="-265113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Data loaded into cache and then load from there to register</a:t>
            </a:r>
          </a:p>
          <a:p>
            <a:pPr lvl="1" fontAlgn="auto">
              <a:spcBef>
                <a:spcPts val="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endParaRPr lang="en-US" dirty="0"/>
          </a:p>
          <a:p>
            <a:pPr marL="265113" indent="-265113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b="1" dirty="0">
                <a:solidFill>
                  <a:srgbClr val="C00000"/>
                </a:solidFill>
              </a:rPr>
              <a:t>Write Miss </a:t>
            </a:r>
            <a:r>
              <a:rPr lang="en-US" sz="2800" dirty="0"/>
              <a:t>option 1: </a:t>
            </a:r>
            <a:r>
              <a:rPr lang="en-US" sz="2800" b="1" dirty="0">
                <a:solidFill>
                  <a:srgbClr val="660066"/>
                </a:solidFill>
              </a:rPr>
              <a:t>Write allocate </a:t>
            </a:r>
          </a:p>
          <a:p>
            <a:pPr marL="625475" lvl="1" indent="-265113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Load the complete block into cache</a:t>
            </a:r>
          </a:p>
          <a:p>
            <a:pPr marL="625475" lvl="1" indent="-265113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Change only the required word in cache</a:t>
            </a:r>
          </a:p>
          <a:p>
            <a:pPr marL="625475" lvl="1" indent="-265113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Write to main memory depends on write policy</a:t>
            </a:r>
          </a:p>
          <a:p>
            <a:pPr marL="265113" indent="-265113" fontAlgn="auto">
              <a:spcBef>
                <a:spcPts val="12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b="1" dirty="0">
                <a:solidFill>
                  <a:srgbClr val="C00000"/>
                </a:solidFill>
              </a:rPr>
              <a:t>Write Miss </a:t>
            </a:r>
            <a:r>
              <a:rPr lang="en-US" sz="2800" dirty="0"/>
              <a:t>option 2: </a:t>
            </a:r>
            <a:r>
              <a:rPr lang="en-US" sz="2800" b="1" dirty="0">
                <a:solidFill>
                  <a:srgbClr val="006600"/>
                </a:solidFill>
              </a:rPr>
              <a:t>Write around</a:t>
            </a:r>
          </a:p>
          <a:p>
            <a:pPr marL="625475" lvl="1" indent="-265113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Do not load the block to cache</a:t>
            </a:r>
          </a:p>
          <a:p>
            <a:pPr marL="625475" lvl="1" indent="-265113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Write directly to </a:t>
            </a:r>
            <a:r>
              <a:rPr lang="en-US" sz="2400" b="1" dirty="0">
                <a:solidFill>
                  <a:srgbClr val="C00000"/>
                </a:solidFill>
              </a:rPr>
              <a:t>main memory only</a:t>
            </a:r>
            <a:endParaRPr lang="en-US" sz="240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03D66A2-EFC4-4668-9FEF-A40BB53F23AC}"/>
              </a:ext>
            </a:extLst>
          </p:cNvPr>
          <p:cNvCxnSpPr/>
          <p:nvPr/>
        </p:nvCxnSpPr>
        <p:spPr>
          <a:xfrm>
            <a:off x="304800" y="2814272"/>
            <a:ext cx="8458200" cy="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8623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7. Writing Data: Summary</a:t>
            </a:r>
            <a:endParaRPr lang="en-GB" sz="3600" b="1" dirty="0">
              <a:solidFill>
                <a:srgbClr val="0000FF"/>
              </a:solidFill>
            </a:endParaRP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 dirty="0"/>
              <a:t>Lecture #22: Cache I: Direct Mapped Cache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59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F7D86E9-1047-4278-9C1B-6B689CD795CE}"/>
              </a:ext>
            </a:extLst>
          </p:cNvPr>
          <p:cNvGrpSpPr/>
          <p:nvPr/>
        </p:nvGrpSpPr>
        <p:grpSpPr>
          <a:xfrm>
            <a:off x="713874" y="1346417"/>
            <a:ext cx="7620000" cy="5097190"/>
            <a:chOff x="713874" y="1346417"/>
            <a:chExt cx="7620000" cy="5097190"/>
          </a:xfrm>
        </p:grpSpPr>
        <p:sp>
          <p:nvSpPr>
            <p:cNvPr id="10" name="Oval 3">
              <a:extLst>
                <a:ext uri="{FF2B5EF4-FFF2-40B4-BE49-F238E27FC236}">
                  <a16:creationId xmlns:a16="http://schemas.microsoft.com/office/drawing/2014/main" id="{8817E91E-E1B6-41D3-B869-84627FAE4E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1892" y="1662204"/>
              <a:ext cx="304800" cy="30480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Text Box 4">
              <a:extLst>
                <a:ext uri="{FF2B5EF4-FFF2-40B4-BE49-F238E27FC236}">
                  <a16:creationId xmlns:a16="http://schemas.microsoft.com/office/drawing/2014/main" id="{FA659255-2F46-4253-A935-51988C1C09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71600" y="1346417"/>
              <a:ext cx="3047999" cy="1015663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prstDash val="sysDot"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2000" dirty="0"/>
                <a:t>Write address (</a:t>
              </a:r>
              <a:r>
                <a:rPr lang="en-US" sz="2000" b="1" dirty="0"/>
                <a:t>WA</a:t>
              </a:r>
              <a:r>
                <a:rPr lang="en-US" sz="2000" dirty="0"/>
                <a:t>) and </a:t>
              </a:r>
              <a:r>
                <a:rPr lang="en-US" sz="2000" b="1" dirty="0"/>
                <a:t>value</a:t>
              </a:r>
              <a:r>
                <a:rPr lang="en-US" sz="2000" dirty="0"/>
                <a:t> sent from processor </a:t>
              </a:r>
              <a:r>
                <a:rPr lang="en-US" sz="2000" dirty="0">
                  <a:sym typeface="Wingdings" pitchFamily="2" charset="2"/>
                </a:rPr>
                <a:t> cache</a:t>
              </a:r>
              <a:endParaRPr lang="en-US" sz="2000" dirty="0"/>
            </a:p>
          </p:txBody>
        </p:sp>
        <p:sp>
          <p:nvSpPr>
            <p:cNvPr id="13" name="AutoShape 5">
              <a:extLst>
                <a:ext uri="{FF2B5EF4-FFF2-40B4-BE49-F238E27FC236}">
                  <a16:creationId xmlns:a16="http://schemas.microsoft.com/office/drawing/2014/main" id="{1FB60512-080C-4226-AD1F-E7E2784071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8244" y="2673551"/>
              <a:ext cx="1524000" cy="762000"/>
            </a:xfrm>
            <a:prstGeom prst="diamond">
              <a:avLst/>
            </a:prstGeom>
            <a:solidFill>
              <a:schemeClr val="bg2">
                <a:lumMod val="9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dirty="0"/>
                <a:t>In cache?</a:t>
              </a:r>
            </a:p>
          </p:txBody>
        </p:sp>
        <p:sp>
          <p:nvSpPr>
            <p:cNvPr id="14" name="Text Box 6">
              <a:extLst>
                <a:ext uri="{FF2B5EF4-FFF2-40B4-BE49-F238E27FC236}">
                  <a16:creationId xmlns:a16="http://schemas.microsoft.com/office/drawing/2014/main" id="{3B658953-68A4-4717-92C7-E2CCD03F3F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38274" y="2439746"/>
              <a:ext cx="2895600" cy="1323439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prstDash val="sysDot"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2000" b="1" i="1" dirty="0"/>
                <a:t>Depends on</a:t>
              </a:r>
            </a:p>
            <a:p>
              <a:pPr algn="ctr"/>
              <a:r>
                <a:rPr lang="en-US" sz="2000" b="1" i="1" dirty="0">
                  <a:solidFill>
                    <a:srgbClr val="660066"/>
                  </a:solidFill>
                </a:rPr>
                <a:t>Write Miss Policy</a:t>
              </a:r>
            </a:p>
            <a:p>
              <a:pPr algn="ctr"/>
              <a:r>
                <a:rPr lang="en-US" sz="2000" dirty="0"/>
                <a:t>(Write Allocate) </a:t>
              </a:r>
              <a:br>
                <a:rPr lang="en-US" sz="2000" dirty="0"/>
              </a:br>
              <a:r>
                <a:rPr lang="en-US" sz="2000" dirty="0"/>
                <a:t>or (Write Around)</a:t>
              </a:r>
            </a:p>
          </p:txBody>
        </p:sp>
        <p:sp>
          <p:nvSpPr>
            <p:cNvPr id="15" name="Text Box 7">
              <a:extLst>
                <a:ext uri="{FF2B5EF4-FFF2-40B4-BE49-F238E27FC236}">
                  <a16:creationId xmlns:a16="http://schemas.microsoft.com/office/drawing/2014/main" id="{A256FB74-7171-4B47-AC2E-86621A7154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9244" y="4421701"/>
              <a:ext cx="2286000" cy="1323439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prstDash val="sysDot"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2000" b="1" i="1" dirty="0"/>
                <a:t>Depends on</a:t>
              </a:r>
            </a:p>
            <a:p>
              <a:pPr algn="ctr"/>
              <a:r>
                <a:rPr lang="en-US" sz="2000" b="1" i="1" dirty="0">
                  <a:solidFill>
                    <a:srgbClr val="660066"/>
                  </a:solidFill>
                </a:rPr>
                <a:t>Write Policy</a:t>
              </a:r>
            </a:p>
            <a:p>
              <a:pPr algn="ctr"/>
              <a:r>
                <a:rPr lang="en-US" sz="2000" dirty="0"/>
                <a:t>(Write Back)</a:t>
              </a:r>
            </a:p>
            <a:p>
              <a:pPr algn="ctr"/>
              <a:r>
                <a:rPr lang="en-US" sz="2000" dirty="0"/>
                <a:t>or (Write Through)</a:t>
              </a:r>
              <a:endParaRPr lang="en-US" sz="1600" dirty="0"/>
            </a:p>
          </p:txBody>
        </p:sp>
        <p:sp>
          <p:nvSpPr>
            <p:cNvPr id="16" name="Oval 9">
              <a:extLst>
                <a:ext uri="{FF2B5EF4-FFF2-40B4-BE49-F238E27FC236}">
                  <a16:creationId xmlns:a16="http://schemas.microsoft.com/office/drawing/2014/main" id="{815AEFD0-D390-4AE0-B9D1-48F30D37E3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9844" y="6138807"/>
              <a:ext cx="304800" cy="30480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Line 10">
              <a:extLst>
                <a:ext uri="{FF2B5EF4-FFF2-40B4-BE49-F238E27FC236}">
                  <a16:creationId xmlns:a16="http://schemas.microsoft.com/office/drawing/2014/main" id="{5D11FA2F-8EEC-4B17-9F66-334B99BC49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10652" y="1803615"/>
              <a:ext cx="360948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lg" len="lg"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18" name="Line 11">
              <a:extLst>
                <a:ext uri="{FF2B5EF4-FFF2-40B4-BE49-F238E27FC236}">
                  <a16:creationId xmlns:a16="http://schemas.microsoft.com/office/drawing/2014/main" id="{02182CFC-708B-40B3-92CD-8F4ADD5D92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2274" y="3054551"/>
              <a:ext cx="22860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lg" len="lg"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19" name="Line 12">
              <a:extLst>
                <a:ext uri="{FF2B5EF4-FFF2-40B4-BE49-F238E27FC236}">
                  <a16:creationId xmlns:a16="http://schemas.microsoft.com/office/drawing/2014/main" id="{EDE65673-6F5D-46D4-BD61-CB72A0F663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90274" y="2362080"/>
              <a:ext cx="0" cy="304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lg" len="lg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0" name="Line 13">
              <a:extLst>
                <a:ext uri="{FF2B5EF4-FFF2-40B4-BE49-F238E27FC236}">
                  <a16:creationId xmlns:a16="http://schemas.microsoft.com/office/drawing/2014/main" id="{0F7AA387-9996-4D58-8F22-55EECADA61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70244" y="3436670"/>
              <a:ext cx="0" cy="98502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lg" len="lg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1" name="Line 16">
              <a:extLst>
                <a:ext uri="{FF2B5EF4-FFF2-40B4-BE49-F238E27FC236}">
                  <a16:creationId xmlns:a16="http://schemas.microsoft.com/office/drawing/2014/main" id="{AA613D97-607D-4086-A3C1-F5B6047CCB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90474" y="3964501"/>
              <a:ext cx="29718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2" name="Line 17">
              <a:extLst>
                <a:ext uri="{FF2B5EF4-FFF2-40B4-BE49-F238E27FC236}">
                  <a16:creationId xmlns:a16="http://schemas.microsoft.com/office/drawing/2014/main" id="{CB4BABDC-AAAA-4377-AFFE-BA71DC5DF8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90474" y="3964501"/>
              <a:ext cx="0" cy="457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lg" len="lg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3" name="Line 18">
              <a:extLst>
                <a:ext uri="{FF2B5EF4-FFF2-40B4-BE49-F238E27FC236}">
                  <a16:creationId xmlns:a16="http://schemas.microsoft.com/office/drawing/2014/main" id="{4570A272-4B3F-46D6-976B-0C50DEF772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62274" y="3763185"/>
              <a:ext cx="0" cy="20131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4" name="Line 20">
              <a:extLst>
                <a:ext uri="{FF2B5EF4-FFF2-40B4-BE49-F238E27FC236}">
                  <a16:creationId xmlns:a16="http://schemas.microsoft.com/office/drawing/2014/main" id="{C9A4E190-CB9A-4D53-A7E7-79135BEE35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2244" y="5768908"/>
              <a:ext cx="0" cy="381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lg" len="lg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5" name="Text Box 26">
              <a:extLst>
                <a:ext uri="{FF2B5EF4-FFF2-40B4-BE49-F238E27FC236}">
                  <a16:creationId xmlns:a16="http://schemas.microsoft.com/office/drawing/2014/main" id="{FBDE9944-4271-40A8-A999-9E20D8603E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3874" y="3364110"/>
              <a:ext cx="1523999" cy="10310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 b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Write Hit</a:t>
              </a:r>
            </a:p>
            <a:p>
              <a:pPr algn="ctr">
                <a:spcBef>
                  <a:spcPts val="600"/>
                </a:spcBef>
              </a:pP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[Tags Match] AND [Valid]</a:t>
              </a:r>
            </a:p>
          </p:txBody>
        </p:sp>
        <p:sp>
          <p:nvSpPr>
            <p:cNvPr id="26" name="Text Box 27">
              <a:extLst>
                <a:ext uri="{FF2B5EF4-FFF2-40B4-BE49-F238E27FC236}">
                  <a16:creationId xmlns:a16="http://schemas.microsoft.com/office/drawing/2014/main" id="{BF51B8A3-172D-46C7-B9D9-13F06761B3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0319" y="2692183"/>
              <a:ext cx="1981200" cy="10310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 b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Write Miss</a:t>
              </a:r>
            </a:p>
            <a:p>
              <a:pPr algn="ctr">
                <a:spcBef>
                  <a:spcPts val="600"/>
                </a:spcBef>
              </a:pP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[Tags Mismatch] </a:t>
              </a:r>
              <a:b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OR [!Valid]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3871820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8. Set Associative (SA) Cache</a:t>
            </a:r>
            <a:endParaRPr lang="en-GB" sz="3600" b="1" dirty="0">
              <a:solidFill>
                <a:srgbClr val="0000FF"/>
              </a:solidFill>
            </a:endParaRP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#23: Cache II: Set/Fully Associative Cache</a:t>
            </a:r>
            <a:endParaRPr lang="en-US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1C5FC843-8514-4205-BB4E-B29FC7D531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1187"/>
            <a:ext cx="8229600" cy="5322275"/>
          </a:xfrm>
        </p:spPr>
        <p:txBody>
          <a:bodyPr>
            <a:normAutofit/>
          </a:bodyPr>
          <a:lstStyle/>
          <a:p>
            <a:pPr marL="265113" indent="-265113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SG" sz="28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Compulsory misses</a:t>
            </a:r>
          </a:p>
          <a:p>
            <a:pPr marL="625475" lvl="1" indent="-265113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SG" sz="2400" dirty="0">
                <a:solidFill>
                  <a:schemeClr val="bg1">
                    <a:lumMod val="75000"/>
                  </a:schemeClr>
                </a:solidFill>
              </a:rPr>
              <a:t>On the first access to a block; the block must be brought into the cache</a:t>
            </a:r>
          </a:p>
          <a:p>
            <a:pPr marL="625475" lvl="1" indent="-265113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SG" sz="2400" dirty="0">
                <a:solidFill>
                  <a:schemeClr val="bg1">
                    <a:lumMod val="75000"/>
                  </a:schemeClr>
                </a:solidFill>
              </a:rPr>
              <a:t>Also called </a:t>
            </a:r>
            <a:r>
              <a:rPr lang="en-SG" sz="24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cold start misses </a:t>
            </a:r>
            <a:r>
              <a:rPr lang="en-SG" sz="2400" dirty="0">
                <a:solidFill>
                  <a:schemeClr val="bg1">
                    <a:lumMod val="75000"/>
                  </a:schemeClr>
                </a:solidFill>
              </a:rPr>
              <a:t>or</a:t>
            </a:r>
            <a:r>
              <a:rPr lang="en-SG" sz="2400" dirty="0"/>
              <a:t> </a:t>
            </a:r>
            <a:r>
              <a:rPr lang="en-SG" sz="24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first reference misses</a:t>
            </a:r>
            <a:endParaRPr lang="en-US" sz="24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  <a:p>
            <a:pPr marL="265113" indent="-265113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SG" sz="2800" dirty="0">
                <a:solidFill>
                  <a:srgbClr val="C00000"/>
                </a:solidFill>
              </a:rPr>
              <a:t>Conflict misses</a:t>
            </a:r>
          </a:p>
          <a:p>
            <a:pPr marL="625475" lvl="1" indent="-265113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SG" sz="2400" dirty="0"/>
              <a:t>Occur in the case of direct mapped cache or set associative cache, when several blocks are mapped to the same block/set</a:t>
            </a:r>
          </a:p>
          <a:p>
            <a:pPr marL="625475" lvl="1" indent="-265113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SG" sz="2400" dirty="0"/>
              <a:t>Also called </a:t>
            </a:r>
            <a:r>
              <a:rPr lang="en-SG" sz="2400" dirty="0">
                <a:solidFill>
                  <a:srgbClr val="C00000"/>
                </a:solidFill>
              </a:rPr>
              <a:t>collision misses </a:t>
            </a:r>
            <a:r>
              <a:rPr lang="en-SG" sz="2400" dirty="0"/>
              <a:t>or </a:t>
            </a:r>
            <a:r>
              <a:rPr lang="en-SG" sz="2400" dirty="0">
                <a:solidFill>
                  <a:srgbClr val="C00000"/>
                </a:solidFill>
              </a:rPr>
              <a:t>interference misses</a:t>
            </a:r>
          </a:p>
          <a:p>
            <a:pPr marL="265113" indent="-265113">
              <a:spcBef>
                <a:spcPts val="12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SG" sz="28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Capacity misses</a:t>
            </a:r>
          </a:p>
          <a:p>
            <a:pPr marL="625475" lvl="1" indent="-265113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SG" sz="2400" dirty="0">
                <a:solidFill>
                  <a:schemeClr val="bg1">
                    <a:lumMod val="75000"/>
                  </a:schemeClr>
                </a:solidFill>
              </a:rPr>
              <a:t>Occur when blocks are discarded from cache as cache cannot contain all blocks needed </a:t>
            </a:r>
          </a:p>
        </p:txBody>
      </p:sp>
      <p:sp>
        <p:nvSpPr>
          <p:cNvPr id="3" name="Speech Bubble: Rectangle 2">
            <a:extLst>
              <a:ext uri="{FF2B5EF4-FFF2-40B4-BE49-F238E27FC236}">
                <a16:creationId xmlns:a16="http://schemas.microsoft.com/office/drawing/2014/main" id="{1E468635-D3F1-4EE2-8FEB-7D4343894FAA}"/>
              </a:ext>
            </a:extLst>
          </p:cNvPr>
          <p:cNvSpPr/>
          <p:nvPr/>
        </p:nvSpPr>
        <p:spPr>
          <a:xfrm>
            <a:off x="4027991" y="1990846"/>
            <a:ext cx="3298784" cy="995422"/>
          </a:xfrm>
          <a:prstGeom prst="wedgeRectCallout">
            <a:avLst>
              <a:gd name="adj1" fmla="val -56199"/>
              <a:gd name="adj2" fmla="val 86562"/>
            </a:avLst>
          </a:prstGeom>
          <a:solidFill>
            <a:srgbClr val="0070C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2400" dirty="0"/>
              <a:t>Solution:</a:t>
            </a:r>
          </a:p>
          <a:p>
            <a:pPr algn="ctr"/>
            <a:r>
              <a:rPr lang="en-SG" sz="2400" dirty="0"/>
              <a:t>Set Associative Cache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933BA8-F6F4-41AE-90A7-3BDE639FC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60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04898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8. Set Associative Cache: Analogy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#23: Cache II: Set/Fully Associative Cache</a:t>
            </a:r>
            <a:endParaRPr lang="en-US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pic>
        <p:nvPicPr>
          <p:cNvPr id="13" name="Picture 3">
            <a:extLst>
              <a:ext uri="{FF2B5EF4-FFF2-40B4-BE49-F238E27FC236}">
                <a16:creationId xmlns:a16="http://schemas.microsoft.com/office/drawing/2014/main" id="{B893A8D2-E591-4310-B8D6-4B18816873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62200" y="1219200"/>
            <a:ext cx="6448425" cy="267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2" descr="C:\Documents and Settings\dcssooyj\Local Settings\Temporary Internet Files\Content.IE5\WYO2ZBA1\MC900078735[1].wmf">
            <a:extLst>
              <a:ext uri="{FF2B5EF4-FFF2-40B4-BE49-F238E27FC236}">
                <a16:creationId xmlns:a16="http://schemas.microsoft.com/office/drawing/2014/main" id="{5D4FB485-9CEB-4A0B-9AEE-E19B1F50A7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4801" y="3314877"/>
            <a:ext cx="2514600" cy="2703336"/>
          </a:xfrm>
          <a:prstGeom prst="rect">
            <a:avLst/>
          </a:prstGeom>
          <a:noFill/>
        </p:spPr>
      </p:pic>
      <p:sp>
        <p:nvSpPr>
          <p:cNvPr id="15" name="Rounded Rectangle 7">
            <a:extLst>
              <a:ext uri="{FF2B5EF4-FFF2-40B4-BE49-F238E27FC236}">
                <a16:creationId xmlns:a16="http://schemas.microsoft.com/office/drawing/2014/main" id="{17BF4162-1C19-4C65-A107-7A6B1DC2290E}"/>
              </a:ext>
            </a:extLst>
          </p:cNvPr>
          <p:cNvSpPr/>
          <p:nvPr/>
        </p:nvSpPr>
        <p:spPr>
          <a:xfrm>
            <a:off x="3200401" y="4114800"/>
            <a:ext cx="5410200" cy="1981200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prstClr val="black"/>
                </a:solidFill>
              </a:rPr>
              <a:t>Many book titles start with “T” </a:t>
            </a:r>
          </a:p>
          <a:p>
            <a:pPr algn="ctr"/>
            <a:r>
              <a:rPr lang="en-US" sz="2400" dirty="0">
                <a:solidFill>
                  <a:prstClr val="black"/>
                </a:solidFill>
                <a:sym typeface="Wingdings" pitchFamily="2" charset="2"/>
              </a:rPr>
              <a:t> Too many conflicts!</a:t>
            </a:r>
          </a:p>
          <a:p>
            <a:pPr algn="ctr"/>
            <a:r>
              <a:rPr lang="en-US" sz="2400" dirty="0">
                <a:solidFill>
                  <a:prstClr val="black"/>
                </a:solidFill>
                <a:sym typeface="Wingdings" pitchFamily="2" charset="2"/>
              </a:rPr>
              <a:t>Hmm… how about we give more slots per letter, 2 books start with “A”, 2 books start with “B”, …. etc?</a:t>
            </a:r>
            <a:endParaRPr lang="en-US" sz="2400" dirty="0">
              <a:solidFill>
                <a:prstClr val="black"/>
              </a:solidFill>
            </a:endParaRP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373F55F4-C12B-4803-AADA-5AA73AD36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61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1749965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8. Set Associative (SA) Cache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#23: Cache II: Set/Fully Associative Cache</a:t>
            </a:r>
            <a:endParaRPr lang="en-US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320" name="Rectangle 3">
            <a:extLst>
              <a:ext uri="{FF2B5EF4-FFF2-40B4-BE49-F238E27FC236}">
                <a16:creationId xmlns:a16="http://schemas.microsoft.com/office/drawing/2014/main" id="{D95EADC0-68E5-4591-947E-2B81DAD6286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46417"/>
            <a:ext cx="8229600" cy="4784508"/>
          </a:xfrm>
        </p:spPr>
        <p:txBody>
          <a:bodyPr/>
          <a:lstStyle/>
          <a:p>
            <a:pPr marL="266700" indent="-2667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800" b="1" dirty="0">
                <a:solidFill>
                  <a:srgbClr val="660066"/>
                </a:solidFill>
              </a:rPr>
              <a:t>N-way Set Associative Cache</a:t>
            </a:r>
          </a:p>
          <a:p>
            <a:pPr marL="625475" lvl="1" indent="-2667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400" dirty="0"/>
              <a:t>A memory block can be placed in a fixed number (</a:t>
            </a:r>
            <a:r>
              <a:rPr lang="en-US" sz="2400" b="1" dirty="0">
                <a:solidFill>
                  <a:srgbClr val="C00000"/>
                </a:solidFill>
                <a:latin typeface="Courier New" pitchFamily="49" charset="0"/>
              </a:rPr>
              <a:t>N</a:t>
            </a:r>
            <a:r>
              <a:rPr lang="en-US" sz="2400" dirty="0"/>
              <a:t>) of locations in the cache, where </a:t>
            </a:r>
            <a:r>
              <a:rPr lang="en-US" sz="2400" b="1" dirty="0">
                <a:solidFill>
                  <a:srgbClr val="C00000"/>
                </a:solidFill>
                <a:latin typeface="Courier New" pitchFamily="49" charset="0"/>
              </a:rPr>
              <a:t>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&gt; 1</a:t>
            </a:r>
          </a:p>
          <a:p>
            <a:pPr marL="266700" indent="-266700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sz="2800" b="1" dirty="0"/>
              <a:t>Key Idea:</a:t>
            </a:r>
          </a:p>
          <a:p>
            <a:pPr marL="625475" lvl="1" indent="-2667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400" dirty="0"/>
              <a:t>Cache consists of a number of sets: </a:t>
            </a:r>
          </a:p>
          <a:p>
            <a:pPr marL="984250" lvl="2" indent="-2667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000" dirty="0"/>
              <a:t>Each </a:t>
            </a:r>
            <a:r>
              <a:rPr lang="en-US" sz="2000" dirty="0">
                <a:solidFill>
                  <a:srgbClr val="C00000"/>
                </a:solidFill>
              </a:rPr>
              <a:t>set contains </a:t>
            </a:r>
            <a:r>
              <a:rPr lang="en-US" sz="2400" b="1" dirty="0">
                <a:solidFill>
                  <a:srgbClr val="C00000"/>
                </a:solidFill>
                <a:latin typeface="Courier New" pitchFamily="49" charset="0"/>
              </a:rPr>
              <a:t>N</a:t>
            </a:r>
            <a:r>
              <a:rPr lang="en-US" sz="2000" dirty="0">
                <a:solidFill>
                  <a:srgbClr val="C00000"/>
                </a:solidFill>
              </a:rPr>
              <a:t> cache blocks</a:t>
            </a:r>
          </a:p>
          <a:p>
            <a:pPr marL="625475" lvl="1" indent="-2667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400" dirty="0"/>
              <a:t>Each memory block maps to a unique cache set</a:t>
            </a:r>
          </a:p>
          <a:p>
            <a:pPr marL="625475" lvl="1" indent="-2667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400" dirty="0"/>
              <a:t>Within the set, a memory block can be placed in </a:t>
            </a:r>
            <a:r>
              <a:rPr lang="en-US" sz="2400" b="1" dirty="0">
                <a:solidFill>
                  <a:srgbClr val="C00000"/>
                </a:solidFill>
              </a:rPr>
              <a:t>any</a:t>
            </a:r>
            <a:r>
              <a:rPr lang="en-US" sz="2400" dirty="0"/>
              <a:t> of the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sz="2400" dirty="0"/>
              <a:t> cache blocks in the set</a:t>
            </a:r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B9C61E97-630E-4636-9F1E-960F32371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62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9224347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8. Set Associative Cache: </a:t>
            </a:r>
            <a:r>
              <a:rPr lang="en-GB" sz="3600" b="1" dirty="0">
                <a:solidFill>
                  <a:srgbClr val="0000FF"/>
                </a:solidFill>
              </a:rPr>
              <a:t>Structure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#23: Cache II: Set/Fully Associative Cache</a:t>
            </a:r>
            <a:endParaRPr lang="en-US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7" name="Content Placeholder 51">
            <a:extLst>
              <a:ext uri="{FF2B5EF4-FFF2-40B4-BE49-F238E27FC236}">
                <a16:creationId xmlns:a16="http://schemas.microsoft.com/office/drawing/2014/main" id="{FED4EF2A-0905-47EB-AF51-0055CAA7EA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943" y="3654714"/>
            <a:ext cx="8184257" cy="2769225"/>
          </a:xfrm>
        </p:spPr>
        <p:txBody>
          <a:bodyPr/>
          <a:lstStyle/>
          <a:p>
            <a:pPr marL="266700" indent="-266700"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An example of 2-way set associative cache</a:t>
            </a:r>
          </a:p>
          <a:p>
            <a:pPr marL="625475" lvl="1" indent="-266700"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Each set has two cache blocks</a:t>
            </a:r>
          </a:p>
          <a:p>
            <a:pPr marL="266700" indent="-266700"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A memory block maps to a </a:t>
            </a:r>
            <a:r>
              <a:rPr lang="en-US" sz="2800" b="1" dirty="0"/>
              <a:t>unique set</a:t>
            </a:r>
            <a:endParaRPr lang="en-US" sz="2800" dirty="0"/>
          </a:p>
          <a:p>
            <a:pPr marL="625475" lvl="1" indent="-266700"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In the set, the memory block can be placed in </a:t>
            </a:r>
            <a:r>
              <a:rPr lang="en-US" sz="2400" b="1" dirty="0"/>
              <a:t>either of the cache blocks</a:t>
            </a:r>
            <a:endParaRPr lang="en-US" sz="2400" dirty="0"/>
          </a:p>
          <a:p>
            <a:pPr lvl="1">
              <a:buNone/>
            </a:pPr>
            <a:r>
              <a:rPr lang="en-US" sz="2400" dirty="0">
                <a:sym typeface="Wingdings" pitchFamily="2" charset="2"/>
              </a:rPr>
              <a:t> Need to search both to look for the memory block</a:t>
            </a:r>
            <a:endParaRPr lang="en-US" sz="240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00D471A-C044-40F2-BF46-5C35AA35ED92}"/>
              </a:ext>
            </a:extLst>
          </p:cNvPr>
          <p:cNvGrpSpPr/>
          <p:nvPr/>
        </p:nvGrpSpPr>
        <p:grpSpPr>
          <a:xfrm>
            <a:off x="1279967" y="1447800"/>
            <a:ext cx="6420752" cy="1957199"/>
            <a:chOff x="1279967" y="1447800"/>
            <a:chExt cx="6420752" cy="1957199"/>
          </a:xfrm>
        </p:grpSpPr>
        <p:sp>
          <p:nvSpPr>
            <p:cNvPr id="13" name="Text Box 9">
              <a:extLst>
                <a:ext uri="{FF2B5EF4-FFF2-40B4-BE49-F238E27FC236}">
                  <a16:creationId xmlns:a16="http://schemas.microsoft.com/office/drawing/2014/main" id="{B9B4652F-A47E-4B40-B2C3-553F3E2A7E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4027" y="2943334"/>
              <a:ext cx="4155946" cy="46166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>
                  <a:solidFill>
                    <a:srgbClr val="0000FF"/>
                  </a:solidFill>
                </a:rPr>
                <a:t>2-way Set Associative Cache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4E1CB1F-6609-4270-B0C1-54B46F3A3688}"/>
                </a:ext>
              </a:extLst>
            </p:cNvPr>
            <p:cNvGrpSpPr/>
            <p:nvPr/>
          </p:nvGrpSpPr>
          <p:grpSpPr>
            <a:xfrm>
              <a:off x="1279967" y="1447800"/>
              <a:ext cx="6420752" cy="1524000"/>
              <a:chOff x="1279967" y="1447800"/>
              <a:chExt cx="6420752" cy="1524000"/>
            </a:xfrm>
          </p:grpSpPr>
          <p:sp>
            <p:nvSpPr>
              <p:cNvPr id="8" name="Rectangle 5">
                <a:extLst>
                  <a:ext uri="{FF2B5EF4-FFF2-40B4-BE49-F238E27FC236}">
                    <a16:creationId xmlns:a16="http://schemas.microsoft.com/office/drawing/2014/main" id="{A6FF0FC1-15FB-4147-B487-A181C59F41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6319" y="1752600"/>
                <a:ext cx="1524000" cy="304800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9" name="Rectangle 6">
                <a:extLst>
                  <a:ext uri="{FF2B5EF4-FFF2-40B4-BE49-F238E27FC236}">
                    <a16:creationId xmlns:a16="http://schemas.microsoft.com/office/drawing/2014/main" id="{F704857C-FFCA-453F-891E-BCE1DCD552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6319" y="2057400"/>
                <a:ext cx="1524000" cy="3048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10" name="Rectangle 7">
                <a:extLst>
                  <a:ext uri="{FF2B5EF4-FFF2-40B4-BE49-F238E27FC236}">
                    <a16:creationId xmlns:a16="http://schemas.microsoft.com/office/drawing/2014/main" id="{FEC8B82F-9B08-480B-ADA0-3B217E5808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6319" y="2362200"/>
                <a:ext cx="1524000" cy="304800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11" name="Rectangle 8">
                <a:extLst>
                  <a:ext uri="{FF2B5EF4-FFF2-40B4-BE49-F238E27FC236}">
                    <a16:creationId xmlns:a16="http://schemas.microsoft.com/office/drawing/2014/main" id="{D31DFC48-0726-4E72-9CDF-B7AB8C7040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6319" y="2667000"/>
                <a:ext cx="1524000" cy="3048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noAutofit/>
              </a:bodyPr>
              <a:lstStyle/>
              <a:p>
                <a:endParaRPr lang="en-US"/>
              </a:p>
            </p:txBody>
          </p: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45B0FA67-7185-4167-826A-DAF2B25A8421}"/>
                  </a:ext>
                </a:extLst>
              </p:cNvPr>
              <p:cNvGrpSpPr/>
              <p:nvPr/>
            </p:nvGrpSpPr>
            <p:grpSpPr>
              <a:xfrm>
                <a:off x="7248533" y="1717675"/>
                <a:ext cx="431800" cy="1250950"/>
                <a:chOff x="7040319" y="1717675"/>
                <a:chExt cx="431800" cy="1250950"/>
              </a:xfrm>
            </p:grpSpPr>
            <p:sp>
              <p:nvSpPr>
                <p:cNvPr id="14" name="Text Box 10">
                  <a:extLst>
                    <a:ext uri="{FF2B5EF4-FFF2-40B4-BE49-F238E27FC236}">
                      <a16:creationId xmlns:a16="http://schemas.microsoft.com/office/drawing/2014/main" id="{C0471166-59D0-4DCA-92F2-19950ADA531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040319" y="1717675"/>
                  <a:ext cx="431800" cy="336550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noAutofit/>
                </a:bodyPr>
                <a:lstStyle/>
                <a:p>
                  <a:pPr algn="ctr"/>
                  <a:r>
                    <a:rPr lang="en-US" sz="2000" dirty="0"/>
                    <a:t>00</a:t>
                  </a:r>
                </a:p>
              </p:txBody>
            </p:sp>
            <p:sp>
              <p:nvSpPr>
                <p:cNvPr id="15" name="Text Box 11">
                  <a:extLst>
                    <a:ext uri="{FF2B5EF4-FFF2-40B4-BE49-F238E27FC236}">
                      <a16:creationId xmlns:a16="http://schemas.microsoft.com/office/drawing/2014/main" id="{884E0067-E009-46CF-AAB0-578099A3825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056194" y="2022475"/>
                  <a:ext cx="400050" cy="336550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noAutofit/>
                </a:bodyPr>
                <a:lstStyle/>
                <a:p>
                  <a:pPr algn="ctr"/>
                  <a:r>
                    <a:rPr lang="en-US" sz="2000" dirty="0"/>
                    <a:t>01</a:t>
                  </a:r>
                </a:p>
              </p:txBody>
            </p:sp>
            <p:sp>
              <p:nvSpPr>
                <p:cNvPr id="16" name="Text Box 12">
                  <a:extLst>
                    <a:ext uri="{FF2B5EF4-FFF2-40B4-BE49-F238E27FC236}">
                      <a16:creationId xmlns:a16="http://schemas.microsoft.com/office/drawing/2014/main" id="{BDAC9F7D-AD19-4E3A-9E41-CB593BACE48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056194" y="2327275"/>
                  <a:ext cx="400050" cy="336550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noAutofit/>
                </a:bodyPr>
                <a:lstStyle/>
                <a:p>
                  <a:pPr algn="ctr"/>
                  <a:r>
                    <a:rPr lang="en-US" sz="2000" dirty="0"/>
                    <a:t>10</a:t>
                  </a:r>
                </a:p>
              </p:txBody>
            </p:sp>
            <p:sp>
              <p:nvSpPr>
                <p:cNvPr id="17" name="Text Box 13">
                  <a:extLst>
                    <a:ext uri="{FF2B5EF4-FFF2-40B4-BE49-F238E27FC236}">
                      <a16:creationId xmlns:a16="http://schemas.microsoft.com/office/drawing/2014/main" id="{BC975CE8-A6B8-45F3-BF5D-7EB4EA2AE80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072069" y="2632075"/>
                  <a:ext cx="368300" cy="336550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noAutofit/>
                </a:bodyPr>
                <a:lstStyle/>
                <a:p>
                  <a:pPr algn="ctr"/>
                  <a:r>
                    <a:rPr lang="en-US" sz="2000" dirty="0"/>
                    <a:t>11</a:t>
                  </a:r>
                </a:p>
              </p:txBody>
            </p:sp>
          </p:grpSp>
          <p:sp>
            <p:nvSpPr>
              <p:cNvPr id="18" name="Text Box 14">
                <a:extLst>
                  <a:ext uri="{FF2B5EF4-FFF2-40B4-BE49-F238E27FC236}">
                    <a16:creationId xmlns:a16="http://schemas.microsoft.com/office/drawing/2014/main" id="{FE1D7CCB-71F7-49E3-BB1E-248B0F5F067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87919" y="1447800"/>
                <a:ext cx="812800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noAutofit/>
              </a:bodyPr>
              <a:lstStyle/>
              <a:p>
                <a:r>
                  <a:rPr lang="en-US" sz="1800" b="1" dirty="0"/>
                  <a:t> Set Index</a:t>
                </a:r>
              </a:p>
            </p:txBody>
          </p:sp>
          <p:sp>
            <p:nvSpPr>
              <p:cNvPr id="19" name="Text Box 15">
                <a:extLst>
                  <a:ext uri="{FF2B5EF4-FFF2-40B4-BE49-F238E27FC236}">
                    <a16:creationId xmlns:a16="http://schemas.microsoft.com/office/drawing/2014/main" id="{20ED4F4A-4ADB-404E-BC19-47B01539FFC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97319" y="1447800"/>
                <a:ext cx="635000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noAutofit/>
              </a:bodyPr>
              <a:lstStyle/>
              <a:p>
                <a:r>
                  <a:rPr lang="en-US" sz="1800" b="1" dirty="0"/>
                  <a:t>Data</a:t>
                </a:r>
              </a:p>
            </p:txBody>
          </p:sp>
          <p:sp>
            <p:nvSpPr>
              <p:cNvPr id="20" name="Rectangle 17">
                <a:extLst>
                  <a:ext uri="{FF2B5EF4-FFF2-40B4-BE49-F238E27FC236}">
                    <a16:creationId xmlns:a16="http://schemas.microsoft.com/office/drawing/2014/main" id="{75EA0ACB-13DF-4D01-B523-C1D9EE38C7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69743" y="1752600"/>
                <a:ext cx="762000" cy="304800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1" name="Rectangle 18">
                <a:extLst>
                  <a:ext uri="{FF2B5EF4-FFF2-40B4-BE49-F238E27FC236}">
                    <a16:creationId xmlns:a16="http://schemas.microsoft.com/office/drawing/2014/main" id="{F58EE6F1-CEBB-4103-80F4-4E6E2A1BB0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69743" y="2057400"/>
                <a:ext cx="762000" cy="3048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noAutofit/>
              </a:bodyPr>
              <a:lstStyle/>
              <a:p>
                <a:endParaRPr lang="en-US" sz="1800"/>
              </a:p>
            </p:txBody>
          </p:sp>
          <p:sp>
            <p:nvSpPr>
              <p:cNvPr id="22" name="Rectangle 19">
                <a:extLst>
                  <a:ext uri="{FF2B5EF4-FFF2-40B4-BE49-F238E27FC236}">
                    <a16:creationId xmlns:a16="http://schemas.microsoft.com/office/drawing/2014/main" id="{6C412A98-6FE2-4A50-BB76-2EAE40DB8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69743" y="2362200"/>
                <a:ext cx="762000" cy="304800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3" name="Rectangle 20">
                <a:extLst>
                  <a:ext uri="{FF2B5EF4-FFF2-40B4-BE49-F238E27FC236}">
                    <a16:creationId xmlns:a16="http://schemas.microsoft.com/office/drawing/2014/main" id="{0728134E-8132-4258-B72B-3E34B1DF5E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69743" y="2667000"/>
                <a:ext cx="762000" cy="3048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noAutofit/>
              </a:bodyPr>
              <a:lstStyle/>
              <a:p>
                <a:endParaRPr lang="en-US" sz="1800"/>
              </a:p>
            </p:txBody>
          </p:sp>
          <p:sp>
            <p:nvSpPr>
              <p:cNvPr id="24" name="Text Box 25">
                <a:extLst>
                  <a:ext uri="{FF2B5EF4-FFF2-40B4-BE49-F238E27FC236}">
                    <a16:creationId xmlns:a16="http://schemas.microsoft.com/office/drawing/2014/main" id="{5B080E2C-B74C-4FCD-A49D-84724F8DDD4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14561" y="1447800"/>
                <a:ext cx="550152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noAutofit/>
              </a:bodyPr>
              <a:lstStyle/>
              <a:p>
                <a:r>
                  <a:rPr lang="en-US" sz="1800" b="1" dirty="0">
                    <a:solidFill>
                      <a:srgbClr val="660066"/>
                    </a:solidFill>
                  </a:rPr>
                  <a:t>Tag</a:t>
                </a:r>
              </a:p>
            </p:txBody>
          </p:sp>
          <p:sp>
            <p:nvSpPr>
              <p:cNvPr id="25" name="Rectangle 21">
                <a:extLst>
                  <a:ext uri="{FF2B5EF4-FFF2-40B4-BE49-F238E27FC236}">
                    <a16:creationId xmlns:a16="http://schemas.microsoft.com/office/drawing/2014/main" id="{470100C3-B039-491C-B2DD-4F0D6FC0E3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2543" y="1752600"/>
                <a:ext cx="457200" cy="304800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6" name="Rectangle 22">
                <a:extLst>
                  <a:ext uri="{FF2B5EF4-FFF2-40B4-BE49-F238E27FC236}">
                    <a16:creationId xmlns:a16="http://schemas.microsoft.com/office/drawing/2014/main" id="{D90A3005-A37E-49C3-A89E-D4660F0F6F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2543" y="2057400"/>
                <a:ext cx="457200" cy="3048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7" name="Rectangle 23">
                <a:extLst>
                  <a:ext uri="{FF2B5EF4-FFF2-40B4-BE49-F238E27FC236}">
                    <a16:creationId xmlns:a16="http://schemas.microsoft.com/office/drawing/2014/main" id="{50B5938A-2999-4175-8B93-F80E3D03E0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2543" y="2362200"/>
                <a:ext cx="457200" cy="304800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8" name="Rectangle 24">
                <a:extLst>
                  <a:ext uri="{FF2B5EF4-FFF2-40B4-BE49-F238E27FC236}">
                    <a16:creationId xmlns:a16="http://schemas.microsoft.com/office/drawing/2014/main" id="{19EB324B-97CA-4286-9A7E-49981C826C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2543" y="2667000"/>
                <a:ext cx="457200" cy="3048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9" name="Text Box 26">
                <a:extLst>
                  <a:ext uri="{FF2B5EF4-FFF2-40B4-BE49-F238E27FC236}">
                    <a16:creationId xmlns:a16="http://schemas.microsoft.com/office/drawing/2014/main" id="{7AC25837-F56B-4062-A225-8F4F43035B5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75567" y="1447800"/>
                <a:ext cx="670376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noAutofit/>
              </a:bodyPr>
              <a:lstStyle/>
              <a:p>
                <a:r>
                  <a:rPr lang="en-US" sz="1800" b="1" dirty="0">
                    <a:solidFill>
                      <a:srgbClr val="006600"/>
                    </a:solidFill>
                  </a:rPr>
                  <a:t>Valid</a:t>
                </a:r>
              </a:p>
            </p:txBody>
          </p:sp>
          <p:sp>
            <p:nvSpPr>
              <p:cNvPr id="30" name="Rectangle 5">
                <a:extLst>
                  <a:ext uri="{FF2B5EF4-FFF2-40B4-BE49-F238E27FC236}">
                    <a16:creationId xmlns:a16="http://schemas.microsoft.com/office/drawing/2014/main" id="{CDD2133E-3939-47BB-8200-95B1754368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0719" y="1752600"/>
                <a:ext cx="1524000" cy="304800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1" name="Rectangle 6">
                <a:extLst>
                  <a:ext uri="{FF2B5EF4-FFF2-40B4-BE49-F238E27FC236}">
                    <a16:creationId xmlns:a16="http://schemas.microsoft.com/office/drawing/2014/main" id="{B374C5D4-3FD4-4B2E-A416-33B2DE5FB8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0719" y="2057400"/>
                <a:ext cx="1524000" cy="3048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2" name="Rectangle 7">
                <a:extLst>
                  <a:ext uri="{FF2B5EF4-FFF2-40B4-BE49-F238E27FC236}">
                    <a16:creationId xmlns:a16="http://schemas.microsoft.com/office/drawing/2014/main" id="{A3933860-A254-4D6A-A27D-354AAB3B24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0719" y="2362200"/>
                <a:ext cx="1524000" cy="304800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3" name="Rectangle 8">
                <a:extLst>
                  <a:ext uri="{FF2B5EF4-FFF2-40B4-BE49-F238E27FC236}">
                    <a16:creationId xmlns:a16="http://schemas.microsoft.com/office/drawing/2014/main" id="{150361D4-9E93-492D-B0C1-BC102F3FF8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0719" y="2667000"/>
                <a:ext cx="1524000" cy="3048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4" name="Text Box 15">
                <a:extLst>
                  <a:ext uri="{FF2B5EF4-FFF2-40B4-BE49-F238E27FC236}">
                    <a16:creationId xmlns:a16="http://schemas.microsoft.com/office/drawing/2014/main" id="{EB215B4F-1398-4C4D-AFEA-90015706E38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01719" y="1447800"/>
                <a:ext cx="635000" cy="3365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noAutofit/>
              </a:bodyPr>
              <a:lstStyle/>
              <a:p>
                <a:r>
                  <a:rPr lang="en-US" sz="1800" b="1" dirty="0"/>
                  <a:t>Data</a:t>
                </a:r>
              </a:p>
            </p:txBody>
          </p:sp>
          <p:sp>
            <p:nvSpPr>
              <p:cNvPr id="35" name="Rectangle 17">
                <a:extLst>
                  <a:ext uri="{FF2B5EF4-FFF2-40B4-BE49-F238E27FC236}">
                    <a16:creationId xmlns:a16="http://schemas.microsoft.com/office/drawing/2014/main" id="{F4E187AA-0483-4F58-9BB4-1B15C9F52C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74143" y="1752600"/>
                <a:ext cx="762000" cy="304800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6" name="Rectangle 18">
                <a:extLst>
                  <a:ext uri="{FF2B5EF4-FFF2-40B4-BE49-F238E27FC236}">
                    <a16:creationId xmlns:a16="http://schemas.microsoft.com/office/drawing/2014/main" id="{1FE17E2B-91BD-4C21-9EEA-2D5C934E00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74143" y="2057400"/>
                <a:ext cx="762000" cy="3048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noAutofit/>
              </a:bodyPr>
              <a:lstStyle/>
              <a:p>
                <a:endParaRPr lang="en-US" sz="1800"/>
              </a:p>
            </p:txBody>
          </p:sp>
          <p:sp>
            <p:nvSpPr>
              <p:cNvPr id="37" name="Rectangle 19">
                <a:extLst>
                  <a:ext uri="{FF2B5EF4-FFF2-40B4-BE49-F238E27FC236}">
                    <a16:creationId xmlns:a16="http://schemas.microsoft.com/office/drawing/2014/main" id="{66AA74A2-6807-4805-BE2C-B93E605C83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74143" y="2362200"/>
                <a:ext cx="762000" cy="304800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8" name="Rectangle 20">
                <a:extLst>
                  <a:ext uri="{FF2B5EF4-FFF2-40B4-BE49-F238E27FC236}">
                    <a16:creationId xmlns:a16="http://schemas.microsoft.com/office/drawing/2014/main" id="{0DB328C6-6328-4B2E-A26E-F8163ECD5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74143" y="2667000"/>
                <a:ext cx="762000" cy="3048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noAutofit/>
              </a:bodyPr>
              <a:lstStyle/>
              <a:p>
                <a:endParaRPr lang="en-US" sz="1800"/>
              </a:p>
            </p:txBody>
          </p:sp>
          <p:sp>
            <p:nvSpPr>
              <p:cNvPr id="39" name="Text Box 25">
                <a:extLst>
                  <a:ext uri="{FF2B5EF4-FFF2-40B4-BE49-F238E27FC236}">
                    <a16:creationId xmlns:a16="http://schemas.microsoft.com/office/drawing/2014/main" id="{4F3F552C-1C02-48F8-B44C-3F6D6717493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18961" y="1447800"/>
                <a:ext cx="550152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noAutofit/>
              </a:bodyPr>
              <a:lstStyle/>
              <a:p>
                <a:r>
                  <a:rPr lang="en-US" sz="1800" b="1" dirty="0">
                    <a:solidFill>
                      <a:srgbClr val="660066"/>
                    </a:solidFill>
                  </a:rPr>
                  <a:t>Tag</a:t>
                </a:r>
              </a:p>
            </p:txBody>
          </p:sp>
          <p:sp>
            <p:nvSpPr>
              <p:cNvPr id="40" name="Rectangle 21">
                <a:extLst>
                  <a:ext uri="{FF2B5EF4-FFF2-40B4-BE49-F238E27FC236}">
                    <a16:creationId xmlns:a16="http://schemas.microsoft.com/office/drawing/2014/main" id="{54B66359-18F5-4FDB-B14B-FE55CE65D6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16943" y="1752600"/>
                <a:ext cx="457200" cy="304800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1" name="Rectangle 22">
                <a:extLst>
                  <a:ext uri="{FF2B5EF4-FFF2-40B4-BE49-F238E27FC236}">
                    <a16:creationId xmlns:a16="http://schemas.microsoft.com/office/drawing/2014/main" id="{FD237126-1C2D-4F39-A2A9-EA913BB091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16943" y="2057400"/>
                <a:ext cx="457200" cy="3048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2" name="Rectangle 23">
                <a:extLst>
                  <a:ext uri="{FF2B5EF4-FFF2-40B4-BE49-F238E27FC236}">
                    <a16:creationId xmlns:a16="http://schemas.microsoft.com/office/drawing/2014/main" id="{63614306-8FEA-4359-9728-9F348CE26D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16943" y="2362200"/>
                <a:ext cx="457200" cy="304800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3" name="Rectangle 24">
                <a:extLst>
                  <a:ext uri="{FF2B5EF4-FFF2-40B4-BE49-F238E27FC236}">
                    <a16:creationId xmlns:a16="http://schemas.microsoft.com/office/drawing/2014/main" id="{5B2DB5AC-1D38-400B-96BE-9C28FCC645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16943" y="2667000"/>
                <a:ext cx="457200" cy="3048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4" name="Text Box 26">
                <a:extLst>
                  <a:ext uri="{FF2B5EF4-FFF2-40B4-BE49-F238E27FC236}">
                    <a16:creationId xmlns:a16="http://schemas.microsoft.com/office/drawing/2014/main" id="{71C96E50-617D-42FD-8BD4-A0E946DEE36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79967" y="1447800"/>
                <a:ext cx="670376" cy="3385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noAutofit/>
              </a:bodyPr>
              <a:lstStyle/>
              <a:p>
                <a:r>
                  <a:rPr lang="en-US" sz="1800" b="1" dirty="0">
                    <a:solidFill>
                      <a:srgbClr val="006600"/>
                    </a:solidFill>
                  </a:rPr>
                  <a:t>Valid</a:t>
                </a:r>
              </a:p>
            </p:txBody>
          </p:sp>
          <p:sp>
            <p:nvSpPr>
              <p:cNvPr id="45" name="Text Box 67">
                <a:extLst>
                  <a:ext uri="{FF2B5EF4-FFF2-40B4-BE49-F238E27FC236}">
                    <a16:creationId xmlns:a16="http://schemas.microsoft.com/office/drawing/2014/main" id="{D9E30795-A7EA-4595-ADF9-9E990A261C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80891" y="2286000"/>
                <a:ext cx="663964" cy="461665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C00000"/>
                    </a:solidFill>
                    <a:latin typeface="+mn-lt"/>
                  </a:rPr>
                  <a:t>Set</a:t>
                </a:r>
              </a:p>
            </p:txBody>
          </p:sp>
          <p:sp>
            <p:nvSpPr>
              <p:cNvPr id="46" name="Line 68">
                <a:extLst>
                  <a:ext uri="{FF2B5EF4-FFF2-40B4-BE49-F238E27FC236}">
                    <a16:creationId xmlns:a16="http://schemas.microsoft.com/office/drawing/2014/main" id="{24201764-62D8-4F3B-A2E4-E79FA3FFFA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25719" y="2519065"/>
                <a:ext cx="2514600" cy="0"/>
              </a:xfrm>
              <a:prstGeom prst="line">
                <a:avLst/>
              </a:prstGeom>
              <a:noFill/>
              <a:ln w="22225">
                <a:solidFill>
                  <a:srgbClr val="FF0000"/>
                </a:solidFill>
                <a:round/>
                <a:headEnd/>
                <a:tailEnd type="triangle" w="lg" len="med"/>
              </a:ln>
            </p:spPr>
            <p:txBody>
              <a:bodyPr wrap="none">
                <a:spAutoFit/>
              </a:bodyPr>
              <a:lstStyle/>
              <a:p>
                <a:endParaRPr lang="en-US" b="1">
                  <a:solidFill>
                    <a:srgbClr val="C00000"/>
                  </a:solidFill>
                  <a:latin typeface="+mn-lt"/>
                </a:endParaRPr>
              </a:p>
            </p:txBody>
          </p:sp>
          <p:sp>
            <p:nvSpPr>
              <p:cNvPr id="47" name="Line 69">
                <a:extLst>
                  <a:ext uri="{FF2B5EF4-FFF2-40B4-BE49-F238E27FC236}">
                    <a16:creationId xmlns:a16="http://schemas.microsoft.com/office/drawing/2014/main" id="{6D03B365-4FBD-4A35-99DD-6A4EAF1692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32367" y="2519065"/>
                <a:ext cx="2514600" cy="0"/>
              </a:xfrm>
              <a:prstGeom prst="line">
                <a:avLst/>
              </a:prstGeom>
              <a:noFill/>
              <a:ln w="22225">
                <a:solidFill>
                  <a:srgbClr val="FF0000"/>
                </a:solidFill>
                <a:round/>
                <a:headEnd/>
                <a:tailEnd type="triangle" w="lg" len="med"/>
              </a:ln>
            </p:spPr>
            <p:txBody>
              <a:bodyPr wrap="none">
                <a:spAutoFit/>
              </a:bodyPr>
              <a:lstStyle/>
              <a:p>
                <a:endParaRPr lang="en-US" b="1" dirty="0">
                  <a:solidFill>
                    <a:srgbClr val="C00000"/>
                  </a:solidFill>
                  <a:latin typeface="+mn-lt"/>
                </a:endParaRPr>
              </a:p>
            </p:txBody>
          </p:sp>
        </p:grpSp>
      </p:grpSp>
      <p:sp>
        <p:nvSpPr>
          <p:cNvPr id="48" name="Slide Number Placeholder 6">
            <a:extLst>
              <a:ext uri="{FF2B5EF4-FFF2-40B4-BE49-F238E27FC236}">
                <a16:creationId xmlns:a16="http://schemas.microsoft.com/office/drawing/2014/main" id="{6A23CC34-422E-421B-9D61-0B76EBA51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63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5277413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9A4C6-5872-8E7F-C603-0524FDD56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337301-E13C-021A-DF2B-9F94124522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01357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8. Set Associative Cache: </a:t>
            </a:r>
            <a:r>
              <a:rPr lang="en-GB" sz="3600" b="1" dirty="0">
                <a:solidFill>
                  <a:srgbClr val="0000FF"/>
                </a:solidFill>
              </a:rPr>
              <a:t>Mapping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#23: Cache II: Set/Fully Associative Cache</a:t>
            </a:r>
            <a:endParaRPr lang="en-US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49" name="Text Box 27">
            <a:extLst>
              <a:ext uri="{FF2B5EF4-FFF2-40B4-BE49-F238E27FC236}">
                <a16:creationId xmlns:a16="http://schemas.microsoft.com/office/drawing/2014/main" id="{EA68861C-56E0-4948-A4CB-4596A12B33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4711" y="4839616"/>
            <a:ext cx="3392275" cy="175432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10000"/>
              </a:spcBef>
            </a:pPr>
            <a:r>
              <a:rPr lang="en-US" sz="2000" dirty="0">
                <a:solidFill>
                  <a:prstClr val="black"/>
                </a:solidFill>
                <a:latin typeface="Arial"/>
                <a:cs typeface="Arial" pitchFamily="34" charset="0"/>
              </a:rPr>
              <a:t>Cache Block size = 2</a:t>
            </a:r>
            <a:r>
              <a:rPr lang="en-US" sz="2000" baseline="30000" dirty="0">
                <a:solidFill>
                  <a:prstClr val="black"/>
                </a:solidFill>
                <a:latin typeface="Arial"/>
                <a:cs typeface="Arial" pitchFamily="34" charset="0"/>
              </a:rPr>
              <a:t>N</a:t>
            </a:r>
            <a:r>
              <a:rPr lang="en-US" sz="2000" dirty="0">
                <a:solidFill>
                  <a:prstClr val="black"/>
                </a:solidFill>
                <a:latin typeface="Arial"/>
                <a:cs typeface="Arial" pitchFamily="34" charset="0"/>
              </a:rPr>
              <a:t> bytes</a:t>
            </a:r>
          </a:p>
          <a:p>
            <a:pPr>
              <a:spcBef>
                <a:spcPct val="10000"/>
              </a:spcBef>
            </a:pPr>
            <a:r>
              <a:rPr lang="en-US" sz="2000" dirty="0">
                <a:solidFill>
                  <a:prstClr val="black"/>
                </a:solidFill>
                <a:latin typeface="Arial"/>
                <a:cs typeface="Arial" pitchFamily="34" charset="0"/>
              </a:rPr>
              <a:t>Number of cache sets = 2</a:t>
            </a:r>
            <a:r>
              <a:rPr lang="en-US" sz="2000" baseline="30000" dirty="0">
                <a:solidFill>
                  <a:prstClr val="black"/>
                </a:solidFill>
                <a:latin typeface="Arial"/>
                <a:cs typeface="Arial" pitchFamily="34" charset="0"/>
              </a:rPr>
              <a:t>M</a:t>
            </a:r>
          </a:p>
          <a:p>
            <a:pPr>
              <a:spcBef>
                <a:spcPct val="10000"/>
              </a:spcBef>
            </a:pPr>
            <a:r>
              <a:rPr lang="en-US" sz="2000" b="1" dirty="0">
                <a:solidFill>
                  <a:prstClr val="black"/>
                </a:solidFill>
                <a:latin typeface="Arial"/>
                <a:cs typeface="Arial" pitchFamily="34" charset="0"/>
              </a:rPr>
              <a:t>Offset</a:t>
            </a:r>
            <a:r>
              <a:rPr lang="en-US" sz="2000" dirty="0">
                <a:solidFill>
                  <a:prstClr val="black"/>
                </a:solidFill>
                <a:latin typeface="Arial"/>
                <a:cs typeface="Arial" pitchFamily="34" charset="0"/>
              </a:rPr>
              <a:t> = </a:t>
            </a:r>
            <a:r>
              <a:rPr lang="en-US" sz="2000" b="1" dirty="0">
                <a:solidFill>
                  <a:srgbClr val="006600"/>
                </a:solidFill>
                <a:latin typeface="Arial"/>
                <a:cs typeface="Arial" pitchFamily="34" charset="0"/>
              </a:rPr>
              <a:t>N bits</a:t>
            </a:r>
          </a:p>
          <a:p>
            <a:pPr>
              <a:spcBef>
                <a:spcPct val="10000"/>
              </a:spcBef>
            </a:pPr>
            <a:r>
              <a:rPr lang="en-US" sz="2000" b="1" dirty="0">
                <a:solidFill>
                  <a:prstClr val="black"/>
                </a:solidFill>
                <a:latin typeface="Arial"/>
                <a:cs typeface="Arial" pitchFamily="34" charset="0"/>
              </a:rPr>
              <a:t>Set Index</a:t>
            </a:r>
            <a:r>
              <a:rPr lang="en-US" sz="2000" dirty="0">
                <a:solidFill>
                  <a:prstClr val="black"/>
                </a:solidFill>
                <a:latin typeface="Arial"/>
                <a:cs typeface="Arial" pitchFamily="34" charset="0"/>
              </a:rPr>
              <a:t> = </a:t>
            </a:r>
            <a:r>
              <a:rPr lang="en-US" sz="2000" b="1" dirty="0">
                <a:solidFill>
                  <a:srgbClr val="D19049">
                    <a:lumMod val="50000"/>
                  </a:srgbClr>
                </a:solidFill>
                <a:latin typeface="Arial"/>
                <a:cs typeface="Arial" pitchFamily="34" charset="0"/>
              </a:rPr>
              <a:t>M bits</a:t>
            </a:r>
          </a:p>
          <a:p>
            <a:pPr>
              <a:spcBef>
                <a:spcPct val="10000"/>
              </a:spcBef>
            </a:pPr>
            <a:r>
              <a:rPr lang="en-US" sz="2000" b="1" dirty="0">
                <a:solidFill>
                  <a:prstClr val="black"/>
                </a:solidFill>
                <a:latin typeface="Arial"/>
                <a:cs typeface="Arial" pitchFamily="34" charset="0"/>
              </a:rPr>
              <a:t>Tag</a:t>
            </a:r>
            <a:r>
              <a:rPr lang="en-US" sz="2000" dirty="0">
                <a:solidFill>
                  <a:prstClr val="black"/>
                </a:solidFill>
                <a:latin typeface="Arial"/>
                <a:cs typeface="Arial" pitchFamily="34" charset="0"/>
              </a:rPr>
              <a:t> = </a:t>
            </a:r>
            <a:r>
              <a:rPr lang="en-US" sz="2000" b="1" dirty="0">
                <a:solidFill>
                  <a:srgbClr val="C00000"/>
                </a:solidFill>
                <a:latin typeface="Arial"/>
                <a:cs typeface="Arial" pitchFamily="34" charset="0"/>
              </a:rPr>
              <a:t>32 – (N + M) bits</a:t>
            </a:r>
            <a:endParaRPr lang="en-US" sz="1800" b="1" dirty="0">
              <a:solidFill>
                <a:srgbClr val="C00000"/>
              </a:solidFill>
              <a:latin typeface="Arial"/>
              <a:cs typeface="Arial" pitchFamily="34" charset="0"/>
            </a:endParaRPr>
          </a:p>
        </p:txBody>
      </p:sp>
      <p:sp>
        <p:nvSpPr>
          <p:cNvPr id="50" name="Text Box 16">
            <a:extLst>
              <a:ext uri="{FF2B5EF4-FFF2-40B4-BE49-F238E27FC236}">
                <a16:creationId xmlns:a16="http://schemas.microsoft.com/office/drawing/2014/main" id="{66CD2762-29D0-4286-9FD9-0AE184835A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0549" y="2424885"/>
            <a:ext cx="4495800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prstClr val="black"/>
                </a:solidFill>
                <a:latin typeface="Arial"/>
                <a:cs typeface="Arial" pitchFamily="34" charset="0"/>
              </a:rPr>
              <a:t>Cache Block size = 2</a:t>
            </a:r>
            <a:r>
              <a:rPr lang="en-US" sz="1800" baseline="30000" dirty="0">
                <a:solidFill>
                  <a:prstClr val="black"/>
                </a:solidFill>
                <a:latin typeface="Arial"/>
                <a:cs typeface="Arial" pitchFamily="34" charset="0"/>
              </a:rPr>
              <a:t>N</a:t>
            </a:r>
            <a:r>
              <a:rPr lang="en-US" sz="1800" dirty="0">
                <a:solidFill>
                  <a:prstClr val="black"/>
                </a:solidFill>
                <a:latin typeface="Arial"/>
                <a:cs typeface="Arial" pitchFamily="34" charset="0"/>
              </a:rPr>
              <a:t> bytes</a:t>
            </a:r>
          </a:p>
        </p:txBody>
      </p:sp>
      <p:grpSp>
        <p:nvGrpSpPr>
          <p:cNvPr id="51" name="Group 43">
            <a:extLst>
              <a:ext uri="{FF2B5EF4-FFF2-40B4-BE49-F238E27FC236}">
                <a16:creationId xmlns:a16="http://schemas.microsoft.com/office/drawing/2014/main" id="{68BCD991-2894-48E7-A912-1DA638E102DB}"/>
              </a:ext>
            </a:extLst>
          </p:cNvPr>
          <p:cNvGrpSpPr/>
          <p:nvPr/>
        </p:nvGrpSpPr>
        <p:grpSpPr>
          <a:xfrm>
            <a:off x="1775749" y="1346417"/>
            <a:ext cx="5105400" cy="1034018"/>
            <a:chOff x="984479" y="2242582"/>
            <a:chExt cx="5105400" cy="1034018"/>
          </a:xfrm>
        </p:grpSpPr>
        <p:sp>
          <p:nvSpPr>
            <p:cNvPr id="52" name="Text Box 74">
              <a:extLst>
                <a:ext uri="{FF2B5EF4-FFF2-40B4-BE49-F238E27FC236}">
                  <a16:creationId xmlns:a16="http://schemas.microsoft.com/office/drawing/2014/main" id="{EE3D87D1-D98F-4D16-9027-9DC3E11C0D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63286" y="2242582"/>
              <a:ext cx="2048382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b="1" dirty="0">
                  <a:solidFill>
                    <a:prstClr val="black"/>
                  </a:solidFill>
                  <a:latin typeface="Arial"/>
                  <a:cs typeface="Arial" pitchFamily="34" charset="0"/>
                </a:rPr>
                <a:t>Memory Address</a:t>
              </a:r>
            </a:p>
          </p:txBody>
        </p:sp>
        <p:sp>
          <p:nvSpPr>
            <p:cNvPr id="53" name="Text Box 78">
              <a:extLst>
                <a:ext uri="{FF2B5EF4-FFF2-40B4-BE49-F238E27FC236}">
                  <a16:creationId xmlns:a16="http://schemas.microsoft.com/office/drawing/2014/main" id="{77F3CF63-E656-43BD-9CDF-CE9C5B4C7D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4479" y="2547382"/>
              <a:ext cx="412293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solidFill>
                    <a:prstClr val="black"/>
                  </a:solidFill>
                  <a:latin typeface="Arial"/>
                  <a:cs typeface="Arial" pitchFamily="34" charset="0"/>
                </a:rPr>
                <a:t>31</a:t>
              </a:r>
            </a:p>
          </p:txBody>
        </p:sp>
        <p:sp>
          <p:nvSpPr>
            <p:cNvPr id="54" name="Text Box 79">
              <a:extLst>
                <a:ext uri="{FF2B5EF4-FFF2-40B4-BE49-F238E27FC236}">
                  <a16:creationId xmlns:a16="http://schemas.microsoft.com/office/drawing/2014/main" id="{F5164F9C-B3F8-467B-B76C-3FF69BF23D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81904" y="2547382"/>
              <a:ext cx="307975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solidFill>
                    <a:prstClr val="black"/>
                  </a:solidFill>
                  <a:latin typeface="Arial"/>
                  <a:cs typeface="Arial" pitchFamily="34" charset="0"/>
                </a:rPr>
                <a:t>0</a:t>
              </a:r>
            </a:p>
          </p:txBody>
        </p:sp>
        <p:sp>
          <p:nvSpPr>
            <p:cNvPr id="55" name="Text Box 80">
              <a:extLst>
                <a:ext uri="{FF2B5EF4-FFF2-40B4-BE49-F238E27FC236}">
                  <a16:creationId xmlns:a16="http://schemas.microsoft.com/office/drawing/2014/main" id="{1F80EBCB-F759-45EC-A651-C1830D414F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37279" y="2547382"/>
              <a:ext cx="522288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solidFill>
                    <a:prstClr val="black"/>
                  </a:solidFill>
                  <a:latin typeface="Arial"/>
                  <a:cs typeface="Arial" pitchFamily="34" charset="0"/>
                </a:rPr>
                <a:t>N-1</a:t>
              </a:r>
            </a:p>
          </p:txBody>
        </p:sp>
        <p:sp>
          <p:nvSpPr>
            <p:cNvPr id="56" name="Text Box 81">
              <a:extLst>
                <a:ext uri="{FF2B5EF4-FFF2-40B4-BE49-F238E27FC236}">
                  <a16:creationId xmlns:a16="http://schemas.microsoft.com/office/drawing/2014/main" id="{72A28E32-B6E3-4DAC-81F3-B0C9192828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1337" y="2547382"/>
              <a:ext cx="332142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solidFill>
                    <a:prstClr val="black"/>
                  </a:solidFill>
                  <a:latin typeface="Arial"/>
                  <a:cs typeface="Arial" pitchFamily="34" charset="0"/>
                </a:rPr>
                <a:t>N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D6936980-9CCA-4FDB-9577-F740A0236E40}"/>
                </a:ext>
              </a:extLst>
            </p:cNvPr>
            <p:cNvSpPr/>
            <p:nvPr/>
          </p:nvSpPr>
          <p:spPr>
            <a:xfrm>
              <a:off x="1066800" y="2819400"/>
              <a:ext cx="3352800" cy="4572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3BC34C20-B062-4FB2-89E3-828BBD2746B4}"/>
                </a:ext>
              </a:extLst>
            </p:cNvPr>
            <p:cNvSpPr/>
            <p:nvPr/>
          </p:nvSpPr>
          <p:spPr>
            <a:xfrm>
              <a:off x="4419600" y="2819400"/>
              <a:ext cx="1600200" cy="4572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grpSp>
          <p:nvGrpSpPr>
            <p:cNvPr id="59" name="Group 28">
              <a:extLst>
                <a:ext uri="{FF2B5EF4-FFF2-40B4-BE49-F238E27FC236}">
                  <a16:creationId xmlns:a16="http://schemas.microsoft.com/office/drawing/2014/main" id="{8BDF82C0-FF6F-4033-A1F8-9D44FC0F7C4B}"/>
                </a:ext>
              </a:extLst>
            </p:cNvPr>
            <p:cNvGrpSpPr/>
            <p:nvPr/>
          </p:nvGrpSpPr>
          <p:grpSpPr>
            <a:xfrm>
              <a:off x="1066800" y="2852470"/>
              <a:ext cx="3352800" cy="369332"/>
              <a:chOff x="1219200" y="2014270"/>
              <a:chExt cx="3352800" cy="369332"/>
            </a:xfrm>
          </p:grpSpPr>
          <p:sp>
            <p:nvSpPr>
              <p:cNvPr id="63" name="Text Box 75">
                <a:extLst>
                  <a:ext uri="{FF2B5EF4-FFF2-40B4-BE49-F238E27FC236}">
                    <a16:creationId xmlns:a16="http://schemas.microsoft.com/office/drawing/2014/main" id="{1CF2D753-994C-4B47-B254-7C97FC776EE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10834" y="2014270"/>
                <a:ext cx="1749197" cy="369332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C00000"/>
                    </a:solidFill>
                    <a:latin typeface="Arial"/>
                    <a:cs typeface="Arial" pitchFamily="34" charset="0"/>
                  </a:rPr>
                  <a:t>Block Number</a:t>
                </a:r>
              </a:p>
            </p:txBody>
          </p:sp>
          <p:sp>
            <p:nvSpPr>
              <p:cNvPr id="64" name="Line 76">
                <a:extLst>
                  <a:ext uri="{FF2B5EF4-FFF2-40B4-BE49-F238E27FC236}">
                    <a16:creationId xmlns:a16="http://schemas.microsoft.com/office/drawing/2014/main" id="{8974EB05-4443-41D4-804C-CA81D529B1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57600" y="2209800"/>
                <a:ext cx="9144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square">
                <a:spAutoFit/>
              </a:bodyPr>
              <a:lstStyle/>
              <a:p>
                <a:endParaRPr lang="en-US">
                  <a:solidFill>
                    <a:prstClr val="black"/>
                  </a:solidFill>
                  <a:latin typeface="Arial"/>
                  <a:cs typeface="Arial" pitchFamily="34" charset="0"/>
                </a:endParaRPr>
              </a:p>
            </p:txBody>
          </p:sp>
          <p:sp>
            <p:nvSpPr>
              <p:cNvPr id="65" name="Line 77">
                <a:extLst>
                  <a:ext uri="{FF2B5EF4-FFF2-40B4-BE49-F238E27FC236}">
                    <a16:creationId xmlns:a16="http://schemas.microsoft.com/office/drawing/2014/main" id="{815651C2-DF5E-4004-B3CE-15469DA0F3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19200" y="2209800"/>
                <a:ext cx="7620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>
                <a:spAutoFit/>
              </a:bodyPr>
              <a:lstStyle/>
              <a:p>
                <a:endParaRPr lang="en-US">
                  <a:solidFill>
                    <a:prstClr val="black"/>
                  </a:solidFill>
                  <a:latin typeface="Arial"/>
                  <a:cs typeface="Arial" pitchFamily="34" charset="0"/>
                </a:endParaRPr>
              </a:p>
            </p:txBody>
          </p:sp>
        </p:grpSp>
        <p:grpSp>
          <p:nvGrpSpPr>
            <p:cNvPr id="60" name="Group 32">
              <a:extLst>
                <a:ext uri="{FF2B5EF4-FFF2-40B4-BE49-F238E27FC236}">
                  <a16:creationId xmlns:a16="http://schemas.microsoft.com/office/drawing/2014/main" id="{803FE749-A3AD-4526-A4F2-E058F75E56E1}"/>
                </a:ext>
              </a:extLst>
            </p:cNvPr>
            <p:cNvGrpSpPr/>
            <p:nvPr/>
          </p:nvGrpSpPr>
          <p:grpSpPr>
            <a:xfrm>
              <a:off x="4428226" y="2871156"/>
              <a:ext cx="1591574" cy="369332"/>
              <a:chOff x="1600200" y="1988392"/>
              <a:chExt cx="2590800" cy="369332"/>
            </a:xfrm>
          </p:grpSpPr>
          <p:sp>
            <p:nvSpPr>
              <p:cNvPr id="61" name="Line 77">
                <a:extLst>
                  <a:ext uri="{FF2B5EF4-FFF2-40B4-BE49-F238E27FC236}">
                    <a16:creationId xmlns:a16="http://schemas.microsoft.com/office/drawing/2014/main" id="{EDEFF407-6F91-45CD-A082-6ABC5419CF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600200" y="2166670"/>
                <a:ext cx="25908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triangle"/>
                <a:tailEnd type="triangle" w="med" len="med"/>
              </a:ln>
            </p:spPr>
            <p:txBody>
              <a:bodyPr wrap="square">
                <a:spAutoFit/>
              </a:bodyPr>
              <a:lstStyle/>
              <a:p>
                <a:endParaRPr lang="en-US" dirty="0">
                  <a:solidFill>
                    <a:prstClr val="black"/>
                  </a:solidFill>
                  <a:latin typeface="Arial"/>
                  <a:cs typeface="Arial" pitchFamily="34" charset="0"/>
                </a:endParaRPr>
              </a:p>
            </p:txBody>
          </p:sp>
          <p:sp>
            <p:nvSpPr>
              <p:cNvPr id="62" name="Text Box 75">
                <a:extLst>
                  <a:ext uri="{FF2B5EF4-FFF2-40B4-BE49-F238E27FC236}">
                    <a16:creationId xmlns:a16="http://schemas.microsoft.com/office/drawing/2014/main" id="{CE5FFC6C-9D4D-4E1F-9556-315A9B1A8C1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82319" y="1988392"/>
                <a:ext cx="1488479" cy="36933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006600"/>
                    </a:solidFill>
                    <a:latin typeface="Arial"/>
                    <a:cs typeface="Arial" pitchFamily="34" charset="0"/>
                  </a:rPr>
                  <a:t>Offset</a:t>
                </a:r>
              </a:p>
            </p:txBody>
          </p:sp>
        </p:grpSp>
      </p:grpSp>
      <p:grpSp>
        <p:nvGrpSpPr>
          <p:cNvPr id="66" name="Group 78">
            <a:extLst>
              <a:ext uri="{FF2B5EF4-FFF2-40B4-BE49-F238E27FC236}">
                <a16:creationId xmlns:a16="http://schemas.microsoft.com/office/drawing/2014/main" id="{BBF17240-F688-41F7-B9D2-F3F128E58084}"/>
              </a:ext>
            </a:extLst>
          </p:cNvPr>
          <p:cNvGrpSpPr/>
          <p:nvPr/>
        </p:nvGrpSpPr>
        <p:grpSpPr>
          <a:xfrm>
            <a:off x="1851949" y="3937217"/>
            <a:ext cx="5038496" cy="793750"/>
            <a:chOff x="3124200" y="3702050"/>
            <a:chExt cx="5038496" cy="793750"/>
          </a:xfrm>
        </p:grpSpPr>
        <p:sp>
          <p:nvSpPr>
            <p:cNvPr id="67" name="Text Box 38">
              <a:extLst>
                <a:ext uri="{FF2B5EF4-FFF2-40B4-BE49-F238E27FC236}">
                  <a16:creationId xmlns:a16="http://schemas.microsoft.com/office/drawing/2014/main" id="{3DB39705-4084-4DD9-976A-0F3E788FD7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2500" y="3702050"/>
              <a:ext cx="800100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>
                  <a:solidFill>
                    <a:prstClr val="black"/>
                  </a:solidFill>
                  <a:latin typeface="Arial"/>
                  <a:cs typeface="Arial" pitchFamily="34" charset="0"/>
                </a:rPr>
                <a:t>N+M-1</a:t>
              </a:r>
            </a:p>
          </p:txBody>
        </p:sp>
        <p:sp>
          <p:nvSpPr>
            <p:cNvPr id="68" name="Text Box 78">
              <a:extLst>
                <a:ext uri="{FF2B5EF4-FFF2-40B4-BE49-F238E27FC236}">
                  <a16:creationId xmlns:a16="http://schemas.microsoft.com/office/drawing/2014/main" id="{74D80F4E-0CD5-42E6-91F4-C515B8FA0E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4200" y="3733800"/>
              <a:ext cx="412293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solidFill>
                    <a:prstClr val="black"/>
                  </a:solidFill>
                  <a:latin typeface="Arial"/>
                  <a:cs typeface="Arial" pitchFamily="34" charset="0"/>
                </a:rPr>
                <a:t>31</a:t>
              </a:r>
            </a:p>
          </p:txBody>
        </p:sp>
        <p:sp>
          <p:nvSpPr>
            <p:cNvPr id="69" name="Text Box 79">
              <a:extLst>
                <a:ext uri="{FF2B5EF4-FFF2-40B4-BE49-F238E27FC236}">
                  <a16:creationId xmlns:a16="http://schemas.microsoft.com/office/drawing/2014/main" id="{07A60D5C-F7D3-4698-B30A-9F2C09A665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54721" y="3733800"/>
              <a:ext cx="307975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solidFill>
                    <a:prstClr val="black"/>
                  </a:solidFill>
                  <a:latin typeface="Arial"/>
                  <a:cs typeface="Arial" pitchFamily="34" charset="0"/>
                </a:rPr>
                <a:t>0</a:t>
              </a:r>
            </a:p>
          </p:txBody>
        </p:sp>
        <p:sp>
          <p:nvSpPr>
            <p:cNvPr id="70" name="Text Box 80">
              <a:extLst>
                <a:ext uri="{FF2B5EF4-FFF2-40B4-BE49-F238E27FC236}">
                  <a16:creationId xmlns:a16="http://schemas.microsoft.com/office/drawing/2014/main" id="{E6847297-DB66-4488-9E97-E9B5D53678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53200" y="3733800"/>
              <a:ext cx="522288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solidFill>
                    <a:prstClr val="black"/>
                  </a:solidFill>
                  <a:latin typeface="Arial"/>
                  <a:cs typeface="Arial" pitchFamily="34" charset="0"/>
                </a:rPr>
                <a:t>N-1</a:t>
              </a:r>
            </a:p>
          </p:txBody>
        </p:sp>
        <p:sp>
          <p:nvSpPr>
            <p:cNvPr id="71" name="Text Box 81">
              <a:extLst>
                <a:ext uri="{FF2B5EF4-FFF2-40B4-BE49-F238E27FC236}">
                  <a16:creationId xmlns:a16="http://schemas.microsoft.com/office/drawing/2014/main" id="{61CDDE3C-0219-415C-80F8-0B5627F189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21058" y="3733800"/>
              <a:ext cx="332142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solidFill>
                    <a:prstClr val="black"/>
                  </a:solidFill>
                  <a:latin typeface="Arial"/>
                  <a:cs typeface="Arial" pitchFamily="34" charset="0"/>
                </a:rPr>
                <a:t>N</a:t>
              </a: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3C5E5252-E2B3-4ADD-B97D-8D5A703D4A30}"/>
                </a:ext>
              </a:extLst>
            </p:cNvPr>
            <p:cNvSpPr/>
            <p:nvPr/>
          </p:nvSpPr>
          <p:spPr>
            <a:xfrm>
              <a:off x="3206521" y="4038600"/>
              <a:ext cx="1594079" cy="4572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D9CE5034-F994-4C00-8D05-94F2509387A0}"/>
                </a:ext>
              </a:extLst>
            </p:cNvPr>
            <p:cNvSpPr/>
            <p:nvPr/>
          </p:nvSpPr>
          <p:spPr>
            <a:xfrm>
              <a:off x="6559321" y="4038600"/>
              <a:ext cx="1600200" cy="4572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grpSp>
          <p:nvGrpSpPr>
            <p:cNvPr id="74" name="Group 28">
              <a:extLst>
                <a:ext uri="{FF2B5EF4-FFF2-40B4-BE49-F238E27FC236}">
                  <a16:creationId xmlns:a16="http://schemas.microsoft.com/office/drawing/2014/main" id="{3A132D81-49FF-44E4-A234-8575C13146A8}"/>
                </a:ext>
              </a:extLst>
            </p:cNvPr>
            <p:cNvGrpSpPr/>
            <p:nvPr/>
          </p:nvGrpSpPr>
          <p:grpSpPr>
            <a:xfrm>
              <a:off x="3200400" y="4083050"/>
              <a:ext cx="1600200" cy="369332"/>
              <a:chOff x="1219198" y="2014270"/>
              <a:chExt cx="3352802" cy="369332"/>
            </a:xfrm>
          </p:grpSpPr>
          <p:sp>
            <p:nvSpPr>
              <p:cNvPr id="83" name="Text Box 75">
                <a:extLst>
                  <a:ext uri="{FF2B5EF4-FFF2-40B4-BE49-F238E27FC236}">
                    <a16:creationId xmlns:a16="http://schemas.microsoft.com/office/drawing/2014/main" id="{2031DA4E-F6AB-45E3-AF71-8E98179ED28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96619" y="2014270"/>
                <a:ext cx="1277258" cy="369332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C00000"/>
                    </a:solidFill>
                    <a:latin typeface="Arial"/>
                    <a:cs typeface="Arial" pitchFamily="34" charset="0"/>
                  </a:rPr>
                  <a:t>Tag</a:t>
                </a:r>
              </a:p>
            </p:txBody>
          </p:sp>
          <p:sp>
            <p:nvSpPr>
              <p:cNvPr id="84" name="Line 76">
                <a:extLst>
                  <a:ext uri="{FF2B5EF4-FFF2-40B4-BE49-F238E27FC236}">
                    <a16:creationId xmlns:a16="http://schemas.microsoft.com/office/drawing/2014/main" id="{1491D9F9-42FC-4477-A859-8FB02703C9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4219" y="2198420"/>
                <a:ext cx="1257781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square">
                <a:spAutoFit/>
              </a:bodyPr>
              <a:lstStyle/>
              <a:p>
                <a:endParaRPr lang="en-US">
                  <a:solidFill>
                    <a:prstClr val="black"/>
                  </a:solidFill>
                  <a:latin typeface="Arial"/>
                  <a:cs typeface="Arial" pitchFamily="34" charset="0"/>
                </a:endParaRPr>
              </a:p>
            </p:txBody>
          </p:sp>
          <p:sp>
            <p:nvSpPr>
              <p:cNvPr id="85" name="Line 77">
                <a:extLst>
                  <a:ext uri="{FF2B5EF4-FFF2-40B4-BE49-F238E27FC236}">
                    <a16:creationId xmlns:a16="http://schemas.microsoft.com/office/drawing/2014/main" id="{7E9AB113-B2BC-49C6-997A-488FF4FCDF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19198" y="2198420"/>
                <a:ext cx="113707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square">
                <a:spAutoFit/>
              </a:bodyPr>
              <a:lstStyle/>
              <a:p>
                <a:endParaRPr lang="en-US">
                  <a:solidFill>
                    <a:prstClr val="black"/>
                  </a:solidFill>
                  <a:latin typeface="Arial"/>
                  <a:cs typeface="Arial" pitchFamily="34" charset="0"/>
                </a:endParaRPr>
              </a:p>
            </p:txBody>
          </p:sp>
        </p:grpSp>
        <p:grpSp>
          <p:nvGrpSpPr>
            <p:cNvPr id="75" name="Group 32">
              <a:extLst>
                <a:ext uri="{FF2B5EF4-FFF2-40B4-BE49-F238E27FC236}">
                  <a16:creationId xmlns:a16="http://schemas.microsoft.com/office/drawing/2014/main" id="{3FD50EFB-BEFE-402E-B44C-2CE636A16596}"/>
                </a:ext>
              </a:extLst>
            </p:cNvPr>
            <p:cNvGrpSpPr/>
            <p:nvPr/>
          </p:nvGrpSpPr>
          <p:grpSpPr>
            <a:xfrm>
              <a:off x="6567947" y="4090356"/>
              <a:ext cx="1591574" cy="369332"/>
              <a:chOff x="1600200" y="1988392"/>
              <a:chExt cx="2590800" cy="369332"/>
            </a:xfrm>
          </p:grpSpPr>
          <p:sp>
            <p:nvSpPr>
              <p:cNvPr id="81" name="Line 77">
                <a:extLst>
                  <a:ext uri="{FF2B5EF4-FFF2-40B4-BE49-F238E27FC236}">
                    <a16:creationId xmlns:a16="http://schemas.microsoft.com/office/drawing/2014/main" id="{A1E055DB-DB1C-4A16-93B8-1DA435B904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600200" y="2166670"/>
                <a:ext cx="25908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triangle"/>
                <a:tailEnd type="triangle" w="med" len="med"/>
              </a:ln>
            </p:spPr>
            <p:txBody>
              <a:bodyPr wrap="square">
                <a:spAutoFit/>
              </a:bodyPr>
              <a:lstStyle/>
              <a:p>
                <a:endParaRPr lang="en-US" dirty="0">
                  <a:solidFill>
                    <a:prstClr val="black"/>
                  </a:solidFill>
                  <a:latin typeface="Arial"/>
                  <a:cs typeface="Arial" pitchFamily="34" charset="0"/>
                </a:endParaRPr>
              </a:p>
            </p:txBody>
          </p:sp>
          <p:sp>
            <p:nvSpPr>
              <p:cNvPr id="82" name="Text Box 75">
                <a:extLst>
                  <a:ext uri="{FF2B5EF4-FFF2-40B4-BE49-F238E27FC236}">
                    <a16:creationId xmlns:a16="http://schemas.microsoft.com/office/drawing/2014/main" id="{97A467FD-2B85-42BB-A790-A972FE53C41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82319" y="1988392"/>
                <a:ext cx="1488479" cy="36933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006600"/>
                    </a:solidFill>
                    <a:latin typeface="Arial"/>
                    <a:cs typeface="Arial" pitchFamily="34" charset="0"/>
                  </a:rPr>
                  <a:t>Offset</a:t>
                </a:r>
              </a:p>
            </p:txBody>
          </p:sp>
        </p:grp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EC3EBA41-51E4-4DC6-B685-B6A49DF10641}"/>
                </a:ext>
              </a:extLst>
            </p:cNvPr>
            <p:cNvSpPr/>
            <p:nvPr/>
          </p:nvSpPr>
          <p:spPr>
            <a:xfrm>
              <a:off x="4806721" y="4038600"/>
              <a:ext cx="1746479" cy="4572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grpSp>
          <p:nvGrpSpPr>
            <p:cNvPr id="77" name="Group 28">
              <a:extLst>
                <a:ext uri="{FF2B5EF4-FFF2-40B4-BE49-F238E27FC236}">
                  <a16:creationId xmlns:a16="http://schemas.microsoft.com/office/drawing/2014/main" id="{62AC1806-1A3B-4E5F-99B7-CE0142C42589}"/>
                </a:ext>
              </a:extLst>
            </p:cNvPr>
            <p:cNvGrpSpPr/>
            <p:nvPr/>
          </p:nvGrpSpPr>
          <p:grpSpPr>
            <a:xfrm>
              <a:off x="4800600" y="4083050"/>
              <a:ext cx="1761896" cy="369332"/>
              <a:chOff x="898660" y="2014270"/>
              <a:chExt cx="3705766" cy="369332"/>
            </a:xfrm>
          </p:grpSpPr>
          <p:sp>
            <p:nvSpPr>
              <p:cNvPr id="78" name="Text Box 75">
                <a:extLst>
                  <a:ext uri="{FF2B5EF4-FFF2-40B4-BE49-F238E27FC236}">
                    <a16:creationId xmlns:a16="http://schemas.microsoft.com/office/drawing/2014/main" id="{C96F50DD-ED95-4118-8BCB-34ADACF55C2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79471" y="2014270"/>
                <a:ext cx="2724593" cy="369332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D19049">
                        <a:lumMod val="50000"/>
                      </a:srgbClr>
                    </a:solidFill>
                    <a:latin typeface="Arial"/>
                    <a:cs typeface="Arial" pitchFamily="34" charset="0"/>
                  </a:rPr>
                  <a:t>Set Index</a:t>
                </a:r>
              </a:p>
            </p:txBody>
          </p:sp>
          <p:sp>
            <p:nvSpPr>
              <p:cNvPr id="79" name="Line 76">
                <a:extLst>
                  <a:ext uri="{FF2B5EF4-FFF2-40B4-BE49-F238E27FC236}">
                    <a16:creationId xmlns:a16="http://schemas.microsoft.com/office/drawing/2014/main" id="{66D65E85-19E7-4FB8-AEC5-2822DB69BC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43793" y="2198420"/>
                <a:ext cx="66063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square">
                <a:spAutoFit/>
              </a:bodyPr>
              <a:lstStyle/>
              <a:p>
                <a:endParaRPr lang="en-US">
                  <a:solidFill>
                    <a:prstClr val="black"/>
                  </a:solidFill>
                  <a:latin typeface="Arial"/>
                  <a:cs typeface="Arial" pitchFamily="34" charset="0"/>
                </a:endParaRPr>
              </a:p>
            </p:txBody>
          </p:sp>
          <p:sp>
            <p:nvSpPr>
              <p:cNvPr id="80" name="Line 77">
                <a:extLst>
                  <a:ext uri="{FF2B5EF4-FFF2-40B4-BE49-F238E27FC236}">
                    <a16:creationId xmlns:a16="http://schemas.microsoft.com/office/drawing/2014/main" id="{B776B8F8-F792-4723-A0EB-B5AAA9E131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898660" y="2198420"/>
                <a:ext cx="801351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square">
                <a:spAutoFit/>
              </a:bodyPr>
              <a:lstStyle/>
              <a:p>
                <a:endParaRPr lang="en-US">
                  <a:solidFill>
                    <a:prstClr val="black"/>
                  </a:solidFill>
                  <a:latin typeface="Arial"/>
                  <a:cs typeface="Arial" pitchFamily="34" charset="0"/>
                </a:endParaRPr>
              </a:p>
            </p:txBody>
          </p:sp>
        </p:grpSp>
      </p:grp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B42B3AAA-13E6-4699-B51D-5BFACF8657A4}"/>
              </a:ext>
            </a:extLst>
          </p:cNvPr>
          <p:cNvCxnSpPr/>
          <p:nvPr/>
        </p:nvCxnSpPr>
        <p:spPr>
          <a:xfrm>
            <a:off x="480349" y="3305531"/>
            <a:ext cx="8001000" cy="0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 Box 39">
            <a:extLst>
              <a:ext uri="{FF2B5EF4-FFF2-40B4-BE49-F238E27FC236}">
                <a16:creationId xmlns:a16="http://schemas.microsoft.com/office/drawing/2014/main" id="{7B110F73-672C-4408-9F53-FF7F4462AB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149" y="3000731"/>
            <a:ext cx="5703806" cy="7078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algn="ctr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1" dirty="0"/>
              <a:t>Cache Set Index </a:t>
            </a:r>
          </a:p>
          <a:p>
            <a:r>
              <a:rPr lang="en-US" sz="2000" dirty="0"/>
              <a:t>= (</a:t>
            </a:r>
            <a:r>
              <a:rPr lang="en-US" sz="2000" dirty="0" err="1"/>
              <a:t>BlockNumber</a:t>
            </a:r>
            <a:r>
              <a:rPr lang="en-US" sz="2000" dirty="0"/>
              <a:t>) modulo (</a:t>
            </a:r>
            <a:r>
              <a:rPr lang="en-US" sz="2000" dirty="0" err="1"/>
              <a:t>NumberOf</a:t>
            </a:r>
            <a:r>
              <a:rPr lang="en-US" sz="2000" dirty="0" err="1">
                <a:solidFill>
                  <a:srgbClr val="C00000"/>
                </a:solidFill>
              </a:rPr>
              <a:t>CacheSets</a:t>
            </a:r>
            <a:r>
              <a:rPr lang="en-US" sz="2000" dirty="0"/>
              <a:t>)</a:t>
            </a:r>
          </a:p>
        </p:txBody>
      </p:sp>
      <p:sp>
        <p:nvSpPr>
          <p:cNvPr id="88" name="Snip and Round Single Corner Rectangle 52">
            <a:extLst>
              <a:ext uri="{FF2B5EF4-FFF2-40B4-BE49-F238E27FC236}">
                <a16:creationId xmlns:a16="http://schemas.microsoft.com/office/drawing/2014/main" id="{881E1B71-9479-4670-A593-3DA1F3516AA9}"/>
              </a:ext>
            </a:extLst>
          </p:cNvPr>
          <p:cNvSpPr/>
          <p:nvPr/>
        </p:nvSpPr>
        <p:spPr>
          <a:xfrm>
            <a:off x="6218498" y="5206783"/>
            <a:ext cx="2763270" cy="1219200"/>
          </a:xfrm>
          <a:prstGeom prst="snipRoundRect">
            <a:avLst/>
          </a:prstGeom>
          <a:solidFill>
            <a:srgbClr val="FFFFCC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Observation:</a:t>
            </a:r>
          </a:p>
          <a:p>
            <a:r>
              <a:rPr lang="en-US" sz="1800" dirty="0">
                <a:solidFill>
                  <a:schemeClr val="tx1"/>
                </a:solidFill>
              </a:rPr>
              <a:t>It is essentially unchanged from the direct-mapping formula</a:t>
            </a:r>
          </a:p>
        </p:txBody>
      </p:sp>
      <p:sp>
        <p:nvSpPr>
          <p:cNvPr id="45" name="Slide Number Placeholder 6">
            <a:extLst>
              <a:ext uri="{FF2B5EF4-FFF2-40B4-BE49-F238E27FC236}">
                <a16:creationId xmlns:a16="http://schemas.microsoft.com/office/drawing/2014/main" id="{36A846A3-BF3A-4E14-ADF9-E920952D4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65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66441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87" grpId="0" animBg="1"/>
      <p:bldP spid="88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8. Set Associative Cache: </a:t>
            </a:r>
            <a:r>
              <a:rPr lang="en-GB" sz="3600" b="1" dirty="0">
                <a:solidFill>
                  <a:srgbClr val="0000FF"/>
                </a:solidFill>
              </a:rPr>
              <a:t>Example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#23: Cache II: Set/Fully Associative Cache</a:t>
            </a:r>
            <a:endParaRPr lang="en-US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85F803B-E7BC-47F8-8BE7-455C478A55AE}"/>
              </a:ext>
            </a:extLst>
          </p:cNvPr>
          <p:cNvSpPr/>
          <p:nvPr/>
        </p:nvSpPr>
        <p:spPr>
          <a:xfrm>
            <a:off x="1053904" y="1451628"/>
            <a:ext cx="1371600" cy="22098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Memory</a:t>
            </a:r>
          </a:p>
          <a:p>
            <a:pPr algn="ctr"/>
            <a:r>
              <a:rPr lang="en-US" dirty="0"/>
              <a:t>4GB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grpSp>
        <p:nvGrpSpPr>
          <p:cNvPr id="46" name="Group 11">
            <a:extLst>
              <a:ext uri="{FF2B5EF4-FFF2-40B4-BE49-F238E27FC236}">
                <a16:creationId xmlns:a16="http://schemas.microsoft.com/office/drawing/2014/main" id="{D3C10558-A256-489A-A281-D85155CF9B0F}"/>
              </a:ext>
            </a:extLst>
          </p:cNvPr>
          <p:cNvGrpSpPr/>
          <p:nvPr/>
        </p:nvGrpSpPr>
        <p:grpSpPr>
          <a:xfrm>
            <a:off x="3178951" y="1215722"/>
            <a:ext cx="5105400" cy="991572"/>
            <a:chOff x="984479" y="2285028"/>
            <a:chExt cx="5105400" cy="991572"/>
          </a:xfrm>
        </p:grpSpPr>
        <p:sp>
          <p:nvSpPr>
            <p:cNvPr id="47" name="Text Box 74">
              <a:extLst>
                <a:ext uri="{FF2B5EF4-FFF2-40B4-BE49-F238E27FC236}">
                  <a16:creationId xmlns:a16="http://schemas.microsoft.com/office/drawing/2014/main" id="{7C9394BE-CA12-49F1-A90E-AB4329AFB5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7000" y="2285028"/>
              <a:ext cx="1840953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latin typeface="+mn-lt"/>
                </a:rPr>
                <a:t>Memory Address</a:t>
              </a:r>
            </a:p>
          </p:txBody>
        </p:sp>
        <p:sp>
          <p:nvSpPr>
            <p:cNvPr id="48" name="Text Box 78">
              <a:extLst>
                <a:ext uri="{FF2B5EF4-FFF2-40B4-BE49-F238E27FC236}">
                  <a16:creationId xmlns:a16="http://schemas.microsoft.com/office/drawing/2014/main" id="{69BDAAD8-12BB-4E30-A556-4C2BFDDA59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4479" y="2547382"/>
              <a:ext cx="412293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+mn-lt"/>
                </a:rPr>
                <a:t>31</a:t>
              </a:r>
            </a:p>
          </p:txBody>
        </p:sp>
        <p:sp>
          <p:nvSpPr>
            <p:cNvPr id="89" name="Text Box 79">
              <a:extLst>
                <a:ext uri="{FF2B5EF4-FFF2-40B4-BE49-F238E27FC236}">
                  <a16:creationId xmlns:a16="http://schemas.microsoft.com/office/drawing/2014/main" id="{8156BE43-6DB6-4172-9C71-59C5D76E3A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81904" y="2547382"/>
              <a:ext cx="307975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+mn-lt"/>
                </a:rPr>
                <a:t>0</a:t>
              </a:r>
            </a:p>
          </p:txBody>
        </p:sp>
        <p:sp>
          <p:nvSpPr>
            <p:cNvPr id="90" name="Text Box 80">
              <a:extLst>
                <a:ext uri="{FF2B5EF4-FFF2-40B4-BE49-F238E27FC236}">
                  <a16:creationId xmlns:a16="http://schemas.microsoft.com/office/drawing/2014/main" id="{6C0924B6-EBDC-401F-9E78-43CF0C323B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37279" y="2547382"/>
              <a:ext cx="522288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+mn-lt"/>
                </a:rPr>
                <a:t>N-1</a:t>
              </a:r>
            </a:p>
          </p:txBody>
        </p:sp>
        <p:sp>
          <p:nvSpPr>
            <p:cNvPr id="91" name="Text Box 81">
              <a:extLst>
                <a:ext uri="{FF2B5EF4-FFF2-40B4-BE49-F238E27FC236}">
                  <a16:creationId xmlns:a16="http://schemas.microsoft.com/office/drawing/2014/main" id="{8FD068D3-E02A-4351-8364-BA9968208B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1337" y="2547382"/>
              <a:ext cx="332142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+mn-lt"/>
                </a:rPr>
                <a:t>N</a:t>
              </a: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A7E60A7B-9845-4383-9F0A-08F368DC82AE}"/>
                </a:ext>
              </a:extLst>
            </p:cNvPr>
            <p:cNvSpPr/>
            <p:nvPr/>
          </p:nvSpPr>
          <p:spPr>
            <a:xfrm>
              <a:off x="1066800" y="2819400"/>
              <a:ext cx="3352800" cy="4572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6F12CDF6-AAF1-4215-91F7-872BD7A68284}"/>
                </a:ext>
              </a:extLst>
            </p:cNvPr>
            <p:cNvSpPr/>
            <p:nvPr/>
          </p:nvSpPr>
          <p:spPr>
            <a:xfrm>
              <a:off x="4419600" y="2819400"/>
              <a:ext cx="1600200" cy="4572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4" name="Group 28">
              <a:extLst>
                <a:ext uri="{FF2B5EF4-FFF2-40B4-BE49-F238E27FC236}">
                  <a16:creationId xmlns:a16="http://schemas.microsoft.com/office/drawing/2014/main" id="{E3AFA957-EDAF-40C8-B43C-EE0CEF051980}"/>
                </a:ext>
              </a:extLst>
            </p:cNvPr>
            <p:cNvGrpSpPr/>
            <p:nvPr/>
          </p:nvGrpSpPr>
          <p:grpSpPr>
            <a:xfrm>
              <a:off x="1066800" y="2852470"/>
              <a:ext cx="3352800" cy="369332"/>
              <a:chOff x="1219200" y="2014270"/>
              <a:chExt cx="3352800" cy="369332"/>
            </a:xfrm>
          </p:grpSpPr>
          <p:sp>
            <p:nvSpPr>
              <p:cNvPr id="98" name="Text Box 75">
                <a:extLst>
                  <a:ext uri="{FF2B5EF4-FFF2-40B4-BE49-F238E27FC236}">
                    <a16:creationId xmlns:a16="http://schemas.microsoft.com/office/drawing/2014/main" id="{ED5E9510-B305-4E5D-8F15-77F9B288A47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10834" y="2014270"/>
                <a:ext cx="1749197" cy="369332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C00000"/>
                    </a:solidFill>
                    <a:latin typeface="+mn-lt"/>
                  </a:rPr>
                  <a:t>Block Number</a:t>
                </a:r>
              </a:p>
            </p:txBody>
          </p:sp>
          <p:sp>
            <p:nvSpPr>
              <p:cNvPr id="99" name="Line 76">
                <a:extLst>
                  <a:ext uri="{FF2B5EF4-FFF2-40B4-BE49-F238E27FC236}">
                    <a16:creationId xmlns:a16="http://schemas.microsoft.com/office/drawing/2014/main" id="{10893E1D-5694-4BEA-A70F-5A8CF18F7E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57600" y="2209800"/>
                <a:ext cx="9144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square">
                <a:spAutoFit/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100" name="Line 77">
                <a:extLst>
                  <a:ext uri="{FF2B5EF4-FFF2-40B4-BE49-F238E27FC236}">
                    <a16:creationId xmlns:a16="http://schemas.microsoft.com/office/drawing/2014/main" id="{85A7F653-9C59-401F-9032-39BF9033AA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19200" y="2209800"/>
                <a:ext cx="7620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>
                <a:spAutoFit/>
              </a:bodyPr>
              <a:lstStyle/>
              <a:p>
                <a:endParaRPr lang="en-US">
                  <a:latin typeface="+mn-lt"/>
                </a:endParaRPr>
              </a:p>
            </p:txBody>
          </p:sp>
        </p:grpSp>
        <p:grpSp>
          <p:nvGrpSpPr>
            <p:cNvPr id="95" name="Group 32">
              <a:extLst>
                <a:ext uri="{FF2B5EF4-FFF2-40B4-BE49-F238E27FC236}">
                  <a16:creationId xmlns:a16="http://schemas.microsoft.com/office/drawing/2014/main" id="{9C7EB551-48C0-43EE-B497-73005936491C}"/>
                </a:ext>
              </a:extLst>
            </p:cNvPr>
            <p:cNvGrpSpPr/>
            <p:nvPr/>
          </p:nvGrpSpPr>
          <p:grpSpPr>
            <a:xfrm>
              <a:off x="4428226" y="2871156"/>
              <a:ext cx="1591574" cy="369332"/>
              <a:chOff x="1600200" y="1988392"/>
              <a:chExt cx="2590800" cy="369332"/>
            </a:xfrm>
          </p:grpSpPr>
          <p:sp>
            <p:nvSpPr>
              <p:cNvPr id="96" name="Line 77">
                <a:extLst>
                  <a:ext uri="{FF2B5EF4-FFF2-40B4-BE49-F238E27FC236}">
                    <a16:creationId xmlns:a16="http://schemas.microsoft.com/office/drawing/2014/main" id="{A9698E8A-4FA7-4A4B-8AFA-1FD3C4786D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600200" y="2166670"/>
                <a:ext cx="25908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triangle"/>
                <a:tailEnd type="triangle" w="med" len="med"/>
              </a:ln>
            </p:spPr>
            <p:txBody>
              <a:bodyPr wrap="square">
                <a:spAutoFit/>
              </a:bodyPr>
              <a:lstStyle/>
              <a:p>
                <a:endParaRPr lang="en-US" dirty="0">
                  <a:latin typeface="+mn-lt"/>
                </a:endParaRPr>
              </a:p>
            </p:txBody>
          </p:sp>
          <p:sp>
            <p:nvSpPr>
              <p:cNvPr id="97" name="Text Box 75">
                <a:extLst>
                  <a:ext uri="{FF2B5EF4-FFF2-40B4-BE49-F238E27FC236}">
                    <a16:creationId xmlns:a16="http://schemas.microsoft.com/office/drawing/2014/main" id="{4B985E4A-28A9-4384-BEB2-A8C5F225FD4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82319" y="1988392"/>
                <a:ext cx="1488479" cy="36933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006600"/>
                    </a:solidFill>
                    <a:latin typeface="+mn-lt"/>
                  </a:rPr>
                  <a:t>Offset</a:t>
                </a:r>
              </a:p>
            </p:txBody>
          </p:sp>
        </p:grpSp>
      </p:grpSp>
      <p:sp>
        <p:nvSpPr>
          <p:cNvPr id="101" name="Rectangle 100">
            <a:extLst>
              <a:ext uri="{FF2B5EF4-FFF2-40B4-BE49-F238E27FC236}">
                <a16:creationId xmlns:a16="http://schemas.microsoft.com/office/drawing/2014/main" id="{793DCAEB-C20A-44A6-A02A-D2575B8AEDBC}"/>
              </a:ext>
            </a:extLst>
          </p:cNvPr>
          <p:cNvSpPr/>
          <p:nvPr/>
        </p:nvSpPr>
        <p:spPr>
          <a:xfrm>
            <a:off x="1053904" y="2975628"/>
            <a:ext cx="1371600" cy="685800"/>
          </a:xfrm>
          <a:prstGeom prst="rect">
            <a:avLst/>
          </a:prstGeom>
          <a:solidFill>
            <a:schemeClr val="bg1">
              <a:alpha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1 Block </a:t>
            </a:r>
          </a:p>
          <a:p>
            <a:pPr algn="ctr"/>
            <a:r>
              <a:rPr lang="en-US" sz="1800" dirty="0">
                <a:solidFill>
                  <a:schemeClr val="tx1"/>
                </a:solidFill>
              </a:rPr>
              <a:t>= 4 bytes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42E746F3-CDDE-48EC-BDBF-69581AD27EF9}"/>
              </a:ext>
            </a:extLst>
          </p:cNvPr>
          <p:cNvSpPr/>
          <p:nvPr/>
        </p:nvSpPr>
        <p:spPr>
          <a:xfrm>
            <a:off x="1053904" y="4575828"/>
            <a:ext cx="304800" cy="1600200"/>
          </a:xfrm>
          <a:prstGeom prst="rect">
            <a:avLst/>
          </a:prstGeom>
          <a:solidFill>
            <a:srgbClr val="92D050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dirty="0"/>
            </a:br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grpSp>
        <p:nvGrpSpPr>
          <p:cNvPr id="103" name="Group 29">
            <a:extLst>
              <a:ext uri="{FF2B5EF4-FFF2-40B4-BE49-F238E27FC236}">
                <a16:creationId xmlns:a16="http://schemas.microsoft.com/office/drawing/2014/main" id="{D96907FC-8FC7-40BA-A650-3539DBD73037}"/>
              </a:ext>
            </a:extLst>
          </p:cNvPr>
          <p:cNvGrpSpPr/>
          <p:nvPr/>
        </p:nvGrpSpPr>
        <p:grpSpPr>
          <a:xfrm>
            <a:off x="3178951" y="3273122"/>
            <a:ext cx="5038496" cy="793750"/>
            <a:chOff x="3124200" y="3702050"/>
            <a:chExt cx="5038496" cy="793750"/>
          </a:xfrm>
        </p:grpSpPr>
        <p:sp>
          <p:nvSpPr>
            <p:cNvPr id="104" name="Text Box 38">
              <a:extLst>
                <a:ext uri="{FF2B5EF4-FFF2-40B4-BE49-F238E27FC236}">
                  <a16:creationId xmlns:a16="http://schemas.microsoft.com/office/drawing/2014/main" id="{00058297-5C07-4C27-AB9F-7EBBFAADC4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2500" y="3702050"/>
              <a:ext cx="800100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>
                  <a:latin typeface="+mn-lt"/>
                </a:rPr>
                <a:t>N+M-1</a:t>
              </a:r>
            </a:p>
          </p:txBody>
        </p:sp>
        <p:sp>
          <p:nvSpPr>
            <p:cNvPr id="105" name="Text Box 78">
              <a:extLst>
                <a:ext uri="{FF2B5EF4-FFF2-40B4-BE49-F238E27FC236}">
                  <a16:creationId xmlns:a16="http://schemas.microsoft.com/office/drawing/2014/main" id="{553AD784-0736-43AA-BA0D-10B3C82D8A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4200" y="3733800"/>
              <a:ext cx="412293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+mn-lt"/>
                </a:rPr>
                <a:t>31</a:t>
              </a:r>
            </a:p>
          </p:txBody>
        </p:sp>
        <p:sp>
          <p:nvSpPr>
            <p:cNvPr id="106" name="Text Box 79">
              <a:extLst>
                <a:ext uri="{FF2B5EF4-FFF2-40B4-BE49-F238E27FC236}">
                  <a16:creationId xmlns:a16="http://schemas.microsoft.com/office/drawing/2014/main" id="{5C932C32-E8E3-4903-8976-5C8E724C96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54721" y="3733800"/>
              <a:ext cx="307975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+mn-lt"/>
                </a:rPr>
                <a:t>0</a:t>
              </a:r>
            </a:p>
          </p:txBody>
        </p:sp>
        <p:sp>
          <p:nvSpPr>
            <p:cNvPr id="107" name="Text Box 80">
              <a:extLst>
                <a:ext uri="{FF2B5EF4-FFF2-40B4-BE49-F238E27FC236}">
                  <a16:creationId xmlns:a16="http://schemas.microsoft.com/office/drawing/2014/main" id="{CF95E0AA-012B-4502-98E9-34C32F74FB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53200" y="3733800"/>
              <a:ext cx="522288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+mn-lt"/>
                </a:rPr>
                <a:t>N-1</a:t>
              </a:r>
            </a:p>
          </p:txBody>
        </p:sp>
        <p:sp>
          <p:nvSpPr>
            <p:cNvPr id="108" name="Text Box 81">
              <a:extLst>
                <a:ext uri="{FF2B5EF4-FFF2-40B4-BE49-F238E27FC236}">
                  <a16:creationId xmlns:a16="http://schemas.microsoft.com/office/drawing/2014/main" id="{AFD286A6-572D-42E9-9A4D-CA3FA41578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21058" y="3733800"/>
              <a:ext cx="332142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+mn-lt"/>
                </a:rPr>
                <a:t>N</a:t>
              </a: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ACD91111-CCDE-40BB-85B7-F0B48B801F41}"/>
                </a:ext>
              </a:extLst>
            </p:cNvPr>
            <p:cNvSpPr/>
            <p:nvPr/>
          </p:nvSpPr>
          <p:spPr>
            <a:xfrm>
              <a:off x="3206521" y="4038600"/>
              <a:ext cx="1594079" cy="4572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CACFAA82-CD13-4F63-8A6E-EA600385A4E7}"/>
                </a:ext>
              </a:extLst>
            </p:cNvPr>
            <p:cNvSpPr/>
            <p:nvPr/>
          </p:nvSpPr>
          <p:spPr>
            <a:xfrm>
              <a:off x="6559321" y="4038600"/>
              <a:ext cx="1600200" cy="4572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1" name="Group 28">
              <a:extLst>
                <a:ext uri="{FF2B5EF4-FFF2-40B4-BE49-F238E27FC236}">
                  <a16:creationId xmlns:a16="http://schemas.microsoft.com/office/drawing/2014/main" id="{9BD89D32-EC0F-4A94-AFF8-FABC34F1AC68}"/>
                </a:ext>
              </a:extLst>
            </p:cNvPr>
            <p:cNvGrpSpPr/>
            <p:nvPr/>
          </p:nvGrpSpPr>
          <p:grpSpPr>
            <a:xfrm>
              <a:off x="3200401" y="4083050"/>
              <a:ext cx="1600199" cy="369332"/>
              <a:chOff x="1219200" y="2014270"/>
              <a:chExt cx="3352800" cy="369332"/>
            </a:xfrm>
          </p:grpSpPr>
          <p:sp>
            <p:nvSpPr>
              <p:cNvPr id="120" name="Text Box 75">
                <a:extLst>
                  <a:ext uri="{FF2B5EF4-FFF2-40B4-BE49-F238E27FC236}">
                    <a16:creationId xmlns:a16="http://schemas.microsoft.com/office/drawing/2014/main" id="{37973030-3A71-4B44-A813-FC654F9FC0B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30051" y="2014270"/>
                <a:ext cx="910765" cy="369332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C00000"/>
                    </a:solidFill>
                    <a:latin typeface="+mn-lt"/>
                  </a:rPr>
                  <a:t>Tag</a:t>
                </a:r>
              </a:p>
            </p:txBody>
          </p:sp>
          <p:sp>
            <p:nvSpPr>
              <p:cNvPr id="121" name="Line 76">
                <a:extLst>
                  <a:ext uri="{FF2B5EF4-FFF2-40B4-BE49-F238E27FC236}">
                    <a16:creationId xmlns:a16="http://schemas.microsoft.com/office/drawing/2014/main" id="{CE2C162F-0827-49BC-8468-8AE1924FF1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57600" y="2209800"/>
                <a:ext cx="9144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square">
                <a:spAutoFit/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122" name="Line 77">
                <a:extLst>
                  <a:ext uri="{FF2B5EF4-FFF2-40B4-BE49-F238E27FC236}">
                    <a16:creationId xmlns:a16="http://schemas.microsoft.com/office/drawing/2014/main" id="{05B7FD26-3EEB-4B6E-8362-5D1633E6BB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19200" y="2209800"/>
                <a:ext cx="7620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>
                <a:spAutoFit/>
              </a:bodyPr>
              <a:lstStyle/>
              <a:p>
                <a:endParaRPr lang="en-US">
                  <a:latin typeface="+mn-lt"/>
                </a:endParaRPr>
              </a:p>
            </p:txBody>
          </p:sp>
        </p:grpSp>
        <p:grpSp>
          <p:nvGrpSpPr>
            <p:cNvPr id="112" name="Group 32">
              <a:extLst>
                <a:ext uri="{FF2B5EF4-FFF2-40B4-BE49-F238E27FC236}">
                  <a16:creationId xmlns:a16="http://schemas.microsoft.com/office/drawing/2014/main" id="{4330FF50-B969-4BE3-83D0-B91B982FD268}"/>
                </a:ext>
              </a:extLst>
            </p:cNvPr>
            <p:cNvGrpSpPr/>
            <p:nvPr/>
          </p:nvGrpSpPr>
          <p:grpSpPr>
            <a:xfrm>
              <a:off x="6567947" y="4090356"/>
              <a:ext cx="1591574" cy="369332"/>
              <a:chOff x="1600200" y="1988392"/>
              <a:chExt cx="2590800" cy="369332"/>
            </a:xfrm>
          </p:grpSpPr>
          <p:sp>
            <p:nvSpPr>
              <p:cNvPr id="118" name="Line 77">
                <a:extLst>
                  <a:ext uri="{FF2B5EF4-FFF2-40B4-BE49-F238E27FC236}">
                    <a16:creationId xmlns:a16="http://schemas.microsoft.com/office/drawing/2014/main" id="{FACA0777-2ABE-42C1-9CAD-1DC9542AFB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600200" y="2166670"/>
                <a:ext cx="25908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triangle"/>
                <a:tailEnd type="triangle" w="med" len="med"/>
              </a:ln>
            </p:spPr>
            <p:txBody>
              <a:bodyPr wrap="square">
                <a:spAutoFit/>
              </a:bodyPr>
              <a:lstStyle/>
              <a:p>
                <a:endParaRPr lang="en-US" dirty="0">
                  <a:latin typeface="+mn-lt"/>
                </a:endParaRPr>
              </a:p>
            </p:txBody>
          </p:sp>
          <p:sp>
            <p:nvSpPr>
              <p:cNvPr id="119" name="Text Box 75">
                <a:extLst>
                  <a:ext uri="{FF2B5EF4-FFF2-40B4-BE49-F238E27FC236}">
                    <a16:creationId xmlns:a16="http://schemas.microsoft.com/office/drawing/2014/main" id="{80733C8D-B0AF-42C4-90EF-B07D7B8745C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82319" y="1988392"/>
                <a:ext cx="1488479" cy="36933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006600"/>
                    </a:solidFill>
                    <a:latin typeface="+mn-lt"/>
                  </a:rPr>
                  <a:t>Offset</a:t>
                </a:r>
              </a:p>
            </p:txBody>
          </p:sp>
        </p:grp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A07B9874-E24E-4EA2-B34E-B2B419BFFA76}"/>
                </a:ext>
              </a:extLst>
            </p:cNvPr>
            <p:cNvSpPr/>
            <p:nvPr/>
          </p:nvSpPr>
          <p:spPr>
            <a:xfrm>
              <a:off x="4806721" y="4038600"/>
              <a:ext cx="1746479" cy="4572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4" name="Group 28">
              <a:extLst>
                <a:ext uri="{FF2B5EF4-FFF2-40B4-BE49-F238E27FC236}">
                  <a16:creationId xmlns:a16="http://schemas.microsoft.com/office/drawing/2014/main" id="{B5C98829-D577-4A1A-966E-B70094614E4B}"/>
                </a:ext>
              </a:extLst>
            </p:cNvPr>
            <p:cNvGrpSpPr/>
            <p:nvPr/>
          </p:nvGrpSpPr>
          <p:grpSpPr>
            <a:xfrm>
              <a:off x="4800600" y="4083050"/>
              <a:ext cx="1752600" cy="369332"/>
              <a:chOff x="898660" y="2014270"/>
              <a:chExt cx="3686214" cy="369332"/>
            </a:xfrm>
          </p:grpSpPr>
          <p:sp>
            <p:nvSpPr>
              <p:cNvPr id="115" name="Text Box 75">
                <a:extLst>
                  <a:ext uri="{FF2B5EF4-FFF2-40B4-BE49-F238E27FC236}">
                    <a16:creationId xmlns:a16="http://schemas.microsoft.com/office/drawing/2014/main" id="{F6ECBF35-EF99-4490-8A6A-904FD12262E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79471" y="2014270"/>
                <a:ext cx="2546211" cy="369332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chemeClr val="accent6">
                        <a:lumMod val="50000"/>
                      </a:schemeClr>
                    </a:solidFill>
                    <a:latin typeface="+mn-lt"/>
                  </a:rPr>
                  <a:t>Set Index</a:t>
                </a:r>
              </a:p>
            </p:txBody>
          </p:sp>
          <p:sp>
            <p:nvSpPr>
              <p:cNvPr id="116" name="Line 76">
                <a:extLst>
                  <a:ext uri="{FF2B5EF4-FFF2-40B4-BE49-F238E27FC236}">
                    <a16:creationId xmlns:a16="http://schemas.microsoft.com/office/drawing/2014/main" id="{2C2154A0-85E0-42BF-BB93-F917EF297C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43793" y="2198420"/>
                <a:ext cx="641081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square">
                <a:spAutoFit/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117" name="Line 77">
                <a:extLst>
                  <a:ext uri="{FF2B5EF4-FFF2-40B4-BE49-F238E27FC236}">
                    <a16:creationId xmlns:a16="http://schemas.microsoft.com/office/drawing/2014/main" id="{14F170C3-681C-4F22-9C4A-C69823CE44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898660" y="2198420"/>
                <a:ext cx="641081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square">
                <a:spAutoFit/>
              </a:bodyPr>
              <a:lstStyle/>
              <a:p>
                <a:endParaRPr lang="en-US">
                  <a:latin typeface="+mn-lt"/>
                </a:endParaRPr>
              </a:p>
            </p:txBody>
          </p:sp>
        </p:grpSp>
      </p:grpSp>
      <p:sp>
        <p:nvSpPr>
          <p:cNvPr id="123" name="Text Box 16">
            <a:extLst>
              <a:ext uri="{FF2B5EF4-FFF2-40B4-BE49-F238E27FC236}">
                <a16:creationId xmlns:a16="http://schemas.microsoft.com/office/drawing/2014/main" id="{A0D621F4-C07A-4C52-8202-CFE5A9F508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3751" y="2257459"/>
            <a:ext cx="4495800" cy="10156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 b="1" dirty="0">
                <a:latin typeface="+mn-lt"/>
              </a:rPr>
              <a:t>Offset, </a:t>
            </a:r>
            <a:r>
              <a:rPr lang="en-US" sz="2000" b="1" dirty="0">
                <a:solidFill>
                  <a:srgbClr val="006600"/>
                </a:solidFill>
                <a:latin typeface="+mn-lt"/>
              </a:rPr>
              <a:t>N</a:t>
            </a:r>
            <a:r>
              <a:rPr lang="en-US" sz="2000" dirty="0">
                <a:latin typeface="+mn-lt"/>
              </a:rPr>
              <a:t> = </a:t>
            </a:r>
            <a:r>
              <a:rPr lang="en-US" sz="2000" b="1" dirty="0">
                <a:latin typeface="+mn-lt"/>
              </a:rPr>
              <a:t>2 bits</a:t>
            </a:r>
          </a:p>
          <a:p>
            <a:r>
              <a:rPr lang="en-US" sz="2000" b="1" dirty="0">
                <a:solidFill>
                  <a:srgbClr val="C00000"/>
                </a:solidFill>
                <a:latin typeface="+mn-lt"/>
              </a:rPr>
              <a:t>Block Number </a:t>
            </a:r>
            <a:r>
              <a:rPr lang="en-US" sz="2000" dirty="0">
                <a:latin typeface="+mn-lt"/>
              </a:rPr>
              <a:t>= 32 – 2 = </a:t>
            </a:r>
            <a:r>
              <a:rPr lang="en-US" sz="2000" b="1" dirty="0">
                <a:latin typeface="+mn-lt"/>
              </a:rPr>
              <a:t>30 bits</a:t>
            </a:r>
          </a:p>
          <a:p>
            <a:r>
              <a:rPr lang="en-US" sz="2000" dirty="0">
                <a:latin typeface="+mn-lt"/>
              </a:rPr>
              <a:t>Check: Number of Blocks = </a:t>
            </a:r>
            <a:r>
              <a:rPr lang="en-US" sz="2000" b="1" dirty="0">
                <a:latin typeface="+mn-lt"/>
              </a:rPr>
              <a:t>2</a:t>
            </a:r>
            <a:r>
              <a:rPr lang="en-US" sz="2000" b="1" baseline="30000" dirty="0">
                <a:latin typeface="+mn-lt"/>
              </a:rPr>
              <a:t>30</a:t>
            </a:r>
            <a:r>
              <a:rPr lang="en-US" sz="2000" b="1" dirty="0">
                <a:latin typeface="+mn-lt"/>
              </a:rPr>
              <a:t> </a:t>
            </a:r>
            <a:r>
              <a:rPr lang="en-US" sz="2000" dirty="0">
                <a:latin typeface="+mn-lt"/>
              </a:rPr>
              <a:t> </a:t>
            </a:r>
          </a:p>
        </p:txBody>
      </p:sp>
      <p:sp>
        <p:nvSpPr>
          <p:cNvPr id="124" name="Text Box 16">
            <a:extLst>
              <a:ext uri="{FF2B5EF4-FFF2-40B4-BE49-F238E27FC236}">
                <a16:creationId xmlns:a16="http://schemas.microsoft.com/office/drawing/2014/main" id="{97B1E122-5AA5-4871-BF40-D13D8D16A2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9951" y="4111322"/>
            <a:ext cx="4724400" cy="221599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800" b="1" dirty="0">
                <a:latin typeface="+mn-lt"/>
              </a:rPr>
              <a:t>Number of Cache Blocks </a:t>
            </a:r>
          </a:p>
          <a:p>
            <a:r>
              <a:rPr lang="en-US" sz="1800" dirty="0">
                <a:latin typeface="+mn-lt"/>
              </a:rPr>
              <a:t>= 4KB / 4bytes = 1024 </a:t>
            </a:r>
            <a:r>
              <a:rPr lang="en-US" sz="1800" b="1" dirty="0">
                <a:latin typeface="+mn-lt"/>
              </a:rPr>
              <a:t>= 2</a:t>
            </a:r>
            <a:r>
              <a:rPr lang="en-US" sz="1800" b="1" baseline="30000" dirty="0">
                <a:latin typeface="+mn-lt"/>
              </a:rPr>
              <a:t>10</a:t>
            </a:r>
          </a:p>
          <a:p>
            <a:endParaRPr lang="en-US" sz="1800" baseline="30000" dirty="0">
              <a:latin typeface="+mn-lt"/>
            </a:endParaRPr>
          </a:p>
          <a:p>
            <a:r>
              <a:rPr lang="en-US" sz="1800" b="1" dirty="0">
                <a:latin typeface="+mn-lt"/>
              </a:rPr>
              <a:t>4-way associative, number of sets</a:t>
            </a:r>
          </a:p>
          <a:p>
            <a:r>
              <a:rPr lang="en-US" sz="1800" dirty="0">
                <a:latin typeface="+mn-lt"/>
                <a:sym typeface="Wingdings" pitchFamily="2" charset="2"/>
              </a:rPr>
              <a:t>= 1024 / 4 = 256 </a:t>
            </a:r>
            <a:r>
              <a:rPr lang="en-US" sz="1800" b="1" dirty="0">
                <a:latin typeface="+mn-lt"/>
                <a:sym typeface="Wingdings" pitchFamily="2" charset="2"/>
              </a:rPr>
              <a:t>= 2</a:t>
            </a:r>
            <a:r>
              <a:rPr lang="en-US" sz="1800" b="1" baseline="30000" dirty="0">
                <a:latin typeface="+mn-lt"/>
                <a:sym typeface="Wingdings" pitchFamily="2" charset="2"/>
              </a:rPr>
              <a:t>8</a:t>
            </a:r>
          </a:p>
          <a:p>
            <a:r>
              <a:rPr lang="en-US" sz="1800" b="1" dirty="0">
                <a:latin typeface="+mn-lt"/>
                <a:sym typeface="Wingdings" pitchFamily="2" charset="2"/>
              </a:rPr>
              <a:t>Set Index, </a:t>
            </a:r>
            <a:r>
              <a:rPr lang="en-US" sz="1800" b="1" dirty="0">
                <a:solidFill>
                  <a:schemeClr val="accent6">
                    <a:lumMod val="50000"/>
                  </a:schemeClr>
                </a:solidFill>
                <a:latin typeface="+mn-lt"/>
                <a:sym typeface="Wingdings" pitchFamily="2" charset="2"/>
              </a:rPr>
              <a:t>M</a:t>
            </a:r>
            <a:r>
              <a:rPr lang="en-US" sz="1800" b="1" dirty="0">
                <a:latin typeface="+mn-lt"/>
                <a:sym typeface="Wingdings" pitchFamily="2" charset="2"/>
              </a:rPr>
              <a:t> = 8 bits</a:t>
            </a:r>
          </a:p>
          <a:p>
            <a:endParaRPr lang="en-US" sz="1400" b="1" dirty="0">
              <a:latin typeface="+mn-lt"/>
            </a:endParaRPr>
          </a:p>
          <a:p>
            <a:r>
              <a:rPr lang="en-US" sz="1800" b="1" dirty="0">
                <a:solidFill>
                  <a:srgbClr val="C00000"/>
                </a:solidFill>
                <a:latin typeface="+mn-lt"/>
              </a:rPr>
              <a:t>Cache Tag </a:t>
            </a:r>
            <a:r>
              <a:rPr lang="en-US" sz="1800" dirty="0">
                <a:latin typeface="+mn-lt"/>
              </a:rPr>
              <a:t>= 32 – 8 – 2 = </a:t>
            </a:r>
            <a:r>
              <a:rPr lang="en-US" sz="1800" b="1" dirty="0">
                <a:latin typeface="+mn-lt"/>
              </a:rPr>
              <a:t>22 bits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596905FF-14AF-4E3E-8B74-7852A7B0271D}"/>
              </a:ext>
            </a:extLst>
          </p:cNvPr>
          <p:cNvSpPr/>
          <p:nvPr/>
        </p:nvSpPr>
        <p:spPr>
          <a:xfrm>
            <a:off x="1434904" y="4575828"/>
            <a:ext cx="304800" cy="1600200"/>
          </a:xfrm>
          <a:prstGeom prst="rect">
            <a:avLst/>
          </a:prstGeom>
          <a:solidFill>
            <a:srgbClr val="92D050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dirty="0"/>
            </a:br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8F1DC6AE-1199-462D-A157-0CD79FE3A784}"/>
              </a:ext>
            </a:extLst>
          </p:cNvPr>
          <p:cNvSpPr/>
          <p:nvPr/>
        </p:nvSpPr>
        <p:spPr>
          <a:xfrm>
            <a:off x="1815904" y="4575828"/>
            <a:ext cx="304800" cy="1600200"/>
          </a:xfrm>
          <a:prstGeom prst="rect">
            <a:avLst/>
          </a:prstGeom>
          <a:solidFill>
            <a:srgbClr val="92D050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dirty="0"/>
            </a:br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7E90BBBB-075D-41EF-B716-ED2917EAFD5A}"/>
              </a:ext>
            </a:extLst>
          </p:cNvPr>
          <p:cNvSpPr/>
          <p:nvPr/>
        </p:nvSpPr>
        <p:spPr>
          <a:xfrm>
            <a:off x="2196904" y="4575828"/>
            <a:ext cx="304800" cy="1600200"/>
          </a:xfrm>
          <a:prstGeom prst="rect">
            <a:avLst/>
          </a:prstGeom>
          <a:solidFill>
            <a:srgbClr val="92D050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dirty="0"/>
            </a:br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E558CFC3-37F0-4B84-BFCA-1A9C6A0A2010}"/>
              </a:ext>
            </a:extLst>
          </p:cNvPr>
          <p:cNvSpPr/>
          <p:nvPr/>
        </p:nvSpPr>
        <p:spPr>
          <a:xfrm>
            <a:off x="1130104" y="4652028"/>
            <a:ext cx="1295400" cy="457200"/>
          </a:xfrm>
          <a:prstGeom prst="rect">
            <a:avLst/>
          </a:prstGeom>
          <a:solidFill>
            <a:schemeClr val="bg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chemeClr val="tx1"/>
                </a:solidFill>
              </a:rPr>
              <a:t>Cache</a:t>
            </a:r>
          </a:p>
          <a:p>
            <a:pPr algn="ctr"/>
            <a:r>
              <a:rPr lang="en-US" sz="1800" b="1" dirty="0">
                <a:solidFill>
                  <a:schemeClr val="tx1"/>
                </a:solidFill>
              </a:rPr>
              <a:t>4 KB</a:t>
            </a:r>
          </a:p>
        </p:txBody>
      </p:sp>
      <p:sp>
        <p:nvSpPr>
          <p:cNvPr id="49" name="Slide Number Placeholder 6">
            <a:extLst>
              <a:ext uri="{FF2B5EF4-FFF2-40B4-BE49-F238E27FC236}">
                <a16:creationId xmlns:a16="http://schemas.microsoft.com/office/drawing/2014/main" id="{F1BAF79A-68B3-47FF-B4B9-013FE3D5C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66</a:t>
            </a:fld>
            <a:endParaRPr dirty="0"/>
          </a:p>
        </p:txBody>
      </p:sp>
      <p:sp>
        <p:nvSpPr>
          <p:cNvPr id="3" name="Text Box 253">
            <a:extLst>
              <a:ext uri="{FF2B5EF4-FFF2-40B4-BE49-F238E27FC236}">
                <a16:creationId xmlns:a16="http://schemas.microsoft.com/office/drawing/2014/main" id="{08E2ECA3-8F81-CFF3-93F5-04AB7B5D00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994" y="3806455"/>
            <a:ext cx="2667000" cy="646331"/>
          </a:xfrm>
          <a:prstGeom prst="rect">
            <a:avLst/>
          </a:prstGeom>
          <a:solidFill>
            <a:srgbClr val="FFFFCC"/>
          </a:solidFill>
          <a:ln w="12700">
            <a:solidFill>
              <a:schemeClr val="accent5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800" b="1" dirty="0"/>
              <a:t>4-way 4-KB cache: </a:t>
            </a:r>
            <a:br>
              <a:rPr lang="en-US" sz="1800" dirty="0"/>
            </a:br>
            <a:r>
              <a:rPr lang="en-US" sz="1800" b="1" dirty="0"/>
              <a:t>1-word</a:t>
            </a:r>
            <a:r>
              <a:rPr lang="en-US" sz="1800" dirty="0"/>
              <a:t> (4-byte) blocks</a:t>
            </a:r>
          </a:p>
        </p:txBody>
      </p:sp>
    </p:spTree>
    <p:extLst>
      <p:ext uri="{BB962C8B-B14F-4D97-AF65-F5344CB8AC3E}">
        <p14:creationId xmlns:p14="http://schemas.microsoft.com/office/powerpoint/2010/main" val="1940172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" grpId="0"/>
      <p:bldP spid="124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8. Set Associative Cache: </a:t>
            </a:r>
            <a:r>
              <a:rPr lang="en-GB" sz="3600" b="1" dirty="0">
                <a:solidFill>
                  <a:srgbClr val="0000FF"/>
                </a:solidFill>
              </a:rPr>
              <a:t>Circuitry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#23: Cache II: Set/Fully Associative Cache</a:t>
            </a:r>
            <a:endParaRPr lang="en-US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1FEE6906-0751-49BB-873E-3112EAB31A97}"/>
              </a:ext>
            </a:extLst>
          </p:cNvPr>
          <p:cNvGrpSpPr/>
          <p:nvPr/>
        </p:nvGrpSpPr>
        <p:grpSpPr>
          <a:xfrm>
            <a:off x="924946" y="1294198"/>
            <a:ext cx="7294108" cy="5039146"/>
            <a:chOff x="838200" y="1209254"/>
            <a:chExt cx="7294108" cy="5039146"/>
          </a:xfrm>
        </p:grpSpPr>
        <p:sp>
          <p:nvSpPr>
            <p:cNvPr id="130" name="Text Box 223">
              <a:extLst>
                <a:ext uri="{FF2B5EF4-FFF2-40B4-BE49-F238E27FC236}">
                  <a16:creationId xmlns:a16="http://schemas.microsoft.com/office/drawing/2014/main" id="{BBF7BB2A-D870-4BDD-99A3-4190047801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6400" y="5848290"/>
              <a:ext cx="526106" cy="4001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2000" b="1" dirty="0">
                  <a:solidFill>
                    <a:srgbClr val="660066"/>
                  </a:solidFill>
                </a:rPr>
                <a:t>Hit</a:t>
              </a:r>
            </a:p>
          </p:txBody>
        </p:sp>
        <p:sp>
          <p:nvSpPr>
            <p:cNvPr id="131" name="Text Box 229">
              <a:extLst>
                <a:ext uri="{FF2B5EF4-FFF2-40B4-BE49-F238E27FC236}">
                  <a16:creationId xmlns:a16="http://schemas.microsoft.com/office/drawing/2014/main" id="{D0E5954C-EAAC-4ADE-9DDB-7232F8A753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91400" y="5848290"/>
              <a:ext cx="740908" cy="4001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2000" b="1" dirty="0">
                  <a:solidFill>
                    <a:srgbClr val="660066"/>
                  </a:solidFill>
                </a:rPr>
                <a:t>Data</a:t>
              </a:r>
            </a:p>
          </p:txBody>
        </p:sp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id="{03FE083E-9168-4DA6-AD70-72D0297C4E98}"/>
                </a:ext>
              </a:extLst>
            </p:cNvPr>
            <p:cNvGrpSpPr/>
            <p:nvPr/>
          </p:nvGrpSpPr>
          <p:grpSpPr>
            <a:xfrm>
              <a:off x="838200" y="1209254"/>
              <a:ext cx="7239000" cy="4810546"/>
              <a:chOff x="762000" y="1390229"/>
              <a:chExt cx="7239000" cy="4810546"/>
            </a:xfrm>
          </p:grpSpPr>
          <p:grpSp>
            <p:nvGrpSpPr>
              <p:cNvPr id="137" name="Group 136">
                <a:extLst>
                  <a:ext uri="{FF2B5EF4-FFF2-40B4-BE49-F238E27FC236}">
                    <a16:creationId xmlns:a16="http://schemas.microsoft.com/office/drawing/2014/main" id="{A66F61DB-FA2C-4CF8-8267-38A034700044}"/>
                  </a:ext>
                </a:extLst>
              </p:cNvPr>
              <p:cNvGrpSpPr/>
              <p:nvPr/>
            </p:nvGrpSpPr>
            <p:grpSpPr>
              <a:xfrm>
                <a:off x="1905000" y="5181599"/>
                <a:ext cx="838200" cy="533401"/>
                <a:chOff x="1143000" y="5081404"/>
                <a:chExt cx="1828800" cy="650849"/>
              </a:xfrm>
            </p:grpSpPr>
            <p:sp>
              <p:nvSpPr>
                <p:cNvPr id="381" name="Line 502">
                  <a:extLst>
                    <a:ext uri="{FF2B5EF4-FFF2-40B4-BE49-F238E27FC236}">
                      <a16:creationId xmlns:a16="http://schemas.microsoft.com/office/drawing/2014/main" id="{020F35C1-EA71-47E8-8915-B89CEEF8CD7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43000" y="5081404"/>
                  <a:ext cx="0" cy="29824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2" name="Line 506">
                  <a:extLst>
                    <a:ext uri="{FF2B5EF4-FFF2-40B4-BE49-F238E27FC236}">
                      <a16:creationId xmlns:a16="http://schemas.microsoft.com/office/drawing/2014/main" id="{6307A974-4CE6-4074-8842-21417DB02C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43000" y="5379645"/>
                  <a:ext cx="182880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3" name="Line 507">
                  <a:extLst>
                    <a:ext uri="{FF2B5EF4-FFF2-40B4-BE49-F238E27FC236}">
                      <a16:creationId xmlns:a16="http://schemas.microsoft.com/office/drawing/2014/main" id="{B6B8C449-AB93-4308-A3CA-EB6522C52E4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1800" y="5379645"/>
                  <a:ext cx="0" cy="352608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38" name="Group 137">
                <a:extLst>
                  <a:ext uri="{FF2B5EF4-FFF2-40B4-BE49-F238E27FC236}">
                    <a16:creationId xmlns:a16="http://schemas.microsoft.com/office/drawing/2014/main" id="{D903A256-E4BE-4FBF-9B8D-3BC6A82946D1}"/>
                  </a:ext>
                </a:extLst>
              </p:cNvPr>
              <p:cNvGrpSpPr/>
              <p:nvPr/>
            </p:nvGrpSpPr>
            <p:grpSpPr>
              <a:xfrm>
                <a:off x="1409050" y="2286000"/>
                <a:ext cx="6591950" cy="2061072"/>
                <a:chOff x="1104250" y="2489068"/>
                <a:chExt cx="6591950" cy="2061072"/>
              </a:xfrm>
            </p:grpSpPr>
            <p:grpSp>
              <p:nvGrpSpPr>
                <p:cNvPr id="237" name="Group 236">
                  <a:extLst>
                    <a:ext uri="{FF2B5EF4-FFF2-40B4-BE49-F238E27FC236}">
                      <a16:creationId xmlns:a16="http://schemas.microsoft.com/office/drawing/2014/main" id="{294D6B17-4D15-47C0-BE55-1309A8267448}"/>
                    </a:ext>
                  </a:extLst>
                </p:cNvPr>
                <p:cNvGrpSpPr/>
                <p:nvPr/>
              </p:nvGrpSpPr>
              <p:grpSpPr>
                <a:xfrm>
                  <a:off x="1104250" y="2493559"/>
                  <a:ext cx="1599757" cy="2056581"/>
                  <a:chOff x="1104250" y="2536412"/>
                  <a:chExt cx="1599757" cy="2056581"/>
                </a:xfrm>
              </p:grpSpPr>
              <p:sp>
                <p:nvSpPr>
                  <p:cNvPr id="346" name="Rectangle 26">
                    <a:extLst>
                      <a:ext uri="{FF2B5EF4-FFF2-40B4-BE49-F238E27FC236}">
                        <a16:creationId xmlns:a16="http://schemas.microsoft.com/office/drawing/2014/main" id="{92FADA04-A23C-48E4-B58C-C54B42E9090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131911" y="3249975"/>
                    <a:ext cx="572096" cy="216527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 sz="1400" b="1">
                      <a:latin typeface="+mn-lt"/>
                    </a:endParaRPr>
                  </a:p>
                </p:txBody>
              </p:sp>
              <p:sp>
                <p:nvSpPr>
                  <p:cNvPr id="347" name="Rectangle 24">
                    <a:extLst>
                      <a:ext uri="{FF2B5EF4-FFF2-40B4-BE49-F238E27FC236}">
                        <a16:creationId xmlns:a16="http://schemas.microsoft.com/office/drawing/2014/main" id="{842BC518-51D0-456D-B54E-B17B72DD101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690869" y="3249975"/>
                    <a:ext cx="442731" cy="216527"/>
                  </a:xfrm>
                  <a:prstGeom prst="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 sz="1400" b="1">
                      <a:latin typeface="+mn-lt"/>
                    </a:endParaRPr>
                  </a:p>
                </p:txBody>
              </p:sp>
              <p:sp>
                <p:nvSpPr>
                  <p:cNvPr id="348" name="Rectangle 12">
                    <a:extLst>
                      <a:ext uri="{FF2B5EF4-FFF2-40B4-BE49-F238E27FC236}">
                        <a16:creationId xmlns:a16="http://schemas.microsoft.com/office/drawing/2014/main" id="{298DFB08-B046-40B3-918B-0E21655A568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690869" y="2816922"/>
                    <a:ext cx="442731" cy="216527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 sz="1400" b="1">
                      <a:latin typeface="+mn-lt"/>
                    </a:endParaRPr>
                  </a:p>
                </p:txBody>
              </p:sp>
              <p:sp>
                <p:nvSpPr>
                  <p:cNvPr id="349" name="Rectangle 13">
                    <a:extLst>
                      <a:ext uri="{FF2B5EF4-FFF2-40B4-BE49-F238E27FC236}">
                        <a16:creationId xmlns:a16="http://schemas.microsoft.com/office/drawing/2014/main" id="{ABDFD43D-65A6-47D9-B422-71661523AE8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492123" y="2816922"/>
                    <a:ext cx="198746" cy="216527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 sz="1400" b="1" dirty="0">
                      <a:latin typeface="+mn-lt"/>
                    </a:endParaRPr>
                  </a:p>
                </p:txBody>
              </p:sp>
              <p:sp>
                <p:nvSpPr>
                  <p:cNvPr id="350" name="Rectangle 14">
                    <a:extLst>
                      <a:ext uri="{FF2B5EF4-FFF2-40B4-BE49-F238E27FC236}">
                        <a16:creationId xmlns:a16="http://schemas.microsoft.com/office/drawing/2014/main" id="{B02B81C7-E70A-4AAD-ADBB-2C16DDDD890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131911" y="2816922"/>
                    <a:ext cx="572096" cy="216527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 sz="1400" b="1">
                      <a:latin typeface="+mn-lt"/>
                    </a:endParaRPr>
                  </a:p>
                </p:txBody>
              </p:sp>
              <p:sp>
                <p:nvSpPr>
                  <p:cNvPr id="351" name="Rectangle 18">
                    <a:extLst>
                      <a:ext uri="{FF2B5EF4-FFF2-40B4-BE49-F238E27FC236}">
                        <a16:creationId xmlns:a16="http://schemas.microsoft.com/office/drawing/2014/main" id="{04763FE4-8185-47F1-B722-A0D5220267C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690869" y="3033449"/>
                    <a:ext cx="442731" cy="216527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 sz="1400" b="1">
                      <a:latin typeface="+mn-lt"/>
                    </a:endParaRPr>
                  </a:p>
                </p:txBody>
              </p:sp>
              <p:sp>
                <p:nvSpPr>
                  <p:cNvPr id="352" name="Rectangle 19">
                    <a:extLst>
                      <a:ext uri="{FF2B5EF4-FFF2-40B4-BE49-F238E27FC236}">
                        <a16:creationId xmlns:a16="http://schemas.microsoft.com/office/drawing/2014/main" id="{921716D9-0823-44F9-964A-8067453383D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492123" y="3033449"/>
                    <a:ext cx="198746" cy="216527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 sz="1400" b="1" dirty="0">
                      <a:latin typeface="+mn-lt"/>
                    </a:endParaRPr>
                  </a:p>
                </p:txBody>
              </p:sp>
              <p:sp>
                <p:nvSpPr>
                  <p:cNvPr id="353" name="Rectangle 20">
                    <a:extLst>
                      <a:ext uri="{FF2B5EF4-FFF2-40B4-BE49-F238E27FC236}">
                        <a16:creationId xmlns:a16="http://schemas.microsoft.com/office/drawing/2014/main" id="{98D35003-D900-4B05-92E1-6D4BCF54B99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131911" y="3033449"/>
                    <a:ext cx="572096" cy="216527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 sz="1400" b="1">
                      <a:latin typeface="+mn-lt"/>
                    </a:endParaRPr>
                  </a:p>
                </p:txBody>
              </p:sp>
              <p:sp>
                <p:nvSpPr>
                  <p:cNvPr id="354" name="Rectangle 25">
                    <a:extLst>
                      <a:ext uri="{FF2B5EF4-FFF2-40B4-BE49-F238E27FC236}">
                        <a16:creationId xmlns:a16="http://schemas.microsoft.com/office/drawing/2014/main" id="{BDCDD077-C6DC-4ED6-B329-CF6F7AC598C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492123" y="3249975"/>
                    <a:ext cx="198746" cy="216527"/>
                  </a:xfrm>
                  <a:prstGeom prst="rect">
                    <a:avLst/>
                  </a:prstGeom>
                  <a:solidFill>
                    <a:schemeClr val="bg2">
                      <a:lumMod val="75000"/>
                    </a:schemeClr>
                  </a:solidFill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 sz="1400" b="1" dirty="0">
                      <a:latin typeface="+mn-lt"/>
                    </a:endParaRPr>
                  </a:p>
                </p:txBody>
              </p:sp>
              <p:sp>
                <p:nvSpPr>
                  <p:cNvPr id="355" name="Rectangle 30">
                    <a:extLst>
                      <a:ext uri="{FF2B5EF4-FFF2-40B4-BE49-F238E27FC236}">
                        <a16:creationId xmlns:a16="http://schemas.microsoft.com/office/drawing/2014/main" id="{3BFA0DF5-A6EC-4E0B-91EB-A49558F2ABA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690869" y="3466502"/>
                    <a:ext cx="442731" cy="216527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 sz="1400" b="1">
                      <a:latin typeface="+mn-lt"/>
                    </a:endParaRPr>
                  </a:p>
                </p:txBody>
              </p:sp>
              <p:sp>
                <p:nvSpPr>
                  <p:cNvPr id="356" name="Rectangle 31">
                    <a:extLst>
                      <a:ext uri="{FF2B5EF4-FFF2-40B4-BE49-F238E27FC236}">
                        <a16:creationId xmlns:a16="http://schemas.microsoft.com/office/drawing/2014/main" id="{675C87AB-A86B-44CC-93A1-620A5C8D455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492123" y="3466502"/>
                    <a:ext cx="198746" cy="216527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 sz="1400" b="1" dirty="0">
                      <a:latin typeface="+mn-lt"/>
                    </a:endParaRPr>
                  </a:p>
                </p:txBody>
              </p:sp>
              <p:sp>
                <p:nvSpPr>
                  <p:cNvPr id="357" name="Rectangle 32">
                    <a:extLst>
                      <a:ext uri="{FF2B5EF4-FFF2-40B4-BE49-F238E27FC236}">
                        <a16:creationId xmlns:a16="http://schemas.microsoft.com/office/drawing/2014/main" id="{073AB83D-5B87-4A76-852F-FE9639FBA73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131911" y="3466502"/>
                    <a:ext cx="572096" cy="216527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 sz="1400" b="1">
                      <a:latin typeface="+mn-lt"/>
                    </a:endParaRPr>
                  </a:p>
                </p:txBody>
              </p:sp>
              <p:sp>
                <p:nvSpPr>
                  <p:cNvPr id="358" name="Rectangle 36">
                    <a:extLst>
                      <a:ext uri="{FF2B5EF4-FFF2-40B4-BE49-F238E27FC236}">
                        <a16:creationId xmlns:a16="http://schemas.microsoft.com/office/drawing/2014/main" id="{A2772700-E53B-43C3-BC25-65143DCFA34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690869" y="3683028"/>
                    <a:ext cx="442731" cy="216527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 sz="1400" b="1">
                      <a:latin typeface="+mn-lt"/>
                    </a:endParaRPr>
                  </a:p>
                </p:txBody>
              </p:sp>
              <p:sp>
                <p:nvSpPr>
                  <p:cNvPr id="359" name="Rectangle 37">
                    <a:extLst>
                      <a:ext uri="{FF2B5EF4-FFF2-40B4-BE49-F238E27FC236}">
                        <a16:creationId xmlns:a16="http://schemas.microsoft.com/office/drawing/2014/main" id="{D14604E4-DB60-40CA-8DAE-A4DE72C3D96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492123" y="3683028"/>
                    <a:ext cx="198746" cy="216527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 sz="1400" b="1" dirty="0">
                      <a:latin typeface="+mn-lt"/>
                    </a:endParaRPr>
                  </a:p>
                </p:txBody>
              </p:sp>
              <p:sp>
                <p:nvSpPr>
                  <p:cNvPr id="360" name="Rectangle 38">
                    <a:extLst>
                      <a:ext uri="{FF2B5EF4-FFF2-40B4-BE49-F238E27FC236}">
                        <a16:creationId xmlns:a16="http://schemas.microsoft.com/office/drawing/2014/main" id="{8C709554-0DC8-4033-9C26-5BDE01A18DE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131911" y="3683028"/>
                    <a:ext cx="572096" cy="216527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 sz="1400" b="1">
                      <a:latin typeface="+mn-lt"/>
                    </a:endParaRPr>
                  </a:p>
                </p:txBody>
              </p:sp>
              <p:sp>
                <p:nvSpPr>
                  <p:cNvPr id="361" name="Rectangle 42">
                    <a:extLst>
                      <a:ext uri="{FF2B5EF4-FFF2-40B4-BE49-F238E27FC236}">
                        <a16:creationId xmlns:a16="http://schemas.microsoft.com/office/drawing/2014/main" id="{D9979571-4320-4B54-B14C-90158E5B68C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690869" y="3899555"/>
                    <a:ext cx="442731" cy="216527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 sz="1400" b="1">
                      <a:latin typeface="+mn-lt"/>
                    </a:endParaRPr>
                  </a:p>
                </p:txBody>
              </p:sp>
              <p:sp>
                <p:nvSpPr>
                  <p:cNvPr id="362" name="Rectangle 43">
                    <a:extLst>
                      <a:ext uri="{FF2B5EF4-FFF2-40B4-BE49-F238E27FC236}">
                        <a16:creationId xmlns:a16="http://schemas.microsoft.com/office/drawing/2014/main" id="{D44F7DF3-2BC9-4202-AFF8-2218A7BEA5C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492123" y="3899555"/>
                    <a:ext cx="198746" cy="216527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 sz="1400" b="1" dirty="0">
                      <a:latin typeface="+mn-lt"/>
                    </a:endParaRPr>
                  </a:p>
                </p:txBody>
              </p:sp>
              <p:sp>
                <p:nvSpPr>
                  <p:cNvPr id="363" name="Rectangle 44">
                    <a:extLst>
                      <a:ext uri="{FF2B5EF4-FFF2-40B4-BE49-F238E27FC236}">
                        <a16:creationId xmlns:a16="http://schemas.microsoft.com/office/drawing/2014/main" id="{DB0349CB-3093-4754-9D80-D9D97BC8678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131911" y="3899555"/>
                    <a:ext cx="572096" cy="216527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 sz="1400" b="1">
                      <a:latin typeface="+mn-lt"/>
                    </a:endParaRPr>
                  </a:p>
                </p:txBody>
              </p:sp>
              <p:sp>
                <p:nvSpPr>
                  <p:cNvPr id="364" name="Rectangle 48">
                    <a:extLst>
                      <a:ext uri="{FF2B5EF4-FFF2-40B4-BE49-F238E27FC236}">
                        <a16:creationId xmlns:a16="http://schemas.microsoft.com/office/drawing/2014/main" id="{F7876E96-E785-4EB4-87DF-F0B972A116F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690869" y="4116082"/>
                    <a:ext cx="442731" cy="216527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 sz="1400" b="1">
                      <a:latin typeface="+mn-lt"/>
                    </a:endParaRPr>
                  </a:p>
                </p:txBody>
              </p:sp>
              <p:sp>
                <p:nvSpPr>
                  <p:cNvPr id="365" name="Rectangle 49">
                    <a:extLst>
                      <a:ext uri="{FF2B5EF4-FFF2-40B4-BE49-F238E27FC236}">
                        <a16:creationId xmlns:a16="http://schemas.microsoft.com/office/drawing/2014/main" id="{11B50C06-8843-4BD5-95B8-5B57E329AEC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492123" y="4116082"/>
                    <a:ext cx="198746" cy="216527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 sz="1400" b="1" dirty="0">
                      <a:latin typeface="+mn-lt"/>
                    </a:endParaRPr>
                  </a:p>
                </p:txBody>
              </p:sp>
              <p:sp>
                <p:nvSpPr>
                  <p:cNvPr id="366" name="Rectangle 50">
                    <a:extLst>
                      <a:ext uri="{FF2B5EF4-FFF2-40B4-BE49-F238E27FC236}">
                        <a16:creationId xmlns:a16="http://schemas.microsoft.com/office/drawing/2014/main" id="{54F86171-C3C0-4317-87FB-81F1FBD0DC5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131911" y="4116082"/>
                    <a:ext cx="572096" cy="216527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 sz="1400" b="1">
                      <a:latin typeface="+mn-lt"/>
                    </a:endParaRPr>
                  </a:p>
                </p:txBody>
              </p:sp>
              <p:sp>
                <p:nvSpPr>
                  <p:cNvPr id="367" name="Rectangle 54">
                    <a:extLst>
                      <a:ext uri="{FF2B5EF4-FFF2-40B4-BE49-F238E27FC236}">
                        <a16:creationId xmlns:a16="http://schemas.microsoft.com/office/drawing/2014/main" id="{5675D22E-9332-427E-8A18-AFC9F4CA468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690869" y="4332608"/>
                    <a:ext cx="442731" cy="216527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 sz="1400" b="1">
                      <a:latin typeface="+mn-lt"/>
                    </a:endParaRPr>
                  </a:p>
                </p:txBody>
              </p:sp>
              <p:sp>
                <p:nvSpPr>
                  <p:cNvPr id="368" name="Rectangle 55">
                    <a:extLst>
                      <a:ext uri="{FF2B5EF4-FFF2-40B4-BE49-F238E27FC236}">
                        <a16:creationId xmlns:a16="http://schemas.microsoft.com/office/drawing/2014/main" id="{2F19944A-99D5-4012-A844-E41E6F895EA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492123" y="4332608"/>
                    <a:ext cx="198746" cy="216527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 sz="1400" b="1" dirty="0">
                      <a:latin typeface="+mn-lt"/>
                    </a:endParaRPr>
                  </a:p>
                </p:txBody>
              </p:sp>
              <p:sp>
                <p:nvSpPr>
                  <p:cNvPr id="369" name="Rectangle 56">
                    <a:extLst>
                      <a:ext uri="{FF2B5EF4-FFF2-40B4-BE49-F238E27FC236}">
                        <a16:creationId xmlns:a16="http://schemas.microsoft.com/office/drawing/2014/main" id="{41C11774-1555-439F-A281-17F6663608D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131911" y="4332608"/>
                    <a:ext cx="572096" cy="216527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 sz="1400" b="1">
                      <a:latin typeface="+mn-lt"/>
                    </a:endParaRPr>
                  </a:p>
                </p:txBody>
              </p:sp>
              <p:sp>
                <p:nvSpPr>
                  <p:cNvPr id="370" name="Text Box 61">
                    <a:extLst>
                      <a:ext uri="{FF2B5EF4-FFF2-40B4-BE49-F238E27FC236}">
                        <a16:creationId xmlns:a16="http://schemas.microsoft.com/office/drawing/2014/main" id="{1157506F-75B5-4580-A373-24879E962809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53215" y="2787185"/>
                    <a:ext cx="269626" cy="276999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 sz="1200" b="1" dirty="0">
                        <a:latin typeface="+mn-lt"/>
                      </a:rPr>
                      <a:t>0</a:t>
                    </a:r>
                  </a:p>
                </p:txBody>
              </p:sp>
              <p:sp>
                <p:nvSpPr>
                  <p:cNvPr id="371" name="Text Box 62">
                    <a:extLst>
                      <a:ext uri="{FF2B5EF4-FFF2-40B4-BE49-F238E27FC236}">
                        <a16:creationId xmlns:a16="http://schemas.microsoft.com/office/drawing/2014/main" id="{9E15191F-29C1-45C6-A123-58A95B93B94C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54537" y="3007917"/>
                    <a:ext cx="269626" cy="276999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 sz="1200" b="1" dirty="0">
                        <a:latin typeface="+mn-lt"/>
                      </a:rPr>
                      <a:t>1</a:t>
                    </a:r>
                  </a:p>
                </p:txBody>
              </p:sp>
              <p:sp>
                <p:nvSpPr>
                  <p:cNvPr id="372" name="Text Box 63">
                    <a:extLst>
                      <a:ext uri="{FF2B5EF4-FFF2-40B4-BE49-F238E27FC236}">
                        <a16:creationId xmlns:a16="http://schemas.microsoft.com/office/drawing/2014/main" id="{D1A62CEA-85C8-4B4D-AFF4-67907C61A422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57923" y="3224443"/>
                    <a:ext cx="269626" cy="276999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 sz="1200" b="1" dirty="0">
                        <a:latin typeface="+mn-lt"/>
                      </a:rPr>
                      <a:t>2</a:t>
                    </a:r>
                  </a:p>
                </p:txBody>
              </p:sp>
              <p:sp>
                <p:nvSpPr>
                  <p:cNvPr id="373" name="Text Box 64">
                    <a:extLst>
                      <a:ext uri="{FF2B5EF4-FFF2-40B4-BE49-F238E27FC236}">
                        <a16:creationId xmlns:a16="http://schemas.microsoft.com/office/drawing/2014/main" id="{C809B796-FDDF-4331-9DE0-B67B37781165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56367" y="3466502"/>
                    <a:ext cx="203753" cy="239392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 sz="1400" b="1" dirty="0">
                        <a:latin typeface="+mn-lt"/>
                      </a:rPr>
                      <a:t>.</a:t>
                    </a:r>
                  </a:p>
                </p:txBody>
              </p:sp>
              <p:sp>
                <p:nvSpPr>
                  <p:cNvPr id="374" name="Text Box 65">
                    <a:extLst>
                      <a:ext uri="{FF2B5EF4-FFF2-40B4-BE49-F238E27FC236}">
                        <a16:creationId xmlns:a16="http://schemas.microsoft.com/office/drawing/2014/main" id="{F6C50F73-BE02-427A-9C81-4A79CB79ADFD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56367" y="3683028"/>
                    <a:ext cx="203753" cy="239392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 sz="1400" b="1" dirty="0">
                        <a:latin typeface="+mn-lt"/>
                      </a:rPr>
                      <a:t>.</a:t>
                    </a:r>
                  </a:p>
                </p:txBody>
              </p:sp>
              <p:sp>
                <p:nvSpPr>
                  <p:cNvPr id="375" name="Text Box 66">
                    <a:extLst>
                      <a:ext uri="{FF2B5EF4-FFF2-40B4-BE49-F238E27FC236}">
                        <a16:creationId xmlns:a16="http://schemas.microsoft.com/office/drawing/2014/main" id="{1C2842B0-1762-4BFB-8CEB-2C55C6B29D9F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56367" y="3899555"/>
                    <a:ext cx="203753" cy="239392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 sz="1400" b="1" dirty="0">
                        <a:latin typeface="+mn-lt"/>
                      </a:rPr>
                      <a:t>.</a:t>
                    </a:r>
                  </a:p>
                </p:txBody>
              </p:sp>
              <p:sp>
                <p:nvSpPr>
                  <p:cNvPr id="376" name="Text Box 67">
                    <a:extLst>
                      <a:ext uri="{FF2B5EF4-FFF2-40B4-BE49-F238E27FC236}">
                        <a16:creationId xmlns:a16="http://schemas.microsoft.com/office/drawing/2014/main" id="{86AB1390-7B7E-442F-A516-68A484788CF0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104250" y="4099468"/>
                    <a:ext cx="439544" cy="276999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 sz="1200" b="1" dirty="0">
                        <a:latin typeface="+mn-lt"/>
                      </a:rPr>
                      <a:t>254</a:t>
                    </a:r>
                  </a:p>
                </p:txBody>
              </p:sp>
              <p:sp>
                <p:nvSpPr>
                  <p:cNvPr id="377" name="Text Box 68">
                    <a:extLst>
                      <a:ext uri="{FF2B5EF4-FFF2-40B4-BE49-F238E27FC236}">
                        <a16:creationId xmlns:a16="http://schemas.microsoft.com/office/drawing/2014/main" id="{1618EBEC-D080-4FFC-8D33-478443DF9588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104250" y="4315994"/>
                    <a:ext cx="439544" cy="276999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 sz="1200" b="1" dirty="0">
                        <a:latin typeface="+mn-lt"/>
                      </a:rPr>
                      <a:t>255</a:t>
                    </a:r>
                  </a:p>
                </p:txBody>
              </p:sp>
              <p:sp>
                <p:nvSpPr>
                  <p:cNvPr id="378" name="Text Box 70">
                    <a:extLst>
                      <a:ext uri="{FF2B5EF4-FFF2-40B4-BE49-F238E27FC236}">
                        <a16:creationId xmlns:a16="http://schemas.microsoft.com/office/drawing/2014/main" id="{3326A1B9-8BE0-4023-B500-32526F96688D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447800" y="2536412"/>
                    <a:ext cx="304891" cy="307777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 sz="1400" b="1" dirty="0">
                        <a:latin typeface="+mn-lt"/>
                      </a:rPr>
                      <a:t>V</a:t>
                    </a:r>
                  </a:p>
                </p:txBody>
              </p:sp>
              <p:sp>
                <p:nvSpPr>
                  <p:cNvPr id="379" name="Text Box 71">
                    <a:extLst>
                      <a:ext uri="{FF2B5EF4-FFF2-40B4-BE49-F238E27FC236}">
                        <a16:creationId xmlns:a16="http://schemas.microsoft.com/office/drawing/2014/main" id="{F8316ED9-E2F1-48C9-88F4-C98EDEF07827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634704" y="2557453"/>
                    <a:ext cx="533401" cy="307777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US" sz="1400" b="1" dirty="0">
                        <a:latin typeface="+mn-lt"/>
                      </a:rPr>
                      <a:t>Tag</a:t>
                    </a:r>
                  </a:p>
                </p:txBody>
              </p:sp>
              <p:sp>
                <p:nvSpPr>
                  <p:cNvPr id="380" name="Text Box 75">
                    <a:extLst>
                      <a:ext uri="{FF2B5EF4-FFF2-40B4-BE49-F238E27FC236}">
                        <a16:creationId xmlns:a16="http://schemas.microsoft.com/office/drawing/2014/main" id="{539DEEA8-BFF7-4EB5-B00B-F2AA494C9571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124974" y="2561945"/>
                    <a:ext cx="572593" cy="307777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 sz="1400" b="1" dirty="0">
                        <a:latin typeface="+mn-lt"/>
                      </a:rPr>
                      <a:t>Data</a:t>
                    </a:r>
                  </a:p>
                </p:txBody>
              </p:sp>
            </p:grpSp>
            <p:grpSp>
              <p:nvGrpSpPr>
                <p:cNvPr id="238" name="Group 237">
                  <a:extLst>
                    <a:ext uri="{FF2B5EF4-FFF2-40B4-BE49-F238E27FC236}">
                      <a16:creationId xmlns:a16="http://schemas.microsoft.com/office/drawing/2014/main" id="{BF256F55-9C39-4857-B218-6055E15B2FAC}"/>
                    </a:ext>
                  </a:extLst>
                </p:cNvPr>
                <p:cNvGrpSpPr/>
                <p:nvPr/>
              </p:nvGrpSpPr>
              <p:grpSpPr>
                <a:xfrm>
                  <a:off x="2773880" y="2514600"/>
                  <a:ext cx="1594850" cy="2032289"/>
                  <a:chOff x="1109157" y="2557453"/>
                  <a:chExt cx="1594850" cy="2032289"/>
                </a:xfrm>
              </p:grpSpPr>
              <p:sp>
                <p:nvSpPr>
                  <p:cNvPr id="311" name="Rectangle 26">
                    <a:extLst>
                      <a:ext uri="{FF2B5EF4-FFF2-40B4-BE49-F238E27FC236}">
                        <a16:creationId xmlns:a16="http://schemas.microsoft.com/office/drawing/2014/main" id="{D2638D68-56FA-4854-9B37-4DF4F4D7ED5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131911" y="3249975"/>
                    <a:ext cx="572096" cy="216527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 sz="1400" b="1">
                      <a:latin typeface="+mn-lt"/>
                    </a:endParaRPr>
                  </a:p>
                </p:txBody>
              </p:sp>
              <p:sp>
                <p:nvSpPr>
                  <p:cNvPr id="312" name="Rectangle 24">
                    <a:extLst>
                      <a:ext uri="{FF2B5EF4-FFF2-40B4-BE49-F238E27FC236}">
                        <a16:creationId xmlns:a16="http://schemas.microsoft.com/office/drawing/2014/main" id="{1396624E-D5CF-4BBA-AAA6-6EE7EA2B230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690869" y="3249975"/>
                    <a:ext cx="442731" cy="216527"/>
                  </a:xfrm>
                  <a:prstGeom prst="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 sz="1400" b="1">
                      <a:latin typeface="+mn-lt"/>
                    </a:endParaRPr>
                  </a:p>
                </p:txBody>
              </p:sp>
              <p:sp>
                <p:nvSpPr>
                  <p:cNvPr id="313" name="Rectangle 12">
                    <a:extLst>
                      <a:ext uri="{FF2B5EF4-FFF2-40B4-BE49-F238E27FC236}">
                        <a16:creationId xmlns:a16="http://schemas.microsoft.com/office/drawing/2014/main" id="{D883332E-30F9-41C2-97EF-0DC4ED6B2A1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690869" y="2816922"/>
                    <a:ext cx="442731" cy="216527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 sz="1400" b="1">
                      <a:latin typeface="+mn-lt"/>
                    </a:endParaRPr>
                  </a:p>
                </p:txBody>
              </p:sp>
              <p:sp>
                <p:nvSpPr>
                  <p:cNvPr id="314" name="Rectangle 13">
                    <a:extLst>
                      <a:ext uri="{FF2B5EF4-FFF2-40B4-BE49-F238E27FC236}">
                        <a16:creationId xmlns:a16="http://schemas.microsoft.com/office/drawing/2014/main" id="{7E852C0C-891D-489F-AA67-E6AE4569411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492123" y="2816922"/>
                    <a:ext cx="198746" cy="216527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 sz="1400" b="1" dirty="0">
                      <a:latin typeface="+mn-lt"/>
                    </a:endParaRPr>
                  </a:p>
                </p:txBody>
              </p:sp>
              <p:sp>
                <p:nvSpPr>
                  <p:cNvPr id="315" name="Rectangle 14">
                    <a:extLst>
                      <a:ext uri="{FF2B5EF4-FFF2-40B4-BE49-F238E27FC236}">
                        <a16:creationId xmlns:a16="http://schemas.microsoft.com/office/drawing/2014/main" id="{F0013390-48B4-42E0-8ED0-480446278FF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131911" y="2816922"/>
                    <a:ext cx="572096" cy="216527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 sz="1400" b="1">
                      <a:latin typeface="+mn-lt"/>
                    </a:endParaRPr>
                  </a:p>
                </p:txBody>
              </p:sp>
              <p:sp>
                <p:nvSpPr>
                  <p:cNvPr id="316" name="Rectangle 18">
                    <a:extLst>
                      <a:ext uri="{FF2B5EF4-FFF2-40B4-BE49-F238E27FC236}">
                        <a16:creationId xmlns:a16="http://schemas.microsoft.com/office/drawing/2014/main" id="{8436A1EF-D9C2-46BA-969B-4B9667D7E06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690869" y="3033449"/>
                    <a:ext cx="442731" cy="216527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 sz="1400" b="1">
                      <a:latin typeface="+mn-lt"/>
                    </a:endParaRPr>
                  </a:p>
                </p:txBody>
              </p:sp>
              <p:sp>
                <p:nvSpPr>
                  <p:cNvPr id="317" name="Rectangle 19">
                    <a:extLst>
                      <a:ext uri="{FF2B5EF4-FFF2-40B4-BE49-F238E27FC236}">
                        <a16:creationId xmlns:a16="http://schemas.microsoft.com/office/drawing/2014/main" id="{C8AAC9DB-7F5C-4434-AE73-3BA7A02487F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492123" y="3033449"/>
                    <a:ext cx="198746" cy="216527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 sz="1400" b="1" dirty="0">
                      <a:latin typeface="+mn-lt"/>
                    </a:endParaRPr>
                  </a:p>
                </p:txBody>
              </p:sp>
              <p:sp>
                <p:nvSpPr>
                  <p:cNvPr id="318" name="Rectangle 20">
                    <a:extLst>
                      <a:ext uri="{FF2B5EF4-FFF2-40B4-BE49-F238E27FC236}">
                        <a16:creationId xmlns:a16="http://schemas.microsoft.com/office/drawing/2014/main" id="{50A943D1-7436-47A0-8F5B-1B05991A1E2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131911" y="3033449"/>
                    <a:ext cx="572096" cy="216527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 sz="1400" b="1">
                      <a:latin typeface="+mn-lt"/>
                    </a:endParaRPr>
                  </a:p>
                </p:txBody>
              </p:sp>
              <p:sp>
                <p:nvSpPr>
                  <p:cNvPr id="319" name="Rectangle 25">
                    <a:extLst>
                      <a:ext uri="{FF2B5EF4-FFF2-40B4-BE49-F238E27FC236}">
                        <a16:creationId xmlns:a16="http://schemas.microsoft.com/office/drawing/2014/main" id="{A7431C13-0EB9-450F-B8FC-A12649AEED8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492123" y="3249975"/>
                    <a:ext cx="198746" cy="216527"/>
                  </a:xfrm>
                  <a:prstGeom prst="rect">
                    <a:avLst/>
                  </a:prstGeom>
                  <a:solidFill>
                    <a:schemeClr val="bg2">
                      <a:lumMod val="75000"/>
                    </a:schemeClr>
                  </a:solidFill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 sz="1400" b="1" dirty="0">
                      <a:latin typeface="+mn-lt"/>
                    </a:endParaRPr>
                  </a:p>
                </p:txBody>
              </p:sp>
              <p:sp>
                <p:nvSpPr>
                  <p:cNvPr id="320" name="Rectangle 30">
                    <a:extLst>
                      <a:ext uri="{FF2B5EF4-FFF2-40B4-BE49-F238E27FC236}">
                        <a16:creationId xmlns:a16="http://schemas.microsoft.com/office/drawing/2014/main" id="{85069221-9682-4B0B-9A3A-47C1F38C7EF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690869" y="3466502"/>
                    <a:ext cx="442731" cy="216527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 sz="1400" b="1">
                      <a:latin typeface="+mn-lt"/>
                    </a:endParaRPr>
                  </a:p>
                </p:txBody>
              </p:sp>
              <p:sp>
                <p:nvSpPr>
                  <p:cNvPr id="321" name="Rectangle 31">
                    <a:extLst>
                      <a:ext uri="{FF2B5EF4-FFF2-40B4-BE49-F238E27FC236}">
                        <a16:creationId xmlns:a16="http://schemas.microsoft.com/office/drawing/2014/main" id="{30BAE784-2DC3-47B3-AC06-F7165E2FCD3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492123" y="3466502"/>
                    <a:ext cx="198746" cy="216527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 sz="1400" b="1" dirty="0">
                      <a:latin typeface="+mn-lt"/>
                    </a:endParaRPr>
                  </a:p>
                </p:txBody>
              </p:sp>
              <p:sp>
                <p:nvSpPr>
                  <p:cNvPr id="322" name="Rectangle 32">
                    <a:extLst>
                      <a:ext uri="{FF2B5EF4-FFF2-40B4-BE49-F238E27FC236}">
                        <a16:creationId xmlns:a16="http://schemas.microsoft.com/office/drawing/2014/main" id="{73A4ABAE-F9C1-4AD3-BC7B-2B3CE522607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131911" y="3466502"/>
                    <a:ext cx="572096" cy="216527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 sz="1400" b="1">
                      <a:latin typeface="+mn-lt"/>
                    </a:endParaRPr>
                  </a:p>
                </p:txBody>
              </p:sp>
              <p:sp>
                <p:nvSpPr>
                  <p:cNvPr id="323" name="Rectangle 36">
                    <a:extLst>
                      <a:ext uri="{FF2B5EF4-FFF2-40B4-BE49-F238E27FC236}">
                        <a16:creationId xmlns:a16="http://schemas.microsoft.com/office/drawing/2014/main" id="{15293985-FC16-4FA9-89F5-F30FB5B0E37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690869" y="3683028"/>
                    <a:ext cx="442731" cy="216527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 sz="1400" b="1">
                      <a:latin typeface="+mn-lt"/>
                    </a:endParaRPr>
                  </a:p>
                </p:txBody>
              </p:sp>
              <p:sp>
                <p:nvSpPr>
                  <p:cNvPr id="324" name="Rectangle 37">
                    <a:extLst>
                      <a:ext uri="{FF2B5EF4-FFF2-40B4-BE49-F238E27FC236}">
                        <a16:creationId xmlns:a16="http://schemas.microsoft.com/office/drawing/2014/main" id="{9EA9CB23-6634-4F31-B16E-3F2CE04B88C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492123" y="3683028"/>
                    <a:ext cx="198746" cy="216527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 sz="1400" b="1" dirty="0">
                      <a:latin typeface="+mn-lt"/>
                    </a:endParaRPr>
                  </a:p>
                </p:txBody>
              </p:sp>
              <p:sp>
                <p:nvSpPr>
                  <p:cNvPr id="325" name="Rectangle 38">
                    <a:extLst>
                      <a:ext uri="{FF2B5EF4-FFF2-40B4-BE49-F238E27FC236}">
                        <a16:creationId xmlns:a16="http://schemas.microsoft.com/office/drawing/2014/main" id="{8F14C37E-51C0-49BE-8F50-F0A70FB6745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131911" y="3683028"/>
                    <a:ext cx="572096" cy="216527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 sz="1400" b="1">
                      <a:latin typeface="+mn-lt"/>
                    </a:endParaRPr>
                  </a:p>
                </p:txBody>
              </p:sp>
              <p:sp>
                <p:nvSpPr>
                  <p:cNvPr id="326" name="Rectangle 42">
                    <a:extLst>
                      <a:ext uri="{FF2B5EF4-FFF2-40B4-BE49-F238E27FC236}">
                        <a16:creationId xmlns:a16="http://schemas.microsoft.com/office/drawing/2014/main" id="{F36B7BED-57EB-4C43-857E-A351F215A56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690869" y="3899555"/>
                    <a:ext cx="442731" cy="216527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 sz="1400" b="1">
                      <a:latin typeface="+mn-lt"/>
                    </a:endParaRPr>
                  </a:p>
                </p:txBody>
              </p:sp>
              <p:sp>
                <p:nvSpPr>
                  <p:cNvPr id="327" name="Rectangle 43">
                    <a:extLst>
                      <a:ext uri="{FF2B5EF4-FFF2-40B4-BE49-F238E27FC236}">
                        <a16:creationId xmlns:a16="http://schemas.microsoft.com/office/drawing/2014/main" id="{DF2652F6-6C92-44BB-9C4A-7DE43B87E80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492123" y="3899555"/>
                    <a:ext cx="198746" cy="216527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 sz="1400" b="1" dirty="0">
                      <a:latin typeface="+mn-lt"/>
                    </a:endParaRPr>
                  </a:p>
                </p:txBody>
              </p:sp>
              <p:sp>
                <p:nvSpPr>
                  <p:cNvPr id="328" name="Rectangle 44">
                    <a:extLst>
                      <a:ext uri="{FF2B5EF4-FFF2-40B4-BE49-F238E27FC236}">
                        <a16:creationId xmlns:a16="http://schemas.microsoft.com/office/drawing/2014/main" id="{729B990B-FFAE-42AD-AC9D-9AFC33E6CAD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131911" y="3899555"/>
                    <a:ext cx="572096" cy="216527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 sz="1400" b="1">
                      <a:latin typeface="+mn-lt"/>
                    </a:endParaRPr>
                  </a:p>
                </p:txBody>
              </p:sp>
              <p:sp>
                <p:nvSpPr>
                  <p:cNvPr id="329" name="Rectangle 48">
                    <a:extLst>
                      <a:ext uri="{FF2B5EF4-FFF2-40B4-BE49-F238E27FC236}">
                        <a16:creationId xmlns:a16="http://schemas.microsoft.com/office/drawing/2014/main" id="{397D8392-5961-4595-9368-DC85B6F865F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690869" y="4116082"/>
                    <a:ext cx="442731" cy="216527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 sz="1400" b="1">
                      <a:latin typeface="+mn-lt"/>
                    </a:endParaRPr>
                  </a:p>
                </p:txBody>
              </p:sp>
              <p:sp>
                <p:nvSpPr>
                  <p:cNvPr id="330" name="Rectangle 49">
                    <a:extLst>
                      <a:ext uri="{FF2B5EF4-FFF2-40B4-BE49-F238E27FC236}">
                        <a16:creationId xmlns:a16="http://schemas.microsoft.com/office/drawing/2014/main" id="{9049C0C9-1C45-4B80-B9B4-1CFFDD70249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492123" y="4116082"/>
                    <a:ext cx="198746" cy="216527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 sz="1400" b="1" dirty="0">
                      <a:latin typeface="+mn-lt"/>
                    </a:endParaRPr>
                  </a:p>
                </p:txBody>
              </p:sp>
              <p:sp>
                <p:nvSpPr>
                  <p:cNvPr id="331" name="Rectangle 50">
                    <a:extLst>
                      <a:ext uri="{FF2B5EF4-FFF2-40B4-BE49-F238E27FC236}">
                        <a16:creationId xmlns:a16="http://schemas.microsoft.com/office/drawing/2014/main" id="{F54B704D-069B-4B23-B24B-880257F9991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131911" y="4116082"/>
                    <a:ext cx="572096" cy="216527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 sz="1400" b="1">
                      <a:latin typeface="+mn-lt"/>
                    </a:endParaRPr>
                  </a:p>
                </p:txBody>
              </p:sp>
              <p:sp>
                <p:nvSpPr>
                  <p:cNvPr id="332" name="Rectangle 54">
                    <a:extLst>
                      <a:ext uri="{FF2B5EF4-FFF2-40B4-BE49-F238E27FC236}">
                        <a16:creationId xmlns:a16="http://schemas.microsoft.com/office/drawing/2014/main" id="{B71DE4E2-755D-41F5-825F-9C99838DD49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690869" y="4332608"/>
                    <a:ext cx="442731" cy="216527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 sz="1400" b="1">
                      <a:latin typeface="+mn-lt"/>
                    </a:endParaRPr>
                  </a:p>
                </p:txBody>
              </p:sp>
              <p:sp>
                <p:nvSpPr>
                  <p:cNvPr id="333" name="Rectangle 55">
                    <a:extLst>
                      <a:ext uri="{FF2B5EF4-FFF2-40B4-BE49-F238E27FC236}">
                        <a16:creationId xmlns:a16="http://schemas.microsoft.com/office/drawing/2014/main" id="{6CE193B5-B2C4-4CBC-8BD0-6E4BE9EDB80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492123" y="4332608"/>
                    <a:ext cx="198746" cy="216527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 sz="1400" b="1" dirty="0">
                      <a:latin typeface="+mn-lt"/>
                    </a:endParaRPr>
                  </a:p>
                </p:txBody>
              </p:sp>
              <p:sp>
                <p:nvSpPr>
                  <p:cNvPr id="334" name="Rectangle 56">
                    <a:extLst>
                      <a:ext uri="{FF2B5EF4-FFF2-40B4-BE49-F238E27FC236}">
                        <a16:creationId xmlns:a16="http://schemas.microsoft.com/office/drawing/2014/main" id="{55EBCD3E-D641-45D6-81F9-73899E1536A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131911" y="4332608"/>
                    <a:ext cx="572096" cy="216527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 sz="1400" b="1">
                      <a:latin typeface="+mn-lt"/>
                    </a:endParaRPr>
                  </a:p>
                </p:txBody>
              </p:sp>
              <p:sp>
                <p:nvSpPr>
                  <p:cNvPr id="335" name="Text Box 61">
                    <a:extLst>
                      <a:ext uri="{FF2B5EF4-FFF2-40B4-BE49-F238E27FC236}">
                        <a16:creationId xmlns:a16="http://schemas.microsoft.com/office/drawing/2014/main" id="{39C0CCB2-4FDA-42D8-9E3B-41C03CAD16FF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48086" y="2796707"/>
                    <a:ext cx="269626" cy="276999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 sz="1200" b="1" dirty="0">
                        <a:latin typeface="+mn-lt"/>
                      </a:rPr>
                      <a:t>0</a:t>
                    </a:r>
                  </a:p>
                </p:txBody>
              </p:sp>
              <p:sp>
                <p:nvSpPr>
                  <p:cNvPr id="336" name="Text Box 62">
                    <a:extLst>
                      <a:ext uri="{FF2B5EF4-FFF2-40B4-BE49-F238E27FC236}">
                        <a16:creationId xmlns:a16="http://schemas.microsoft.com/office/drawing/2014/main" id="{7FFEF7FE-9B63-4314-A9CC-FD3E4B95B401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48781" y="3013234"/>
                    <a:ext cx="269626" cy="276999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 sz="1200" b="1" dirty="0">
                        <a:latin typeface="+mn-lt"/>
                      </a:rPr>
                      <a:t>1</a:t>
                    </a:r>
                  </a:p>
                </p:txBody>
              </p:sp>
              <p:sp>
                <p:nvSpPr>
                  <p:cNvPr id="337" name="Text Box 63">
                    <a:extLst>
                      <a:ext uri="{FF2B5EF4-FFF2-40B4-BE49-F238E27FC236}">
                        <a16:creationId xmlns:a16="http://schemas.microsoft.com/office/drawing/2014/main" id="{910D1235-745C-4D80-8D75-50660604C348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52981" y="3225552"/>
                    <a:ext cx="269626" cy="276999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 sz="1200" b="1" dirty="0">
                        <a:latin typeface="+mn-lt"/>
                      </a:rPr>
                      <a:t>2</a:t>
                    </a:r>
                  </a:p>
                </p:txBody>
              </p:sp>
              <p:sp>
                <p:nvSpPr>
                  <p:cNvPr id="338" name="Text Box 64">
                    <a:extLst>
                      <a:ext uri="{FF2B5EF4-FFF2-40B4-BE49-F238E27FC236}">
                        <a16:creationId xmlns:a16="http://schemas.microsoft.com/office/drawing/2014/main" id="{24648D93-DF48-43E5-8B5E-437D4E4C353F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56367" y="3466502"/>
                    <a:ext cx="203753" cy="239392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 sz="1400" b="1" dirty="0">
                        <a:latin typeface="+mn-lt"/>
                      </a:rPr>
                      <a:t>.</a:t>
                    </a:r>
                  </a:p>
                </p:txBody>
              </p:sp>
              <p:sp>
                <p:nvSpPr>
                  <p:cNvPr id="339" name="Text Box 65">
                    <a:extLst>
                      <a:ext uri="{FF2B5EF4-FFF2-40B4-BE49-F238E27FC236}">
                        <a16:creationId xmlns:a16="http://schemas.microsoft.com/office/drawing/2014/main" id="{26BD592C-A352-4E2C-85EF-770C71E60631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56367" y="3683028"/>
                    <a:ext cx="203753" cy="239392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 sz="1400" b="1" dirty="0">
                        <a:latin typeface="+mn-lt"/>
                      </a:rPr>
                      <a:t>.</a:t>
                    </a:r>
                  </a:p>
                </p:txBody>
              </p:sp>
              <p:sp>
                <p:nvSpPr>
                  <p:cNvPr id="340" name="Text Box 66">
                    <a:extLst>
                      <a:ext uri="{FF2B5EF4-FFF2-40B4-BE49-F238E27FC236}">
                        <a16:creationId xmlns:a16="http://schemas.microsoft.com/office/drawing/2014/main" id="{2C197B96-32E4-4A03-A146-513D057D45B0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56367" y="3899555"/>
                    <a:ext cx="203753" cy="239392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 sz="1400" b="1" dirty="0">
                        <a:latin typeface="+mn-lt"/>
                      </a:rPr>
                      <a:t>.</a:t>
                    </a:r>
                  </a:p>
                </p:txBody>
              </p:sp>
              <p:sp>
                <p:nvSpPr>
                  <p:cNvPr id="341" name="Text Box 67">
                    <a:extLst>
                      <a:ext uri="{FF2B5EF4-FFF2-40B4-BE49-F238E27FC236}">
                        <a16:creationId xmlns:a16="http://schemas.microsoft.com/office/drawing/2014/main" id="{805C5119-7595-40C7-AEB2-8A22D04D8DA1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109157" y="4096217"/>
                    <a:ext cx="439544" cy="276999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 sz="1200" b="1" dirty="0">
                        <a:latin typeface="+mn-lt"/>
                      </a:rPr>
                      <a:t>254</a:t>
                    </a:r>
                  </a:p>
                </p:txBody>
              </p:sp>
              <p:sp>
                <p:nvSpPr>
                  <p:cNvPr id="342" name="Text Box 68">
                    <a:extLst>
                      <a:ext uri="{FF2B5EF4-FFF2-40B4-BE49-F238E27FC236}">
                        <a16:creationId xmlns:a16="http://schemas.microsoft.com/office/drawing/2014/main" id="{3A7F71FD-ED59-46D2-8940-925EFFFF3E8B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109157" y="4312743"/>
                    <a:ext cx="439544" cy="276999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 sz="1200" b="1" dirty="0">
                        <a:latin typeface="+mn-lt"/>
                      </a:rPr>
                      <a:t>255</a:t>
                    </a:r>
                  </a:p>
                </p:txBody>
              </p:sp>
              <p:sp>
                <p:nvSpPr>
                  <p:cNvPr id="343" name="Text Box 70">
                    <a:extLst>
                      <a:ext uri="{FF2B5EF4-FFF2-40B4-BE49-F238E27FC236}">
                        <a16:creationId xmlns:a16="http://schemas.microsoft.com/office/drawing/2014/main" id="{E3F37004-D2A1-46BF-B18F-944837F51AB1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447800" y="2557453"/>
                    <a:ext cx="304891" cy="307777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 sz="1400" b="1" dirty="0">
                        <a:latin typeface="+mn-lt"/>
                      </a:rPr>
                      <a:t>V</a:t>
                    </a:r>
                  </a:p>
                </p:txBody>
              </p:sp>
              <p:sp>
                <p:nvSpPr>
                  <p:cNvPr id="344" name="Text Box 71">
                    <a:extLst>
                      <a:ext uri="{FF2B5EF4-FFF2-40B4-BE49-F238E27FC236}">
                        <a16:creationId xmlns:a16="http://schemas.microsoft.com/office/drawing/2014/main" id="{415A05CC-4A81-47A9-9DE4-29100F65D01A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634704" y="2557453"/>
                    <a:ext cx="533401" cy="307777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US" sz="1400" b="1" dirty="0">
                        <a:latin typeface="+mn-lt"/>
                      </a:rPr>
                      <a:t>Tag</a:t>
                    </a:r>
                  </a:p>
                </p:txBody>
              </p:sp>
              <p:sp>
                <p:nvSpPr>
                  <p:cNvPr id="345" name="Text Box 75">
                    <a:extLst>
                      <a:ext uri="{FF2B5EF4-FFF2-40B4-BE49-F238E27FC236}">
                        <a16:creationId xmlns:a16="http://schemas.microsoft.com/office/drawing/2014/main" id="{8AA6CC4B-0F6A-4015-B1BF-BD8AA1208B49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124974" y="2561945"/>
                    <a:ext cx="572593" cy="307777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 sz="1400" b="1" dirty="0">
                        <a:latin typeface="+mn-lt"/>
                      </a:rPr>
                      <a:t>Data</a:t>
                    </a:r>
                  </a:p>
                </p:txBody>
              </p:sp>
            </p:grpSp>
            <p:grpSp>
              <p:nvGrpSpPr>
                <p:cNvPr id="239" name="Group 238">
                  <a:extLst>
                    <a:ext uri="{FF2B5EF4-FFF2-40B4-BE49-F238E27FC236}">
                      <a16:creationId xmlns:a16="http://schemas.microsoft.com/office/drawing/2014/main" id="{14337452-71E9-432F-B9AC-6A1889C7ED39}"/>
                    </a:ext>
                  </a:extLst>
                </p:cNvPr>
                <p:cNvGrpSpPr/>
                <p:nvPr/>
              </p:nvGrpSpPr>
              <p:grpSpPr>
                <a:xfrm>
                  <a:off x="4454056" y="2489068"/>
                  <a:ext cx="1591074" cy="2046668"/>
                  <a:chOff x="1112933" y="2557453"/>
                  <a:chExt cx="1591074" cy="2046668"/>
                </a:xfrm>
              </p:grpSpPr>
              <p:sp>
                <p:nvSpPr>
                  <p:cNvPr id="276" name="Rectangle 26">
                    <a:extLst>
                      <a:ext uri="{FF2B5EF4-FFF2-40B4-BE49-F238E27FC236}">
                        <a16:creationId xmlns:a16="http://schemas.microsoft.com/office/drawing/2014/main" id="{87F8064C-0975-4EE5-BAE9-520C7022DC5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131911" y="3249975"/>
                    <a:ext cx="572096" cy="216527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 sz="1400" b="1">
                      <a:latin typeface="+mn-lt"/>
                    </a:endParaRPr>
                  </a:p>
                </p:txBody>
              </p:sp>
              <p:sp>
                <p:nvSpPr>
                  <p:cNvPr id="277" name="Rectangle 24">
                    <a:extLst>
                      <a:ext uri="{FF2B5EF4-FFF2-40B4-BE49-F238E27FC236}">
                        <a16:creationId xmlns:a16="http://schemas.microsoft.com/office/drawing/2014/main" id="{2A558020-1B3D-4E79-9260-E7C6A5EF3F7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690869" y="3249975"/>
                    <a:ext cx="442731" cy="216527"/>
                  </a:xfrm>
                  <a:prstGeom prst="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 sz="1400" b="1">
                      <a:latin typeface="+mn-lt"/>
                    </a:endParaRPr>
                  </a:p>
                </p:txBody>
              </p:sp>
              <p:sp>
                <p:nvSpPr>
                  <p:cNvPr id="278" name="Rectangle 12">
                    <a:extLst>
                      <a:ext uri="{FF2B5EF4-FFF2-40B4-BE49-F238E27FC236}">
                        <a16:creationId xmlns:a16="http://schemas.microsoft.com/office/drawing/2014/main" id="{2D8AA869-883B-4CDB-8858-F2467D63EE3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690869" y="2816922"/>
                    <a:ext cx="442731" cy="216527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 sz="1400" b="1">
                      <a:latin typeface="+mn-lt"/>
                    </a:endParaRPr>
                  </a:p>
                </p:txBody>
              </p:sp>
              <p:sp>
                <p:nvSpPr>
                  <p:cNvPr id="279" name="Rectangle 13">
                    <a:extLst>
                      <a:ext uri="{FF2B5EF4-FFF2-40B4-BE49-F238E27FC236}">
                        <a16:creationId xmlns:a16="http://schemas.microsoft.com/office/drawing/2014/main" id="{DB52E81C-66D2-4B34-9F7D-5234FD5ADFE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492123" y="2816922"/>
                    <a:ext cx="198746" cy="216527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 sz="1400" b="1" dirty="0">
                      <a:latin typeface="+mn-lt"/>
                    </a:endParaRPr>
                  </a:p>
                </p:txBody>
              </p:sp>
              <p:sp>
                <p:nvSpPr>
                  <p:cNvPr id="280" name="Rectangle 14">
                    <a:extLst>
                      <a:ext uri="{FF2B5EF4-FFF2-40B4-BE49-F238E27FC236}">
                        <a16:creationId xmlns:a16="http://schemas.microsoft.com/office/drawing/2014/main" id="{6C337814-52F3-42F4-930F-1A5428FDE75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131911" y="2816922"/>
                    <a:ext cx="572096" cy="216527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 sz="1400" b="1">
                      <a:latin typeface="+mn-lt"/>
                    </a:endParaRPr>
                  </a:p>
                </p:txBody>
              </p:sp>
              <p:sp>
                <p:nvSpPr>
                  <p:cNvPr id="281" name="Rectangle 18">
                    <a:extLst>
                      <a:ext uri="{FF2B5EF4-FFF2-40B4-BE49-F238E27FC236}">
                        <a16:creationId xmlns:a16="http://schemas.microsoft.com/office/drawing/2014/main" id="{67CFE990-E336-4014-A5C6-801AA0825CB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690869" y="3033449"/>
                    <a:ext cx="442731" cy="216527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 sz="1400" b="1">
                      <a:latin typeface="+mn-lt"/>
                    </a:endParaRPr>
                  </a:p>
                </p:txBody>
              </p:sp>
              <p:sp>
                <p:nvSpPr>
                  <p:cNvPr id="282" name="Rectangle 19">
                    <a:extLst>
                      <a:ext uri="{FF2B5EF4-FFF2-40B4-BE49-F238E27FC236}">
                        <a16:creationId xmlns:a16="http://schemas.microsoft.com/office/drawing/2014/main" id="{72C53C86-6B74-4210-B525-16723DD7955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492123" y="3033449"/>
                    <a:ext cx="198746" cy="216527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 sz="1400" b="1" dirty="0">
                      <a:latin typeface="+mn-lt"/>
                    </a:endParaRPr>
                  </a:p>
                </p:txBody>
              </p:sp>
              <p:sp>
                <p:nvSpPr>
                  <p:cNvPr id="283" name="Rectangle 20">
                    <a:extLst>
                      <a:ext uri="{FF2B5EF4-FFF2-40B4-BE49-F238E27FC236}">
                        <a16:creationId xmlns:a16="http://schemas.microsoft.com/office/drawing/2014/main" id="{F526E0CE-EBA4-4E3B-B7F9-F909228D026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131911" y="3033449"/>
                    <a:ext cx="572096" cy="216527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 sz="1400" b="1">
                      <a:latin typeface="+mn-lt"/>
                    </a:endParaRPr>
                  </a:p>
                </p:txBody>
              </p:sp>
              <p:sp>
                <p:nvSpPr>
                  <p:cNvPr id="284" name="Rectangle 25">
                    <a:extLst>
                      <a:ext uri="{FF2B5EF4-FFF2-40B4-BE49-F238E27FC236}">
                        <a16:creationId xmlns:a16="http://schemas.microsoft.com/office/drawing/2014/main" id="{7CDDB128-944A-470E-B8AE-06BDBD8B1F3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492123" y="3249975"/>
                    <a:ext cx="198746" cy="216527"/>
                  </a:xfrm>
                  <a:prstGeom prst="rect">
                    <a:avLst/>
                  </a:prstGeom>
                  <a:solidFill>
                    <a:schemeClr val="bg2">
                      <a:lumMod val="75000"/>
                    </a:schemeClr>
                  </a:solidFill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 sz="1400" b="1" dirty="0">
                      <a:latin typeface="+mn-lt"/>
                    </a:endParaRPr>
                  </a:p>
                </p:txBody>
              </p:sp>
              <p:sp>
                <p:nvSpPr>
                  <p:cNvPr id="285" name="Rectangle 30">
                    <a:extLst>
                      <a:ext uri="{FF2B5EF4-FFF2-40B4-BE49-F238E27FC236}">
                        <a16:creationId xmlns:a16="http://schemas.microsoft.com/office/drawing/2014/main" id="{AA1970A2-20F8-4EA9-8AC8-83E6CBFE392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690869" y="3466502"/>
                    <a:ext cx="442731" cy="216527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 sz="1400" b="1">
                      <a:latin typeface="+mn-lt"/>
                    </a:endParaRPr>
                  </a:p>
                </p:txBody>
              </p:sp>
              <p:sp>
                <p:nvSpPr>
                  <p:cNvPr id="286" name="Rectangle 31">
                    <a:extLst>
                      <a:ext uri="{FF2B5EF4-FFF2-40B4-BE49-F238E27FC236}">
                        <a16:creationId xmlns:a16="http://schemas.microsoft.com/office/drawing/2014/main" id="{07528131-AEFE-4D29-9A66-8D85100E15C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492123" y="3466502"/>
                    <a:ext cx="198746" cy="216527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 sz="1400" b="1" dirty="0">
                      <a:latin typeface="+mn-lt"/>
                    </a:endParaRPr>
                  </a:p>
                </p:txBody>
              </p:sp>
              <p:sp>
                <p:nvSpPr>
                  <p:cNvPr id="287" name="Rectangle 32">
                    <a:extLst>
                      <a:ext uri="{FF2B5EF4-FFF2-40B4-BE49-F238E27FC236}">
                        <a16:creationId xmlns:a16="http://schemas.microsoft.com/office/drawing/2014/main" id="{9B7B1E01-B166-4867-B109-72BDD4899DE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131911" y="3466502"/>
                    <a:ext cx="572096" cy="216527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 sz="1400" b="1">
                      <a:latin typeface="+mn-lt"/>
                    </a:endParaRPr>
                  </a:p>
                </p:txBody>
              </p:sp>
              <p:sp>
                <p:nvSpPr>
                  <p:cNvPr id="288" name="Rectangle 36">
                    <a:extLst>
                      <a:ext uri="{FF2B5EF4-FFF2-40B4-BE49-F238E27FC236}">
                        <a16:creationId xmlns:a16="http://schemas.microsoft.com/office/drawing/2014/main" id="{2E86643A-7015-433E-A374-9DF14B0A402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690869" y="3683028"/>
                    <a:ext cx="442731" cy="216527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 sz="1400" b="1">
                      <a:latin typeface="+mn-lt"/>
                    </a:endParaRPr>
                  </a:p>
                </p:txBody>
              </p:sp>
              <p:sp>
                <p:nvSpPr>
                  <p:cNvPr id="289" name="Rectangle 37">
                    <a:extLst>
                      <a:ext uri="{FF2B5EF4-FFF2-40B4-BE49-F238E27FC236}">
                        <a16:creationId xmlns:a16="http://schemas.microsoft.com/office/drawing/2014/main" id="{039B6C66-5354-40FE-9EA4-13EECA34FA9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492123" y="3683028"/>
                    <a:ext cx="198746" cy="216527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 sz="1400" b="1" dirty="0">
                      <a:latin typeface="+mn-lt"/>
                    </a:endParaRPr>
                  </a:p>
                </p:txBody>
              </p:sp>
              <p:sp>
                <p:nvSpPr>
                  <p:cNvPr id="290" name="Rectangle 38">
                    <a:extLst>
                      <a:ext uri="{FF2B5EF4-FFF2-40B4-BE49-F238E27FC236}">
                        <a16:creationId xmlns:a16="http://schemas.microsoft.com/office/drawing/2014/main" id="{3E39F6A0-560C-4917-8023-12F930FCDDD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131911" y="3683028"/>
                    <a:ext cx="572096" cy="216527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 sz="1400" b="1">
                      <a:latin typeface="+mn-lt"/>
                    </a:endParaRPr>
                  </a:p>
                </p:txBody>
              </p:sp>
              <p:sp>
                <p:nvSpPr>
                  <p:cNvPr id="291" name="Rectangle 42">
                    <a:extLst>
                      <a:ext uri="{FF2B5EF4-FFF2-40B4-BE49-F238E27FC236}">
                        <a16:creationId xmlns:a16="http://schemas.microsoft.com/office/drawing/2014/main" id="{09159035-50A6-437C-A763-C622D2BEF86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690869" y="3899555"/>
                    <a:ext cx="442731" cy="216527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 sz="1400" b="1">
                      <a:latin typeface="+mn-lt"/>
                    </a:endParaRPr>
                  </a:p>
                </p:txBody>
              </p:sp>
              <p:sp>
                <p:nvSpPr>
                  <p:cNvPr id="292" name="Rectangle 43">
                    <a:extLst>
                      <a:ext uri="{FF2B5EF4-FFF2-40B4-BE49-F238E27FC236}">
                        <a16:creationId xmlns:a16="http://schemas.microsoft.com/office/drawing/2014/main" id="{4341A87D-552F-4022-9E81-5BCEF0A9486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492123" y="3899555"/>
                    <a:ext cx="198746" cy="216527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 sz="1400" b="1" dirty="0">
                      <a:latin typeface="+mn-lt"/>
                    </a:endParaRPr>
                  </a:p>
                </p:txBody>
              </p:sp>
              <p:sp>
                <p:nvSpPr>
                  <p:cNvPr id="293" name="Rectangle 44">
                    <a:extLst>
                      <a:ext uri="{FF2B5EF4-FFF2-40B4-BE49-F238E27FC236}">
                        <a16:creationId xmlns:a16="http://schemas.microsoft.com/office/drawing/2014/main" id="{4C2555D9-62EF-47D6-88F3-2FAFB29097D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131911" y="3899555"/>
                    <a:ext cx="572096" cy="216527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 sz="1400" b="1">
                      <a:latin typeface="+mn-lt"/>
                    </a:endParaRPr>
                  </a:p>
                </p:txBody>
              </p:sp>
              <p:sp>
                <p:nvSpPr>
                  <p:cNvPr id="294" name="Rectangle 48">
                    <a:extLst>
                      <a:ext uri="{FF2B5EF4-FFF2-40B4-BE49-F238E27FC236}">
                        <a16:creationId xmlns:a16="http://schemas.microsoft.com/office/drawing/2014/main" id="{52BB6ED7-CE59-4B4C-BF1D-071E3A23C26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690869" y="4116082"/>
                    <a:ext cx="442731" cy="216527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 sz="1400" b="1">
                      <a:latin typeface="+mn-lt"/>
                    </a:endParaRPr>
                  </a:p>
                </p:txBody>
              </p:sp>
              <p:sp>
                <p:nvSpPr>
                  <p:cNvPr id="295" name="Rectangle 49">
                    <a:extLst>
                      <a:ext uri="{FF2B5EF4-FFF2-40B4-BE49-F238E27FC236}">
                        <a16:creationId xmlns:a16="http://schemas.microsoft.com/office/drawing/2014/main" id="{DA779DA0-5D3C-4780-A7A9-99059895A17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492123" y="4116082"/>
                    <a:ext cx="198746" cy="216527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 sz="1400" b="1" dirty="0">
                      <a:latin typeface="+mn-lt"/>
                    </a:endParaRPr>
                  </a:p>
                </p:txBody>
              </p:sp>
              <p:sp>
                <p:nvSpPr>
                  <p:cNvPr id="296" name="Rectangle 50">
                    <a:extLst>
                      <a:ext uri="{FF2B5EF4-FFF2-40B4-BE49-F238E27FC236}">
                        <a16:creationId xmlns:a16="http://schemas.microsoft.com/office/drawing/2014/main" id="{CC236519-A84E-4402-9F23-C0AE0C60473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131911" y="4116082"/>
                    <a:ext cx="572096" cy="216527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 sz="1400" b="1">
                      <a:latin typeface="+mn-lt"/>
                    </a:endParaRPr>
                  </a:p>
                </p:txBody>
              </p:sp>
              <p:sp>
                <p:nvSpPr>
                  <p:cNvPr id="297" name="Rectangle 54">
                    <a:extLst>
                      <a:ext uri="{FF2B5EF4-FFF2-40B4-BE49-F238E27FC236}">
                        <a16:creationId xmlns:a16="http://schemas.microsoft.com/office/drawing/2014/main" id="{F1956372-6DB7-4070-AE71-0579FB821C9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690869" y="4332608"/>
                    <a:ext cx="442731" cy="216527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 sz="1400" b="1">
                      <a:latin typeface="+mn-lt"/>
                    </a:endParaRPr>
                  </a:p>
                </p:txBody>
              </p:sp>
              <p:sp>
                <p:nvSpPr>
                  <p:cNvPr id="298" name="Rectangle 55">
                    <a:extLst>
                      <a:ext uri="{FF2B5EF4-FFF2-40B4-BE49-F238E27FC236}">
                        <a16:creationId xmlns:a16="http://schemas.microsoft.com/office/drawing/2014/main" id="{4442BC6C-A252-467F-BECB-DF3EED3E350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492123" y="4332608"/>
                    <a:ext cx="198746" cy="216527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 sz="1400" b="1" dirty="0">
                      <a:latin typeface="+mn-lt"/>
                    </a:endParaRPr>
                  </a:p>
                </p:txBody>
              </p:sp>
              <p:sp>
                <p:nvSpPr>
                  <p:cNvPr id="299" name="Rectangle 56">
                    <a:extLst>
                      <a:ext uri="{FF2B5EF4-FFF2-40B4-BE49-F238E27FC236}">
                        <a16:creationId xmlns:a16="http://schemas.microsoft.com/office/drawing/2014/main" id="{30BC061E-1877-46FB-A3DA-59711C4DA07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131911" y="4332608"/>
                    <a:ext cx="572096" cy="216527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 sz="1400" b="1">
                      <a:latin typeface="+mn-lt"/>
                    </a:endParaRPr>
                  </a:p>
                </p:txBody>
              </p:sp>
              <p:sp>
                <p:nvSpPr>
                  <p:cNvPr id="300" name="Text Box 61">
                    <a:extLst>
                      <a:ext uri="{FF2B5EF4-FFF2-40B4-BE49-F238E27FC236}">
                        <a16:creationId xmlns:a16="http://schemas.microsoft.com/office/drawing/2014/main" id="{FAC8B78D-B4B0-4D1C-A22B-FA8C0ED95415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63859" y="2797263"/>
                    <a:ext cx="269625" cy="276999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 sz="1200" b="1" dirty="0">
                        <a:latin typeface="+mn-lt"/>
                      </a:rPr>
                      <a:t>0</a:t>
                    </a:r>
                  </a:p>
                </p:txBody>
              </p:sp>
              <p:sp>
                <p:nvSpPr>
                  <p:cNvPr id="301" name="Text Box 62">
                    <a:extLst>
                      <a:ext uri="{FF2B5EF4-FFF2-40B4-BE49-F238E27FC236}">
                        <a16:creationId xmlns:a16="http://schemas.microsoft.com/office/drawing/2014/main" id="{67B75F38-1D99-4051-902C-BD715EB4D5C7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55257" y="3014298"/>
                    <a:ext cx="269626" cy="276999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 sz="1200" b="1" dirty="0">
                        <a:latin typeface="+mn-lt"/>
                      </a:rPr>
                      <a:t>1</a:t>
                    </a:r>
                  </a:p>
                </p:txBody>
              </p:sp>
              <p:sp>
                <p:nvSpPr>
                  <p:cNvPr id="302" name="Text Box 63">
                    <a:extLst>
                      <a:ext uri="{FF2B5EF4-FFF2-40B4-BE49-F238E27FC236}">
                        <a16:creationId xmlns:a16="http://schemas.microsoft.com/office/drawing/2014/main" id="{B22F62CC-D94F-4F8E-A317-B21A3DCA1875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63524" y="3230824"/>
                    <a:ext cx="269626" cy="276999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 sz="1200" b="1" dirty="0">
                        <a:latin typeface="+mn-lt"/>
                      </a:rPr>
                      <a:t>2</a:t>
                    </a:r>
                  </a:p>
                </p:txBody>
              </p:sp>
              <p:sp>
                <p:nvSpPr>
                  <p:cNvPr id="303" name="Text Box 64">
                    <a:extLst>
                      <a:ext uri="{FF2B5EF4-FFF2-40B4-BE49-F238E27FC236}">
                        <a16:creationId xmlns:a16="http://schemas.microsoft.com/office/drawing/2014/main" id="{C82C5DF6-B3EE-4213-8B71-BDE239AC7F4F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56367" y="3466502"/>
                    <a:ext cx="203753" cy="239392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 sz="1400" b="1" dirty="0">
                        <a:latin typeface="+mn-lt"/>
                      </a:rPr>
                      <a:t>.</a:t>
                    </a:r>
                  </a:p>
                </p:txBody>
              </p:sp>
              <p:sp>
                <p:nvSpPr>
                  <p:cNvPr id="304" name="Text Box 65">
                    <a:extLst>
                      <a:ext uri="{FF2B5EF4-FFF2-40B4-BE49-F238E27FC236}">
                        <a16:creationId xmlns:a16="http://schemas.microsoft.com/office/drawing/2014/main" id="{8C46730A-0D22-47E2-9939-53881A68BABE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56367" y="3683028"/>
                    <a:ext cx="203753" cy="239392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 sz="1400" b="1" dirty="0">
                        <a:latin typeface="+mn-lt"/>
                      </a:rPr>
                      <a:t>.</a:t>
                    </a:r>
                  </a:p>
                </p:txBody>
              </p:sp>
              <p:sp>
                <p:nvSpPr>
                  <p:cNvPr id="305" name="Text Box 66">
                    <a:extLst>
                      <a:ext uri="{FF2B5EF4-FFF2-40B4-BE49-F238E27FC236}">
                        <a16:creationId xmlns:a16="http://schemas.microsoft.com/office/drawing/2014/main" id="{C0B1E8D2-62BE-4448-B87B-EA2B2ED9D9F7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56367" y="3899555"/>
                    <a:ext cx="203753" cy="239392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 sz="1400" b="1" dirty="0">
                        <a:latin typeface="+mn-lt"/>
                      </a:rPr>
                      <a:t>.</a:t>
                    </a:r>
                  </a:p>
                </p:txBody>
              </p:sp>
              <p:sp>
                <p:nvSpPr>
                  <p:cNvPr id="306" name="Text Box 67">
                    <a:extLst>
                      <a:ext uri="{FF2B5EF4-FFF2-40B4-BE49-F238E27FC236}">
                        <a16:creationId xmlns:a16="http://schemas.microsoft.com/office/drawing/2014/main" id="{4269C206-F120-4BAE-B409-26E016295112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112933" y="4110596"/>
                    <a:ext cx="439544" cy="276999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 sz="1200" b="1" dirty="0">
                        <a:latin typeface="+mn-lt"/>
                      </a:rPr>
                      <a:t>254</a:t>
                    </a:r>
                  </a:p>
                </p:txBody>
              </p:sp>
              <p:sp>
                <p:nvSpPr>
                  <p:cNvPr id="307" name="Text Box 68">
                    <a:extLst>
                      <a:ext uri="{FF2B5EF4-FFF2-40B4-BE49-F238E27FC236}">
                        <a16:creationId xmlns:a16="http://schemas.microsoft.com/office/drawing/2014/main" id="{5F0BD982-C064-49EA-9FD2-4CD9B1CC1022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112933" y="4327122"/>
                    <a:ext cx="439544" cy="276999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 sz="1200" b="1" dirty="0">
                        <a:latin typeface="+mn-lt"/>
                      </a:rPr>
                      <a:t>255</a:t>
                    </a:r>
                  </a:p>
                </p:txBody>
              </p:sp>
              <p:sp>
                <p:nvSpPr>
                  <p:cNvPr id="308" name="Text Box 70">
                    <a:extLst>
                      <a:ext uri="{FF2B5EF4-FFF2-40B4-BE49-F238E27FC236}">
                        <a16:creationId xmlns:a16="http://schemas.microsoft.com/office/drawing/2014/main" id="{185ECC60-C6AC-4773-89C6-F8650E3B7407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447800" y="2557453"/>
                    <a:ext cx="304891" cy="307777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 sz="1400" b="1" dirty="0">
                        <a:latin typeface="+mn-lt"/>
                      </a:rPr>
                      <a:t>V</a:t>
                    </a:r>
                  </a:p>
                </p:txBody>
              </p:sp>
              <p:sp>
                <p:nvSpPr>
                  <p:cNvPr id="309" name="Text Box 71">
                    <a:extLst>
                      <a:ext uri="{FF2B5EF4-FFF2-40B4-BE49-F238E27FC236}">
                        <a16:creationId xmlns:a16="http://schemas.microsoft.com/office/drawing/2014/main" id="{7C476F7E-C80A-4777-9197-5902D9A509D1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634704" y="2557453"/>
                    <a:ext cx="533401" cy="307777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US" sz="1400" b="1" dirty="0">
                        <a:latin typeface="+mn-lt"/>
                      </a:rPr>
                      <a:t>Tag</a:t>
                    </a:r>
                  </a:p>
                </p:txBody>
              </p:sp>
              <p:sp>
                <p:nvSpPr>
                  <p:cNvPr id="310" name="Text Box 75">
                    <a:extLst>
                      <a:ext uri="{FF2B5EF4-FFF2-40B4-BE49-F238E27FC236}">
                        <a16:creationId xmlns:a16="http://schemas.microsoft.com/office/drawing/2014/main" id="{F6DFF344-6B2D-48EB-A621-CDE71836D20A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124974" y="2561945"/>
                    <a:ext cx="572593" cy="307777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 sz="1400" b="1" dirty="0">
                        <a:latin typeface="+mn-lt"/>
                      </a:rPr>
                      <a:t>Data</a:t>
                    </a:r>
                  </a:p>
                </p:txBody>
              </p:sp>
            </p:grpSp>
            <p:grpSp>
              <p:nvGrpSpPr>
                <p:cNvPr id="240" name="Group 239">
                  <a:extLst>
                    <a:ext uri="{FF2B5EF4-FFF2-40B4-BE49-F238E27FC236}">
                      <a16:creationId xmlns:a16="http://schemas.microsoft.com/office/drawing/2014/main" id="{6CFAC9F4-D915-4A32-86F4-75EBCB491192}"/>
                    </a:ext>
                  </a:extLst>
                </p:cNvPr>
                <p:cNvGrpSpPr/>
                <p:nvPr/>
              </p:nvGrpSpPr>
              <p:grpSpPr>
                <a:xfrm>
                  <a:off x="6091248" y="2489068"/>
                  <a:ext cx="1604952" cy="2055144"/>
                  <a:chOff x="1099055" y="2557453"/>
                  <a:chExt cx="1604952" cy="2055144"/>
                </a:xfrm>
              </p:grpSpPr>
              <p:sp>
                <p:nvSpPr>
                  <p:cNvPr id="241" name="Rectangle 26">
                    <a:extLst>
                      <a:ext uri="{FF2B5EF4-FFF2-40B4-BE49-F238E27FC236}">
                        <a16:creationId xmlns:a16="http://schemas.microsoft.com/office/drawing/2014/main" id="{8971E845-3FEA-4B18-90AE-63120B26CFC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131911" y="3249975"/>
                    <a:ext cx="572096" cy="216527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 sz="1400" b="1">
                      <a:latin typeface="+mn-lt"/>
                    </a:endParaRPr>
                  </a:p>
                </p:txBody>
              </p:sp>
              <p:sp>
                <p:nvSpPr>
                  <p:cNvPr id="242" name="Rectangle 24">
                    <a:extLst>
                      <a:ext uri="{FF2B5EF4-FFF2-40B4-BE49-F238E27FC236}">
                        <a16:creationId xmlns:a16="http://schemas.microsoft.com/office/drawing/2014/main" id="{05687128-280A-4365-B90B-4530E2568DE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690869" y="3249975"/>
                    <a:ext cx="442731" cy="216527"/>
                  </a:xfrm>
                  <a:prstGeom prst="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 sz="1400" b="1">
                      <a:latin typeface="+mn-lt"/>
                    </a:endParaRPr>
                  </a:p>
                </p:txBody>
              </p:sp>
              <p:sp>
                <p:nvSpPr>
                  <p:cNvPr id="243" name="Rectangle 12">
                    <a:extLst>
                      <a:ext uri="{FF2B5EF4-FFF2-40B4-BE49-F238E27FC236}">
                        <a16:creationId xmlns:a16="http://schemas.microsoft.com/office/drawing/2014/main" id="{C0D84898-4287-4EB4-A859-454DA2493EF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690869" y="2816922"/>
                    <a:ext cx="442731" cy="216527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 sz="1400" b="1">
                      <a:latin typeface="+mn-lt"/>
                    </a:endParaRPr>
                  </a:p>
                </p:txBody>
              </p:sp>
              <p:sp>
                <p:nvSpPr>
                  <p:cNvPr id="244" name="Rectangle 13">
                    <a:extLst>
                      <a:ext uri="{FF2B5EF4-FFF2-40B4-BE49-F238E27FC236}">
                        <a16:creationId xmlns:a16="http://schemas.microsoft.com/office/drawing/2014/main" id="{8F75345A-BFB8-4B67-A40E-221E2ADD3EB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492123" y="2816922"/>
                    <a:ext cx="198746" cy="216527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 sz="1400" b="1" dirty="0">
                      <a:latin typeface="+mn-lt"/>
                    </a:endParaRPr>
                  </a:p>
                </p:txBody>
              </p:sp>
              <p:sp>
                <p:nvSpPr>
                  <p:cNvPr id="245" name="Rectangle 14">
                    <a:extLst>
                      <a:ext uri="{FF2B5EF4-FFF2-40B4-BE49-F238E27FC236}">
                        <a16:creationId xmlns:a16="http://schemas.microsoft.com/office/drawing/2014/main" id="{B6DF919D-1007-469F-85C4-43B85E018F2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131911" y="2816922"/>
                    <a:ext cx="572096" cy="216527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 sz="1400" b="1">
                      <a:latin typeface="+mn-lt"/>
                    </a:endParaRPr>
                  </a:p>
                </p:txBody>
              </p:sp>
              <p:sp>
                <p:nvSpPr>
                  <p:cNvPr id="246" name="Rectangle 18">
                    <a:extLst>
                      <a:ext uri="{FF2B5EF4-FFF2-40B4-BE49-F238E27FC236}">
                        <a16:creationId xmlns:a16="http://schemas.microsoft.com/office/drawing/2014/main" id="{3732BDE0-428E-4EC2-A998-DAFDB959DBC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690869" y="3033449"/>
                    <a:ext cx="442731" cy="216527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 sz="1400" b="1">
                      <a:latin typeface="+mn-lt"/>
                    </a:endParaRPr>
                  </a:p>
                </p:txBody>
              </p:sp>
              <p:sp>
                <p:nvSpPr>
                  <p:cNvPr id="247" name="Rectangle 19">
                    <a:extLst>
                      <a:ext uri="{FF2B5EF4-FFF2-40B4-BE49-F238E27FC236}">
                        <a16:creationId xmlns:a16="http://schemas.microsoft.com/office/drawing/2014/main" id="{F9A8C25B-D46B-46C5-8522-849AE63F201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492123" y="3033449"/>
                    <a:ext cx="198746" cy="216527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 sz="1400" b="1" dirty="0">
                      <a:latin typeface="+mn-lt"/>
                    </a:endParaRPr>
                  </a:p>
                </p:txBody>
              </p:sp>
              <p:sp>
                <p:nvSpPr>
                  <p:cNvPr id="248" name="Rectangle 20">
                    <a:extLst>
                      <a:ext uri="{FF2B5EF4-FFF2-40B4-BE49-F238E27FC236}">
                        <a16:creationId xmlns:a16="http://schemas.microsoft.com/office/drawing/2014/main" id="{9A9CF64B-F918-4DF9-8098-644A9722308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131911" y="3033449"/>
                    <a:ext cx="572096" cy="216527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 sz="1400" b="1">
                      <a:latin typeface="+mn-lt"/>
                    </a:endParaRPr>
                  </a:p>
                </p:txBody>
              </p:sp>
              <p:sp>
                <p:nvSpPr>
                  <p:cNvPr id="249" name="Rectangle 25">
                    <a:extLst>
                      <a:ext uri="{FF2B5EF4-FFF2-40B4-BE49-F238E27FC236}">
                        <a16:creationId xmlns:a16="http://schemas.microsoft.com/office/drawing/2014/main" id="{55C6B0A1-ED24-421B-828B-4AC6513DC5E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492123" y="3249975"/>
                    <a:ext cx="198746" cy="216527"/>
                  </a:xfrm>
                  <a:prstGeom prst="rect">
                    <a:avLst/>
                  </a:prstGeom>
                  <a:solidFill>
                    <a:schemeClr val="bg2">
                      <a:lumMod val="75000"/>
                    </a:schemeClr>
                  </a:solidFill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 sz="1400" b="1" dirty="0">
                      <a:latin typeface="+mn-lt"/>
                    </a:endParaRPr>
                  </a:p>
                </p:txBody>
              </p:sp>
              <p:sp>
                <p:nvSpPr>
                  <p:cNvPr id="250" name="Rectangle 30">
                    <a:extLst>
                      <a:ext uri="{FF2B5EF4-FFF2-40B4-BE49-F238E27FC236}">
                        <a16:creationId xmlns:a16="http://schemas.microsoft.com/office/drawing/2014/main" id="{181019F6-2492-4486-B261-A04D6E0DDCA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690869" y="3466502"/>
                    <a:ext cx="442731" cy="216527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 sz="1400" b="1">
                      <a:latin typeface="+mn-lt"/>
                    </a:endParaRPr>
                  </a:p>
                </p:txBody>
              </p:sp>
              <p:sp>
                <p:nvSpPr>
                  <p:cNvPr id="251" name="Rectangle 31">
                    <a:extLst>
                      <a:ext uri="{FF2B5EF4-FFF2-40B4-BE49-F238E27FC236}">
                        <a16:creationId xmlns:a16="http://schemas.microsoft.com/office/drawing/2014/main" id="{A42F70F3-220D-40C5-B9D0-9B0C6FAF9BE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492123" y="3466502"/>
                    <a:ext cx="198746" cy="216527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 sz="1400" b="1" dirty="0">
                      <a:latin typeface="+mn-lt"/>
                    </a:endParaRPr>
                  </a:p>
                </p:txBody>
              </p:sp>
              <p:sp>
                <p:nvSpPr>
                  <p:cNvPr id="252" name="Rectangle 32">
                    <a:extLst>
                      <a:ext uri="{FF2B5EF4-FFF2-40B4-BE49-F238E27FC236}">
                        <a16:creationId xmlns:a16="http://schemas.microsoft.com/office/drawing/2014/main" id="{F461F2AB-050D-473A-BA18-14E06C3F085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131911" y="3466502"/>
                    <a:ext cx="572096" cy="216527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 sz="1400" b="1">
                      <a:latin typeface="+mn-lt"/>
                    </a:endParaRPr>
                  </a:p>
                </p:txBody>
              </p:sp>
              <p:sp>
                <p:nvSpPr>
                  <p:cNvPr id="253" name="Rectangle 36">
                    <a:extLst>
                      <a:ext uri="{FF2B5EF4-FFF2-40B4-BE49-F238E27FC236}">
                        <a16:creationId xmlns:a16="http://schemas.microsoft.com/office/drawing/2014/main" id="{98720985-FE1E-40B7-8451-CBFA31161D9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690869" y="3683028"/>
                    <a:ext cx="442731" cy="216527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 sz="1400" b="1">
                      <a:latin typeface="+mn-lt"/>
                    </a:endParaRPr>
                  </a:p>
                </p:txBody>
              </p:sp>
              <p:sp>
                <p:nvSpPr>
                  <p:cNvPr id="254" name="Rectangle 37">
                    <a:extLst>
                      <a:ext uri="{FF2B5EF4-FFF2-40B4-BE49-F238E27FC236}">
                        <a16:creationId xmlns:a16="http://schemas.microsoft.com/office/drawing/2014/main" id="{766F4839-D9F0-492D-964B-6C0A98F5D04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492123" y="3683028"/>
                    <a:ext cx="198746" cy="216527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 sz="1400" b="1" dirty="0">
                      <a:latin typeface="+mn-lt"/>
                    </a:endParaRPr>
                  </a:p>
                </p:txBody>
              </p:sp>
              <p:sp>
                <p:nvSpPr>
                  <p:cNvPr id="255" name="Rectangle 38">
                    <a:extLst>
                      <a:ext uri="{FF2B5EF4-FFF2-40B4-BE49-F238E27FC236}">
                        <a16:creationId xmlns:a16="http://schemas.microsoft.com/office/drawing/2014/main" id="{F9CD05C8-AFC0-4136-AE9A-7A74AA3E0A9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131911" y="3683028"/>
                    <a:ext cx="572096" cy="216527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 sz="1400" b="1">
                      <a:latin typeface="+mn-lt"/>
                    </a:endParaRPr>
                  </a:p>
                </p:txBody>
              </p:sp>
              <p:sp>
                <p:nvSpPr>
                  <p:cNvPr id="256" name="Rectangle 42">
                    <a:extLst>
                      <a:ext uri="{FF2B5EF4-FFF2-40B4-BE49-F238E27FC236}">
                        <a16:creationId xmlns:a16="http://schemas.microsoft.com/office/drawing/2014/main" id="{8417E873-9D83-4FC0-A2A9-C02380382C1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690869" y="3899555"/>
                    <a:ext cx="442731" cy="216527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 sz="1400" b="1">
                      <a:latin typeface="+mn-lt"/>
                    </a:endParaRPr>
                  </a:p>
                </p:txBody>
              </p:sp>
              <p:sp>
                <p:nvSpPr>
                  <p:cNvPr id="257" name="Rectangle 43">
                    <a:extLst>
                      <a:ext uri="{FF2B5EF4-FFF2-40B4-BE49-F238E27FC236}">
                        <a16:creationId xmlns:a16="http://schemas.microsoft.com/office/drawing/2014/main" id="{5C346EFF-7E6D-4A3E-A7A4-5A4D1C1003F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492123" y="3899555"/>
                    <a:ext cx="198746" cy="216527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 sz="1400" b="1" dirty="0">
                      <a:latin typeface="+mn-lt"/>
                    </a:endParaRPr>
                  </a:p>
                </p:txBody>
              </p:sp>
              <p:sp>
                <p:nvSpPr>
                  <p:cNvPr id="258" name="Rectangle 44">
                    <a:extLst>
                      <a:ext uri="{FF2B5EF4-FFF2-40B4-BE49-F238E27FC236}">
                        <a16:creationId xmlns:a16="http://schemas.microsoft.com/office/drawing/2014/main" id="{4A8C4CA6-4EBE-4CCF-A2C6-BD2A2A0BF68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131911" y="3899555"/>
                    <a:ext cx="572096" cy="216527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 sz="1400" b="1">
                      <a:latin typeface="+mn-lt"/>
                    </a:endParaRPr>
                  </a:p>
                </p:txBody>
              </p:sp>
              <p:sp>
                <p:nvSpPr>
                  <p:cNvPr id="259" name="Rectangle 48">
                    <a:extLst>
                      <a:ext uri="{FF2B5EF4-FFF2-40B4-BE49-F238E27FC236}">
                        <a16:creationId xmlns:a16="http://schemas.microsoft.com/office/drawing/2014/main" id="{71ABEFF7-A680-4FE5-AAB9-56B51D530A6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690869" y="4116082"/>
                    <a:ext cx="442731" cy="216527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 sz="1400" b="1">
                      <a:latin typeface="+mn-lt"/>
                    </a:endParaRPr>
                  </a:p>
                </p:txBody>
              </p:sp>
              <p:sp>
                <p:nvSpPr>
                  <p:cNvPr id="260" name="Rectangle 49">
                    <a:extLst>
                      <a:ext uri="{FF2B5EF4-FFF2-40B4-BE49-F238E27FC236}">
                        <a16:creationId xmlns:a16="http://schemas.microsoft.com/office/drawing/2014/main" id="{42F84701-A65E-4849-A99E-AA576AFA9BB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492123" y="4116082"/>
                    <a:ext cx="198746" cy="216527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 sz="1400" b="1" dirty="0">
                      <a:latin typeface="+mn-lt"/>
                    </a:endParaRPr>
                  </a:p>
                </p:txBody>
              </p:sp>
              <p:sp>
                <p:nvSpPr>
                  <p:cNvPr id="261" name="Rectangle 50">
                    <a:extLst>
                      <a:ext uri="{FF2B5EF4-FFF2-40B4-BE49-F238E27FC236}">
                        <a16:creationId xmlns:a16="http://schemas.microsoft.com/office/drawing/2014/main" id="{22AD36C2-D2FC-45E5-9330-1D77BB62497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131911" y="4116082"/>
                    <a:ext cx="572096" cy="216527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 sz="1400" b="1">
                      <a:latin typeface="+mn-lt"/>
                    </a:endParaRPr>
                  </a:p>
                </p:txBody>
              </p:sp>
              <p:sp>
                <p:nvSpPr>
                  <p:cNvPr id="262" name="Rectangle 54">
                    <a:extLst>
                      <a:ext uri="{FF2B5EF4-FFF2-40B4-BE49-F238E27FC236}">
                        <a16:creationId xmlns:a16="http://schemas.microsoft.com/office/drawing/2014/main" id="{7719D7EF-F118-4915-ABB4-F23C019D99F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690869" y="4332608"/>
                    <a:ext cx="442731" cy="216527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 sz="1400" b="1">
                      <a:latin typeface="+mn-lt"/>
                    </a:endParaRPr>
                  </a:p>
                </p:txBody>
              </p:sp>
              <p:sp>
                <p:nvSpPr>
                  <p:cNvPr id="263" name="Rectangle 55">
                    <a:extLst>
                      <a:ext uri="{FF2B5EF4-FFF2-40B4-BE49-F238E27FC236}">
                        <a16:creationId xmlns:a16="http://schemas.microsoft.com/office/drawing/2014/main" id="{D0BB9133-0835-4610-9D03-0FB59E5517E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492123" y="4332608"/>
                    <a:ext cx="198746" cy="216527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 sz="1400" b="1" dirty="0">
                      <a:latin typeface="+mn-lt"/>
                    </a:endParaRPr>
                  </a:p>
                </p:txBody>
              </p:sp>
              <p:sp>
                <p:nvSpPr>
                  <p:cNvPr id="264" name="Rectangle 56">
                    <a:extLst>
                      <a:ext uri="{FF2B5EF4-FFF2-40B4-BE49-F238E27FC236}">
                        <a16:creationId xmlns:a16="http://schemas.microsoft.com/office/drawing/2014/main" id="{D6685DDA-C051-4661-B407-3F18E2834A8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131911" y="4332608"/>
                    <a:ext cx="572096" cy="216527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 sz="1400" b="1">
                      <a:latin typeface="+mn-lt"/>
                    </a:endParaRPr>
                  </a:p>
                </p:txBody>
              </p:sp>
              <p:sp>
                <p:nvSpPr>
                  <p:cNvPr id="265" name="Text Box 61">
                    <a:extLst>
                      <a:ext uri="{FF2B5EF4-FFF2-40B4-BE49-F238E27FC236}">
                        <a16:creationId xmlns:a16="http://schemas.microsoft.com/office/drawing/2014/main" id="{269EB2C0-6614-4DAC-9925-45F350EE6962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58963" y="2798119"/>
                    <a:ext cx="269626" cy="276999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 sz="1200" b="1" dirty="0">
                        <a:latin typeface="+mn-lt"/>
                      </a:rPr>
                      <a:t>0</a:t>
                    </a:r>
                  </a:p>
                </p:txBody>
              </p:sp>
              <p:sp>
                <p:nvSpPr>
                  <p:cNvPr id="266" name="Text Box 62">
                    <a:extLst>
                      <a:ext uri="{FF2B5EF4-FFF2-40B4-BE49-F238E27FC236}">
                        <a16:creationId xmlns:a16="http://schemas.microsoft.com/office/drawing/2014/main" id="{2A1FD813-9CE2-4248-983A-A0BC43094454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49723" y="3002301"/>
                    <a:ext cx="269626" cy="276999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 sz="1200" b="1" dirty="0">
                        <a:latin typeface="+mn-lt"/>
                      </a:rPr>
                      <a:t>1</a:t>
                    </a:r>
                  </a:p>
                </p:txBody>
              </p:sp>
              <p:sp>
                <p:nvSpPr>
                  <p:cNvPr id="267" name="Text Box 63">
                    <a:extLst>
                      <a:ext uri="{FF2B5EF4-FFF2-40B4-BE49-F238E27FC236}">
                        <a16:creationId xmlns:a16="http://schemas.microsoft.com/office/drawing/2014/main" id="{E5A62331-FB12-49D9-BE9C-B890C883F7C2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63524" y="3218827"/>
                    <a:ext cx="269626" cy="276999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 sz="1200" b="1" dirty="0">
                        <a:latin typeface="+mn-lt"/>
                      </a:rPr>
                      <a:t>2</a:t>
                    </a:r>
                  </a:p>
                </p:txBody>
              </p:sp>
              <p:sp>
                <p:nvSpPr>
                  <p:cNvPr id="268" name="Text Box 64">
                    <a:extLst>
                      <a:ext uri="{FF2B5EF4-FFF2-40B4-BE49-F238E27FC236}">
                        <a16:creationId xmlns:a16="http://schemas.microsoft.com/office/drawing/2014/main" id="{B1E21879-DE87-48FC-8BAE-B278271A4599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56367" y="3466502"/>
                    <a:ext cx="203753" cy="239392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 sz="1400" b="1" dirty="0">
                        <a:latin typeface="+mn-lt"/>
                      </a:rPr>
                      <a:t>.</a:t>
                    </a:r>
                  </a:p>
                </p:txBody>
              </p:sp>
              <p:sp>
                <p:nvSpPr>
                  <p:cNvPr id="269" name="Text Box 65">
                    <a:extLst>
                      <a:ext uri="{FF2B5EF4-FFF2-40B4-BE49-F238E27FC236}">
                        <a16:creationId xmlns:a16="http://schemas.microsoft.com/office/drawing/2014/main" id="{E26AFE23-B8A0-4CBB-8CA2-3027D280E42A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56367" y="3683028"/>
                    <a:ext cx="203753" cy="239392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 sz="1400" b="1" dirty="0">
                        <a:latin typeface="+mn-lt"/>
                      </a:rPr>
                      <a:t>.</a:t>
                    </a:r>
                  </a:p>
                </p:txBody>
              </p:sp>
              <p:sp>
                <p:nvSpPr>
                  <p:cNvPr id="270" name="Text Box 66">
                    <a:extLst>
                      <a:ext uri="{FF2B5EF4-FFF2-40B4-BE49-F238E27FC236}">
                        <a16:creationId xmlns:a16="http://schemas.microsoft.com/office/drawing/2014/main" id="{99907DB2-170D-4497-B7F6-BF77D60121AE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56367" y="3899555"/>
                    <a:ext cx="203753" cy="239392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 sz="1400" b="1" dirty="0">
                        <a:latin typeface="+mn-lt"/>
                      </a:rPr>
                      <a:t>.</a:t>
                    </a:r>
                  </a:p>
                </p:txBody>
              </p:sp>
              <p:sp>
                <p:nvSpPr>
                  <p:cNvPr id="271" name="Text Box 67">
                    <a:extLst>
                      <a:ext uri="{FF2B5EF4-FFF2-40B4-BE49-F238E27FC236}">
                        <a16:creationId xmlns:a16="http://schemas.microsoft.com/office/drawing/2014/main" id="{6BC1757A-CA43-4D24-A750-2080E93B1887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099055" y="4119072"/>
                    <a:ext cx="439544" cy="276999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 sz="1200" b="1" dirty="0">
                        <a:latin typeface="+mn-lt"/>
                      </a:rPr>
                      <a:t>254</a:t>
                    </a:r>
                  </a:p>
                </p:txBody>
              </p:sp>
              <p:sp>
                <p:nvSpPr>
                  <p:cNvPr id="272" name="Text Box 68">
                    <a:extLst>
                      <a:ext uri="{FF2B5EF4-FFF2-40B4-BE49-F238E27FC236}">
                        <a16:creationId xmlns:a16="http://schemas.microsoft.com/office/drawing/2014/main" id="{6AB53D1A-4BA0-4D93-94CC-AD52337ECF65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099055" y="4335598"/>
                    <a:ext cx="439544" cy="276999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 sz="1200" b="1" dirty="0">
                        <a:latin typeface="+mn-lt"/>
                      </a:rPr>
                      <a:t>255</a:t>
                    </a:r>
                  </a:p>
                </p:txBody>
              </p:sp>
              <p:sp>
                <p:nvSpPr>
                  <p:cNvPr id="273" name="Text Box 70">
                    <a:extLst>
                      <a:ext uri="{FF2B5EF4-FFF2-40B4-BE49-F238E27FC236}">
                        <a16:creationId xmlns:a16="http://schemas.microsoft.com/office/drawing/2014/main" id="{5E88669F-6F16-4947-AF07-B8EC44490098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447800" y="2557453"/>
                    <a:ext cx="304891" cy="307777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 sz="1400" b="1" dirty="0">
                        <a:latin typeface="+mn-lt"/>
                      </a:rPr>
                      <a:t>V</a:t>
                    </a:r>
                  </a:p>
                </p:txBody>
              </p:sp>
              <p:sp>
                <p:nvSpPr>
                  <p:cNvPr id="274" name="Text Box 71">
                    <a:extLst>
                      <a:ext uri="{FF2B5EF4-FFF2-40B4-BE49-F238E27FC236}">
                        <a16:creationId xmlns:a16="http://schemas.microsoft.com/office/drawing/2014/main" id="{809A7511-0CD3-4305-AB45-1BE548B52712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634704" y="2557453"/>
                    <a:ext cx="533401" cy="307777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US" sz="1400" b="1" dirty="0">
                        <a:latin typeface="+mn-lt"/>
                      </a:rPr>
                      <a:t>Tag</a:t>
                    </a:r>
                  </a:p>
                </p:txBody>
              </p:sp>
              <p:sp>
                <p:nvSpPr>
                  <p:cNvPr id="275" name="Text Box 75">
                    <a:extLst>
                      <a:ext uri="{FF2B5EF4-FFF2-40B4-BE49-F238E27FC236}">
                        <a16:creationId xmlns:a16="http://schemas.microsoft.com/office/drawing/2014/main" id="{04BF24D8-3F5A-48C7-8A13-E99B31AEA76A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124974" y="2561945"/>
                    <a:ext cx="572593" cy="307777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 sz="1400" b="1" dirty="0">
                        <a:latin typeface="+mn-lt"/>
                      </a:rPr>
                      <a:t>Data</a:t>
                    </a:r>
                  </a:p>
                </p:txBody>
              </p:sp>
            </p:grpSp>
          </p:grpSp>
          <p:grpSp>
            <p:nvGrpSpPr>
              <p:cNvPr id="139" name="Group 204">
                <a:extLst>
                  <a:ext uri="{FF2B5EF4-FFF2-40B4-BE49-F238E27FC236}">
                    <a16:creationId xmlns:a16="http://schemas.microsoft.com/office/drawing/2014/main" id="{B07733B5-D00D-4F23-BC68-B4A00EEA7A3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33598" y="3124201"/>
                <a:ext cx="430213" cy="1447800"/>
                <a:chOff x="1229" y="2400"/>
                <a:chExt cx="271" cy="825"/>
              </a:xfrm>
            </p:grpSpPr>
            <p:sp>
              <p:nvSpPr>
                <p:cNvPr id="234" name="Line 205">
                  <a:extLst>
                    <a:ext uri="{FF2B5EF4-FFF2-40B4-BE49-F238E27FC236}">
                      <a16:creationId xmlns:a16="http://schemas.microsoft.com/office/drawing/2014/main" id="{F380D11B-6492-43CC-8CD3-EFE508B3F51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29" y="3107"/>
                  <a:ext cx="96" cy="39"/>
                </a:xfrm>
                <a:prstGeom prst="line">
                  <a:avLst/>
                </a:prstGeom>
                <a:noFill/>
                <a:ln w="206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5" name="Text Box 206">
                  <a:extLst>
                    <a:ext uri="{FF2B5EF4-FFF2-40B4-BE49-F238E27FC236}">
                      <a16:creationId xmlns:a16="http://schemas.microsoft.com/office/drawing/2014/main" id="{CA97EEBE-2987-4C2D-A722-6C48D4BD71F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277" y="3051"/>
                  <a:ext cx="223" cy="143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eaLnBrk="0" hangingPunct="0"/>
                  <a:r>
                    <a:rPr lang="en-US" sz="1200" dirty="0"/>
                    <a:t>22</a:t>
                  </a:r>
                </a:p>
              </p:txBody>
            </p:sp>
            <p:sp>
              <p:nvSpPr>
                <p:cNvPr id="236" name="Line 207">
                  <a:extLst>
                    <a:ext uri="{FF2B5EF4-FFF2-40B4-BE49-F238E27FC236}">
                      <a16:creationId xmlns:a16="http://schemas.microsoft.com/office/drawing/2014/main" id="{28EAF4BA-B619-4DB4-8D19-55677A857F3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277" y="2400"/>
                  <a:ext cx="0" cy="825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oval" w="sm" len="sm"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40" name="Freeform 217">
                <a:extLst>
                  <a:ext uri="{FF2B5EF4-FFF2-40B4-BE49-F238E27FC236}">
                    <a16:creationId xmlns:a16="http://schemas.microsoft.com/office/drawing/2014/main" id="{68249430-BF50-4470-B893-3015EA14F4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7600" y="4572000"/>
                <a:ext cx="366713" cy="300038"/>
              </a:xfrm>
              <a:custGeom>
                <a:avLst/>
                <a:gdLst>
                  <a:gd name="T0" fmla="*/ 125 w 249"/>
                  <a:gd name="T1" fmla="*/ 162 h 165"/>
                  <a:gd name="T2" fmla="*/ 145 w 249"/>
                  <a:gd name="T3" fmla="*/ 162 h 165"/>
                  <a:gd name="T4" fmla="*/ 165 w 249"/>
                  <a:gd name="T5" fmla="*/ 160 h 165"/>
                  <a:gd name="T6" fmla="*/ 182 w 249"/>
                  <a:gd name="T7" fmla="*/ 154 h 165"/>
                  <a:gd name="T8" fmla="*/ 199 w 249"/>
                  <a:gd name="T9" fmla="*/ 147 h 165"/>
                  <a:gd name="T10" fmla="*/ 216 w 249"/>
                  <a:gd name="T11" fmla="*/ 140 h 165"/>
                  <a:gd name="T12" fmla="*/ 226 w 249"/>
                  <a:gd name="T13" fmla="*/ 130 h 165"/>
                  <a:gd name="T14" fmla="*/ 236 w 249"/>
                  <a:gd name="T15" fmla="*/ 121 h 165"/>
                  <a:gd name="T16" fmla="*/ 246 w 249"/>
                  <a:gd name="T17" fmla="*/ 108 h 165"/>
                  <a:gd name="T18" fmla="*/ 249 w 249"/>
                  <a:gd name="T19" fmla="*/ 94 h 165"/>
                  <a:gd name="T20" fmla="*/ 249 w 249"/>
                  <a:gd name="T21" fmla="*/ 81 h 165"/>
                  <a:gd name="T22" fmla="*/ 249 w 249"/>
                  <a:gd name="T23" fmla="*/ 68 h 165"/>
                  <a:gd name="T24" fmla="*/ 246 w 249"/>
                  <a:gd name="T25" fmla="*/ 57 h 165"/>
                  <a:gd name="T26" fmla="*/ 236 w 249"/>
                  <a:gd name="T27" fmla="*/ 44 h 165"/>
                  <a:gd name="T28" fmla="*/ 226 w 249"/>
                  <a:gd name="T29" fmla="*/ 35 h 165"/>
                  <a:gd name="T30" fmla="*/ 216 w 249"/>
                  <a:gd name="T31" fmla="*/ 24 h 165"/>
                  <a:gd name="T32" fmla="*/ 199 w 249"/>
                  <a:gd name="T33" fmla="*/ 15 h 165"/>
                  <a:gd name="T34" fmla="*/ 182 w 249"/>
                  <a:gd name="T35" fmla="*/ 9 h 165"/>
                  <a:gd name="T36" fmla="*/ 165 w 249"/>
                  <a:gd name="T37" fmla="*/ 4 h 165"/>
                  <a:gd name="T38" fmla="*/ 145 w 249"/>
                  <a:gd name="T39" fmla="*/ 2 h 165"/>
                  <a:gd name="T40" fmla="*/ 125 w 249"/>
                  <a:gd name="T41" fmla="*/ 0 h 165"/>
                  <a:gd name="T42" fmla="*/ 105 w 249"/>
                  <a:gd name="T43" fmla="*/ 2 h 165"/>
                  <a:gd name="T44" fmla="*/ 88 w 249"/>
                  <a:gd name="T45" fmla="*/ 4 h 165"/>
                  <a:gd name="T46" fmla="*/ 68 w 249"/>
                  <a:gd name="T47" fmla="*/ 9 h 165"/>
                  <a:gd name="T48" fmla="*/ 51 w 249"/>
                  <a:gd name="T49" fmla="*/ 15 h 165"/>
                  <a:gd name="T50" fmla="*/ 37 w 249"/>
                  <a:gd name="T51" fmla="*/ 24 h 165"/>
                  <a:gd name="T52" fmla="*/ 24 w 249"/>
                  <a:gd name="T53" fmla="*/ 35 h 165"/>
                  <a:gd name="T54" fmla="*/ 14 w 249"/>
                  <a:gd name="T55" fmla="*/ 44 h 165"/>
                  <a:gd name="T56" fmla="*/ 7 w 249"/>
                  <a:gd name="T57" fmla="*/ 57 h 165"/>
                  <a:gd name="T58" fmla="*/ 4 w 249"/>
                  <a:gd name="T59" fmla="*/ 68 h 165"/>
                  <a:gd name="T60" fmla="*/ 0 w 249"/>
                  <a:gd name="T61" fmla="*/ 81 h 165"/>
                  <a:gd name="T62" fmla="*/ 4 w 249"/>
                  <a:gd name="T63" fmla="*/ 94 h 165"/>
                  <a:gd name="T64" fmla="*/ 7 w 249"/>
                  <a:gd name="T65" fmla="*/ 108 h 165"/>
                  <a:gd name="T66" fmla="*/ 14 w 249"/>
                  <a:gd name="T67" fmla="*/ 121 h 165"/>
                  <a:gd name="T68" fmla="*/ 24 w 249"/>
                  <a:gd name="T69" fmla="*/ 130 h 165"/>
                  <a:gd name="T70" fmla="*/ 37 w 249"/>
                  <a:gd name="T71" fmla="*/ 140 h 165"/>
                  <a:gd name="T72" fmla="*/ 51 w 249"/>
                  <a:gd name="T73" fmla="*/ 147 h 165"/>
                  <a:gd name="T74" fmla="*/ 68 w 249"/>
                  <a:gd name="T75" fmla="*/ 154 h 165"/>
                  <a:gd name="T76" fmla="*/ 88 w 249"/>
                  <a:gd name="T77" fmla="*/ 160 h 165"/>
                  <a:gd name="T78" fmla="*/ 105 w 249"/>
                  <a:gd name="T79" fmla="*/ 162 h 165"/>
                  <a:gd name="T80" fmla="*/ 125 w 249"/>
                  <a:gd name="T81" fmla="*/ 165 h 165"/>
                  <a:gd name="T82" fmla="*/ 125 w 249"/>
                  <a:gd name="T83" fmla="*/ 165 h 165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249"/>
                  <a:gd name="T127" fmla="*/ 0 h 165"/>
                  <a:gd name="T128" fmla="*/ 249 w 249"/>
                  <a:gd name="T129" fmla="*/ 165 h 165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249" h="165">
                    <a:moveTo>
                      <a:pt x="125" y="162"/>
                    </a:moveTo>
                    <a:lnTo>
                      <a:pt x="145" y="162"/>
                    </a:lnTo>
                    <a:lnTo>
                      <a:pt x="165" y="160"/>
                    </a:lnTo>
                    <a:lnTo>
                      <a:pt x="182" y="154"/>
                    </a:lnTo>
                    <a:lnTo>
                      <a:pt x="199" y="147"/>
                    </a:lnTo>
                    <a:lnTo>
                      <a:pt x="216" y="140"/>
                    </a:lnTo>
                    <a:lnTo>
                      <a:pt x="226" y="130"/>
                    </a:lnTo>
                    <a:lnTo>
                      <a:pt x="236" y="121"/>
                    </a:lnTo>
                    <a:lnTo>
                      <a:pt x="246" y="108"/>
                    </a:lnTo>
                    <a:lnTo>
                      <a:pt x="249" y="94"/>
                    </a:lnTo>
                    <a:lnTo>
                      <a:pt x="249" y="81"/>
                    </a:lnTo>
                    <a:lnTo>
                      <a:pt x="249" y="68"/>
                    </a:lnTo>
                    <a:lnTo>
                      <a:pt x="246" y="57"/>
                    </a:lnTo>
                    <a:lnTo>
                      <a:pt x="236" y="44"/>
                    </a:lnTo>
                    <a:lnTo>
                      <a:pt x="226" y="35"/>
                    </a:lnTo>
                    <a:lnTo>
                      <a:pt x="216" y="24"/>
                    </a:lnTo>
                    <a:lnTo>
                      <a:pt x="199" y="15"/>
                    </a:lnTo>
                    <a:lnTo>
                      <a:pt x="182" y="9"/>
                    </a:lnTo>
                    <a:lnTo>
                      <a:pt x="165" y="4"/>
                    </a:lnTo>
                    <a:lnTo>
                      <a:pt x="145" y="2"/>
                    </a:lnTo>
                    <a:lnTo>
                      <a:pt x="125" y="0"/>
                    </a:lnTo>
                    <a:lnTo>
                      <a:pt x="105" y="2"/>
                    </a:lnTo>
                    <a:lnTo>
                      <a:pt x="88" y="4"/>
                    </a:lnTo>
                    <a:lnTo>
                      <a:pt x="68" y="9"/>
                    </a:lnTo>
                    <a:lnTo>
                      <a:pt x="51" y="15"/>
                    </a:lnTo>
                    <a:lnTo>
                      <a:pt x="37" y="24"/>
                    </a:lnTo>
                    <a:lnTo>
                      <a:pt x="24" y="35"/>
                    </a:lnTo>
                    <a:lnTo>
                      <a:pt x="14" y="44"/>
                    </a:lnTo>
                    <a:lnTo>
                      <a:pt x="7" y="57"/>
                    </a:lnTo>
                    <a:lnTo>
                      <a:pt x="4" y="68"/>
                    </a:lnTo>
                    <a:lnTo>
                      <a:pt x="0" y="81"/>
                    </a:lnTo>
                    <a:lnTo>
                      <a:pt x="4" y="94"/>
                    </a:lnTo>
                    <a:lnTo>
                      <a:pt x="7" y="108"/>
                    </a:lnTo>
                    <a:lnTo>
                      <a:pt x="14" y="121"/>
                    </a:lnTo>
                    <a:lnTo>
                      <a:pt x="24" y="130"/>
                    </a:lnTo>
                    <a:lnTo>
                      <a:pt x="37" y="140"/>
                    </a:lnTo>
                    <a:lnTo>
                      <a:pt x="51" y="147"/>
                    </a:lnTo>
                    <a:lnTo>
                      <a:pt x="68" y="154"/>
                    </a:lnTo>
                    <a:lnTo>
                      <a:pt x="88" y="160"/>
                    </a:lnTo>
                    <a:lnTo>
                      <a:pt x="105" y="162"/>
                    </a:lnTo>
                    <a:lnTo>
                      <a:pt x="125" y="165"/>
                    </a:lnTo>
                  </a:path>
                </a:pathLst>
              </a:custGeom>
              <a:solidFill>
                <a:schemeClr val="bg1"/>
              </a:solidFill>
              <a:ln w="1905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anchor="ctr" anchorCtr="0"/>
              <a:lstStyle/>
              <a:p>
                <a:r>
                  <a:rPr lang="en-US" b="1" dirty="0"/>
                  <a:t>=</a:t>
                </a:r>
              </a:p>
            </p:txBody>
          </p:sp>
          <p:sp>
            <p:nvSpPr>
              <p:cNvPr id="141" name="Freeform 217">
                <a:extLst>
                  <a:ext uri="{FF2B5EF4-FFF2-40B4-BE49-F238E27FC236}">
                    <a16:creationId xmlns:a16="http://schemas.microsoft.com/office/drawing/2014/main" id="{458F94E7-9D02-4C79-9D8D-3FFB669D0F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51252" y="4572000"/>
                <a:ext cx="366713" cy="300038"/>
              </a:xfrm>
              <a:custGeom>
                <a:avLst/>
                <a:gdLst>
                  <a:gd name="T0" fmla="*/ 125 w 249"/>
                  <a:gd name="T1" fmla="*/ 162 h 165"/>
                  <a:gd name="T2" fmla="*/ 145 w 249"/>
                  <a:gd name="T3" fmla="*/ 162 h 165"/>
                  <a:gd name="T4" fmla="*/ 165 w 249"/>
                  <a:gd name="T5" fmla="*/ 160 h 165"/>
                  <a:gd name="T6" fmla="*/ 182 w 249"/>
                  <a:gd name="T7" fmla="*/ 154 h 165"/>
                  <a:gd name="T8" fmla="*/ 199 w 249"/>
                  <a:gd name="T9" fmla="*/ 147 h 165"/>
                  <a:gd name="T10" fmla="*/ 216 w 249"/>
                  <a:gd name="T11" fmla="*/ 140 h 165"/>
                  <a:gd name="T12" fmla="*/ 226 w 249"/>
                  <a:gd name="T13" fmla="*/ 130 h 165"/>
                  <a:gd name="T14" fmla="*/ 236 w 249"/>
                  <a:gd name="T15" fmla="*/ 121 h 165"/>
                  <a:gd name="T16" fmla="*/ 246 w 249"/>
                  <a:gd name="T17" fmla="*/ 108 h 165"/>
                  <a:gd name="T18" fmla="*/ 249 w 249"/>
                  <a:gd name="T19" fmla="*/ 94 h 165"/>
                  <a:gd name="T20" fmla="*/ 249 w 249"/>
                  <a:gd name="T21" fmla="*/ 81 h 165"/>
                  <a:gd name="T22" fmla="*/ 249 w 249"/>
                  <a:gd name="T23" fmla="*/ 68 h 165"/>
                  <a:gd name="T24" fmla="*/ 246 w 249"/>
                  <a:gd name="T25" fmla="*/ 57 h 165"/>
                  <a:gd name="T26" fmla="*/ 236 w 249"/>
                  <a:gd name="T27" fmla="*/ 44 h 165"/>
                  <a:gd name="T28" fmla="*/ 226 w 249"/>
                  <a:gd name="T29" fmla="*/ 35 h 165"/>
                  <a:gd name="T30" fmla="*/ 216 w 249"/>
                  <a:gd name="T31" fmla="*/ 24 h 165"/>
                  <a:gd name="T32" fmla="*/ 199 w 249"/>
                  <a:gd name="T33" fmla="*/ 15 h 165"/>
                  <a:gd name="T34" fmla="*/ 182 w 249"/>
                  <a:gd name="T35" fmla="*/ 9 h 165"/>
                  <a:gd name="T36" fmla="*/ 165 w 249"/>
                  <a:gd name="T37" fmla="*/ 4 h 165"/>
                  <a:gd name="T38" fmla="*/ 145 w 249"/>
                  <a:gd name="T39" fmla="*/ 2 h 165"/>
                  <a:gd name="T40" fmla="*/ 125 w 249"/>
                  <a:gd name="T41" fmla="*/ 0 h 165"/>
                  <a:gd name="T42" fmla="*/ 105 w 249"/>
                  <a:gd name="T43" fmla="*/ 2 h 165"/>
                  <a:gd name="T44" fmla="*/ 88 w 249"/>
                  <a:gd name="T45" fmla="*/ 4 h 165"/>
                  <a:gd name="T46" fmla="*/ 68 w 249"/>
                  <a:gd name="T47" fmla="*/ 9 h 165"/>
                  <a:gd name="T48" fmla="*/ 51 w 249"/>
                  <a:gd name="T49" fmla="*/ 15 h 165"/>
                  <a:gd name="T50" fmla="*/ 37 w 249"/>
                  <a:gd name="T51" fmla="*/ 24 h 165"/>
                  <a:gd name="T52" fmla="*/ 24 w 249"/>
                  <a:gd name="T53" fmla="*/ 35 h 165"/>
                  <a:gd name="T54" fmla="*/ 14 w 249"/>
                  <a:gd name="T55" fmla="*/ 44 h 165"/>
                  <a:gd name="T56" fmla="*/ 7 w 249"/>
                  <a:gd name="T57" fmla="*/ 57 h 165"/>
                  <a:gd name="T58" fmla="*/ 4 w 249"/>
                  <a:gd name="T59" fmla="*/ 68 h 165"/>
                  <a:gd name="T60" fmla="*/ 0 w 249"/>
                  <a:gd name="T61" fmla="*/ 81 h 165"/>
                  <a:gd name="T62" fmla="*/ 4 w 249"/>
                  <a:gd name="T63" fmla="*/ 94 h 165"/>
                  <a:gd name="T64" fmla="*/ 7 w 249"/>
                  <a:gd name="T65" fmla="*/ 108 h 165"/>
                  <a:gd name="T66" fmla="*/ 14 w 249"/>
                  <a:gd name="T67" fmla="*/ 121 h 165"/>
                  <a:gd name="T68" fmla="*/ 24 w 249"/>
                  <a:gd name="T69" fmla="*/ 130 h 165"/>
                  <a:gd name="T70" fmla="*/ 37 w 249"/>
                  <a:gd name="T71" fmla="*/ 140 h 165"/>
                  <a:gd name="T72" fmla="*/ 51 w 249"/>
                  <a:gd name="T73" fmla="*/ 147 h 165"/>
                  <a:gd name="T74" fmla="*/ 68 w 249"/>
                  <a:gd name="T75" fmla="*/ 154 h 165"/>
                  <a:gd name="T76" fmla="*/ 88 w 249"/>
                  <a:gd name="T77" fmla="*/ 160 h 165"/>
                  <a:gd name="T78" fmla="*/ 105 w 249"/>
                  <a:gd name="T79" fmla="*/ 162 h 165"/>
                  <a:gd name="T80" fmla="*/ 125 w 249"/>
                  <a:gd name="T81" fmla="*/ 165 h 165"/>
                  <a:gd name="T82" fmla="*/ 125 w 249"/>
                  <a:gd name="T83" fmla="*/ 165 h 165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249"/>
                  <a:gd name="T127" fmla="*/ 0 h 165"/>
                  <a:gd name="T128" fmla="*/ 249 w 249"/>
                  <a:gd name="T129" fmla="*/ 165 h 165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249" h="165">
                    <a:moveTo>
                      <a:pt x="125" y="162"/>
                    </a:moveTo>
                    <a:lnTo>
                      <a:pt x="145" y="162"/>
                    </a:lnTo>
                    <a:lnTo>
                      <a:pt x="165" y="160"/>
                    </a:lnTo>
                    <a:lnTo>
                      <a:pt x="182" y="154"/>
                    </a:lnTo>
                    <a:lnTo>
                      <a:pt x="199" y="147"/>
                    </a:lnTo>
                    <a:lnTo>
                      <a:pt x="216" y="140"/>
                    </a:lnTo>
                    <a:lnTo>
                      <a:pt x="226" y="130"/>
                    </a:lnTo>
                    <a:lnTo>
                      <a:pt x="236" y="121"/>
                    </a:lnTo>
                    <a:lnTo>
                      <a:pt x="246" y="108"/>
                    </a:lnTo>
                    <a:lnTo>
                      <a:pt x="249" y="94"/>
                    </a:lnTo>
                    <a:lnTo>
                      <a:pt x="249" y="81"/>
                    </a:lnTo>
                    <a:lnTo>
                      <a:pt x="249" y="68"/>
                    </a:lnTo>
                    <a:lnTo>
                      <a:pt x="246" y="57"/>
                    </a:lnTo>
                    <a:lnTo>
                      <a:pt x="236" y="44"/>
                    </a:lnTo>
                    <a:lnTo>
                      <a:pt x="226" y="35"/>
                    </a:lnTo>
                    <a:lnTo>
                      <a:pt x="216" y="24"/>
                    </a:lnTo>
                    <a:lnTo>
                      <a:pt x="199" y="15"/>
                    </a:lnTo>
                    <a:lnTo>
                      <a:pt x="182" y="9"/>
                    </a:lnTo>
                    <a:lnTo>
                      <a:pt x="165" y="4"/>
                    </a:lnTo>
                    <a:lnTo>
                      <a:pt x="145" y="2"/>
                    </a:lnTo>
                    <a:lnTo>
                      <a:pt x="125" y="0"/>
                    </a:lnTo>
                    <a:lnTo>
                      <a:pt x="105" y="2"/>
                    </a:lnTo>
                    <a:lnTo>
                      <a:pt x="88" y="4"/>
                    </a:lnTo>
                    <a:lnTo>
                      <a:pt x="68" y="9"/>
                    </a:lnTo>
                    <a:lnTo>
                      <a:pt x="51" y="15"/>
                    </a:lnTo>
                    <a:lnTo>
                      <a:pt x="37" y="24"/>
                    </a:lnTo>
                    <a:lnTo>
                      <a:pt x="24" y="35"/>
                    </a:lnTo>
                    <a:lnTo>
                      <a:pt x="14" y="44"/>
                    </a:lnTo>
                    <a:lnTo>
                      <a:pt x="7" y="57"/>
                    </a:lnTo>
                    <a:lnTo>
                      <a:pt x="4" y="68"/>
                    </a:lnTo>
                    <a:lnTo>
                      <a:pt x="0" y="81"/>
                    </a:lnTo>
                    <a:lnTo>
                      <a:pt x="4" y="94"/>
                    </a:lnTo>
                    <a:lnTo>
                      <a:pt x="7" y="108"/>
                    </a:lnTo>
                    <a:lnTo>
                      <a:pt x="14" y="121"/>
                    </a:lnTo>
                    <a:lnTo>
                      <a:pt x="24" y="130"/>
                    </a:lnTo>
                    <a:lnTo>
                      <a:pt x="37" y="140"/>
                    </a:lnTo>
                    <a:lnTo>
                      <a:pt x="51" y="147"/>
                    </a:lnTo>
                    <a:lnTo>
                      <a:pt x="68" y="154"/>
                    </a:lnTo>
                    <a:lnTo>
                      <a:pt x="88" y="160"/>
                    </a:lnTo>
                    <a:lnTo>
                      <a:pt x="105" y="162"/>
                    </a:lnTo>
                    <a:lnTo>
                      <a:pt x="125" y="165"/>
                    </a:lnTo>
                  </a:path>
                </a:pathLst>
              </a:custGeom>
              <a:solidFill>
                <a:schemeClr val="bg1"/>
              </a:solidFill>
              <a:ln w="1905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anchor="ctr" anchorCtr="0"/>
              <a:lstStyle/>
              <a:p>
                <a:r>
                  <a:rPr lang="en-US" b="1" dirty="0"/>
                  <a:t>=</a:t>
                </a:r>
              </a:p>
            </p:txBody>
          </p:sp>
          <p:sp>
            <p:nvSpPr>
              <p:cNvPr id="142" name="Freeform 217">
                <a:extLst>
                  <a:ext uri="{FF2B5EF4-FFF2-40B4-BE49-F238E27FC236}">
                    <a16:creationId xmlns:a16="http://schemas.microsoft.com/office/drawing/2014/main" id="{A0DC7F33-88F9-4153-97AF-32B01D6280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07435" y="4572000"/>
                <a:ext cx="366713" cy="300038"/>
              </a:xfrm>
              <a:custGeom>
                <a:avLst/>
                <a:gdLst>
                  <a:gd name="T0" fmla="*/ 125 w 249"/>
                  <a:gd name="T1" fmla="*/ 162 h 165"/>
                  <a:gd name="T2" fmla="*/ 145 w 249"/>
                  <a:gd name="T3" fmla="*/ 162 h 165"/>
                  <a:gd name="T4" fmla="*/ 165 w 249"/>
                  <a:gd name="T5" fmla="*/ 160 h 165"/>
                  <a:gd name="T6" fmla="*/ 182 w 249"/>
                  <a:gd name="T7" fmla="*/ 154 h 165"/>
                  <a:gd name="T8" fmla="*/ 199 w 249"/>
                  <a:gd name="T9" fmla="*/ 147 h 165"/>
                  <a:gd name="T10" fmla="*/ 216 w 249"/>
                  <a:gd name="T11" fmla="*/ 140 h 165"/>
                  <a:gd name="T12" fmla="*/ 226 w 249"/>
                  <a:gd name="T13" fmla="*/ 130 h 165"/>
                  <a:gd name="T14" fmla="*/ 236 w 249"/>
                  <a:gd name="T15" fmla="*/ 121 h 165"/>
                  <a:gd name="T16" fmla="*/ 246 w 249"/>
                  <a:gd name="T17" fmla="*/ 108 h 165"/>
                  <a:gd name="T18" fmla="*/ 249 w 249"/>
                  <a:gd name="T19" fmla="*/ 94 h 165"/>
                  <a:gd name="T20" fmla="*/ 249 w 249"/>
                  <a:gd name="T21" fmla="*/ 81 h 165"/>
                  <a:gd name="T22" fmla="*/ 249 w 249"/>
                  <a:gd name="T23" fmla="*/ 68 h 165"/>
                  <a:gd name="T24" fmla="*/ 246 w 249"/>
                  <a:gd name="T25" fmla="*/ 57 h 165"/>
                  <a:gd name="T26" fmla="*/ 236 w 249"/>
                  <a:gd name="T27" fmla="*/ 44 h 165"/>
                  <a:gd name="T28" fmla="*/ 226 w 249"/>
                  <a:gd name="T29" fmla="*/ 35 h 165"/>
                  <a:gd name="T30" fmla="*/ 216 w 249"/>
                  <a:gd name="T31" fmla="*/ 24 h 165"/>
                  <a:gd name="T32" fmla="*/ 199 w 249"/>
                  <a:gd name="T33" fmla="*/ 15 h 165"/>
                  <a:gd name="T34" fmla="*/ 182 w 249"/>
                  <a:gd name="T35" fmla="*/ 9 h 165"/>
                  <a:gd name="T36" fmla="*/ 165 w 249"/>
                  <a:gd name="T37" fmla="*/ 4 h 165"/>
                  <a:gd name="T38" fmla="*/ 145 w 249"/>
                  <a:gd name="T39" fmla="*/ 2 h 165"/>
                  <a:gd name="T40" fmla="*/ 125 w 249"/>
                  <a:gd name="T41" fmla="*/ 0 h 165"/>
                  <a:gd name="T42" fmla="*/ 105 w 249"/>
                  <a:gd name="T43" fmla="*/ 2 h 165"/>
                  <a:gd name="T44" fmla="*/ 88 w 249"/>
                  <a:gd name="T45" fmla="*/ 4 h 165"/>
                  <a:gd name="T46" fmla="*/ 68 w 249"/>
                  <a:gd name="T47" fmla="*/ 9 h 165"/>
                  <a:gd name="T48" fmla="*/ 51 w 249"/>
                  <a:gd name="T49" fmla="*/ 15 h 165"/>
                  <a:gd name="T50" fmla="*/ 37 w 249"/>
                  <a:gd name="T51" fmla="*/ 24 h 165"/>
                  <a:gd name="T52" fmla="*/ 24 w 249"/>
                  <a:gd name="T53" fmla="*/ 35 h 165"/>
                  <a:gd name="T54" fmla="*/ 14 w 249"/>
                  <a:gd name="T55" fmla="*/ 44 h 165"/>
                  <a:gd name="T56" fmla="*/ 7 w 249"/>
                  <a:gd name="T57" fmla="*/ 57 h 165"/>
                  <a:gd name="T58" fmla="*/ 4 w 249"/>
                  <a:gd name="T59" fmla="*/ 68 h 165"/>
                  <a:gd name="T60" fmla="*/ 0 w 249"/>
                  <a:gd name="T61" fmla="*/ 81 h 165"/>
                  <a:gd name="T62" fmla="*/ 4 w 249"/>
                  <a:gd name="T63" fmla="*/ 94 h 165"/>
                  <a:gd name="T64" fmla="*/ 7 w 249"/>
                  <a:gd name="T65" fmla="*/ 108 h 165"/>
                  <a:gd name="T66" fmla="*/ 14 w 249"/>
                  <a:gd name="T67" fmla="*/ 121 h 165"/>
                  <a:gd name="T68" fmla="*/ 24 w 249"/>
                  <a:gd name="T69" fmla="*/ 130 h 165"/>
                  <a:gd name="T70" fmla="*/ 37 w 249"/>
                  <a:gd name="T71" fmla="*/ 140 h 165"/>
                  <a:gd name="T72" fmla="*/ 51 w 249"/>
                  <a:gd name="T73" fmla="*/ 147 h 165"/>
                  <a:gd name="T74" fmla="*/ 68 w 249"/>
                  <a:gd name="T75" fmla="*/ 154 h 165"/>
                  <a:gd name="T76" fmla="*/ 88 w 249"/>
                  <a:gd name="T77" fmla="*/ 160 h 165"/>
                  <a:gd name="T78" fmla="*/ 105 w 249"/>
                  <a:gd name="T79" fmla="*/ 162 h 165"/>
                  <a:gd name="T80" fmla="*/ 125 w 249"/>
                  <a:gd name="T81" fmla="*/ 165 h 165"/>
                  <a:gd name="T82" fmla="*/ 125 w 249"/>
                  <a:gd name="T83" fmla="*/ 165 h 165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249"/>
                  <a:gd name="T127" fmla="*/ 0 h 165"/>
                  <a:gd name="T128" fmla="*/ 249 w 249"/>
                  <a:gd name="T129" fmla="*/ 165 h 165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249" h="165">
                    <a:moveTo>
                      <a:pt x="125" y="162"/>
                    </a:moveTo>
                    <a:lnTo>
                      <a:pt x="145" y="162"/>
                    </a:lnTo>
                    <a:lnTo>
                      <a:pt x="165" y="160"/>
                    </a:lnTo>
                    <a:lnTo>
                      <a:pt x="182" y="154"/>
                    </a:lnTo>
                    <a:lnTo>
                      <a:pt x="199" y="147"/>
                    </a:lnTo>
                    <a:lnTo>
                      <a:pt x="216" y="140"/>
                    </a:lnTo>
                    <a:lnTo>
                      <a:pt x="226" y="130"/>
                    </a:lnTo>
                    <a:lnTo>
                      <a:pt x="236" y="121"/>
                    </a:lnTo>
                    <a:lnTo>
                      <a:pt x="246" y="108"/>
                    </a:lnTo>
                    <a:lnTo>
                      <a:pt x="249" y="94"/>
                    </a:lnTo>
                    <a:lnTo>
                      <a:pt x="249" y="81"/>
                    </a:lnTo>
                    <a:lnTo>
                      <a:pt x="249" y="68"/>
                    </a:lnTo>
                    <a:lnTo>
                      <a:pt x="246" y="57"/>
                    </a:lnTo>
                    <a:lnTo>
                      <a:pt x="236" y="44"/>
                    </a:lnTo>
                    <a:lnTo>
                      <a:pt x="226" y="35"/>
                    </a:lnTo>
                    <a:lnTo>
                      <a:pt x="216" y="24"/>
                    </a:lnTo>
                    <a:lnTo>
                      <a:pt x="199" y="15"/>
                    </a:lnTo>
                    <a:lnTo>
                      <a:pt x="182" y="9"/>
                    </a:lnTo>
                    <a:lnTo>
                      <a:pt x="165" y="4"/>
                    </a:lnTo>
                    <a:lnTo>
                      <a:pt x="145" y="2"/>
                    </a:lnTo>
                    <a:lnTo>
                      <a:pt x="125" y="0"/>
                    </a:lnTo>
                    <a:lnTo>
                      <a:pt x="105" y="2"/>
                    </a:lnTo>
                    <a:lnTo>
                      <a:pt x="88" y="4"/>
                    </a:lnTo>
                    <a:lnTo>
                      <a:pt x="68" y="9"/>
                    </a:lnTo>
                    <a:lnTo>
                      <a:pt x="51" y="15"/>
                    </a:lnTo>
                    <a:lnTo>
                      <a:pt x="37" y="24"/>
                    </a:lnTo>
                    <a:lnTo>
                      <a:pt x="24" y="35"/>
                    </a:lnTo>
                    <a:lnTo>
                      <a:pt x="14" y="44"/>
                    </a:lnTo>
                    <a:lnTo>
                      <a:pt x="7" y="57"/>
                    </a:lnTo>
                    <a:lnTo>
                      <a:pt x="4" y="68"/>
                    </a:lnTo>
                    <a:lnTo>
                      <a:pt x="0" y="81"/>
                    </a:lnTo>
                    <a:lnTo>
                      <a:pt x="4" y="94"/>
                    </a:lnTo>
                    <a:lnTo>
                      <a:pt x="7" y="108"/>
                    </a:lnTo>
                    <a:lnTo>
                      <a:pt x="14" y="121"/>
                    </a:lnTo>
                    <a:lnTo>
                      <a:pt x="24" y="130"/>
                    </a:lnTo>
                    <a:lnTo>
                      <a:pt x="37" y="140"/>
                    </a:lnTo>
                    <a:lnTo>
                      <a:pt x="51" y="147"/>
                    </a:lnTo>
                    <a:lnTo>
                      <a:pt x="68" y="154"/>
                    </a:lnTo>
                    <a:lnTo>
                      <a:pt x="88" y="160"/>
                    </a:lnTo>
                    <a:lnTo>
                      <a:pt x="105" y="162"/>
                    </a:lnTo>
                    <a:lnTo>
                      <a:pt x="125" y="165"/>
                    </a:lnTo>
                  </a:path>
                </a:pathLst>
              </a:custGeom>
              <a:solidFill>
                <a:schemeClr val="bg1"/>
              </a:solidFill>
              <a:ln w="1905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anchor="ctr" anchorCtr="0"/>
              <a:lstStyle/>
              <a:p>
                <a:r>
                  <a:rPr lang="en-US" b="1" dirty="0"/>
                  <a:t>=</a:t>
                </a:r>
              </a:p>
            </p:txBody>
          </p:sp>
          <p:sp>
            <p:nvSpPr>
              <p:cNvPr id="143" name="Line 485">
                <a:extLst>
                  <a:ext uri="{FF2B5EF4-FFF2-40B4-BE49-F238E27FC236}">
                    <a16:creationId xmlns:a16="http://schemas.microsoft.com/office/drawing/2014/main" id="{5F1B290C-71BF-4A46-9A96-C2452A5A53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62200" y="4724400"/>
                <a:ext cx="1295400" cy="0"/>
              </a:xfrm>
              <a:prstGeom prst="line">
                <a:avLst/>
              </a:prstGeom>
              <a:noFill/>
              <a:ln w="28575">
                <a:solidFill>
                  <a:srgbClr val="C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" name="Line 485">
                <a:extLst>
                  <a:ext uri="{FF2B5EF4-FFF2-40B4-BE49-F238E27FC236}">
                    <a16:creationId xmlns:a16="http://schemas.microsoft.com/office/drawing/2014/main" id="{E1CCDB08-D668-4ABD-ABFA-18ACD6D619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38600" y="4724400"/>
                <a:ext cx="1295400" cy="0"/>
              </a:xfrm>
              <a:prstGeom prst="line">
                <a:avLst/>
              </a:prstGeom>
              <a:noFill/>
              <a:ln w="28575">
                <a:solidFill>
                  <a:srgbClr val="C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" name="Line 485">
                <a:extLst>
                  <a:ext uri="{FF2B5EF4-FFF2-40B4-BE49-F238E27FC236}">
                    <a16:creationId xmlns:a16="http://schemas.microsoft.com/office/drawing/2014/main" id="{31FDA1C2-ACE9-4000-8149-9CB7E2B423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15000" y="4724400"/>
                <a:ext cx="1295400" cy="0"/>
              </a:xfrm>
              <a:prstGeom prst="line">
                <a:avLst/>
              </a:prstGeom>
              <a:noFill/>
              <a:ln w="28575">
                <a:solidFill>
                  <a:srgbClr val="C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46" name="Group 204">
                <a:extLst>
                  <a:ext uri="{FF2B5EF4-FFF2-40B4-BE49-F238E27FC236}">
                    <a16:creationId xmlns:a16="http://schemas.microsoft.com/office/drawing/2014/main" id="{210424AD-B3F4-4F4B-82C6-368AC04C5CC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60787" y="3124200"/>
                <a:ext cx="430213" cy="1447800"/>
                <a:chOff x="1229" y="2400"/>
                <a:chExt cx="271" cy="825"/>
              </a:xfrm>
            </p:grpSpPr>
            <p:sp>
              <p:nvSpPr>
                <p:cNvPr id="231" name="Line 205">
                  <a:extLst>
                    <a:ext uri="{FF2B5EF4-FFF2-40B4-BE49-F238E27FC236}">
                      <a16:creationId xmlns:a16="http://schemas.microsoft.com/office/drawing/2014/main" id="{2FAA28A9-27F1-4785-932B-1C8B9B87077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29" y="3107"/>
                  <a:ext cx="96" cy="39"/>
                </a:xfrm>
                <a:prstGeom prst="line">
                  <a:avLst/>
                </a:prstGeom>
                <a:noFill/>
                <a:ln w="206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2" name="Text Box 206">
                  <a:extLst>
                    <a:ext uri="{FF2B5EF4-FFF2-40B4-BE49-F238E27FC236}">
                      <a16:creationId xmlns:a16="http://schemas.microsoft.com/office/drawing/2014/main" id="{DBCA30B6-068F-405B-9E7D-0C8F31A545D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277" y="3051"/>
                  <a:ext cx="223" cy="143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eaLnBrk="0" hangingPunct="0"/>
                  <a:r>
                    <a:rPr lang="en-US" sz="1200" dirty="0"/>
                    <a:t>22</a:t>
                  </a:r>
                </a:p>
              </p:txBody>
            </p:sp>
            <p:sp>
              <p:nvSpPr>
                <p:cNvPr id="233" name="Line 207">
                  <a:extLst>
                    <a:ext uri="{FF2B5EF4-FFF2-40B4-BE49-F238E27FC236}">
                      <a16:creationId xmlns:a16="http://schemas.microsoft.com/office/drawing/2014/main" id="{48C47619-6CBD-4E5D-9B05-FDDC8ECAE51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277" y="2400"/>
                  <a:ext cx="0" cy="825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oval" w="sm" len="sm"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47" name="Group 204">
                <a:extLst>
                  <a:ext uri="{FF2B5EF4-FFF2-40B4-BE49-F238E27FC236}">
                    <a16:creationId xmlns:a16="http://schemas.microsoft.com/office/drawing/2014/main" id="{49EFA0D4-0313-41BA-8CCE-E5D5CC48753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437187" y="3124200"/>
                <a:ext cx="430213" cy="1447800"/>
                <a:chOff x="1229" y="2400"/>
                <a:chExt cx="271" cy="825"/>
              </a:xfrm>
            </p:grpSpPr>
            <p:sp>
              <p:nvSpPr>
                <p:cNvPr id="228" name="Line 205">
                  <a:extLst>
                    <a:ext uri="{FF2B5EF4-FFF2-40B4-BE49-F238E27FC236}">
                      <a16:creationId xmlns:a16="http://schemas.microsoft.com/office/drawing/2014/main" id="{D62BBC6C-9062-4FEE-9EE2-DC796828A7D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29" y="3107"/>
                  <a:ext cx="96" cy="39"/>
                </a:xfrm>
                <a:prstGeom prst="line">
                  <a:avLst/>
                </a:prstGeom>
                <a:noFill/>
                <a:ln w="206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9" name="Text Box 206">
                  <a:extLst>
                    <a:ext uri="{FF2B5EF4-FFF2-40B4-BE49-F238E27FC236}">
                      <a16:creationId xmlns:a16="http://schemas.microsoft.com/office/drawing/2014/main" id="{315B6201-F7D2-4CB3-8BA6-B1F878CFB70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277" y="3051"/>
                  <a:ext cx="223" cy="143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eaLnBrk="0" hangingPunct="0"/>
                  <a:r>
                    <a:rPr lang="en-US" sz="1200" dirty="0"/>
                    <a:t>22</a:t>
                  </a:r>
                </a:p>
              </p:txBody>
            </p:sp>
            <p:sp>
              <p:nvSpPr>
                <p:cNvPr id="230" name="Line 207">
                  <a:extLst>
                    <a:ext uri="{FF2B5EF4-FFF2-40B4-BE49-F238E27FC236}">
                      <a16:creationId xmlns:a16="http://schemas.microsoft.com/office/drawing/2014/main" id="{44B6A723-60D7-44EB-BF7F-3F563F72CE0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277" y="2400"/>
                  <a:ext cx="0" cy="825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oval" w="sm" len="sm"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48" name="Group 204">
                <a:extLst>
                  <a:ext uri="{FF2B5EF4-FFF2-40B4-BE49-F238E27FC236}">
                    <a16:creationId xmlns:a16="http://schemas.microsoft.com/office/drawing/2014/main" id="{45D09BA9-A502-4A24-8202-56F181258EF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113587" y="3124200"/>
                <a:ext cx="430213" cy="1447800"/>
                <a:chOff x="1229" y="2400"/>
                <a:chExt cx="271" cy="825"/>
              </a:xfrm>
            </p:grpSpPr>
            <p:sp>
              <p:nvSpPr>
                <p:cNvPr id="225" name="Line 205">
                  <a:extLst>
                    <a:ext uri="{FF2B5EF4-FFF2-40B4-BE49-F238E27FC236}">
                      <a16:creationId xmlns:a16="http://schemas.microsoft.com/office/drawing/2014/main" id="{509AC1F4-9097-4BF9-AC5F-51A3DEF7F63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29" y="3107"/>
                  <a:ext cx="96" cy="39"/>
                </a:xfrm>
                <a:prstGeom prst="line">
                  <a:avLst/>
                </a:prstGeom>
                <a:noFill/>
                <a:ln w="206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6" name="Text Box 206">
                  <a:extLst>
                    <a:ext uri="{FF2B5EF4-FFF2-40B4-BE49-F238E27FC236}">
                      <a16:creationId xmlns:a16="http://schemas.microsoft.com/office/drawing/2014/main" id="{513A457C-8937-455A-9FAD-A3840A8FC9A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277" y="3051"/>
                  <a:ext cx="223" cy="143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eaLnBrk="0" hangingPunct="0"/>
                  <a:r>
                    <a:rPr lang="en-US" sz="1200" dirty="0"/>
                    <a:t>22</a:t>
                  </a:r>
                </a:p>
              </p:txBody>
            </p:sp>
            <p:sp>
              <p:nvSpPr>
                <p:cNvPr id="227" name="Line 207">
                  <a:extLst>
                    <a:ext uri="{FF2B5EF4-FFF2-40B4-BE49-F238E27FC236}">
                      <a16:creationId xmlns:a16="http://schemas.microsoft.com/office/drawing/2014/main" id="{B7AA7B4F-7E05-45B5-8171-154565D62C2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277" y="2400"/>
                  <a:ext cx="0" cy="825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oval" w="sm" len="sm"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49" name="Group 148">
                <a:extLst>
                  <a:ext uri="{FF2B5EF4-FFF2-40B4-BE49-F238E27FC236}">
                    <a16:creationId xmlns:a16="http://schemas.microsoft.com/office/drawing/2014/main" id="{3E4226E0-8A2A-47A8-B84E-BEF7E7B8A4DD}"/>
                  </a:ext>
                </a:extLst>
              </p:cNvPr>
              <p:cNvGrpSpPr/>
              <p:nvPr/>
            </p:nvGrpSpPr>
            <p:grpSpPr>
              <a:xfrm>
                <a:off x="1806575" y="3124200"/>
                <a:ext cx="404812" cy="2133600"/>
                <a:chOff x="1806575" y="3124200"/>
                <a:chExt cx="404812" cy="2133600"/>
              </a:xfrm>
            </p:grpSpPr>
            <p:sp>
              <p:nvSpPr>
                <p:cNvPr id="222" name="Line 455">
                  <a:extLst>
                    <a:ext uri="{FF2B5EF4-FFF2-40B4-BE49-F238E27FC236}">
                      <a16:creationId xmlns:a16="http://schemas.microsoft.com/office/drawing/2014/main" id="{BD4C7C24-5A1A-4B90-BF66-BB75E9FFF44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05000" y="3124200"/>
                  <a:ext cx="0" cy="1905000"/>
                </a:xfrm>
                <a:prstGeom prst="line">
                  <a:avLst/>
                </a:prstGeom>
                <a:noFill/>
                <a:ln w="22225">
                  <a:solidFill>
                    <a:srgbClr val="000000"/>
                  </a:solidFill>
                  <a:round/>
                  <a:headEnd type="oval" w="sm" len="sm"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3" name="Freeform 222">
                  <a:extLst>
                    <a:ext uri="{FF2B5EF4-FFF2-40B4-BE49-F238E27FC236}">
                      <a16:creationId xmlns:a16="http://schemas.microsoft.com/office/drawing/2014/main" id="{BF94F6D8-6CDF-4FC8-9064-22E22F374D4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81200" y="4876800"/>
                  <a:ext cx="230187" cy="152400"/>
                </a:xfrm>
                <a:custGeom>
                  <a:avLst/>
                  <a:gdLst>
                    <a:gd name="T0" fmla="*/ 248 w 252"/>
                    <a:gd name="T1" fmla="*/ 0 h 136"/>
                    <a:gd name="T2" fmla="*/ 252 w 252"/>
                    <a:gd name="T3" fmla="*/ 68 h 136"/>
                    <a:gd name="T4" fmla="*/ 0 w 252"/>
                    <a:gd name="T5" fmla="*/ 68 h 136"/>
                    <a:gd name="T6" fmla="*/ 0 w 252"/>
                    <a:gd name="T7" fmla="*/ 136 h 13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52"/>
                    <a:gd name="T13" fmla="*/ 0 h 136"/>
                    <a:gd name="T14" fmla="*/ 252 w 252"/>
                    <a:gd name="T15" fmla="*/ 136 h 1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52" h="136">
                      <a:moveTo>
                        <a:pt x="248" y="0"/>
                      </a:moveTo>
                      <a:lnTo>
                        <a:pt x="252" y="68"/>
                      </a:lnTo>
                      <a:lnTo>
                        <a:pt x="0" y="68"/>
                      </a:lnTo>
                      <a:lnTo>
                        <a:pt x="0" y="136"/>
                      </a:lnTo>
                    </a:path>
                  </a:pathLst>
                </a:custGeom>
                <a:noFill/>
                <a:ln w="2857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4" name="Freeform 454">
                  <a:extLst>
                    <a:ext uri="{FF2B5EF4-FFF2-40B4-BE49-F238E27FC236}">
                      <a16:creationId xmlns:a16="http://schemas.microsoft.com/office/drawing/2014/main" id="{E28F8082-8B87-4C0C-B733-D00EC8CED04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6575" y="5000625"/>
                  <a:ext cx="250825" cy="257175"/>
                </a:xfrm>
                <a:custGeom>
                  <a:avLst/>
                  <a:gdLst>
                    <a:gd name="T0" fmla="*/ 0 w 222"/>
                    <a:gd name="T1" fmla="*/ 84 h 172"/>
                    <a:gd name="T2" fmla="*/ 1 w 222"/>
                    <a:gd name="T3" fmla="*/ 95 h 172"/>
                    <a:gd name="T4" fmla="*/ 3 w 222"/>
                    <a:gd name="T5" fmla="*/ 105 h 172"/>
                    <a:gd name="T6" fmla="*/ 4 w 222"/>
                    <a:gd name="T7" fmla="*/ 112 h 172"/>
                    <a:gd name="T8" fmla="*/ 8 w 222"/>
                    <a:gd name="T9" fmla="*/ 120 h 172"/>
                    <a:gd name="T10" fmla="*/ 11 w 222"/>
                    <a:gd name="T11" fmla="*/ 127 h 172"/>
                    <a:gd name="T12" fmla="*/ 16 w 222"/>
                    <a:gd name="T13" fmla="*/ 132 h 172"/>
                    <a:gd name="T14" fmla="*/ 22 w 222"/>
                    <a:gd name="T15" fmla="*/ 138 h 172"/>
                    <a:gd name="T16" fmla="*/ 28 w 222"/>
                    <a:gd name="T17" fmla="*/ 141 h 172"/>
                    <a:gd name="T18" fmla="*/ 34 w 222"/>
                    <a:gd name="T19" fmla="*/ 144 h 172"/>
                    <a:gd name="T20" fmla="*/ 40 w 222"/>
                    <a:gd name="T21" fmla="*/ 144 h 172"/>
                    <a:gd name="T22" fmla="*/ 47 w 222"/>
                    <a:gd name="T23" fmla="*/ 144 h 172"/>
                    <a:gd name="T24" fmla="*/ 53 w 222"/>
                    <a:gd name="T25" fmla="*/ 141 h 172"/>
                    <a:gd name="T26" fmla="*/ 58 w 222"/>
                    <a:gd name="T27" fmla="*/ 138 h 172"/>
                    <a:gd name="T28" fmla="*/ 64 w 222"/>
                    <a:gd name="T29" fmla="*/ 132 h 172"/>
                    <a:gd name="T30" fmla="*/ 68 w 222"/>
                    <a:gd name="T31" fmla="*/ 127 h 172"/>
                    <a:gd name="T32" fmla="*/ 73 w 222"/>
                    <a:gd name="T33" fmla="*/ 120 h 172"/>
                    <a:gd name="T34" fmla="*/ 75 w 222"/>
                    <a:gd name="T35" fmla="*/ 112 h 172"/>
                    <a:gd name="T36" fmla="*/ 78 w 222"/>
                    <a:gd name="T37" fmla="*/ 105 h 172"/>
                    <a:gd name="T38" fmla="*/ 80 w 222"/>
                    <a:gd name="T39" fmla="*/ 95 h 172"/>
                    <a:gd name="T40" fmla="*/ 80 w 222"/>
                    <a:gd name="T41" fmla="*/ 87 h 172"/>
                    <a:gd name="T42" fmla="*/ 80 w 222"/>
                    <a:gd name="T43" fmla="*/ 0 h 172"/>
                    <a:gd name="T44" fmla="*/ 1 w 222"/>
                    <a:gd name="T45" fmla="*/ 0 h 172"/>
                    <a:gd name="T46" fmla="*/ 1 w 222"/>
                    <a:gd name="T47" fmla="*/ 87 h 172"/>
                    <a:gd name="T48" fmla="*/ 1 w 222"/>
                    <a:gd name="T49" fmla="*/ 87 h 172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w 222"/>
                    <a:gd name="T76" fmla="*/ 0 h 172"/>
                    <a:gd name="T77" fmla="*/ 222 w 222"/>
                    <a:gd name="T78" fmla="*/ 172 h 172"/>
                  </a:gdLst>
                  <a:ahLst/>
                  <a:cxnLst>
                    <a:cxn ang="T50">
                      <a:pos x="T0" y="T1"/>
                    </a:cxn>
                    <a:cxn ang="T51">
                      <a:pos x="T2" y="T3"/>
                    </a:cxn>
                    <a:cxn ang="T52">
                      <a:pos x="T4" y="T5"/>
                    </a:cxn>
                    <a:cxn ang="T53">
                      <a:pos x="T6" y="T7"/>
                    </a:cxn>
                    <a:cxn ang="T54">
                      <a:pos x="T8" y="T9"/>
                    </a:cxn>
                    <a:cxn ang="T55">
                      <a:pos x="T10" y="T11"/>
                    </a:cxn>
                    <a:cxn ang="T56">
                      <a:pos x="T12" y="T13"/>
                    </a:cxn>
                    <a:cxn ang="T57">
                      <a:pos x="T14" y="T15"/>
                    </a:cxn>
                    <a:cxn ang="T58">
                      <a:pos x="T16" y="T17"/>
                    </a:cxn>
                    <a:cxn ang="T59">
                      <a:pos x="T18" y="T19"/>
                    </a:cxn>
                    <a:cxn ang="T60">
                      <a:pos x="T20" y="T21"/>
                    </a:cxn>
                    <a:cxn ang="T61">
                      <a:pos x="T22" y="T23"/>
                    </a:cxn>
                    <a:cxn ang="T62">
                      <a:pos x="T24" y="T25"/>
                    </a:cxn>
                    <a:cxn ang="T63">
                      <a:pos x="T26" y="T27"/>
                    </a:cxn>
                    <a:cxn ang="T64">
                      <a:pos x="T28" y="T29"/>
                    </a:cxn>
                    <a:cxn ang="T65">
                      <a:pos x="T30" y="T31"/>
                    </a:cxn>
                    <a:cxn ang="T66">
                      <a:pos x="T32" y="T33"/>
                    </a:cxn>
                    <a:cxn ang="T67">
                      <a:pos x="T34" y="T35"/>
                    </a:cxn>
                    <a:cxn ang="T68">
                      <a:pos x="T36" y="T37"/>
                    </a:cxn>
                    <a:cxn ang="T69">
                      <a:pos x="T38" y="T39"/>
                    </a:cxn>
                    <a:cxn ang="T70">
                      <a:pos x="T40" y="T41"/>
                    </a:cxn>
                    <a:cxn ang="T71">
                      <a:pos x="T42" y="T43"/>
                    </a:cxn>
                    <a:cxn ang="T72">
                      <a:pos x="T44" y="T45"/>
                    </a:cxn>
                    <a:cxn ang="T73">
                      <a:pos x="T46" y="T47"/>
                    </a:cxn>
                    <a:cxn ang="T74">
                      <a:pos x="T48" y="T49"/>
                    </a:cxn>
                  </a:cxnLst>
                  <a:rect l="T75" t="T76" r="T77" b="T78"/>
                  <a:pathLst>
                    <a:path w="222" h="172">
                      <a:moveTo>
                        <a:pt x="0" y="101"/>
                      </a:moveTo>
                      <a:lnTo>
                        <a:pt x="3" y="114"/>
                      </a:lnTo>
                      <a:lnTo>
                        <a:pt x="7" y="125"/>
                      </a:lnTo>
                      <a:lnTo>
                        <a:pt x="13" y="134"/>
                      </a:lnTo>
                      <a:lnTo>
                        <a:pt x="23" y="143"/>
                      </a:lnTo>
                      <a:lnTo>
                        <a:pt x="33" y="152"/>
                      </a:lnTo>
                      <a:lnTo>
                        <a:pt x="47" y="158"/>
                      </a:lnTo>
                      <a:lnTo>
                        <a:pt x="60" y="165"/>
                      </a:lnTo>
                      <a:lnTo>
                        <a:pt x="77" y="169"/>
                      </a:lnTo>
                      <a:lnTo>
                        <a:pt x="94" y="172"/>
                      </a:lnTo>
                      <a:lnTo>
                        <a:pt x="111" y="172"/>
                      </a:lnTo>
                      <a:lnTo>
                        <a:pt x="131" y="172"/>
                      </a:lnTo>
                      <a:lnTo>
                        <a:pt x="148" y="169"/>
                      </a:lnTo>
                      <a:lnTo>
                        <a:pt x="161" y="165"/>
                      </a:lnTo>
                      <a:lnTo>
                        <a:pt x="178" y="158"/>
                      </a:lnTo>
                      <a:lnTo>
                        <a:pt x="188" y="152"/>
                      </a:lnTo>
                      <a:lnTo>
                        <a:pt x="202" y="143"/>
                      </a:lnTo>
                      <a:lnTo>
                        <a:pt x="208" y="134"/>
                      </a:lnTo>
                      <a:lnTo>
                        <a:pt x="215" y="125"/>
                      </a:lnTo>
                      <a:lnTo>
                        <a:pt x="222" y="114"/>
                      </a:lnTo>
                      <a:lnTo>
                        <a:pt x="222" y="104"/>
                      </a:lnTo>
                      <a:lnTo>
                        <a:pt x="222" y="0"/>
                      </a:lnTo>
                      <a:lnTo>
                        <a:pt x="3" y="0"/>
                      </a:lnTo>
                      <a:lnTo>
                        <a:pt x="3" y="104"/>
                      </a:lnTo>
                    </a:path>
                  </a:pathLst>
                </a:custGeom>
                <a:solidFill>
                  <a:schemeClr val="bg1"/>
                </a:solidFill>
                <a:ln w="2063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 anchor="ctr" anchorCtr="0"/>
                <a:lstStyle/>
                <a:p>
                  <a:r>
                    <a:rPr lang="en-US" sz="1200" b="1" dirty="0"/>
                    <a:t>A</a:t>
                  </a:r>
                </a:p>
              </p:txBody>
            </p:sp>
          </p:grpSp>
          <p:sp>
            <p:nvSpPr>
              <p:cNvPr id="150" name="Freeform 217">
                <a:extLst>
                  <a:ext uri="{FF2B5EF4-FFF2-40B4-BE49-F238E27FC236}">
                    <a16:creationId xmlns:a16="http://schemas.microsoft.com/office/drawing/2014/main" id="{4A05935E-1004-4A7F-8680-1F011F1717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8557" y="4572000"/>
                <a:ext cx="366713" cy="300038"/>
              </a:xfrm>
              <a:custGeom>
                <a:avLst/>
                <a:gdLst>
                  <a:gd name="T0" fmla="*/ 125 w 249"/>
                  <a:gd name="T1" fmla="*/ 162 h 165"/>
                  <a:gd name="T2" fmla="*/ 145 w 249"/>
                  <a:gd name="T3" fmla="*/ 162 h 165"/>
                  <a:gd name="T4" fmla="*/ 165 w 249"/>
                  <a:gd name="T5" fmla="*/ 160 h 165"/>
                  <a:gd name="T6" fmla="*/ 182 w 249"/>
                  <a:gd name="T7" fmla="*/ 154 h 165"/>
                  <a:gd name="T8" fmla="*/ 199 w 249"/>
                  <a:gd name="T9" fmla="*/ 147 h 165"/>
                  <a:gd name="T10" fmla="*/ 216 w 249"/>
                  <a:gd name="T11" fmla="*/ 140 h 165"/>
                  <a:gd name="T12" fmla="*/ 226 w 249"/>
                  <a:gd name="T13" fmla="*/ 130 h 165"/>
                  <a:gd name="T14" fmla="*/ 236 w 249"/>
                  <a:gd name="T15" fmla="*/ 121 h 165"/>
                  <a:gd name="T16" fmla="*/ 246 w 249"/>
                  <a:gd name="T17" fmla="*/ 108 h 165"/>
                  <a:gd name="T18" fmla="*/ 249 w 249"/>
                  <a:gd name="T19" fmla="*/ 94 h 165"/>
                  <a:gd name="T20" fmla="*/ 249 w 249"/>
                  <a:gd name="T21" fmla="*/ 81 h 165"/>
                  <a:gd name="T22" fmla="*/ 249 w 249"/>
                  <a:gd name="T23" fmla="*/ 68 h 165"/>
                  <a:gd name="T24" fmla="*/ 246 w 249"/>
                  <a:gd name="T25" fmla="*/ 57 h 165"/>
                  <a:gd name="T26" fmla="*/ 236 w 249"/>
                  <a:gd name="T27" fmla="*/ 44 h 165"/>
                  <a:gd name="T28" fmla="*/ 226 w 249"/>
                  <a:gd name="T29" fmla="*/ 35 h 165"/>
                  <a:gd name="T30" fmla="*/ 216 w 249"/>
                  <a:gd name="T31" fmla="*/ 24 h 165"/>
                  <a:gd name="T32" fmla="*/ 199 w 249"/>
                  <a:gd name="T33" fmla="*/ 15 h 165"/>
                  <a:gd name="T34" fmla="*/ 182 w 249"/>
                  <a:gd name="T35" fmla="*/ 9 h 165"/>
                  <a:gd name="T36" fmla="*/ 165 w 249"/>
                  <a:gd name="T37" fmla="*/ 4 h 165"/>
                  <a:gd name="T38" fmla="*/ 145 w 249"/>
                  <a:gd name="T39" fmla="*/ 2 h 165"/>
                  <a:gd name="T40" fmla="*/ 125 w 249"/>
                  <a:gd name="T41" fmla="*/ 0 h 165"/>
                  <a:gd name="T42" fmla="*/ 105 w 249"/>
                  <a:gd name="T43" fmla="*/ 2 h 165"/>
                  <a:gd name="T44" fmla="*/ 88 w 249"/>
                  <a:gd name="T45" fmla="*/ 4 h 165"/>
                  <a:gd name="T46" fmla="*/ 68 w 249"/>
                  <a:gd name="T47" fmla="*/ 9 h 165"/>
                  <a:gd name="T48" fmla="*/ 51 w 249"/>
                  <a:gd name="T49" fmla="*/ 15 h 165"/>
                  <a:gd name="T50" fmla="*/ 37 w 249"/>
                  <a:gd name="T51" fmla="*/ 24 h 165"/>
                  <a:gd name="T52" fmla="*/ 24 w 249"/>
                  <a:gd name="T53" fmla="*/ 35 h 165"/>
                  <a:gd name="T54" fmla="*/ 14 w 249"/>
                  <a:gd name="T55" fmla="*/ 44 h 165"/>
                  <a:gd name="T56" fmla="*/ 7 w 249"/>
                  <a:gd name="T57" fmla="*/ 57 h 165"/>
                  <a:gd name="T58" fmla="*/ 4 w 249"/>
                  <a:gd name="T59" fmla="*/ 68 h 165"/>
                  <a:gd name="T60" fmla="*/ 0 w 249"/>
                  <a:gd name="T61" fmla="*/ 81 h 165"/>
                  <a:gd name="T62" fmla="*/ 4 w 249"/>
                  <a:gd name="T63" fmla="*/ 94 h 165"/>
                  <a:gd name="T64" fmla="*/ 7 w 249"/>
                  <a:gd name="T65" fmla="*/ 108 h 165"/>
                  <a:gd name="T66" fmla="*/ 14 w 249"/>
                  <a:gd name="T67" fmla="*/ 121 h 165"/>
                  <a:gd name="T68" fmla="*/ 24 w 249"/>
                  <a:gd name="T69" fmla="*/ 130 h 165"/>
                  <a:gd name="T70" fmla="*/ 37 w 249"/>
                  <a:gd name="T71" fmla="*/ 140 h 165"/>
                  <a:gd name="T72" fmla="*/ 51 w 249"/>
                  <a:gd name="T73" fmla="*/ 147 h 165"/>
                  <a:gd name="T74" fmla="*/ 68 w 249"/>
                  <a:gd name="T75" fmla="*/ 154 h 165"/>
                  <a:gd name="T76" fmla="*/ 88 w 249"/>
                  <a:gd name="T77" fmla="*/ 160 h 165"/>
                  <a:gd name="T78" fmla="*/ 105 w 249"/>
                  <a:gd name="T79" fmla="*/ 162 h 165"/>
                  <a:gd name="T80" fmla="*/ 125 w 249"/>
                  <a:gd name="T81" fmla="*/ 165 h 165"/>
                  <a:gd name="T82" fmla="*/ 125 w 249"/>
                  <a:gd name="T83" fmla="*/ 165 h 165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249"/>
                  <a:gd name="T127" fmla="*/ 0 h 165"/>
                  <a:gd name="T128" fmla="*/ 249 w 249"/>
                  <a:gd name="T129" fmla="*/ 165 h 165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249" h="165">
                    <a:moveTo>
                      <a:pt x="125" y="162"/>
                    </a:moveTo>
                    <a:lnTo>
                      <a:pt x="145" y="162"/>
                    </a:lnTo>
                    <a:lnTo>
                      <a:pt x="165" y="160"/>
                    </a:lnTo>
                    <a:lnTo>
                      <a:pt x="182" y="154"/>
                    </a:lnTo>
                    <a:lnTo>
                      <a:pt x="199" y="147"/>
                    </a:lnTo>
                    <a:lnTo>
                      <a:pt x="216" y="140"/>
                    </a:lnTo>
                    <a:lnTo>
                      <a:pt x="226" y="130"/>
                    </a:lnTo>
                    <a:lnTo>
                      <a:pt x="236" y="121"/>
                    </a:lnTo>
                    <a:lnTo>
                      <a:pt x="246" y="108"/>
                    </a:lnTo>
                    <a:lnTo>
                      <a:pt x="249" y="94"/>
                    </a:lnTo>
                    <a:lnTo>
                      <a:pt x="249" y="81"/>
                    </a:lnTo>
                    <a:lnTo>
                      <a:pt x="249" y="68"/>
                    </a:lnTo>
                    <a:lnTo>
                      <a:pt x="246" y="57"/>
                    </a:lnTo>
                    <a:lnTo>
                      <a:pt x="236" y="44"/>
                    </a:lnTo>
                    <a:lnTo>
                      <a:pt x="226" y="35"/>
                    </a:lnTo>
                    <a:lnTo>
                      <a:pt x="216" y="24"/>
                    </a:lnTo>
                    <a:lnTo>
                      <a:pt x="199" y="15"/>
                    </a:lnTo>
                    <a:lnTo>
                      <a:pt x="182" y="9"/>
                    </a:lnTo>
                    <a:lnTo>
                      <a:pt x="165" y="4"/>
                    </a:lnTo>
                    <a:lnTo>
                      <a:pt x="145" y="2"/>
                    </a:lnTo>
                    <a:lnTo>
                      <a:pt x="125" y="0"/>
                    </a:lnTo>
                    <a:lnTo>
                      <a:pt x="105" y="2"/>
                    </a:lnTo>
                    <a:lnTo>
                      <a:pt x="88" y="4"/>
                    </a:lnTo>
                    <a:lnTo>
                      <a:pt x="68" y="9"/>
                    </a:lnTo>
                    <a:lnTo>
                      <a:pt x="51" y="15"/>
                    </a:lnTo>
                    <a:lnTo>
                      <a:pt x="37" y="24"/>
                    </a:lnTo>
                    <a:lnTo>
                      <a:pt x="24" y="35"/>
                    </a:lnTo>
                    <a:lnTo>
                      <a:pt x="14" y="44"/>
                    </a:lnTo>
                    <a:lnTo>
                      <a:pt x="7" y="57"/>
                    </a:lnTo>
                    <a:lnTo>
                      <a:pt x="4" y="68"/>
                    </a:lnTo>
                    <a:lnTo>
                      <a:pt x="0" y="81"/>
                    </a:lnTo>
                    <a:lnTo>
                      <a:pt x="4" y="94"/>
                    </a:lnTo>
                    <a:lnTo>
                      <a:pt x="7" y="108"/>
                    </a:lnTo>
                    <a:lnTo>
                      <a:pt x="14" y="121"/>
                    </a:lnTo>
                    <a:lnTo>
                      <a:pt x="24" y="130"/>
                    </a:lnTo>
                    <a:lnTo>
                      <a:pt x="37" y="140"/>
                    </a:lnTo>
                    <a:lnTo>
                      <a:pt x="51" y="147"/>
                    </a:lnTo>
                    <a:lnTo>
                      <a:pt x="68" y="154"/>
                    </a:lnTo>
                    <a:lnTo>
                      <a:pt x="88" y="160"/>
                    </a:lnTo>
                    <a:lnTo>
                      <a:pt x="105" y="162"/>
                    </a:lnTo>
                    <a:lnTo>
                      <a:pt x="125" y="165"/>
                    </a:lnTo>
                  </a:path>
                </a:pathLst>
              </a:custGeom>
              <a:solidFill>
                <a:schemeClr val="bg1"/>
              </a:solidFill>
              <a:ln w="1905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anchor="ctr" anchorCtr="0"/>
              <a:lstStyle/>
              <a:p>
                <a:r>
                  <a:rPr lang="en-US" b="1" dirty="0"/>
                  <a:t>=</a:t>
                </a:r>
              </a:p>
            </p:txBody>
          </p:sp>
          <p:grpSp>
            <p:nvGrpSpPr>
              <p:cNvPr id="151" name="Group 150">
                <a:extLst>
                  <a:ext uri="{FF2B5EF4-FFF2-40B4-BE49-F238E27FC236}">
                    <a16:creationId xmlns:a16="http://schemas.microsoft.com/office/drawing/2014/main" id="{CB951B28-0429-4696-A6C0-048A8FC3BF3B}"/>
                  </a:ext>
                </a:extLst>
              </p:cNvPr>
              <p:cNvGrpSpPr/>
              <p:nvPr/>
            </p:nvGrpSpPr>
            <p:grpSpPr>
              <a:xfrm>
                <a:off x="3429000" y="3124200"/>
                <a:ext cx="404812" cy="2133600"/>
                <a:chOff x="1806575" y="3124200"/>
                <a:chExt cx="404812" cy="2133600"/>
              </a:xfrm>
            </p:grpSpPr>
            <p:sp>
              <p:nvSpPr>
                <p:cNvPr id="219" name="Line 455">
                  <a:extLst>
                    <a:ext uri="{FF2B5EF4-FFF2-40B4-BE49-F238E27FC236}">
                      <a16:creationId xmlns:a16="http://schemas.microsoft.com/office/drawing/2014/main" id="{53B5044C-E611-478E-80D0-4ED3367AD1A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05000" y="3124200"/>
                  <a:ext cx="0" cy="1905000"/>
                </a:xfrm>
                <a:prstGeom prst="line">
                  <a:avLst/>
                </a:prstGeom>
                <a:noFill/>
                <a:ln w="22225">
                  <a:solidFill>
                    <a:srgbClr val="000000"/>
                  </a:solidFill>
                  <a:round/>
                  <a:headEnd type="oval" w="sm" len="sm"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0" name="Freeform 222">
                  <a:extLst>
                    <a:ext uri="{FF2B5EF4-FFF2-40B4-BE49-F238E27FC236}">
                      <a16:creationId xmlns:a16="http://schemas.microsoft.com/office/drawing/2014/main" id="{CF46A900-1EB8-41DD-8D21-1A09F38A0FD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81200" y="4876800"/>
                  <a:ext cx="230187" cy="152400"/>
                </a:xfrm>
                <a:custGeom>
                  <a:avLst/>
                  <a:gdLst>
                    <a:gd name="T0" fmla="*/ 248 w 252"/>
                    <a:gd name="T1" fmla="*/ 0 h 136"/>
                    <a:gd name="T2" fmla="*/ 252 w 252"/>
                    <a:gd name="T3" fmla="*/ 68 h 136"/>
                    <a:gd name="T4" fmla="*/ 0 w 252"/>
                    <a:gd name="T5" fmla="*/ 68 h 136"/>
                    <a:gd name="T6" fmla="*/ 0 w 252"/>
                    <a:gd name="T7" fmla="*/ 136 h 13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52"/>
                    <a:gd name="T13" fmla="*/ 0 h 136"/>
                    <a:gd name="T14" fmla="*/ 252 w 252"/>
                    <a:gd name="T15" fmla="*/ 136 h 1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52" h="136">
                      <a:moveTo>
                        <a:pt x="248" y="0"/>
                      </a:moveTo>
                      <a:lnTo>
                        <a:pt x="252" y="68"/>
                      </a:lnTo>
                      <a:lnTo>
                        <a:pt x="0" y="68"/>
                      </a:lnTo>
                      <a:lnTo>
                        <a:pt x="0" y="136"/>
                      </a:lnTo>
                    </a:path>
                  </a:pathLst>
                </a:custGeom>
                <a:noFill/>
                <a:ln w="2857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1" name="Freeform 454">
                  <a:extLst>
                    <a:ext uri="{FF2B5EF4-FFF2-40B4-BE49-F238E27FC236}">
                      <a16:creationId xmlns:a16="http://schemas.microsoft.com/office/drawing/2014/main" id="{418B6B48-0700-42A3-9AE0-7C6845C0708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6575" y="5000625"/>
                  <a:ext cx="250825" cy="257175"/>
                </a:xfrm>
                <a:custGeom>
                  <a:avLst/>
                  <a:gdLst>
                    <a:gd name="T0" fmla="*/ 0 w 222"/>
                    <a:gd name="T1" fmla="*/ 84 h 172"/>
                    <a:gd name="T2" fmla="*/ 1 w 222"/>
                    <a:gd name="T3" fmla="*/ 95 h 172"/>
                    <a:gd name="T4" fmla="*/ 3 w 222"/>
                    <a:gd name="T5" fmla="*/ 105 h 172"/>
                    <a:gd name="T6" fmla="*/ 4 w 222"/>
                    <a:gd name="T7" fmla="*/ 112 h 172"/>
                    <a:gd name="T8" fmla="*/ 8 w 222"/>
                    <a:gd name="T9" fmla="*/ 120 h 172"/>
                    <a:gd name="T10" fmla="*/ 11 w 222"/>
                    <a:gd name="T11" fmla="*/ 127 h 172"/>
                    <a:gd name="T12" fmla="*/ 16 w 222"/>
                    <a:gd name="T13" fmla="*/ 132 h 172"/>
                    <a:gd name="T14" fmla="*/ 22 w 222"/>
                    <a:gd name="T15" fmla="*/ 138 h 172"/>
                    <a:gd name="T16" fmla="*/ 28 w 222"/>
                    <a:gd name="T17" fmla="*/ 141 h 172"/>
                    <a:gd name="T18" fmla="*/ 34 w 222"/>
                    <a:gd name="T19" fmla="*/ 144 h 172"/>
                    <a:gd name="T20" fmla="*/ 40 w 222"/>
                    <a:gd name="T21" fmla="*/ 144 h 172"/>
                    <a:gd name="T22" fmla="*/ 47 w 222"/>
                    <a:gd name="T23" fmla="*/ 144 h 172"/>
                    <a:gd name="T24" fmla="*/ 53 w 222"/>
                    <a:gd name="T25" fmla="*/ 141 h 172"/>
                    <a:gd name="T26" fmla="*/ 58 w 222"/>
                    <a:gd name="T27" fmla="*/ 138 h 172"/>
                    <a:gd name="T28" fmla="*/ 64 w 222"/>
                    <a:gd name="T29" fmla="*/ 132 h 172"/>
                    <a:gd name="T30" fmla="*/ 68 w 222"/>
                    <a:gd name="T31" fmla="*/ 127 h 172"/>
                    <a:gd name="T32" fmla="*/ 73 w 222"/>
                    <a:gd name="T33" fmla="*/ 120 h 172"/>
                    <a:gd name="T34" fmla="*/ 75 w 222"/>
                    <a:gd name="T35" fmla="*/ 112 h 172"/>
                    <a:gd name="T36" fmla="*/ 78 w 222"/>
                    <a:gd name="T37" fmla="*/ 105 h 172"/>
                    <a:gd name="T38" fmla="*/ 80 w 222"/>
                    <a:gd name="T39" fmla="*/ 95 h 172"/>
                    <a:gd name="T40" fmla="*/ 80 w 222"/>
                    <a:gd name="T41" fmla="*/ 87 h 172"/>
                    <a:gd name="T42" fmla="*/ 80 w 222"/>
                    <a:gd name="T43" fmla="*/ 0 h 172"/>
                    <a:gd name="T44" fmla="*/ 1 w 222"/>
                    <a:gd name="T45" fmla="*/ 0 h 172"/>
                    <a:gd name="T46" fmla="*/ 1 w 222"/>
                    <a:gd name="T47" fmla="*/ 87 h 172"/>
                    <a:gd name="T48" fmla="*/ 1 w 222"/>
                    <a:gd name="T49" fmla="*/ 87 h 172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w 222"/>
                    <a:gd name="T76" fmla="*/ 0 h 172"/>
                    <a:gd name="T77" fmla="*/ 222 w 222"/>
                    <a:gd name="T78" fmla="*/ 172 h 172"/>
                  </a:gdLst>
                  <a:ahLst/>
                  <a:cxnLst>
                    <a:cxn ang="T50">
                      <a:pos x="T0" y="T1"/>
                    </a:cxn>
                    <a:cxn ang="T51">
                      <a:pos x="T2" y="T3"/>
                    </a:cxn>
                    <a:cxn ang="T52">
                      <a:pos x="T4" y="T5"/>
                    </a:cxn>
                    <a:cxn ang="T53">
                      <a:pos x="T6" y="T7"/>
                    </a:cxn>
                    <a:cxn ang="T54">
                      <a:pos x="T8" y="T9"/>
                    </a:cxn>
                    <a:cxn ang="T55">
                      <a:pos x="T10" y="T11"/>
                    </a:cxn>
                    <a:cxn ang="T56">
                      <a:pos x="T12" y="T13"/>
                    </a:cxn>
                    <a:cxn ang="T57">
                      <a:pos x="T14" y="T15"/>
                    </a:cxn>
                    <a:cxn ang="T58">
                      <a:pos x="T16" y="T17"/>
                    </a:cxn>
                    <a:cxn ang="T59">
                      <a:pos x="T18" y="T19"/>
                    </a:cxn>
                    <a:cxn ang="T60">
                      <a:pos x="T20" y="T21"/>
                    </a:cxn>
                    <a:cxn ang="T61">
                      <a:pos x="T22" y="T23"/>
                    </a:cxn>
                    <a:cxn ang="T62">
                      <a:pos x="T24" y="T25"/>
                    </a:cxn>
                    <a:cxn ang="T63">
                      <a:pos x="T26" y="T27"/>
                    </a:cxn>
                    <a:cxn ang="T64">
                      <a:pos x="T28" y="T29"/>
                    </a:cxn>
                    <a:cxn ang="T65">
                      <a:pos x="T30" y="T31"/>
                    </a:cxn>
                    <a:cxn ang="T66">
                      <a:pos x="T32" y="T33"/>
                    </a:cxn>
                    <a:cxn ang="T67">
                      <a:pos x="T34" y="T35"/>
                    </a:cxn>
                    <a:cxn ang="T68">
                      <a:pos x="T36" y="T37"/>
                    </a:cxn>
                    <a:cxn ang="T69">
                      <a:pos x="T38" y="T39"/>
                    </a:cxn>
                    <a:cxn ang="T70">
                      <a:pos x="T40" y="T41"/>
                    </a:cxn>
                    <a:cxn ang="T71">
                      <a:pos x="T42" y="T43"/>
                    </a:cxn>
                    <a:cxn ang="T72">
                      <a:pos x="T44" y="T45"/>
                    </a:cxn>
                    <a:cxn ang="T73">
                      <a:pos x="T46" y="T47"/>
                    </a:cxn>
                    <a:cxn ang="T74">
                      <a:pos x="T48" y="T49"/>
                    </a:cxn>
                  </a:cxnLst>
                  <a:rect l="T75" t="T76" r="T77" b="T78"/>
                  <a:pathLst>
                    <a:path w="222" h="172">
                      <a:moveTo>
                        <a:pt x="0" y="101"/>
                      </a:moveTo>
                      <a:lnTo>
                        <a:pt x="3" y="114"/>
                      </a:lnTo>
                      <a:lnTo>
                        <a:pt x="7" y="125"/>
                      </a:lnTo>
                      <a:lnTo>
                        <a:pt x="13" y="134"/>
                      </a:lnTo>
                      <a:lnTo>
                        <a:pt x="23" y="143"/>
                      </a:lnTo>
                      <a:lnTo>
                        <a:pt x="33" y="152"/>
                      </a:lnTo>
                      <a:lnTo>
                        <a:pt x="47" y="158"/>
                      </a:lnTo>
                      <a:lnTo>
                        <a:pt x="60" y="165"/>
                      </a:lnTo>
                      <a:lnTo>
                        <a:pt x="77" y="169"/>
                      </a:lnTo>
                      <a:lnTo>
                        <a:pt x="94" y="172"/>
                      </a:lnTo>
                      <a:lnTo>
                        <a:pt x="111" y="172"/>
                      </a:lnTo>
                      <a:lnTo>
                        <a:pt x="131" y="172"/>
                      </a:lnTo>
                      <a:lnTo>
                        <a:pt x="148" y="169"/>
                      </a:lnTo>
                      <a:lnTo>
                        <a:pt x="161" y="165"/>
                      </a:lnTo>
                      <a:lnTo>
                        <a:pt x="178" y="158"/>
                      </a:lnTo>
                      <a:lnTo>
                        <a:pt x="188" y="152"/>
                      </a:lnTo>
                      <a:lnTo>
                        <a:pt x="202" y="143"/>
                      </a:lnTo>
                      <a:lnTo>
                        <a:pt x="208" y="134"/>
                      </a:lnTo>
                      <a:lnTo>
                        <a:pt x="215" y="125"/>
                      </a:lnTo>
                      <a:lnTo>
                        <a:pt x="222" y="114"/>
                      </a:lnTo>
                      <a:lnTo>
                        <a:pt x="222" y="104"/>
                      </a:lnTo>
                      <a:lnTo>
                        <a:pt x="222" y="0"/>
                      </a:lnTo>
                      <a:lnTo>
                        <a:pt x="3" y="0"/>
                      </a:lnTo>
                      <a:lnTo>
                        <a:pt x="3" y="104"/>
                      </a:lnTo>
                    </a:path>
                  </a:pathLst>
                </a:custGeom>
                <a:solidFill>
                  <a:schemeClr val="bg1"/>
                </a:solidFill>
                <a:ln w="2063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 anchor="ctr" anchorCtr="0"/>
                <a:lstStyle/>
                <a:p>
                  <a:r>
                    <a:rPr lang="en-US" sz="1200" b="1" dirty="0"/>
                    <a:t>B</a:t>
                  </a:r>
                </a:p>
              </p:txBody>
            </p:sp>
          </p:grpSp>
          <p:grpSp>
            <p:nvGrpSpPr>
              <p:cNvPr id="152" name="Group 151">
                <a:extLst>
                  <a:ext uri="{FF2B5EF4-FFF2-40B4-BE49-F238E27FC236}">
                    <a16:creationId xmlns:a16="http://schemas.microsoft.com/office/drawing/2014/main" id="{AE14D218-8184-4378-9C48-CB35BF85A071}"/>
                  </a:ext>
                </a:extLst>
              </p:cNvPr>
              <p:cNvGrpSpPr/>
              <p:nvPr/>
            </p:nvGrpSpPr>
            <p:grpSpPr>
              <a:xfrm>
                <a:off x="5157788" y="3124200"/>
                <a:ext cx="404812" cy="2133600"/>
                <a:chOff x="1806575" y="3124200"/>
                <a:chExt cx="404812" cy="2133600"/>
              </a:xfrm>
            </p:grpSpPr>
            <p:sp>
              <p:nvSpPr>
                <p:cNvPr id="216" name="Line 455">
                  <a:extLst>
                    <a:ext uri="{FF2B5EF4-FFF2-40B4-BE49-F238E27FC236}">
                      <a16:creationId xmlns:a16="http://schemas.microsoft.com/office/drawing/2014/main" id="{E4F55083-E5C9-44B2-B0CF-D4384A95607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05000" y="3124200"/>
                  <a:ext cx="0" cy="1905000"/>
                </a:xfrm>
                <a:prstGeom prst="line">
                  <a:avLst/>
                </a:prstGeom>
                <a:noFill/>
                <a:ln w="22225">
                  <a:solidFill>
                    <a:srgbClr val="000000"/>
                  </a:solidFill>
                  <a:round/>
                  <a:headEnd type="oval" w="sm" len="sm"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7" name="Freeform 222">
                  <a:extLst>
                    <a:ext uri="{FF2B5EF4-FFF2-40B4-BE49-F238E27FC236}">
                      <a16:creationId xmlns:a16="http://schemas.microsoft.com/office/drawing/2014/main" id="{BB09187F-83F3-4ED5-9A61-4996441961A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81200" y="4876800"/>
                  <a:ext cx="230187" cy="152400"/>
                </a:xfrm>
                <a:custGeom>
                  <a:avLst/>
                  <a:gdLst>
                    <a:gd name="T0" fmla="*/ 248 w 252"/>
                    <a:gd name="T1" fmla="*/ 0 h 136"/>
                    <a:gd name="T2" fmla="*/ 252 w 252"/>
                    <a:gd name="T3" fmla="*/ 68 h 136"/>
                    <a:gd name="T4" fmla="*/ 0 w 252"/>
                    <a:gd name="T5" fmla="*/ 68 h 136"/>
                    <a:gd name="T6" fmla="*/ 0 w 252"/>
                    <a:gd name="T7" fmla="*/ 136 h 13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52"/>
                    <a:gd name="T13" fmla="*/ 0 h 136"/>
                    <a:gd name="T14" fmla="*/ 252 w 252"/>
                    <a:gd name="T15" fmla="*/ 136 h 1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52" h="136">
                      <a:moveTo>
                        <a:pt x="248" y="0"/>
                      </a:moveTo>
                      <a:lnTo>
                        <a:pt x="252" y="68"/>
                      </a:lnTo>
                      <a:lnTo>
                        <a:pt x="0" y="68"/>
                      </a:lnTo>
                      <a:lnTo>
                        <a:pt x="0" y="136"/>
                      </a:lnTo>
                    </a:path>
                  </a:pathLst>
                </a:custGeom>
                <a:noFill/>
                <a:ln w="2857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8" name="Freeform 454">
                  <a:extLst>
                    <a:ext uri="{FF2B5EF4-FFF2-40B4-BE49-F238E27FC236}">
                      <a16:creationId xmlns:a16="http://schemas.microsoft.com/office/drawing/2014/main" id="{0ECB1006-C944-432E-A228-9A6A304DD86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6575" y="5000625"/>
                  <a:ext cx="250825" cy="257175"/>
                </a:xfrm>
                <a:custGeom>
                  <a:avLst/>
                  <a:gdLst>
                    <a:gd name="T0" fmla="*/ 0 w 222"/>
                    <a:gd name="T1" fmla="*/ 84 h 172"/>
                    <a:gd name="T2" fmla="*/ 1 w 222"/>
                    <a:gd name="T3" fmla="*/ 95 h 172"/>
                    <a:gd name="T4" fmla="*/ 3 w 222"/>
                    <a:gd name="T5" fmla="*/ 105 h 172"/>
                    <a:gd name="T6" fmla="*/ 4 w 222"/>
                    <a:gd name="T7" fmla="*/ 112 h 172"/>
                    <a:gd name="T8" fmla="*/ 8 w 222"/>
                    <a:gd name="T9" fmla="*/ 120 h 172"/>
                    <a:gd name="T10" fmla="*/ 11 w 222"/>
                    <a:gd name="T11" fmla="*/ 127 h 172"/>
                    <a:gd name="T12" fmla="*/ 16 w 222"/>
                    <a:gd name="T13" fmla="*/ 132 h 172"/>
                    <a:gd name="T14" fmla="*/ 22 w 222"/>
                    <a:gd name="T15" fmla="*/ 138 h 172"/>
                    <a:gd name="T16" fmla="*/ 28 w 222"/>
                    <a:gd name="T17" fmla="*/ 141 h 172"/>
                    <a:gd name="T18" fmla="*/ 34 w 222"/>
                    <a:gd name="T19" fmla="*/ 144 h 172"/>
                    <a:gd name="T20" fmla="*/ 40 w 222"/>
                    <a:gd name="T21" fmla="*/ 144 h 172"/>
                    <a:gd name="T22" fmla="*/ 47 w 222"/>
                    <a:gd name="T23" fmla="*/ 144 h 172"/>
                    <a:gd name="T24" fmla="*/ 53 w 222"/>
                    <a:gd name="T25" fmla="*/ 141 h 172"/>
                    <a:gd name="T26" fmla="*/ 58 w 222"/>
                    <a:gd name="T27" fmla="*/ 138 h 172"/>
                    <a:gd name="T28" fmla="*/ 64 w 222"/>
                    <a:gd name="T29" fmla="*/ 132 h 172"/>
                    <a:gd name="T30" fmla="*/ 68 w 222"/>
                    <a:gd name="T31" fmla="*/ 127 h 172"/>
                    <a:gd name="T32" fmla="*/ 73 w 222"/>
                    <a:gd name="T33" fmla="*/ 120 h 172"/>
                    <a:gd name="T34" fmla="*/ 75 w 222"/>
                    <a:gd name="T35" fmla="*/ 112 h 172"/>
                    <a:gd name="T36" fmla="*/ 78 w 222"/>
                    <a:gd name="T37" fmla="*/ 105 h 172"/>
                    <a:gd name="T38" fmla="*/ 80 w 222"/>
                    <a:gd name="T39" fmla="*/ 95 h 172"/>
                    <a:gd name="T40" fmla="*/ 80 w 222"/>
                    <a:gd name="T41" fmla="*/ 87 h 172"/>
                    <a:gd name="T42" fmla="*/ 80 w 222"/>
                    <a:gd name="T43" fmla="*/ 0 h 172"/>
                    <a:gd name="T44" fmla="*/ 1 w 222"/>
                    <a:gd name="T45" fmla="*/ 0 h 172"/>
                    <a:gd name="T46" fmla="*/ 1 w 222"/>
                    <a:gd name="T47" fmla="*/ 87 h 172"/>
                    <a:gd name="T48" fmla="*/ 1 w 222"/>
                    <a:gd name="T49" fmla="*/ 87 h 172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w 222"/>
                    <a:gd name="T76" fmla="*/ 0 h 172"/>
                    <a:gd name="T77" fmla="*/ 222 w 222"/>
                    <a:gd name="T78" fmla="*/ 172 h 172"/>
                  </a:gdLst>
                  <a:ahLst/>
                  <a:cxnLst>
                    <a:cxn ang="T50">
                      <a:pos x="T0" y="T1"/>
                    </a:cxn>
                    <a:cxn ang="T51">
                      <a:pos x="T2" y="T3"/>
                    </a:cxn>
                    <a:cxn ang="T52">
                      <a:pos x="T4" y="T5"/>
                    </a:cxn>
                    <a:cxn ang="T53">
                      <a:pos x="T6" y="T7"/>
                    </a:cxn>
                    <a:cxn ang="T54">
                      <a:pos x="T8" y="T9"/>
                    </a:cxn>
                    <a:cxn ang="T55">
                      <a:pos x="T10" y="T11"/>
                    </a:cxn>
                    <a:cxn ang="T56">
                      <a:pos x="T12" y="T13"/>
                    </a:cxn>
                    <a:cxn ang="T57">
                      <a:pos x="T14" y="T15"/>
                    </a:cxn>
                    <a:cxn ang="T58">
                      <a:pos x="T16" y="T17"/>
                    </a:cxn>
                    <a:cxn ang="T59">
                      <a:pos x="T18" y="T19"/>
                    </a:cxn>
                    <a:cxn ang="T60">
                      <a:pos x="T20" y="T21"/>
                    </a:cxn>
                    <a:cxn ang="T61">
                      <a:pos x="T22" y="T23"/>
                    </a:cxn>
                    <a:cxn ang="T62">
                      <a:pos x="T24" y="T25"/>
                    </a:cxn>
                    <a:cxn ang="T63">
                      <a:pos x="T26" y="T27"/>
                    </a:cxn>
                    <a:cxn ang="T64">
                      <a:pos x="T28" y="T29"/>
                    </a:cxn>
                    <a:cxn ang="T65">
                      <a:pos x="T30" y="T31"/>
                    </a:cxn>
                    <a:cxn ang="T66">
                      <a:pos x="T32" y="T33"/>
                    </a:cxn>
                    <a:cxn ang="T67">
                      <a:pos x="T34" y="T35"/>
                    </a:cxn>
                    <a:cxn ang="T68">
                      <a:pos x="T36" y="T37"/>
                    </a:cxn>
                    <a:cxn ang="T69">
                      <a:pos x="T38" y="T39"/>
                    </a:cxn>
                    <a:cxn ang="T70">
                      <a:pos x="T40" y="T41"/>
                    </a:cxn>
                    <a:cxn ang="T71">
                      <a:pos x="T42" y="T43"/>
                    </a:cxn>
                    <a:cxn ang="T72">
                      <a:pos x="T44" y="T45"/>
                    </a:cxn>
                    <a:cxn ang="T73">
                      <a:pos x="T46" y="T47"/>
                    </a:cxn>
                    <a:cxn ang="T74">
                      <a:pos x="T48" y="T49"/>
                    </a:cxn>
                  </a:cxnLst>
                  <a:rect l="T75" t="T76" r="T77" b="T78"/>
                  <a:pathLst>
                    <a:path w="222" h="172">
                      <a:moveTo>
                        <a:pt x="0" y="101"/>
                      </a:moveTo>
                      <a:lnTo>
                        <a:pt x="3" y="114"/>
                      </a:lnTo>
                      <a:lnTo>
                        <a:pt x="7" y="125"/>
                      </a:lnTo>
                      <a:lnTo>
                        <a:pt x="13" y="134"/>
                      </a:lnTo>
                      <a:lnTo>
                        <a:pt x="23" y="143"/>
                      </a:lnTo>
                      <a:lnTo>
                        <a:pt x="33" y="152"/>
                      </a:lnTo>
                      <a:lnTo>
                        <a:pt x="47" y="158"/>
                      </a:lnTo>
                      <a:lnTo>
                        <a:pt x="60" y="165"/>
                      </a:lnTo>
                      <a:lnTo>
                        <a:pt x="77" y="169"/>
                      </a:lnTo>
                      <a:lnTo>
                        <a:pt x="94" y="172"/>
                      </a:lnTo>
                      <a:lnTo>
                        <a:pt x="111" y="172"/>
                      </a:lnTo>
                      <a:lnTo>
                        <a:pt x="131" y="172"/>
                      </a:lnTo>
                      <a:lnTo>
                        <a:pt x="148" y="169"/>
                      </a:lnTo>
                      <a:lnTo>
                        <a:pt x="161" y="165"/>
                      </a:lnTo>
                      <a:lnTo>
                        <a:pt x="178" y="158"/>
                      </a:lnTo>
                      <a:lnTo>
                        <a:pt x="188" y="152"/>
                      </a:lnTo>
                      <a:lnTo>
                        <a:pt x="202" y="143"/>
                      </a:lnTo>
                      <a:lnTo>
                        <a:pt x="208" y="134"/>
                      </a:lnTo>
                      <a:lnTo>
                        <a:pt x="215" y="125"/>
                      </a:lnTo>
                      <a:lnTo>
                        <a:pt x="222" y="114"/>
                      </a:lnTo>
                      <a:lnTo>
                        <a:pt x="222" y="104"/>
                      </a:lnTo>
                      <a:lnTo>
                        <a:pt x="222" y="0"/>
                      </a:lnTo>
                      <a:lnTo>
                        <a:pt x="3" y="0"/>
                      </a:lnTo>
                      <a:lnTo>
                        <a:pt x="3" y="104"/>
                      </a:lnTo>
                    </a:path>
                  </a:pathLst>
                </a:custGeom>
                <a:solidFill>
                  <a:schemeClr val="bg1"/>
                </a:solidFill>
                <a:ln w="2063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 lIns="73152" anchor="ctr" anchorCtr="0"/>
                <a:lstStyle/>
                <a:p>
                  <a:r>
                    <a:rPr lang="en-US" sz="1200" b="1" dirty="0"/>
                    <a:t>C</a:t>
                  </a:r>
                </a:p>
              </p:txBody>
            </p:sp>
          </p:grpSp>
          <p:grpSp>
            <p:nvGrpSpPr>
              <p:cNvPr id="153" name="Group 152">
                <a:extLst>
                  <a:ext uri="{FF2B5EF4-FFF2-40B4-BE49-F238E27FC236}">
                    <a16:creationId xmlns:a16="http://schemas.microsoft.com/office/drawing/2014/main" id="{9BDF36C3-9640-4839-AE39-B857679B3E16}"/>
                  </a:ext>
                </a:extLst>
              </p:cNvPr>
              <p:cNvGrpSpPr/>
              <p:nvPr/>
            </p:nvGrpSpPr>
            <p:grpSpPr>
              <a:xfrm flipH="1">
                <a:off x="2819400" y="5257801"/>
                <a:ext cx="762000" cy="533399"/>
                <a:chOff x="1143000" y="5081404"/>
                <a:chExt cx="1828800" cy="911187"/>
              </a:xfrm>
            </p:grpSpPr>
            <p:sp>
              <p:nvSpPr>
                <p:cNvPr id="213" name="Line 502">
                  <a:extLst>
                    <a:ext uri="{FF2B5EF4-FFF2-40B4-BE49-F238E27FC236}">
                      <a16:creationId xmlns:a16="http://schemas.microsoft.com/office/drawing/2014/main" id="{C03432CF-17B0-49C5-9112-D64A57D6FBA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43000" y="5081404"/>
                  <a:ext cx="0" cy="29824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4" name="Line 506">
                  <a:extLst>
                    <a:ext uri="{FF2B5EF4-FFF2-40B4-BE49-F238E27FC236}">
                      <a16:creationId xmlns:a16="http://schemas.microsoft.com/office/drawing/2014/main" id="{7ACC6E81-EBF2-40EC-8B0B-A165079B621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43000" y="5379645"/>
                  <a:ext cx="182880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5" name="Line 507">
                  <a:extLst>
                    <a:ext uri="{FF2B5EF4-FFF2-40B4-BE49-F238E27FC236}">
                      <a16:creationId xmlns:a16="http://schemas.microsoft.com/office/drawing/2014/main" id="{B849228B-0EEA-4F72-B375-00FF967B08F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1800" y="5379645"/>
                  <a:ext cx="0" cy="61294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54" name="Group 153">
                <a:extLst>
                  <a:ext uri="{FF2B5EF4-FFF2-40B4-BE49-F238E27FC236}">
                    <a16:creationId xmlns:a16="http://schemas.microsoft.com/office/drawing/2014/main" id="{EEB63538-F10F-4393-B7BD-4625641DA5B4}"/>
                  </a:ext>
                </a:extLst>
              </p:cNvPr>
              <p:cNvGrpSpPr/>
              <p:nvPr/>
            </p:nvGrpSpPr>
            <p:grpSpPr>
              <a:xfrm flipH="1">
                <a:off x="2895600" y="5257801"/>
                <a:ext cx="2362200" cy="533398"/>
                <a:chOff x="1143000" y="4918692"/>
                <a:chExt cx="1828800" cy="1138981"/>
              </a:xfrm>
            </p:grpSpPr>
            <p:sp>
              <p:nvSpPr>
                <p:cNvPr id="210" name="Line 502">
                  <a:extLst>
                    <a:ext uri="{FF2B5EF4-FFF2-40B4-BE49-F238E27FC236}">
                      <a16:creationId xmlns:a16="http://schemas.microsoft.com/office/drawing/2014/main" id="{DD26EC3D-E4DF-4F54-9499-06B38AAF0E1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43000" y="4918692"/>
                  <a:ext cx="0" cy="46095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1" name="Line 506">
                  <a:extLst>
                    <a:ext uri="{FF2B5EF4-FFF2-40B4-BE49-F238E27FC236}">
                      <a16:creationId xmlns:a16="http://schemas.microsoft.com/office/drawing/2014/main" id="{C2B3B34B-B191-4A33-AFEE-F63F5F0BABC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43000" y="5379645"/>
                  <a:ext cx="182880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2" name="Line 507">
                  <a:extLst>
                    <a:ext uri="{FF2B5EF4-FFF2-40B4-BE49-F238E27FC236}">
                      <a16:creationId xmlns:a16="http://schemas.microsoft.com/office/drawing/2014/main" id="{A8BAFFA1-8A1A-40B0-BF68-A9E74328F13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1800" y="5379644"/>
                  <a:ext cx="0" cy="67802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55" name="Group 154">
                <a:extLst>
                  <a:ext uri="{FF2B5EF4-FFF2-40B4-BE49-F238E27FC236}">
                    <a16:creationId xmlns:a16="http://schemas.microsoft.com/office/drawing/2014/main" id="{823575EB-CAE8-4B48-B43C-9D38B09466DC}"/>
                  </a:ext>
                </a:extLst>
              </p:cNvPr>
              <p:cNvGrpSpPr/>
              <p:nvPr/>
            </p:nvGrpSpPr>
            <p:grpSpPr>
              <a:xfrm flipH="1">
                <a:off x="2971800" y="5181599"/>
                <a:ext cx="3886200" cy="516148"/>
                <a:chOff x="1143000" y="4630106"/>
                <a:chExt cx="1828800" cy="1102147"/>
              </a:xfrm>
            </p:grpSpPr>
            <p:sp>
              <p:nvSpPr>
                <p:cNvPr id="207" name="Line 502">
                  <a:extLst>
                    <a:ext uri="{FF2B5EF4-FFF2-40B4-BE49-F238E27FC236}">
                      <a16:creationId xmlns:a16="http://schemas.microsoft.com/office/drawing/2014/main" id="{5AFA9A49-E1AF-495D-B7D3-82ECF4E2A79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43000" y="4630106"/>
                  <a:ext cx="0" cy="74954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8" name="Line 506">
                  <a:extLst>
                    <a:ext uri="{FF2B5EF4-FFF2-40B4-BE49-F238E27FC236}">
                      <a16:creationId xmlns:a16="http://schemas.microsoft.com/office/drawing/2014/main" id="{586EDAA0-5D49-4E89-862B-A6B45FF70E6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43000" y="5379645"/>
                  <a:ext cx="182880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9" name="Line 507">
                  <a:extLst>
                    <a:ext uri="{FF2B5EF4-FFF2-40B4-BE49-F238E27FC236}">
                      <a16:creationId xmlns:a16="http://schemas.microsoft.com/office/drawing/2014/main" id="{22785599-F460-4C99-A25C-359FA1D8B8D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1800" y="5379645"/>
                  <a:ext cx="0" cy="352608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56" name="AutoShape 498">
                <a:extLst>
                  <a:ext uri="{FF2B5EF4-FFF2-40B4-BE49-F238E27FC236}">
                    <a16:creationId xmlns:a16="http://schemas.microsoft.com/office/drawing/2014/main" id="{2770BE10-29F7-4DDF-A399-8E6EEA65CE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2595719" y="5567519"/>
                <a:ext cx="447361" cy="609600"/>
              </a:xfrm>
              <a:prstGeom prst="moon">
                <a:avLst>
                  <a:gd name="adj" fmla="val 81944"/>
                </a:avLst>
              </a:prstGeom>
              <a:solidFill>
                <a:schemeClr val="tx2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57" name="Group 156">
                <a:extLst>
                  <a:ext uri="{FF2B5EF4-FFF2-40B4-BE49-F238E27FC236}">
                    <a16:creationId xmlns:a16="http://schemas.microsoft.com/office/drawing/2014/main" id="{E59AD567-55EC-4344-A670-24731822A876}"/>
                  </a:ext>
                </a:extLst>
              </p:cNvPr>
              <p:cNvGrpSpPr/>
              <p:nvPr/>
            </p:nvGrpSpPr>
            <p:grpSpPr>
              <a:xfrm>
                <a:off x="6757988" y="3124200"/>
                <a:ext cx="404812" cy="2133600"/>
                <a:chOff x="1806575" y="3124200"/>
                <a:chExt cx="404812" cy="2133600"/>
              </a:xfrm>
            </p:grpSpPr>
            <p:sp>
              <p:nvSpPr>
                <p:cNvPr id="204" name="Line 455">
                  <a:extLst>
                    <a:ext uri="{FF2B5EF4-FFF2-40B4-BE49-F238E27FC236}">
                      <a16:creationId xmlns:a16="http://schemas.microsoft.com/office/drawing/2014/main" id="{40C4D3F2-CA1C-4842-AB74-F05184EA6AD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05000" y="3124200"/>
                  <a:ext cx="0" cy="1905000"/>
                </a:xfrm>
                <a:prstGeom prst="line">
                  <a:avLst/>
                </a:prstGeom>
                <a:noFill/>
                <a:ln w="22225">
                  <a:solidFill>
                    <a:srgbClr val="000000"/>
                  </a:solidFill>
                  <a:round/>
                  <a:headEnd type="oval" w="sm" len="sm"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5" name="Freeform 222">
                  <a:extLst>
                    <a:ext uri="{FF2B5EF4-FFF2-40B4-BE49-F238E27FC236}">
                      <a16:creationId xmlns:a16="http://schemas.microsoft.com/office/drawing/2014/main" id="{7FAEA1BF-4151-4631-8601-B7D98D1CA6A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81200" y="4876800"/>
                  <a:ext cx="230187" cy="152400"/>
                </a:xfrm>
                <a:custGeom>
                  <a:avLst/>
                  <a:gdLst>
                    <a:gd name="T0" fmla="*/ 248 w 252"/>
                    <a:gd name="T1" fmla="*/ 0 h 136"/>
                    <a:gd name="T2" fmla="*/ 252 w 252"/>
                    <a:gd name="T3" fmla="*/ 68 h 136"/>
                    <a:gd name="T4" fmla="*/ 0 w 252"/>
                    <a:gd name="T5" fmla="*/ 68 h 136"/>
                    <a:gd name="T6" fmla="*/ 0 w 252"/>
                    <a:gd name="T7" fmla="*/ 136 h 13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52"/>
                    <a:gd name="T13" fmla="*/ 0 h 136"/>
                    <a:gd name="T14" fmla="*/ 252 w 252"/>
                    <a:gd name="T15" fmla="*/ 136 h 1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52" h="136">
                      <a:moveTo>
                        <a:pt x="248" y="0"/>
                      </a:moveTo>
                      <a:lnTo>
                        <a:pt x="252" y="68"/>
                      </a:lnTo>
                      <a:lnTo>
                        <a:pt x="0" y="68"/>
                      </a:lnTo>
                      <a:lnTo>
                        <a:pt x="0" y="136"/>
                      </a:lnTo>
                    </a:path>
                  </a:pathLst>
                </a:custGeom>
                <a:noFill/>
                <a:ln w="2857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6" name="Freeform 454">
                  <a:extLst>
                    <a:ext uri="{FF2B5EF4-FFF2-40B4-BE49-F238E27FC236}">
                      <a16:creationId xmlns:a16="http://schemas.microsoft.com/office/drawing/2014/main" id="{B9CF9E03-4862-45EF-8067-559E9F42444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6575" y="5000625"/>
                  <a:ext cx="250825" cy="257175"/>
                </a:xfrm>
                <a:custGeom>
                  <a:avLst/>
                  <a:gdLst>
                    <a:gd name="T0" fmla="*/ 0 w 222"/>
                    <a:gd name="T1" fmla="*/ 84 h 172"/>
                    <a:gd name="T2" fmla="*/ 1 w 222"/>
                    <a:gd name="T3" fmla="*/ 95 h 172"/>
                    <a:gd name="T4" fmla="*/ 3 w 222"/>
                    <a:gd name="T5" fmla="*/ 105 h 172"/>
                    <a:gd name="T6" fmla="*/ 4 w 222"/>
                    <a:gd name="T7" fmla="*/ 112 h 172"/>
                    <a:gd name="T8" fmla="*/ 8 w 222"/>
                    <a:gd name="T9" fmla="*/ 120 h 172"/>
                    <a:gd name="T10" fmla="*/ 11 w 222"/>
                    <a:gd name="T11" fmla="*/ 127 h 172"/>
                    <a:gd name="T12" fmla="*/ 16 w 222"/>
                    <a:gd name="T13" fmla="*/ 132 h 172"/>
                    <a:gd name="T14" fmla="*/ 22 w 222"/>
                    <a:gd name="T15" fmla="*/ 138 h 172"/>
                    <a:gd name="T16" fmla="*/ 28 w 222"/>
                    <a:gd name="T17" fmla="*/ 141 h 172"/>
                    <a:gd name="T18" fmla="*/ 34 w 222"/>
                    <a:gd name="T19" fmla="*/ 144 h 172"/>
                    <a:gd name="T20" fmla="*/ 40 w 222"/>
                    <a:gd name="T21" fmla="*/ 144 h 172"/>
                    <a:gd name="T22" fmla="*/ 47 w 222"/>
                    <a:gd name="T23" fmla="*/ 144 h 172"/>
                    <a:gd name="T24" fmla="*/ 53 w 222"/>
                    <a:gd name="T25" fmla="*/ 141 h 172"/>
                    <a:gd name="T26" fmla="*/ 58 w 222"/>
                    <a:gd name="T27" fmla="*/ 138 h 172"/>
                    <a:gd name="T28" fmla="*/ 64 w 222"/>
                    <a:gd name="T29" fmla="*/ 132 h 172"/>
                    <a:gd name="T30" fmla="*/ 68 w 222"/>
                    <a:gd name="T31" fmla="*/ 127 h 172"/>
                    <a:gd name="T32" fmla="*/ 73 w 222"/>
                    <a:gd name="T33" fmla="*/ 120 h 172"/>
                    <a:gd name="T34" fmla="*/ 75 w 222"/>
                    <a:gd name="T35" fmla="*/ 112 h 172"/>
                    <a:gd name="T36" fmla="*/ 78 w 222"/>
                    <a:gd name="T37" fmla="*/ 105 h 172"/>
                    <a:gd name="T38" fmla="*/ 80 w 222"/>
                    <a:gd name="T39" fmla="*/ 95 h 172"/>
                    <a:gd name="T40" fmla="*/ 80 w 222"/>
                    <a:gd name="T41" fmla="*/ 87 h 172"/>
                    <a:gd name="T42" fmla="*/ 80 w 222"/>
                    <a:gd name="T43" fmla="*/ 0 h 172"/>
                    <a:gd name="T44" fmla="*/ 1 w 222"/>
                    <a:gd name="T45" fmla="*/ 0 h 172"/>
                    <a:gd name="T46" fmla="*/ 1 w 222"/>
                    <a:gd name="T47" fmla="*/ 87 h 172"/>
                    <a:gd name="T48" fmla="*/ 1 w 222"/>
                    <a:gd name="T49" fmla="*/ 87 h 172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w 222"/>
                    <a:gd name="T76" fmla="*/ 0 h 172"/>
                    <a:gd name="T77" fmla="*/ 222 w 222"/>
                    <a:gd name="T78" fmla="*/ 172 h 172"/>
                  </a:gdLst>
                  <a:ahLst/>
                  <a:cxnLst>
                    <a:cxn ang="T50">
                      <a:pos x="T0" y="T1"/>
                    </a:cxn>
                    <a:cxn ang="T51">
                      <a:pos x="T2" y="T3"/>
                    </a:cxn>
                    <a:cxn ang="T52">
                      <a:pos x="T4" y="T5"/>
                    </a:cxn>
                    <a:cxn ang="T53">
                      <a:pos x="T6" y="T7"/>
                    </a:cxn>
                    <a:cxn ang="T54">
                      <a:pos x="T8" y="T9"/>
                    </a:cxn>
                    <a:cxn ang="T55">
                      <a:pos x="T10" y="T11"/>
                    </a:cxn>
                    <a:cxn ang="T56">
                      <a:pos x="T12" y="T13"/>
                    </a:cxn>
                    <a:cxn ang="T57">
                      <a:pos x="T14" y="T15"/>
                    </a:cxn>
                    <a:cxn ang="T58">
                      <a:pos x="T16" y="T17"/>
                    </a:cxn>
                    <a:cxn ang="T59">
                      <a:pos x="T18" y="T19"/>
                    </a:cxn>
                    <a:cxn ang="T60">
                      <a:pos x="T20" y="T21"/>
                    </a:cxn>
                    <a:cxn ang="T61">
                      <a:pos x="T22" y="T23"/>
                    </a:cxn>
                    <a:cxn ang="T62">
                      <a:pos x="T24" y="T25"/>
                    </a:cxn>
                    <a:cxn ang="T63">
                      <a:pos x="T26" y="T27"/>
                    </a:cxn>
                    <a:cxn ang="T64">
                      <a:pos x="T28" y="T29"/>
                    </a:cxn>
                    <a:cxn ang="T65">
                      <a:pos x="T30" y="T31"/>
                    </a:cxn>
                    <a:cxn ang="T66">
                      <a:pos x="T32" y="T33"/>
                    </a:cxn>
                    <a:cxn ang="T67">
                      <a:pos x="T34" y="T35"/>
                    </a:cxn>
                    <a:cxn ang="T68">
                      <a:pos x="T36" y="T37"/>
                    </a:cxn>
                    <a:cxn ang="T69">
                      <a:pos x="T38" y="T39"/>
                    </a:cxn>
                    <a:cxn ang="T70">
                      <a:pos x="T40" y="T41"/>
                    </a:cxn>
                    <a:cxn ang="T71">
                      <a:pos x="T42" y="T43"/>
                    </a:cxn>
                    <a:cxn ang="T72">
                      <a:pos x="T44" y="T45"/>
                    </a:cxn>
                    <a:cxn ang="T73">
                      <a:pos x="T46" y="T47"/>
                    </a:cxn>
                    <a:cxn ang="T74">
                      <a:pos x="T48" y="T49"/>
                    </a:cxn>
                  </a:cxnLst>
                  <a:rect l="T75" t="T76" r="T77" b="T78"/>
                  <a:pathLst>
                    <a:path w="222" h="172">
                      <a:moveTo>
                        <a:pt x="0" y="101"/>
                      </a:moveTo>
                      <a:lnTo>
                        <a:pt x="3" y="114"/>
                      </a:lnTo>
                      <a:lnTo>
                        <a:pt x="7" y="125"/>
                      </a:lnTo>
                      <a:lnTo>
                        <a:pt x="13" y="134"/>
                      </a:lnTo>
                      <a:lnTo>
                        <a:pt x="23" y="143"/>
                      </a:lnTo>
                      <a:lnTo>
                        <a:pt x="33" y="152"/>
                      </a:lnTo>
                      <a:lnTo>
                        <a:pt x="47" y="158"/>
                      </a:lnTo>
                      <a:lnTo>
                        <a:pt x="60" y="165"/>
                      </a:lnTo>
                      <a:lnTo>
                        <a:pt x="77" y="169"/>
                      </a:lnTo>
                      <a:lnTo>
                        <a:pt x="94" y="172"/>
                      </a:lnTo>
                      <a:lnTo>
                        <a:pt x="111" y="172"/>
                      </a:lnTo>
                      <a:lnTo>
                        <a:pt x="131" y="172"/>
                      </a:lnTo>
                      <a:lnTo>
                        <a:pt x="148" y="169"/>
                      </a:lnTo>
                      <a:lnTo>
                        <a:pt x="161" y="165"/>
                      </a:lnTo>
                      <a:lnTo>
                        <a:pt x="178" y="158"/>
                      </a:lnTo>
                      <a:lnTo>
                        <a:pt x="188" y="152"/>
                      </a:lnTo>
                      <a:lnTo>
                        <a:pt x="202" y="143"/>
                      </a:lnTo>
                      <a:lnTo>
                        <a:pt x="208" y="134"/>
                      </a:lnTo>
                      <a:lnTo>
                        <a:pt x="215" y="125"/>
                      </a:lnTo>
                      <a:lnTo>
                        <a:pt x="222" y="114"/>
                      </a:lnTo>
                      <a:lnTo>
                        <a:pt x="222" y="104"/>
                      </a:lnTo>
                      <a:lnTo>
                        <a:pt x="222" y="0"/>
                      </a:lnTo>
                      <a:lnTo>
                        <a:pt x="3" y="0"/>
                      </a:lnTo>
                      <a:lnTo>
                        <a:pt x="3" y="104"/>
                      </a:lnTo>
                    </a:path>
                  </a:pathLst>
                </a:custGeom>
                <a:solidFill>
                  <a:schemeClr val="bg1"/>
                </a:solidFill>
                <a:ln w="2063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/>
                  <a:r>
                    <a:rPr lang="en-US" sz="1200" b="1" dirty="0"/>
                    <a:t>D</a:t>
                  </a:r>
                </a:p>
              </p:txBody>
            </p:sp>
          </p:grpSp>
          <p:grpSp>
            <p:nvGrpSpPr>
              <p:cNvPr id="158" name="Group 157">
                <a:extLst>
                  <a:ext uri="{FF2B5EF4-FFF2-40B4-BE49-F238E27FC236}">
                    <a16:creationId xmlns:a16="http://schemas.microsoft.com/office/drawing/2014/main" id="{2300F959-8247-45C0-B45F-BDD65EFCF3FE}"/>
                  </a:ext>
                </a:extLst>
              </p:cNvPr>
              <p:cNvGrpSpPr/>
              <p:nvPr/>
            </p:nvGrpSpPr>
            <p:grpSpPr>
              <a:xfrm>
                <a:off x="2743200" y="3124200"/>
                <a:ext cx="3048000" cy="2743200"/>
                <a:chOff x="2895600" y="-275886"/>
                <a:chExt cx="3124200" cy="2628247"/>
              </a:xfrm>
            </p:grpSpPr>
            <p:sp>
              <p:nvSpPr>
                <p:cNvPr id="201" name="Line 492">
                  <a:extLst>
                    <a:ext uri="{FF2B5EF4-FFF2-40B4-BE49-F238E27FC236}">
                      <a16:creationId xmlns:a16="http://schemas.microsoft.com/office/drawing/2014/main" id="{E9A0E521-39B2-4A9E-BCA7-1504B7BD7C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5600" y="-275886"/>
                  <a:ext cx="0" cy="2180886"/>
                </a:xfrm>
                <a:prstGeom prst="line">
                  <a:avLst/>
                </a:prstGeom>
                <a:noFill/>
                <a:ln w="19050">
                  <a:solidFill>
                    <a:srgbClr val="0000FF"/>
                  </a:solidFill>
                  <a:round/>
                  <a:headEnd type="oval" w="sm" len="sm"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2" name="Line 514">
                  <a:extLst>
                    <a:ext uri="{FF2B5EF4-FFF2-40B4-BE49-F238E27FC236}">
                      <a16:creationId xmlns:a16="http://schemas.microsoft.com/office/drawing/2014/main" id="{AC615FF1-47EF-4D4E-93D5-4B88083C8C3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019800" y="1905000"/>
                  <a:ext cx="0" cy="447361"/>
                </a:xfrm>
                <a:prstGeom prst="line">
                  <a:avLst/>
                </a:prstGeom>
                <a:noFill/>
                <a:ln w="1905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3" name="Line 516">
                  <a:extLst>
                    <a:ext uri="{FF2B5EF4-FFF2-40B4-BE49-F238E27FC236}">
                      <a16:creationId xmlns:a16="http://schemas.microsoft.com/office/drawing/2014/main" id="{A13FBC9B-EB4E-47FB-8E59-D405DADFEEA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5600" y="1905000"/>
                  <a:ext cx="3124200" cy="0"/>
                </a:xfrm>
                <a:prstGeom prst="line">
                  <a:avLst/>
                </a:prstGeom>
                <a:noFill/>
                <a:ln w="1905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59" name="Group 158">
                <a:extLst>
                  <a:ext uri="{FF2B5EF4-FFF2-40B4-BE49-F238E27FC236}">
                    <a16:creationId xmlns:a16="http://schemas.microsoft.com/office/drawing/2014/main" id="{78BB542F-839C-465A-A708-51F83AE3A40D}"/>
                  </a:ext>
                </a:extLst>
              </p:cNvPr>
              <p:cNvGrpSpPr/>
              <p:nvPr/>
            </p:nvGrpSpPr>
            <p:grpSpPr>
              <a:xfrm>
                <a:off x="4343400" y="3124200"/>
                <a:ext cx="1600200" cy="2667000"/>
                <a:chOff x="2895600" y="-275886"/>
                <a:chExt cx="3124200" cy="2628247"/>
              </a:xfrm>
            </p:grpSpPr>
            <p:sp>
              <p:nvSpPr>
                <p:cNvPr id="198" name="Line 492">
                  <a:extLst>
                    <a:ext uri="{FF2B5EF4-FFF2-40B4-BE49-F238E27FC236}">
                      <a16:creationId xmlns:a16="http://schemas.microsoft.com/office/drawing/2014/main" id="{C3BB9457-9A08-4BCF-A924-9C1822FBA37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5600" y="-275886"/>
                  <a:ext cx="0" cy="2180886"/>
                </a:xfrm>
                <a:prstGeom prst="line">
                  <a:avLst/>
                </a:prstGeom>
                <a:noFill/>
                <a:ln w="19050">
                  <a:solidFill>
                    <a:srgbClr val="0000FF"/>
                  </a:solidFill>
                  <a:round/>
                  <a:headEnd type="oval" w="sm" len="sm"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9" name="Line 514">
                  <a:extLst>
                    <a:ext uri="{FF2B5EF4-FFF2-40B4-BE49-F238E27FC236}">
                      <a16:creationId xmlns:a16="http://schemas.microsoft.com/office/drawing/2014/main" id="{A45208BB-D6B0-4B3E-866F-192CD475D35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019800" y="1905000"/>
                  <a:ext cx="0" cy="447361"/>
                </a:xfrm>
                <a:prstGeom prst="line">
                  <a:avLst/>
                </a:prstGeom>
                <a:noFill/>
                <a:ln w="1905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0" name="Line 516">
                  <a:extLst>
                    <a:ext uri="{FF2B5EF4-FFF2-40B4-BE49-F238E27FC236}">
                      <a16:creationId xmlns:a16="http://schemas.microsoft.com/office/drawing/2014/main" id="{40D7C7F8-E09B-4A5F-BAB4-89514612B7B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5600" y="1905000"/>
                  <a:ext cx="3124200" cy="0"/>
                </a:xfrm>
                <a:prstGeom prst="line">
                  <a:avLst/>
                </a:prstGeom>
                <a:noFill/>
                <a:ln w="1905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60" name="Line 492">
                <a:extLst>
                  <a:ext uri="{FF2B5EF4-FFF2-40B4-BE49-F238E27FC236}">
                    <a16:creationId xmlns:a16="http://schemas.microsoft.com/office/drawing/2014/main" id="{8134E9E6-406E-4B32-B712-0C3FEC7C26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96000" y="3124200"/>
                <a:ext cx="0" cy="2743200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 type="oval" w="sm" len="sm"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61" name="Group 160">
                <a:extLst>
                  <a:ext uri="{FF2B5EF4-FFF2-40B4-BE49-F238E27FC236}">
                    <a16:creationId xmlns:a16="http://schemas.microsoft.com/office/drawing/2014/main" id="{C28F3149-9BD6-4EF3-B382-C35D5D9D4074}"/>
                  </a:ext>
                </a:extLst>
              </p:cNvPr>
              <p:cNvGrpSpPr/>
              <p:nvPr/>
            </p:nvGrpSpPr>
            <p:grpSpPr>
              <a:xfrm flipH="1">
                <a:off x="6248400" y="3124200"/>
                <a:ext cx="1524000" cy="2667000"/>
                <a:chOff x="2895600" y="-275886"/>
                <a:chExt cx="3124200" cy="2628247"/>
              </a:xfrm>
            </p:grpSpPr>
            <p:sp>
              <p:nvSpPr>
                <p:cNvPr id="195" name="Line 492">
                  <a:extLst>
                    <a:ext uri="{FF2B5EF4-FFF2-40B4-BE49-F238E27FC236}">
                      <a16:creationId xmlns:a16="http://schemas.microsoft.com/office/drawing/2014/main" id="{66653D33-8128-4C97-8409-614F7DF458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5600" y="-275886"/>
                  <a:ext cx="0" cy="2180886"/>
                </a:xfrm>
                <a:prstGeom prst="line">
                  <a:avLst/>
                </a:prstGeom>
                <a:noFill/>
                <a:ln w="19050">
                  <a:solidFill>
                    <a:srgbClr val="0000FF"/>
                  </a:solidFill>
                  <a:round/>
                  <a:headEnd type="oval" w="sm" len="sm"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6" name="Line 514">
                  <a:extLst>
                    <a:ext uri="{FF2B5EF4-FFF2-40B4-BE49-F238E27FC236}">
                      <a16:creationId xmlns:a16="http://schemas.microsoft.com/office/drawing/2014/main" id="{CB833455-05FC-431E-B2A5-326806F93C1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019800" y="1905000"/>
                  <a:ext cx="0" cy="447361"/>
                </a:xfrm>
                <a:prstGeom prst="line">
                  <a:avLst/>
                </a:prstGeom>
                <a:noFill/>
                <a:ln w="1905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7" name="Line 516">
                  <a:extLst>
                    <a:ext uri="{FF2B5EF4-FFF2-40B4-BE49-F238E27FC236}">
                      <a16:creationId xmlns:a16="http://schemas.microsoft.com/office/drawing/2014/main" id="{061255C0-213B-48BB-B41F-22CEFDF6597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5600" y="1905000"/>
                  <a:ext cx="3124200" cy="0"/>
                </a:xfrm>
                <a:prstGeom prst="line">
                  <a:avLst/>
                </a:prstGeom>
                <a:noFill/>
                <a:ln w="1905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2" name="Group 96">
                <a:extLst>
                  <a:ext uri="{FF2B5EF4-FFF2-40B4-BE49-F238E27FC236}">
                    <a16:creationId xmlns:a16="http://schemas.microsoft.com/office/drawing/2014/main" id="{AECB311C-0502-4336-9E2E-9841977F6A09}"/>
                  </a:ext>
                </a:extLst>
              </p:cNvPr>
              <p:cNvGrpSpPr/>
              <p:nvPr/>
            </p:nvGrpSpPr>
            <p:grpSpPr>
              <a:xfrm>
                <a:off x="2472905" y="1390229"/>
                <a:ext cx="2878343" cy="438571"/>
                <a:chOff x="2422583" y="2152229"/>
                <a:chExt cx="2878343" cy="438571"/>
              </a:xfrm>
            </p:grpSpPr>
            <p:sp>
              <p:nvSpPr>
                <p:cNvPr id="191" name="Text Box 200">
                  <a:extLst>
                    <a:ext uri="{FF2B5EF4-FFF2-40B4-BE49-F238E27FC236}">
                      <a16:creationId xmlns:a16="http://schemas.microsoft.com/office/drawing/2014/main" id="{22B7CBD4-BBB2-470E-A8BD-3243223C945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22583" y="2152229"/>
                  <a:ext cx="2878343" cy="246221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square">
                  <a:spAutoFit/>
                </a:bodyPr>
                <a:lstStyle/>
                <a:p>
                  <a:pPr eaLnBrk="0" hangingPunct="0"/>
                  <a:r>
                    <a:rPr lang="en-US" sz="1000" b="1" dirty="0"/>
                    <a:t>31 30   . . .               11  10   9   . . .       2   1      0</a:t>
                  </a:r>
                </a:p>
              </p:txBody>
            </p:sp>
            <p:sp>
              <p:nvSpPr>
                <p:cNvPr id="192" name="Rectangle 191">
                  <a:extLst>
                    <a:ext uri="{FF2B5EF4-FFF2-40B4-BE49-F238E27FC236}">
                      <a16:creationId xmlns:a16="http://schemas.microsoft.com/office/drawing/2014/main" id="{EDE14457-C4AB-46E4-B85F-85DE01E46440}"/>
                    </a:ext>
                  </a:extLst>
                </p:cNvPr>
                <p:cNvSpPr/>
                <p:nvPr/>
              </p:nvSpPr>
              <p:spPr>
                <a:xfrm>
                  <a:off x="2464277" y="2362200"/>
                  <a:ext cx="1574323" cy="2286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90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rgbClr val="C00000"/>
                      </a:solidFill>
                    </a:rPr>
                    <a:t>Tag</a:t>
                  </a:r>
                </a:p>
              </p:txBody>
            </p:sp>
            <p:sp>
              <p:nvSpPr>
                <p:cNvPr id="193" name="Rectangle 192">
                  <a:extLst>
                    <a:ext uri="{FF2B5EF4-FFF2-40B4-BE49-F238E27FC236}">
                      <a16:creationId xmlns:a16="http://schemas.microsoft.com/office/drawing/2014/main" id="{EE0AA6BE-F0D3-4573-9346-88F03A425747}"/>
                    </a:ext>
                  </a:extLst>
                </p:cNvPr>
                <p:cNvSpPr/>
                <p:nvPr/>
              </p:nvSpPr>
              <p:spPr>
                <a:xfrm>
                  <a:off x="4038599" y="2362200"/>
                  <a:ext cx="747299" cy="228600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19050"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 err="1">
                      <a:solidFill>
                        <a:schemeClr val="accent6">
                          <a:lumMod val="50000"/>
                        </a:schemeClr>
                      </a:solidFill>
                    </a:rPr>
                    <a:t>Idx</a:t>
                  </a:r>
                  <a:endParaRPr lang="en-US" sz="1400" dirty="0">
                    <a:solidFill>
                      <a:schemeClr val="accent6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94" name="Rectangle 193">
                  <a:extLst>
                    <a:ext uri="{FF2B5EF4-FFF2-40B4-BE49-F238E27FC236}">
                      <a16:creationId xmlns:a16="http://schemas.microsoft.com/office/drawing/2014/main" id="{391091A2-F08F-4768-8716-BA23DE4FF4BA}"/>
                    </a:ext>
                  </a:extLst>
                </p:cNvPr>
                <p:cNvSpPr/>
                <p:nvPr/>
              </p:nvSpPr>
              <p:spPr>
                <a:xfrm>
                  <a:off x="4785899" y="2361901"/>
                  <a:ext cx="471901" cy="228600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 w="19050"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 err="1">
                      <a:solidFill>
                        <a:srgbClr val="006600"/>
                      </a:solidFill>
                    </a:rPr>
                    <a:t>Ofst</a:t>
                  </a:r>
                  <a:r>
                    <a:rPr lang="en-US" sz="1200" dirty="0">
                      <a:solidFill>
                        <a:srgbClr val="006600"/>
                      </a:solidFill>
                    </a:rPr>
                    <a:t> </a:t>
                  </a:r>
                </a:p>
              </p:txBody>
            </p:sp>
          </p:grpSp>
          <p:sp>
            <p:nvSpPr>
              <p:cNvPr id="163" name="Line 506">
                <a:extLst>
                  <a:ext uri="{FF2B5EF4-FFF2-40B4-BE49-F238E27FC236}">
                    <a16:creationId xmlns:a16="http://schemas.microsoft.com/office/drawing/2014/main" id="{2F75810C-C153-4628-BCB9-DAAEC86EBB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76800" y="5791200"/>
                <a:ext cx="6858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4" name="Line 506">
                <a:extLst>
                  <a:ext uri="{FF2B5EF4-FFF2-40B4-BE49-F238E27FC236}">
                    <a16:creationId xmlns:a16="http://schemas.microsoft.com/office/drawing/2014/main" id="{3FBEE139-AE2E-4CE9-8D5D-2A5D3B5DBA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29200" y="5867400"/>
                <a:ext cx="5334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" name="Line 506">
                <a:extLst>
                  <a:ext uri="{FF2B5EF4-FFF2-40B4-BE49-F238E27FC236}">
                    <a16:creationId xmlns:a16="http://schemas.microsoft.com/office/drawing/2014/main" id="{83D858A4-C4C9-415A-B6FD-6E8EDBF261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81600" y="5943600"/>
                <a:ext cx="3810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6" name="Line 506">
                <a:extLst>
                  <a:ext uri="{FF2B5EF4-FFF2-40B4-BE49-F238E27FC236}">
                    <a16:creationId xmlns:a16="http://schemas.microsoft.com/office/drawing/2014/main" id="{DB19300B-C961-43AC-98C3-2F9F3F236C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34000" y="6019800"/>
                <a:ext cx="3048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67" name="Group 166">
                <a:extLst>
                  <a:ext uri="{FF2B5EF4-FFF2-40B4-BE49-F238E27FC236}">
                    <a16:creationId xmlns:a16="http://schemas.microsoft.com/office/drawing/2014/main" id="{D8CFC1D0-1E07-47A8-BAD3-751733728DA7}"/>
                  </a:ext>
                </a:extLst>
              </p:cNvPr>
              <p:cNvGrpSpPr/>
              <p:nvPr/>
            </p:nvGrpSpPr>
            <p:grpSpPr>
              <a:xfrm>
                <a:off x="5334001" y="5715000"/>
                <a:ext cx="1447800" cy="381000"/>
                <a:chOff x="5334001" y="5715000"/>
                <a:chExt cx="1447800" cy="381000"/>
              </a:xfrm>
            </p:grpSpPr>
            <p:sp>
              <p:nvSpPr>
                <p:cNvPr id="189" name="Trapezoid 188">
                  <a:extLst>
                    <a:ext uri="{FF2B5EF4-FFF2-40B4-BE49-F238E27FC236}">
                      <a16:creationId xmlns:a16="http://schemas.microsoft.com/office/drawing/2014/main" id="{40837EFE-690D-488E-84A7-89B3D3CD9FBF}"/>
                    </a:ext>
                  </a:extLst>
                </p:cNvPr>
                <p:cNvSpPr/>
                <p:nvPr/>
              </p:nvSpPr>
              <p:spPr>
                <a:xfrm rot="10800000">
                  <a:off x="5334001" y="5715000"/>
                  <a:ext cx="1447800" cy="381000"/>
                </a:xfrm>
                <a:prstGeom prst="trapezoid">
                  <a:avLst>
                    <a:gd name="adj" fmla="val 47641"/>
                  </a:avLst>
                </a:prstGeom>
                <a:solidFill>
                  <a:srgbClr val="FFFFCC"/>
                </a:solidFill>
                <a:ln w="19050">
                  <a:solidFill>
                    <a:srgbClr val="6600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rtlCol="0" anchor="ctr"/>
                <a:lstStyle/>
                <a:p>
                  <a:pPr algn="ctr"/>
                  <a:endParaRPr lang="en-US" sz="1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0" name="Rectangle 189">
                  <a:extLst>
                    <a:ext uri="{FF2B5EF4-FFF2-40B4-BE49-F238E27FC236}">
                      <a16:creationId xmlns:a16="http://schemas.microsoft.com/office/drawing/2014/main" id="{B01D70CD-AEEF-43D9-95E1-C40CE7196429}"/>
                    </a:ext>
                  </a:extLst>
                </p:cNvPr>
                <p:cNvSpPr/>
                <p:nvPr/>
              </p:nvSpPr>
              <p:spPr>
                <a:xfrm>
                  <a:off x="5410200" y="5791200"/>
                  <a:ext cx="1295400" cy="22860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b="1" dirty="0">
                      <a:solidFill>
                        <a:schemeClr val="tx1"/>
                      </a:solidFill>
                    </a:rPr>
                    <a:t>4 x 1 Select</a:t>
                  </a:r>
                </a:p>
              </p:txBody>
            </p:sp>
          </p:grpSp>
          <p:sp>
            <p:nvSpPr>
              <p:cNvPr id="168" name="Freeform 454">
                <a:extLst>
                  <a:ext uri="{FF2B5EF4-FFF2-40B4-BE49-F238E27FC236}">
                    <a16:creationId xmlns:a16="http://schemas.microsoft.com/office/drawing/2014/main" id="{64583ABA-E748-49AC-A373-C22F6A2465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5975" y="5638800"/>
                <a:ext cx="250825" cy="257175"/>
              </a:xfrm>
              <a:custGeom>
                <a:avLst/>
                <a:gdLst>
                  <a:gd name="T0" fmla="*/ 0 w 222"/>
                  <a:gd name="T1" fmla="*/ 84 h 172"/>
                  <a:gd name="T2" fmla="*/ 1 w 222"/>
                  <a:gd name="T3" fmla="*/ 95 h 172"/>
                  <a:gd name="T4" fmla="*/ 3 w 222"/>
                  <a:gd name="T5" fmla="*/ 105 h 172"/>
                  <a:gd name="T6" fmla="*/ 4 w 222"/>
                  <a:gd name="T7" fmla="*/ 112 h 172"/>
                  <a:gd name="T8" fmla="*/ 8 w 222"/>
                  <a:gd name="T9" fmla="*/ 120 h 172"/>
                  <a:gd name="T10" fmla="*/ 11 w 222"/>
                  <a:gd name="T11" fmla="*/ 127 h 172"/>
                  <a:gd name="T12" fmla="*/ 16 w 222"/>
                  <a:gd name="T13" fmla="*/ 132 h 172"/>
                  <a:gd name="T14" fmla="*/ 22 w 222"/>
                  <a:gd name="T15" fmla="*/ 138 h 172"/>
                  <a:gd name="T16" fmla="*/ 28 w 222"/>
                  <a:gd name="T17" fmla="*/ 141 h 172"/>
                  <a:gd name="T18" fmla="*/ 34 w 222"/>
                  <a:gd name="T19" fmla="*/ 144 h 172"/>
                  <a:gd name="T20" fmla="*/ 40 w 222"/>
                  <a:gd name="T21" fmla="*/ 144 h 172"/>
                  <a:gd name="T22" fmla="*/ 47 w 222"/>
                  <a:gd name="T23" fmla="*/ 144 h 172"/>
                  <a:gd name="T24" fmla="*/ 53 w 222"/>
                  <a:gd name="T25" fmla="*/ 141 h 172"/>
                  <a:gd name="T26" fmla="*/ 58 w 222"/>
                  <a:gd name="T27" fmla="*/ 138 h 172"/>
                  <a:gd name="T28" fmla="*/ 64 w 222"/>
                  <a:gd name="T29" fmla="*/ 132 h 172"/>
                  <a:gd name="T30" fmla="*/ 68 w 222"/>
                  <a:gd name="T31" fmla="*/ 127 h 172"/>
                  <a:gd name="T32" fmla="*/ 73 w 222"/>
                  <a:gd name="T33" fmla="*/ 120 h 172"/>
                  <a:gd name="T34" fmla="*/ 75 w 222"/>
                  <a:gd name="T35" fmla="*/ 112 h 172"/>
                  <a:gd name="T36" fmla="*/ 78 w 222"/>
                  <a:gd name="T37" fmla="*/ 105 h 172"/>
                  <a:gd name="T38" fmla="*/ 80 w 222"/>
                  <a:gd name="T39" fmla="*/ 95 h 172"/>
                  <a:gd name="T40" fmla="*/ 80 w 222"/>
                  <a:gd name="T41" fmla="*/ 87 h 172"/>
                  <a:gd name="T42" fmla="*/ 80 w 222"/>
                  <a:gd name="T43" fmla="*/ 0 h 172"/>
                  <a:gd name="T44" fmla="*/ 1 w 222"/>
                  <a:gd name="T45" fmla="*/ 0 h 172"/>
                  <a:gd name="T46" fmla="*/ 1 w 222"/>
                  <a:gd name="T47" fmla="*/ 87 h 172"/>
                  <a:gd name="T48" fmla="*/ 1 w 222"/>
                  <a:gd name="T49" fmla="*/ 87 h 172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222"/>
                  <a:gd name="T76" fmla="*/ 0 h 172"/>
                  <a:gd name="T77" fmla="*/ 222 w 222"/>
                  <a:gd name="T78" fmla="*/ 172 h 172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222" h="172">
                    <a:moveTo>
                      <a:pt x="0" y="101"/>
                    </a:moveTo>
                    <a:lnTo>
                      <a:pt x="3" y="114"/>
                    </a:lnTo>
                    <a:lnTo>
                      <a:pt x="7" y="125"/>
                    </a:lnTo>
                    <a:lnTo>
                      <a:pt x="13" y="134"/>
                    </a:lnTo>
                    <a:lnTo>
                      <a:pt x="23" y="143"/>
                    </a:lnTo>
                    <a:lnTo>
                      <a:pt x="33" y="152"/>
                    </a:lnTo>
                    <a:lnTo>
                      <a:pt x="47" y="158"/>
                    </a:lnTo>
                    <a:lnTo>
                      <a:pt x="60" y="165"/>
                    </a:lnTo>
                    <a:lnTo>
                      <a:pt x="77" y="169"/>
                    </a:lnTo>
                    <a:lnTo>
                      <a:pt x="94" y="172"/>
                    </a:lnTo>
                    <a:lnTo>
                      <a:pt x="111" y="172"/>
                    </a:lnTo>
                    <a:lnTo>
                      <a:pt x="131" y="172"/>
                    </a:lnTo>
                    <a:lnTo>
                      <a:pt x="148" y="169"/>
                    </a:lnTo>
                    <a:lnTo>
                      <a:pt x="161" y="165"/>
                    </a:lnTo>
                    <a:lnTo>
                      <a:pt x="178" y="158"/>
                    </a:lnTo>
                    <a:lnTo>
                      <a:pt x="188" y="152"/>
                    </a:lnTo>
                    <a:lnTo>
                      <a:pt x="202" y="143"/>
                    </a:lnTo>
                    <a:lnTo>
                      <a:pt x="208" y="134"/>
                    </a:lnTo>
                    <a:lnTo>
                      <a:pt x="215" y="125"/>
                    </a:lnTo>
                    <a:lnTo>
                      <a:pt x="222" y="114"/>
                    </a:lnTo>
                    <a:lnTo>
                      <a:pt x="222" y="104"/>
                    </a:lnTo>
                    <a:lnTo>
                      <a:pt x="222" y="0"/>
                    </a:lnTo>
                    <a:lnTo>
                      <a:pt x="3" y="0"/>
                    </a:lnTo>
                    <a:lnTo>
                      <a:pt x="3" y="104"/>
                    </a:lnTo>
                  </a:path>
                </a:pathLst>
              </a:custGeom>
              <a:solidFill>
                <a:schemeClr val="bg1"/>
              </a:solidFill>
              <a:ln w="20638">
                <a:noFill/>
                <a:prstDash val="solid"/>
                <a:round/>
                <a:headEnd/>
                <a:tailEnd/>
              </a:ln>
            </p:spPr>
            <p:txBody>
              <a:bodyPr anchor="ctr" anchorCtr="0"/>
              <a:lstStyle/>
              <a:p>
                <a:r>
                  <a:rPr lang="en-US" sz="1200" b="1" dirty="0"/>
                  <a:t>A</a:t>
                </a:r>
              </a:p>
            </p:txBody>
          </p:sp>
          <p:sp>
            <p:nvSpPr>
              <p:cNvPr id="169" name="Freeform 454">
                <a:extLst>
                  <a:ext uri="{FF2B5EF4-FFF2-40B4-BE49-F238E27FC236}">
                    <a16:creationId xmlns:a16="http://schemas.microsoft.com/office/drawing/2014/main" id="{E6371745-B9F3-4E5F-83E0-86646D5DBE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78375" y="5762625"/>
                <a:ext cx="250825" cy="257175"/>
              </a:xfrm>
              <a:custGeom>
                <a:avLst/>
                <a:gdLst>
                  <a:gd name="T0" fmla="*/ 0 w 222"/>
                  <a:gd name="T1" fmla="*/ 84 h 172"/>
                  <a:gd name="T2" fmla="*/ 1 w 222"/>
                  <a:gd name="T3" fmla="*/ 95 h 172"/>
                  <a:gd name="T4" fmla="*/ 3 w 222"/>
                  <a:gd name="T5" fmla="*/ 105 h 172"/>
                  <a:gd name="T6" fmla="*/ 4 w 222"/>
                  <a:gd name="T7" fmla="*/ 112 h 172"/>
                  <a:gd name="T8" fmla="*/ 8 w 222"/>
                  <a:gd name="T9" fmla="*/ 120 h 172"/>
                  <a:gd name="T10" fmla="*/ 11 w 222"/>
                  <a:gd name="T11" fmla="*/ 127 h 172"/>
                  <a:gd name="T12" fmla="*/ 16 w 222"/>
                  <a:gd name="T13" fmla="*/ 132 h 172"/>
                  <a:gd name="T14" fmla="*/ 22 w 222"/>
                  <a:gd name="T15" fmla="*/ 138 h 172"/>
                  <a:gd name="T16" fmla="*/ 28 w 222"/>
                  <a:gd name="T17" fmla="*/ 141 h 172"/>
                  <a:gd name="T18" fmla="*/ 34 w 222"/>
                  <a:gd name="T19" fmla="*/ 144 h 172"/>
                  <a:gd name="T20" fmla="*/ 40 w 222"/>
                  <a:gd name="T21" fmla="*/ 144 h 172"/>
                  <a:gd name="T22" fmla="*/ 47 w 222"/>
                  <a:gd name="T23" fmla="*/ 144 h 172"/>
                  <a:gd name="T24" fmla="*/ 53 w 222"/>
                  <a:gd name="T25" fmla="*/ 141 h 172"/>
                  <a:gd name="T26" fmla="*/ 58 w 222"/>
                  <a:gd name="T27" fmla="*/ 138 h 172"/>
                  <a:gd name="T28" fmla="*/ 64 w 222"/>
                  <a:gd name="T29" fmla="*/ 132 h 172"/>
                  <a:gd name="T30" fmla="*/ 68 w 222"/>
                  <a:gd name="T31" fmla="*/ 127 h 172"/>
                  <a:gd name="T32" fmla="*/ 73 w 222"/>
                  <a:gd name="T33" fmla="*/ 120 h 172"/>
                  <a:gd name="T34" fmla="*/ 75 w 222"/>
                  <a:gd name="T35" fmla="*/ 112 h 172"/>
                  <a:gd name="T36" fmla="*/ 78 w 222"/>
                  <a:gd name="T37" fmla="*/ 105 h 172"/>
                  <a:gd name="T38" fmla="*/ 80 w 222"/>
                  <a:gd name="T39" fmla="*/ 95 h 172"/>
                  <a:gd name="T40" fmla="*/ 80 w 222"/>
                  <a:gd name="T41" fmla="*/ 87 h 172"/>
                  <a:gd name="T42" fmla="*/ 80 w 222"/>
                  <a:gd name="T43" fmla="*/ 0 h 172"/>
                  <a:gd name="T44" fmla="*/ 1 w 222"/>
                  <a:gd name="T45" fmla="*/ 0 h 172"/>
                  <a:gd name="T46" fmla="*/ 1 w 222"/>
                  <a:gd name="T47" fmla="*/ 87 h 172"/>
                  <a:gd name="T48" fmla="*/ 1 w 222"/>
                  <a:gd name="T49" fmla="*/ 87 h 172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222"/>
                  <a:gd name="T76" fmla="*/ 0 h 172"/>
                  <a:gd name="T77" fmla="*/ 222 w 222"/>
                  <a:gd name="T78" fmla="*/ 172 h 172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222" h="172">
                    <a:moveTo>
                      <a:pt x="0" y="101"/>
                    </a:moveTo>
                    <a:lnTo>
                      <a:pt x="3" y="114"/>
                    </a:lnTo>
                    <a:lnTo>
                      <a:pt x="7" y="125"/>
                    </a:lnTo>
                    <a:lnTo>
                      <a:pt x="13" y="134"/>
                    </a:lnTo>
                    <a:lnTo>
                      <a:pt x="23" y="143"/>
                    </a:lnTo>
                    <a:lnTo>
                      <a:pt x="33" y="152"/>
                    </a:lnTo>
                    <a:lnTo>
                      <a:pt x="47" y="158"/>
                    </a:lnTo>
                    <a:lnTo>
                      <a:pt x="60" y="165"/>
                    </a:lnTo>
                    <a:lnTo>
                      <a:pt x="77" y="169"/>
                    </a:lnTo>
                    <a:lnTo>
                      <a:pt x="94" y="172"/>
                    </a:lnTo>
                    <a:lnTo>
                      <a:pt x="111" y="172"/>
                    </a:lnTo>
                    <a:lnTo>
                      <a:pt x="131" y="172"/>
                    </a:lnTo>
                    <a:lnTo>
                      <a:pt x="148" y="169"/>
                    </a:lnTo>
                    <a:lnTo>
                      <a:pt x="161" y="165"/>
                    </a:lnTo>
                    <a:lnTo>
                      <a:pt x="178" y="158"/>
                    </a:lnTo>
                    <a:lnTo>
                      <a:pt x="188" y="152"/>
                    </a:lnTo>
                    <a:lnTo>
                      <a:pt x="202" y="143"/>
                    </a:lnTo>
                    <a:lnTo>
                      <a:pt x="208" y="134"/>
                    </a:lnTo>
                    <a:lnTo>
                      <a:pt x="215" y="125"/>
                    </a:lnTo>
                    <a:lnTo>
                      <a:pt x="222" y="114"/>
                    </a:lnTo>
                    <a:lnTo>
                      <a:pt x="222" y="104"/>
                    </a:lnTo>
                    <a:lnTo>
                      <a:pt x="222" y="0"/>
                    </a:lnTo>
                    <a:lnTo>
                      <a:pt x="3" y="0"/>
                    </a:lnTo>
                    <a:lnTo>
                      <a:pt x="3" y="104"/>
                    </a:lnTo>
                  </a:path>
                </a:pathLst>
              </a:custGeom>
              <a:noFill/>
              <a:ln w="20638">
                <a:noFill/>
                <a:prstDash val="solid"/>
                <a:round/>
                <a:headEnd/>
                <a:tailEnd/>
              </a:ln>
            </p:spPr>
            <p:txBody>
              <a:bodyPr anchor="ctr" anchorCtr="0"/>
              <a:lstStyle/>
              <a:p>
                <a:r>
                  <a:rPr lang="en-US" sz="1200" b="1" dirty="0"/>
                  <a:t>B</a:t>
                </a:r>
              </a:p>
            </p:txBody>
          </p:sp>
          <p:sp>
            <p:nvSpPr>
              <p:cNvPr id="170" name="Freeform 454">
                <a:extLst>
                  <a:ext uri="{FF2B5EF4-FFF2-40B4-BE49-F238E27FC236}">
                    <a16:creationId xmlns:a16="http://schemas.microsoft.com/office/drawing/2014/main" id="{14D9CBA8-6E39-4D53-82DC-8AEB1B8694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30775" y="5838825"/>
                <a:ext cx="250825" cy="257175"/>
              </a:xfrm>
              <a:custGeom>
                <a:avLst/>
                <a:gdLst>
                  <a:gd name="T0" fmla="*/ 0 w 222"/>
                  <a:gd name="T1" fmla="*/ 84 h 172"/>
                  <a:gd name="T2" fmla="*/ 1 w 222"/>
                  <a:gd name="T3" fmla="*/ 95 h 172"/>
                  <a:gd name="T4" fmla="*/ 3 w 222"/>
                  <a:gd name="T5" fmla="*/ 105 h 172"/>
                  <a:gd name="T6" fmla="*/ 4 w 222"/>
                  <a:gd name="T7" fmla="*/ 112 h 172"/>
                  <a:gd name="T8" fmla="*/ 8 w 222"/>
                  <a:gd name="T9" fmla="*/ 120 h 172"/>
                  <a:gd name="T10" fmla="*/ 11 w 222"/>
                  <a:gd name="T11" fmla="*/ 127 h 172"/>
                  <a:gd name="T12" fmla="*/ 16 w 222"/>
                  <a:gd name="T13" fmla="*/ 132 h 172"/>
                  <a:gd name="T14" fmla="*/ 22 w 222"/>
                  <a:gd name="T15" fmla="*/ 138 h 172"/>
                  <a:gd name="T16" fmla="*/ 28 w 222"/>
                  <a:gd name="T17" fmla="*/ 141 h 172"/>
                  <a:gd name="T18" fmla="*/ 34 w 222"/>
                  <a:gd name="T19" fmla="*/ 144 h 172"/>
                  <a:gd name="T20" fmla="*/ 40 w 222"/>
                  <a:gd name="T21" fmla="*/ 144 h 172"/>
                  <a:gd name="T22" fmla="*/ 47 w 222"/>
                  <a:gd name="T23" fmla="*/ 144 h 172"/>
                  <a:gd name="T24" fmla="*/ 53 w 222"/>
                  <a:gd name="T25" fmla="*/ 141 h 172"/>
                  <a:gd name="T26" fmla="*/ 58 w 222"/>
                  <a:gd name="T27" fmla="*/ 138 h 172"/>
                  <a:gd name="T28" fmla="*/ 64 w 222"/>
                  <a:gd name="T29" fmla="*/ 132 h 172"/>
                  <a:gd name="T30" fmla="*/ 68 w 222"/>
                  <a:gd name="T31" fmla="*/ 127 h 172"/>
                  <a:gd name="T32" fmla="*/ 73 w 222"/>
                  <a:gd name="T33" fmla="*/ 120 h 172"/>
                  <a:gd name="T34" fmla="*/ 75 w 222"/>
                  <a:gd name="T35" fmla="*/ 112 h 172"/>
                  <a:gd name="T36" fmla="*/ 78 w 222"/>
                  <a:gd name="T37" fmla="*/ 105 h 172"/>
                  <a:gd name="T38" fmla="*/ 80 w 222"/>
                  <a:gd name="T39" fmla="*/ 95 h 172"/>
                  <a:gd name="T40" fmla="*/ 80 w 222"/>
                  <a:gd name="T41" fmla="*/ 87 h 172"/>
                  <a:gd name="T42" fmla="*/ 80 w 222"/>
                  <a:gd name="T43" fmla="*/ 0 h 172"/>
                  <a:gd name="T44" fmla="*/ 1 w 222"/>
                  <a:gd name="T45" fmla="*/ 0 h 172"/>
                  <a:gd name="T46" fmla="*/ 1 w 222"/>
                  <a:gd name="T47" fmla="*/ 87 h 172"/>
                  <a:gd name="T48" fmla="*/ 1 w 222"/>
                  <a:gd name="T49" fmla="*/ 87 h 172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222"/>
                  <a:gd name="T76" fmla="*/ 0 h 172"/>
                  <a:gd name="T77" fmla="*/ 222 w 222"/>
                  <a:gd name="T78" fmla="*/ 172 h 172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222" h="172">
                    <a:moveTo>
                      <a:pt x="0" y="101"/>
                    </a:moveTo>
                    <a:lnTo>
                      <a:pt x="3" y="114"/>
                    </a:lnTo>
                    <a:lnTo>
                      <a:pt x="7" y="125"/>
                    </a:lnTo>
                    <a:lnTo>
                      <a:pt x="13" y="134"/>
                    </a:lnTo>
                    <a:lnTo>
                      <a:pt x="23" y="143"/>
                    </a:lnTo>
                    <a:lnTo>
                      <a:pt x="33" y="152"/>
                    </a:lnTo>
                    <a:lnTo>
                      <a:pt x="47" y="158"/>
                    </a:lnTo>
                    <a:lnTo>
                      <a:pt x="60" y="165"/>
                    </a:lnTo>
                    <a:lnTo>
                      <a:pt x="77" y="169"/>
                    </a:lnTo>
                    <a:lnTo>
                      <a:pt x="94" y="172"/>
                    </a:lnTo>
                    <a:lnTo>
                      <a:pt x="111" y="172"/>
                    </a:lnTo>
                    <a:lnTo>
                      <a:pt x="131" y="172"/>
                    </a:lnTo>
                    <a:lnTo>
                      <a:pt x="148" y="169"/>
                    </a:lnTo>
                    <a:lnTo>
                      <a:pt x="161" y="165"/>
                    </a:lnTo>
                    <a:lnTo>
                      <a:pt x="178" y="158"/>
                    </a:lnTo>
                    <a:lnTo>
                      <a:pt x="188" y="152"/>
                    </a:lnTo>
                    <a:lnTo>
                      <a:pt x="202" y="143"/>
                    </a:lnTo>
                    <a:lnTo>
                      <a:pt x="208" y="134"/>
                    </a:lnTo>
                    <a:lnTo>
                      <a:pt x="215" y="125"/>
                    </a:lnTo>
                    <a:lnTo>
                      <a:pt x="222" y="114"/>
                    </a:lnTo>
                    <a:lnTo>
                      <a:pt x="222" y="104"/>
                    </a:lnTo>
                    <a:lnTo>
                      <a:pt x="222" y="0"/>
                    </a:lnTo>
                    <a:lnTo>
                      <a:pt x="3" y="0"/>
                    </a:lnTo>
                    <a:lnTo>
                      <a:pt x="3" y="104"/>
                    </a:lnTo>
                  </a:path>
                </a:pathLst>
              </a:custGeom>
              <a:noFill/>
              <a:ln w="20638">
                <a:noFill/>
                <a:prstDash val="solid"/>
                <a:round/>
                <a:headEnd/>
                <a:tailEnd/>
              </a:ln>
            </p:spPr>
            <p:txBody>
              <a:bodyPr anchor="ctr" anchorCtr="0"/>
              <a:lstStyle/>
              <a:p>
                <a:r>
                  <a:rPr lang="en-US" sz="1200" b="1" dirty="0"/>
                  <a:t>C</a:t>
                </a:r>
              </a:p>
            </p:txBody>
          </p:sp>
          <p:sp>
            <p:nvSpPr>
              <p:cNvPr id="171" name="Freeform 454">
                <a:extLst>
                  <a:ext uri="{FF2B5EF4-FFF2-40B4-BE49-F238E27FC236}">
                    <a16:creationId xmlns:a16="http://schemas.microsoft.com/office/drawing/2014/main" id="{93B21DAD-9F8E-4F20-8A43-5CFD3BA19D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3175" y="5943600"/>
                <a:ext cx="250825" cy="257175"/>
              </a:xfrm>
              <a:custGeom>
                <a:avLst/>
                <a:gdLst>
                  <a:gd name="T0" fmla="*/ 0 w 222"/>
                  <a:gd name="T1" fmla="*/ 84 h 172"/>
                  <a:gd name="T2" fmla="*/ 1 w 222"/>
                  <a:gd name="T3" fmla="*/ 95 h 172"/>
                  <a:gd name="T4" fmla="*/ 3 w 222"/>
                  <a:gd name="T5" fmla="*/ 105 h 172"/>
                  <a:gd name="T6" fmla="*/ 4 w 222"/>
                  <a:gd name="T7" fmla="*/ 112 h 172"/>
                  <a:gd name="T8" fmla="*/ 8 w 222"/>
                  <a:gd name="T9" fmla="*/ 120 h 172"/>
                  <a:gd name="T10" fmla="*/ 11 w 222"/>
                  <a:gd name="T11" fmla="*/ 127 h 172"/>
                  <a:gd name="T12" fmla="*/ 16 w 222"/>
                  <a:gd name="T13" fmla="*/ 132 h 172"/>
                  <a:gd name="T14" fmla="*/ 22 w 222"/>
                  <a:gd name="T15" fmla="*/ 138 h 172"/>
                  <a:gd name="T16" fmla="*/ 28 w 222"/>
                  <a:gd name="T17" fmla="*/ 141 h 172"/>
                  <a:gd name="T18" fmla="*/ 34 w 222"/>
                  <a:gd name="T19" fmla="*/ 144 h 172"/>
                  <a:gd name="T20" fmla="*/ 40 w 222"/>
                  <a:gd name="T21" fmla="*/ 144 h 172"/>
                  <a:gd name="T22" fmla="*/ 47 w 222"/>
                  <a:gd name="T23" fmla="*/ 144 h 172"/>
                  <a:gd name="T24" fmla="*/ 53 w 222"/>
                  <a:gd name="T25" fmla="*/ 141 h 172"/>
                  <a:gd name="T26" fmla="*/ 58 w 222"/>
                  <a:gd name="T27" fmla="*/ 138 h 172"/>
                  <a:gd name="T28" fmla="*/ 64 w 222"/>
                  <a:gd name="T29" fmla="*/ 132 h 172"/>
                  <a:gd name="T30" fmla="*/ 68 w 222"/>
                  <a:gd name="T31" fmla="*/ 127 h 172"/>
                  <a:gd name="T32" fmla="*/ 73 w 222"/>
                  <a:gd name="T33" fmla="*/ 120 h 172"/>
                  <a:gd name="T34" fmla="*/ 75 w 222"/>
                  <a:gd name="T35" fmla="*/ 112 h 172"/>
                  <a:gd name="T36" fmla="*/ 78 w 222"/>
                  <a:gd name="T37" fmla="*/ 105 h 172"/>
                  <a:gd name="T38" fmla="*/ 80 w 222"/>
                  <a:gd name="T39" fmla="*/ 95 h 172"/>
                  <a:gd name="T40" fmla="*/ 80 w 222"/>
                  <a:gd name="T41" fmla="*/ 87 h 172"/>
                  <a:gd name="T42" fmla="*/ 80 w 222"/>
                  <a:gd name="T43" fmla="*/ 0 h 172"/>
                  <a:gd name="T44" fmla="*/ 1 w 222"/>
                  <a:gd name="T45" fmla="*/ 0 h 172"/>
                  <a:gd name="T46" fmla="*/ 1 w 222"/>
                  <a:gd name="T47" fmla="*/ 87 h 172"/>
                  <a:gd name="T48" fmla="*/ 1 w 222"/>
                  <a:gd name="T49" fmla="*/ 87 h 172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222"/>
                  <a:gd name="T76" fmla="*/ 0 h 172"/>
                  <a:gd name="T77" fmla="*/ 222 w 222"/>
                  <a:gd name="T78" fmla="*/ 172 h 172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222" h="172">
                    <a:moveTo>
                      <a:pt x="0" y="101"/>
                    </a:moveTo>
                    <a:lnTo>
                      <a:pt x="3" y="114"/>
                    </a:lnTo>
                    <a:lnTo>
                      <a:pt x="7" y="125"/>
                    </a:lnTo>
                    <a:lnTo>
                      <a:pt x="13" y="134"/>
                    </a:lnTo>
                    <a:lnTo>
                      <a:pt x="23" y="143"/>
                    </a:lnTo>
                    <a:lnTo>
                      <a:pt x="33" y="152"/>
                    </a:lnTo>
                    <a:lnTo>
                      <a:pt x="47" y="158"/>
                    </a:lnTo>
                    <a:lnTo>
                      <a:pt x="60" y="165"/>
                    </a:lnTo>
                    <a:lnTo>
                      <a:pt x="77" y="169"/>
                    </a:lnTo>
                    <a:lnTo>
                      <a:pt x="94" y="172"/>
                    </a:lnTo>
                    <a:lnTo>
                      <a:pt x="111" y="172"/>
                    </a:lnTo>
                    <a:lnTo>
                      <a:pt x="131" y="172"/>
                    </a:lnTo>
                    <a:lnTo>
                      <a:pt x="148" y="169"/>
                    </a:lnTo>
                    <a:lnTo>
                      <a:pt x="161" y="165"/>
                    </a:lnTo>
                    <a:lnTo>
                      <a:pt x="178" y="158"/>
                    </a:lnTo>
                    <a:lnTo>
                      <a:pt x="188" y="152"/>
                    </a:lnTo>
                    <a:lnTo>
                      <a:pt x="202" y="143"/>
                    </a:lnTo>
                    <a:lnTo>
                      <a:pt x="208" y="134"/>
                    </a:lnTo>
                    <a:lnTo>
                      <a:pt x="215" y="125"/>
                    </a:lnTo>
                    <a:lnTo>
                      <a:pt x="222" y="114"/>
                    </a:lnTo>
                    <a:lnTo>
                      <a:pt x="222" y="104"/>
                    </a:lnTo>
                    <a:lnTo>
                      <a:pt x="222" y="0"/>
                    </a:lnTo>
                    <a:lnTo>
                      <a:pt x="3" y="0"/>
                    </a:lnTo>
                    <a:lnTo>
                      <a:pt x="3" y="104"/>
                    </a:lnTo>
                  </a:path>
                </a:pathLst>
              </a:custGeom>
              <a:noFill/>
              <a:ln w="20638">
                <a:noFill/>
                <a:prstDash val="solid"/>
                <a:round/>
                <a:headEnd/>
                <a:tailEnd/>
              </a:ln>
            </p:spPr>
            <p:txBody>
              <a:bodyPr anchor="ctr" anchorCtr="0"/>
              <a:lstStyle/>
              <a:p>
                <a:r>
                  <a:rPr lang="en-US" sz="1200" b="1" dirty="0"/>
                  <a:t>D</a:t>
                </a:r>
              </a:p>
            </p:txBody>
          </p:sp>
          <p:grpSp>
            <p:nvGrpSpPr>
              <p:cNvPr id="172" name="Group 165">
                <a:extLst>
                  <a:ext uri="{FF2B5EF4-FFF2-40B4-BE49-F238E27FC236}">
                    <a16:creationId xmlns:a16="http://schemas.microsoft.com/office/drawing/2014/main" id="{7B49E46F-2DFE-4B9B-B2EC-D51D9A5FAF4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19200" y="1811601"/>
                <a:ext cx="3544113" cy="1312599"/>
                <a:chOff x="576" y="1235"/>
                <a:chExt cx="2433" cy="1165"/>
              </a:xfrm>
            </p:grpSpPr>
            <p:grpSp>
              <p:nvGrpSpPr>
                <p:cNvPr id="181" name="Group 166">
                  <a:extLst>
                    <a:ext uri="{FF2B5EF4-FFF2-40B4-BE49-F238E27FC236}">
                      <a16:creationId xmlns:a16="http://schemas.microsoft.com/office/drawing/2014/main" id="{C1049F9B-5A31-479C-9342-22A3F8A746D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76" y="1235"/>
                  <a:ext cx="2433" cy="1165"/>
                  <a:chOff x="576" y="1235"/>
                  <a:chExt cx="2433" cy="1165"/>
                </a:xfrm>
              </p:grpSpPr>
              <p:sp>
                <p:nvSpPr>
                  <p:cNvPr id="183" name="Line 167">
                    <a:extLst>
                      <a:ext uri="{FF2B5EF4-FFF2-40B4-BE49-F238E27FC236}">
                        <a16:creationId xmlns:a16="http://schemas.microsoft.com/office/drawing/2014/main" id="{C58A58AF-527F-4F44-86C6-91809AADD92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684" y="1421"/>
                    <a:ext cx="148" cy="57"/>
                  </a:xfrm>
                  <a:prstGeom prst="line">
                    <a:avLst/>
                  </a:prstGeom>
                  <a:noFill/>
                  <a:ln w="2063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84" name="Text Box 168">
                    <a:extLst>
                      <a:ext uri="{FF2B5EF4-FFF2-40B4-BE49-F238E27FC236}">
                        <a16:creationId xmlns:a16="http://schemas.microsoft.com/office/drawing/2014/main" id="{CD136469-D8F1-4EDD-BB37-7B5F89C559DD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727" y="1235"/>
                    <a:ext cx="179" cy="233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eaLnBrk="0" hangingPunct="0"/>
                    <a:r>
                      <a:rPr lang="en-US" sz="1400" b="1" dirty="0"/>
                      <a:t>8</a:t>
                    </a:r>
                  </a:p>
                </p:txBody>
              </p:sp>
              <p:sp>
                <p:nvSpPr>
                  <p:cNvPr id="185" name="Text Box 169">
                    <a:extLst>
                      <a:ext uri="{FF2B5EF4-FFF2-40B4-BE49-F238E27FC236}">
                        <a16:creationId xmlns:a16="http://schemas.microsoft.com/office/drawing/2014/main" id="{C5C4DD1C-8D24-4C54-BCF6-0EAD62856092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256" y="1386"/>
                    <a:ext cx="753" cy="300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eaLnBrk="0" hangingPunct="0"/>
                    <a:r>
                      <a:rPr lang="en-US" sz="1600" b="1" dirty="0">
                        <a:solidFill>
                          <a:schemeClr val="accent6">
                            <a:lumMod val="50000"/>
                          </a:schemeClr>
                        </a:solidFill>
                      </a:rPr>
                      <a:t>Set Index</a:t>
                    </a:r>
                  </a:p>
                </p:txBody>
              </p:sp>
              <p:sp>
                <p:nvSpPr>
                  <p:cNvPr id="186" name="Line 170">
                    <a:extLst>
                      <a:ext uri="{FF2B5EF4-FFF2-40B4-BE49-F238E27FC236}">
                        <a16:creationId xmlns:a16="http://schemas.microsoft.com/office/drawing/2014/main" id="{771026EA-794C-4F69-BFBC-073B30D3EDA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721" y="1250"/>
                    <a:ext cx="0" cy="406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87" name="Line 171">
                    <a:extLst>
                      <a:ext uri="{FF2B5EF4-FFF2-40B4-BE49-F238E27FC236}">
                        <a16:creationId xmlns:a16="http://schemas.microsoft.com/office/drawing/2014/main" id="{F151B406-9280-473B-9EE5-D7D84ECDEC1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76" y="1656"/>
                    <a:ext cx="2160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accent6">
                        <a:lumMod val="50000"/>
                      </a:schemeClr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88" name="Line 172">
                    <a:extLst>
                      <a:ext uri="{FF2B5EF4-FFF2-40B4-BE49-F238E27FC236}">
                        <a16:creationId xmlns:a16="http://schemas.microsoft.com/office/drawing/2014/main" id="{D854C50E-C9D4-4901-8C9D-AE4E29CCB0D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76" y="1656"/>
                    <a:ext cx="0" cy="744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82" name="Line 173">
                  <a:extLst>
                    <a:ext uri="{FF2B5EF4-FFF2-40B4-BE49-F238E27FC236}">
                      <a16:creationId xmlns:a16="http://schemas.microsoft.com/office/drawing/2014/main" id="{31A971A7-B1F2-4C95-80FA-10ACE0E0849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6" y="2400"/>
                  <a:ext cx="240" cy="0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73" name="Group 209">
                <a:extLst>
                  <a:ext uri="{FF2B5EF4-FFF2-40B4-BE49-F238E27FC236}">
                    <a16:creationId xmlns:a16="http://schemas.microsoft.com/office/drawing/2014/main" id="{DE410D38-F2C4-4E21-BC51-48C380C3B52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62000" y="1794257"/>
                <a:ext cx="3013076" cy="2940865"/>
                <a:chOff x="432" y="1225"/>
                <a:chExt cx="1898" cy="2066"/>
              </a:xfrm>
            </p:grpSpPr>
            <p:sp>
              <p:nvSpPr>
                <p:cNvPr id="174" name="Line 210">
                  <a:extLst>
                    <a:ext uri="{FF2B5EF4-FFF2-40B4-BE49-F238E27FC236}">
                      <a16:creationId xmlns:a16="http://schemas.microsoft.com/office/drawing/2014/main" id="{CF5E5ADB-D162-4B03-99D9-E90BD8F3D3D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43" y="1356"/>
                  <a:ext cx="145" cy="55"/>
                </a:xfrm>
                <a:prstGeom prst="line">
                  <a:avLst/>
                </a:prstGeom>
                <a:noFill/>
                <a:ln w="206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5" name="Text Box 211">
                  <a:extLst>
                    <a:ext uri="{FF2B5EF4-FFF2-40B4-BE49-F238E27FC236}">
                      <a16:creationId xmlns:a16="http://schemas.microsoft.com/office/drawing/2014/main" id="{BC6BF70E-A26C-4B1F-9861-044D41BE268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088" y="1225"/>
                  <a:ext cx="242" cy="19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eaLnBrk="0" hangingPunct="0"/>
                  <a:r>
                    <a:rPr lang="en-US" sz="1400" b="1" dirty="0"/>
                    <a:t>22</a:t>
                  </a:r>
                </a:p>
              </p:txBody>
            </p:sp>
            <p:sp>
              <p:nvSpPr>
                <p:cNvPr id="176" name="Text Box 212">
                  <a:extLst>
                    <a:ext uri="{FF2B5EF4-FFF2-40B4-BE49-F238E27FC236}">
                      <a16:creationId xmlns:a16="http://schemas.microsoft.com/office/drawing/2014/main" id="{9646A940-FB00-4D68-81E7-7FDFA9510F5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52" y="1279"/>
                  <a:ext cx="336" cy="21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eaLnBrk="0" hangingPunct="0"/>
                  <a:r>
                    <a:rPr lang="en-US" sz="1600" b="1" dirty="0">
                      <a:solidFill>
                        <a:srgbClr val="C00000"/>
                      </a:solidFill>
                    </a:rPr>
                    <a:t>Tag</a:t>
                  </a:r>
                </a:p>
              </p:txBody>
            </p:sp>
            <p:sp>
              <p:nvSpPr>
                <p:cNvPr id="177" name="Line 213">
                  <a:extLst>
                    <a:ext uri="{FF2B5EF4-FFF2-40B4-BE49-F238E27FC236}">
                      <a16:creationId xmlns:a16="http://schemas.microsoft.com/office/drawing/2014/main" id="{63AB4E07-9288-4C15-9E14-4FE559B32F7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12" y="1248"/>
                  <a:ext cx="0" cy="240"/>
                </a:xfrm>
                <a:prstGeom prst="line">
                  <a:avLst/>
                </a:prstGeom>
                <a:noFill/>
                <a:ln w="28575">
                  <a:solidFill>
                    <a:srgbClr val="C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8" name="Line 214">
                  <a:extLst>
                    <a:ext uri="{FF2B5EF4-FFF2-40B4-BE49-F238E27FC236}">
                      <a16:creationId xmlns:a16="http://schemas.microsoft.com/office/drawing/2014/main" id="{AF84E9CD-9425-4A44-9AEE-7B7899CC252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2" y="1488"/>
                  <a:ext cx="1680" cy="0"/>
                </a:xfrm>
                <a:prstGeom prst="line">
                  <a:avLst/>
                </a:prstGeom>
                <a:noFill/>
                <a:ln w="38100">
                  <a:solidFill>
                    <a:srgbClr val="C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9" name="Line 215">
                  <a:extLst>
                    <a:ext uri="{FF2B5EF4-FFF2-40B4-BE49-F238E27FC236}">
                      <a16:creationId xmlns:a16="http://schemas.microsoft.com/office/drawing/2014/main" id="{3917D2E1-3142-4530-B610-8DCB1484FF5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2" y="1488"/>
                  <a:ext cx="0" cy="1795"/>
                </a:xfrm>
                <a:prstGeom prst="line">
                  <a:avLst/>
                </a:prstGeom>
                <a:noFill/>
                <a:ln w="28575">
                  <a:solidFill>
                    <a:srgbClr val="C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0" name="Line 216">
                  <a:extLst>
                    <a:ext uri="{FF2B5EF4-FFF2-40B4-BE49-F238E27FC236}">
                      <a16:creationId xmlns:a16="http://schemas.microsoft.com/office/drawing/2014/main" id="{1B773BF8-E313-44B9-843D-EFAEC780872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2" y="3283"/>
                  <a:ext cx="797" cy="8"/>
                </a:xfrm>
                <a:prstGeom prst="line">
                  <a:avLst/>
                </a:prstGeom>
                <a:noFill/>
                <a:ln w="28575">
                  <a:solidFill>
                    <a:srgbClr val="C00000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cxnSp>
          <p:nvCxnSpPr>
            <p:cNvPr id="133" name="Shape 351">
              <a:extLst>
                <a:ext uri="{FF2B5EF4-FFF2-40B4-BE49-F238E27FC236}">
                  <a16:creationId xmlns:a16="http://schemas.microsoft.com/office/drawing/2014/main" id="{61B1264E-96CC-4F11-847C-8BBFA27D2405}"/>
                </a:ext>
              </a:extLst>
            </p:cNvPr>
            <p:cNvCxnSpPr>
              <a:stCxn id="189" idx="0"/>
              <a:endCxn id="131" idx="1"/>
            </p:cNvCxnSpPr>
            <p:nvPr/>
          </p:nvCxnSpPr>
          <p:spPr>
            <a:xfrm rot="16200000" flipH="1">
              <a:off x="6696090" y="5353035"/>
              <a:ext cx="133320" cy="1257299"/>
            </a:xfrm>
            <a:prstGeom prst="bentConnector2">
              <a:avLst/>
            </a:prstGeom>
            <a:ln w="1905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hape 353">
              <a:extLst>
                <a:ext uri="{FF2B5EF4-FFF2-40B4-BE49-F238E27FC236}">
                  <a16:creationId xmlns:a16="http://schemas.microsoft.com/office/drawing/2014/main" id="{17E903D6-87AA-4BC3-AF50-9C451319F667}"/>
                </a:ext>
              </a:extLst>
            </p:cNvPr>
            <p:cNvCxnSpPr>
              <a:stCxn id="156" idx="1"/>
              <a:endCxn id="130" idx="3"/>
            </p:cNvCxnSpPr>
            <p:nvPr/>
          </p:nvCxnSpPr>
          <p:spPr>
            <a:xfrm rot="5400000">
              <a:off x="2482393" y="5635138"/>
              <a:ext cx="133320" cy="693094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Line 228">
              <a:extLst>
                <a:ext uri="{FF2B5EF4-FFF2-40B4-BE49-F238E27FC236}">
                  <a16:creationId xmlns:a16="http://schemas.microsoft.com/office/drawing/2014/main" id="{3BDF26CF-E0C7-4257-9D93-73700AE07C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91070" y="5969478"/>
              <a:ext cx="228600" cy="152400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6" name="Text Box 230">
              <a:extLst>
                <a:ext uri="{FF2B5EF4-FFF2-40B4-BE49-F238E27FC236}">
                  <a16:creationId xmlns:a16="http://schemas.microsoft.com/office/drawing/2014/main" id="{796906B6-4D79-427F-9A6B-06F643AD18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92504" y="5792634"/>
              <a:ext cx="381000" cy="3048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1400" dirty="0"/>
                <a:t>32</a:t>
              </a:r>
            </a:p>
          </p:txBody>
        </p:sp>
      </p:grpSp>
      <p:sp>
        <p:nvSpPr>
          <p:cNvPr id="384" name="Text Box 253">
            <a:extLst>
              <a:ext uri="{FF2B5EF4-FFF2-40B4-BE49-F238E27FC236}">
                <a16:creationId xmlns:a16="http://schemas.microsoft.com/office/drawing/2014/main" id="{26787C51-93D8-481D-AB8D-56AC28776D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1143000"/>
            <a:ext cx="2667000" cy="646331"/>
          </a:xfrm>
          <a:prstGeom prst="rect">
            <a:avLst/>
          </a:prstGeom>
          <a:solidFill>
            <a:srgbClr val="FFFFCC"/>
          </a:solidFill>
          <a:ln w="12700">
            <a:solidFill>
              <a:schemeClr val="accent5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800" b="1" dirty="0"/>
              <a:t>4-way 4-KB cache: </a:t>
            </a:r>
            <a:br>
              <a:rPr lang="en-US" sz="1800" dirty="0"/>
            </a:br>
            <a:r>
              <a:rPr lang="en-US" sz="1800" b="1" dirty="0"/>
              <a:t>1-word</a:t>
            </a:r>
            <a:r>
              <a:rPr lang="en-US" sz="1800" dirty="0"/>
              <a:t> (4-byte) blocks</a:t>
            </a:r>
          </a:p>
        </p:txBody>
      </p:sp>
      <p:sp>
        <p:nvSpPr>
          <p:cNvPr id="385" name="Slide Number Placeholder 6">
            <a:extLst>
              <a:ext uri="{FF2B5EF4-FFF2-40B4-BE49-F238E27FC236}">
                <a16:creationId xmlns:a16="http://schemas.microsoft.com/office/drawing/2014/main" id="{EE280FC6-F71C-4836-8649-EAC106827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67</a:t>
            </a:fld>
            <a:endParaRPr dirty="0"/>
          </a:p>
        </p:txBody>
      </p:sp>
      <p:sp>
        <p:nvSpPr>
          <p:cNvPr id="386" name="Snip Single Corner Rectangle 361">
            <a:extLst>
              <a:ext uri="{FF2B5EF4-FFF2-40B4-BE49-F238E27FC236}">
                <a16:creationId xmlns:a16="http://schemas.microsoft.com/office/drawing/2014/main" id="{39BBCFBC-4F46-4B8B-8DE7-5EEA088D68F6}"/>
              </a:ext>
            </a:extLst>
          </p:cNvPr>
          <p:cNvSpPr/>
          <p:nvPr/>
        </p:nvSpPr>
        <p:spPr>
          <a:xfrm>
            <a:off x="97859" y="4778682"/>
            <a:ext cx="1784350" cy="1087036"/>
          </a:xfrm>
          <a:prstGeom prst="snip1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Note the simultaneous "search" on all tags of a set.</a:t>
            </a:r>
          </a:p>
        </p:txBody>
      </p:sp>
    </p:spTree>
    <p:extLst>
      <p:ext uri="{BB962C8B-B14F-4D97-AF65-F5344CB8AC3E}">
        <p14:creationId xmlns:p14="http://schemas.microsoft.com/office/powerpoint/2010/main" val="362105714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8. SA Cache Example: </a:t>
            </a:r>
            <a:r>
              <a:rPr lang="en-GB" sz="3600" b="1" dirty="0">
                <a:solidFill>
                  <a:srgbClr val="0000FF"/>
                </a:solidFill>
              </a:rPr>
              <a:t>Setup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#23: Cache II: Set/Fully Associative Cache</a:t>
            </a:r>
            <a:endParaRPr lang="en-US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FDA543D7-8900-4436-9416-DA94E878491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169232"/>
            <a:ext cx="7391400" cy="2426731"/>
          </a:xfrm>
        </p:spPr>
        <p:txBody>
          <a:bodyPr>
            <a:normAutofit/>
          </a:bodyPr>
          <a:lstStyle/>
          <a:p>
            <a:pPr marL="268288" indent="-268288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Given:</a:t>
            </a:r>
          </a:p>
          <a:p>
            <a:pPr marL="623888" lvl="1" indent="-266700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Memory access sequence: </a:t>
            </a:r>
            <a:r>
              <a:rPr lang="en-US" sz="2400" b="1" dirty="0"/>
              <a:t>4, 0, 8, 36, 0 </a:t>
            </a:r>
          </a:p>
          <a:p>
            <a:pPr marL="623888" lvl="1" indent="-266700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2-way set-associative cache with a total of four 8-byte blocks </a:t>
            </a:r>
            <a:r>
              <a:rPr lang="en-US" sz="2400" b="1" dirty="0">
                <a:solidFill>
                  <a:srgbClr val="C00000"/>
                </a:solidFill>
                <a:sym typeface="Wingdings" pitchFamily="2" charset="2"/>
              </a:rPr>
              <a:t> </a:t>
            </a:r>
            <a:r>
              <a:rPr lang="en-US" sz="2400" b="1" dirty="0">
                <a:solidFill>
                  <a:srgbClr val="C00000"/>
                </a:solidFill>
              </a:rPr>
              <a:t>total of 2 sets</a:t>
            </a:r>
            <a:endParaRPr lang="en-US" sz="2400" dirty="0">
              <a:solidFill>
                <a:srgbClr val="C00000"/>
              </a:solidFill>
            </a:endParaRPr>
          </a:p>
          <a:p>
            <a:pPr marL="623888" lvl="1" indent="-266700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Indicate hit/miss for each access</a:t>
            </a:r>
          </a:p>
          <a:p>
            <a:endParaRPr lang="en-US" dirty="0"/>
          </a:p>
        </p:txBody>
      </p:sp>
      <p:grpSp>
        <p:nvGrpSpPr>
          <p:cNvPr id="8" name="Group 29">
            <a:extLst>
              <a:ext uri="{FF2B5EF4-FFF2-40B4-BE49-F238E27FC236}">
                <a16:creationId xmlns:a16="http://schemas.microsoft.com/office/drawing/2014/main" id="{7F23CD1F-AE5E-4978-8D87-92D6614AE61A}"/>
              </a:ext>
            </a:extLst>
          </p:cNvPr>
          <p:cNvGrpSpPr/>
          <p:nvPr/>
        </p:nvGrpSpPr>
        <p:grpSpPr>
          <a:xfrm>
            <a:off x="1676400" y="3334583"/>
            <a:ext cx="5038496" cy="762000"/>
            <a:chOff x="3124200" y="3733800"/>
            <a:chExt cx="5038496" cy="762000"/>
          </a:xfrm>
        </p:grpSpPr>
        <p:sp>
          <p:nvSpPr>
            <p:cNvPr id="9" name="Text Box 38">
              <a:extLst>
                <a:ext uri="{FF2B5EF4-FFF2-40B4-BE49-F238E27FC236}">
                  <a16:creationId xmlns:a16="http://schemas.microsoft.com/office/drawing/2014/main" id="{EB66A112-D866-489C-9880-31E78CC351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8200" y="3744496"/>
              <a:ext cx="298480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+mn-lt"/>
                </a:rPr>
                <a:t>4</a:t>
              </a:r>
            </a:p>
          </p:txBody>
        </p:sp>
        <p:sp>
          <p:nvSpPr>
            <p:cNvPr id="10" name="Text Box 78">
              <a:extLst>
                <a:ext uri="{FF2B5EF4-FFF2-40B4-BE49-F238E27FC236}">
                  <a16:creationId xmlns:a16="http://schemas.microsoft.com/office/drawing/2014/main" id="{0FB1D7B3-002C-4842-BD11-F15B5519A1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4200" y="3733800"/>
              <a:ext cx="412293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+mn-lt"/>
                </a:rPr>
                <a:t>31</a:t>
              </a:r>
            </a:p>
          </p:txBody>
        </p:sp>
        <p:sp>
          <p:nvSpPr>
            <p:cNvPr id="11" name="Text Box 79">
              <a:extLst>
                <a:ext uri="{FF2B5EF4-FFF2-40B4-BE49-F238E27FC236}">
                  <a16:creationId xmlns:a16="http://schemas.microsoft.com/office/drawing/2014/main" id="{0BE6196F-0309-42D9-A2AC-4E05A4BF9F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54721" y="3733800"/>
              <a:ext cx="307975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+mn-lt"/>
                </a:rPr>
                <a:t>0</a:t>
              </a:r>
            </a:p>
          </p:txBody>
        </p:sp>
        <p:sp>
          <p:nvSpPr>
            <p:cNvPr id="13" name="Text Box 80">
              <a:extLst>
                <a:ext uri="{FF2B5EF4-FFF2-40B4-BE49-F238E27FC236}">
                  <a16:creationId xmlns:a16="http://schemas.microsoft.com/office/drawing/2014/main" id="{EA03D59A-8429-4B82-B018-34CA5CAE00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53200" y="3733800"/>
              <a:ext cx="298479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+mn-lt"/>
                </a:rPr>
                <a:t>2</a:t>
              </a:r>
            </a:p>
          </p:txBody>
        </p:sp>
        <p:sp>
          <p:nvSpPr>
            <p:cNvPr id="14" name="Text Box 81">
              <a:extLst>
                <a:ext uri="{FF2B5EF4-FFF2-40B4-BE49-F238E27FC236}">
                  <a16:creationId xmlns:a16="http://schemas.microsoft.com/office/drawing/2014/main" id="{FB74F48C-4B99-4954-BD08-D829308D1D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54721" y="3733800"/>
              <a:ext cx="298479" cy="33855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>
                  <a:latin typeface="+mn-lt"/>
                </a:rPr>
                <a:t>3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2663FDC-79D4-4D4A-A601-0BC620175F70}"/>
                </a:ext>
              </a:extLst>
            </p:cNvPr>
            <p:cNvSpPr/>
            <p:nvPr/>
          </p:nvSpPr>
          <p:spPr>
            <a:xfrm>
              <a:off x="3206521" y="4038600"/>
              <a:ext cx="1746479" cy="4572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B7EE689-0686-46AA-ABB2-08F18A895081}"/>
                </a:ext>
              </a:extLst>
            </p:cNvPr>
            <p:cNvSpPr/>
            <p:nvPr/>
          </p:nvSpPr>
          <p:spPr>
            <a:xfrm>
              <a:off x="6559321" y="4038600"/>
              <a:ext cx="1600200" cy="4572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7" name="Group 28">
              <a:extLst>
                <a:ext uri="{FF2B5EF4-FFF2-40B4-BE49-F238E27FC236}">
                  <a16:creationId xmlns:a16="http://schemas.microsoft.com/office/drawing/2014/main" id="{BA9A6FBF-9F8B-4AAC-BAEA-0D347F0F7DF8}"/>
                </a:ext>
              </a:extLst>
            </p:cNvPr>
            <p:cNvGrpSpPr/>
            <p:nvPr/>
          </p:nvGrpSpPr>
          <p:grpSpPr>
            <a:xfrm>
              <a:off x="3200401" y="4083050"/>
              <a:ext cx="1752599" cy="369332"/>
              <a:chOff x="1219200" y="2014270"/>
              <a:chExt cx="3672114" cy="369332"/>
            </a:xfrm>
          </p:grpSpPr>
          <p:sp>
            <p:nvSpPr>
              <p:cNvPr id="26" name="Text Box 75">
                <a:extLst>
                  <a:ext uri="{FF2B5EF4-FFF2-40B4-BE49-F238E27FC236}">
                    <a16:creationId xmlns:a16="http://schemas.microsoft.com/office/drawing/2014/main" id="{A33F1CD5-A86E-451F-8CB2-8A5B5FFB293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56113" y="2014270"/>
                <a:ext cx="910765" cy="369332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C00000"/>
                    </a:solidFill>
                    <a:latin typeface="+mn-lt"/>
                  </a:rPr>
                  <a:t>Tag</a:t>
                </a:r>
              </a:p>
            </p:txBody>
          </p:sp>
          <p:sp>
            <p:nvSpPr>
              <p:cNvPr id="27" name="Line 76">
                <a:extLst>
                  <a:ext uri="{FF2B5EF4-FFF2-40B4-BE49-F238E27FC236}">
                    <a16:creationId xmlns:a16="http://schemas.microsoft.com/office/drawing/2014/main" id="{DB4B797C-685A-495B-9F07-77F31B8338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76914" y="2209800"/>
                <a:ext cx="9144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square">
                <a:spAutoFit/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28" name="Line 77">
                <a:extLst>
                  <a:ext uri="{FF2B5EF4-FFF2-40B4-BE49-F238E27FC236}">
                    <a16:creationId xmlns:a16="http://schemas.microsoft.com/office/drawing/2014/main" id="{575A1579-5B63-4097-8808-DF10F9C7B1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19200" y="2209800"/>
                <a:ext cx="7620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>
                <a:spAutoFit/>
              </a:bodyPr>
              <a:lstStyle/>
              <a:p>
                <a:endParaRPr lang="en-US">
                  <a:latin typeface="+mn-lt"/>
                </a:endParaRPr>
              </a:p>
            </p:txBody>
          </p:sp>
        </p:grpSp>
        <p:grpSp>
          <p:nvGrpSpPr>
            <p:cNvPr id="18" name="Group 32">
              <a:extLst>
                <a:ext uri="{FF2B5EF4-FFF2-40B4-BE49-F238E27FC236}">
                  <a16:creationId xmlns:a16="http://schemas.microsoft.com/office/drawing/2014/main" id="{D647C76E-AB47-4258-AC0B-41FCCE28FF9A}"/>
                </a:ext>
              </a:extLst>
            </p:cNvPr>
            <p:cNvGrpSpPr/>
            <p:nvPr/>
          </p:nvGrpSpPr>
          <p:grpSpPr>
            <a:xfrm>
              <a:off x="6567947" y="4090356"/>
              <a:ext cx="1591574" cy="369332"/>
              <a:chOff x="1600200" y="1988392"/>
              <a:chExt cx="2590800" cy="369332"/>
            </a:xfrm>
          </p:grpSpPr>
          <p:sp>
            <p:nvSpPr>
              <p:cNvPr id="24" name="Line 77">
                <a:extLst>
                  <a:ext uri="{FF2B5EF4-FFF2-40B4-BE49-F238E27FC236}">
                    <a16:creationId xmlns:a16="http://schemas.microsoft.com/office/drawing/2014/main" id="{1316E048-85E7-4E51-88A2-A4C51429B2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600200" y="2166670"/>
                <a:ext cx="25908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triangle"/>
                <a:tailEnd type="triangle" w="med" len="med"/>
              </a:ln>
            </p:spPr>
            <p:txBody>
              <a:bodyPr wrap="square">
                <a:spAutoFit/>
              </a:bodyPr>
              <a:lstStyle/>
              <a:p>
                <a:endParaRPr lang="en-US" dirty="0">
                  <a:latin typeface="+mn-lt"/>
                </a:endParaRPr>
              </a:p>
            </p:txBody>
          </p:sp>
          <p:sp>
            <p:nvSpPr>
              <p:cNvPr id="25" name="Text Box 75">
                <a:extLst>
                  <a:ext uri="{FF2B5EF4-FFF2-40B4-BE49-F238E27FC236}">
                    <a16:creationId xmlns:a16="http://schemas.microsoft.com/office/drawing/2014/main" id="{8E527BEA-E32F-4CB1-83FB-5A1C991AC8E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82319" y="1988392"/>
                <a:ext cx="1488479" cy="36933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006600"/>
                    </a:solidFill>
                    <a:latin typeface="+mn-lt"/>
                  </a:rPr>
                  <a:t>Offset</a:t>
                </a:r>
              </a:p>
            </p:txBody>
          </p:sp>
        </p:grp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D218805-11BC-4702-8790-15F5B407B783}"/>
                </a:ext>
              </a:extLst>
            </p:cNvPr>
            <p:cNvSpPr/>
            <p:nvPr/>
          </p:nvSpPr>
          <p:spPr>
            <a:xfrm>
              <a:off x="4953000" y="4038600"/>
              <a:ext cx="1600200" cy="4572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0" name="Group 28">
              <a:extLst>
                <a:ext uri="{FF2B5EF4-FFF2-40B4-BE49-F238E27FC236}">
                  <a16:creationId xmlns:a16="http://schemas.microsoft.com/office/drawing/2014/main" id="{FD729B59-FF77-47BC-A3EA-3BD2E81204B3}"/>
                </a:ext>
              </a:extLst>
            </p:cNvPr>
            <p:cNvGrpSpPr/>
            <p:nvPr/>
          </p:nvGrpSpPr>
          <p:grpSpPr>
            <a:xfrm>
              <a:off x="4953000" y="4083050"/>
              <a:ext cx="1600200" cy="369332"/>
              <a:chOff x="1219200" y="2014270"/>
              <a:chExt cx="3365674" cy="369332"/>
            </a:xfrm>
          </p:grpSpPr>
          <p:sp>
            <p:nvSpPr>
              <p:cNvPr id="21" name="Text Box 75">
                <a:extLst>
                  <a:ext uri="{FF2B5EF4-FFF2-40B4-BE49-F238E27FC236}">
                    <a16:creationId xmlns:a16="http://schemas.microsoft.com/office/drawing/2014/main" id="{770B355D-C198-4E71-A6D7-609D32F5FD5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39740" y="2014270"/>
                <a:ext cx="2546212" cy="369332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chemeClr val="accent6">
                        <a:lumMod val="50000"/>
                      </a:schemeClr>
                    </a:solidFill>
                    <a:latin typeface="+mn-lt"/>
                  </a:rPr>
                  <a:t>Set Index</a:t>
                </a:r>
              </a:p>
            </p:txBody>
          </p:sp>
          <p:sp>
            <p:nvSpPr>
              <p:cNvPr id="22" name="Line 76">
                <a:extLst>
                  <a:ext uri="{FF2B5EF4-FFF2-40B4-BE49-F238E27FC236}">
                    <a16:creationId xmlns:a16="http://schemas.microsoft.com/office/drawing/2014/main" id="{2C9C7C30-0F88-4BE7-824F-7CE98A102B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43793" y="2198420"/>
                <a:ext cx="641081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square">
                <a:spAutoFit/>
              </a:bodyPr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23" name="Line 77">
                <a:extLst>
                  <a:ext uri="{FF2B5EF4-FFF2-40B4-BE49-F238E27FC236}">
                    <a16:creationId xmlns:a16="http://schemas.microsoft.com/office/drawing/2014/main" id="{DA80354A-3C2A-4A66-B405-751935B398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19200" y="2209800"/>
                <a:ext cx="3205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square">
                <a:spAutoFit/>
              </a:bodyPr>
              <a:lstStyle/>
              <a:p>
                <a:endParaRPr lang="en-US">
                  <a:latin typeface="+mn-lt"/>
                </a:endParaRPr>
              </a:p>
            </p:txBody>
          </p:sp>
        </p:grpSp>
      </p:grpSp>
      <p:sp>
        <p:nvSpPr>
          <p:cNvPr id="29" name="Text Box 16">
            <a:extLst>
              <a:ext uri="{FF2B5EF4-FFF2-40B4-BE49-F238E27FC236}">
                <a16:creationId xmlns:a16="http://schemas.microsoft.com/office/drawing/2014/main" id="{DB7B47F4-9C63-4459-ACA5-9DA7C01CD3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4188910"/>
            <a:ext cx="5638800" cy="193899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 b="1" dirty="0">
                <a:latin typeface="+mn-lt"/>
              </a:rPr>
              <a:t>Offset, </a:t>
            </a:r>
            <a:r>
              <a:rPr lang="en-US" sz="2000" b="1" dirty="0">
                <a:solidFill>
                  <a:srgbClr val="006600"/>
                </a:solidFill>
                <a:latin typeface="+mn-lt"/>
              </a:rPr>
              <a:t>N</a:t>
            </a:r>
            <a:r>
              <a:rPr lang="en-US" sz="2000" dirty="0">
                <a:latin typeface="+mn-lt"/>
              </a:rPr>
              <a:t> = </a:t>
            </a:r>
            <a:r>
              <a:rPr lang="en-US" sz="2000" b="1" dirty="0">
                <a:latin typeface="+mn-lt"/>
              </a:rPr>
              <a:t>3 bits</a:t>
            </a:r>
          </a:p>
          <a:p>
            <a:pPr>
              <a:spcAft>
                <a:spcPts val="1200"/>
              </a:spcAft>
            </a:pPr>
            <a:r>
              <a:rPr lang="en-US" sz="2000" b="1" dirty="0">
                <a:solidFill>
                  <a:srgbClr val="C00000"/>
                </a:solidFill>
                <a:latin typeface="+mn-lt"/>
              </a:rPr>
              <a:t>Block Number </a:t>
            </a:r>
            <a:r>
              <a:rPr lang="en-US" sz="2000" dirty="0">
                <a:latin typeface="+mn-lt"/>
              </a:rPr>
              <a:t>= 32 – 3 = 29 bits</a:t>
            </a:r>
            <a:endParaRPr lang="en-US" sz="2000" b="1" dirty="0">
              <a:latin typeface="+mn-lt"/>
            </a:endParaRPr>
          </a:p>
          <a:p>
            <a:r>
              <a:rPr lang="en-US" sz="2000" b="1" dirty="0"/>
              <a:t>2-way associative, number of sets</a:t>
            </a:r>
            <a:r>
              <a:rPr lang="en-US" sz="2000" dirty="0">
                <a:sym typeface="Wingdings" pitchFamily="2" charset="2"/>
              </a:rPr>
              <a:t>= 2 </a:t>
            </a:r>
            <a:r>
              <a:rPr lang="en-US" sz="2000" b="1" dirty="0">
                <a:sym typeface="Wingdings" pitchFamily="2" charset="2"/>
              </a:rPr>
              <a:t>= 2</a:t>
            </a:r>
            <a:r>
              <a:rPr lang="en-US" sz="2000" b="1" baseline="30000" dirty="0">
                <a:sym typeface="Wingdings" pitchFamily="2" charset="2"/>
              </a:rPr>
              <a:t>1</a:t>
            </a:r>
          </a:p>
          <a:p>
            <a:pPr>
              <a:spcAft>
                <a:spcPts val="1200"/>
              </a:spcAft>
            </a:pPr>
            <a:r>
              <a:rPr lang="en-US" sz="2000" b="1" dirty="0">
                <a:sym typeface="Wingdings" pitchFamily="2" charset="2"/>
              </a:rPr>
              <a:t>Set Index,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sym typeface="Wingdings" pitchFamily="2" charset="2"/>
              </a:rPr>
              <a:t>M</a:t>
            </a:r>
            <a:r>
              <a:rPr lang="en-US" sz="2000" b="1" dirty="0">
                <a:sym typeface="Wingdings" pitchFamily="2" charset="2"/>
              </a:rPr>
              <a:t> = 1 bits</a:t>
            </a:r>
            <a:endParaRPr lang="en-US" sz="2000" b="1" dirty="0"/>
          </a:p>
          <a:p>
            <a:r>
              <a:rPr lang="en-US" sz="2000" b="1" dirty="0">
                <a:solidFill>
                  <a:srgbClr val="C00000"/>
                </a:solidFill>
              </a:rPr>
              <a:t>Cache Tag </a:t>
            </a:r>
            <a:r>
              <a:rPr lang="en-US" sz="2000" dirty="0"/>
              <a:t>= 32 – 3 – 1 = </a:t>
            </a:r>
            <a:r>
              <a:rPr lang="en-US" sz="2000" b="1" dirty="0"/>
              <a:t>28 bits</a:t>
            </a:r>
          </a:p>
        </p:txBody>
      </p:sp>
      <p:sp>
        <p:nvSpPr>
          <p:cNvPr id="30" name="Slide Number Placeholder 6">
            <a:extLst>
              <a:ext uri="{FF2B5EF4-FFF2-40B4-BE49-F238E27FC236}">
                <a16:creationId xmlns:a16="http://schemas.microsoft.com/office/drawing/2014/main" id="{494DC6BB-E44F-4C82-881E-06FFB76AB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68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3486114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8. SA Cache Example: </a:t>
            </a:r>
            <a:r>
              <a:rPr lang="en-GB" sz="3600" b="1" dirty="0">
                <a:solidFill>
                  <a:srgbClr val="0000FF"/>
                </a:solidFill>
              </a:rPr>
              <a:t>Load #1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#23: Cache II: Set/Fully Associative Cache</a:t>
            </a:r>
            <a:endParaRPr lang="en-US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0F414F45-80A0-46FB-96A8-99BCF3D346AA}"/>
              </a:ext>
            </a:extLst>
          </p:cNvPr>
          <p:cNvSpPr txBox="1">
            <a:spLocks/>
          </p:cNvSpPr>
          <p:nvPr/>
        </p:nvSpPr>
        <p:spPr bwMode="auto">
          <a:xfrm>
            <a:off x="457200" y="1763751"/>
            <a:ext cx="822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tabLst/>
              <a:defRPr/>
            </a:pPr>
            <a:r>
              <a:rPr kumimoji="0" lang="en-SG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Load from </a:t>
            </a:r>
            <a:r>
              <a:rPr kumimoji="0" lang="en-SG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 </a:t>
            </a:r>
            <a:r>
              <a:rPr kumimoji="0" lang="en-SG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</a:t>
            </a:r>
            <a:endParaRPr kumimoji="0" lang="en-SG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tabLst/>
              <a:defRPr/>
            </a:pPr>
            <a:endParaRPr kumimoji="0" lang="en-SG" sz="1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Check: </a:t>
            </a:r>
            <a:r>
              <a:rPr kumimoji="0" lang="en-US" sz="24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Both blocks in</a:t>
            </a:r>
            <a:r>
              <a:rPr kumimoji="0" lang="en-US" sz="240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Set 0 </a:t>
            </a:r>
            <a:r>
              <a:rPr kumimoji="0" lang="en-US" sz="240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are invalid </a:t>
            </a:r>
            <a:r>
              <a:rPr kumimoji="0" lang="en-US" sz="2400" b="1" i="0" u="none" strike="noStrike" kern="0" cap="none" spc="0" normalizeH="0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 Cold Miss ]</a:t>
            </a:r>
            <a:endParaRPr kumimoji="0" lang="en-SG" sz="2000" b="1" i="0" u="none" strike="noStrike" kern="0" cap="none" spc="0" normalizeH="0" baseline="0" noProof="0" dirty="0">
              <a:ln>
                <a:noFill/>
              </a:ln>
              <a:solidFill>
                <a:srgbClr val="66006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tabLst/>
              <a:defRPr/>
            </a:pPr>
            <a:endParaRPr kumimoji="0" lang="en-SG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C7A01EA-94FF-4BFE-91F2-2E8C19722AC5}"/>
              </a:ext>
            </a:extLst>
          </p:cNvPr>
          <p:cNvGrpSpPr/>
          <p:nvPr/>
        </p:nvGrpSpPr>
        <p:grpSpPr>
          <a:xfrm>
            <a:off x="3048001" y="1400003"/>
            <a:ext cx="5486399" cy="762000"/>
            <a:chOff x="2362201" y="914400"/>
            <a:chExt cx="5486399" cy="76200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DDADC25E-E79B-4B3C-A1EE-DDCA93B7A20E}"/>
                </a:ext>
              </a:extLst>
            </p:cNvPr>
            <p:cNvSpPr/>
            <p:nvPr/>
          </p:nvSpPr>
          <p:spPr>
            <a:xfrm>
              <a:off x="2362201" y="1295400"/>
              <a:ext cx="4190999" cy="3810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dirty="0">
                  <a:solidFill>
                    <a:srgbClr val="C00000"/>
                  </a:solidFill>
                </a:rPr>
                <a:t>000000000000000000000000000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CC4ED3DE-62B9-4CAB-8EFA-1581D8346D41}"/>
                </a:ext>
              </a:extLst>
            </p:cNvPr>
            <p:cNvSpPr/>
            <p:nvPr/>
          </p:nvSpPr>
          <p:spPr>
            <a:xfrm>
              <a:off x="6934200" y="1295400"/>
              <a:ext cx="609600" cy="381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dirty="0">
                  <a:solidFill>
                    <a:srgbClr val="006600"/>
                  </a:solidFill>
                </a:rPr>
                <a:t>100</a:t>
              </a:r>
            </a:p>
          </p:txBody>
        </p:sp>
        <p:sp>
          <p:nvSpPr>
            <p:cNvPr id="34" name="Text Box 75">
              <a:extLst>
                <a:ext uri="{FF2B5EF4-FFF2-40B4-BE49-F238E27FC236}">
                  <a16:creationId xmlns:a16="http://schemas.microsoft.com/office/drawing/2014/main" id="{0D266634-9016-478F-A26D-352FF1DEEF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3400" y="914400"/>
              <a:ext cx="726226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C00000"/>
                  </a:solidFill>
                  <a:latin typeface="+mn-lt"/>
                </a:rPr>
                <a:t>Tag</a:t>
              </a:r>
            </a:p>
          </p:txBody>
        </p:sp>
        <p:sp>
          <p:nvSpPr>
            <p:cNvPr id="35" name="Text Box 75">
              <a:extLst>
                <a:ext uri="{FF2B5EF4-FFF2-40B4-BE49-F238E27FC236}">
                  <a16:creationId xmlns:a16="http://schemas.microsoft.com/office/drawing/2014/main" id="{D02FB3C6-D593-4864-A49C-82F2CEEDEA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81800" y="914400"/>
              <a:ext cx="1066800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006600"/>
                  </a:solidFill>
                  <a:latin typeface="+mn-lt"/>
                </a:rPr>
                <a:t>Offset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C1242A5-5FF5-4575-BD22-A428B756F43F}"/>
                </a:ext>
              </a:extLst>
            </p:cNvPr>
            <p:cNvSpPr/>
            <p:nvPr/>
          </p:nvSpPr>
          <p:spPr>
            <a:xfrm>
              <a:off x="6553200" y="1295400"/>
              <a:ext cx="381000" cy="381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dirty="0">
                  <a:solidFill>
                    <a:schemeClr val="accent6">
                      <a:lumMod val="50000"/>
                    </a:schemeClr>
                  </a:solidFill>
                </a:rPr>
                <a:t>0</a:t>
              </a:r>
            </a:p>
          </p:txBody>
        </p:sp>
        <p:sp>
          <p:nvSpPr>
            <p:cNvPr id="37" name="Text Box 75">
              <a:extLst>
                <a:ext uri="{FF2B5EF4-FFF2-40B4-BE49-F238E27FC236}">
                  <a16:creationId xmlns:a16="http://schemas.microsoft.com/office/drawing/2014/main" id="{410BFCE6-683B-4AC4-954E-309C55524F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6000" y="914400"/>
              <a:ext cx="997177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6">
                      <a:lumMod val="50000"/>
                    </a:schemeClr>
                  </a:solidFill>
                  <a:latin typeface="+mn-lt"/>
                </a:rPr>
                <a:t>Index</a:t>
              </a:r>
            </a:p>
          </p:txBody>
        </p:sp>
      </p:grpSp>
      <p:graphicFrame>
        <p:nvGraphicFramePr>
          <p:cNvPr id="38" name="Group 3">
            <a:extLst>
              <a:ext uri="{FF2B5EF4-FFF2-40B4-BE49-F238E27FC236}">
                <a16:creationId xmlns:a16="http://schemas.microsoft.com/office/drawing/2014/main" id="{972A2BF2-65E1-4558-BE65-7450D79440FF}"/>
              </a:ext>
            </a:extLst>
          </p:cNvPr>
          <p:cNvGraphicFramePr>
            <a:graphicFrameLocks/>
          </p:cNvGraphicFramePr>
          <p:nvPr/>
        </p:nvGraphicFramePr>
        <p:xfrm>
          <a:off x="457200" y="3973551"/>
          <a:ext cx="8229602" cy="2453958"/>
        </p:xfrm>
        <a:graphic>
          <a:graphicData uri="http://schemas.openxmlformats.org/drawingml/2006/table">
            <a:tbl>
              <a:tblPr/>
              <a:tblGrid>
                <a:gridCol w="892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9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95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04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18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1440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Block 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Block 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Set Index</a:t>
                      </a:r>
                    </a:p>
                  </a:txBody>
                  <a:tcPr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Valid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Tag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W0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W1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Valid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Tag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W0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W1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1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9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9" name="TextBox 38">
            <a:extLst>
              <a:ext uri="{FF2B5EF4-FFF2-40B4-BE49-F238E27FC236}">
                <a16:creationId xmlns:a16="http://schemas.microsoft.com/office/drawing/2014/main" id="{E15BA633-F32D-4089-96E1-A46D4078DCE9}"/>
              </a:ext>
            </a:extLst>
          </p:cNvPr>
          <p:cNvSpPr txBox="1"/>
          <p:nvPr/>
        </p:nvSpPr>
        <p:spPr>
          <a:xfrm>
            <a:off x="6746988" y="934336"/>
            <a:ext cx="2203223" cy="461665"/>
          </a:xfrm>
          <a:prstGeom prst="rect">
            <a:avLst/>
          </a:prstGeom>
          <a:solidFill>
            <a:srgbClr val="FFF8C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4, 0 , 8, 36, 0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B8495961-659A-4388-BB4C-12482BA8E660}"/>
              </a:ext>
            </a:extLst>
          </p:cNvPr>
          <p:cNvSpPr/>
          <p:nvPr/>
        </p:nvSpPr>
        <p:spPr>
          <a:xfrm>
            <a:off x="6746988" y="934336"/>
            <a:ext cx="339612" cy="4572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C753493-70D8-4C10-B76C-DB61B2112561}"/>
              </a:ext>
            </a:extLst>
          </p:cNvPr>
          <p:cNvSpPr txBox="1"/>
          <p:nvPr/>
        </p:nvSpPr>
        <p:spPr>
          <a:xfrm>
            <a:off x="457200" y="2982951"/>
            <a:ext cx="807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400" b="1" dirty="0"/>
              <a:t>Result: </a:t>
            </a:r>
            <a:r>
              <a:rPr lang="en-US" sz="2400" kern="0" dirty="0"/>
              <a:t>Load from memory and place in </a:t>
            </a:r>
            <a:r>
              <a:rPr lang="en-US" sz="2400" b="1" kern="0" dirty="0"/>
              <a:t>Set 0 - Block 0</a:t>
            </a:r>
            <a:endParaRPr lang="en-SG" sz="2800" b="1" kern="0" dirty="0">
              <a:solidFill>
                <a:srgbClr val="660066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FEDC749-A761-4DCC-82E2-B0B1F34B520D}"/>
              </a:ext>
            </a:extLst>
          </p:cNvPr>
          <p:cNvSpPr txBox="1"/>
          <p:nvPr/>
        </p:nvSpPr>
        <p:spPr>
          <a:xfrm>
            <a:off x="2438400" y="5190518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C5F02C2-5D05-444A-A1A4-338C5E90B960}"/>
              </a:ext>
            </a:extLst>
          </p:cNvPr>
          <p:cNvSpPr txBox="1"/>
          <p:nvPr/>
        </p:nvSpPr>
        <p:spPr>
          <a:xfrm>
            <a:off x="2988734" y="5190518"/>
            <a:ext cx="11446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M[0]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A97CBE0-B87A-41C5-945F-EAB003612F20}"/>
              </a:ext>
            </a:extLst>
          </p:cNvPr>
          <p:cNvSpPr/>
          <p:nvPr/>
        </p:nvSpPr>
        <p:spPr>
          <a:xfrm>
            <a:off x="1897245" y="5186053"/>
            <a:ext cx="3690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7616E9F-A0EF-464A-BDD2-15615597E58B}"/>
              </a:ext>
            </a:extLst>
          </p:cNvPr>
          <p:cNvSpPr txBox="1"/>
          <p:nvPr/>
        </p:nvSpPr>
        <p:spPr>
          <a:xfrm>
            <a:off x="4097731" y="5190518"/>
            <a:ext cx="10838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M[4]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09435CC-9EB7-4459-934F-3532F96D649A}"/>
              </a:ext>
            </a:extLst>
          </p:cNvPr>
          <p:cNvCxnSpPr/>
          <p:nvPr/>
        </p:nvCxnSpPr>
        <p:spPr>
          <a:xfrm flipH="1">
            <a:off x="1676400" y="5302586"/>
            <a:ext cx="228600" cy="22860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B08120A9-3E42-48BD-BC9B-C0AFECB617C9}"/>
              </a:ext>
            </a:extLst>
          </p:cNvPr>
          <p:cNvSpPr txBox="1"/>
          <p:nvPr/>
        </p:nvSpPr>
        <p:spPr>
          <a:xfrm>
            <a:off x="6670788" y="688803"/>
            <a:ext cx="533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C00000"/>
                </a:solidFill>
              </a:rPr>
              <a:t>Miss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298E3A5C-5B7C-44B2-8096-83EBD08284BE}"/>
              </a:ext>
            </a:extLst>
          </p:cNvPr>
          <p:cNvSpPr/>
          <p:nvPr/>
        </p:nvSpPr>
        <p:spPr>
          <a:xfrm>
            <a:off x="4133375" y="5186053"/>
            <a:ext cx="895825" cy="540098"/>
          </a:xfrm>
          <a:prstGeom prst="ellipse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E42486E7-B1DE-4E96-BE31-7AB69D7E0F6F}"/>
              </a:ext>
            </a:extLst>
          </p:cNvPr>
          <p:cNvSpPr/>
          <p:nvPr/>
        </p:nvSpPr>
        <p:spPr>
          <a:xfrm>
            <a:off x="7667064" y="1801129"/>
            <a:ext cx="219635" cy="340748"/>
          </a:xfrm>
          <a:prstGeom prst="ellipse">
            <a:avLst/>
          </a:prstGeom>
          <a:noFill/>
          <a:ln>
            <a:solidFill>
              <a:srgbClr val="00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0" name="Slide Number Placeholder 6">
            <a:extLst>
              <a:ext uri="{FF2B5EF4-FFF2-40B4-BE49-F238E27FC236}">
                <a16:creationId xmlns:a16="http://schemas.microsoft.com/office/drawing/2014/main" id="{6603F9D9-94B1-4615-8600-9D860C64C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69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60676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1" grpId="0"/>
      <p:bldP spid="42" grpId="0"/>
      <p:bldP spid="43" grpId="0"/>
      <p:bldP spid="44" grpId="0"/>
      <p:bldP spid="45" grpId="0"/>
      <p:bldP spid="47" grpId="0"/>
      <p:bldP spid="48" grpId="0" animBg="1"/>
      <p:bldP spid="49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8. SA Cache Example: </a:t>
            </a:r>
            <a:r>
              <a:rPr lang="en-GB" sz="3600" b="1" dirty="0">
                <a:solidFill>
                  <a:srgbClr val="0000FF"/>
                </a:solidFill>
              </a:rPr>
              <a:t>Load #2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#23: Cache II: Set/Fully Associative Cache</a:t>
            </a:r>
            <a:endParaRPr lang="en-US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graphicFrame>
        <p:nvGraphicFramePr>
          <p:cNvPr id="25" name="Group 3">
            <a:extLst>
              <a:ext uri="{FF2B5EF4-FFF2-40B4-BE49-F238E27FC236}">
                <a16:creationId xmlns:a16="http://schemas.microsoft.com/office/drawing/2014/main" id="{E83A30F7-0D7B-4714-9714-8AF8F48602FE}"/>
              </a:ext>
            </a:extLst>
          </p:cNvPr>
          <p:cNvGraphicFramePr>
            <a:graphicFrameLocks/>
          </p:cNvGraphicFramePr>
          <p:nvPr/>
        </p:nvGraphicFramePr>
        <p:xfrm>
          <a:off x="457200" y="3979848"/>
          <a:ext cx="8229602" cy="2469808"/>
        </p:xfrm>
        <a:graphic>
          <a:graphicData uri="http://schemas.openxmlformats.org/drawingml/2006/table">
            <a:tbl>
              <a:tblPr/>
              <a:tblGrid>
                <a:gridCol w="892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9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95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04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18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1440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2056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Block 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Block 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46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Set 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Index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Valid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Tag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W0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W1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Valid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Tag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W0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W1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53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M[0]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M[4]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380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05CC9FA9-D57C-4927-9366-3A5D8984DF54}"/>
              </a:ext>
            </a:extLst>
          </p:cNvPr>
          <p:cNvSpPr txBox="1">
            <a:spLocks/>
          </p:cNvSpPr>
          <p:nvPr/>
        </p:nvSpPr>
        <p:spPr bwMode="auto">
          <a:xfrm>
            <a:off x="457200" y="1770048"/>
            <a:ext cx="85344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tabLst/>
              <a:defRPr/>
            </a:pPr>
            <a:r>
              <a:rPr kumimoji="0" lang="en-SG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Load from </a:t>
            </a:r>
            <a:r>
              <a:rPr kumimoji="0" lang="en-SG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 </a:t>
            </a:r>
            <a:r>
              <a:rPr kumimoji="0" lang="en-SG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</a:t>
            </a:r>
            <a:endParaRPr kumimoji="0" lang="en-SG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tabLst/>
              <a:defRPr/>
            </a:pPr>
            <a:endParaRPr kumimoji="0" lang="en-SG" sz="1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Result: </a:t>
            </a:r>
            <a:endParaRPr lang="en-US" b="1" kern="0" dirty="0">
              <a:latin typeface="+mn-lt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None/>
              <a:tabLst/>
              <a:defRPr/>
            </a:pPr>
            <a:r>
              <a:rPr kumimoji="0" lang="en-US" sz="24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[Valid and Tags match] in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Set 0-Block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cs"/>
              </a:rPr>
              <a:t>0 </a:t>
            </a:r>
            <a:r>
              <a:rPr lang="en-US" sz="2400" b="1" kern="0" dirty="0">
                <a:solidFill>
                  <a:srgbClr val="660066"/>
                </a:solidFill>
                <a:latin typeface="+mn-lt"/>
                <a:cs typeface="+mn-cs"/>
              </a:rPr>
              <a:t>[ Spatial Locality ]</a:t>
            </a:r>
            <a:endParaRPr kumimoji="0" lang="en-SG" sz="2400" b="1" i="0" u="none" strike="noStrike" kern="0" cap="none" spc="0" normalizeH="0" baseline="0" noProof="0" dirty="0">
              <a:ln>
                <a:noFill/>
              </a:ln>
              <a:solidFill>
                <a:srgbClr val="660066"/>
              </a:solidFill>
              <a:effectLst/>
              <a:uLnTx/>
              <a:uFillTx/>
              <a:latin typeface="+mn-lt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tabLst/>
              <a:defRPr/>
            </a:pPr>
            <a:endParaRPr kumimoji="0" lang="en-SG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27" name="Group 7">
            <a:extLst>
              <a:ext uri="{FF2B5EF4-FFF2-40B4-BE49-F238E27FC236}">
                <a16:creationId xmlns:a16="http://schemas.microsoft.com/office/drawing/2014/main" id="{87DBD615-B3E2-4F8B-A46E-C11BF72A7700}"/>
              </a:ext>
            </a:extLst>
          </p:cNvPr>
          <p:cNvGrpSpPr/>
          <p:nvPr/>
        </p:nvGrpSpPr>
        <p:grpSpPr>
          <a:xfrm>
            <a:off x="3111398" y="1406300"/>
            <a:ext cx="5486399" cy="762000"/>
            <a:chOff x="2362201" y="914400"/>
            <a:chExt cx="5486399" cy="76200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6AD7D2C-A585-4852-B81B-9FE13DD44A18}"/>
                </a:ext>
              </a:extLst>
            </p:cNvPr>
            <p:cNvSpPr/>
            <p:nvPr/>
          </p:nvSpPr>
          <p:spPr>
            <a:xfrm>
              <a:off x="2362201" y="1295400"/>
              <a:ext cx="4190999" cy="3810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dirty="0">
                  <a:solidFill>
                    <a:srgbClr val="C00000"/>
                  </a:solidFill>
                </a:rPr>
                <a:t>000000000000000000000000000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0285246F-86FC-468B-8673-E3076678B9BE}"/>
                </a:ext>
              </a:extLst>
            </p:cNvPr>
            <p:cNvSpPr/>
            <p:nvPr/>
          </p:nvSpPr>
          <p:spPr>
            <a:xfrm>
              <a:off x="6934200" y="1295400"/>
              <a:ext cx="609600" cy="381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dirty="0">
                  <a:solidFill>
                    <a:srgbClr val="006600"/>
                  </a:solidFill>
                </a:rPr>
                <a:t>000</a:t>
              </a:r>
            </a:p>
          </p:txBody>
        </p:sp>
        <p:sp>
          <p:nvSpPr>
            <p:cNvPr id="50" name="Text Box 75">
              <a:extLst>
                <a:ext uri="{FF2B5EF4-FFF2-40B4-BE49-F238E27FC236}">
                  <a16:creationId xmlns:a16="http://schemas.microsoft.com/office/drawing/2014/main" id="{2DFE6468-A432-4490-BA83-EA66764869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3400" y="914400"/>
              <a:ext cx="726226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C00000"/>
                  </a:solidFill>
                  <a:latin typeface="+mn-lt"/>
                </a:rPr>
                <a:t>Tag</a:t>
              </a:r>
            </a:p>
          </p:txBody>
        </p:sp>
        <p:sp>
          <p:nvSpPr>
            <p:cNvPr id="51" name="Text Box 75">
              <a:extLst>
                <a:ext uri="{FF2B5EF4-FFF2-40B4-BE49-F238E27FC236}">
                  <a16:creationId xmlns:a16="http://schemas.microsoft.com/office/drawing/2014/main" id="{CA930A84-4444-422F-8279-F14BBF3207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81800" y="914400"/>
              <a:ext cx="1066800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006600"/>
                  </a:solidFill>
                  <a:latin typeface="+mn-lt"/>
                </a:rPr>
                <a:t>Offset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DEE53F91-3418-4032-9802-7B09DD29AE04}"/>
                </a:ext>
              </a:extLst>
            </p:cNvPr>
            <p:cNvSpPr/>
            <p:nvPr/>
          </p:nvSpPr>
          <p:spPr>
            <a:xfrm>
              <a:off x="6553200" y="1295400"/>
              <a:ext cx="381000" cy="381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dirty="0">
                  <a:solidFill>
                    <a:schemeClr val="accent6">
                      <a:lumMod val="50000"/>
                    </a:schemeClr>
                  </a:solidFill>
                </a:rPr>
                <a:t>0</a:t>
              </a:r>
            </a:p>
          </p:txBody>
        </p:sp>
        <p:sp>
          <p:nvSpPr>
            <p:cNvPr id="53" name="Text Box 75">
              <a:extLst>
                <a:ext uri="{FF2B5EF4-FFF2-40B4-BE49-F238E27FC236}">
                  <a16:creationId xmlns:a16="http://schemas.microsoft.com/office/drawing/2014/main" id="{BD459E09-F661-4CB2-86A4-DDAAB566ED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6000" y="914400"/>
              <a:ext cx="997177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6">
                      <a:lumMod val="50000"/>
                    </a:schemeClr>
                  </a:solidFill>
                  <a:latin typeface="+mn-lt"/>
                </a:rPr>
                <a:t>Index</a:t>
              </a:r>
            </a:p>
          </p:txBody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D9242C90-9050-4840-A30B-FD95416B5F1E}"/>
              </a:ext>
            </a:extLst>
          </p:cNvPr>
          <p:cNvSpPr txBox="1"/>
          <p:nvPr/>
        </p:nvSpPr>
        <p:spPr>
          <a:xfrm>
            <a:off x="6746988" y="940633"/>
            <a:ext cx="2203223" cy="461665"/>
          </a:xfrm>
          <a:prstGeom prst="rect">
            <a:avLst/>
          </a:prstGeom>
          <a:solidFill>
            <a:srgbClr val="FFF8C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4, 0 , 8, 36, 0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65AC24D-3BD7-4C9E-B8BD-840799E24DB0}"/>
              </a:ext>
            </a:extLst>
          </p:cNvPr>
          <p:cNvSpPr txBox="1"/>
          <p:nvPr/>
        </p:nvSpPr>
        <p:spPr>
          <a:xfrm>
            <a:off x="6649428" y="695100"/>
            <a:ext cx="533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C00000"/>
                </a:solidFill>
              </a:rPr>
              <a:t>Miss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8CC2EDF0-AFE7-4417-9DF2-1E36F8B8A99E}"/>
              </a:ext>
            </a:extLst>
          </p:cNvPr>
          <p:cNvSpPr/>
          <p:nvPr/>
        </p:nvSpPr>
        <p:spPr>
          <a:xfrm>
            <a:off x="7086600" y="940633"/>
            <a:ext cx="339612" cy="4572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E7460AE-E1B4-49E1-9A10-35EA2024A848}"/>
              </a:ext>
            </a:extLst>
          </p:cNvPr>
          <p:cNvSpPr txBox="1"/>
          <p:nvPr/>
        </p:nvSpPr>
        <p:spPr>
          <a:xfrm>
            <a:off x="7044546" y="693899"/>
            <a:ext cx="381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0033CC"/>
                </a:solidFill>
              </a:rPr>
              <a:t>Hit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0A8A3BD7-6FB6-43B2-957B-5723AC95F950}"/>
              </a:ext>
            </a:extLst>
          </p:cNvPr>
          <p:cNvSpPr/>
          <p:nvPr/>
        </p:nvSpPr>
        <p:spPr>
          <a:xfrm>
            <a:off x="3111398" y="5219244"/>
            <a:ext cx="895825" cy="540098"/>
          </a:xfrm>
          <a:prstGeom prst="ellipse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A29E76D6-8E19-4593-B05F-F99C429193E9}"/>
              </a:ext>
            </a:extLst>
          </p:cNvPr>
          <p:cNvSpPr/>
          <p:nvPr/>
        </p:nvSpPr>
        <p:spPr>
          <a:xfrm>
            <a:off x="7732556" y="1807426"/>
            <a:ext cx="219635" cy="340748"/>
          </a:xfrm>
          <a:prstGeom prst="ellipse">
            <a:avLst/>
          </a:prstGeom>
          <a:noFill/>
          <a:ln>
            <a:solidFill>
              <a:srgbClr val="00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0" name="Slide Number Placeholder 6">
            <a:extLst>
              <a:ext uri="{FF2B5EF4-FFF2-40B4-BE49-F238E27FC236}">
                <a16:creationId xmlns:a16="http://schemas.microsoft.com/office/drawing/2014/main" id="{BB014D10-7932-48B6-BD77-969108DFA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70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73150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57" grpId="0"/>
      <p:bldP spid="58" grpId="0" animBg="1"/>
      <p:bldP spid="59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8. SA Cache Example: </a:t>
            </a:r>
            <a:r>
              <a:rPr lang="en-GB" sz="3600" b="1" dirty="0">
                <a:solidFill>
                  <a:srgbClr val="0000FF"/>
                </a:solidFill>
              </a:rPr>
              <a:t>Load #3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#23: Cache II: Set/Fully Associative Cache</a:t>
            </a:r>
            <a:endParaRPr lang="en-US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graphicFrame>
        <p:nvGraphicFramePr>
          <p:cNvPr id="19" name="Group 3">
            <a:extLst>
              <a:ext uri="{FF2B5EF4-FFF2-40B4-BE49-F238E27FC236}">
                <a16:creationId xmlns:a16="http://schemas.microsoft.com/office/drawing/2014/main" id="{ED9C474D-62B3-4B77-8935-2C9FB9182182}"/>
              </a:ext>
            </a:extLst>
          </p:cNvPr>
          <p:cNvGraphicFramePr>
            <a:graphicFrameLocks/>
          </p:cNvGraphicFramePr>
          <p:nvPr/>
        </p:nvGraphicFramePr>
        <p:xfrm>
          <a:off x="457200" y="3977615"/>
          <a:ext cx="8229602" cy="2453958"/>
        </p:xfrm>
        <a:graphic>
          <a:graphicData uri="http://schemas.openxmlformats.org/drawingml/2006/table">
            <a:tbl>
              <a:tblPr/>
              <a:tblGrid>
                <a:gridCol w="892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9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95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04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18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1440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Block 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Block 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Set Index</a:t>
                      </a:r>
                    </a:p>
                  </a:txBody>
                  <a:tcPr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Valid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Tag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W0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W1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Valid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Tag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W0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W1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1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M[0]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M[4]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9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8EE7D0F9-72B7-4D9C-9C32-90E656727301}"/>
              </a:ext>
            </a:extLst>
          </p:cNvPr>
          <p:cNvSpPr txBox="1">
            <a:spLocks/>
          </p:cNvSpPr>
          <p:nvPr/>
        </p:nvSpPr>
        <p:spPr bwMode="auto">
          <a:xfrm>
            <a:off x="457200" y="1767815"/>
            <a:ext cx="822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tabLst/>
              <a:defRPr/>
            </a:pPr>
            <a:r>
              <a:rPr kumimoji="0" lang="en-SG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Load from </a:t>
            </a:r>
            <a:r>
              <a:rPr kumimoji="0" lang="en-SG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8 </a:t>
            </a:r>
            <a:r>
              <a:rPr kumimoji="0" lang="en-SG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</a:t>
            </a:r>
            <a:endParaRPr kumimoji="0" lang="en-SG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tabLst/>
              <a:defRPr/>
            </a:pPr>
            <a:endParaRPr kumimoji="0" lang="en-SG" sz="1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lvl="0" indent="-342900" eaLnBrk="0" hangingPunct="0">
              <a:spcBef>
                <a:spcPts val="0"/>
              </a:spcBef>
              <a:buClr>
                <a:schemeClr val="accent1"/>
              </a:buClr>
              <a:buSzPct val="65000"/>
            </a:pPr>
            <a:r>
              <a:rPr lang="en-US" sz="2400" b="1" kern="0" dirty="0"/>
              <a:t>Check:</a:t>
            </a: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lang="en-US" sz="2400" kern="0" dirty="0"/>
              <a:t>Both blocks in </a:t>
            </a:r>
            <a:r>
              <a:rPr lang="en-US" sz="2400" b="1" kern="0" dirty="0"/>
              <a:t>Set 1 </a:t>
            </a:r>
            <a:r>
              <a:rPr lang="en-US" sz="2400" kern="0" dirty="0"/>
              <a:t>are invalid </a:t>
            </a:r>
            <a:r>
              <a:rPr lang="en-US" sz="2400" b="1" kern="0" dirty="0">
                <a:solidFill>
                  <a:srgbClr val="660066"/>
                </a:solidFill>
              </a:rPr>
              <a:t>[ Cold Miss ]</a:t>
            </a:r>
            <a:endParaRPr kumimoji="0" lang="en-SG" sz="2800" b="1" i="0" u="none" strike="noStrike" kern="0" cap="none" spc="0" normalizeH="0" baseline="0" noProof="0" dirty="0">
              <a:ln>
                <a:noFill/>
              </a:ln>
              <a:solidFill>
                <a:srgbClr val="66006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tabLst/>
              <a:defRPr/>
            </a:pPr>
            <a:endParaRPr kumimoji="0" lang="en-SG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21" name="Group 7">
            <a:extLst>
              <a:ext uri="{FF2B5EF4-FFF2-40B4-BE49-F238E27FC236}">
                <a16:creationId xmlns:a16="http://schemas.microsoft.com/office/drawing/2014/main" id="{717C49DF-163B-4B9C-B178-1DEDE595359B}"/>
              </a:ext>
            </a:extLst>
          </p:cNvPr>
          <p:cNvGrpSpPr/>
          <p:nvPr/>
        </p:nvGrpSpPr>
        <p:grpSpPr>
          <a:xfrm>
            <a:off x="3111398" y="1404067"/>
            <a:ext cx="5486399" cy="762000"/>
            <a:chOff x="2362201" y="914400"/>
            <a:chExt cx="5486399" cy="76200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7F6FAD5-23FC-4CC8-AEFB-24DF6C65072A}"/>
                </a:ext>
              </a:extLst>
            </p:cNvPr>
            <p:cNvSpPr/>
            <p:nvPr/>
          </p:nvSpPr>
          <p:spPr>
            <a:xfrm>
              <a:off x="2362201" y="1295400"/>
              <a:ext cx="4190999" cy="3810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dirty="0">
                  <a:solidFill>
                    <a:srgbClr val="C00000"/>
                  </a:solidFill>
                </a:rPr>
                <a:t>000000000000000000000000000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75EE255-F0EF-40C9-A5FA-928054F1454C}"/>
                </a:ext>
              </a:extLst>
            </p:cNvPr>
            <p:cNvSpPr/>
            <p:nvPr/>
          </p:nvSpPr>
          <p:spPr>
            <a:xfrm>
              <a:off x="6934200" y="1295400"/>
              <a:ext cx="609600" cy="381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dirty="0">
                  <a:solidFill>
                    <a:srgbClr val="006600"/>
                  </a:solidFill>
                </a:rPr>
                <a:t>000</a:t>
              </a:r>
            </a:p>
          </p:txBody>
        </p:sp>
        <p:sp>
          <p:nvSpPr>
            <p:cNvPr id="24" name="Text Box 75">
              <a:extLst>
                <a:ext uri="{FF2B5EF4-FFF2-40B4-BE49-F238E27FC236}">
                  <a16:creationId xmlns:a16="http://schemas.microsoft.com/office/drawing/2014/main" id="{6C8A982D-3829-4820-A11D-0BA50B140E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3400" y="914400"/>
              <a:ext cx="726226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C00000"/>
                  </a:solidFill>
                  <a:latin typeface="+mn-lt"/>
                </a:rPr>
                <a:t>Tag</a:t>
              </a:r>
            </a:p>
          </p:txBody>
        </p:sp>
        <p:sp>
          <p:nvSpPr>
            <p:cNvPr id="30" name="Text Box 75">
              <a:extLst>
                <a:ext uri="{FF2B5EF4-FFF2-40B4-BE49-F238E27FC236}">
                  <a16:creationId xmlns:a16="http://schemas.microsoft.com/office/drawing/2014/main" id="{00609EBB-326C-49F8-87CA-EAE83D1AAC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81800" y="914400"/>
              <a:ext cx="1066800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006600"/>
                  </a:solidFill>
                  <a:latin typeface="+mn-lt"/>
                </a:rPr>
                <a:t>Offset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0A64EF9-5CBC-4CAC-AD25-6A2F037873EB}"/>
                </a:ext>
              </a:extLst>
            </p:cNvPr>
            <p:cNvSpPr/>
            <p:nvPr/>
          </p:nvSpPr>
          <p:spPr>
            <a:xfrm>
              <a:off x="6553200" y="1295400"/>
              <a:ext cx="381000" cy="381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dirty="0">
                  <a:solidFill>
                    <a:schemeClr val="accent6">
                      <a:lumMod val="50000"/>
                    </a:schemeClr>
                  </a:solidFill>
                </a:rPr>
                <a:t>1</a:t>
              </a:r>
            </a:p>
          </p:txBody>
        </p:sp>
        <p:sp>
          <p:nvSpPr>
            <p:cNvPr id="32" name="Text Box 75">
              <a:extLst>
                <a:ext uri="{FF2B5EF4-FFF2-40B4-BE49-F238E27FC236}">
                  <a16:creationId xmlns:a16="http://schemas.microsoft.com/office/drawing/2014/main" id="{29DBBCC9-5848-41BA-8528-593BA232F7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6000" y="914400"/>
              <a:ext cx="997177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6">
                      <a:lumMod val="50000"/>
                    </a:schemeClr>
                  </a:solidFill>
                  <a:latin typeface="+mn-lt"/>
                </a:rPr>
                <a:t>Index</a:t>
              </a: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7527C082-4B84-414F-9275-4ABAE4F16001}"/>
              </a:ext>
            </a:extLst>
          </p:cNvPr>
          <p:cNvSpPr txBox="1"/>
          <p:nvPr/>
        </p:nvSpPr>
        <p:spPr>
          <a:xfrm>
            <a:off x="6746988" y="938400"/>
            <a:ext cx="2203223" cy="461665"/>
          </a:xfrm>
          <a:prstGeom prst="rect">
            <a:avLst/>
          </a:prstGeom>
          <a:solidFill>
            <a:srgbClr val="FFF8C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4, 0 , 8, 36, 0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D563411-B761-4928-903E-A17612E6B668}"/>
              </a:ext>
            </a:extLst>
          </p:cNvPr>
          <p:cNvSpPr txBox="1"/>
          <p:nvPr/>
        </p:nvSpPr>
        <p:spPr>
          <a:xfrm>
            <a:off x="6670788" y="692867"/>
            <a:ext cx="533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C00000"/>
                </a:solidFill>
              </a:rPr>
              <a:t>Miss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0B18498-21D0-4165-A1C4-8E4B0D90F6AD}"/>
              </a:ext>
            </a:extLst>
          </p:cNvPr>
          <p:cNvSpPr txBox="1"/>
          <p:nvPr/>
        </p:nvSpPr>
        <p:spPr>
          <a:xfrm>
            <a:off x="7065906" y="691666"/>
            <a:ext cx="381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0033CC"/>
                </a:solidFill>
              </a:rPr>
              <a:t>Hit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3FA9422E-B2C7-4C92-88DE-D4661186E0D5}"/>
              </a:ext>
            </a:extLst>
          </p:cNvPr>
          <p:cNvSpPr/>
          <p:nvPr/>
        </p:nvSpPr>
        <p:spPr>
          <a:xfrm>
            <a:off x="7508987" y="938400"/>
            <a:ext cx="339612" cy="4572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5B8EF36-0C12-4597-8B9C-FFF2A2B0C4BD}"/>
              </a:ext>
            </a:extLst>
          </p:cNvPr>
          <p:cNvSpPr txBox="1"/>
          <p:nvPr/>
        </p:nvSpPr>
        <p:spPr>
          <a:xfrm>
            <a:off x="457200" y="2987015"/>
            <a:ext cx="807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400" b="1" dirty="0"/>
              <a:t>Result: </a:t>
            </a:r>
            <a:r>
              <a:rPr lang="en-US" sz="2400" kern="0" dirty="0"/>
              <a:t>Load from memory and place in </a:t>
            </a:r>
            <a:r>
              <a:rPr lang="en-US" sz="2400" b="1" kern="0" dirty="0"/>
              <a:t>Set 1 - Block 0</a:t>
            </a:r>
            <a:endParaRPr lang="en-SG" sz="2800" b="1" kern="0" dirty="0">
              <a:solidFill>
                <a:srgbClr val="660066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E699D08-3042-4E97-846B-EE9CD517480C}"/>
              </a:ext>
            </a:extLst>
          </p:cNvPr>
          <p:cNvSpPr txBox="1"/>
          <p:nvPr/>
        </p:nvSpPr>
        <p:spPr>
          <a:xfrm>
            <a:off x="2438400" y="5887080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32A4F1C-CF40-4288-ACBD-3CDF3853CFAD}"/>
              </a:ext>
            </a:extLst>
          </p:cNvPr>
          <p:cNvSpPr txBox="1"/>
          <p:nvPr/>
        </p:nvSpPr>
        <p:spPr>
          <a:xfrm>
            <a:off x="2988734" y="5887080"/>
            <a:ext cx="11446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M[8]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8F20CF0-12F5-4CCC-9064-3F92C4AA2BA7}"/>
              </a:ext>
            </a:extLst>
          </p:cNvPr>
          <p:cNvSpPr/>
          <p:nvPr/>
        </p:nvSpPr>
        <p:spPr>
          <a:xfrm>
            <a:off x="1897245" y="5882615"/>
            <a:ext cx="3690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9AA1CDE-267B-4ECF-8D8F-0FF65ADA4433}"/>
              </a:ext>
            </a:extLst>
          </p:cNvPr>
          <p:cNvSpPr txBox="1"/>
          <p:nvPr/>
        </p:nvSpPr>
        <p:spPr>
          <a:xfrm>
            <a:off x="4038601" y="5887080"/>
            <a:ext cx="1277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M[12]</a:t>
            </a:r>
            <a:endParaRPr lang="en-US" b="1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3996C5F9-4BD5-47B6-B0A0-DBE2018EC11B}"/>
              </a:ext>
            </a:extLst>
          </p:cNvPr>
          <p:cNvCxnSpPr/>
          <p:nvPr/>
        </p:nvCxnSpPr>
        <p:spPr>
          <a:xfrm flipH="1">
            <a:off x="1676400" y="5999148"/>
            <a:ext cx="228600" cy="22860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72E79EDF-DD1D-49F2-BBC5-9BF9958055BC}"/>
              </a:ext>
            </a:extLst>
          </p:cNvPr>
          <p:cNvSpPr txBox="1"/>
          <p:nvPr/>
        </p:nvSpPr>
        <p:spPr>
          <a:xfrm>
            <a:off x="7436077" y="692867"/>
            <a:ext cx="533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C00000"/>
                </a:solidFill>
              </a:rPr>
              <a:t>Miss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60E712C3-5FC4-441A-8EEC-F3048BF656BD}"/>
              </a:ext>
            </a:extLst>
          </p:cNvPr>
          <p:cNvSpPr/>
          <p:nvPr/>
        </p:nvSpPr>
        <p:spPr>
          <a:xfrm>
            <a:off x="3111398" y="5843398"/>
            <a:ext cx="895825" cy="540098"/>
          </a:xfrm>
          <a:prstGeom prst="ellipse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2CBDB2DB-6A7E-416C-90D3-A595FBFF5B15}"/>
              </a:ext>
            </a:extLst>
          </p:cNvPr>
          <p:cNvSpPr/>
          <p:nvPr/>
        </p:nvSpPr>
        <p:spPr>
          <a:xfrm>
            <a:off x="7732770" y="1796726"/>
            <a:ext cx="219635" cy="340748"/>
          </a:xfrm>
          <a:prstGeom prst="ellipse">
            <a:avLst/>
          </a:prstGeom>
          <a:noFill/>
          <a:ln>
            <a:solidFill>
              <a:srgbClr val="00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6" name="Slide Number Placeholder 6">
            <a:extLst>
              <a:ext uri="{FF2B5EF4-FFF2-40B4-BE49-F238E27FC236}">
                <a16:creationId xmlns:a16="http://schemas.microsoft.com/office/drawing/2014/main" id="{74E75AB0-08CA-4E5F-A0B0-601677CC1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71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96410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/>
      <p:bldP spid="38" grpId="0"/>
      <p:bldP spid="39" grpId="0"/>
      <p:bldP spid="40" grpId="0"/>
      <p:bldP spid="41" grpId="0"/>
      <p:bldP spid="43" grpId="0"/>
      <p:bldP spid="44" grpId="0" animBg="1"/>
      <p:bldP spid="45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8. SA Cache Example: </a:t>
            </a:r>
            <a:r>
              <a:rPr lang="en-GB" sz="3600" b="1" dirty="0">
                <a:solidFill>
                  <a:srgbClr val="0000FF"/>
                </a:solidFill>
              </a:rPr>
              <a:t>Load #4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#23: Cache II: Set/Fully Associative Cache</a:t>
            </a:r>
            <a:endParaRPr lang="en-US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graphicFrame>
        <p:nvGraphicFramePr>
          <p:cNvPr id="27" name="Group 3">
            <a:extLst>
              <a:ext uri="{FF2B5EF4-FFF2-40B4-BE49-F238E27FC236}">
                <a16:creationId xmlns:a16="http://schemas.microsoft.com/office/drawing/2014/main" id="{621FCA95-1B25-42D7-AD58-3B6D51DFD115}"/>
              </a:ext>
            </a:extLst>
          </p:cNvPr>
          <p:cNvGraphicFramePr>
            <a:graphicFrameLocks/>
          </p:cNvGraphicFramePr>
          <p:nvPr/>
        </p:nvGraphicFramePr>
        <p:xfrm>
          <a:off x="457200" y="3996690"/>
          <a:ext cx="8382001" cy="2453958"/>
        </p:xfrm>
        <a:graphic>
          <a:graphicData uri="http://schemas.openxmlformats.org/drawingml/2006/table">
            <a:tbl>
              <a:tblPr/>
              <a:tblGrid>
                <a:gridCol w="9094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56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61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71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83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611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894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3133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Block 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Block 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Set Index</a:t>
                      </a:r>
                    </a:p>
                  </a:txBody>
                  <a:tcPr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Valid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Tag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W0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W1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Valid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Tag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W0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W1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1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M[0]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M[4]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9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M[8]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M[12]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A1A7F381-B373-431D-94CA-9F29936D98B6}"/>
              </a:ext>
            </a:extLst>
          </p:cNvPr>
          <p:cNvSpPr txBox="1">
            <a:spLocks/>
          </p:cNvSpPr>
          <p:nvPr/>
        </p:nvSpPr>
        <p:spPr bwMode="auto">
          <a:xfrm>
            <a:off x="457200" y="1786890"/>
            <a:ext cx="822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tabLst/>
              <a:defRPr/>
            </a:pPr>
            <a:r>
              <a:rPr kumimoji="0" lang="en-SG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Load from </a:t>
            </a:r>
            <a:r>
              <a:rPr kumimoji="0" lang="en-SG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36 </a:t>
            </a:r>
            <a:r>
              <a:rPr kumimoji="0" lang="en-SG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</a:t>
            </a:r>
            <a:endParaRPr kumimoji="0" lang="en-SG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tabLst/>
              <a:defRPr/>
            </a:pPr>
            <a:endParaRPr kumimoji="0" lang="en-SG" sz="1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Check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cs"/>
              </a:rPr>
              <a:t>: </a:t>
            </a:r>
            <a:r>
              <a:rPr lang="en-US" sz="2400" kern="0" dirty="0"/>
              <a:t>[Valid but tag mismatch] </a:t>
            </a:r>
            <a:r>
              <a:rPr lang="en-US" sz="2400" b="1" kern="0" dirty="0"/>
              <a:t>Set 0 - Block 0</a:t>
            </a:r>
            <a:br>
              <a:rPr lang="en-US" sz="2400" b="1" kern="0" dirty="0"/>
            </a:br>
            <a:r>
              <a:rPr lang="en-US" sz="2400" kern="0" dirty="0"/>
              <a:t>         [Invalid] </a:t>
            </a:r>
            <a:r>
              <a:rPr lang="en-US" sz="2400" b="1" kern="0" dirty="0"/>
              <a:t>Set 0 - Block1 </a:t>
            </a:r>
            <a:r>
              <a:rPr lang="en-US" sz="2400" b="1" kern="0" dirty="0">
                <a:solidFill>
                  <a:srgbClr val="660066"/>
                </a:solidFill>
              </a:rPr>
              <a:t>[ Cold Miss ]</a:t>
            </a:r>
            <a:endParaRPr lang="en-SG" sz="2400" b="1" kern="0" dirty="0">
              <a:solidFill>
                <a:srgbClr val="660066"/>
              </a:solidFill>
            </a:endParaRPr>
          </a:p>
        </p:txBody>
      </p:sp>
      <p:grpSp>
        <p:nvGrpSpPr>
          <p:cNvPr id="29" name="Group 7">
            <a:extLst>
              <a:ext uri="{FF2B5EF4-FFF2-40B4-BE49-F238E27FC236}">
                <a16:creationId xmlns:a16="http://schemas.microsoft.com/office/drawing/2014/main" id="{0C93B826-65B5-404D-A0BF-DB7363DFC559}"/>
              </a:ext>
            </a:extLst>
          </p:cNvPr>
          <p:cNvGrpSpPr/>
          <p:nvPr/>
        </p:nvGrpSpPr>
        <p:grpSpPr>
          <a:xfrm>
            <a:off x="3124201" y="1423142"/>
            <a:ext cx="5486399" cy="762000"/>
            <a:chOff x="2362201" y="914400"/>
            <a:chExt cx="5486399" cy="762000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137B295E-09D5-4A2F-82C5-35D68836A8F5}"/>
                </a:ext>
              </a:extLst>
            </p:cNvPr>
            <p:cNvSpPr/>
            <p:nvPr/>
          </p:nvSpPr>
          <p:spPr>
            <a:xfrm>
              <a:off x="2362201" y="1295400"/>
              <a:ext cx="4190999" cy="3810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dirty="0">
                  <a:solidFill>
                    <a:srgbClr val="C00000"/>
                  </a:solidFill>
                </a:rPr>
                <a:t>000000000000000000000000010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2C9D2563-967A-4B70-A40F-981E94980326}"/>
                </a:ext>
              </a:extLst>
            </p:cNvPr>
            <p:cNvSpPr/>
            <p:nvPr/>
          </p:nvSpPr>
          <p:spPr>
            <a:xfrm>
              <a:off x="6934200" y="1295400"/>
              <a:ext cx="609600" cy="381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dirty="0">
                  <a:solidFill>
                    <a:srgbClr val="006600"/>
                  </a:solidFill>
                </a:rPr>
                <a:t>100</a:t>
              </a:r>
            </a:p>
          </p:txBody>
        </p:sp>
        <p:sp>
          <p:nvSpPr>
            <p:cNvPr id="48" name="Text Box 75">
              <a:extLst>
                <a:ext uri="{FF2B5EF4-FFF2-40B4-BE49-F238E27FC236}">
                  <a16:creationId xmlns:a16="http://schemas.microsoft.com/office/drawing/2014/main" id="{9B47D962-76D9-49B2-8DFC-032C071D11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3400" y="914400"/>
              <a:ext cx="726226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C00000"/>
                  </a:solidFill>
                  <a:latin typeface="+mn-lt"/>
                </a:rPr>
                <a:t>Tag</a:t>
              </a:r>
            </a:p>
          </p:txBody>
        </p:sp>
        <p:sp>
          <p:nvSpPr>
            <p:cNvPr id="49" name="Text Box 75">
              <a:extLst>
                <a:ext uri="{FF2B5EF4-FFF2-40B4-BE49-F238E27FC236}">
                  <a16:creationId xmlns:a16="http://schemas.microsoft.com/office/drawing/2014/main" id="{E42DDCF6-732F-41ED-9D5F-B03E65275A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81800" y="914400"/>
              <a:ext cx="1066800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006600"/>
                  </a:solidFill>
                  <a:latin typeface="+mn-lt"/>
                </a:rPr>
                <a:t>Offset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90DE01F9-8B0E-4FFF-837F-5B3A85F9DFE5}"/>
                </a:ext>
              </a:extLst>
            </p:cNvPr>
            <p:cNvSpPr/>
            <p:nvPr/>
          </p:nvSpPr>
          <p:spPr>
            <a:xfrm>
              <a:off x="6553200" y="1295400"/>
              <a:ext cx="381000" cy="381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dirty="0">
                  <a:solidFill>
                    <a:schemeClr val="accent6">
                      <a:lumMod val="50000"/>
                    </a:schemeClr>
                  </a:solidFill>
                </a:rPr>
                <a:t>0</a:t>
              </a:r>
            </a:p>
          </p:txBody>
        </p:sp>
        <p:sp>
          <p:nvSpPr>
            <p:cNvPr id="51" name="Text Box 75">
              <a:extLst>
                <a:ext uri="{FF2B5EF4-FFF2-40B4-BE49-F238E27FC236}">
                  <a16:creationId xmlns:a16="http://schemas.microsoft.com/office/drawing/2014/main" id="{238A0943-F150-4064-A5E1-695FA9019B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6000" y="914400"/>
              <a:ext cx="997177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6">
                      <a:lumMod val="50000"/>
                    </a:schemeClr>
                  </a:solidFill>
                  <a:latin typeface="+mn-lt"/>
                </a:rPr>
                <a:t>Index</a:t>
              </a: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E48A5927-A7FD-42B3-A69B-2FA4576689EE}"/>
              </a:ext>
            </a:extLst>
          </p:cNvPr>
          <p:cNvSpPr txBox="1"/>
          <p:nvPr/>
        </p:nvSpPr>
        <p:spPr>
          <a:xfrm>
            <a:off x="6746988" y="957475"/>
            <a:ext cx="2203223" cy="461665"/>
          </a:xfrm>
          <a:prstGeom prst="rect">
            <a:avLst/>
          </a:prstGeom>
          <a:solidFill>
            <a:srgbClr val="FFF8C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4, 0 , 8, 36, 0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E9F945D-290C-4737-9B84-4B0490F739AE}"/>
              </a:ext>
            </a:extLst>
          </p:cNvPr>
          <p:cNvSpPr txBox="1"/>
          <p:nvPr/>
        </p:nvSpPr>
        <p:spPr>
          <a:xfrm>
            <a:off x="6670788" y="711942"/>
            <a:ext cx="533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C00000"/>
                </a:solidFill>
              </a:rPr>
              <a:t>Miss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5BA842E-1AAC-4DD5-BC27-CA03A44C4808}"/>
              </a:ext>
            </a:extLst>
          </p:cNvPr>
          <p:cNvSpPr txBox="1"/>
          <p:nvPr/>
        </p:nvSpPr>
        <p:spPr>
          <a:xfrm>
            <a:off x="7065906" y="710741"/>
            <a:ext cx="381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0033CC"/>
                </a:solidFill>
              </a:rPr>
              <a:t>Hit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26855E3-697B-4797-8DC1-D8EE7F6360B2}"/>
              </a:ext>
            </a:extLst>
          </p:cNvPr>
          <p:cNvSpPr txBox="1"/>
          <p:nvPr/>
        </p:nvSpPr>
        <p:spPr>
          <a:xfrm>
            <a:off x="7436077" y="711942"/>
            <a:ext cx="533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C00000"/>
                </a:solidFill>
              </a:rPr>
              <a:t>Miss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71A6E633-C3A2-4F6E-8E42-830DF39EA509}"/>
              </a:ext>
            </a:extLst>
          </p:cNvPr>
          <p:cNvSpPr/>
          <p:nvPr/>
        </p:nvSpPr>
        <p:spPr>
          <a:xfrm>
            <a:off x="7907394" y="954093"/>
            <a:ext cx="398406" cy="4572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42B284B-8CED-429C-AE90-9493C3501676}"/>
              </a:ext>
            </a:extLst>
          </p:cNvPr>
          <p:cNvSpPr txBox="1"/>
          <p:nvPr/>
        </p:nvSpPr>
        <p:spPr>
          <a:xfrm>
            <a:off x="457200" y="3236922"/>
            <a:ext cx="807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400" b="1" dirty="0"/>
              <a:t>Result: </a:t>
            </a:r>
            <a:r>
              <a:rPr lang="en-US" sz="2400" kern="0" dirty="0"/>
              <a:t>Load from memory and place in </a:t>
            </a:r>
            <a:r>
              <a:rPr lang="en-US" sz="2400" b="1" kern="0" dirty="0"/>
              <a:t>Set 0 - Block 1</a:t>
            </a:r>
            <a:endParaRPr lang="en-SG" sz="2800" b="1" kern="0" dirty="0">
              <a:solidFill>
                <a:srgbClr val="660066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E5065B8-4C59-4401-8415-7E3418E476AC}"/>
              </a:ext>
            </a:extLst>
          </p:cNvPr>
          <p:cNvSpPr txBox="1"/>
          <p:nvPr/>
        </p:nvSpPr>
        <p:spPr>
          <a:xfrm>
            <a:off x="6381570" y="5215890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841F9CC-9C8D-4B62-B992-E3C7C7D076B5}"/>
              </a:ext>
            </a:extLst>
          </p:cNvPr>
          <p:cNvSpPr txBox="1"/>
          <p:nvPr/>
        </p:nvSpPr>
        <p:spPr>
          <a:xfrm>
            <a:off x="6828646" y="5215890"/>
            <a:ext cx="11446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M[32]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6DBC7554-D555-4443-8511-CE33C397159D}"/>
              </a:ext>
            </a:extLst>
          </p:cNvPr>
          <p:cNvSpPr/>
          <p:nvPr/>
        </p:nvSpPr>
        <p:spPr>
          <a:xfrm>
            <a:off x="5747025" y="5211425"/>
            <a:ext cx="380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90A2542-7D36-4A0D-A49D-60D19BB54932}"/>
              </a:ext>
            </a:extLst>
          </p:cNvPr>
          <p:cNvSpPr txBox="1"/>
          <p:nvPr/>
        </p:nvSpPr>
        <p:spPr>
          <a:xfrm>
            <a:off x="7848599" y="5217273"/>
            <a:ext cx="11333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M[36]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ECCD9628-FFBB-4F57-9FD0-D3575A90F6AE}"/>
              </a:ext>
            </a:extLst>
          </p:cNvPr>
          <p:cNvCxnSpPr/>
          <p:nvPr/>
        </p:nvCxnSpPr>
        <p:spPr>
          <a:xfrm flipH="1">
            <a:off x="5554307" y="5327958"/>
            <a:ext cx="228600" cy="22860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579439BC-B117-4A57-9140-6A8665D235EE}"/>
              </a:ext>
            </a:extLst>
          </p:cNvPr>
          <p:cNvSpPr txBox="1"/>
          <p:nvPr/>
        </p:nvSpPr>
        <p:spPr>
          <a:xfrm>
            <a:off x="7855177" y="710740"/>
            <a:ext cx="533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C00000"/>
                </a:solidFill>
              </a:rPr>
              <a:t>Miss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0DE18886-ED7E-4674-B00A-42D8A56E7BDC}"/>
              </a:ext>
            </a:extLst>
          </p:cNvPr>
          <p:cNvSpPr/>
          <p:nvPr/>
        </p:nvSpPr>
        <p:spPr>
          <a:xfrm>
            <a:off x="7749842" y="1858518"/>
            <a:ext cx="219635" cy="340748"/>
          </a:xfrm>
          <a:prstGeom prst="ellipse">
            <a:avLst/>
          </a:prstGeom>
          <a:noFill/>
          <a:ln>
            <a:solidFill>
              <a:srgbClr val="00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8B17143F-B3D1-4F46-B91A-0F9EFF822A63}"/>
              </a:ext>
            </a:extLst>
          </p:cNvPr>
          <p:cNvSpPr/>
          <p:nvPr/>
        </p:nvSpPr>
        <p:spPr>
          <a:xfrm>
            <a:off x="7907394" y="5172208"/>
            <a:ext cx="972025" cy="540098"/>
          </a:xfrm>
          <a:prstGeom prst="ellipse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6" name="Slide Number Placeholder 6">
            <a:extLst>
              <a:ext uri="{FF2B5EF4-FFF2-40B4-BE49-F238E27FC236}">
                <a16:creationId xmlns:a16="http://schemas.microsoft.com/office/drawing/2014/main" id="{C720076C-203D-43FA-BEB7-5F58A6392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72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49404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57" grpId="0"/>
      <p:bldP spid="58" grpId="0"/>
      <p:bldP spid="59" grpId="0"/>
      <p:bldP spid="60" grpId="0"/>
      <p:bldP spid="61" grpId="0"/>
      <p:bldP spid="63" grpId="0"/>
      <p:bldP spid="64" grpId="0" animBg="1"/>
      <p:bldP spid="65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8. SA Cache Example: </a:t>
            </a:r>
            <a:r>
              <a:rPr lang="en-GB" sz="3600" b="1" dirty="0">
                <a:solidFill>
                  <a:srgbClr val="0000FF"/>
                </a:solidFill>
              </a:rPr>
              <a:t>Load #5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#23: Cache II: Set/Fully Associative Cache</a:t>
            </a:r>
            <a:endParaRPr lang="en-US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graphicFrame>
        <p:nvGraphicFramePr>
          <p:cNvPr id="30" name="Group 3">
            <a:extLst>
              <a:ext uri="{FF2B5EF4-FFF2-40B4-BE49-F238E27FC236}">
                <a16:creationId xmlns:a16="http://schemas.microsoft.com/office/drawing/2014/main" id="{DAE443D7-1F0D-4953-A82F-90D4A7F79F32}"/>
              </a:ext>
            </a:extLst>
          </p:cNvPr>
          <p:cNvGraphicFramePr>
            <a:graphicFrameLocks/>
          </p:cNvGraphicFramePr>
          <p:nvPr/>
        </p:nvGraphicFramePr>
        <p:xfrm>
          <a:off x="457200" y="3867150"/>
          <a:ext cx="8458199" cy="2575878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4299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Block 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Block 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Set </a:t>
                      </a: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Idx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Valid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Tag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W0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W1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Valid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Tag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W0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W1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1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M[0]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M[4]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M[32]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M[36]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9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M[8]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M[12]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FF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29FA8542-6A6A-4A19-98E6-A91E4282A769}"/>
              </a:ext>
            </a:extLst>
          </p:cNvPr>
          <p:cNvSpPr txBox="1">
            <a:spLocks/>
          </p:cNvSpPr>
          <p:nvPr/>
        </p:nvSpPr>
        <p:spPr bwMode="auto">
          <a:xfrm>
            <a:off x="457200" y="1809750"/>
            <a:ext cx="822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tabLst/>
              <a:defRPr/>
            </a:pPr>
            <a:r>
              <a:rPr kumimoji="0" lang="en-SG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Load from </a:t>
            </a:r>
            <a:r>
              <a:rPr kumimoji="0" lang="en-SG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 </a:t>
            </a:r>
            <a:r>
              <a:rPr kumimoji="0" lang="en-SG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</a:t>
            </a:r>
            <a:endParaRPr kumimoji="0" lang="en-SG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tabLst/>
              <a:defRPr/>
            </a:pPr>
            <a:endParaRPr kumimoji="0" lang="en-SG" sz="1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lvl="0" indent="-342900" eaLnBrk="0" hangingPunct="0"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Check: </a:t>
            </a:r>
            <a:r>
              <a:rPr lang="en-US" sz="2400" kern="0" dirty="0"/>
              <a:t>[Valid and tags match] </a:t>
            </a:r>
            <a:r>
              <a:rPr lang="en-US" sz="2400" b="1" kern="0" dirty="0"/>
              <a:t>Set 0-Block 0</a:t>
            </a:r>
            <a:br>
              <a:rPr lang="en-US" sz="2400" b="1" kern="0" dirty="0"/>
            </a:br>
            <a:r>
              <a:rPr lang="en-US" sz="2400" kern="0" dirty="0"/>
              <a:t>         [Valid but tags mismatch] </a:t>
            </a:r>
            <a:r>
              <a:rPr lang="en-US" sz="2400" b="1" kern="0" dirty="0"/>
              <a:t>Set 0-Block1</a:t>
            </a:r>
          </a:p>
          <a:p>
            <a:pPr marL="342900" lvl="0" indent="-342900" eaLnBrk="0" hangingPunct="0"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en-US" sz="2000" b="1" kern="0" dirty="0">
                <a:solidFill>
                  <a:srgbClr val="660066"/>
                </a:solidFill>
              </a:rPr>
              <a:t>                </a:t>
            </a:r>
            <a:r>
              <a:rPr lang="en-US" sz="2400" b="1" kern="0" dirty="0">
                <a:solidFill>
                  <a:srgbClr val="660066"/>
                </a:solidFill>
              </a:rPr>
              <a:t>[ Temporal Locality ]</a:t>
            </a:r>
            <a:endParaRPr lang="en-SG" sz="2400" b="1" kern="0" dirty="0">
              <a:solidFill>
                <a:srgbClr val="660066"/>
              </a:solidFill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tabLst/>
              <a:defRPr/>
            </a:pPr>
            <a:endParaRPr kumimoji="0" lang="en-SG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32" name="Group 7">
            <a:extLst>
              <a:ext uri="{FF2B5EF4-FFF2-40B4-BE49-F238E27FC236}">
                <a16:creationId xmlns:a16="http://schemas.microsoft.com/office/drawing/2014/main" id="{9A1918E2-EA29-4448-90AA-4E38D018419C}"/>
              </a:ext>
            </a:extLst>
          </p:cNvPr>
          <p:cNvGrpSpPr/>
          <p:nvPr/>
        </p:nvGrpSpPr>
        <p:grpSpPr>
          <a:xfrm>
            <a:off x="3124201" y="1446002"/>
            <a:ext cx="5486399" cy="762000"/>
            <a:chOff x="2362201" y="914400"/>
            <a:chExt cx="5486399" cy="762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509D443-23B7-49A9-BC92-436BC3423DB5}"/>
                </a:ext>
              </a:extLst>
            </p:cNvPr>
            <p:cNvSpPr/>
            <p:nvPr/>
          </p:nvSpPr>
          <p:spPr>
            <a:xfrm>
              <a:off x="2362201" y="1295400"/>
              <a:ext cx="4190999" cy="3810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dirty="0">
                  <a:solidFill>
                    <a:srgbClr val="C00000"/>
                  </a:solidFill>
                </a:rPr>
                <a:t>000000000000000000000000000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A4B3E0CD-C163-4CCA-9F06-4DCD84B04E62}"/>
                </a:ext>
              </a:extLst>
            </p:cNvPr>
            <p:cNvSpPr/>
            <p:nvPr/>
          </p:nvSpPr>
          <p:spPr>
            <a:xfrm>
              <a:off x="6934200" y="1295400"/>
              <a:ext cx="609600" cy="381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dirty="0">
                  <a:solidFill>
                    <a:srgbClr val="006600"/>
                  </a:solidFill>
                </a:rPr>
                <a:t>000</a:t>
              </a:r>
            </a:p>
          </p:txBody>
        </p:sp>
        <p:sp>
          <p:nvSpPr>
            <p:cNvPr id="35" name="Text Box 75">
              <a:extLst>
                <a:ext uri="{FF2B5EF4-FFF2-40B4-BE49-F238E27FC236}">
                  <a16:creationId xmlns:a16="http://schemas.microsoft.com/office/drawing/2014/main" id="{2D1626E7-F413-4E89-A3EA-A8824CF572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3400" y="914400"/>
              <a:ext cx="726226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C00000"/>
                  </a:solidFill>
                  <a:latin typeface="+mn-lt"/>
                </a:rPr>
                <a:t>Tag</a:t>
              </a:r>
            </a:p>
          </p:txBody>
        </p:sp>
        <p:sp>
          <p:nvSpPr>
            <p:cNvPr id="36" name="Text Box 75">
              <a:extLst>
                <a:ext uri="{FF2B5EF4-FFF2-40B4-BE49-F238E27FC236}">
                  <a16:creationId xmlns:a16="http://schemas.microsoft.com/office/drawing/2014/main" id="{BF61DF84-B2D7-4BA7-8C80-13941B49A3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81800" y="914400"/>
              <a:ext cx="1066800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006600"/>
                  </a:solidFill>
                  <a:latin typeface="+mn-lt"/>
                </a:rPr>
                <a:t>Offset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75997060-C5C1-4426-BE36-9A69973B2E2A}"/>
                </a:ext>
              </a:extLst>
            </p:cNvPr>
            <p:cNvSpPr/>
            <p:nvPr/>
          </p:nvSpPr>
          <p:spPr>
            <a:xfrm>
              <a:off x="6553200" y="1295400"/>
              <a:ext cx="381000" cy="381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dirty="0">
                  <a:solidFill>
                    <a:schemeClr val="accent6">
                      <a:lumMod val="50000"/>
                    </a:schemeClr>
                  </a:solidFill>
                </a:rPr>
                <a:t>0</a:t>
              </a:r>
            </a:p>
          </p:txBody>
        </p:sp>
        <p:sp>
          <p:nvSpPr>
            <p:cNvPr id="38" name="Text Box 75">
              <a:extLst>
                <a:ext uri="{FF2B5EF4-FFF2-40B4-BE49-F238E27FC236}">
                  <a16:creationId xmlns:a16="http://schemas.microsoft.com/office/drawing/2014/main" id="{DEA6F177-5A95-4163-B7A3-61832B83BD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6000" y="914400"/>
              <a:ext cx="997177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6">
                      <a:lumMod val="50000"/>
                    </a:schemeClr>
                  </a:solidFill>
                  <a:latin typeface="+mn-lt"/>
                </a:rPr>
                <a:t>Index</a:t>
              </a: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7E341DEF-2746-4A39-8F9C-AF187C3F483B}"/>
              </a:ext>
            </a:extLst>
          </p:cNvPr>
          <p:cNvSpPr txBox="1"/>
          <p:nvPr/>
        </p:nvSpPr>
        <p:spPr>
          <a:xfrm>
            <a:off x="6746988" y="980335"/>
            <a:ext cx="2203223" cy="461665"/>
          </a:xfrm>
          <a:prstGeom prst="rect">
            <a:avLst/>
          </a:prstGeom>
          <a:solidFill>
            <a:srgbClr val="FFF8C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4, 0 , 8, 36, 0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E3BF89D-851C-47EE-B551-3C80E0C4D284}"/>
              </a:ext>
            </a:extLst>
          </p:cNvPr>
          <p:cNvSpPr txBox="1"/>
          <p:nvPr/>
        </p:nvSpPr>
        <p:spPr>
          <a:xfrm>
            <a:off x="6670788" y="734802"/>
            <a:ext cx="533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C00000"/>
                </a:solidFill>
              </a:rPr>
              <a:t>Miss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0B2AF54-CBF3-4977-A6B7-A397ACD6980E}"/>
              </a:ext>
            </a:extLst>
          </p:cNvPr>
          <p:cNvSpPr txBox="1"/>
          <p:nvPr/>
        </p:nvSpPr>
        <p:spPr>
          <a:xfrm>
            <a:off x="7065906" y="733601"/>
            <a:ext cx="381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0033CC"/>
                </a:solidFill>
              </a:rPr>
              <a:t>Hit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B564B43-8DDC-4D65-A063-57AC5931A6F0}"/>
              </a:ext>
            </a:extLst>
          </p:cNvPr>
          <p:cNvSpPr txBox="1"/>
          <p:nvPr/>
        </p:nvSpPr>
        <p:spPr>
          <a:xfrm>
            <a:off x="7436077" y="734802"/>
            <a:ext cx="533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C00000"/>
                </a:solidFill>
              </a:rPr>
              <a:t>Miss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AAE9AC7-A30A-4F63-8D0B-B1C4AD4007BB}"/>
              </a:ext>
            </a:extLst>
          </p:cNvPr>
          <p:cNvSpPr txBox="1"/>
          <p:nvPr/>
        </p:nvSpPr>
        <p:spPr>
          <a:xfrm>
            <a:off x="7855177" y="733600"/>
            <a:ext cx="533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C00000"/>
                </a:solidFill>
              </a:rPr>
              <a:t>Miss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16548B5B-6180-4834-B37F-074287012ECA}"/>
              </a:ext>
            </a:extLst>
          </p:cNvPr>
          <p:cNvSpPr/>
          <p:nvPr/>
        </p:nvSpPr>
        <p:spPr>
          <a:xfrm>
            <a:off x="8388577" y="976953"/>
            <a:ext cx="298223" cy="4572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7AFCE46-C018-46D8-A870-FB849BC88F5C}"/>
              </a:ext>
            </a:extLst>
          </p:cNvPr>
          <p:cNvSpPr txBox="1"/>
          <p:nvPr/>
        </p:nvSpPr>
        <p:spPr>
          <a:xfrm>
            <a:off x="8347188" y="733601"/>
            <a:ext cx="381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0033CC"/>
                </a:solidFill>
              </a:rPr>
              <a:t>Hit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86B9AE55-B252-4CB7-B16F-4619C4AC0E7E}"/>
              </a:ext>
            </a:extLst>
          </p:cNvPr>
          <p:cNvSpPr/>
          <p:nvPr/>
        </p:nvSpPr>
        <p:spPr>
          <a:xfrm>
            <a:off x="7749842" y="1856470"/>
            <a:ext cx="219635" cy="340748"/>
          </a:xfrm>
          <a:prstGeom prst="ellipse">
            <a:avLst/>
          </a:prstGeom>
          <a:noFill/>
          <a:ln>
            <a:solidFill>
              <a:srgbClr val="00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8591684D-7AF7-45FD-B87F-58C6F5518D3C}"/>
              </a:ext>
            </a:extLst>
          </p:cNvPr>
          <p:cNvSpPr/>
          <p:nvPr/>
        </p:nvSpPr>
        <p:spPr>
          <a:xfrm>
            <a:off x="2819400" y="5195068"/>
            <a:ext cx="972025" cy="540098"/>
          </a:xfrm>
          <a:prstGeom prst="ellipse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8" name="Slide Number Placeholder 6">
            <a:extLst>
              <a:ext uri="{FF2B5EF4-FFF2-40B4-BE49-F238E27FC236}">
                <a16:creationId xmlns:a16="http://schemas.microsoft.com/office/drawing/2014/main" id="{25DE1113-6B26-4F60-8222-596167CCF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73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3815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5" grpId="0"/>
      <p:bldP spid="66" grpId="0" animBg="1"/>
      <p:bldP spid="67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9. Cache Performance</a:t>
            </a:r>
            <a:endParaRPr lang="en-GB" sz="3600" b="1" dirty="0">
              <a:solidFill>
                <a:srgbClr val="0000FF"/>
              </a:solidFill>
            </a:endParaRP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#23: Cache II: Set/Fully Associative Cache</a:t>
            </a:r>
            <a:endParaRPr lang="en-US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41" name="Slide Number Placeholder 6">
            <a:extLst>
              <a:ext uri="{FF2B5EF4-FFF2-40B4-BE49-F238E27FC236}">
                <a16:creationId xmlns:a16="http://schemas.microsoft.com/office/drawing/2014/main" id="{49DA39DD-270A-4F4A-A0CC-F878BDB53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74</a:t>
            </a:fld>
            <a:endParaRPr dirty="0"/>
          </a:p>
        </p:txBody>
      </p:sp>
      <p:sp>
        <p:nvSpPr>
          <p:cNvPr id="122" name="Text Box 5">
            <a:extLst>
              <a:ext uri="{FF2B5EF4-FFF2-40B4-BE49-F238E27FC236}">
                <a16:creationId xmlns:a16="http://schemas.microsoft.com/office/drawing/2014/main" id="{C7386086-0DD1-43B0-B3C9-0F791B47D9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821" y="5780742"/>
            <a:ext cx="8458200" cy="64633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latin typeface="+mn-lt"/>
              </a:rPr>
              <a:t>Total Miss = Cold miss + Conflict miss + Capacity miss</a:t>
            </a:r>
          </a:p>
          <a:p>
            <a:pPr algn="ctr"/>
            <a:r>
              <a:rPr lang="en-US" sz="1800" b="1" dirty="0">
                <a:latin typeface="+mn-lt"/>
              </a:rPr>
              <a:t>Capacity miss (FA) = Total miss (FA) – Cold miss (FA)</a:t>
            </a:r>
            <a:r>
              <a:rPr lang="en-US" sz="1800" dirty="0">
                <a:latin typeface="+mn-lt"/>
              </a:rPr>
              <a:t>, when </a:t>
            </a:r>
            <a:r>
              <a:rPr lang="en-US" sz="1800">
                <a:latin typeface="+mn-lt"/>
              </a:rPr>
              <a:t>Conflict Miss</a:t>
            </a:r>
            <a:r>
              <a:rPr lang="en-US" sz="1800">
                <a:latin typeface="+mn-lt"/>
                <a:sym typeface="Wingdings" pitchFamily="2" charset="2"/>
              </a:rPr>
              <a:t></a:t>
            </a:r>
            <a:r>
              <a:rPr lang="en-US" sz="1800">
                <a:latin typeface="+mn-lt"/>
              </a:rPr>
              <a:t>0</a:t>
            </a:r>
            <a:endParaRPr lang="en-US" sz="1800" dirty="0">
              <a:latin typeface="+mn-lt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B10E7F6-8C55-4BA6-AD2C-A01CE3C88C27}"/>
              </a:ext>
            </a:extLst>
          </p:cNvPr>
          <p:cNvGrpSpPr/>
          <p:nvPr/>
        </p:nvGrpSpPr>
        <p:grpSpPr>
          <a:xfrm>
            <a:off x="178612" y="1910984"/>
            <a:ext cx="5410200" cy="3869758"/>
            <a:chOff x="190042" y="1778833"/>
            <a:chExt cx="5410200" cy="3869758"/>
          </a:xfrm>
        </p:grpSpPr>
        <p:pic>
          <p:nvPicPr>
            <p:cNvPr id="120" name="Picture 3">
              <a:extLst>
                <a:ext uri="{FF2B5EF4-FFF2-40B4-BE49-F238E27FC236}">
                  <a16:creationId xmlns:a16="http://schemas.microsoft.com/office/drawing/2014/main" id="{BAFC05CD-4B57-4BBE-ABA7-9C11645F006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90042" y="2083633"/>
              <a:ext cx="5410200" cy="356495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</p:pic>
        <p:sp>
          <p:nvSpPr>
            <p:cNvPr id="123" name="Text Box 6">
              <a:extLst>
                <a:ext uri="{FF2B5EF4-FFF2-40B4-BE49-F238E27FC236}">
                  <a16:creationId xmlns:a16="http://schemas.microsoft.com/office/drawing/2014/main" id="{D8C9AA24-9C64-4BED-9215-992D4184E6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1042" y="1778833"/>
              <a:ext cx="1813317" cy="30777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 b="1" dirty="0"/>
                <a:t>Identical block size</a:t>
              </a:r>
            </a:p>
          </p:txBody>
        </p:sp>
      </p:grpSp>
      <p:sp>
        <p:nvSpPr>
          <p:cNvPr id="121" name="Text Box 4">
            <a:extLst>
              <a:ext uri="{FF2B5EF4-FFF2-40B4-BE49-F238E27FC236}">
                <a16:creationId xmlns:a16="http://schemas.microsoft.com/office/drawing/2014/main" id="{9C8498E9-56CA-48F9-8A03-096C91720F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50842" y="1089223"/>
            <a:ext cx="4997450" cy="3447098"/>
          </a:xfrm>
          <a:prstGeom prst="rect">
            <a:avLst/>
          </a:prstGeom>
          <a:solidFill>
            <a:srgbClr val="FFFF99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 algn="l"/>
            <a:r>
              <a:rPr lang="en-US" sz="1800" b="1" dirty="0">
                <a:solidFill>
                  <a:srgbClr val="660066"/>
                </a:solidFill>
                <a:latin typeface="+mn-lt"/>
              </a:rPr>
              <a:t>Observations:</a:t>
            </a:r>
          </a:p>
          <a:p>
            <a:pPr marL="342900" indent="-342900" algn="l">
              <a:spcAft>
                <a:spcPts val="600"/>
              </a:spcAft>
              <a:buFontTx/>
              <a:buAutoNum type="arabicPeriod"/>
              <a:tabLst>
                <a:tab pos="344488" algn="l"/>
              </a:tabLst>
            </a:pPr>
            <a:r>
              <a:rPr lang="en-US" dirty="0">
                <a:latin typeface="+mn-lt"/>
              </a:rPr>
              <a:t>Cold/compulsory miss remains the same irrespective of cache size/associativity.</a:t>
            </a:r>
          </a:p>
          <a:p>
            <a:pPr marL="342900" indent="-342900" algn="l">
              <a:spcAft>
                <a:spcPts val="600"/>
              </a:spcAft>
              <a:buFontTx/>
              <a:buAutoNum type="arabicPeriod" startAt="2"/>
            </a:pPr>
            <a:r>
              <a:rPr lang="en-US" dirty="0">
                <a:latin typeface="+mn-lt"/>
              </a:rPr>
              <a:t>For the same cache size, conflict miss goes down with increasing associativity.</a:t>
            </a:r>
          </a:p>
          <a:p>
            <a:pPr marL="342900" indent="-342900" algn="l">
              <a:spcAft>
                <a:spcPts val="600"/>
              </a:spcAft>
              <a:buFontTx/>
              <a:buAutoNum type="arabicPeriod" startAt="3"/>
            </a:pPr>
            <a:r>
              <a:rPr lang="en-US" dirty="0">
                <a:latin typeface="+mn-lt"/>
              </a:rPr>
              <a:t>Conflict miss is 0 for FA caches.</a:t>
            </a:r>
          </a:p>
          <a:p>
            <a:pPr marL="342900" indent="-342900" algn="l">
              <a:spcAft>
                <a:spcPts val="600"/>
              </a:spcAft>
              <a:buFontTx/>
              <a:buAutoNum type="arabicPeriod" startAt="4"/>
            </a:pPr>
            <a:r>
              <a:rPr lang="en-US" dirty="0">
                <a:latin typeface="+mn-lt"/>
              </a:rPr>
              <a:t>For the same cache size, capacity miss remains the same irrespective of associativity.</a:t>
            </a:r>
          </a:p>
          <a:p>
            <a:pPr marL="342900" indent="-342900" algn="l">
              <a:spcAft>
                <a:spcPts val="600"/>
              </a:spcAft>
              <a:buFontTx/>
              <a:buAutoNum type="arabicPeriod" startAt="5"/>
            </a:pPr>
            <a:r>
              <a:rPr lang="en-US" dirty="0">
                <a:latin typeface="+mn-lt"/>
              </a:rPr>
              <a:t>Capacity miss decreases with increasing cache size .</a:t>
            </a:r>
          </a:p>
        </p:txBody>
      </p:sp>
    </p:spTree>
    <p:extLst>
      <p:ext uri="{BB962C8B-B14F-4D97-AF65-F5344CB8AC3E}">
        <p14:creationId xmlns:p14="http://schemas.microsoft.com/office/powerpoint/2010/main" val="3530373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" grpId="0" animBg="1"/>
      <p:bldP spid="121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10. Block Replacement Policy (1/3)</a:t>
            </a:r>
            <a:endParaRPr lang="en-GB" sz="3600" b="1" dirty="0">
              <a:solidFill>
                <a:srgbClr val="0000FF"/>
              </a:solidFill>
            </a:endParaRP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#23: Cache II: Set/Fully Associative Cache</a:t>
            </a:r>
            <a:endParaRPr lang="en-US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41" name="Slide Number Placeholder 6">
            <a:extLst>
              <a:ext uri="{FF2B5EF4-FFF2-40B4-BE49-F238E27FC236}">
                <a16:creationId xmlns:a16="http://schemas.microsoft.com/office/drawing/2014/main" id="{49DA39DD-270A-4F4A-A0CC-F878BDB53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75</a:t>
            </a:fld>
            <a:endParaRPr dirty="0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3FB4B88D-41B1-44EC-95AA-803D60FAC77D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346417"/>
            <a:ext cx="8229600" cy="47572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3525" indent="-263525" fontAlgn="auto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C00000"/>
                </a:solidFill>
              </a:rPr>
              <a:t>Set Associative </a:t>
            </a:r>
            <a:r>
              <a:rPr lang="en-US" sz="2800" dirty="0"/>
              <a:t>or </a:t>
            </a:r>
            <a:r>
              <a:rPr lang="en-US" sz="2800" dirty="0">
                <a:solidFill>
                  <a:srgbClr val="C00000"/>
                </a:solidFill>
              </a:rPr>
              <a:t>Fully Associative Cache</a:t>
            </a:r>
            <a:r>
              <a:rPr lang="en-US" sz="2800" dirty="0"/>
              <a:t>:</a:t>
            </a:r>
          </a:p>
          <a:p>
            <a:pPr marL="628650" lvl="1" indent="-274638" fontAlgn="auto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Can choose where to place a memory block</a:t>
            </a:r>
          </a:p>
          <a:p>
            <a:pPr marL="628650" lvl="1" indent="-274638" fontAlgn="auto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Potentially replacing another cache block if full</a:t>
            </a:r>
          </a:p>
          <a:p>
            <a:pPr marL="628650" lvl="1" indent="-274638" fontAlgn="auto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Need </a:t>
            </a:r>
            <a:r>
              <a:rPr lang="en-US" sz="2400" b="1" dirty="0">
                <a:solidFill>
                  <a:srgbClr val="C00000"/>
                </a:solidFill>
              </a:rPr>
              <a:t>block replacement policy</a:t>
            </a:r>
            <a:endParaRPr lang="en-US" sz="2400" dirty="0">
              <a:solidFill>
                <a:srgbClr val="C00000"/>
              </a:solidFill>
            </a:endParaRPr>
          </a:p>
          <a:p>
            <a:pPr marL="263525" indent="-263525" fontAlgn="auto">
              <a:spcBef>
                <a:spcPts val="18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800" b="1" dirty="0">
                <a:solidFill>
                  <a:srgbClr val="006600"/>
                </a:solidFill>
              </a:rPr>
              <a:t>L</a:t>
            </a:r>
            <a:r>
              <a:rPr lang="en-US" sz="2800" dirty="0">
                <a:solidFill>
                  <a:srgbClr val="006600"/>
                </a:solidFill>
              </a:rPr>
              <a:t>east</a:t>
            </a:r>
            <a:r>
              <a:rPr lang="en-US" sz="2800" b="1" dirty="0">
                <a:solidFill>
                  <a:srgbClr val="006600"/>
                </a:solidFill>
              </a:rPr>
              <a:t> R</a:t>
            </a:r>
            <a:r>
              <a:rPr lang="en-US" sz="2800" dirty="0">
                <a:solidFill>
                  <a:srgbClr val="006600"/>
                </a:solidFill>
              </a:rPr>
              <a:t>ecently</a:t>
            </a:r>
            <a:r>
              <a:rPr lang="en-US" sz="2800" b="1" dirty="0">
                <a:solidFill>
                  <a:srgbClr val="006600"/>
                </a:solidFill>
              </a:rPr>
              <a:t> </a:t>
            </a:r>
            <a:r>
              <a:rPr lang="en-US" sz="2800" dirty="0">
                <a:solidFill>
                  <a:srgbClr val="006600"/>
                </a:solidFill>
              </a:rPr>
              <a:t>Used (</a:t>
            </a:r>
            <a:r>
              <a:rPr lang="en-US" sz="2800" b="1" dirty="0">
                <a:solidFill>
                  <a:srgbClr val="006600"/>
                </a:solidFill>
              </a:rPr>
              <a:t>LRU</a:t>
            </a:r>
            <a:r>
              <a:rPr lang="en-US" sz="2800" dirty="0">
                <a:solidFill>
                  <a:srgbClr val="006600"/>
                </a:solidFill>
              </a:rPr>
              <a:t>)</a:t>
            </a:r>
          </a:p>
          <a:p>
            <a:pPr marL="628650" lvl="1" indent="-274638" fontAlgn="auto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400" b="1" dirty="0"/>
              <a:t>How: </a:t>
            </a:r>
            <a:r>
              <a:rPr lang="en-US" sz="2400" dirty="0"/>
              <a:t>For cache hit, record the cache block that was accessed</a:t>
            </a:r>
          </a:p>
          <a:p>
            <a:pPr marL="982663" lvl="2" indent="-261938" fontAlgn="auto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000" dirty="0"/>
              <a:t>When replacing a block, choose one which has not been accessed for the longest time</a:t>
            </a:r>
          </a:p>
          <a:p>
            <a:pPr marL="628650" lvl="1" indent="-274638" fontAlgn="auto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400" b="1" dirty="0"/>
              <a:t>Why: </a:t>
            </a:r>
            <a:r>
              <a:rPr lang="en-US" sz="2400" dirty="0"/>
              <a:t>Temporal locality</a:t>
            </a:r>
          </a:p>
          <a:p>
            <a:pPr marL="1074738" lvl="1" indent="-495300" fontAlgn="auto">
              <a:spcAft>
                <a:spcPts val="0"/>
              </a:spcAft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14163048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10. Block Replacement Policy (2/3)</a:t>
            </a:r>
            <a:endParaRPr lang="en-GB" sz="3600" b="1" dirty="0">
              <a:solidFill>
                <a:srgbClr val="0000FF"/>
              </a:solidFill>
            </a:endParaRP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#23: Cache II: Set/Fully Associative Cache</a:t>
            </a:r>
            <a:endParaRPr lang="en-US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41" name="Slide Number Placeholder 6">
            <a:extLst>
              <a:ext uri="{FF2B5EF4-FFF2-40B4-BE49-F238E27FC236}">
                <a16:creationId xmlns:a16="http://schemas.microsoft.com/office/drawing/2014/main" id="{49DA39DD-270A-4F4A-A0CC-F878BDB53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76</a:t>
            </a:fld>
            <a:endParaRPr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DA9D91C2-53CB-4AF5-AE4D-02B90564FE13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245433"/>
            <a:ext cx="7696200" cy="1524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3525" indent="-263525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600" dirty="0"/>
              <a:t>Least Recently Used policy in action:</a:t>
            </a:r>
          </a:p>
          <a:p>
            <a:pPr marL="628650" lvl="1" indent="-274638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200" dirty="0"/>
              <a:t>4-way SA cache</a:t>
            </a:r>
          </a:p>
          <a:p>
            <a:pPr marL="628650" lvl="1" indent="-274638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200" dirty="0"/>
              <a:t>Memory accesses: </a:t>
            </a:r>
            <a:r>
              <a:rPr lang="en-US" sz="2200" b="1" dirty="0"/>
              <a:t>0  4  8  12  4  16  12  0  4</a:t>
            </a:r>
          </a:p>
        </p:txBody>
      </p:sp>
      <p:sp>
        <p:nvSpPr>
          <p:cNvPr id="8" name="Rectangle 10">
            <a:extLst>
              <a:ext uri="{FF2B5EF4-FFF2-40B4-BE49-F238E27FC236}">
                <a16:creationId xmlns:a16="http://schemas.microsoft.com/office/drawing/2014/main" id="{22103037-B950-40CD-B5BF-4C0ECD425E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0725" y="4199744"/>
            <a:ext cx="685800" cy="3048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noAutofit/>
          </a:bodyPr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4EA06131-A571-4DC1-A637-794698DC4D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6525" y="4199744"/>
            <a:ext cx="685800" cy="30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noAutofit/>
          </a:bodyPr>
          <a:lstStyle/>
          <a:p>
            <a:pPr algn="ctr"/>
            <a:r>
              <a:rPr lang="en-US" dirty="0"/>
              <a:t>12</a:t>
            </a:r>
          </a:p>
        </p:txBody>
      </p:sp>
      <p:sp>
        <p:nvSpPr>
          <p:cNvPr id="10" name="Rectangle 12">
            <a:extLst>
              <a:ext uri="{FF2B5EF4-FFF2-40B4-BE49-F238E27FC236}">
                <a16:creationId xmlns:a16="http://schemas.microsoft.com/office/drawing/2014/main" id="{944CCCCD-5543-4263-96DA-27D4459A99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2325" y="4199744"/>
            <a:ext cx="685800" cy="304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no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3" name="Rectangle 13">
            <a:extLst>
              <a:ext uri="{FF2B5EF4-FFF2-40B4-BE49-F238E27FC236}">
                <a16:creationId xmlns:a16="http://schemas.microsoft.com/office/drawing/2014/main" id="{B79E07E6-3818-40B8-BC56-188E503774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8125" y="4199744"/>
            <a:ext cx="685800" cy="3048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noAutofit/>
          </a:bodyPr>
          <a:lstStyle/>
          <a:p>
            <a:pPr algn="ctr"/>
            <a:r>
              <a:rPr lang="en-US" dirty="0"/>
              <a:t>16</a:t>
            </a:r>
          </a:p>
        </p:txBody>
      </p:sp>
      <p:sp>
        <p:nvSpPr>
          <p:cNvPr id="14" name="Rectangle 20">
            <a:extLst>
              <a:ext uri="{FF2B5EF4-FFF2-40B4-BE49-F238E27FC236}">
                <a16:creationId xmlns:a16="http://schemas.microsoft.com/office/drawing/2014/main" id="{E666B1AA-03F6-4DAD-A93E-1DE16EDE10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0725" y="5418944"/>
            <a:ext cx="685800" cy="3048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no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0ED5BAC1-0141-43F9-93EB-0C9A2E8D28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6525" y="5418944"/>
            <a:ext cx="685800" cy="30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noAutofit/>
          </a:bodyPr>
          <a:lstStyle/>
          <a:p>
            <a:pPr algn="ctr"/>
            <a:r>
              <a:rPr lang="en-US" dirty="0"/>
              <a:t>16</a:t>
            </a:r>
          </a:p>
        </p:txBody>
      </p:sp>
      <p:sp>
        <p:nvSpPr>
          <p:cNvPr id="16" name="Rectangle 22">
            <a:extLst>
              <a:ext uri="{FF2B5EF4-FFF2-40B4-BE49-F238E27FC236}">
                <a16:creationId xmlns:a16="http://schemas.microsoft.com/office/drawing/2014/main" id="{35DBC879-5270-49E4-B4EE-68C13A57DB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2325" y="5418944"/>
            <a:ext cx="685800" cy="304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noAutofit/>
          </a:bodyPr>
          <a:lstStyle/>
          <a:p>
            <a:pPr algn="ctr"/>
            <a:r>
              <a:rPr lang="en-US" dirty="0"/>
              <a:t>12</a:t>
            </a:r>
          </a:p>
        </p:txBody>
      </p:sp>
      <p:sp>
        <p:nvSpPr>
          <p:cNvPr id="17" name="Rectangle 23">
            <a:extLst>
              <a:ext uri="{FF2B5EF4-FFF2-40B4-BE49-F238E27FC236}">
                <a16:creationId xmlns:a16="http://schemas.microsoft.com/office/drawing/2014/main" id="{B4F714B1-5ADB-4D6E-801D-49D4133D8D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8125" y="5418944"/>
            <a:ext cx="685800" cy="3048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noAutofit/>
          </a:bodyPr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18" name="Rectangle 30">
            <a:extLst>
              <a:ext uri="{FF2B5EF4-FFF2-40B4-BE49-F238E27FC236}">
                <a16:creationId xmlns:a16="http://schemas.microsoft.com/office/drawing/2014/main" id="{E4075646-D20F-4467-9E2F-135B027659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0725" y="2980544"/>
            <a:ext cx="685800" cy="3048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noAutofit/>
          </a:bodyPr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19" name="Rectangle 31">
            <a:extLst>
              <a:ext uri="{FF2B5EF4-FFF2-40B4-BE49-F238E27FC236}">
                <a16:creationId xmlns:a16="http://schemas.microsoft.com/office/drawing/2014/main" id="{150FA2A2-3718-4C70-97E9-692D3C06DA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6525" y="2980544"/>
            <a:ext cx="685800" cy="30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no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0" name="Rectangle 32">
            <a:extLst>
              <a:ext uri="{FF2B5EF4-FFF2-40B4-BE49-F238E27FC236}">
                <a16:creationId xmlns:a16="http://schemas.microsoft.com/office/drawing/2014/main" id="{A9158FF0-B73F-4330-A2C0-4F84749BC6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2325" y="2980544"/>
            <a:ext cx="685800" cy="304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noAutofit/>
          </a:bodyPr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21" name="Rectangle 33">
            <a:extLst>
              <a:ext uri="{FF2B5EF4-FFF2-40B4-BE49-F238E27FC236}">
                <a16:creationId xmlns:a16="http://schemas.microsoft.com/office/drawing/2014/main" id="{7FC44497-94B9-4053-BB03-5DC180A081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8125" y="2980544"/>
            <a:ext cx="685800" cy="3048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noAutofit/>
          </a:bodyPr>
          <a:lstStyle/>
          <a:p>
            <a:pPr algn="ctr"/>
            <a:r>
              <a:rPr lang="en-US" dirty="0"/>
              <a:t>12</a:t>
            </a:r>
          </a:p>
        </p:txBody>
      </p:sp>
      <p:sp>
        <p:nvSpPr>
          <p:cNvPr id="22" name="Text Box 60">
            <a:extLst>
              <a:ext uri="{FF2B5EF4-FFF2-40B4-BE49-F238E27FC236}">
                <a16:creationId xmlns:a16="http://schemas.microsoft.com/office/drawing/2014/main" id="{A50236C9-5331-4E33-8C6A-FF6273D20A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1143" y="2523344"/>
            <a:ext cx="604653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noAutofit/>
          </a:bodyPr>
          <a:lstStyle/>
          <a:p>
            <a:pPr algn="ctr"/>
            <a:r>
              <a:rPr lang="en-US" sz="1600" b="1" dirty="0">
                <a:solidFill>
                  <a:srgbClr val="C00000"/>
                </a:solidFill>
                <a:latin typeface="+mn-lt"/>
              </a:rPr>
              <a:t>LRU</a:t>
            </a:r>
          </a:p>
        </p:txBody>
      </p:sp>
      <p:sp>
        <p:nvSpPr>
          <p:cNvPr id="23" name="Line 61">
            <a:extLst>
              <a:ext uri="{FF2B5EF4-FFF2-40B4-BE49-F238E27FC236}">
                <a16:creationId xmlns:a16="http://schemas.microsoft.com/office/drawing/2014/main" id="{C668165B-00E2-4F59-BA2D-CA88AD65FA82}"/>
              </a:ext>
            </a:extLst>
          </p:cNvPr>
          <p:cNvSpPr>
            <a:spLocks noChangeShapeType="1"/>
          </p:cNvSpPr>
          <p:nvPr/>
        </p:nvSpPr>
        <p:spPr bwMode="auto">
          <a:xfrm>
            <a:off x="3641725" y="2828144"/>
            <a:ext cx="0" cy="152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Rectangle 5">
            <a:extLst>
              <a:ext uri="{FF2B5EF4-FFF2-40B4-BE49-F238E27FC236}">
                <a16:creationId xmlns:a16="http://schemas.microsoft.com/office/drawing/2014/main" id="{B4B2FF83-1A49-40AE-A4AE-FBE184048C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0725" y="3590144"/>
            <a:ext cx="685800" cy="3048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noAutofit/>
          </a:bodyPr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25" name="Rectangle 6">
            <a:extLst>
              <a:ext uri="{FF2B5EF4-FFF2-40B4-BE49-F238E27FC236}">
                <a16:creationId xmlns:a16="http://schemas.microsoft.com/office/drawing/2014/main" id="{022CE140-D75B-417C-9BC8-29FDBB83DC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6525" y="3590144"/>
            <a:ext cx="685800" cy="30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noAutofit/>
          </a:bodyPr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26" name="Rectangle 7">
            <a:extLst>
              <a:ext uri="{FF2B5EF4-FFF2-40B4-BE49-F238E27FC236}">
                <a16:creationId xmlns:a16="http://schemas.microsoft.com/office/drawing/2014/main" id="{09F5C321-54DA-44AB-BFAF-23216C9D05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2325" y="3590144"/>
            <a:ext cx="685800" cy="304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noAutofit/>
          </a:bodyPr>
          <a:lstStyle/>
          <a:p>
            <a:pPr algn="ctr"/>
            <a:r>
              <a:rPr lang="en-US" dirty="0"/>
              <a:t>12</a:t>
            </a:r>
          </a:p>
        </p:txBody>
      </p:sp>
      <p:sp>
        <p:nvSpPr>
          <p:cNvPr id="27" name="Rectangle 8">
            <a:extLst>
              <a:ext uri="{FF2B5EF4-FFF2-40B4-BE49-F238E27FC236}">
                <a16:creationId xmlns:a16="http://schemas.microsoft.com/office/drawing/2014/main" id="{3E46AC23-D259-403F-B3BD-13D7674DC0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8125" y="3590144"/>
            <a:ext cx="685800" cy="3048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no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8" name="Line 62">
            <a:extLst>
              <a:ext uri="{FF2B5EF4-FFF2-40B4-BE49-F238E27FC236}">
                <a16:creationId xmlns:a16="http://schemas.microsoft.com/office/drawing/2014/main" id="{271D26C0-42F9-4103-829A-E2A44C68C697}"/>
              </a:ext>
            </a:extLst>
          </p:cNvPr>
          <p:cNvSpPr>
            <a:spLocks noChangeShapeType="1"/>
          </p:cNvSpPr>
          <p:nvPr/>
        </p:nvSpPr>
        <p:spPr bwMode="auto">
          <a:xfrm>
            <a:off x="4403725" y="3209144"/>
            <a:ext cx="1066800" cy="355600"/>
          </a:xfrm>
          <a:prstGeom prst="line">
            <a:avLst/>
          </a:prstGeom>
          <a:noFill/>
          <a:ln w="22225">
            <a:solidFill>
              <a:srgbClr val="006600"/>
            </a:solidFill>
            <a:prstDash val="dash"/>
            <a:round/>
            <a:headEnd/>
            <a:tailEnd type="triangle" w="med" len="med"/>
          </a:ln>
        </p:spPr>
        <p:txBody>
          <a:bodyPr wrap="none">
            <a:noAutofit/>
          </a:bodyPr>
          <a:lstStyle/>
          <a:p>
            <a:pPr algn="ctr"/>
            <a:endParaRPr lang="en-US"/>
          </a:p>
        </p:txBody>
      </p:sp>
      <p:sp>
        <p:nvSpPr>
          <p:cNvPr id="29" name="Rectangle 15">
            <a:extLst>
              <a:ext uri="{FF2B5EF4-FFF2-40B4-BE49-F238E27FC236}">
                <a16:creationId xmlns:a16="http://schemas.microsoft.com/office/drawing/2014/main" id="{4CDE1801-236B-4C79-B994-68E535607D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0725" y="4809344"/>
            <a:ext cx="685800" cy="3048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noAutofit/>
          </a:bodyPr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30" name="Rectangle 16">
            <a:extLst>
              <a:ext uri="{FF2B5EF4-FFF2-40B4-BE49-F238E27FC236}">
                <a16:creationId xmlns:a16="http://schemas.microsoft.com/office/drawing/2014/main" id="{8D0924BF-6923-4CE5-B0A9-9CE2CF20E8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6525" y="4809344"/>
            <a:ext cx="685800" cy="30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no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1" name="Rectangle 17">
            <a:extLst>
              <a:ext uri="{FF2B5EF4-FFF2-40B4-BE49-F238E27FC236}">
                <a16:creationId xmlns:a16="http://schemas.microsoft.com/office/drawing/2014/main" id="{F0FAE753-BD1B-4D9A-A530-22A205A9B5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2325" y="4809344"/>
            <a:ext cx="685800" cy="304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noAutofit/>
          </a:bodyPr>
          <a:lstStyle/>
          <a:p>
            <a:pPr algn="ctr"/>
            <a:r>
              <a:rPr lang="en-US" dirty="0"/>
              <a:t>16</a:t>
            </a:r>
          </a:p>
        </p:txBody>
      </p:sp>
      <p:sp>
        <p:nvSpPr>
          <p:cNvPr id="32" name="Rectangle 18">
            <a:extLst>
              <a:ext uri="{FF2B5EF4-FFF2-40B4-BE49-F238E27FC236}">
                <a16:creationId xmlns:a16="http://schemas.microsoft.com/office/drawing/2014/main" id="{59F382C0-D713-406A-A4A6-FA105E6366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8125" y="4809344"/>
            <a:ext cx="685800" cy="3048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noAutofit/>
          </a:bodyPr>
          <a:lstStyle/>
          <a:p>
            <a:pPr algn="ctr"/>
            <a:r>
              <a:rPr lang="en-US" dirty="0"/>
              <a:t>12</a:t>
            </a:r>
          </a:p>
        </p:txBody>
      </p:sp>
      <p:sp>
        <p:nvSpPr>
          <p:cNvPr id="33" name="Rectangle 25">
            <a:extLst>
              <a:ext uri="{FF2B5EF4-FFF2-40B4-BE49-F238E27FC236}">
                <a16:creationId xmlns:a16="http://schemas.microsoft.com/office/drawing/2014/main" id="{C74A3BCF-E8CC-4E10-B1F7-4FD580724F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0725" y="6028544"/>
            <a:ext cx="685800" cy="3048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noAutofit/>
          </a:bodyPr>
          <a:lstStyle/>
          <a:p>
            <a:pPr algn="ctr"/>
            <a:r>
              <a:rPr lang="en-US" dirty="0"/>
              <a:t>16</a:t>
            </a:r>
          </a:p>
        </p:txBody>
      </p:sp>
      <p:sp>
        <p:nvSpPr>
          <p:cNvPr id="34" name="Rectangle 26">
            <a:extLst>
              <a:ext uri="{FF2B5EF4-FFF2-40B4-BE49-F238E27FC236}">
                <a16:creationId xmlns:a16="http://schemas.microsoft.com/office/drawing/2014/main" id="{2152D08B-2404-4BC7-9E89-D59472DABD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6525" y="6028544"/>
            <a:ext cx="685800" cy="30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noAutofit/>
          </a:bodyPr>
          <a:lstStyle/>
          <a:p>
            <a:pPr algn="ctr"/>
            <a:r>
              <a:rPr lang="en-US" dirty="0"/>
              <a:t>12</a:t>
            </a:r>
          </a:p>
        </p:txBody>
      </p:sp>
      <p:sp>
        <p:nvSpPr>
          <p:cNvPr id="35" name="Rectangle 27">
            <a:extLst>
              <a:ext uri="{FF2B5EF4-FFF2-40B4-BE49-F238E27FC236}">
                <a16:creationId xmlns:a16="http://schemas.microsoft.com/office/drawing/2014/main" id="{7B48096D-6FAF-48FD-87E9-2F05ECEBBF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2325" y="6028544"/>
            <a:ext cx="685800" cy="304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noAutofit/>
          </a:bodyPr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36" name="Rectangle 28">
            <a:extLst>
              <a:ext uri="{FF2B5EF4-FFF2-40B4-BE49-F238E27FC236}">
                <a16:creationId xmlns:a16="http://schemas.microsoft.com/office/drawing/2014/main" id="{D1B6BA81-A40E-41A9-BBC2-68B9860072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8125" y="6028544"/>
            <a:ext cx="685800" cy="3048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no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7" name="Text Box 69">
            <a:extLst>
              <a:ext uri="{FF2B5EF4-FFF2-40B4-BE49-F238E27FC236}">
                <a16:creationId xmlns:a16="http://schemas.microsoft.com/office/drawing/2014/main" id="{F6C8491D-9EDD-4F88-ABAA-0B5A9F44FC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0598" y="3056744"/>
            <a:ext cx="45877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noAutofit/>
          </a:bodyPr>
          <a:lstStyle/>
          <a:p>
            <a:pPr algn="ctr"/>
            <a:r>
              <a:rPr lang="en-US" sz="1600" b="1" dirty="0">
                <a:solidFill>
                  <a:srgbClr val="006600"/>
                </a:solidFill>
                <a:latin typeface="+mn-lt"/>
              </a:rPr>
              <a:t>Hit</a:t>
            </a:r>
          </a:p>
        </p:txBody>
      </p:sp>
      <p:sp>
        <p:nvSpPr>
          <p:cNvPr id="38" name="Text Box 70">
            <a:extLst>
              <a:ext uri="{FF2B5EF4-FFF2-40B4-BE49-F238E27FC236}">
                <a16:creationId xmlns:a16="http://schemas.microsoft.com/office/drawing/2014/main" id="{632EC527-F553-4038-989B-11AE0864CD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3590144"/>
            <a:ext cx="2755192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noAutofit/>
          </a:bodyPr>
          <a:lstStyle/>
          <a:p>
            <a:r>
              <a:rPr lang="en-US" sz="1600" b="1" dirty="0">
                <a:solidFill>
                  <a:srgbClr val="C00000"/>
                </a:solidFill>
                <a:latin typeface="+mn-lt"/>
              </a:rPr>
              <a:t>Miss </a:t>
            </a:r>
            <a:r>
              <a:rPr lang="en-US" sz="1600" dirty="0">
                <a:solidFill>
                  <a:srgbClr val="C00000"/>
                </a:solidFill>
                <a:latin typeface="+mn-lt"/>
              </a:rPr>
              <a:t>(Evict Block 0)</a:t>
            </a:r>
          </a:p>
        </p:txBody>
      </p:sp>
      <p:sp>
        <p:nvSpPr>
          <p:cNvPr id="39" name="Text Box 71">
            <a:extLst>
              <a:ext uri="{FF2B5EF4-FFF2-40B4-BE49-F238E27FC236}">
                <a16:creationId xmlns:a16="http://schemas.microsoft.com/office/drawing/2014/main" id="{5E015C86-EE56-45F6-825A-B6CFAC9041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0598" y="4165990"/>
            <a:ext cx="45877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noAutofit/>
          </a:bodyPr>
          <a:lstStyle/>
          <a:p>
            <a:pPr algn="ctr"/>
            <a:r>
              <a:rPr lang="en-US" sz="1600" b="1" dirty="0">
                <a:solidFill>
                  <a:srgbClr val="006600"/>
                </a:solidFill>
                <a:latin typeface="+mn-lt"/>
              </a:rPr>
              <a:t>Hit</a:t>
            </a:r>
          </a:p>
        </p:txBody>
      </p:sp>
      <p:sp>
        <p:nvSpPr>
          <p:cNvPr id="40" name="Text Box 72">
            <a:extLst>
              <a:ext uri="{FF2B5EF4-FFF2-40B4-BE49-F238E27FC236}">
                <a16:creationId xmlns:a16="http://schemas.microsoft.com/office/drawing/2014/main" id="{988C28E4-A51F-4A07-B6EE-52383884D2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1933" y="4809344"/>
            <a:ext cx="2450392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noAutofit/>
          </a:bodyPr>
          <a:lstStyle/>
          <a:p>
            <a:r>
              <a:rPr lang="en-US" sz="1600" b="1" dirty="0">
                <a:solidFill>
                  <a:srgbClr val="C00000"/>
                </a:solidFill>
                <a:latin typeface="+mn-lt"/>
              </a:rPr>
              <a:t>Miss </a:t>
            </a:r>
            <a:r>
              <a:rPr lang="en-US" sz="1600" dirty="0">
                <a:solidFill>
                  <a:srgbClr val="C00000"/>
                </a:solidFill>
              </a:rPr>
              <a:t>(Evict Block 8)</a:t>
            </a:r>
            <a:endParaRPr lang="en-US" sz="1600" b="1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42" name="Text Box 73">
            <a:extLst>
              <a:ext uri="{FF2B5EF4-FFF2-40B4-BE49-F238E27FC236}">
                <a16:creationId xmlns:a16="http://schemas.microsoft.com/office/drawing/2014/main" id="{666B6D61-A8D3-4D01-82ED-E2993AF309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0598" y="5418944"/>
            <a:ext cx="45877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noAutofit/>
          </a:bodyPr>
          <a:lstStyle/>
          <a:p>
            <a:pPr algn="ctr"/>
            <a:r>
              <a:rPr lang="en-US" sz="1600" b="1" dirty="0">
                <a:solidFill>
                  <a:srgbClr val="006600"/>
                </a:solidFill>
                <a:latin typeface="+mn-lt"/>
              </a:rPr>
              <a:t>Hit</a:t>
            </a:r>
          </a:p>
        </p:txBody>
      </p:sp>
      <p:sp>
        <p:nvSpPr>
          <p:cNvPr id="43" name="Text Box 76">
            <a:extLst>
              <a:ext uri="{FF2B5EF4-FFF2-40B4-BE49-F238E27FC236}">
                <a16:creationId xmlns:a16="http://schemas.microsoft.com/office/drawing/2014/main" id="{636C60A1-2170-4BC9-B006-0C471BB8AD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2904344"/>
            <a:ext cx="103505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dirty="0">
                <a:latin typeface="+mn-lt"/>
              </a:rPr>
              <a:t>Access </a:t>
            </a:r>
            <a:r>
              <a:rPr lang="en-US" sz="1600" b="1" dirty="0">
                <a:latin typeface="+mn-lt"/>
              </a:rPr>
              <a:t>4</a:t>
            </a:r>
          </a:p>
        </p:txBody>
      </p:sp>
      <p:sp>
        <p:nvSpPr>
          <p:cNvPr id="44" name="Text Box 80">
            <a:extLst>
              <a:ext uri="{FF2B5EF4-FFF2-40B4-BE49-F238E27FC236}">
                <a16:creationId xmlns:a16="http://schemas.microsoft.com/office/drawing/2014/main" id="{0037D121-02C1-47FD-B200-9CFF015922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3513944"/>
            <a:ext cx="1127125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dirty="0">
                <a:latin typeface="+mn-lt"/>
              </a:rPr>
              <a:t>Access </a:t>
            </a:r>
            <a:r>
              <a:rPr lang="en-US" sz="1600" b="1" dirty="0">
                <a:latin typeface="+mn-lt"/>
              </a:rPr>
              <a:t>16</a:t>
            </a:r>
          </a:p>
        </p:txBody>
      </p:sp>
      <p:sp>
        <p:nvSpPr>
          <p:cNvPr id="45" name="Text Box 83">
            <a:extLst>
              <a:ext uri="{FF2B5EF4-FFF2-40B4-BE49-F238E27FC236}">
                <a16:creationId xmlns:a16="http://schemas.microsoft.com/office/drawing/2014/main" id="{4F99BCF8-3716-45DA-9C09-3E6D95CE49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4123544"/>
            <a:ext cx="1127125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dirty="0">
                <a:latin typeface="+mn-lt"/>
              </a:rPr>
              <a:t>Access </a:t>
            </a:r>
            <a:r>
              <a:rPr lang="en-US" sz="1600" b="1" dirty="0">
                <a:latin typeface="+mn-lt"/>
              </a:rPr>
              <a:t>12</a:t>
            </a:r>
          </a:p>
        </p:txBody>
      </p:sp>
      <p:sp>
        <p:nvSpPr>
          <p:cNvPr id="46" name="Text Box 86">
            <a:extLst>
              <a:ext uri="{FF2B5EF4-FFF2-40B4-BE49-F238E27FC236}">
                <a16:creationId xmlns:a16="http://schemas.microsoft.com/office/drawing/2014/main" id="{1A25B018-5F74-423F-B7AA-7E5F91C0B7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4733144"/>
            <a:ext cx="103505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dirty="0">
                <a:latin typeface="+mn-lt"/>
              </a:rPr>
              <a:t>Access </a:t>
            </a:r>
            <a:r>
              <a:rPr lang="en-US" sz="1600" b="1" dirty="0">
                <a:latin typeface="+mn-lt"/>
              </a:rPr>
              <a:t>0</a:t>
            </a:r>
          </a:p>
        </p:txBody>
      </p:sp>
      <p:sp>
        <p:nvSpPr>
          <p:cNvPr id="47" name="Text Box 89">
            <a:extLst>
              <a:ext uri="{FF2B5EF4-FFF2-40B4-BE49-F238E27FC236}">
                <a16:creationId xmlns:a16="http://schemas.microsoft.com/office/drawing/2014/main" id="{62E4C4AB-C16F-4613-ADE9-11DA161B37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5418944"/>
            <a:ext cx="103505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dirty="0">
                <a:latin typeface="+mn-lt"/>
              </a:rPr>
              <a:t>Access </a:t>
            </a:r>
            <a:r>
              <a:rPr lang="en-US" sz="1600" b="1" dirty="0">
                <a:latin typeface="+mn-lt"/>
              </a:rPr>
              <a:t>4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C481270-BD1E-4C13-A73D-AB6F8CE605A2}"/>
              </a:ext>
            </a:extLst>
          </p:cNvPr>
          <p:cNvSpPr/>
          <p:nvPr/>
        </p:nvSpPr>
        <p:spPr>
          <a:xfrm>
            <a:off x="3032125" y="3717144"/>
            <a:ext cx="457200" cy="25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rgbClr val="C00000"/>
                </a:solidFill>
              </a:rPr>
              <a:t>x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1D9F535-4BBE-4B06-B406-7ABF84EC0243}"/>
              </a:ext>
            </a:extLst>
          </p:cNvPr>
          <p:cNvSpPr/>
          <p:nvPr/>
        </p:nvSpPr>
        <p:spPr>
          <a:xfrm>
            <a:off x="3032125" y="4936344"/>
            <a:ext cx="457200" cy="25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rgbClr val="C00000"/>
                </a:solidFill>
              </a:rPr>
              <a:t>x</a:t>
            </a:r>
          </a:p>
        </p:txBody>
      </p:sp>
      <p:sp>
        <p:nvSpPr>
          <p:cNvPr id="50" name="Line 62">
            <a:extLst>
              <a:ext uri="{FF2B5EF4-FFF2-40B4-BE49-F238E27FC236}">
                <a16:creationId xmlns:a16="http://schemas.microsoft.com/office/drawing/2014/main" id="{932C1111-87B3-440C-A398-6B6C0128F005}"/>
              </a:ext>
            </a:extLst>
          </p:cNvPr>
          <p:cNvSpPr>
            <a:spLocks noChangeShapeType="1"/>
          </p:cNvSpPr>
          <p:nvPr/>
        </p:nvSpPr>
        <p:spPr bwMode="auto">
          <a:xfrm>
            <a:off x="4479925" y="4428344"/>
            <a:ext cx="990600" cy="304800"/>
          </a:xfrm>
          <a:prstGeom prst="line">
            <a:avLst/>
          </a:prstGeom>
          <a:noFill/>
          <a:ln w="22225">
            <a:solidFill>
              <a:srgbClr val="006600"/>
            </a:solidFill>
            <a:prstDash val="dash"/>
            <a:round/>
            <a:headEnd/>
            <a:tailEnd type="triangle" w="med" len="med"/>
          </a:ln>
        </p:spPr>
        <p:txBody>
          <a:bodyPr wrap="none">
            <a:noAutofit/>
          </a:bodyPr>
          <a:lstStyle/>
          <a:p>
            <a:pPr algn="ctr"/>
            <a:endParaRPr lang="en-US"/>
          </a:p>
        </p:txBody>
      </p:sp>
      <p:sp>
        <p:nvSpPr>
          <p:cNvPr id="51" name="Line 62">
            <a:extLst>
              <a:ext uri="{FF2B5EF4-FFF2-40B4-BE49-F238E27FC236}">
                <a16:creationId xmlns:a16="http://schemas.microsoft.com/office/drawing/2014/main" id="{1E9BA2F2-D88E-45D4-88BD-AD4842D0CEFA}"/>
              </a:ext>
            </a:extLst>
          </p:cNvPr>
          <p:cNvSpPr>
            <a:spLocks noChangeShapeType="1"/>
          </p:cNvSpPr>
          <p:nvPr/>
        </p:nvSpPr>
        <p:spPr bwMode="auto">
          <a:xfrm>
            <a:off x="3717925" y="5647544"/>
            <a:ext cx="1828800" cy="304800"/>
          </a:xfrm>
          <a:prstGeom prst="line">
            <a:avLst/>
          </a:prstGeom>
          <a:noFill/>
          <a:ln w="22225">
            <a:solidFill>
              <a:srgbClr val="006600"/>
            </a:solidFill>
            <a:prstDash val="dash"/>
            <a:round/>
            <a:headEnd/>
            <a:tailEnd type="triangle" w="med" len="med"/>
          </a:ln>
        </p:spPr>
        <p:txBody>
          <a:bodyPr wrap="none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827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8" grpId="0"/>
      <p:bldP spid="39" grpId="0"/>
      <p:bldP spid="40" grpId="0"/>
      <p:bldP spid="42" grpId="0"/>
      <p:bldP spid="43" grpId="0"/>
      <p:bldP spid="44" grpId="0"/>
      <p:bldP spid="45" grpId="0"/>
      <p:bldP spid="46" grpId="0"/>
      <p:bldP spid="47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10. Block Replacement Policy (3/3)</a:t>
            </a:r>
            <a:endParaRPr lang="en-GB" sz="3600" b="1" dirty="0">
              <a:solidFill>
                <a:srgbClr val="0000FF"/>
              </a:solidFill>
            </a:endParaRP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#23: Cache II: Set/Fully Associative Cache</a:t>
            </a:r>
            <a:endParaRPr lang="en-US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41" name="Slide Number Placeholder 6">
            <a:extLst>
              <a:ext uri="{FF2B5EF4-FFF2-40B4-BE49-F238E27FC236}">
                <a16:creationId xmlns:a16="http://schemas.microsoft.com/office/drawing/2014/main" id="{49DA39DD-270A-4F4A-A0CC-F878BDB53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77</a:t>
            </a:fld>
            <a:endParaRPr dirty="0"/>
          </a:p>
        </p:txBody>
      </p:sp>
      <p:sp>
        <p:nvSpPr>
          <p:cNvPr id="52" name="Rectangle 3">
            <a:extLst>
              <a:ext uri="{FF2B5EF4-FFF2-40B4-BE49-F238E27FC236}">
                <a16:creationId xmlns:a16="http://schemas.microsoft.com/office/drawing/2014/main" id="{BD3A81B5-5541-4C6F-A371-C6B18229D2AC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346416"/>
            <a:ext cx="8229600" cy="49781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3525" indent="-263525" fontAlgn="auto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800" dirty="0"/>
              <a:t>Drawback for LRU</a:t>
            </a:r>
          </a:p>
          <a:p>
            <a:pPr marL="628650" lvl="1" indent="-274638" fontAlgn="auto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Hard to keep track if there are many choices</a:t>
            </a:r>
          </a:p>
          <a:p>
            <a:pPr marL="263525" indent="-263525" fontAlgn="auto">
              <a:spcBef>
                <a:spcPts val="18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800" dirty="0"/>
              <a:t>Other replacement policies:</a:t>
            </a:r>
          </a:p>
          <a:p>
            <a:pPr marL="628650" lvl="1" indent="-274638" fontAlgn="auto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First in first out (FIFO)</a:t>
            </a:r>
          </a:p>
          <a:p>
            <a:pPr marL="628650" lvl="1" indent="-274638" fontAlgn="auto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Random replacement (RR)</a:t>
            </a:r>
          </a:p>
          <a:p>
            <a:pPr marL="628650" lvl="1" indent="-274638" fontAlgn="auto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Least frequently used (LFU)</a:t>
            </a:r>
          </a:p>
          <a:p>
            <a:pPr marL="671512" lvl="2" indent="0" fontAlgn="auto">
              <a:spcAft>
                <a:spcPts val="0"/>
              </a:spcAft>
              <a:buFont typeface="Arial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721045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11. Summary: Cache Organizations</a:t>
            </a:r>
            <a:endParaRPr lang="en-GB" sz="3600" b="1" dirty="0">
              <a:solidFill>
                <a:srgbClr val="0000FF"/>
              </a:solidFill>
            </a:endParaRP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#23: Cache II: Set/Fully Associative Cache</a:t>
            </a:r>
            <a:endParaRPr lang="en-US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41" name="Slide Number Placeholder 6">
            <a:extLst>
              <a:ext uri="{FF2B5EF4-FFF2-40B4-BE49-F238E27FC236}">
                <a16:creationId xmlns:a16="http://schemas.microsoft.com/office/drawing/2014/main" id="{49DA39DD-270A-4F4A-A0CC-F878BDB53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78</a:t>
            </a:fld>
            <a:endParaRPr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45B4CAC-ABB1-4D94-9C91-85AC43E6FB4D}"/>
              </a:ext>
            </a:extLst>
          </p:cNvPr>
          <p:cNvGrpSpPr/>
          <p:nvPr/>
        </p:nvGrpSpPr>
        <p:grpSpPr>
          <a:xfrm>
            <a:off x="841909" y="1454776"/>
            <a:ext cx="2694861" cy="2979339"/>
            <a:chOff x="841909" y="1454776"/>
            <a:chExt cx="2694861" cy="2979339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5740A023-20DF-473F-9C78-CA1CFAC998A4}"/>
                </a:ext>
              </a:extLst>
            </p:cNvPr>
            <p:cNvSpPr txBox="1"/>
            <p:nvPr/>
          </p:nvSpPr>
          <p:spPr>
            <a:xfrm>
              <a:off x="841909" y="1454776"/>
              <a:ext cx="269486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000" dirty="0">
                  <a:solidFill>
                    <a:srgbClr val="C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One-way set associative</a:t>
              </a:r>
            </a:p>
            <a:p>
              <a:pPr algn="ctr"/>
              <a:r>
                <a:rPr lang="en-SG" sz="2000" dirty="0">
                  <a:solidFill>
                    <a:srgbClr val="C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(direct mapped)</a:t>
              </a: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3CCCA15A-8244-4847-83B7-A5DBA5A41FCC}"/>
                </a:ext>
              </a:extLst>
            </p:cNvPr>
            <p:cNvGrpSpPr/>
            <p:nvPr/>
          </p:nvGrpSpPr>
          <p:grpSpPr>
            <a:xfrm>
              <a:off x="1358388" y="2128033"/>
              <a:ext cx="1594027" cy="2306082"/>
              <a:chOff x="1384404" y="2128033"/>
              <a:chExt cx="1594027" cy="2306082"/>
            </a:xfrm>
          </p:grpSpPr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9FBB214D-DE17-41B1-BEA3-1FA56F50D883}"/>
                  </a:ext>
                </a:extLst>
              </p:cNvPr>
              <p:cNvSpPr txBox="1"/>
              <p:nvPr/>
            </p:nvSpPr>
            <p:spPr>
              <a:xfrm>
                <a:off x="1384404" y="2128187"/>
                <a:ext cx="65302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SG" sz="1600" b="1" dirty="0">
                    <a:latin typeface="Calibri Light" panose="020F0302020204030204" pitchFamily="34" charset="0"/>
                  </a:rPr>
                  <a:t>Block</a:t>
                </a: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2FA0A829-46B1-4C6D-B680-CDC16AC38837}"/>
                  </a:ext>
                </a:extLst>
              </p:cNvPr>
              <p:cNvSpPr txBox="1"/>
              <p:nvPr/>
            </p:nvSpPr>
            <p:spPr>
              <a:xfrm>
                <a:off x="1938525" y="2128033"/>
                <a:ext cx="51547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SG" sz="1600" b="1" dirty="0">
                    <a:latin typeface="Calibri Light" panose="020F0302020204030204" pitchFamily="34" charset="0"/>
                  </a:rPr>
                  <a:t>Tag</a:t>
                </a:r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EF66971B-A027-4EF0-B743-7C070C20A72B}"/>
                  </a:ext>
                </a:extLst>
              </p:cNvPr>
              <p:cNvSpPr txBox="1"/>
              <p:nvPr/>
            </p:nvSpPr>
            <p:spPr>
              <a:xfrm>
                <a:off x="2325406" y="2128033"/>
                <a:ext cx="65302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SG" sz="1600" b="1" dirty="0">
                    <a:latin typeface="Calibri Light" panose="020F0302020204030204" pitchFamily="34" charset="0"/>
                  </a:rPr>
                  <a:t>Data</a:t>
                </a:r>
              </a:p>
            </p:txBody>
          </p:sp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id="{0B935547-EC48-48E5-ACAC-BB7A8814F50A}"/>
                  </a:ext>
                </a:extLst>
              </p:cNvPr>
              <p:cNvGrpSpPr/>
              <p:nvPr/>
            </p:nvGrpSpPr>
            <p:grpSpPr>
              <a:xfrm>
                <a:off x="1961335" y="2431088"/>
                <a:ext cx="934842" cy="1905650"/>
                <a:chOff x="2209800" y="2264490"/>
                <a:chExt cx="726142" cy="1515773"/>
              </a:xfrm>
            </p:grpSpPr>
            <p:sp>
              <p:nvSpPr>
                <p:cNvPr id="69" name="Rectangle 68">
                  <a:extLst>
                    <a:ext uri="{FF2B5EF4-FFF2-40B4-BE49-F238E27FC236}">
                      <a16:creationId xmlns:a16="http://schemas.microsoft.com/office/drawing/2014/main" id="{8401B609-E32B-4935-B263-8B454DBF85B1}"/>
                    </a:ext>
                  </a:extLst>
                </p:cNvPr>
                <p:cNvSpPr/>
                <p:nvPr/>
              </p:nvSpPr>
              <p:spPr>
                <a:xfrm>
                  <a:off x="2209800" y="2264490"/>
                  <a:ext cx="363071" cy="188240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  <p:sp>
              <p:nvSpPr>
                <p:cNvPr id="70" name="Rectangle 69">
                  <a:extLst>
                    <a:ext uri="{FF2B5EF4-FFF2-40B4-BE49-F238E27FC236}">
                      <a16:creationId xmlns:a16="http://schemas.microsoft.com/office/drawing/2014/main" id="{A79FE369-F5FD-4696-8F8E-236D7DEC9B37}"/>
                    </a:ext>
                  </a:extLst>
                </p:cNvPr>
                <p:cNvSpPr/>
                <p:nvPr/>
              </p:nvSpPr>
              <p:spPr>
                <a:xfrm>
                  <a:off x="2572871" y="2264490"/>
                  <a:ext cx="363071" cy="188240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  <p:sp>
              <p:nvSpPr>
                <p:cNvPr id="71" name="Rectangle 70">
                  <a:extLst>
                    <a:ext uri="{FF2B5EF4-FFF2-40B4-BE49-F238E27FC236}">
                      <a16:creationId xmlns:a16="http://schemas.microsoft.com/office/drawing/2014/main" id="{05C65237-F383-486F-B646-2CAC33D5BFA9}"/>
                    </a:ext>
                  </a:extLst>
                </p:cNvPr>
                <p:cNvSpPr/>
                <p:nvPr/>
              </p:nvSpPr>
              <p:spPr>
                <a:xfrm>
                  <a:off x="2209800" y="2452730"/>
                  <a:ext cx="363071" cy="188240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  <p:sp>
              <p:nvSpPr>
                <p:cNvPr id="72" name="Rectangle 71">
                  <a:extLst>
                    <a:ext uri="{FF2B5EF4-FFF2-40B4-BE49-F238E27FC236}">
                      <a16:creationId xmlns:a16="http://schemas.microsoft.com/office/drawing/2014/main" id="{D5222A7E-A9CC-4C3C-B13E-E4E9ECAEF254}"/>
                    </a:ext>
                  </a:extLst>
                </p:cNvPr>
                <p:cNvSpPr/>
                <p:nvPr/>
              </p:nvSpPr>
              <p:spPr>
                <a:xfrm>
                  <a:off x="2572871" y="2452730"/>
                  <a:ext cx="363071" cy="188240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  <p:sp>
              <p:nvSpPr>
                <p:cNvPr id="73" name="Rectangle 72">
                  <a:extLst>
                    <a:ext uri="{FF2B5EF4-FFF2-40B4-BE49-F238E27FC236}">
                      <a16:creationId xmlns:a16="http://schemas.microsoft.com/office/drawing/2014/main" id="{E749E55F-36B4-46F1-91CD-89924CEE5FFD}"/>
                    </a:ext>
                  </a:extLst>
                </p:cNvPr>
                <p:cNvSpPr/>
                <p:nvPr/>
              </p:nvSpPr>
              <p:spPr>
                <a:xfrm>
                  <a:off x="2209800" y="2640970"/>
                  <a:ext cx="363071" cy="188240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  <p:sp>
              <p:nvSpPr>
                <p:cNvPr id="74" name="Rectangle 73">
                  <a:extLst>
                    <a:ext uri="{FF2B5EF4-FFF2-40B4-BE49-F238E27FC236}">
                      <a16:creationId xmlns:a16="http://schemas.microsoft.com/office/drawing/2014/main" id="{75C28101-00A3-4E1C-9815-C78D6D924159}"/>
                    </a:ext>
                  </a:extLst>
                </p:cNvPr>
                <p:cNvSpPr/>
                <p:nvPr/>
              </p:nvSpPr>
              <p:spPr>
                <a:xfrm>
                  <a:off x="2572871" y="2640970"/>
                  <a:ext cx="363071" cy="188240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  <p:sp>
              <p:nvSpPr>
                <p:cNvPr id="75" name="Rectangle 74">
                  <a:extLst>
                    <a:ext uri="{FF2B5EF4-FFF2-40B4-BE49-F238E27FC236}">
                      <a16:creationId xmlns:a16="http://schemas.microsoft.com/office/drawing/2014/main" id="{1886D1F7-1C7F-4101-A3E1-46B6B2563D20}"/>
                    </a:ext>
                  </a:extLst>
                </p:cNvPr>
                <p:cNvSpPr/>
                <p:nvPr/>
              </p:nvSpPr>
              <p:spPr>
                <a:xfrm>
                  <a:off x="2209800" y="2837912"/>
                  <a:ext cx="363071" cy="188240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  <p:sp>
              <p:nvSpPr>
                <p:cNvPr id="76" name="Rectangle 75">
                  <a:extLst>
                    <a:ext uri="{FF2B5EF4-FFF2-40B4-BE49-F238E27FC236}">
                      <a16:creationId xmlns:a16="http://schemas.microsoft.com/office/drawing/2014/main" id="{FF5B8075-E251-4039-A00D-853298454B42}"/>
                    </a:ext>
                  </a:extLst>
                </p:cNvPr>
                <p:cNvSpPr/>
                <p:nvPr/>
              </p:nvSpPr>
              <p:spPr>
                <a:xfrm>
                  <a:off x="2572871" y="2837912"/>
                  <a:ext cx="363071" cy="188240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  <p:sp>
              <p:nvSpPr>
                <p:cNvPr id="77" name="Rectangle 76">
                  <a:extLst>
                    <a:ext uri="{FF2B5EF4-FFF2-40B4-BE49-F238E27FC236}">
                      <a16:creationId xmlns:a16="http://schemas.microsoft.com/office/drawing/2014/main" id="{269CE17E-79E4-4818-84A0-4E497F1EE730}"/>
                    </a:ext>
                  </a:extLst>
                </p:cNvPr>
                <p:cNvSpPr/>
                <p:nvPr/>
              </p:nvSpPr>
              <p:spPr>
                <a:xfrm>
                  <a:off x="2209800" y="3027303"/>
                  <a:ext cx="363071" cy="188240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  <p:sp>
              <p:nvSpPr>
                <p:cNvPr id="78" name="Rectangle 77">
                  <a:extLst>
                    <a:ext uri="{FF2B5EF4-FFF2-40B4-BE49-F238E27FC236}">
                      <a16:creationId xmlns:a16="http://schemas.microsoft.com/office/drawing/2014/main" id="{DB8D9C40-E4B5-4B1B-B3E6-FFB5387563D7}"/>
                    </a:ext>
                  </a:extLst>
                </p:cNvPr>
                <p:cNvSpPr/>
                <p:nvPr/>
              </p:nvSpPr>
              <p:spPr>
                <a:xfrm>
                  <a:off x="2572871" y="3027303"/>
                  <a:ext cx="363071" cy="188240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  <p:sp>
              <p:nvSpPr>
                <p:cNvPr id="79" name="Rectangle 78">
                  <a:extLst>
                    <a:ext uri="{FF2B5EF4-FFF2-40B4-BE49-F238E27FC236}">
                      <a16:creationId xmlns:a16="http://schemas.microsoft.com/office/drawing/2014/main" id="{B4988EE0-B5EB-4C20-AA62-FEEF2619DBCF}"/>
                    </a:ext>
                  </a:extLst>
                </p:cNvPr>
                <p:cNvSpPr/>
                <p:nvPr/>
              </p:nvSpPr>
              <p:spPr>
                <a:xfrm>
                  <a:off x="2209800" y="3215543"/>
                  <a:ext cx="363071" cy="188240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  <p:sp>
              <p:nvSpPr>
                <p:cNvPr id="80" name="Rectangle 79">
                  <a:extLst>
                    <a:ext uri="{FF2B5EF4-FFF2-40B4-BE49-F238E27FC236}">
                      <a16:creationId xmlns:a16="http://schemas.microsoft.com/office/drawing/2014/main" id="{B561DA43-19DF-4620-969E-4AEA0B8BD8F7}"/>
                    </a:ext>
                  </a:extLst>
                </p:cNvPr>
                <p:cNvSpPr/>
                <p:nvPr/>
              </p:nvSpPr>
              <p:spPr>
                <a:xfrm>
                  <a:off x="2572871" y="3215543"/>
                  <a:ext cx="363071" cy="188240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  <p:sp>
              <p:nvSpPr>
                <p:cNvPr id="81" name="Rectangle 80">
                  <a:extLst>
                    <a:ext uri="{FF2B5EF4-FFF2-40B4-BE49-F238E27FC236}">
                      <a16:creationId xmlns:a16="http://schemas.microsoft.com/office/drawing/2014/main" id="{288F5673-9E4C-4FC0-B818-25F8F8D286F1}"/>
                    </a:ext>
                  </a:extLst>
                </p:cNvPr>
                <p:cNvSpPr/>
                <p:nvPr/>
              </p:nvSpPr>
              <p:spPr>
                <a:xfrm>
                  <a:off x="2209800" y="3403783"/>
                  <a:ext cx="363071" cy="188240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  <p:sp>
              <p:nvSpPr>
                <p:cNvPr id="82" name="Rectangle 81">
                  <a:extLst>
                    <a:ext uri="{FF2B5EF4-FFF2-40B4-BE49-F238E27FC236}">
                      <a16:creationId xmlns:a16="http://schemas.microsoft.com/office/drawing/2014/main" id="{6605C187-F071-4313-B920-DCD56ABC095A}"/>
                    </a:ext>
                  </a:extLst>
                </p:cNvPr>
                <p:cNvSpPr/>
                <p:nvPr/>
              </p:nvSpPr>
              <p:spPr>
                <a:xfrm>
                  <a:off x="2572871" y="3403783"/>
                  <a:ext cx="363071" cy="188240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  <p:sp>
              <p:nvSpPr>
                <p:cNvPr id="83" name="Rectangle 82">
                  <a:extLst>
                    <a:ext uri="{FF2B5EF4-FFF2-40B4-BE49-F238E27FC236}">
                      <a16:creationId xmlns:a16="http://schemas.microsoft.com/office/drawing/2014/main" id="{8C990B4F-1741-448D-BC52-C9B08A530AE5}"/>
                    </a:ext>
                  </a:extLst>
                </p:cNvPr>
                <p:cNvSpPr/>
                <p:nvPr/>
              </p:nvSpPr>
              <p:spPr>
                <a:xfrm>
                  <a:off x="2209800" y="3592023"/>
                  <a:ext cx="363071" cy="188240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  <p:sp>
              <p:nvSpPr>
                <p:cNvPr id="84" name="Rectangle 83">
                  <a:extLst>
                    <a:ext uri="{FF2B5EF4-FFF2-40B4-BE49-F238E27FC236}">
                      <a16:creationId xmlns:a16="http://schemas.microsoft.com/office/drawing/2014/main" id="{E1BAD381-3848-40BF-8062-1ED8063C7D06}"/>
                    </a:ext>
                  </a:extLst>
                </p:cNvPr>
                <p:cNvSpPr/>
                <p:nvPr/>
              </p:nvSpPr>
              <p:spPr>
                <a:xfrm>
                  <a:off x="2572871" y="3592023"/>
                  <a:ext cx="363071" cy="188240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</p:grp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750A8CEF-BEF0-431C-AA79-89D27A8F043F}"/>
                  </a:ext>
                </a:extLst>
              </p:cNvPr>
              <p:cNvSpPr txBox="1"/>
              <p:nvPr/>
            </p:nvSpPr>
            <p:spPr>
              <a:xfrm>
                <a:off x="1581335" y="2405354"/>
                <a:ext cx="341754" cy="20287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100"/>
                  </a:spcAft>
                </a:pPr>
                <a:r>
                  <a:rPr lang="en-SG" sz="1500" b="1" dirty="0">
                    <a:latin typeface="Calibri Light" panose="020F0302020204030204" pitchFamily="34" charset="0"/>
                  </a:rPr>
                  <a:t>0</a:t>
                </a:r>
              </a:p>
              <a:p>
                <a:pPr algn="ctr">
                  <a:spcAft>
                    <a:spcPts val="100"/>
                  </a:spcAft>
                </a:pPr>
                <a:r>
                  <a:rPr lang="en-SG" sz="1500" b="1" dirty="0">
                    <a:latin typeface="Calibri Light" panose="020F0302020204030204" pitchFamily="34" charset="0"/>
                  </a:rPr>
                  <a:t>1</a:t>
                </a:r>
              </a:p>
              <a:p>
                <a:pPr algn="ctr">
                  <a:spcAft>
                    <a:spcPts val="100"/>
                  </a:spcAft>
                </a:pPr>
                <a:r>
                  <a:rPr lang="en-SG" sz="1500" b="1" dirty="0">
                    <a:latin typeface="Calibri Light" panose="020F0302020204030204" pitchFamily="34" charset="0"/>
                  </a:rPr>
                  <a:t>2</a:t>
                </a:r>
              </a:p>
              <a:p>
                <a:pPr algn="ctr">
                  <a:spcAft>
                    <a:spcPts val="100"/>
                  </a:spcAft>
                </a:pPr>
                <a:r>
                  <a:rPr lang="en-SG" sz="1500" b="1" dirty="0">
                    <a:latin typeface="Calibri Light" panose="020F0302020204030204" pitchFamily="34" charset="0"/>
                  </a:rPr>
                  <a:t>3</a:t>
                </a:r>
              </a:p>
              <a:p>
                <a:pPr algn="ctr">
                  <a:spcAft>
                    <a:spcPts val="100"/>
                  </a:spcAft>
                </a:pPr>
                <a:r>
                  <a:rPr lang="en-SG" sz="1500" b="1" dirty="0">
                    <a:latin typeface="Calibri Light" panose="020F0302020204030204" pitchFamily="34" charset="0"/>
                  </a:rPr>
                  <a:t>4</a:t>
                </a:r>
              </a:p>
              <a:p>
                <a:pPr algn="ctr">
                  <a:spcAft>
                    <a:spcPts val="100"/>
                  </a:spcAft>
                </a:pPr>
                <a:r>
                  <a:rPr lang="en-SG" sz="1500" b="1" dirty="0">
                    <a:latin typeface="Calibri Light" panose="020F0302020204030204" pitchFamily="34" charset="0"/>
                  </a:rPr>
                  <a:t>5</a:t>
                </a:r>
              </a:p>
              <a:p>
                <a:pPr algn="ctr">
                  <a:spcAft>
                    <a:spcPts val="100"/>
                  </a:spcAft>
                </a:pPr>
                <a:r>
                  <a:rPr lang="en-SG" sz="1500" b="1" dirty="0">
                    <a:latin typeface="Calibri Light" panose="020F0302020204030204" pitchFamily="34" charset="0"/>
                  </a:rPr>
                  <a:t>6</a:t>
                </a:r>
              </a:p>
              <a:p>
                <a:pPr algn="ctr">
                  <a:spcAft>
                    <a:spcPts val="100"/>
                  </a:spcAft>
                </a:pPr>
                <a:r>
                  <a:rPr lang="en-SG" sz="1500" b="1" dirty="0">
                    <a:latin typeface="Calibri Light" panose="020F0302020204030204" pitchFamily="34" charset="0"/>
                  </a:rPr>
                  <a:t>7</a:t>
                </a:r>
              </a:p>
            </p:txBody>
          </p:sp>
        </p:grp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F57DCB40-9B47-4925-83C2-02933DA32433}"/>
              </a:ext>
            </a:extLst>
          </p:cNvPr>
          <p:cNvGrpSpPr/>
          <p:nvPr/>
        </p:nvGrpSpPr>
        <p:grpSpPr>
          <a:xfrm>
            <a:off x="4166354" y="1482985"/>
            <a:ext cx="2694861" cy="1656506"/>
            <a:chOff x="4166354" y="1482985"/>
            <a:chExt cx="2694861" cy="1656506"/>
          </a:xfrm>
        </p:grpSpPr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27278921-0218-4818-B7D4-B4725382EF58}"/>
                </a:ext>
              </a:extLst>
            </p:cNvPr>
            <p:cNvSpPr txBox="1"/>
            <p:nvPr/>
          </p:nvSpPr>
          <p:spPr>
            <a:xfrm>
              <a:off x="4166354" y="1482985"/>
              <a:ext cx="269486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000" dirty="0">
                  <a:solidFill>
                    <a:srgbClr val="C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Two-way set associative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1DB022E6-B34E-4F70-AB5D-586AA14D6AA1}"/>
                </a:ext>
              </a:extLst>
            </p:cNvPr>
            <p:cNvGrpSpPr/>
            <p:nvPr/>
          </p:nvGrpSpPr>
          <p:grpSpPr>
            <a:xfrm>
              <a:off x="4302197" y="1802358"/>
              <a:ext cx="2423175" cy="1337133"/>
              <a:chOff x="4391269" y="1802358"/>
              <a:chExt cx="2423175" cy="1337133"/>
            </a:xfrm>
          </p:grpSpPr>
          <p:grpSp>
            <p:nvGrpSpPr>
              <p:cNvPr id="88" name="Group 87">
                <a:extLst>
                  <a:ext uri="{FF2B5EF4-FFF2-40B4-BE49-F238E27FC236}">
                    <a16:creationId xmlns:a16="http://schemas.microsoft.com/office/drawing/2014/main" id="{34345BAF-B7F1-482E-9A4B-7ABE6FDBEB56}"/>
                  </a:ext>
                </a:extLst>
              </p:cNvPr>
              <p:cNvGrpSpPr/>
              <p:nvPr/>
            </p:nvGrpSpPr>
            <p:grpSpPr>
              <a:xfrm>
                <a:off x="4855013" y="2116767"/>
                <a:ext cx="1872102" cy="955786"/>
                <a:chOff x="3908300" y="2296690"/>
                <a:chExt cx="1452284" cy="751810"/>
              </a:xfrm>
            </p:grpSpPr>
            <p:sp>
              <p:nvSpPr>
                <p:cNvPr id="95" name="Rectangle 94">
                  <a:extLst>
                    <a:ext uri="{FF2B5EF4-FFF2-40B4-BE49-F238E27FC236}">
                      <a16:creationId xmlns:a16="http://schemas.microsoft.com/office/drawing/2014/main" id="{0C4A0080-DFE9-4061-AF75-946FCE43D0D4}"/>
                    </a:ext>
                  </a:extLst>
                </p:cNvPr>
                <p:cNvSpPr/>
                <p:nvPr/>
              </p:nvSpPr>
              <p:spPr>
                <a:xfrm>
                  <a:off x="3908300" y="2296690"/>
                  <a:ext cx="363071" cy="188240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  <p:sp>
              <p:nvSpPr>
                <p:cNvPr id="96" name="Rectangle 95">
                  <a:extLst>
                    <a:ext uri="{FF2B5EF4-FFF2-40B4-BE49-F238E27FC236}">
                      <a16:creationId xmlns:a16="http://schemas.microsoft.com/office/drawing/2014/main" id="{9CBE06D1-767D-48FB-BD48-8A247D20A8F2}"/>
                    </a:ext>
                  </a:extLst>
                </p:cNvPr>
                <p:cNvSpPr/>
                <p:nvPr/>
              </p:nvSpPr>
              <p:spPr>
                <a:xfrm>
                  <a:off x="4271371" y="2296690"/>
                  <a:ext cx="363071" cy="188240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  <p:sp>
              <p:nvSpPr>
                <p:cNvPr id="97" name="Rectangle 96">
                  <a:extLst>
                    <a:ext uri="{FF2B5EF4-FFF2-40B4-BE49-F238E27FC236}">
                      <a16:creationId xmlns:a16="http://schemas.microsoft.com/office/drawing/2014/main" id="{BDC6C745-0FDF-41AE-9BBB-A9B20018B36C}"/>
                    </a:ext>
                  </a:extLst>
                </p:cNvPr>
                <p:cNvSpPr/>
                <p:nvPr/>
              </p:nvSpPr>
              <p:spPr>
                <a:xfrm>
                  <a:off x="3908300" y="2484930"/>
                  <a:ext cx="363071" cy="188240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  <p:sp>
              <p:nvSpPr>
                <p:cNvPr id="98" name="Rectangle 97">
                  <a:extLst>
                    <a:ext uri="{FF2B5EF4-FFF2-40B4-BE49-F238E27FC236}">
                      <a16:creationId xmlns:a16="http://schemas.microsoft.com/office/drawing/2014/main" id="{CBC9325B-70C3-4202-A2BD-91A8022C7BD7}"/>
                    </a:ext>
                  </a:extLst>
                </p:cNvPr>
                <p:cNvSpPr/>
                <p:nvPr/>
              </p:nvSpPr>
              <p:spPr>
                <a:xfrm>
                  <a:off x="4271371" y="2484930"/>
                  <a:ext cx="363071" cy="188240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  <p:sp>
              <p:nvSpPr>
                <p:cNvPr id="99" name="Rectangle 98">
                  <a:extLst>
                    <a:ext uri="{FF2B5EF4-FFF2-40B4-BE49-F238E27FC236}">
                      <a16:creationId xmlns:a16="http://schemas.microsoft.com/office/drawing/2014/main" id="{BD4DBC6A-C42B-499C-A89B-8A8C2283E1F6}"/>
                    </a:ext>
                  </a:extLst>
                </p:cNvPr>
                <p:cNvSpPr/>
                <p:nvPr/>
              </p:nvSpPr>
              <p:spPr>
                <a:xfrm>
                  <a:off x="3908300" y="2673170"/>
                  <a:ext cx="363071" cy="188240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  <p:sp>
              <p:nvSpPr>
                <p:cNvPr id="100" name="Rectangle 99">
                  <a:extLst>
                    <a:ext uri="{FF2B5EF4-FFF2-40B4-BE49-F238E27FC236}">
                      <a16:creationId xmlns:a16="http://schemas.microsoft.com/office/drawing/2014/main" id="{2C37F029-C99A-4796-87A1-040781DEFEF7}"/>
                    </a:ext>
                  </a:extLst>
                </p:cNvPr>
                <p:cNvSpPr/>
                <p:nvPr/>
              </p:nvSpPr>
              <p:spPr>
                <a:xfrm>
                  <a:off x="4271371" y="2673170"/>
                  <a:ext cx="363071" cy="188240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  <p:sp>
              <p:nvSpPr>
                <p:cNvPr id="101" name="Rectangle 100">
                  <a:extLst>
                    <a:ext uri="{FF2B5EF4-FFF2-40B4-BE49-F238E27FC236}">
                      <a16:creationId xmlns:a16="http://schemas.microsoft.com/office/drawing/2014/main" id="{EC500F6F-65E3-42BC-8963-532868E6FF28}"/>
                    </a:ext>
                  </a:extLst>
                </p:cNvPr>
                <p:cNvSpPr/>
                <p:nvPr/>
              </p:nvSpPr>
              <p:spPr>
                <a:xfrm>
                  <a:off x="3908300" y="2860260"/>
                  <a:ext cx="363071" cy="188240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  <p:sp>
              <p:nvSpPr>
                <p:cNvPr id="102" name="Rectangle 101">
                  <a:extLst>
                    <a:ext uri="{FF2B5EF4-FFF2-40B4-BE49-F238E27FC236}">
                      <a16:creationId xmlns:a16="http://schemas.microsoft.com/office/drawing/2014/main" id="{D48D9D7F-AD3E-44BA-A661-A3F3E9FB1507}"/>
                    </a:ext>
                  </a:extLst>
                </p:cNvPr>
                <p:cNvSpPr/>
                <p:nvPr/>
              </p:nvSpPr>
              <p:spPr>
                <a:xfrm>
                  <a:off x="4271371" y="2860260"/>
                  <a:ext cx="363071" cy="188240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  <p:sp>
              <p:nvSpPr>
                <p:cNvPr id="103" name="Rectangle 102">
                  <a:extLst>
                    <a:ext uri="{FF2B5EF4-FFF2-40B4-BE49-F238E27FC236}">
                      <a16:creationId xmlns:a16="http://schemas.microsoft.com/office/drawing/2014/main" id="{4801FF71-9653-4BDB-9D2B-62E1039B0314}"/>
                    </a:ext>
                  </a:extLst>
                </p:cNvPr>
                <p:cNvSpPr/>
                <p:nvPr/>
              </p:nvSpPr>
              <p:spPr>
                <a:xfrm>
                  <a:off x="4634442" y="2296690"/>
                  <a:ext cx="363071" cy="188240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 sz="2800"/>
                </a:p>
              </p:txBody>
            </p:sp>
            <p:sp>
              <p:nvSpPr>
                <p:cNvPr id="104" name="Rectangle 103">
                  <a:extLst>
                    <a:ext uri="{FF2B5EF4-FFF2-40B4-BE49-F238E27FC236}">
                      <a16:creationId xmlns:a16="http://schemas.microsoft.com/office/drawing/2014/main" id="{F6A59EBF-3351-40AE-8FEA-8B68387C266B}"/>
                    </a:ext>
                  </a:extLst>
                </p:cNvPr>
                <p:cNvSpPr/>
                <p:nvPr/>
              </p:nvSpPr>
              <p:spPr>
                <a:xfrm>
                  <a:off x="4997513" y="2296690"/>
                  <a:ext cx="363071" cy="188240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  <p:sp>
              <p:nvSpPr>
                <p:cNvPr id="105" name="Rectangle 104">
                  <a:extLst>
                    <a:ext uri="{FF2B5EF4-FFF2-40B4-BE49-F238E27FC236}">
                      <a16:creationId xmlns:a16="http://schemas.microsoft.com/office/drawing/2014/main" id="{370FD972-60B8-49E2-87FB-5EDB6E4BD123}"/>
                    </a:ext>
                  </a:extLst>
                </p:cNvPr>
                <p:cNvSpPr/>
                <p:nvPr/>
              </p:nvSpPr>
              <p:spPr>
                <a:xfrm>
                  <a:off x="4634442" y="2484930"/>
                  <a:ext cx="363071" cy="188240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  <p:sp>
              <p:nvSpPr>
                <p:cNvPr id="145" name="Rectangle 144">
                  <a:extLst>
                    <a:ext uri="{FF2B5EF4-FFF2-40B4-BE49-F238E27FC236}">
                      <a16:creationId xmlns:a16="http://schemas.microsoft.com/office/drawing/2014/main" id="{869C87B9-3951-480D-9E50-1528A62A0944}"/>
                    </a:ext>
                  </a:extLst>
                </p:cNvPr>
                <p:cNvSpPr/>
                <p:nvPr/>
              </p:nvSpPr>
              <p:spPr>
                <a:xfrm>
                  <a:off x="4997513" y="2484930"/>
                  <a:ext cx="363071" cy="188240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  <p:sp>
              <p:nvSpPr>
                <p:cNvPr id="146" name="Rectangle 145">
                  <a:extLst>
                    <a:ext uri="{FF2B5EF4-FFF2-40B4-BE49-F238E27FC236}">
                      <a16:creationId xmlns:a16="http://schemas.microsoft.com/office/drawing/2014/main" id="{BCDC2DE0-F00D-4CF0-BDD0-8C1D8EAB2E5B}"/>
                    </a:ext>
                  </a:extLst>
                </p:cNvPr>
                <p:cNvSpPr/>
                <p:nvPr/>
              </p:nvSpPr>
              <p:spPr>
                <a:xfrm>
                  <a:off x="4634442" y="2673170"/>
                  <a:ext cx="363071" cy="188240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  <p:sp>
              <p:nvSpPr>
                <p:cNvPr id="147" name="Rectangle 146">
                  <a:extLst>
                    <a:ext uri="{FF2B5EF4-FFF2-40B4-BE49-F238E27FC236}">
                      <a16:creationId xmlns:a16="http://schemas.microsoft.com/office/drawing/2014/main" id="{3063C097-66A7-4C1C-8B8D-44A5ABB8DCF1}"/>
                    </a:ext>
                  </a:extLst>
                </p:cNvPr>
                <p:cNvSpPr/>
                <p:nvPr/>
              </p:nvSpPr>
              <p:spPr>
                <a:xfrm>
                  <a:off x="4997513" y="2673170"/>
                  <a:ext cx="363071" cy="188240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  <p:sp>
              <p:nvSpPr>
                <p:cNvPr id="148" name="Rectangle 147">
                  <a:extLst>
                    <a:ext uri="{FF2B5EF4-FFF2-40B4-BE49-F238E27FC236}">
                      <a16:creationId xmlns:a16="http://schemas.microsoft.com/office/drawing/2014/main" id="{F83DFFBB-7DE5-40EA-99BA-38410C53DE2F}"/>
                    </a:ext>
                  </a:extLst>
                </p:cNvPr>
                <p:cNvSpPr/>
                <p:nvPr/>
              </p:nvSpPr>
              <p:spPr>
                <a:xfrm>
                  <a:off x="4634442" y="2860260"/>
                  <a:ext cx="363071" cy="188240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  <p:sp>
              <p:nvSpPr>
                <p:cNvPr id="149" name="Rectangle 148">
                  <a:extLst>
                    <a:ext uri="{FF2B5EF4-FFF2-40B4-BE49-F238E27FC236}">
                      <a16:creationId xmlns:a16="http://schemas.microsoft.com/office/drawing/2014/main" id="{0F5C06C2-9EC3-48A2-A99D-010824F01F81}"/>
                    </a:ext>
                  </a:extLst>
                </p:cNvPr>
                <p:cNvSpPr/>
                <p:nvPr/>
              </p:nvSpPr>
              <p:spPr>
                <a:xfrm>
                  <a:off x="4997513" y="2860260"/>
                  <a:ext cx="363071" cy="188240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</p:grp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FC6FDC77-C3D3-4CED-9142-C0ABBB3EF125}"/>
                  </a:ext>
                </a:extLst>
              </p:cNvPr>
              <p:cNvSpPr txBox="1"/>
              <p:nvPr/>
            </p:nvSpPr>
            <p:spPr>
              <a:xfrm>
                <a:off x="4500409" y="2085356"/>
                <a:ext cx="291475" cy="10541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100"/>
                  </a:spcAft>
                </a:pPr>
                <a:r>
                  <a:rPr lang="en-SG" sz="1500" b="1" dirty="0">
                    <a:latin typeface="Calibri Light" panose="020F0302020204030204" pitchFamily="34" charset="0"/>
                  </a:rPr>
                  <a:t>0</a:t>
                </a:r>
              </a:p>
              <a:p>
                <a:pPr algn="ctr">
                  <a:spcAft>
                    <a:spcPts val="100"/>
                  </a:spcAft>
                </a:pPr>
                <a:r>
                  <a:rPr lang="en-SG" sz="1500" b="1" dirty="0">
                    <a:latin typeface="Calibri Light" panose="020F0302020204030204" pitchFamily="34" charset="0"/>
                  </a:rPr>
                  <a:t>1</a:t>
                </a:r>
              </a:p>
              <a:p>
                <a:pPr algn="ctr">
                  <a:spcAft>
                    <a:spcPts val="100"/>
                  </a:spcAft>
                </a:pPr>
                <a:r>
                  <a:rPr lang="en-SG" sz="1500" b="1" dirty="0">
                    <a:latin typeface="Calibri Light" panose="020F0302020204030204" pitchFamily="34" charset="0"/>
                  </a:rPr>
                  <a:t>2</a:t>
                </a:r>
              </a:p>
              <a:p>
                <a:pPr algn="ctr">
                  <a:spcAft>
                    <a:spcPts val="100"/>
                  </a:spcAft>
                </a:pPr>
                <a:r>
                  <a:rPr lang="en-SG" sz="1500" b="1" dirty="0">
                    <a:latin typeface="Calibri Light" panose="020F0302020204030204" pitchFamily="34" charset="0"/>
                  </a:rPr>
                  <a:t>3</a:t>
                </a:r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D012E34B-F673-4163-A559-6238B3434362}"/>
                  </a:ext>
                </a:extLst>
              </p:cNvPr>
              <p:cNvSpPr txBox="1"/>
              <p:nvPr/>
            </p:nvSpPr>
            <p:spPr>
              <a:xfrm>
                <a:off x="4391269" y="1802358"/>
                <a:ext cx="46294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SG" sz="1600" b="1" dirty="0">
                    <a:latin typeface="Calibri Light" panose="020F0302020204030204" pitchFamily="34" charset="0"/>
                  </a:rPr>
                  <a:t>Set</a:t>
                </a:r>
              </a:p>
            </p:txBody>
          </p: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8BAB61AD-677D-4309-A1A2-9AD25ED8ECF2}"/>
                  </a:ext>
                </a:extLst>
              </p:cNvPr>
              <p:cNvSpPr txBox="1"/>
              <p:nvPr/>
            </p:nvSpPr>
            <p:spPr>
              <a:xfrm>
                <a:off x="4790583" y="1810890"/>
                <a:ext cx="50718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SG" sz="1600" b="1" dirty="0">
                    <a:latin typeface="Calibri Light" panose="020F0302020204030204" pitchFamily="34" charset="0"/>
                  </a:rPr>
                  <a:t>Tag</a:t>
                </a:r>
              </a:p>
            </p:txBody>
          </p: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ED4DFC3E-BFAA-4F30-911D-21CB7A19434C}"/>
                  </a:ext>
                </a:extLst>
              </p:cNvPr>
              <p:cNvSpPr txBox="1"/>
              <p:nvPr/>
            </p:nvSpPr>
            <p:spPr>
              <a:xfrm>
                <a:off x="5237405" y="1810890"/>
                <a:ext cx="61086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SG" sz="1600" b="1" dirty="0">
                    <a:latin typeface="Calibri Light" panose="020F0302020204030204" pitchFamily="34" charset="0"/>
                  </a:rPr>
                  <a:t>Data</a:t>
                </a:r>
              </a:p>
            </p:txBody>
          </p: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CECE723E-26E3-4D8A-82DD-9B0D8298B46F}"/>
                  </a:ext>
                </a:extLst>
              </p:cNvPr>
              <p:cNvSpPr txBox="1"/>
              <p:nvPr/>
            </p:nvSpPr>
            <p:spPr>
              <a:xfrm>
                <a:off x="5783864" y="1810890"/>
                <a:ext cx="49812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SG" sz="1600" b="1" dirty="0">
                    <a:latin typeface="Calibri Light" panose="020F0302020204030204" pitchFamily="34" charset="0"/>
                  </a:rPr>
                  <a:t>Tag</a:t>
                </a:r>
              </a:p>
            </p:txBody>
          </p:sp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00EDED80-43E8-4634-AE48-F7BB309C8BCA}"/>
                  </a:ext>
                </a:extLst>
              </p:cNvPr>
              <p:cNvSpPr txBox="1"/>
              <p:nvPr/>
            </p:nvSpPr>
            <p:spPr>
              <a:xfrm>
                <a:off x="6159727" y="1810890"/>
                <a:ext cx="65471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SG" sz="1600" b="1" dirty="0">
                    <a:latin typeface="Calibri Light" panose="020F0302020204030204" pitchFamily="34" charset="0"/>
                  </a:rPr>
                  <a:t>Data</a:t>
                </a:r>
              </a:p>
            </p:txBody>
          </p:sp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0F581C31-335F-497C-A113-A3A0BC8DC0B8}"/>
              </a:ext>
            </a:extLst>
          </p:cNvPr>
          <p:cNvGrpSpPr/>
          <p:nvPr/>
        </p:nvGrpSpPr>
        <p:grpSpPr>
          <a:xfrm>
            <a:off x="3652279" y="3486933"/>
            <a:ext cx="4365268" cy="1159404"/>
            <a:chOff x="3678210" y="3558122"/>
            <a:chExt cx="4365268" cy="1159404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507723E8-35F9-4A76-9260-C783D336AD21}"/>
                </a:ext>
              </a:extLst>
            </p:cNvPr>
            <p:cNvGrpSpPr/>
            <p:nvPr/>
          </p:nvGrpSpPr>
          <p:grpSpPr>
            <a:xfrm>
              <a:off x="3678210" y="3903380"/>
              <a:ext cx="4365268" cy="814146"/>
              <a:chOff x="3678210" y="3903380"/>
              <a:chExt cx="4365268" cy="814146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36DA70DC-9B1B-4605-8013-71533FDEF084}"/>
                  </a:ext>
                </a:extLst>
              </p:cNvPr>
              <p:cNvGrpSpPr/>
              <p:nvPr/>
            </p:nvGrpSpPr>
            <p:grpSpPr>
              <a:xfrm>
                <a:off x="4257003" y="4197328"/>
                <a:ext cx="3720946" cy="473574"/>
                <a:chOff x="4257003" y="4197328"/>
                <a:chExt cx="3720946" cy="473574"/>
              </a:xfrm>
            </p:grpSpPr>
            <p:sp>
              <p:nvSpPr>
                <p:cNvPr id="153" name="Rectangle 152">
                  <a:extLst>
                    <a:ext uri="{FF2B5EF4-FFF2-40B4-BE49-F238E27FC236}">
                      <a16:creationId xmlns:a16="http://schemas.microsoft.com/office/drawing/2014/main" id="{D496B8B4-6FAA-4DAA-9081-BC4FFD625A42}"/>
                    </a:ext>
                  </a:extLst>
                </p:cNvPr>
                <p:cNvSpPr/>
                <p:nvPr/>
              </p:nvSpPr>
              <p:spPr>
                <a:xfrm>
                  <a:off x="4257003" y="4197328"/>
                  <a:ext cx="466005" cy="236787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  <p:sp>
              <p:nvSpPr>
                <p:cNvPr id="154" name="Rectangle 153">
                  <a:extLst>
                    <a:ext uri="{FF2B5EF4-FFF2-40B4-BE49-F238E27FC236}">
                      <a16:creationId xmlns:a16="http://schemas.microsoft.com/office/drawing/2014/main" id="{B7C125A2-BF39-4F23-B6F3-6F433D6BE327}"/>
                    </a:ext>
                  </a:extLst>
                </p:cNvPr>
                <p:cNvSpPr/>
                <p:nvPr/>
              </p:nvSpPr>
              <p:spPr>
                <a:xfrm>
                  <a:off x="4723008" y="4197328"/>
                  <a:ext cx="466005" cy="236787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  <p:sp>
              <p:nvSpPr>
                <p:cNvPr id="155" name="Rectangle 154">
                  <a:extLst>
                    <a:ext uri="{FF2B5EF4-FFF2-40B4-BE49-F238E27FC236}">
                      <a16:creationId xmlns:a16="http://schemas.microsoft.com/office/drawing/2014/main" id="{20DDFF1E-FD8D-462B-BF4C-D1B9BC8C71BF}"/>
                    </a:ext>
                  </a:extLst>
                </p:cNvPr>
                <p:cNvSpPr/>
                <p:nvPr/>
              </p:nvSpPr>
              <p:spPr>
                <a:xfrm>
                  <a:off x="4257003" y="4434115"/>
                  <a:ext cx="466005" cy="236787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 sz="2800"/>
                </a:p>
              </p:txBody>
            </p:sp>
            <p:sp>
              <p:nvSpPr>
                <p:cNvPr id="156" name="Rectangle 155">
                  <a:extLst>
                    <a:ext uri="{FF2B5EF4-FFF2-40B4-BE49-F238E27FC236}">
                      <a16:creationId xmlns:a16="http://schemas.microsoft.com/office/drawing/2014/main" id="{566F64F3-1414-4A4D-A48E-85B5259617E1}"/>
                    </a:ext>
                  </a:extLst>
                </p:cNvPr>
                <p:cNvSpPr/>
                <p:nvPr/>
              </p:nvSpPr>
              <p:spPr>
                <a:xfrm>
                  <a:off x="4723008" y="4434115"/>
                  <a:ext cx="466005" cy="236787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  <p:sp>
              <p:nvSpPr>
                <p:cNvPr id="157" name="Rectangle 156">
                  <a:extLst>
                    <a:ext uri="{FF2B5EF4-FFF2-40B4-BE49-F238E27FC236}">
                      <a16:creationId xmlns:a16="http://schemas.microsoft.com/office/drawing/2014/main" id="{7C34C31F-5D96-405C-9F3C-44F3783AF55E}"/>
                    </a:ext>
                  </a:extLst>
                </p:cNvPr>
                <p:cNvSpPr/>
                <p:nvPr/>
              </p:nvSpPr>
              <p:spPr>
                <a:xfrm>
                  <a:off x="6113928" y="4197328"/>
                  <a:ext cx="466005" cy="236787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  <p:sp>
              <p:nvSpPr>
                <p:cNvPr id="158" name="Rectangle 157">
                  <a:extLst>
                    <a:ext uri="{FF2B5EF4-FFF2-40B4-BE49-F238E27FC236}">
                      <a16:creationId xmlns:a16="http://schemas.microsoft.com/office/drawing/2014/main" id="{E80E73BC-01D3-470A-B228-77FFD997797E}"/>
                    </a:ext>
                  </a:extLst>
                </p:cNvPr>
                <p:cNvSpPr/>
                <p:nvPr/>
              </p:nvSpPr>
              <p:spPr>
                <a:xfrm>
                  <a:off x="6579933" y="4197328"/>
                  <a:ext cx="466005" cy="236787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  <p:sp>
              <p:nvSpPr>
                <p:cNvPr id="159" name="Rectangle 158">
                  <a:extLst>
                    <a:ext uri="{FF2B5EF4-FFF2-40B4-BE49-F238E27FC236}">
                      <a16:creationId xmlns:a16="http://schemas.microsoft.com/office/drawing/2014/main" id="{7862B81A-28D3-4909-A508-DF60B199CA28}"/>
                    </a:ext>
                  </a:extLst>
                </p:cNvPr>
                <p:cNvSpPr/>
                <p:nvPr/>
              </p:nvSpPr>
              <p:spPr>
                <a:xfrm>
                  <a:off x="6113928" y="4434115"/>
                  <a:ext cx="466005" cy="236787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  <p:sp>
              <p:nvSpPr>
                <p:cNvPr id="160" name="Rectangle 159">
                  <a:extLst>
                    <a:ext uri="{FF2B5EF4-FFF2-40B4-BE49-F238E27FC236}">
                      <a16:creationId xmlns:a16="http://schemas.microsoft.com/office/drawing/2014/main" id="{5BEA2930-EA09-4713-A342-D8767434E2EB}"/>
                    </a:ext>
                  </a:extLst>
                </p:cNvPr>
                <p:cNvSpPr/>
                <p:nvPr/>
              </p:nvSpPr>
              <p:spPr>
                <a:xfrm>
                  <a:off x="6579933" y="4434115"/>
                  <a:ext cx="466005" cy="236787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  <p:sp>
              <p:nvSpPr>
                <p:cNvPr id="161" name="Rectangle 160">
                  <a:extLst>
                    <a:ext uri="{FF2B5EF4-FFF2-40B4-BE49-F238E27FC236}">
                      <a16:creationId xmlns:a16="http://schemas.microsoft.com/office/drawing/2014/main" id="{AF7E3071-A6F8-4AE2-AADE-0ED49277E205}"/>
                    </a:ext>
                  </a:extLst>
                </p:cNvPr>
                <p:cNvSpPr/>
                <p:nvPr/>
              </p:nvSpPr>
              <p:spPr>
                <a:xfrm>
                  <a:off x="5189014" y="4197328"/>
                  <a:ext cx="466005" cy="236787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  <p:sp>
              <p:nvSpPr>
                <p:cNvPr id="162" name="Rectangle 161">
                  <a:extLst>
                    <a:ext uri="{FF2B5EF4-FFF2-40B4-BE49-F238E27FC236}">
                      <a16:creationId xmlns:a16="http://schemas.microsoft.com/office/drawing/2014/main" id="{4CA65740-C74B-4DB3-AA64-7972C941F9D5}"/>
                    </a:ext>
                  </a:extLst>
                </p:cNvPr>
                <p:cNvSpPr/>
                <p:nvPr/>
              </p:nvSpPr>
              <p:spPr>
                <a:xfrm>
                  <a:off x="5655019" y="4197328"/>
                  <a:ext cx="466005" cy="236787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  <p:sp>
              <p:nvSpPr>
                <p:cNvPr id="163" name="Rectangle 162">
                  <a:extLst>
                    <a:ext uri="{FF2B5EF4-FFF2-40B4-BE49-F238E27FC236}">
                      <a16:creationId xmlns:a16="http://schemas.microsoft.com/office/drawing/2014/main" id="{A3DF61B5-B47E-417D-A125-8E5E311C336D}"/>
                    </a:ext>
                  </a:extLst>
                </p:cNvPr>
                <p:cNvSpPr/>
                <p:nvPr/>
              </p:nvSpPr>
              <p:spPr>
                <a:xfrm>
                  <a:off x="5189014" y="4434115"/>
                  <a:ext cx="466005" cy="236787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  <p:sp>
              <p:nvSpPr>
                <p:cNvPr id="164" name="Rectangle 163">
                  <a:extLst>
                    <a:ext uri="{FF2B5EF4-FFF2-40B4-BE49-F238E27FC236}">
                      <a16:creationId xmlns:a16="http://schemas.microsoft.com/office/drawing/2014/main" id="{21BA6B0A-17C9-4A47-B1D1-215C1B12E95C}"/>
                    </a:ext>
                  </a:extLst>
                </p:cNvPr>
                <p:cNvSpPr/>
                <p:nvPr/>
              </p:nvSpPr>
              <p:spPr>
                <a:xfrm>
                  <a:off x="5655019" y="4434115"/>
                  <a:ext cx="466005" cy="236787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  <p:sp>
              <p:nvSpPr>
                <p:cNvPr id="165" name="Rectangle 164">
                  <a:extLst>
                    <a:ext uri="{FF2B5EF4-FFF2-40B4-BE49-F238E27FC236}">
                      <a16:creationId xmlns:a16="http://schemas.microsoft.com/office/drawing/2014/main" id="{4B21B19D-99B2-4328-BA0B-031014B3D3EE}"/>
                    </a:ext>
                  </a:extLst>
                </p:cNvPr>
                <p:cNvSpPr/>
                <p:nvPr/>
              </p:nvSpPr>
              <p:spPr>
                <a:xfrm>
                  <a:off x="7045938" y="4197328"/>
                  <a:ext cx="466005" cy="236787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  <p:sp>
              <p:nvSpPr>
                <p:cNvPr id="166" name="Rectangle 165">
                  <a:extLst>
                    <a:ext uri="{FF2B5EF4-FFF2-40B4-BE49-F238E27FC236}">
                      <a16:creationId xmlns:a16="http://schemas.microsoft.com/office/drawing/2014/main" id="{7A50738B-9177-4CF5-AC92-4D0C9E7D6217}"/>
                    </a:ext>
                  </a:extLst>
                </p:cNvPr>
                <p:cNvSpPr/>
                <p:nvPr/>
              </p:nvSpPr>
              <p:spPr>
                <a:xfrm>
                  <a:off x="7511944" y="4197328"/>
                  <a:ext cx="466005" cy="236787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  <p:sp>
              <p:nvSpPr>
                <p:cNvPr id="167" name="Rectangle 166">
                  <a:extLst>
                    <a:ext uri="{FF2B5EF4-FFF2-40B4-BE49-F238E27FC236}">
                      <a16:creationId xmlns:a16="http://schemas.microsoft.com/office/drawing/2014/main" id="{43CCFB96-D70D-48DB-B965-B859EBCD40CE}"/>
                    </a:ext>
                  </a:extLst>
                </p:cNvPr>
                <p:cNvSpPr/>
                <p:nvPr/>
              </p:nvSpPr>
              <p:spPr>
                <a:xfrm>
                  <a:off x="7045938" y="4434115"/>
                  <a:ext cx="466005" cy="236787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  <p:sp>
              <p:nvSpPr>
                <p:cNvPr id="168" name="Rectangle 167">
                  <a:extLst>
                    <a:ext uri="{FF2B5EF4-FFF2-40B4-BE49-F238E27FC236}">
                      <a16:creationId xmlns:a16="http://schemas.microsoft.com/office/drawing/2014/main" id="{EFB45670-6061-454A-9DF1-2311CB0CE644}"/>
                    </a:ext>
                  </a:extLst>
                </p:cNvPr>
                <p:cNvSpPr/>
                <p:nvPr/>
              </p:nvSpPr>
              <p:spPr>
                <a:xfrm>
                  <a:off x="7511944" y="4434115"/>
                  <a:ext cx="466005" cy="236787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</p:grpSp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1278B45A-2943-475D-A5A3-1B1CA4993CB9}"/>
                  </a:ext>
                </a:extLst>
              </p:cNvPr>
              <p:cNvSpPr txBox="1"/>
              <p:nvPr/>
            </p:nvSpPr>
            <p:spPr>
              <a:xfrm>
                <a:off x="3894352" y="4150704"/>
                <a:ext cx="291475" cy="5668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100"/>
                  </a:spcAft>
                </a:pPr>
                <a:r>
                  <a:rPr lang="en-SG" sz="1500" b="1" dirty="0">
                    <a:latin typeface="Calibri Light" panose="020F0302020204030204" pitchFamily="34" charset="0"/>
                  </a:rPr>
                  <a:t>0</a:t>
                </a:r>
              </a:p>
              <a:p>
                <a:pPr algn="ctr">
                  <a:spcAft>
                    <a:spcPts val="100"/>
                  </a:spcAft>
                </a:pPr>
                <a:r>
                  <a:rPr lang="en-SG" sz="1500" b="1" dirty="0">
                    <a:latin typeface="Calibri Light" panose="020F0302020204030204" pitchFamily="34" charset="0"/>
                  </a:rPr>
                  <a:t>1</a:t>
                </a:r>
              </a:p>
            </p:txBody>
          </p:sp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B28E8DC0-959E-46CE-B1A1-ADBAE782AFD5}"/>
                  </a:ext>
                </a:extLst>
              </p:cNvPr>
              <p:cNvSpPr txBox="1"/>
              <p:nvPr/>
            </p:nvSpPr>
            <p:spPr>
              <a:xfrm>
                <a:off x="3678210" y="3903380"/>
                <a:ext cx="72826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SG" sz="1600" b="1" dirty="0">
                    <a:latin typeface="Calibri Light" panose="020F0302020204030204" pitchFamily="34" charset="0"/>
                  </a:rPr>
                  <a:t>Set</a:t>
                </a:r>
              </a:p>
            </p:txBody>
          </p:sp>
          <p:sp>
            <p:nvSpPr>
              <p:cNvPr id="171" name="TextBox 170">
                <a:extLst>
                  <a:ext uri="{FF2B5EF4-FFF2-40B4-BE49-F238E27FC236}">
                    <a16:creationId xmlns:a16="http://schemas.microsoft.com/office/drawing/2014/main" id="{9F64A29A-CFA5-4284-9E6C-E82099C4EDBB}"/>
                  </a:ext>
                </a:extLst>
              </p:cNvPr>
              <p:cNvSpPr txBox="1"/>
              <p:nvPr/>
            </p:nvSpPr>
            <p:spPr>
              <a:xfrm>
                <a:off x="4215564" y="3903380"/>
                <a:ext cx="46541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SG" sz="1600" b="1" dirty="0">
                    <a:latin typeface="Calibri Light" panose="020F0302020204030204" pitchFamily="34" charset="0"/>
                  </a:rPr>
                  <a:t>Tag</a:t>
                </a:r>
              </a:p>
            </p:txBody>
          </p:sp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3A2941B5-9496-451B-BBC4-2A54C974EFE6}"/>
                  </a:ext>
                </a:extLst>
              </p:cNvPr>
              <p:cNvSpPr txBox="1"/>
              <p:nvPr/>
            </p:nvSpPr>
            <p:spPr>
              <a:xfrm>
                <a:off x="4619918" y="3903380"/>
                <a:ext cx="61786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SG" sz="1600" b="1" dirty="0">
                    <a:latin typeface="Calibri Light" panose="020F0302020204030204" pitchFamily="34" charset="0"/>
                  </a:rPr>
                  <a:t>Data</a:t>
                </a:r>
              </a:p>
            </p:txBody>
          </p:sp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A33BB7CD-D48C-4487-A78C-405C5142E893}"/>
                  </a:ext>
                </a:extLst>
              </p:cNvPr>
              <p:cNvSpPr txBox="1"/>
              <p:nvPr/>
            </p:nvSpPr>
            <p:spPr>
              <a:xfrm>
                <a:off x="5169107" y="3903380"/>
                <a:ext cx="50833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SG" sz="1600" b="1" dirty="0">
                    <a:latin typeface="Calibri Light" panose="020F0302020204030204" pitchFamily="34" charset="0"/>
                  </a:rPr>
                  <a:t>Tag</a:t>
                </a:r>
              </a:p>
            </p:txBody>
          </p:sp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E5C412E9-57C1-4E97-97AA-EC7A82166EBC}"/>
                  </a:ext>
                </a:extLst>
              </p:cNvPr>
              <p:cNvSpPr txBox="1"/>
              <p:nvPr/>
            </p:nvSpPr>
            <p:spPr>
              <a:xfrm>
                <a:off x="5550551" y="3903380"/>
                <a:ext cx="65471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SG" sz="1600" b="1" dirty="0">
                    <a:latin typeface="Calibri Light" panose="020F0302020204030204" pitchFamily="34" charset="0"/>
                  </a:rPr>
                  <a:t>Data</a:t>
                </a:r>
              </a:p>
            </p:txBody>
          </p:sp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06B0DEE3-1326-4817-A6F4-E678DD88E65A}"/>
                  </a:ext>
                </a:extLst>
              </p:cNvPr>
              <p:cNvSpPr txBox="1"/>
              <p:nvPr/>
            </p:nvSpPr>
            <p:spPr>
              <a:xfrm>
                <a:off x="6062681" y="3903380"/>
                <a:ext cx="52492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SG" sz="1600" b="1" dirty="0">
                    <a:latin typeface="Calibri Light" panose="020F0302020204030204" pitchFamily="34" charset="0"/>
                  </a:rPr>
                  <a:t>Tag</a:t>
                </a:r>
              </a:p>
            </p:txBody>
          </p:sp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3393DBBD-0BB4-4C47-BCBA-F7E14EB9CBAB}"/>
                  </a:ext>
                </a:extLst>
              </p:cNvPr>
              <p:cNvSpPr txBox="1"/>
              <p:nvPr/>
            </p:nvSpPr>
            <p:spPr>
              <a:xfrm>
                <a:off x="6517268" y="3903380"/>
                <a:ext cx="56685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SG" sz="1600" b="1" dirty="0">
                    <a:latin typeface="Calibri Light" panose="020F0302020204030204" pitchFamily="34" charset="0"/>
                  </a:rPr>
                  <a:t>Data</a:t>
                </a:r>
              </a:p>
            </p:txBody>
          </p:sp>
          <p:sp>
            <p:nvSpPr>
              <p:cNvPr id="177" name="TextBox 176">
                <a:extLst>
                  <a:ext uri="{FF2B5EF4-FFF2-40B4-BE49-F238E27FC236}">
                    <a16:creationId xmlns:a16="http://schemas.microsoft.com/office/drawing/2014/main" id="{E68B45FD-B58B-4CFC-AFE4-0D2F7E9F5C9C}"/>
                  </a:ext>
                </a:extLst>
              </p:cNvPr>
              <p:cNvSpPr txBox="1"/>
              <p:nvPr/>
            </p:nvSpPr>
            <p:spPr>
              <a:xfrm>
                <a:off x="7004851" y="3903380"/>
                <a:ext cx="49999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SG" sz="1600" b="1" dirty="0">
                    <a:latin typeface="Calibri Light" panose="020F0302020204030204" pitchFamily="34" charset="0"/>
                  </a:rPr>
                  <a:t>Tag</a:t>
                </a:r>
              </a:p>
            </p:txBody>
          </p:sp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524F1F0E-C86D-4D65-81C8-4EAD6884FD46}"/>
                  </a:ext>
                </a:extLst>
              </p:cNvPr>
              <p:cNvSpPr txBox="1"/>
              <p:nvPr/>
            </p:nvSpPr>
            <p:spPr>
              <a:xfrm>
                <a:off x="7388761" y="3903380"/>
                <a:ext cx="65471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SG" sz="1600" b="1" dirty="0">
                    <a:latin typeface="Calibri Light" panose="020F0302020204030204" pitchFamily="34" charset="0"/>
                  </a:rPr>
                  <a:t>Data</a:t>
                </a:r>
              </a:p>
            </p:txBody>
          </p:sp>
        </p:grp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2B38B5F7-D352-4FFC-BA58-9C6E06A57986}"/>
                </a:ext>
              </a:extLst>
            </p:cNvPr>
            <p:cNvSpPr txBox="1"/>
            <p:nvPr/>
          </p:nvSpPr>
          <p:spPr>
            <a:xfrm>
              <a:off x="4457690" y="3558122"/>
              <a:ext cx="280630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000" dirty="0">
                  <a:solidFill>
                    <a:srgbClr val="C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Four-way set associative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70921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11. Summary: Cache Framework (1/2)</a:t>
            </a:r>
            <a:endParaRPr lang="en-GB" sz="3600" b="1" dirty="0">
              <a:solidFill>
                <a:srgbClr val="0000FF"/>
              </a:solidFill>
            </a:endParaRP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#23: Cache II: Set/Fully Associative Cache</a:t>
            </a:r>
            <a:endParaRPr lang="en-US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41" name="Slide Number Placeholder 6">
            <a:extLst>
              <a:ext uri="{FF2B5EF4-FFF2-40B4-BE49-F238E27FC236}">
                <a16:creationId xmlns:a16="http://schemas.microsoft.com/office/drawing/2014/main" id="{49DA39DD-270A-4F4A-A0CC-F878BDB53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79</a:t>
            </a:fld>
            <a:endParaRPr dirty="0"/>
          </a:p>
        </p:txBody>
      </p:sp>
      <p:sp>
        <p:nvSpPr>
          <p:cNvPr id="122" name="Rectangle 3">
            <a:extLst>
              <a:ext uri="{FF2B5EF4-FFF2-40B4-BE49-F238E27FC236}">
                <a16:creationId xmlns:a16="http://schemas.microsoft.com/office/drawing/2014/main" id="{5562159A-0A11-495D-933B-22B7126A2AA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18642" y="1380344"/>
            <a:ext cx="8229600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normAutofit/>
          </a:bodyPr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</a:rPr>
              <a:t>Block Placement: </a:t>
            </a:r>
            <a:r>
              <a:rPr kumimoji="0" lang="en-US" sz="2200" b="0" i="0" u="none" strike="noStrike" kern="0" cap="none" spc="0" normalizeH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Where can a block be placed in cache?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36734CB-2936-0548-AFC3-30C40969F230}"/>
              </a:ext>
            </a:extLst>
          </p:cNvPr>
          <p:cNvGrpSpPr/>
          <p:nvPr/>
        </p:nvGrpSpPr>
        <p:grpSpPr>
          <a:xfrm>
            <a:off x="535442" y="1773523"/>
            <a:ext cx="5216901" cy="1878262"/>
            <a:chOff x="535442" y="1773523"/>
            <a:chExt cx="5216901" cy="1878262"/>
          </a:xfrm>
        </p:grpSpPr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8FC6DF86-2403-404F-8D38-9CC467E9CECC}"/>
                </a:ext>
              </a:extLst>
            </p:cNvPr>
            <p:cNvSpPr/>
            <p:nvPr/>
          </p:nvSpPr>
          <p:spPr>
            <a:xfrm>
              <a:off x="535442" y="1773523"/>
              <a:ext cx="2437804" cy="618307"/>
            </a:xfrm>
            <a:custGeom>
              <a:avLst/>
              <a:gdLst>
                <a:gd name="connsiteX0" fmla="*/ 0 w 2437804"/>
                <a:gd name="connsiteY0" fmla="*/ 0 h 618307"/>
                <a:gd name="connsiteX1" fmla="*/ 2437804 w 2437804"/>
                <a:gd name="connsiteY1" fmla="*/ 0 h 618307"/>
                <a:gd name="connsiteX2" fmla="*/ 2437804 w 2437804"/>
                <a:gd name="connsiteY2" fmla="*/ 618307 h 618307"/>
                <a:gd name="connsiteX3" fmla="*/ 0 w 2437804"/>
                <a:gd name="connsiteY3" fmla="*/ 618307 h 618307"/>
                <a:gd name="connsiteX4" fmla="*/ 0 w 2437804"/>
                <a:gd name="connsiteY4" fmla="*/ 0 h 618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7804" h="618307">
                  <a:moveTo>
                    <a:pt x="0" y="0"/>
                  </a:moveTo>
                  <a:lnTo>
                    <a:pt x="2437804" y="0"/>
                  </a:lnTo>
                  <a:lnTo>
                    <a:pt x="2437804" y="618307"/>
                  </a:lnTo>
                  <a:lnTo>
                    <a:pt x="0" y="618307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FCC00">
                    <a:hueOff val="0"/>
                    <a:satOff val="0"/>
                    <a:lumOff val="0"/>
                    <a:alphaOff val="0"/>
                    <a:tint val="50000"/>
                    <a:satMod val="300000"/>
                  </a:srgbClr>
                </a:gs>
                <a:gs pos="35000">
                  <a:srgbClr val="FFCC00">
                    <a:hueOff val="0"/>
                    <a:satOff val="0"/>
                    <a:lumOff val="0"/>
                    <a:alphaOff val="0"/>
                    <a:tint val="37000"/>
                    <a:satMod val="300000"/>
                  </a:srgbClr>
                </a:gs>
                <a:gs pos="100000">
                  <a:srgbClr val="FFCC00">
                    <a:hueOff val="0"/>
                    <a:satOff val="0"/>
                    <a:lumOff val="0"/>
                    <a:alphaOff val="0"/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FCC00">
                  <a:hueOff val="0"/>
                  <a:satOff val="0"/>
                  <a:lumOff val="0"/>
                  <a:alphaOff val="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style>
            <a:lnRef idx="1">
              <a:scrgbClr r="0" g="0" b="0"/>
            </a:lnRef>
            <a:fillRef idx="2">
              <a:scrgbClr r="0" g="0" b="0"/>
            </a:fillRef>
            <a:effectRef idx="1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120904" tIns="69088" rIns="120904" bIns="69088" numCol="1" spcCol="1270" anchor="ctr" anchorCtr="0">
              <a:noAutofit/>
            </a:bodyPr>
            <a:lstStyle/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700" b="1" kern="1200" baseline="0" dirty="0">
                  <a:solidFill>
                    <a:srgbClr val="000000"/>
                  </a:solidFill>
                  <a:latin typeface="Verdana"/>
                  <a:ea typeface="+mn-ea"/>
                  <a:cs typeface="Arial"/>
                </a:rPr>
                <a:t>Direct Mapped:</a:t>
              </a:r>
              <a:endParaRPr lang="en-SG" sz="1700" b="1" kern="1200" baseline="0" dirty="0">
                <a:solidFill>
                  <a:srgbClr val="000000"/>
                </a:solidFill>
                <a:latin typeface="Verdana"/>
                <a:ea typeface="+mn-ea"/>
                <a:cs typeface="Arial"/>
              </a:endParaRPr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F46F6423-111F-F246-85CC-CCDE48B4A550}"/>
                </a:ext>
              </a:extLst>
            </p:cNvPr>
            <p:cNvSpPr/>
            <p:nvPr/>
          </p:nvSpPr>
          <p:spPr>
            <a:xfrm>
              <a:off x="535442" y="2391830"/>
              <a:ext cx="2437804" cy="1259955"/>
            </a:xfrm>
            <a:custGeom>
              <a:avLst/>
              <a:gdLst>
                <a:gd name="connsiteX0" fmla="*/ 0 w 2437804"/>
                <a:gd name="connsiteY0" fmla="*/ 0 h 1259955"/>
                <a:gd name="connsiteX1" fmla="*/ 2437804 w 2437804"/>
                <a:gd name="connsiteY1" fmla="*/ 0 h 1259955"/>
                <a:gd name="connsiteX2" fmla="*/ 2437804 w 2437804"/>
                <a:gd name="connsiteY2" fmla="*/ 1259955 h 1259955"/>
                <a:gd name="connsiteX3" fmla="*/ 0 w 2437804"/>
                <a:gd name="connsiteY3" fmla="*/ 1259955 h 1259955"/>
                <a:gd name="connsiteX4" fmla="*/ 0 w 2437804"/>
                <a:gd name="connsiteY4" fmla="*/ 0 h 1259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7804" h="1259955">
                  <a:moveTo>
                    <a:pt x="0" y="0"/>
                  </a:moveTo>
                  <a:lnTo>
                    <a:pt x="2437804" y="0"/>
                  </a:lnTo>
                  <a:lnTo>
                    <a:pt x="2437804" y="1259955"/>
                  </a:lnTo>
                  <a:lnTo>
                    <a:pt x="0" y="12599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C00">
                <a:alpha val="90000"/>
                <a:tint val="40000"/>
                <a:hueOff val="0"/>
                <a:satOff val="0"/>
                <a:lumOff val="0"/>
                <a:alphaOff val="0"/>
              </a:srgbClr>
            </a:solidFill>
            <a:ln w="9525" cap="flat" cmpd="sng" algn="ctr">
              <a:solidFill>
                <a:srgbClr val="FFCC00">
                  <a:alpha val="90000"/>
                  <a:tint val="40000"/>
                  <a:hueOff val="0"/>
                  <a:satOff val="0"/>
                  <a:lumOff val="0"/>
                  <a:alphaOff val="0"/>
                </a:srgbClr>
              </a:solidFill>
              <a:prstDash val="solid"/>
            </a:ln>
            <a:effectLst/>
          </p:spPr>
          <p:style>
            <a:lnRef idx="1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96012" tIns="96012" rIns="128016" bIns="144018" numCol="1" spcCol="1270" anchor="t" anchorCtr="0">
              <a:noAutofit/>
            </a:bodyPr>
            <a:lstStyle/>
            <a:p>
              <a:pPr marL="171450" lvl="1" indent="-171450" algn="l" defTabSz="8001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800" kern="1200" dirty="0"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latin typeface="Verdana"/>
                  <a:ea typeface="+mn-ea"/>
                  <a:cs typeface="Arial"/>
                </a:rPr>
                <a:t>Only one block defined by index</a:t>
              </a:r>
              <a:endParaRPr lang="en-SG" sz="1800" kern="12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Verdana"/>
                <a:ea typeface="+mn-ea"/>
                <a:cs typeface="Arial"/>
              </a:endParaRPr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BE05BFB8-F380-2A4B-A5DD-D5870EE94689}"/>
                </a:ext>
              </a:extLst>
            </p:cNvPr>
            <p:cNvSpPr/>
            <p:nvPr/>
          </p:nvSpPr>
          <p:spPr>
            <a:xfrm>
              <a:off x="3314539" y="1773523"/>
              <a:ext cx="2437804" cy="618307"/>
            </a:xfrm>
            <a:custGeom>
              <a:avLst/>
              <a:gdLst>
                <a:gd name="connsiteX0" fmla="*/ 0 w 2437804"/>
                <a:gd name="connsiteY0" fmla="*/ 0 h 618307"/>
                <a:gd name="connsiteX1" fmla="*/ 2437804 w 2437804"/>
                <a:gd name="connsiteY1" fmla="*/ 0 h 618307"/>
                <a:gd name="connsiteX2" fmla="*/ 2437804 w 2437804"/>
                <a:gd name="connsiteY2" fmla="*/ 618307 h 618307"/>
                <a:gd name="connsiteX3" fmla="*/ 0 w 2437804"/>
                <a:gd name="connsiteY3" fmla="*/ 618307 h 618307"/>
                <a:gd name="connsiteX4" fmla="*/ 0 w 2437804"/>
                <a:gd name="connsiteY4" fmla="*/ 0 h 618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7804" h="618307">
                  <a:moveTo>
                    <a:pt x="0" y="0"/>
                  </a:moveTo>
                  <a:lnTo>
                    <a:pt x="2437804" y="0"/>
                  </a:lnTo>
                  <a:lnTo>
                    <a:pt x="2437804" y="618307"/>
                  </a:lnTo>
                  <a:lnTo>
                    <a:pt x="0" y="618307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FCC00">
                    <a:hueOff val="0"/>
                    <a:satOff val="0"/>
                    <a:lumOff val="0"/>
                    <a:alphaOff val="0"/>
                    <a:tint val="50000"/>
                    <a:satMod val="300000"/>
                  </a:srgbClr>
                </a:gs>
                <a:gs pos="35000">
                  <a:srgbClr val="FFCC00">
                    <a:hueOff val="0"/>
                    <a:satOff val="0"/>
                    <a:lumOff val="0"/>
                    <a:alphaOff val="0"/>
                    <a:tint val="37000"/>
                    <a:satMod val="300000"/>
                  </a:srgbClr>
                </a:gs>
                <a:gs pos="100000">
                  <a:srgbClr val="FFCC00">
                    <a:hueOff val="0"/>
                    <a:satOff val="0"/>
                    <a:lumOff val="0"/>
                    <a:alphaOff val="0"/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FCC00">
                  <a:hueOff val="0"/>
                  <a:satOff val="0"/>
                  <a:lumOff val="0"/>
                  <a:alphaOff val="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style>
            <a:lnRef idx="1">
              <a:scrgbClr r="0" g="0" b="0"/>
            </a:lnRef>
            <a:fillRef idx="2">
              <a:scrgbClr r="0" g="0" b="0"/>
            </a:fillRef>
            <a:effectRef idx="1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120904" tIns="69088" rIns="120904" bIns="69088" numCol="1" spcCol="1270" anchor="ctr" anchorCtr="0">
              <a:noAutofit/>
            </a:bodyPr>
            <a:lstStyle/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700" b="1" kern="1200" baseline="0" dirty="0">
                  <a:solidFill>
                    <a:srgbClr val="000000"/>
                  </a:solidFill>
                  <a:latin typeface="Verdana"/>
                  <a:ea typeface="+mn-ea"/>
                  <a:cs typeface="Arial"/>
                </a:rPr>
                <a:t>N-way </a:t>
              </a:r>
              <a:br>
                <a:rPr lang="en-US" sz="1700" b="1" kern="1200" baseline="0" dirty="0">
                  <a:solidFill>
                    <a:srgbClr val="000000"/>
                  </a:solidFill>
                  <a:latin typeface="Verdana"/>
                  <a:ea typeface="+mn-ea"/>
                  <a:cs typeface="Arial"/>
                </a:rPr>
              </a:br>
              <a:r>
                <a:rPr lang="en-US" sz="1700" b="1" kern="1200" baseline="0" dirty="0">
                  <a:solidFill>
                    <a:srgbClr val="000000"/>
                  </a:solidFill>
                  <a:latin typeface="Verdana"/>
                  <a:ea typeface="+mn-ea"/>
                  <a:cs typeface="Arial"/>
                </a:rPr>
                <a:t>Set-Associative:</a:t>
              </a: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CF24DA15-4631-3448-BC88-E6165DBD9D06}"/>
                </a:ext>
              </a:extLst>
            </p:cNvPr>
            <p:cNvSpPr/>
            <p:nvPr/>
          </p:nvSpPr>
          <p:spPr>
            <a:xfrm>
              <a:off x="3314539" y="2391830"/>
              <a:ext cx="2437804" cy="1259955"/>
            </a:xfrm>
            <a:custGeom>
              <a:avLst/>
              <a:gdLst>
                <a:gd name="connsiteX0" fmla="*/ 0 w 2437804"/>
                <a:gd name="connsiteY0" fmla="*/ 0 h 1259955"/>
                <a:gd name="connsiteX1" fmla="*/ 2437804 w 2437804"/>
                <a:gd name="connsiteY1" fmla="*/ 0 h 1259955"/>
                <a:gd name="connsiteX2" fmla="*/ 2437804 w 2437804"/>
                <a:gd name="connsiteY2" fmla="*/ 1259955 h 1259955"/>
                <a:gd name="connsiteX3" fmla="*/ 0 w 2437804"/>
                <a:gd name="connsiteY3" fmla="*/ 1259955 h 1259955"/>
                <a:gd name="connsiteX4" fmla="*/ 0 w 2437804"/>
                <a:gd name="connsiteY4" fmla="*/ 0 h 1259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7804" h="1259955">
                  <a:moveTo>
                    <a:pt x="0" y="0"/>
                  </a:moveTo>
                  <a:lnTo>
                    <a:pt x="2437804" y="0"/>
                  </a:lnTo>
                  <a:lnTo>
                    <a:pt x="2437804" y="1259955"/>
                  </a:lnTo>
                  <a:lnTo>
                    <a:pt x="0" y="12599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C00">
                <a:alpha val="90000"/>
                <a:tint val="40000"/>
                <a:hueOff val="0"/>
                <a:satOff val="0"/>
                <a:lumOff val="0"/>
                <a:alphaOff val="0"/>
              </a:srgbClr>
            </a:solidFill>
            <a:ln w="9525" cap="flat" cmpd="sng" algn="ctr">
              <a:solidFill>
                <a:srgbClr val="FFCC00">
                  <a:alpha val="90000"/>
                  <a:tint val="40000"/>
                  <a:hueOff val="0"/>
                  <a:satOff val="0"/>
                  <a:lumOff val="0"/>
                  <a:alphaOff val="0"/>
                </a:srgbClr>
              </a:solidFill>
              <a:prstDash val="solid"/>
            </a:ln>
            <a:effectLst/>
          </p:spPr>
          <p:style>
            <a:lnRef idx="1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96012" tIns="96012" rIns="128016" bIns="144018" numCol="1" spcCol="1270" anchor="t" anchorCtr="0">
              <a:noAutofit/>
            </a:bodyPr>
            <a:lstStyle/>
            <a:p>
              <a:pPr marL="171450" lvl="1" indent="-171450" algn="l" defTabSz="8001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800" kern="1200" dirty="0"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latin typeface="Verdana"/>
                  <a:ea typeface="+mn-ea"/>
                  <a:cs typeface="Arial"/>
                </a:rPr>
                <a:t>Any one of the </a:t>
              </a:r>
              <a:r>
                <a:rPr lang="en-US" sz="1800" b="1" kern="1200" dirty="0"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latin typeface="Verdana"/>
                  <a:ea typeface="+mn-ea"/>
                  <a:cs typeface="Arial"/>
                </a:rPr>
                <a:t>N</a:t>
              </a:r>
              <a:r>
                <a:rPr lang="en-US" sz="1800" kern="1200" dirty="0"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latin typeface="Verdana"/>
                  <a:ea typeface="+mn-ea"/>
                  <a:cs typeface="Arial"/>
                </a:rPr>
                <a:t> blocks within the set defined by index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8F30191-6C36-4547-98F2-5B02B4C73A6B}"/>
              </a:ext>
            </a:extLst>
          </p:cNvPr>
          <p:cNvGrpSpPr/>
          <p:nvPr/>
        </p:nvGrpSpPr>
        <p:grpSpPr>
          <a:xfrm>
            <a:off x="649670" y="4449713"/>
            <a:ext cx="5067848" cy="1625118"/>
            <a:chOff x="649670" y="4449713"/>
            <a:chExt cx="5067848" cy="1625118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61F65B8-4EDF-FE4E-972A-AE123753FEBB}"/>
                </a:ext>
              </a:extLst>
            </p:cNvPr>
            <p:cNvSpPr/>
            <p:nvPr/>
          </p:nvSpPr>
          <p:spPr>
            <a:xfrm>
              <a:off x="649670" y="4449713"/>
              <a:ext cx="2368153" cy="612213"/>
            </a:xfrm>
            <a:custGeom>
              <a:avLst/>
              <a:gdLst>
                <a:gd name="connsiteX0" fmla="*/ 0 w 2368153"/>
                <a:gd name="connsiteY0" fmla="*/ 0 h 612213"/>
                <a:gd name="connsiteX1" fmla="*/ 2368153 w 2368153"/>
                <a:gd name="connsiteY1" fmla="*/ 0 h 612213"/>
                <a:gd name="connsiteX2" fmla="*/ 2368153 w 2368153"/>
                <a:gd name="connsiteY2" fmla="*/ 612213 h 612213"/>
                <a:gd name="connsiteX3" fmla="*/ 0 w 2368153"/>
                <a:gd name="connsiteY3" fmla="*/ 612213 h 612213"/>
                <a:gd name="connsiteX4" fmla="*/ 0 w 2368153"/>
                <a:gd name="connsiteY4" fmla="*/ 0 h 612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68153" h="612213">
                  <a:moveTo>
                    <a:pt x="0" y="0"/>
                  </a:moveTo>
                  <a:lnTo>
                    <a:pt x="2368153" y="0"/>
                  </a:lnTo>
                  <a:lnTo>
                    <a:pt x="2368153" y="612213"/>
                  </a:lnTo>
                  <a:lnTo>
                    <a:pt x="0" y="612213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FCC00">
                    <a:hueOff val="0"/>
                    <a:satOff val="0"/>
                    <a:lumOff val="0"/>
                    <a:alphaOff val="0"/>
                    <a:tint val="50000"/>
                    <a:satMod val="300000"/>
                  </a:srgbClr>
                </a:gs>
                <a:gs pos="35000">
                  <a:srgbClr val="FFCC00">
                    <a:hueOff val="0"/>
                    <a:satOff val="0"/>
                    <a:lumOff val="0"/>
                    <a:alphaOff val="0"/>
                    <a:tint val="37000"/>
                    <a:satMod val="300000"/>
                  </a:srgbClr>
                </a:gs>
                <a:gs pos="100000">
                  <a:srgbClr val="FFCC00">
                    <a:hueOff val="0"/>
                    <a:satOff val="0"/>
                    <a:lumOff val="0"/>
                    <a:alphaOff val="0"/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FCC00">
                  <a:hueOff val="0"/>
                  <a:satOff val="0"/>
                  <a:lumOff val="0"/>
                  <a:alphaOff val="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style>
            <a:lnRef idx="1">
              <a:scrgbClr r="0" g="0" b="0"/>
            </a:lnRef>
            <a:fillRef idx="2">
              <a:scrgbClr r="0" g="0" b="0"/>
            </a:fillRef>
            <a:effectRef idx="1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120904" tIns="69088" rIns="120904" bIns="69088" numCol="1" spcCol="1270" anchor="ctr" anchorCtr="0">
              <a:noAutofit/>
            </a:bodyPr>
            <a:lstStyle/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700" b="1" kern="1200" baseline="0" dirty="0">
                  <a:solidFill>
                    <a:srgbClr val="000000"/>
                  </a:solidFill>
                  <a:latin typeface="Verdana"/>
                  <a:ea typeface="+mn-ea"/>
                  <a:cs typeface="Arial"/>
                </a:rPr>
                <a:t>Direct Mapped:</a:t>
              </a:r>
              <a:endParaRPr lang="en-SG" sz="1700" b="1" kern="1200" baseline="0" dirty="0">
                <a:solidFill>
                  <a:srgbClr val="000000"/>
                </a:solidFill>
                <a:latin typeface="Verdana"/>
                <a:ea typeface="+mn-ea"/>
                <a:cs typeface="Arial"/>
              </a:endParaRPr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C4A75567-7A6B-1D44-8DBC-557B79CEFD0B}"/>
                </a:ext>
              </a:extLst>
            </p:cNvPr>
            <p:cNvSpPr/>
            <p:nvPr/>
          </p:nvSpPr>
          <p:spPr>
            <a:xfrm>
              <a:off x="649670" y="5061927"/>
              <a:ext cx="2368153" cy="1012904"/>
            </a:xfrm>
            <a:custGeom>
              <a:avLst/>
              <a:gdLst>
                <a:gd name="connsiteX0" fmla="*/ 0 w 2368153"/>
                <a:gd name="connsiteY0" fmla="*/ 0 h 1012904"/>
                <a:gd name="connsiteX1" fmla="*/ 2368153 w 2368153"/>
                <a:gd name="connsiteY1" fmla="*/ 0 h 1012904"/>
                <a:gd name="connsiteX2" fmla="*/ 2368153 w 2368153"/>
                <a:gd name="connsiteY2" fmla="*/ 1012904 h 1012904"/>
                <a:gd name="connsiteX3" fmla="*/ 0 w 2368153"/>
                <a:gd name="connsiteY3" fmla="*/ 1012904 h 1012904"/>
                <a:gd name="connsiteX4" fmla="*/ 0 w 2368153"/>
                <a:gd name="connsiteY4" fmla="*/ 0 h 1012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68153" h="1012904">
                  <a:moveTo>
                    <a:pt x="0" y="0"/>
                  </a:moveTo>
                  <a:lnTo>
                    <a:pt x="2368153" y="0"/>
                  </a:lnTo>
                  <a:lnTo>
                    <a:pt x="2368153" y="1012904"/>
                  </a:lnTo>
                  <a:lnTo>
                    <a:pt x="0" y="10129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C00">
                <a:alpha val="90000"/>
                <a:tint val="40000"/>
                <a:hueOff val="0"/>
                <a:satOff val="0"/>
                <a:lumOff val="0"/>
                <a:alphaOff val="0"/>
              </a:srgbClr>
            </a:solidFill>
            <a:ln w="9525" cap="flat" cmpd="sng" algn="ctr">
              <a:solidFill>
                <a:srgbClr val="FFCC00">
                  <a:alpha val="90000"/>
                  <a:tint val="40000"/>
                  <a:hueOff val="0"/>
                  <a:satOff val="0"/>
                  <a:lumOff val="0"/>
                  <a:alphaOff val="0"/>
                </a:srgbClr>
              </a:solidFill>
              <a:prstDash val="solid"/>
            </a:ln>
            <a:effectLst/>
          </p:spPr>
          <p:style>
            <a:lnRef idx="1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96012" tIns="96012" rIns="128016" bIns="144018" numCol="1" spcCol="1270" anchor="t" anchorCtr="0">
              <a:noAutofit/>
            </a:bodyPr>
            <a:lstStyle/>
            <a:p>
              <a:pPr marL="171450" lvl="1" indent="-171450" algn="l" defTabSz="8001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800" kern="1200" dirty="0"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latin typeface="Verdana"/>
                  <a:ea typeface="+mn-ea"/>
                  <a:cs typeface="Arial"/>
                </a:rPr>
                <a:t>Tag match with only one block</a:t>
              </a:r>
              <a:endParaRPr lang="en-SG" sz="1800" kern="12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Verdana"/>
                <a:ea typeface="+mn-ea"/>
                <a:cs typeface="Arial"/>
              </a:endParaRPr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2B025C84-1813-764E-892D-F7C2E58A6AF3}"/>
                </a:ext>
              </a:extLst>
            </p:cNvPr>
            <p:cNvSpPr/>
            <p:nvPr/>
          </p:nvSpPr>
          <p:spPr>
            <a:xfrm>
              <a:off x="3349365" y="4449713"/>
              <a:ext cx="2368153" cy="612213"/>
            </a:xfrm>
            <a:custGeom>
              <a:avLst/>
              <a:gdLst>
                <a:gd name="connsiteX0" fmla="*/ 0 w 2368153"/>
                <a:gd name="connsiteY0" fmla="*/ 0 h 612213"/>
                <a:gd name="connsiteX1" fmla="*/ 2368153 w 2368153"/>
                <a:gd name="connsiteY1" fmla="*/ 0 h 612213"/>
                <a:gd name="connsiteX2" fmla="*/ 2368153 w 2368153"/>
                <a:gd name="connsiteY2" fmla="*/ 612213 h 612213"/>
                <a:gd name="connsiteX3" fmla="*/ 0 w 2368153"/>
                <a:gd name="connsiteY3" fmla="*/ 612213 h 612213"/>
                <a:gd name="connsiteX4" fmla="*/ 0 w 2368153"/>
                <a:gd name="connsiteY4" fmla="*/ 0 h 612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68153" h="612213">
                  <a:moveTo>
                    <a:pt x="0" y="0"/>
                  </a:moveTo>
                  <a:lnTo>
                    <a:pt x="2368153" y="0"/>
                  </a:lnTo>
                  <a:lnTo>
                    <a:pt x="2368153" y="612213"/>
                  </a:lnTo>
                  <a:lnTo>
                    <a:pt x="0" y="612213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FCC00">
                    <a:hueOff val="0"/>
                    <a:satOff val="0"/>
                    <a:lumOff val="0"/>
                    <a:alphaOff val="0"/>
                    <a:tint val="50000"/>
                    <a:satMod val="300000"/>
                  </a:srgbClr>
                </a:gs>
                <a:gs pos="35000">
                  <a:srgbClr val="FFCC00">
                    <a:hueOff val="0"/>
                    <a:satOff val="0"/>
                    <a:lumOff val="0"/>
                    <a:alphaOff val="0"/>
                    <a:tint val="37000"/>
                    <a:satMod val="300000"/>
                  </a:srgbClr>
                </a:gs>
                <a:gs pos="100000">
                  <a:srgbClr val="FFCC00">
                    <a:hueOff val="0"/>
                    <a:satOff val="0"/>
                    <a:lumOff val="0"/>
                    <a:alphaOff val="0"/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FCC00">
                  <a:hueOff val="0"/>
                  <a:satOff val="0"/>
                  <a:lumOff val="0"/>
                  <a:alphaOff val="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style>
            <a:lnRef idx="1">
              <a:scrgbClr r="0" g="0" b="0"/>
            </a:lnRef>
            <a:fillRef idx="2">
              <a:scrgbClr r="0" g="0" b="0"/>
            </a:fillRef>
            <a:effectRef idx="1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120904" tIns="69088" rIns="120904" bIns="69088" numCol="1" spcCol="1270" anchor="ctr" anchorCtr="0">
              <a:noAutofit/>
            </a:bodyPr>
            <a:lstStyle/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700" b="1" kern="1200" baseline="0" dirty="0">
                  <a:solidFill>
                    <a:srgbClr val="000000"/>
                  </a:solidFill>
                  <a:latin typeface="Verdana"/>
                  <a:ea typeface="+mn-ea"/>
                  <a:cs typeface="Arial"/>
                </a:rPr>
                <a:t>N-way </a:t>
              </a:r>
              <a:br>
                <a:rPr lang="en-US" sz="1700" b="1" kern="1200" baseline="0" dirty="0">
                  <a:solidFill>
                    <a:srgbClr val="000000"/>
                  </a:solidFill>
                  <a:latin typeface="Verdana"/>
                  <a:ea typeface="+mn-ea"/>
                  <a:cs typeface="Arial"/>
                </a:rPr>
              </a:br>
              <a:r>
                <a:rPr lang="en-US" sz="1700" b="1" kern="1200" baseline="0" dirty="0">
                  <a:solidFill>
                    <a:srgbClr val="000000"/>
                  </a:solidFill>
                  <a:latin typeface="Verdana"/>
                  <a:ea typeface="+mn-ea"/>
                  <a:cs typeface="Arial"/>
                </a:rPr>
                <a:t>Set Associative:</a:t>
              </a:r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5E1E37B-B5EA-C144-AFD0-F619A900E690}"/>
                </a:ext>
              </a:extLst>
            </p:cNvPr>
            <p:cNvSpPr/>
            <p:nvPr/>
          </p:nvSpPr>
          <p:spPr>
            <a:xfrm>
              <a:off x="3349365" y="5061927"/>
              <a:ext cx="2368153" cy="1012904"/>
            </a:xfrm>
            <a:custGeom>
              <a:avLst/>
              <a:gdLst>
                <a:gd name="connsiteX0" fmla="*/ 0 w 2368153"/>
                <a:gd name="connsiteY0" fmla="*/ 0 h 1012904"/>
                <a:gd name="connsiteX1" fmla="*/ 2368153 w 2368153"/>
                <a:gd name="connsiteY1" fmla="*/ 0 h 1012904"/>
                <a:gd name="connsiteX2" fmla="*/ 2368153 w 2368153"/>
                <a:gd name="connsiteY2" fmla="*/ 1012904 h 1012904"/>
                <a:gd name="connsiteX3" fmla="*/ 0 w 2368153"/>
                <a:gd name="connsiteY3" fmla="*/ 1012904 h 1012904"/>
                <a:gd name="connsiteX4" fmla="*/ 0 w 2368153"/>
                <a:gd name="connsiteY4" fmla="*/ 0 h 1012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68153" h="1012904">
                  <a:moveTo>
                    <a:pt x="0" y="0"/>
                  </a:moveTo>
                  <a:lnTo>
                    <a:pt x="2368153" y="0"/>
                  </a:lnTo>
                  <a:lnTo>
                    <a:pt x="2368153" y="1012904"/>
                  </a:lnTo>
                  <a:lnTo>
                    <a:pt x="0" y="10129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C00">
                <a:alpha val="90000"/>
                <a:tint val="40000"/>
                <a:hueOff val="0"/>
                <a:satOff val="0"/>
                <a:lumOff val="0"/>
                <a:alphaOff val="0"/>
              </a:srgbClr>
            </a:solidFill>
            <a:ln w="9525" cap="flat" cmpd="sng" algn="ctr">
              <a:solidFill>
                <a:srgbClr val="FFCC00">
                  <a:alpha val="90000"/>
                  <a:tint val="40000"/>
                  <a:hueOff val="0"/>
                  <a:satOff val="0"/>
                  <a:lumOff val="0"/>
                  <a:alphaOff val="0"/>
                </a:srgbClr>
              </a:solidFill>
              <a:prstDash val="solid"/>
            </a:ln>
            <a:effectLst/>
          </p:spPr>
          <p:style>
            <a:lnRef idx="1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96012" tIns="96012" rIns="128016" bIns="144018" numCol="1" spcCol="1270" anchor="t" anchorCtr="0">
              <a:noAutofit/>
            </a:bodyPr>
            <a:lstStyle/>
            <a:p>
              <a:pPr marL="171450" lvl="1" indent="-171450" algn="l" defTabSz="8001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800" kern="1200" dirty="0"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latin typeface="Verdana"/>
                  <a:ea typeface="+mn-ea"/>
                  <a:cs typeface="Arial"/>
                </a:rPr>
                <a:t>Tag match for all the blocks within the set</a:t>
              </a:r>
            </a:p>
          </p:txBody>
        </p:sp>
      </p:grpSp>
      <p:sp>
        <p:nvSpPr>
          <p:cNvPr id="125" name="Rectangle 3">
            <a:extLst>
              <a:ext uri="{FF2B5EF4-FFF2-40B4-BE49-F238E27FC236}">
                <a16:creationId xmlns:a16="http://schemas.microsoft.com/office/drawing/2014/main" id="{43097484-A153-4F71-9982-4DD7280F13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642" y="4044965"/>
            <a:ext cx="8229600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  <a:cs typeface="+mn-cs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400" b="1" kern="0" dirty="0">
                <a:solidFill>
                  <a:srgbClr val="660066"/>
                </a:solidFill>
              </a:rPr>
              <a:t>Block Identification: </a:t>
            </a:r>
            <a:r>
              <a:rPr lang="en-US" sz="2200" kern="0" dirty="0">
                <a:solidFill>
                  <a:sysClr val="windowText" lastClr="000000"/>
                </a:solidFill>
              </a:rPr>
              <a:t>How is a block found if it is in the cache?</a:t>
            </a:r>
          </a:p>
        </p:txBody>
      </p:sp>
    </p:spTree>
    <p:extLst>
      <p:ext uri="{BB962C8B-B14F-4D97-AF65-F5344CB8AC3E}">
        <p14:creationId xmlns:p14="http://schemas.microsoft.com/office/powerpoint/2010/main" val="4136395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11. Summary: Cache Framework (2/2)</a:t>
            </a:r>
            <a:endParaRPr lang="en-GB" sz="3600" b="1" dirty="0">
              <a:solidFill>
                <a:srgbClr val="0000FF"/>
              </a:solidFill>
            </a:endParaRP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#23: Cache II: Set/Fully Associative Cache</a:t>
            </a:r>
            <a:endParaRPr lang="en-US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41" name="Slide Number Placeholder 6">
            <a:extLst>
              <a:ext uri="{FF2B5EF4-FFF2-40B4-BE49-F238E27FC236}">
                <a16:creationId xmlns:a16="http://schemas.microsoft.com/office/drawing/2014/main" id="{49DA39DD-270A-4F4A-A0CC-F878BDB53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80</a:t>
            </a:fld>
            <a:endParaRPr dirty="0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9F1AB687-B94F-43D8-950D-6FE15E542C0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356566"/>
            <a:ext cx="8229600" cy="914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</a:rPr>
              <a:t>Block Replacement: </a:t>
            </a:r>
            <a:r>
              <a:rPr kumimoji="0" lang="en-US" sz="2200" b="0" i="0" u="none" strike="noStrike" kern="0" cap="none" spc="0" normalizeH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Which block should be replaced on a cache miss?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B10E748-0A34-674D-8B6A-25985711DAD5}"/>
              </a:ext>
            </a:extLst>
          </p:cNvPr>
          <p:cNvGrpSpPr/>
          <p:nvPr/>
        </p:nvGrpSpPr>
        <p:grpSpPr>
          <a:xfrm>
            <a:off x="612028" y="2154757"/>
            <a:ext cx="5067848" cy="1625117"/>
            <a:chOff x="612028" y="2154757"/>
            <a:chExt cx="5067848" cy="1625117"/>
          </a:xfrm>
        </p:grpSpPr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55E90CDE-A818-0048-93E5-45555F6D085E}"/>
                </a:ext>
              </a:extLst>
            </p:cNvPr>
            <p:cNvSpPr/>
            <p:nvPr/>
          </p:nvSpPr>
          <p:spPr>
            <a:xfrm>
              <a:off x="612028" y="2154757"/>
              <a:ext cx="2368153" cy="612213"/>
            </a:xfrm>
            <a:custGeom>
              <a:avLst/>
              <a:gdLst>
                <a:gd name="connsiteX0" fmla="*/ 0 w 2368153"/>
                <a:gd name="connsiteY0" fmla="*/ 0 h 612213"/>
                <a:gd name="connsiteX1" fmla="*/ 2368153 w 2368153"/>
                <a:gd name="connsiteY1" fmla="*/ 0 h 612213"/>
                <a:gd name="connsiteX2" fmla="*/ 2368153 w 2368153"/>
                <a:gd name="connsiteY2" fmla="*/ 612213 h 612213"/>
                <a:gd name="connsiteX3" fmla="*/ 0 w 2368153"/>
                <a:gd name="connsiteY3" fmla="*/ 612213 h 612213"/>
                <a:gd name="connsiteX4" fmla="*/ 0 w 2368153"/>
                <a:gd name="connsiteY4" fmla="*/ 0 h 612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68153" h="612213">
                  <a:moveTo>
                    <a:pt x="0" y="0"/>
                  </a:moveTo>
                  <a:lnTo>
                    <a:pt x="2368153" y="0"/>
                  </a:lnTo>
                  <a:lnTo>
                    <a:pt x="2368153" y="612213"/>
                  </a:lnTo>
                  <a:lnTo>
                    <a:pt x="0" y="612213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FCC00">
                    <a:hueOff val="0"/>
                    <a:satOff val="0"/>
                    <a:lumOff val="0"/>
                    <a:alphaOff val="0"/>
                    <a:tint val="50000"/>
                    <a:satMod val="300000"/>
                  </a:srgbClr>
                </a:gs>
                <a:gs pos="35000">
                  <a:srgbClr val="FFCC00">
                    <a:hueOff val="0"/>
                    <a:satOff val="0"/>
                    <a:lumOff val="0"/>
                    <a:alphaOff val="0"/>
                    <a:tint val="37000"/>
                    <a:satMod val="300000"/>
                  </a:srgbClr>
                </a:gs>
                <a:gs pos="100000">
                  <a:srgbClr val="FFCC00">
                    <a:hueOff val="0"/>
                    <a:satOff val="0"/>
                    <a:lumOff val="0"/>
                    <a:alphaOff val="0"/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FCC00">
                  <a:hueOff val="0"/>
                  <a:satOff val="0"/>
                  <a:lumOff val="0"/>
                  <a:alphaOff val="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style>
            <a:lnRef idx="1">
              <a:scrgbClr r="0" g="0" b="0"/>
            </a:lnRef>
            <a:fillRef idx="2">
              <a:scrgbClr r="0" g="0" b="0"/>
            </a:fillRef>
            <a:effectRef idx="1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120904" tIns="69088" rIns="120904" bIns="69088" numCol="1" spcCol="1270" anchor="ctr" anchorCtr="0">
              <a:noAutofit/>
            </a:bodyPr>
            <a:lstStyle/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700" b="1" kern="1200" baseline="0" dirty="0">
                  <a:solidFill>
                    <a:srgbClr val="000000"/>
                  </a:solidFill>
                  <a:latin typeface="Verdana"/>
                  <a:ea typeface="+mn-ea"/>
                  <a:cs typeface="Arial"/>
                </a:rPr>
                <a:t>Direct Mapped:</a:t>
              </a:r>
              <a:endParaRPr lang="en-SG" sz="1700" b="1" kern="1200" baseline="0" dirty="0">
                <a:solidFill>
                  <a:srgbClr val="000000"/>
                </a:solidFill>
                <a:latin typeface="Verdana"/>
                <a:ea typeface="+mn-ea"/>
                <a:cs typeface="Arial"/>
              </a:endParaRPr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1EFB7584-8547-074A-93A8-47C61C00C841}"/>
                </a:ext>
              </a:extLst>
            </p:cNvPr>
            <p:cNvSpPr/>
            <p:nvPr/>
          </p:nvSpPr>
          <p:spPr>
            <a:xfrm>
              <a:off x="612028" y="2766970"/>
              <a:ext cx="2368153" cy="1012904"/>
            </a:xfrm>
            <a:custGeom>
              <a:avLst/>
              <a:gdLst>
                <a:gd name="connsiteX0" fmla="*/ 0 w 2368153"/>
                <a:gd name="connsiteY0" fmla="*/ 0 h 1012904"/>
                <a:gd name="connsiteX1" fmla="*/ 2368153 w 2368153"/>
                <a:gd name="connsiteY1" fmla="*/ 0 h 1012904"/>
                <a:gd name="connsiteX2" fmla="*/ 2368153 w 2368153"/>
                <a:gd name="connsiteY2" fmla="*/ 1012904 h 1012904"/>
                <a:gd name="connsiteX3" fmla="*/ 0 w 2368153"/>
                <a:gd name="connsiteY3" fmla="*/ 1012904 h 1012904"/>
                <a:gd name="connsiteX4" fmla="*/ 0 w 2368153"/>
                <a:gd name="connsiteY4" fmla="*/ 0 h 1012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68153" h="1012904">
                  <a:moveTo>
                    <a:pt x="0" y="0"/>
                  </a:moveTo>
                  <a:lnTo>
                    <a:pt x="2368153" y="0"/>
                  </a:lnTo>
                  <a:lnTo>
                    <a:pt x="2368153" y="1012904"/>
                  </a:lnTo>
                  <a:lnTo>
                    <a:pt x="0" y="10129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C00">
                <a:alpha val="90000"/>
                <a:tint val="40000"/>
                <a:hueOff val="0"/>
                <a:satOff val="0"/>
                <a:lumOff val="0"/>
                <a:alphaOff val="0"/>
              </a:srgbClr>
            </a:solidFill>
            <a:ln w="9525" cap="flat" cmpd="sng" algn="ctr">
              <a:solidFill>
                <a:srgbClr val="FFCC00">
                  <a:alpha val="90000"/>
                  <a:tint val="40000"/>
                  <a:hueOff val="0"/>
                  <a:satOff val="0"/>
                  <a:lumOff val="0"/>
                  <a:alphaOff val="0"/>
                </a:srgbClr>
              </a:solidFill>
              <a:prstDash val="solid"/>
            </a:ln>
            <a:effectLst/>
          </p:spPr>
          <p:style>
            <a:lnRef idx="1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96012" tIns="96012" rIns="128016" bIns="144018" numCol="1" spcCol="1270" anchor="t" anchorCtr="0">
              <a:noAutofit/>
            </a:bodyPr>
            <a:lstStyle/>
            <a:p>
              <a:pPr marL="171450" lvl="1" indent="-171450" algn="l" defTabSz="8001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800" kern="1200" dirty="0"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latin typeface="Verdana"/>
                  <a:ea typeface="+mn-ea"/>
                  <a:cs typeface="Arial"/>
                </a:rPr>
                <a:t>No Choice</a:t>
              </a:r>
              <a:endParaRPr lang="en-SG" sz="1800" kern="12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Verdana"/>
                <a:ea typeface="+mn-ea"/>
                <a:cs typeface="Arial"/>
              </a:endParaRPr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F4857A42-D799-D14C-A854-C9627C1EC456}"/>
                </a:ext>
              </a:extLst>
            </p:cNvPr>
            <p:cNvSpPr/>
            <p:nvPr/>
          </p:nvSpPr>
          <p:spPr>
            <a:xfrm>
              <a:off x="3311723" y="2154757"/>
              <a:ext cx="2368153" cy="612213"/>
            </a:xfrm>
            <a:custGeom>
              <a:avLst/>
              <a:gdLst>
                <a:gd name="connsiteX0" fmla="*/ 0 w 2368153"/>
                <a:gd name="connsiteY0" fmla="*/ 0 h 612213"/>
                <a:gd name="connsiteX1" fmla="*/ 2368153 w 2368153"/>
                <a:gd name="connsiteY1" fmla="*/ 0 h 612213"/>
                <a:gd name="connsiteX2" fmla="*/ 2368153 w 2368153"/>
                <a:gd name="connsiteY2" fmla="*/ 612213 h 612213"/>
                <a:gd name="connsiteX3" fmla="*/ 0 w 2368153"/>
                <a:gd name="connsiteY3" fmla="*/ 612213 h 612213"/>
                <a:gd name="connsiteX4" fmla="*/ 0 w 2368153"/>
                <a:gd name="connsiteY4" fmla="*/ 0 h 612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68153" h="612213">
                  <a:moveTo>
                    <a:pt x="0" y="0"/>
                  </a:moveTo>
                  <a:lnTo>
                    <a:pt x="2368153" y="0"/>
                  </a:lnTo>
                  <a:lnTo>
                    <a:pt x="2368153" y="612213"/>
                  </a:lnTo>
                  <a:lnTo>
                    <a:pt x="0" y="612213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FCC00">
                    <a:hueOff val="0"/>
                    <a:satOff val="0"/>
                    <a:lumOff val="0"/>
                    <a:alphaOff val="0"/>
                    <a:tint val="50000"/>
                    <a:satMod val="300000"/>
                  </a:srgbClr>
                </a:gs>
                <a:gs pos="35000">
                  <a:srgbClr val="FFCC00">
                    <a:hueOff val="0"/>
                    <a:satOff val="0"/>
                    <a:lumOff val="0"/>
                    <a:alphaOff val="0"/>
                    <a:tint val="37000"/>
                    <a:satMod val="300000"/>
                  </a:srgbClr>
                </a:gs>
                <a:gs pos="100000">
                  <a:srgbClr val="FFCC00">
                    <a:hueOff val="0"/>
                    <a:satOff val="0"/>
                    <a:lumOff val="0"/>
                    <a:alphaOff val="0"/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FCC00">
                  <a:hueOff val="0"/>
                  <a:satOff val="0"/>
                  <a:lumOff val="0"/>
                  <a:alphaOff val="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style>
            <a:lnRef idx="1">
              <a:scrgbClr r="0" g="0" b="0"/>
            </a:lnRef>
            <a:fillRef idx="2">
              <a:scrgbClr r="0" g="0" b="0"/>
            </a:fillRef>
            <a:effectRef idx="1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120904" tIns="69088" rIns="120904" bIns="69088" numCol="1" spcCol="1270" anchor="ctr" anchorCtr="0">
              <a:noAutofit/>
            </a:bodyPr>
            <a:lstStyle/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700" b="1" kern="1200" baseline="0" dirty="0">
                  <a:solidFill>
                    <a:srgbClr val="000000"/>
                  </a:solidFill>
                  <a:latin typeface="Verdana"/>
                  <a:ea typeface="+mn-ea"/>
                  <a:cs typeface="Arial"/>
                </a:rPr>
                <a:t>N-way </a:t>
              </a:r>
              <a:br>
                <a:rPr lang="en-US" sz="1700" b="1" kern="1200" baseline="0" dirty="0">
                  <a:solidFill>
                    <a:srgbClr val="000000"/>
                  </a:solidFill>
                  <a:latin typeface="Verdana"/>
                  <a:ea typeface="+mn-ea"/>
                  <a:cs typeface="Arial"/>
                </a:rPr>
              </a:br>
              <a:r>
                <a:rPr lang="en-US" sz="1700" b="1" kern="1200" baseline="0" dirty="0">
                  <a:solidFill>
                    <a:srgbClr val="000000"/>
                  </a:solidFill>
                  <a:latin typeface="Verdana"/>
                  <a:ea typeface="+mn-ea"/>
                  <a:cs typeface="Arial"/>
                </a:rPr>
                <a:t>Set-Associative:</a:t>
              </a: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91927963-8A3B-BB43-9589-0853C35079D2}"/>
                </a:ext>
              </a:extLst>
            </p:cNvPr>
            <p:cNvSpPr/>
            <p:nvPr/>
          </p:nvSpPr>
          <p:spPr>
            <a:xfrm>
              <a:off x="3311723" y="2766970"/>
              <a:ext cx="2368153" cy="1012904"/>
            </a:xfrm>
            <a:custGeom>
              <a:avLst/>
              <a:gdLst>
                <a:gd name="connsiteX0" fmla="*/ 0 w 2368153"/>
                <a:gd name="connsiteY0" fmla="*/ 0 h 1012904"/>
                <a:gd name="connsiteX1" fmla="*/ 2368153 w 2368153"/>
                <a:gd name="connsiteY1" fmla="*/ 0 h 1012904"/>
                <a:gd name="connsiteX2" fmla="*/ 2368153 w 2368153"/>
                <a:gd name="connsiteY2" fmla="*/ 1012904 h 1012904"/>
                <a:gd name="connsiteX3" fmla="*/ 0 w 2368153"/>
                <a:gd name="connsiteY3" fmla="*/ 1012904 h 1012904"/>
                <a:gd name="connsiteX4" fmla="*/ 0 w 2368153"/>
                <a:gd name="connsiteY4" fmla="*/ 0 h 1012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68153" h="1012904">
                  <a:moveTo>
                    <a:pt x="0" y="0"/>
                  </a:moveTo>
                  <a:lnTo>
                    <a:pt x="2368153" y="0"/>
                  </a:lnTo>
                  <a:lnTo>
                    <a:pt x="2368153" y="1012904"/>
                  </a:lnTo>
                  <a:lnTo>
                    <a:pt x="0" y="10129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C00">
                <a:alpha val="90000"/>
                <a:tint val="40000"/>
                <a:hueOff val="0"/>
                <a:satOff val="0"/>
                <a:lumOff val="0"/>
                <a:alphaOff val="0"/>
              </a:srgbClr>
            </a:solidFill>
            <a:ln w="9525" cap="flat" cmpd="sng" algn="ctr">
              <a:solidFill>
                <a:srgbClr val="FFCC00">
                  <a:alpha val="90000"/>
                  <a:tint val="40000"/>
                  <a:hueOff val="0"/>
                  <a:satOff val="0"/>
                  <a:lumOff val="0"/>
                  <a:alphaOff val="0"/>
                </a:srgbClr>
              </a:solidFill>
              <a:prstDash val="solid"/>
            </a:ln>
            <a:effectLst/>
          </p:spPr>
          <p:style>
            <a:lnRef idx="1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96012" tIns="96012" rIns="128016" bIns="144018" numCol="1" spcCol="1270" anchor="t" anchorCtr="0">
              <a:noAutofit/>
            </a:bodyPr>
            <a:lstStyle/>
            <a:p>
              <a:pPr marL="171450" lvl="1" indent="-171450" algn="l" defTabSz="8001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800" kern="1200" dirty="0"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latin typeface="Verdana"/>
                  <a:ea typeface="+mn-ea"/>
                  <a:cs typeface="Arial"/>
                </a:rPr>
                <a:t>Based on replacement policy</a:t>
              </a:r>
            </a:p>
          </p:txBody>
        </p:sp>
      </p:grpSp>
      <p:sp>
        <p:nvSpPr>
          <p:cNvPr id="14" name="Rectangle 3">
            <a:extLst>
              <a:ext uri="{FF2B5EF4-FFF2-40B4-BE49-F238E27FC236}">
                <a16:creationId xmlns:a16="http://schemas.microsoft.com/office/drawing/2014/main" id="{ED736CEB-2BA9-4BB5-99E3-CB9042F5CB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101821"/>
            <a:ext cx="8229600" cy="14433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  <a:cs typeface="+mn-cs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fontAlgn="auto" hangingPunct="1"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400" b="1" kern="0" dirty="0">
                <a:solidFill>
                  <a:srgbClr val="660066"/>
                </a:solidFill>
              </a:rPr>
              <a:t>Write Strategy: </a:t>
            </a:r>
            <a:r>
              <a:rPr lang="en-US" sz="2400" kern="0" dirty="0">
                <a:solidFill>
                  <a:sysClr val="windowText" lastClr="000000"/>
                </a:solidFill>
              </a:rPr>
              <a:t>What happens on a write?</a:t>
            </a:r>
          </a:p>
          <a:p>
            <a:pPr marL="0" lvl="1" indent="0" eaLnBrk="1" fontAlgn="auto" hangingPunct="1"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400" kern="0" dirty="0">
                <a:solidFill>
                  <a:sysClr val="windowText" lastClr="000000"/>
                </a:solidFill>
              </a:rPr>
              <a:t>     Write Policy: Write-through vs write-back</a:t>
            </a:r>
          </a:p>
          <a:p>
            <a:pPr marL="0" lvl="1" indent="0" eaLnBrk="1" fontAlgn="auto" hangingPunct="1"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400" kern="0" dirty="0">
                <a:solidFill>
                  <a:sysClr val="windowText" lastClr="000000"/>
                </a:solidFill>
              </a:rPr>
              <a:t>     Write Miss Policy: Write allocate vs write no allocate</a:t>
            </a:r>
          </a:p>
          <a:p>
            <a:pPr marL="0" indent="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defRPr/>
            </a:pPr>
            <a:endParaRPr lang="en-US" sz="2400" kern="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707113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12. Exploration: Improving Cache Penalty</a:t>
            </a:r>
            <a:endParaRPr lang="en-GB" sz="3600" b="1" dirty="0">
              <a:solidFill>
                <a:srgbClr val="0000FF"/>
              </a:solidFill>
            </a:endParaRP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#23: Cache II: Set/Fully Associative Cache</a:t>
            </a:r>
            <a:endParaRPr lang="en-US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41" name="Slide Number Placeholder 6">
            <a:extLst>
              <a:ext uri="{FF2B5EF4-FFF2-40B4-BE49-F238E27FC236}">
                <a16:creationId xmlns:a16="http://schemas.microsoft.com/office/drawing/2014/main" id="{49DA39DD-270A-4F4A-A0CC-F878BDB53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81</a:t>
            </a:fld>
            <a:endParaRPr dirty="0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714EAAB4-C696-4028-87A8-0CFA54B66D4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2489417"/>
            <a:ext cx="7848600" cy="2574073"/>
          </a:xfrm>
        </p:spPr>
        <p:txBody>
          <a:bodyPr/>
          <a:lstStyle/>
          <a:p>
            <a:pPr marL="263525" indent="-263525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So far, we tried to improve Miss Rate:</a:t>
            </a:r>
          </a:p>
          <a:p>
            <a:pPr marL="628650" lvl="1" indent="-274638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Larger block size</a:t>
            </a:r>
          </a:p>
          <a:p>
            <a:pPr marL="628650" lvl="1" indent="-274638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Larger Cache</a:t>
            </a:r>
          </a:p>
          <a:p>
            <a:pPr marL="628650" lvl="1" indent="-274638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Higher Associativity</a:t>
            </a:r>
          </a:p>
          <a:p>
            <a:pPr marL="263525" indent="-263525">
              <a:spcBef>
                <a:spcPts val="18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What about </a:t>
            </a:r>
            <a:r>
              <a:rPr lang="en-US" b="1" dirty="0">
                <a:solidFill>
                  <a:srgbClr val="C00000"/>
                </a:solidFill>
              </a:rPr>
              <a:t>Miss Penalty</a:t>
            </a:r>
            <a:r>
              <a:rPr lang="en-US" dirty="0"/>
              <a:t>?</a:t>
            </a: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5D664CDF-751B-4D66-A592-10F6038D4E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521" y="1346417"/>
            <a:ext cx="7993838" cy="989830"/>
          </a:xfrm>
          <a:prstGeom prst="rect">
            <a:avLst/>
          </a:prstGeom>
          <a:solidFill>
            <a:srgbClr val="FFCC00">
              <a:lumMod val="20000"/>
              <a:lumOff val="80000"/>
            </a:srgbClr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3300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Verdana"/>
                <a:ea typeface="+mn-ea"/>
                <a:cs typeface="Arial"/>
              </a:rPr>
              <a:t>Average Access Time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3300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Arial"/>
              </a:rPr>
              <a:t>=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Verdana"/>
                <a:ea typeface="+mn-ea"/>
                <a:cs typeface="Arial"/>
              </a:rPr>
              <a:t>Hit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Arial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Verdana"/>
                <a:ea typeface="+mn-ea"/>
                <a:cs typeface="Arial"/>
              </a:rPr>
              <a:t>rate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Arial"/>
              </a:rPr>
              <a:t> x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Verdana"/>
                <a:ea typeface="+mn-ea"/>
                <a:cs typeface="Arial"/>
              </a:rPr>
              <a:t>Hit Time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Arial"/>
              </a:rPr>
              <a:t>+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Verdana"/>
                <a:ea typeface="+mn-ea"/>
                <a:cs typeface="Arial"/>
              </a:rPr>
              <a:t>(1-Hit rate)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Arial"/>
              </a:rPr>
              <a:t>x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Verdana"/>
                <a:ea typeface="+mn-ea"/>
                <a:cs typeface="Arial"/>
              </a:rPr>
              <a:t>Miss penalty</a:t>
            </a:r>
          </a:p>
        </p:txBody>
      </p:sp>
    </p:spTree>
    <p:extLst>
      <p:ext uri="{BB962C8B-B14F-4D97-AF65-F5344CB8AC3E}">
        <p14:creationId xmlns:p14="http://schemas.microsoft.com/office/powerpoint/2010/main" val="30321945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12. Exploration: Multilevel Cache</a:t>
            </a:r>
            <a:endParaRPr lang="en-GB" sz="3600" b="1" dirty="0">
              <a:solidFill>
                <a:srgbClr val="0000FF"/>
              </a:solidFill>
            </a:endParaRP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#23: Cache II: Set/Fully Associative Cache</a:t>
            </a:r>
            <a:endParaRPr lang="en-US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41" name="Slide Number Placeholder 6">
            <a:extLst>
              <a:ext uri="{FF2B5EF4-FFF2-40B4-BE49-F238E27FC236}">
                <a16:creationId xmlns:a16="http://schemas.microsoft.com/office/drawing/2014/main" id="{49DA39DD-270A-4F4A-A0CC-F878BDB53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82</a:t>
            </a:fld>
            <a:endParaRPr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1624D8AB-BAF9-4F85-972A-09A9D7C6323C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193337"/>
            <a:ext cx="8229600" cy="33051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3525" indent="-263525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Options: </a:t>
            </a:r>
          </a:p>
          <a:p>
            <a:pPr marL="628650" lvl="1" indent="-274638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Separate data and instruction caches, or a unified cache</a:t>
            </a:r>
          </a:p>
          <a:p>
            <a:pPr marL="263525" indent="-263525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Sample sizes:</a:t>
            </a:r>
          </a:p>
          <a:p>
            <a:pPr marL="628650" lvl="1" indent="-274638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b="1" dirty="0"/>
              <a:t>L1</a:t>
            </a:r>
            <a:r>
              <a:rPr lang="en-US" sz="2400" dirty="0"/>
              <a:t>: 32KB, 32-byte block, 4-way set associative</a:t>
            </a:r>
          </a:p>
          <a:p>
            <a:pPr marL="628650" lvl="1" indent="-274638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b="1" dirty="0"/>
              <a:t>L2</a:t>
            </a:r>
            <a:r>
              <a:rPr lang="en-US" sz="2400" dirty="0"/>
              <a:t>: 256KB, 128-byte block, 8-way associative</a:t>
            </a:r>
          </a:p>
          <a:p>
            <a:pPr marL="628650" lvl="1" indent="-274638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b="1" dirty="0"/>
              <a:t>L3</a:t>
            </a:r>
            <a:r>
              <a:rPr lang="en-US" sz="2400" dirty="0"/>
              <a:t>: 4MB, 256-byte block, Direct mapped</a:t>
            </a:r>
          </a:p>
        </p:txBody>
      </p:sp>
      <p:grpSp>
        <p:nvGrpSpPr>
          <p:cNvPr id="11" name="Group 22">
            <a:extLst>
              <a:ext uri="{FF2B5EF4-FFF2-40B4-BE49-F238E27FC236}">
                <a16:creationId xmlns:a16="http://schemas.microsoft.com/office/drawing/2014/main" id="{BC82B289-8D3C-4645-B9DB-F82E1AFF2A40}"/>
              </a:ext>
            </a:extLst>
          </p:cNvPr>
          <p:cNvGrpSpPr>
            <a:grpSpLocks/>
          </p:cNvGrpSpPr>
          <p:nvPr/>
        </p:nvGrpSpPr>
        <p:grpSpPr bwMode="auto">
          <a:xfrm>
            <a:off x="1193571" y="4504544"/>
            <a:ext cx="6870700" cy="1828800"/>
            <a:chOff x="624" y="2688"/>
            <a:chExt cx="4328" cy="1152"/>
          </a:xfrm>
        </p:grpSpPr>
        <p:sp>
          <p:nvSpPr>
            <p:cNvPr id="13" name="Rectangle 4">
              <a:extLst>
                <a:ext uri="{FF2B5EF4-FFF2-40B4-BE49-F238E27FC236}">
                  <a16:creationId xmlns:a16="http://schemas.microsoft.com/office/drawing/2014/main" id="{90E433A2-2A23-493C-8B0D-2273300730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2688"/>
              <a:ext cx="1488" cy="1104"/>
            </a:xfrm>
            <a:prstGeom prst="rect">
              <a:avLst/>
            </a:prstGeom>
            <a:solidFill>
              <a:srgbClr val="FFFF99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noAutofit/>
            </a:bodyPr>
            <a:lstStyle/>
            <a:p>
              <a:endParaRPr lang="en-US" b="1">
                <a:latin typeface="+mn-lt"/>
              </a:endParaRPr>
            </a:p>
          </p:txBody>
        </p:sp>
        <p:sp>
          <p:nvSpPr>
            <p:cNvPr id="14" name="Rectangle 5">
              <a:extLst>
                <a:ext uri="{FF2B5EF4-FFF2-40B4-BE49-F238E27FC236}">
                  <a16:creationId xmlns:a16="http://schemas.microsoft.com/office/drawing/2014/main" id="{E90DB5E5-DD17-44BA-8AF9-0EFF0E5306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3024"/>
              <a:ext cx="432" cy="192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noAutofit/>
            </a:bodyPr>
            <a:lstStyle/>
            <a:p>
              <a:endParaRPr lang="en-US" b="1">
                <a:latin typeface="+mn-lt"/>
              </a:endParaRPr>
            </a:p>
          </p:txBody>
        </p:sp>
        <p:sp>
          <p:nvSpPr>
            <p:cNvPr id="15" name="Rectangle 6">
              <a:extLst>
                <a:ext uri="{FF2B5EF4-FFF2-40B4-BE49-F238E27FC236}">
                  <a16:creationId xmlns:a16="http://schemas.microsoft.com/office/drawing/2014/main" id="{20B016EA-70A2-4E9D-B75C-DB8CFE03FE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2832"/>
              <a:ext cx="528" cy="240"/>
            </a:xfrm>
            <a:prstGeom prst="rect">
              <a:avLst/>
            </a:prstGeom>
            <a:solidFill>
              <a:srgbClr val="FF99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noAutofit/>
            </a:bodyPr>
            <a:lstStyle/>
            <a:p>
              <a:endParaRPr lang="en-US" b="1">
                <a:latin typeface="+mn-lt"/>
              </a:endParaRPr>
            </a:p>
          </p:txBody>
        </p:sp>
        <p:sp>
          <p:nvSpPr>
            <p:cNvPr id="16" name="Rectangle 7">
              <a:extLst>
                <a:ext uri="{FF2B5EF4-FFF2-40B4-BE49-F238E27FC236}">
                  <a16:creationId xmlns:a16="http://schemas.microsoft.com/office/drawing/2014/main" id="{A89E1F56-A636-48CA-A860-25FB2C99A6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3312"/>
              <a:ext cx="528" cy="240"/>
            </a:xfrm>
            <a:prstGeom prst="rect">
              <a:avLst/>
            </a:prstGeom>
            <a:solidFill>
              <a:srgbClr val="FF99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noAutofit/>
            </a:bodyPr>
            <a:lstStyle/>
            <a:p>
              <a:endParaRPr lang="en-US" b="1">
                <a:latin typeface="+mn-lt"/>
              </a:endParaRPr>
            </a:p>
          </p:txBody>
        </p:sp>
        <p:sp>
          <p:nvSpPr>
            <p:cNvPr id="18" name="Line 8">
              <a:extLst>
                <a:ext uri="{FF2B5EF4-FFF2-40B4-BE49-F238E27FC236}">
                  <a16:creationId xmlns:a16="http://schemas.microsoft.com/office/drawing/2014/main" id="{20E36BE9-AFDA-4991-80CC-19806519F4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2928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>
              <a:noAutofit/>
            </a:bodyPr>
            <a:lstStyle/>
            <a:p>
              <a:endParaRPr lang="en-US" b="1">
                <a:latin typeface="+mn-lt"/>
              </a:endParaRPr>
            </a:p>
          </p:txBody>
        </p:sp>
        <p:sp>
          <p:nvSpPr>
            <p:cNvPr id="19" name="Line 9">
              <a:extLst>
                <a:ext uri="{FF2B5EF4-FFF2-40B4-BE49-F238E27FC236}">
                  <a16:creationId xmlns:a16="http://schemas.microsoft.com/office/drawing/2014/main" id="{8FDFAA7C-0EAB-479D-ACD8-70353CDF31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3456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>
              <a:noAutofit/>
            </a:bodyPr>
            <a:lstStyle/>
            <a:p>
              <a:endParaRPr lang="en-US" b="1">
                <a:latin typeface="+mn-lt"/>
              </a:endParaRPr>
            </a:p>
          </p:txBody>
        </p:sp>
        <p:sp>
          <p:nvSpPr>
            <p:cNvPr id="20" name="Rectangle 10">
              <a:extLst>
                <a:ext uri="{FF2B5EF4-FFF2-40B4-BE49-F238E27FC236}">
                  <a16:creationId xmlns:a16="http://schemas.microsoft.com/office/drawing/2014/main" id="{1C4112F7-59B9-4A28-A886-F225FDC912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2784"/>
              <a:ext cx="528" cy="864"/>
            </a:xfrm>
            <a:prstGeom prst="rect">
              <a:avLst/>
            </a:prstGeom>
            <a:solidFill>
              <a:srgbClr val="FFCC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noAutofit/>
            </a:bodyPr>
            <a:lstStyle/>
            <a:p>
              <a:endParaRPr lang="en-US" b="1">
                <a:latin typeface="+mn-lt"/>
              </a:endParaRPr>
            </a:p>
          </p:txBody>
        </p:sp>
        <p:sp>
          <p:nvSpPr>
            <p:cNvPr id="21" name="Line 11">
              <a:extLst>
                <a:ext uri="{FF2B5EF4-FFF2-40B4-BE49-F238E27FC236}">
                  <a16:creationId xmlns:a16="http://schemas.microsoft.com/office/drawing/2014/main" id="{EFB144D3-45F9-49AA-8CA3-A957F698F6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3216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>
              <a:noAutofit/>
            </a:bodyPr>
            <a:lstStyle/>
            <a:p>
              <a:endParaRPr lang="en-US" b="1">
                <a:latin typeface="+mn-lt"/>
              </a:endParaRPr>
            </a:p>
          </p:txBody>
        </p:sp>
        <p:sp>
          <p:nvSpPr>
            <p:cNvPr id="22" name="Rectangle 12">
              <a:extLst>
                <a:ext uri="{FF2B5EF4-FFF2-40B4-BE49-F238E27FC236}">
                  <a16:creationId xmlns:a16="http://schemas.microsoft.com/office/drawing/2014/main" id="{EF191B20-2EBA-496B-9F3D-F80E9C18D6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2736"/>
              <a:ext cx="672" cy="1104"/>
            </a:xfrm>
            <a:prstGeom prst="rect">
              <a:avLst/>
            </a:prstGeom>
            <a:solidFill>
              <a:srgbClr val="99CCFF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noAutofit/>
            </a:bodyPr>
            <a:lstStyle/>
            <a:p>
              <a:endParaRPr lang="en-US" b="1">
                <a:latin typeface="+mn-lt"/>
              </a:endParaRPr>
            </a:p>
          </p:txBody>
        </p:sp>
        <p:sp>
          <p:nvSpPr>
            <p:cNvPr id="23" name="Line 13">
              <a:extLst>
                <a:ext uri="{FF2B5EF4-FFF2-40B4-BE49-F238E27FC236}">
                  <a16:creationId xmlns:a16="http://schemas.microsoft.com/office/drawing/2014/main" id="{536F5676-327C-45A6-9E93-298CB600CB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3216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>
              <a:noAutofit/>
            </a:bodyPr>
            <a:lstStyle/>
            <a:p>
              <a:endParaRPr lang="en-US" b="1">
                <a:latin typeface="+mn-lt"/>
              </a:endParaRPr>
            </a:p>
          </p:txBody>
        </p:sp>
        <p:sp>
          <p:nvSpPr>
            <p:cNvPr id="24" name="Oval 14">
              <a:extLst>
                <a:ext uri="{FF2B5EF4-FFF2-40B4-BE49-F238E27FC236}">
                  <a16:creationId xmlns:a16="http://schemas.microsoft.com/office/drawing/2014/main" id="{92A69172-F468-44AD-A748-3A90E2C765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4" y="3072"/>
              <a:ext cx="488" cy="282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noAutofit/>
            </a:bodyPr>
            <a:lstStyle/>
            <a:p>
              <a:pPr algn="ctr"/>
              <a:r>
                <a:rPr lang="en-US" sz="1600" b="1">
                  <a:latin typeface="+mn-lt"/>
                </a:rPr>
                <a:t>Disk</a:t>
              </a:r>
            </a:p>
          </p:txBody>
        </p:sp>
        <p:sp>
          <p:nvSpPr>
            <p:cNvPr id="25" name="Text Box 15">
              <a:extLst>
                <a:ext uri="{FF2B5EF4-FFF2-40B4-BE49-F238E27FC236}">
                  <a16:creationId xmlns:a16="http://schemas.microsoft.com/office/drawing/2014/main" id="{888D0297-EB87-461C-AF97-7E89CF063F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" y="3024"/>
              <a:ext cx="334" cy="21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noAutofit/>
            </a:bodyPr>
            <a:lstStyle/>
            <a:p>
              <a:pPr algn="ctr"/>
              <a:r>
                <a:rPr lang="en-US" sz="1600" b="1">
                  <a:latin typeface="+mn-lt"/>
                </a:rPr>
                <a:t>Reg</a:t>
              </a:r>
            </a:p>
          </p:txBody>
        </p:sp>
        <p:sp>
          <p:nvSpPr>
            <p:cNvPr id="26" name="Text Box 16">
              <a:extLst>
                <a:ext uri="{FF2B5EF4-FFF2-40B4-BE49-F238E27FC236}">
                  <a16:creationId xmlns:a16="http://schemas.microsoft.com/office/drawing/2014/main" id="{84832358-00EE-47CD-8429-FBC0BB487E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2832"/>
              <a:ext cx="442" cy="21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noAutofit/>
            </a:bodyPr>
            <a:lstStyle/>
            <a:p>
              <a:pPr algn="ctr"/>
              <a:r>
                <a:rPr lang="en-US" sz="1600" b="1">
                  <a:latin typeface="+mn-lt"/>
                </a:rPr>
                <a:t>L1 I$</a:t>
              </a:r>
            </a:p>
          </p:txBody>
        </p:sp>
        <p:sp>
          <p:nvSpPr>
            <p:cNvPr id="27" name="Text Box 17">
              <a:extLst>
                <a:ext uri="{FF2B5EF4-FFF2-40B4-BE49-F238E27FC236}">
                  <a16:creationId xmlns:a16="http://schemas.microsoft.com/office/drawing/2014/main" id="{FA33EE9C-07B8-488A-A903-636A32A054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3312"/>
              <a:ext cx="464" cy="21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noAutofit/>
            </a:bodyPr>
            <a:lstStyle/>
            <a:p>
              <a:pPr algn="ctr"/>
              <a:r>
                <a:rPr lang="en-US" sz="1600" b="1">
                  <a:latin typeface="+mn-lt"/>
                </a:rPr>
                <a:t>L1 D$</a:t>
              </a:r>
            </a:p>
          </p:txBody>
        </p:sp>
        <p:sp>
          <p:nvSpPr>
            <p:cNvPr id="28" name="Line 18">
              <a:extLst>
                <a:ext uri="{FF2B5EF4-FFF2-40B4-BE49-F238E27FC236}">
                  <a16:creationId xmlns:a16="http://schemas.microsoft.com/office/drawing/2014/main" id="{5E7FA6D8-E2B9-42DD-9C5B-0CF217B87B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3120"/>
              <a:ext cx="33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>
              <a:noAutofit/>
            </a:bodyPr>
            <a:lstStyle/>
            <a:p>
              <a:endParaRPr lang="en-US" b="1">
                <a:latin typeface="+mn-lt"/>
              </a:endParaRPr>
            </a:p>
          </p:txBody>
        </p:sp>
        <p:sp>
          <p:nvSpPr>
            <p:cNvPr id="29" name="Text Box 19">
              <a:extLst>
                <a:ext uri="{FF2B5EF4-FFF2-40B4-BE49-F238E27FC236}">
                  <a16:creationId xmlns:a16="http://schemas.microsoft.com/office/drawing/2014/main" id="{800D1F44-CFC8-4AAF-84D9-ADEDE31CED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3024"/>
              <a:ext cx="532" cy="36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noAutofit/>
            </a:bodyPr>
            <a:lstStyle/>
            <a:p>
              <a:pPr algn="ctr"/>
              <a:r>
                <a:rPr lang="en-US" sz="1600" b="1" dirty="0">
                  <a:latin typeface="+mn-lt"/>
                </a:rPr>
                <a:t>Unified</a:t>
              </a:r>
            </a:p>
            <a:p>
              <a:pPr algn="ctr"/>
              <a:r>
                <a:rPr lang="en-US" sz="1600" b="1" dirty="0">
                  <a:latin typeface="+mn-lt"/>
                </a:rPr>
                <a:t>L2 $</a:t>
              </a:r>
            </a:p>
          </p:txBody>
        </p:sp>
        <p:sp>
          <p:nvSpPr>
            <p:cNvPr id="30" name="Text Box 20">
              <a:extLst>
                <a:ext uri="{FF2B5EF4-FFF2-40B4-BE49-F238E27FC236}">
                  <a16:creationId xmlns:a16="http://schemas.microsoft.com/office/drawing/2014/main" id="{22840166-4BB3-4B05-989F-E90EBAECAF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6" y="3120"/>
              <a:ext cx="594" cy="21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noAutofit/>
            </a:bodyPr>
            <a:lstStyle/>
            <a:p>
              <a:pPr algn="ctr"/>
              <a:r>
                <a:rPr lang="en-US" sz="1600" b="1">
                  <a:latin typeface="+mn-lt"/>
                </a:rPr>
                <a:t>Memory</a:t>
              </a:r>
            </a:p>
          </p:txBody>
        </p:sp>
        <p:sp>
          <p:nvSpPr>
            <p:cNvPr id="31" name="Text Box 21">
              <a:extLst>
                <a:ext uri="{FF2B5EF4-FFF2-40B4-BE49-F238E27FC236}">
                  <a16:creationId xmlns:a16="http://schemas.microsoft.com/office/drawing/2014/main" id="{154EB8E0-1816-41DA-9728-F3D95604B3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736"/>
              <a:ext cx="701" cy="21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noAutofit/>
            </a:bodyPr>
            <a:lstStyle/>
            <a:p>
              <a:pPr algn="ctr"/>
              <a:r>
                <a:rPr lang="en-US" sz="1600" b="1">
                  <a:latin typeface="+mn-lt"/>
                </a:rPr>
                <a:t>Processor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16339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12. Exploration: Intel Processors</a:t>
            </a:r>
            <a:endParaRPr lang="en-GB" sz="3600" b="1" dirty="0">
              <a:solidFill>
                <a:srgbClr val="0000FF"/>
              </a:solidFill>
            </a:endParaRP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#23: Cache II: Set/Fully Associative Cache</a:t>
            </a:r>
            <a:endParaRPr lang="en-US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41" name="Slide Number Placeholder 6">
            <a:extLst>
              <a:ext uri="{FF2B5EF4-FFF2-40B4-BE49-F238E27FC236}">
                <a16:creationId xmlns:a16="http://schemas.microsoft.com/office/drawing/2014/main" id="{49DA39DD-270A-4F4A-A0CC-F878BDB53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83</a:t>
            </a:fld>
            <a:endParaRPr dirty="0"/>
          </a:p>
        </p:txBody>
      </p:sp>
      <p:pic>
        <p:nvPicPr>
          <p:cNvPr id="32" name="Picture 3" descr="2">
            <a:extLst>
              <a:ext uri="{FF2B5EF4-FFF2-40B4-BE49-F238E27FC236}">
                <a16:creationId xmlns:a16="http://schemas.microsoft.com/office/drawing/2014/main" id="{1C22C688-E9A0-4EEF-A667-7BE8243C45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67300" y="1352305"/>
            <a:ext cx="3314700" cy="3648075"/>
          </a:xfrm>
          <a:prstGeom prst="rect">
            <a:avLst/>
          </a:prstGeom>
          <a:noFill/>
        </p:spPr>
      </p:pic>
      <p:sp>
        <p:nvSpPr>
          <p:cNvPr id="33" name="Text Box 4">
            <a:extLst>
              <a:ext uri="{FF2B5EF4-FFF2-40B4-BE49-F238E27FC236}">
                <a16:creationId xmlns:a16="http://schemas.microsoft.com/office/drawing/2014/main" id="{0C34199F-AB06-4726-A7FE-4DEB51E5B2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5900" y="5009905"/>
            <a:ext cx="2840842" cy="132343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2000" b="1" dirty="0"/>
              <a:t>Itanium 2 McKinley</a:t>
            </a:r>
          </a:p>
          <a:p>
            <a:pPr algn="l"/>
            <a:r>
              <a:rPr lang="en-US" sz="2000" dirty="0"/>
              <a:t>L1: 16KB I$ + 16KB D$</a:t>
            </a:r>
          </a:p>
          <a:p>
            <a:pPr algn="l"/>
            <a:r>
              <a:rPr lang="en-US" sz="2000" dirty="0"/>
              <a:t>L2: 256KB</a:t>
            </a:r>
          </a:p>
          <a:p>
            <a:pPr algn="l"/>
            <a:r>
              <a:rPr lang="en-US" sz="2000" dirty="0"/>
              <a:t>L3: 1.5MB – 9MB</a:t>
            </a:r>
          </a:p>
        </p:txBody>
      </p:sp>
      <p:sp>
        <p:nvSpPr>
          <p:cNvPr id="34" name="Text Box 5">
            <a:extLst>
              <a:ext uri="{FF2B5EF4-FFF2-40B4-BE49-F238E27FC236}">
                <a16:creationId xmlns:a16="http://schemas.microsoft.com/office/drawing/2014/main" id="{A909E3BA-3933-4E61-BDCA-0FAA62ABB6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4829466"/>
            <a:ext cx="3430747" cy="132343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2000" b="1" dirty="0"/>
              <a:t>Pentium 4 Extreme Edition</a:t>
            </a:r>
          </a:p>
          <a:p>
            <a:pPr algn="l"/>
            <a:r>
              <a:rPr lang="en-US" sz="2000" dirty="0"/>
              <a:t>L1: 12KB I$ + 8KB D$</a:t>
            </a:r>
          </a:p>
          <a:p>
            <a:pPr algn="l"/>
            <a:r>
              <a:rPr lang="en-US" sz="2000" dirty="0"/>
              <a:t>L2: 256KB</a:t>
            </a:r>
          </a:p>
          <a:p>
            <a:pPr algn="l"/>
            <a:r>
              <a:rPr lang="en-US" sz="2000" dirty="0"/>
              <a:t>L3: 2MB </a:t>
            </a:r>
          </a:p>
        </p:txBody>
      </p:sp>
      <p:pic>
        <p:nvPicPr>
          <p:cNvPr id="35" name="Picture 6" descr="The die size of Intel's new 600 series Prescott with 2 MB L2 cache is 135 mm2.">
            <a:extLst>
              <a:ext uri="{FF2B5EF4-FFF2-40B4-BE49-F238E27FC236}">
                <a16:creationId xmlns:a16="http://schemas.microsoft.com/office/drawing/2014/main" id="{102DA5C0-B58D-46F8-8F16-7D4C89D6B0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7200" y="1400466"/>
            <a:ext cx="4048125" cy="33909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2232324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18642" y="524656"/>
            <a:ext cx="8420558" cy="644577"/>
          </a:xfrm>
        </p:spPr>
        <p:txBody>
          <a:bodyPr>
            <a:normAutofit fontScale="90000"/>
          </a:bodyPr>
          <a:lstStyle/>
          <a:p>
            <a:pPr marL="1976438" indent="-1976438"/>
            <a:r>
              <a:rPr lang="en-GB" sz="3600" dirty="0">
                <a:solidFill>
                  <a:srgbClr val="0000FF"/>
                </a:solidFill>
              </a:rPr>
              <a:t>12. Exploration: Trend: Intel Core i7-3960K</a:t>
            </a:r>
            <a:endParaRPr lang="en-GB" sz="3600" b="1" dirty="0">
              <a:solidFill>
                <a:srgbClr val="0000FF"/>
              </a:solidFill>
            </a:endParaRP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SG"/>
              <a:t>Lecture #23: Cache II: Set/Fully Associative Cache</a:t>
            </a:r>
            <a:endParaRPr lang="en-US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41" name="Slide Number Placeholder 6">
            <a:extLst>
              <a:ext uri="{FF2B5EF4-FFF2-40B4-BE49-F238E27FC236}">
                <a16:creationId xmlns:a16="http://schemas.microsoft.com/office/drawing/2014/main" id="{49DA39DD-270A-4F4A-A0CC-F878BDB53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84</a:t>
            </a:fld>
            <a:endParaRPr dirty="0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4EB27316-99D8-428B-A77E-BF30681866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1346417"/>
            <a:ext cx="5238750" cy="3705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Rectangle 3">
            <a:extLst>
              <a:ext uri="{FF2B5EF4-FFF2-40B4-BE49-F238E27FC236}">
                <a16:creationId xmlns:a16="http://schemas.microsoft.com/office/drawing/2014/main" id="{B4D9CF5F-98DD-4CFD-B3D7-834EC935FD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1803617"/>
            <a:ext cx="3886200" cy="438581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2000" b="1" dirty="0"/>
              <a:t>Intel Core i7-3960K</a:t>
            </a:r>
          </a:p>
          <a:p>
            <a:pPr algn="l">
              <a:spcBef>
                <a:spcPct val="50000"/>
              </a:spcBef>
            </a:pPr>
            <a:r>
              <a:rPr lang="en-US" sz="1800" b="1" dirty="0"/>
              <a:t>per die:</a:t>
            </a:r>
          </a:p>
          <a:p>
            <a:pPr algn="l">
              <a:spcBef>
                <a:spcPct val="50000"/>
              </a:spcBef>
              <a:buFontTx/>
              <a:buChar char="-"/>
            </a:pPr>
            <a:r>
              <a:rPr lang="en-US" sz="1800" dirty="0"/>
              <a:t>2.27 billion transistors</a:t>
            </a:r>
          </a:p>
          <a:p>
            <a:pPr algn="l">
              <a:spcBef>
                <a:spcPct val="50000"/>
              </a:spcBef>
              <a:buFontTx/>
              <a:buChar char="-"/>
            </a:pPr>
            <a:r>
              <a:rPr lang="en-US" sz="1800" dirty="0"/>
              <a:t>15MB shared Inst/Data Cache (LLC)</a:t>
            </a:r>
          </a:p>
          <a:p>
            <a:pPr algn="l">
              <a:spcBef>
                <a:spcPct val="50000"/>
              </a:spcBef>
              <a:buFontTx/>
              <a:buChar char="-"/>
            </a:pPr>
            <a:endParaRPr lang="en-US" sz="1800" dirty="0"/>
          </a:p>
          <a:p>
            <a:pPr algn="l">
              <a:spcBef>
                <a:spcPct val="50000"/>
              </a:spcBef>
            </a:pPr>
            <a:r>
              <a:rPr lang="en-US" sz="1800" b="1" dirty="0"/>
              <a:t>per Core:</a:t>
            </a:r>
          </a:p>
          <a:p>
            <a:pPr algn="l">
              <a:spcBef>
                <a:spcPct val="50000"/>
              </a:spcBef>
            </a:pPr>
            <a:r>
              <a:rPr lang="en-US" sz="1800" dirty="0"/>
              <a:t>-32KB L1 Inst Cache </a:t>
            </a:r>
          </a:p>
          <a:p>
            <a:pPr algn="l">
              <a:spcBef>
                <a:spcPct val="50000"/>
              </a:spcBef>
            </a:pPr>
            <a:r>
              <a:rPr lang="en-US" sz="1800" dirty="0"/>
              <a:t>-32KB L1 Data Cache</a:t>
            </a:r>
          </a:p>
          <a:p>
            <a:pPr algn="l">
              <a:spcBef>
                <a:spcPct val="50000"/>
              </a:spcBef>
            </a:pPr>
            <a:r>
              <a:rPr lang="en-US" sz="1800" dirty="0"/>
              <a:t>-256KB L2 Inst/Data Cache</a:t>
            </a:r>
          </a:p>
          <a:p>
            <a:pPr algn="l">
              <a:spcBef>
                <a:spcPct val="50000"/>
              </a:spcBef>
            </a:pPr>
            <a:r>
              <a:rPr lang="en-US" sz="1800" dirty="0"/>
              <a:t>-up to 2.5MB LLC</a:t>
            </a:r>
          </a:p>
        </p:txBody>
      </p:sp>
    </p:spTree>
    <p:extLst>
      <p:ext uri="{BB962C8B-B14F-4D97-AF65-F5344CB8AC3E}">
        <p14:creationId xmlns:p14="http://schemas.microsoft.com/office/powerpoint/2010/main" val="2387605896"/>
      </p:ext>
    </p:extLst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16024</TotalTime>
  <Words>7134</Words>
  <Application>Microsoft Office PowerPoint</Application>
  <PresentationFormat>On-screen Show (4:3)</PresentationFormat>
  <Paragraphs>2310</Paragraphs>
  <Slides>84</Slides>
  <Notes>80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84</vt:i4>
      </vt:variant>
    </vt:vector>
  </HeadingPairs>
  <TitlesOfParts>
    <vt:vector size="97" baseType="lpstr">
      <vt:lpstr>Arial</vt:lpstr>
      <vt:lpstr>Calibri</vt:lpstr>
      <vt:lpstr>Calibri Light</vt:lpstr>
      <vt:lpstr>Comic Sans MS</vt:lpstr>
      <vt:lpstr>Courier New</vt:lpstr>
      <vt:lpstr>Geneva</vt:lpstr>
      <vt:lpstr>Symbol</vt:lpstr>
      <vt:lpstr>Times</vt:lpstr>
      <vt:lpstr>Times New Roman</vt:lpstr>
      <vt:lpstr>Verdana</vt:lpstr>
      <vt:lpstr>Wingdings</vt:lpstr>
      <vt:lpstr>Wingdings 2</vt:lpstr>
      <vt:lpstr>Blank</vt:lpstr>
      <vt:lpstr>PowerPoint Presentation</vt:lpstr>
      <vt:lpstr>Q &amp; A</vt:lpstr>
      <vt:lpstr>1. Data Transfer: The Big Picture</vt:lpstr>
      <vt:lpstr>1. Memory Technology: 1950s</vt:lpstr>
      <vt:lpstr>1. Memory Technology Today: DRAM</vt:lpstr>
      <vt:lpstr>1. DRAM Capacity Growth</vt:lpstr>
      <vt:lpstr>1. Processor-DRAM Performance Gap</vt:lpstr>
      <vt:lpstr>1. Faster Memory Technology: SRAM</vt:lpstr>
      <vt:lpstr>1. Slow Memory Technology: Magnetic Disk</vt:lpstr>
      <vt:lpstr>1. Quality vs Quantity</vt:lpstr>
      <vt:lpstr>1. Best of Both Worlds</vt:lpstr>
      <vt:lpstr>1. Memory Hierarchy</vt:lpstr>
      <vt:lpstr>2. Cache: The Library Analogy</vt:lpstr>
      <vt:lpstr>2. Solution: Book on the Desk!</vt:lpstr>
      <vt:lpstr>2. Cache: The Basic Idea</vt:lpstr>
      <vt:lpstr>2.1 Cache: Types of Locality</vt:lpstr>
      <vt:lpstr>PowerPoint Presentation</vt:lpstr>
      <vt:lpstr>2.1 Working Set: Definition</vt:lpstr>
      <vt:lpstr>2.2 Two Aspects of Memory Access</vt:lpstr>
      <vt:lpstr>2.2 Memory Access Time: Terminology</vt:lpstr>
      <vt:lpstr>2.2 Memory Access Time: Formula</vt:lpstr>
      <vt:lpstr>3. Memory to Cache Mapping (1/2)</vt:lpstr>
      <vt:lpstr>3. Memory to Cache Mapping (2/2)</vt:lpstr>
      <vt:lpstr>4. Direct Mapping Analogy</vt:lpstr>
      <vt:lpstr>4. Direct Mapped Cache: Cache Index</vt:lpstr>
      <vt:lpstr>4. Direct Mapped Cache: Cache Tag</vt:lpstr>
      <vt:lpstr>PowerPoint Presentation</vt:lpstr>
      <vt:lpstr>4. Direct Mapped Cache: Mapping</vt:lpstr>
      <vt:lpstr>4. Direct Mapped Cache: Cache Structure</vt:lpstr>
      <vt:lpstr>4. Cache Mapping: Example</vt:lpstr>
      <vt:lpstr>4. Cache Circuitry: Example</vt:lpstr>
      <vt:lpstr>5. Reading Data: Setup</vt:lpstr>
      <vt:lpstr>5. Reading Data: Initial State</vt:lpstr>
      <vt:lpstr>5. Reading Data: Load #1-1</vt:lpstr>
      <vt:lpstr>5. Reading Data: Load #1-2</vt:lpstr>
      <vt:lpstr>5. Reading Data: Load #1-3</vt:lpstr>
      <vt:lpstr>5. Reading Data: Load #1-4</vt:lpstr>
      <vt:lpstr>5. Reading Data: Load #2-1</vt:lpstr>
      <vt:lpstr>5. Reading Data: Load #2-2</vt:lpstr>
      <vt:lpstr>5. Reading Data: Load #2-3</vt:lpstr>
      <vt:lpstr>5. Reading Data: Load #3-1</vt:lpstr>
      <vt:lpstr>5. Reading Data: Load #3-2</vt:lpstr>
      <vt:lpstr>5. Reading Data: Load #3-3</vt:lpstr>
      <vt:lpstr>5. Reading Data: Load #3-4</vt:lpstr>
      <vt:lpstr>5. Reading Data: Load #4-1</vt:lpstr>
      <vt:lpstr>5. Reading Data: Load #4-2</vt:lpstr>
      <vt:lpstr>5. Reading Data: Load #4-3</vt:lpstr>
      <vt:lpstr>5. Reading Data: Load #4-4</vt:lpstr>
      <vt:lpstr>5. Reading Data: Load #5-1</vt:lpstr>
      <vt:lpstr>5. Reading Data: Load #5-2</vt:lpstr>
      <vt:lpstr>5. Reading Data: Load #5-3</vt:lpstr>
      <vt:lpstr>5. Reading Data: Load #5-4</vt:lpstr>
      <vt:lpstr>5. Reading Data: Summary</vt:lpstr>
      <vt:lpstr>6. Types of Cache Misses</vt:lpstr>
      <vt:lpstr>7. Changing Cache Content: Write Policy</vt:lpstr>
      <vt:lpstr>7. Write-Through Cache</vt:lpstr>
      <vt:lpstr>7. Write-Back Cache</vt:lpstr>
      <vt:lpstr>7. Handling Cache Misses</vt:lpstr>
      <vt:lpstr>7. Writing Data: Summary</vt:lpstr>
      <vt:lpstr>8. Set Associative (SA) Cache</vt:lpstr>
      <vt:lpstr>8. Set Associative Cache: Analogy</vt:lpstr>
      <vt:lpstr>8. Set Associative (SA) Cache</vt:lpstr>
      <vt:lpstr>8. Set Associative Cache: Structure</vt:lpstr>
      <vt:lpstr>PowerPoint Presentation</vt:lpstr>
      <vt:lpstr>8. Set Associative Cache: Mapping</vt:lpstr>
      <vt:lpstr>8. Set Associative Cache: Example</vt:lpstr>
      <vt:lpstr>8. Set Associative Cache: Circuitry</vt:lpstr>
      <vt:lpstr>8. SA Cache Example: Setup</vt:lpstr>
      <vt:lpstr>8. SA Cache Example: Load #1</vt:lpstr>
      <vt:lpstr>8. SA Cache Example: Load #2</vt:lpstr>
      <vt:lpstr>8. SA Cache Example: Load #3</vt:lpstr>
      <vt:lpstr>8. SA Cache Example: Load #4</vt:lpstr>
      <vt:lpstr>8. SA Cache Example: Load #5</vt:lpstr>
      <vt:lpstr>9. Cache Performance</vt:lpstr>
      <vt:lpstr>10. Block Replacement Policy (1/3)</vt:lpstr>
      <vt:lpstr>10. Block Replacement Policy (2/3)</vt:lpstr>
      <vt:lpstr>10. Block Replacement Policy (3/3)</vt:lpstr>
      <vt:lpstr>11. Summary: Cache Organizations</vt:lpstr>
      <vt:lpstr>11. Summary: Cache Framework (1/2)</vt:lpstr>
      <vt:lpstr>11. Summary: Cache Framework (2/2)</vt:lpstr>
      <vt:lpstr>12. Exploration: Improving Cache Penalty</vt:lpstr>
      <vt:lpstr>12. Exploration: Multilevel Cache</vt:lpstr>
      <vt:lpstr>12. Exploration: Intel Processors</vt:lpstr>
      <vt:lpstr>12. Exploration: Trend: Intel Core i7-3960K</vt:lpstr>
    </vt:vector>
  </TitlesOfParts>
  <Company>National University of Singapore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Timer Programming</dc:title>
  <dc:creator>Tan Keng Yan, Colin</dc:creator>
  <cp:lastModifiedBy>Tan Keng Yan, Colin</cp:lastModifiedBy>
  <cp:revision>188</cp:revision>
  <cp:lastPrinted>2019-10-24T12:09:44Z</cp:lastPrinted>
  <dcterms:created xsi:type="dcterms:W3CDTF">2018-02-10T09:13:59Z</dcterms:created>
  <dcterms:modified xsi:type="dcterms:W3CDTF">2025-10-07T09:24:27Z</dcterms:modified>
</cp:coreProperties>
</file>